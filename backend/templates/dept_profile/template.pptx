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FFFFFF"/>
                </a:solidFill>
              </a:rPr>
              <a:t>FISHEROS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99BBDD"/>
                </a:solidFill>
              </a:rPr>
              <a:t>CONSULTING</a:t>
            </a:r>
          </a:p>
          <a:p>
            <a:pPr>
              <a:spcBef>
                <a:spcPts val="4000"/>
              </a:spcBef>
            </a:pPr>
            <a:r>
              <a:rPr sz="1200">
                <a:solidFill>
                  <a:srgbClr val="2E75B6"/>
                </a:solidFill>
              </a:rPr>
              <a:t>━━━━━━━━━━━━━</a:t>
            </a:r>
          </a:p>
          <a:p>
            <a:pPr algn="l">
              <a:spcBef>
                <a:spcPts val="3000"/>
              </a:spcBef>
            </a:pPr>
            <a:r>
              <a:rPr sz="2000">
                <a:solidFill>
                  <a:srgbClr val="FFFFFF"/>
                </a:solidFill>
              </a:rPr>
              <a:t>组织诊断报告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B3A5C"/>
                </a:solidFill>
              </a:rPr>
              <a:t>{{ DEPT_NAME 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2743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666666"/>
                </a:solidFill>
              </a:rPr>
              <a:t>部门档案卡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41148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</a:pPr>
            <a:r>
              <a:rPr sz="1400">
                <a:solidFill>
                  <a:srgbClr val="666666"/>
                </a:solidFill>
              </a:rPr>
              <a:t>项目周期：</a:t>
            </a:r>
            <a:r>
              <a:rPr sz="1400" b="1">
                <a:solidFill>
                  <a:srgbClr val="1B3A5C"/>
                </a:solidFill>
              </a:rPr>
              <a:t>{{ PROJECT_PERIOD }}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666666"/>
                </a:solidFill>
              </a:rPr>
              <a:t>报告日期：</a:t>
            </a:r>
            <a:r>
              <a:rPr sz="1400" b="1">
                <a:solidFill>
                  <a:srgbClr val="1B3A5C"/>
                </a:solidFill>
              </a:rPr>
              <a:t>{{ GENERATED_DATE }}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666666"/>
                </a:solidFill>
              </a:rPr>
              <a:t>报告编号：</a:t>
            </a:r>
            <a:r>
              <a:rPr sz="1400" b="1">
                <a:solidFill>
                  <a:srgbClr val="1B3A5C"/>
                </a:solidFill>
              </a:rPr>
              <a:t>{{ REPORT_ID }}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    部门概况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5B6"/>
                </a:solidFill>
              </a:rPr>
              <a:t>基本信息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651760" cy="7315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666666"/>
                </a:solidFill>
              </a:rPr>
              <a:t>部门名称
</a:t>
            </a:r>
            <a:r>
              <a:rPr sz="1600" b="1">
                <a:solidFill>
                  <a:srgbClr val="1B3A5C"/>
                </a:solidFill>
              </a:rPr>
              <a:t>{{ DEPT_NAME }}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828800"/>
            <a:ext cx="2651760" cy="7315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666666"/>
                </a:solidFill>
              </a:rPr>
              <a:t>部门类型
</a:t>
            </a:r>
            <a:r>
              <a:rPr sz="1600" b="1">
                <a:solidFill>
                  <a:srgbClr val="1B3A5C"/>
                </a:solidFill>
              </a:rPr>
              <a:t>{{ DEPT_TYPE }}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2651760" cy="7315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666666"/>
                </a:solidFill>
              </a:rPr>
              <a:t>编制人数
</a:t>
            </a:r>
            <a:r>
              <a:rPr sz="1600" b="1">
                <a:solidFill>
                  <a:srgbClr val="1B3A5C"/>
                </a:solidFill>
              </a:rPr>
              <a:t>{{ HEADCOUNT }}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2743200"/>
            <a:ext cx="2651760" cy="7315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666666"/>
                </a:solidFill>
              </a:rPr>
              <a:t>上级部门
</a:t>
            </a:r>
            <a:r>
              <a:rPr sz="1600" b="1">
                <a:solidFill>
                  <a:srgbClr val="1B3A5C"/>
                </a:solidFill>
              </a:rPr>
              <a:t>{{ PARENT_DEPT 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88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5B6"/>
                </a:solidFill>
              </a:rPr>
              <a:t>关键指标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3035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666666"/>
                </a:solidFill>
              </a:rPr>
              <a:t>  组织节点数    </a:t>
            </a:r>
            <a:r>
              <a:rPr sz="2200" b="1">
                <a:solidFill>
                  <a:srgbClr val="E86C00"/>
                </a:solidFill>
              </a:rPr>
              <a:t>{{ TOTAL_VERTICES }}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743200"/>
            <a:ext cx="53035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666666"/>
                </a:solidFill>
              </a:rPr>
              <a:t>  关系边数    </a:t>
            </a:r>
            <a:r>
              <a:rPr sz="2200" b="1">
                <a:solidFill>
                  <a:srgbClr val="E86C00"/>
                </a:solidFill>
              </a:rPr>
              <a:t>{{ TOTAL_EDGES }}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657600"/>
            <a:ext cx="53035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666666"/>
                </a:solidFill>
              </a:rPr>
              <a:t>  下属部门    </a:t>
            </a:r>
            <a:r>
              <a:rPr sz="2200" b="1">
                <a:solidFill>
                  <a:srgbClr val="E86C00"/>
                </a:solidFill>
              </a:rPr>
              <a:t>{{ SUB_DEPT_COUNT 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5B6"/>
                </a:solidFill>
              </a:rPr>
              <a:t>组织诊断要点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72000"/>
            <a:ext cx="11247120" cy="18288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300">
                <a:solidFill>
                  <a:srgbClr val="333333"/>
                </a:solidFill>
              </a:rPr>
              <a:t>{{ ANALYSIS_SUMMARY 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    岗位职级分布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286000"/>
                <a:gridCol w="2286000"/>
                <a:gridCol w="1828800"/>
                <a:gridCol w="3931920"/>
              </a:tblGrid>
              <a:tr h="628650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序号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岗位名称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职位序列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职级范围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担任者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628650"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ROW1_INDEX }}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ROW1_ROLE }}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ROW1_FAMILY }}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ROW1_LEVEL }}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{{ ROW1_EMPLOYEE }}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28650"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ROW2_INDEX 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ROW2_ROLE 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ROW2_FAMILY 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ROW2_LEVEL 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{{ ROW2_EMPLOYEE 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ROW3_INDEX }}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ROW3_ROLE }}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ROW3_FAMILY }}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ROW3_LEVEL }}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{{ ROW3_EMPLOYEE }}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28650"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ROW4_INDEX 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ROW4_ROLE 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ROW4_FAMILY 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ROW4_LEVEL 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{{ ROW4_EMPLOYEE 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ROW5_INDEX }}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ROW5_ROLE }}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ROW5_FAMILY }}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ROW5_LEVEL }}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{{ ROW5_EMPLOYEE }}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28650"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ROW6_INDEX 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ROW6_ROLE 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ROW6_FAMILY 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ROW6_LEVEL 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{{ ROW6_EMPLOYEE 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ROW7_INDEX }}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ROW7_ROLE }}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ROW7_FAMILY }}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ROW7_LEVEL }}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{{ ROW7_EMPLOYEE }}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    组织关系网络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3657600"/>
                <a:gridCol w="2103120"/>
              </a:tblGrid>
              <a:tr h="522514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起始对象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关系类型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目标对象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说明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522514"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REL1_FROM }}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REL1_TYPE }}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REL1_TO }}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REL1_DESC }}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2514"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REL2_FROM 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REL2_TYPE 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REL2_TO 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REL2_DESC 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REL3_FROM }}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REL3_TYPE }}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REL3_TO }}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REL3_DESC }}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2514"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REL4_FROM 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REL4_TYPE 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REL4_TO 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REL4_DESC 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REL5_FROM }}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REL5_TYPE }}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REL5_TO }}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REL5_DESC }}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2516"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REL6_FROM 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REL6_TYPE 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REL6_TO 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{{ REL6_DESC 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5120640"/>
            <a:ext cx="11247120" cy="11887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1B3A5C"/>
                </a:solidFill>
              </a:rPr>
              <a:t>  图谱统计：</a:t>
            </a:r>
            <a:r>
              <a:rPr sz="1300">
                <a:solidFill>
                  <a:srgbClr val="666666"/>
                </a:solidFill>
              </a:rPr>
              <a:t>总节点 {{ TOTAL_VERTICES }} 个 | 总关系 {{ TOTAL_EDGES }} 条 | 遍历深度 {{ TRAVERSE_DEPTH }} 层 | 生成时间 {{ GENERATED_DATE }}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