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
  </p:handoutMasterIdLst>
  <p:sldIdLst>
    <p:sldId id="257" r:id="rId3"/>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sz="5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6.xml"/><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6.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0" Type="http://schemas.openxmlformats.org/officeDocument/2006/relationships/notesSlide" Target="../notesSlides/notesSlide4.xml"/><Relationship Id="rId4" Type="http://schemas.openxmlformats.org/officeDocument/2006/relationships/tags" Target="../tags/tag73.xml"/><Relationship Id="rId39" Type="http://schemas.openxmlformats.org/officeDocument/2006/relationships/slideLayout" Target="../slideLayouts/slideLayout6.xml"/><Relationship Id="rId38" Type="http://schemas.openxmlformats.org/officeDocument/2006/relationships/tags" Target="../tags/tag107.xml"/><Relationship Id="rId37" Type="http://schemas.openxmlformats.org/officeDocument/2006/relationships/tags" Target="../tags/tag106.xml"/><Relationship Id="rId36" Type="http://schemas.openxmlformats.org/officeDocument/2006/relationships/tags" Target="../tags/tag105.xml"/><Relationship Id="rId35" Type="http://schemas.openxmlformats.org/officeDocument/2006/relationships/tags" Target="../tags/tag104.xml"/><Relationship Id="rId34" Type="http://schemas.openxmlformats.org/officeDocument/2006/relationships/tags" Target="../tags/tag103.xml"/><Relationship Id="rId33" Type="http://schemas.openxmlformats.org/officeDocument/2006/relationships/tags" Target="../tags/tag102.xml"/><Relationship Id="rId32" Type="http://schemas.openxmlformats.org/officeDocument/2006/relationships/tags" Target="../tags/tag101.xml"/><Relationship Id="rId31" Type="http://schemas.openxmlformats.org/officeDocument/2006/relationships/tags" Target="../tags/tag100.xml"/><Relationship Id="rId30" Type="http://schemas.openxmlformats.org/officeDocument/2006/relationships/tags" Target="../tags/tag99.xml"/><Relationship Id="rId3" Type="http://schemas.openxmlformats.org/officeDocument/2006/relationships/tags" Target="../tags/tag72.xml"/><Relationship Id="rId29" Type="http://schemas.openxmlformats.org/officeDocument/2006/relationships/tags" Target="../tags/tag98.xml"/><Relationship Id="rId28" Type="http://schemas.openxmlformats.org/officeDocument/2006/relationships/tags" Target="../tags/tag97.xml"/><Relationship Id="rId27" Type="http://schemas.openxmlformats.org/officeDocument/2006/relationships/tags" Target="../tags/tag96.xml"/><Relationship Id="rId26" Type="http://schemas.openxmlformats.org/officeDocument/2006/relationships/tags" Target="../tags/tag95.xml"/><Relationship Id="rId25" Type="http://schemas.openxmlformats.org/officeDocument/2006/relationships/tags" Target="../tags/tag94.xml"/><Relationship Id="rId24" Type="http://schemas.openxmlformats.org/officeDocument/2006/relationships/tags" Target="../tags/tag93.xml"/><Relationship Id="rId23" Type="http://schemas.openxmlformats.org/officeDocument/2006/relationships/tags" Target="../tags/tag92.xml"/><Relationship Id="rId22" Type="http://schemas.openxmlformats.org/officeDocument/2006/relationships/tags" Target="../tags/tag91.xml"/><Relationship Id="rId21" Type="http://schemas.openxmlformats.org/officeDocument/2006/relationships/tags" Target="../tags/tag90.xml"/><Relationship Id="rId20" Type="http://schemas.openxmlformats.org/officeDocument/2006/relationships/tags" Target="../tags/tag89.xml"/><Relationship Id="rId2" Type="http://schemas.openxmlformats.org/officeDocument/2006/relationships/tags" Target="../tags/tag71.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6.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10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10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1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1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绩效管理体系总体目标</a:t>
            </a:r>
            <a:endParaRPr lang="zh-CN" altLang="en-US"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grpSp>
        <p:nvGrpSpPr>
          <p:cNvPr id="2" name="27188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23524" y="2081613"/>
            <a:ext cx="10625905" cy="4298715"/>
            <a:chOff x="667590" y="2377804"/>
            <a:chExt cx="10625905" cy="4298715"/>
          </a:xfrm>
        </p:grpSpPr>
        <p:grpSp>
          <p:nvGrpSpPr>
            <p:cNvPr id="4" name="ïŝľidè"/>
            <p:cNvGrpSpPr/>
            <p:nvPr/>
          </p:nvGrpSpPr>
          <p:grpSpPr>
            <a:xfrm>
              <a:off x="667590" y="2377804"/>
              <a:ext cx="4920642" cy="2651091"/>
              <a:chOff x="667590" y="2377804"/>
              <a:chExt cx="4920642" cy="2651091"/>
            </a:xfrm>
          </p:grpSpPr>
          <p:grpSp>
            <p:nvGrpSpPr>
              <p:cNvPr id="28" name="îsľíḓè"/>
              <p:cNvGrpSpPr/>
              <p:nvPr/>
            </p:nvGrpSpPr>
            <p:grpSpPr>
              <a:xfrm>
                <a:off x="667590" y="2377804"/>
                <a:ext cx="4920642" cy="1173295"/>
                <a:chOff x="1061237" y="2223538"/>
                <a:chExt cx="4920642" cy="1173295"/>
              </a:xfrm>
            </p:grpSpPr>
            <p:grpSp>
              <p:nvGrpSpPr>
                <p:cNvPr id="32" name="iṧḷiḍe"/>
                <p:cNvGrpSpPr/>
                <p:nvPr/>
              </p:nvGrpSpPr>
              <p:grpSpPr>
                <a:xfrm>
                  <a:off x="1061237" y="2338706"/>
                  <a:ext cx="703465" cy="703465"/>
                  <a:chOff x="2745516" y="2827961"/>
                  <a:chExt cx="703465" cy="703465"/>
                </a:xfrm>
              </p:grpSpPr>
              <p:sp>
                <p:nvSpPr>
                  <p:cNvPr id="36" name="iṧḻïḋè"/>
                  <p:cNvSpPr/>
                  <p:nvPr/>
                </p:nvSpPr>
                <p:spPr>
                  <a:xfrm>
                    <a:off x="2745516" y="2827961"/>
                    <a:ext cx="703465" cy="7034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sp>
                <p:nvSpPr>
                  <p:cNvPr id="37" name="iSḻïḋé"/>
                  <p:cNvSpPr/>
                  <p:nvPr/>
                </p:nvSpPr>
                <p:spPr bwMode="auto">
                  <a:xfrm>
                    <a:off x="2853339" y="2933238"/>
                    <a:ext cx="487818" cy="492911"/>
                  </a:xfrm>
                  <a:custGeom>
                    <a:avLst/>
                    <a:gdLst>
                      <a:gd name="T0" fmla="*/ 138 w 306"/>
                      <a:gd name="T1" fmla="*/ 226 h 309"/>
                      <a:gd name="T2" fmla="*/ 149 w 306"/>
                      <a:gd name="T3" fmla="*/ 229 h 309"/>
                      <a:gd name="T4" fmla="*/ 198 w 306"/>
                      <a:gd name="T5" fmla="*/ 216 h 309"/>
                      <a:gd name="T6" fmla="*/ 226 w 306"/>
                      <a:gd name="T7" fmla="*/ 169 h 309"/>
                      <a:gd name="T8" fmla="*/ 215 w 306"/>
                      <a:gd name="T9" fmla="*/ 147 h 309"/>
                      <a:gd name="T10" fmla="*/ 171 w 306"/>
                      <a:gd name="T11" fmla="*/ 209 h 309"/>
                      <a:gd name="T12" fmla="*/ 138 w 306"/>
                      <a:gd name="T13" fmla="*/ 226 h 309"/>
                      <a:gd name="T14" fmla="*/ 80 w 306"/>
                      <a:gd name="T15" fmla="*/ 107 h 309"/>
                      <a:gd name="T16" fmla="*/ 142 w 306"/>
                      <a:gd name="T17" fmla="*/ 15 h 309"/>
                      <a:gd name="T18" fmla="*/ 164 w 306"/>
                      <a:gd name="T19" fmla="*/ 16 h 309"/>
                      <a:gd name="T20" fmla="*/ 225 w 306"/>
                      <a:gd name="T21" fmla="*/ 107 h 309"/>
                      <a:gd name="T22" fmla="*/ 241 w 306"/>
                      <a:gd name="T23" fmla="*/ 153 h 309"/>
                      <a:gd name="T24" fmla="*/ 193 w 306"/>
                      <a:gd name="T25" fmla="*/ 237 h 309"/>
                      <a:gd name="T26" fmla="*/ 112 w 306"/>
                      <a:gd name="T27" fmla="*/ 237 h 309"/>
                      <a:gd name="T28" fmla="*/ 65 w 306"/>
                      <a:gd name="T29" fmla="*/ 153 h 309"/>
                      <a:gd name="T30" fmla="*/ 80 w 306"/>
                      <a:gd name="T31" fmla="*/ 107 h 309"/>
                      <a:gd name="T32" fmla="*/ 153 w 306"/>
                      <a:gd name="T33" fmla="*/ 277 h 309"/>
                      <a:gd name="T34" fmla="*/ 238 w 306"/>
                      <a:gd name="T35" fmla="*/ 257 h 309"/>
                      <a:gd name="T36" fmla="*/ 237 w 306"/>
                      <a:gd name="T37" fmla="*/ 226 h 309"/>
                      <a:gd name="T38" fmla="*/ 234 w 306"/>
                      <a:gd name="T39" fmla="*/ 224 h 309"/>
                      <a:gd name="T40" fmla="*/ 246 w 306"/>
                      <a:gd name="T41" fmla="*/ 205 h 309"/>
                      <a:gd name="T42" fmla="*/ 295 w 306"/>
                      <a:gd name="T43" fmla="*/ 260 h 309"/>
                      <a:gd name="T44" fmla="*/ 252 w 306"/>
                      <a:gd name="T45" fmla="*/ 294 h 309"/>
                      <a:gd name="T46" fmla="*/ 153 w 306"/>
                      <a:gd name="T47" fmla="*/ 309 h 309"/>
                      <a:gd name="T48" fmla="*/ 53 w 306"/>
                      <a:gd name="T49" fmla="*/ 294 h 309"/>
                      <a:gd name="T50" fmla="*/ 10 w 306"/>
                      <a:gd name="T51" fmla="*/ 260 h 309"/>
                      <a:gd name="T52" fmla="*/ 60 w 306"/>
                      <a:gd name="T53" fmla="*/ 205 h 309"/>
                      <a:gd name="T54" fmla="*/ 71 w 306"/>
                      <a:gd name="T55" fmla="*/ 224 h 309"/>
                      <a:gd name="T56" fmla="*/ 69 w 306"/>
                      <a:gd name="T57" fmla="*/ 226 h 309"/>
                      <a:gd name="T58" fmla="*/ 67 w 306"/>
                      <a:gd name="T59" fmla="*/ 257 h 309"/>
                      <a:gd name="T60" fmla="*/ 153 w 306"/>
                      <a:gd name="T61" fmla="*/ 277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06" h="309">
                        <a:moveTo>
                          <a:pt x="138" y="226"/>
                        </a:moveTo>
                        <a:cubicBezTo>
                          <a:pt x="141" y="227"/>
                          <a:pt x="145" y="229"/>
                          <a:pt x="149" y="229"/>
                        </a:cubicBezTo>
                        <a:cubicBezTo>
                          <a:pt x="164" y="232"/>
                          <a:pt x="182" y="227"/>
                          <a:pt x="198" y="216"/>
                        </a:cubicBezTo>
                        <a:cubicBezTo>
                          <a:pt x="215" y="204"/>
                          <a:pt x="226" y="186"/>
                          <a:pt x="226" y="169"/>
                        </a:cubicBezTo>
                        <a:cubicBezTo>
                          <a:pt x="226" y="160"/>
                          <a:pt x="220" y="151"/>
                          <a:pt x="215" y="147"/>
                        </a:cubicBezTo>
                        <a:cubicBezTo>
                          <a:pt x="210" y="170"/>
                          <a:pt x="193" y="193"/>
                          <a:pt x="171" y="209"/>
                        </a:cubicBezTo>
                        <a:cubicBezTo>
                          <a:pt x="160" y="216"/>
                          <a:pt x="149" y="222"/>
                          <a:pt x="138" y="226"/>
                        </a:cubicBezTo>
                        <a:close/>
                        <a:moveTo>
                          <a:pt x="80" y="107"/>
                        </a:moveTo>
                        <a:cubicBezTo>
                          <a:pt x="98" y="76"/>
                          <a:pt x="122" y="47"/>
                          <a:pt x="142" y="15"/>
                        </a:cubicBezTo>
                        <a:cubicBezTo>
                          <a:pt x="151" y="1"/>
                          <a:pt x="154" y="0"/>
                          <a:pt x="164" y="16"/>
                        </a:cubicBezTo>
                        <a:cubicBezTo>
                          <a:pt x="183" y="47"/>
                          <a:pt x="207" y="76"/>
                          <a:pt x="225" y="107"/>
                        </a:cubicBezTo>
                        <a:cubicBezTo>
                          <a:pt x="234" y="122"/>
                          <a:pt x="241" y="138"/>
                          <a:pt x="241" y="153"/>
                        </a:cubicBezTo>
                        <a:cubicBezTo>
                          <a:pt x="241" y="190"/>
                          <a:pt x="221" y="222"/>
                          <a:pt x="193" y="237"/>
                        </a:cubicBezTo>
                        <a:cubicBezTo>
                          <a:pt x="167" y="251"/>
                          <a:pt x="137" y="251"/>
                          <a:pt x="112" y="237"/>
                        </a:cubicBezTo>
                        <a:cubicBezTo>
                          <a:pt x="84" y="221"/>
                          <a:pt x="65" y="190"/>
                          <a:pt x="65" y="153"/>
                        </a:cubicBezTo>
                        <a:cubicBezTo>
                          <a:pt x="65" y="138"/>
                          <a:pt x="71" y="122"/>
                          <a:pt x="80" y="107"/>
                        </a:cubicBezTo>
                        <a:close/>
                        <a:moveTo>
                          <a:pt x="153" y="277"/>
                        </a:moveTo>
                        <a:cubicBezTo>
                          <a:pt x="178" y="277"/>
                          <a:pt x="218" y="273"/>
                          <a:pt x="238" y="257"/>
                        </a:cubicBezTo>
                        <a:cubicBezTo>
                          <a:pt x="251" y="247"/>
                          <a:pt x="250" y="236"/>
                          <a:pt x="237" y="226"/>
                        </a:cubicBezTo>
                        <a:cubicBezTo>
                          <a:pt x="236" y="226"/>
                          <a:pt x="235" y="225"/>
                          <a:pt x="234" y="224"/>
                        </a:cubicBezTo>
                        <a:cubicBezTo>
                          <a:pt x="239" y="218"/>
                          <a:pt x="243" y="212"/>
                          <a:pt x="246" y="205"/>
                        </a:cubicBezTo>
                        <a:cubicBezTo>
                          <a:pt x="267" y="213"/>
                          <a:pt x="306" y="232"/>
                          <a:pt x="295" y="260"/>
                        </a:cubicBezTo>
                        <a:cubicBezTo>
                          <a:pt x="289" y="277"/>
                          <a:pt x="268" y="288"/>
                          <a:pt x="252" y="294"/>
                        </a:cubicBezTo>
                        <a:cubicBezTo>
                          <a:pt x="225" y="304"/>
                          <a:pt x="189" y="309"/>
                          <a:pt x="153" y="309"/>
                        </a:cubicBezTo>
                        <a:cubicBezTo>
                          <a:pt x="116" y="309"/>
                          <a:pt x="80" y="304"/>
                          <a:pt x="53" y="294"/>
                        </a:cubicBezTo>
                        <a:cubicBezTo>
                          <a:pt x="38" y="288"/>
                          <a:pt x="16" y="277"/>
                          <a:pt x="10" y="260"/>
                        </a:cubicBezTo>
                        <a:cubicBezTo>
                          <a:pt x="0" y="232"/>
                          <a:pt x="38" y="213"/>
                          <a:pt x="60" y="205"/>
                        </a:cubicBezTo>
                        <a:cubicBezTo>
                          <a:pt x="63" y="212"/>
                          <a:pt x="67" y="218"/>
                          <a:pt x="71" y="224"/>
                        </a:cubicBezTo>
                        <a:cubicBezTo>
                          <a:pt x="70" y="225"/>
                          <a:pt x="70" y="226"/>
                          <a:pt x="69" y="226"/>
                        </a:cubicBezTo>
                        <a:cubicBezTo>
                          <a:pt x="56" y="236"/>
                          <a:pt x="54" y="247"/>
                          <a:pt x="67" y="257"/>
                        </a:cubicBezTo>
                        <a:cubicBezTo>
                          <a:pt x="88" y="273"/>
                          <a:pt x="128" y="277"/>
                          <a:pt x="153" y="277"/>
                        </a:cubicBezTo>
                        <a:close/>
                      </a:path>
                    </a:pathLst>
                  </a:custGeom>
                  <a:solidFill>
                    <a:schemeClr val="bg1"/>
                  </a:solidFill>
                  <a:ln>
                    <a:noFill/>
                  </a:ln>
                </p:spPr>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微软雅黑" charset="-122"/>
                      <a:ea typeface="微软雅黑" charset="-122"/>
                      <a:cs typeface="+mn-cs"/>
                      <a:sym typeface="微软雅黑" charset="-122"/>
                    </a:endParaRPr>
                  </a:p>
                </p:txBody>
              </p:sp>
            </p:grpSp>
            <p:grpSp>
              <p:nvGrpSpPr>
                <p:cNvPr id="33" name="íşḷiḓe"/>
                <p:cNvGrpSpPr/>
                <p:nvPr/>
              </p:nvGrpSpPr>
              <p:grpSpPr>
                <a:xfrm>
                  <a:off x="1976298" y="2223538"/>
                  <a:ext cx="4005581" cy="1173295"/>
                  <a:chOff x="1976298" y="2223538"/>
                  <a:chExt cx="4005581" cy="1173295"/>
                </a:xfrm>
              </p:grpSpPr>
              <p:sp>
                <p:nvSpPr>
                  <p:cNvPr id="34" name="í$lïḑé"/>
                  <p:cNvSpPr/>
                  <p:nvPr/>
                </p:nvSpPr>
                <p:spPr bwMode="auto">
                  <a:xfrm>
                    <a:off x="1976298" y="2549107"/>
                    <a:ext cx="4005581"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ts val="2500"/>
                      </a:lnSpc>
                      <a:spcBef>
                        <a:spcPts val="0"/>
                      </a:spcBef>
                      <a:spcAft>
                        <a:spcPts val="0"/>
                      </a:spcAft>
                      <a:buClrTx/>
                      <a:buSzTx/>
                      <a:buFont typeface="Arial" panose="020B0604020202090204" pitchFamily="34" charset="0"/>
                      <a:buChar char="•"/>
                      <a:defRPr/>
                    </a:pPr>
                    <a:r>
                      <a:rPr kumimoji="0" lang="zh-CN" altLang="en-US" sz="16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面向视新未来的战略目标，构建绩效目标与战略承接紧密关系与闭环机制</a:t>
                    </a:r>
                    <a:endParaRPr kumimoji="0" lang="en-US" altLang="zh-CN" sz="16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35" name="íṧ1ídé"/>
                  <p:cNvSpPr txBox="1"/>
                  <p:nvPr/>
                </p:nvSpPr>
                <p:spPr bwMode="auto">
                  <a:xfrm>
                    <a:off x="1977534" y="2223538"/>
                    <a:ext cx="3887939"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承接战略</a:t>
                    </a:r>
                    <a:endParaRPr kumimoji="0" lang="en-US" altLang="zh-CN" sz="18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grpSp>
          </p:grpSp>
          <p:sp>
            <p:nvSpPr>
              <p:cNvPr id="29" name="iślïde"/>
              <p:cNvSpPr/>
              <p:nvPr/>
            </p:nvSpPr>
            <p:spPr bwMode="auto">
              <a:xfrm>
                <a:off x="812224" y="3485987"/>
                <a:ext cx="425250" cy="326953"/>
              </a:xfrm>
              <a:custGeom>
                <a:avLst/>
                <a:gdLst>
                  <a:gd name="connsiteX0" fmla="*/ 32283 w 425250"/>
                  <a:gd name="connsiteY0" fmla="*/ 47013 h 326953"/>
                  <a:gd name="connsiteX1" fmla="*/ 150654 w 425250"/>
                  <a:gd name="connsiteY1" fmla="*/ 47013 h 326953"/>
                  <a:gd name="connsiteX2" fmla="*/ 165002 w 425250"/>
                  <a:gd name="connsiteY2" fmla="*/ 61369 h 326953"/>
                  <a:gd name="connsiteX3" fmla="*/ 150654 w 425250"/>
                  <a:gd name="connsiteY3" fmla="*/ 75725 h 326953"/>
                  <a:gd name="connsiteX4" fmla="*/ 32283 w 425250"/>
                  <a:gd name="connsiteY4" fmla="*/ 75725 h 326953"/>
                  <a:gd name="connsiteX5" fmla="*/ 28696 w 425250"/>
                  <a:gd name="connsiteY5" fmla="*/ 75725 h 326953"/>
                  <a:gd name="connsiteX6" fmla="*/ 28696 w 425250"/>
                  <a:gd name="connsiteY6" fmla="*/ 294652 h 326953"/>
                  <a:gd name="connsiteX7" fmla="*/ 32283 w 425250"/>
                  <a:gd name="connsiteY7" fmla="*/ 298241 h 326953"/>
                  <a:gd name="connsiteX8" fmla="*/ 369461 w 425250"/>
                  <a:gd name="connsiteY8" fmla="*/ 298241 h 326953"/>
                  <a:gd name="connsiteX9" fmla="*/ 373048 w 425250"/>
                  <a:gd name="connsiteY9" fmla="*/ 294652 h 326953"/>
                  <a:gd name="connsiteX10" fmla="*/ 373048 w 425250"/>
                  <a:gd name="connsiteY10" fmla="*/ 201339 h 326953"/>
                  <a:gd name="connsiteX11" fmla="*/ 387396 w 425250"/>
                  <a:gd name="connsiteY11" fmla="*/ 186983 h 326953"/>
                  <a:gd name="connsiteX12" fmla="*/ 401744 w 425250"/>
                  <a:gd name="connsiteY12" fmla="*/ 201339 h 326953"/>
                  <a:gd name="connsiteX13" fmla="*/ 401744 w 425250"/>
                  <a:gd name="connsiteY13" fmla="*/ 294652 h 326953"/>
                  <a:gd name="connsiteX14" fmla="*/ 369461 w 425250"/>
                  <a:gd name="connsiteY14" fmla="*/ 326953 h 326953"/>
                  <a:gd name="connsiteX15" fmla="*/ 32283 w 425250"/>
                  <a:gd name="connsiteY15" fmla="*/ 326953 h 326953"/>
                  <a:gd name="connsiteX16" fmla="*/ 0 w 425250"/>
                  <a:gd name="connsiteY16" fmla="*/ 294652 h 326953"/>
                  <a:gd name="connsiteX17" fmla="*/ 0 w 425250"/>
                  <a:gd name="connsiteY17" fmla="*/ 75725 h 326953"/>
                  <a:gd name="connsiteX18" fmla="*/ 32283 w 425250"/>
                  <a:gd name="connsiteY18" fmla="*/ 47013 h 326953"/>
                  <a:gd name="connsiteX19" fmla="*/ 291885 w 425250"/>
                  <a:gd name="connsiteY19" fmla="*/ 0 h 326953"/>
                  <a:gd name="connsiteX20" fmla="*/ 425250 w 425250"/>
                  <a:gd name="connsiteY20" fmla="*/ 104112 h 326953"/>
                  <a:gd name="connsiteX21" fmla="*/ 291885 w 425250"/>
                  <a:gd name="connsiteY21" fmla="*/ 208224 h 326953"/>
                  <a:gd name="connsiteX22" fmla="*/ 291885 w 425250"/>
                  <a:gd name="connsiteY22" fmla="*/ 143603 h 326953"/>
                  <a:gd name="connsiteX23" fmla="*/ 126079 w 425250"/>
                  <a:gd name="connsiteY23" fmla="*/ 269255 h 326953"/>
                  <a:gd name="connsiteX24" fmla="*/ 291885 w 425250"/>
                  <a:gd name="connsiteY24" fmla="*/ 71801 h 326953"/>
                  <a:gd name="connsiteX25" fmla="*/ 291885 w 425250"/>
                  <a:gd name="connsiteY25" fmla="*/ 0 h 32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25250" h="326953">
                    <a:moveTo>
                      <a:pt x="32283" y="47013"/>
                    </a:moveTo>
                    <a:cubicBezTo>
                      <a:pt x="150654" y="47013"/>
                      <a:pt x="150654" y="47013"/>
                      <a:pt x="150654" y="47013"/>
                    </a:cubicBezTo>
                    <a:cubicBezTo>
                      <a:pt x="157828" y="47013"/>
                      <a:pt x="165002" y="50602"/>
                      <a:pt x="165002" y="61369"/>
                    </a:cubicBezTo>
                    <a:cubicBezTo>
                      <a:pt x="165002" y="68547"/>
                      <a:pt x="157828" y="75725"/>
                      <a:pt x="150654" y="75725"/>
                    </a:cubicBezTo>
                    <a:cubicBezTo>
                      <a:pt x="32283" y="75725"/>
                      <a:pt x="32283" y="75725"/>
                      <a:pt x="32283" y="75725"/>
                    </a:cubicBezTo>
                    <a:cubicBezTo>
                      <a:pt x="28696" y="75725"/>
                      <a:pt x="28696" y="75725"/>
                      <a:pt x="28696" y="75725"/>
                    </a:cubicBezTo>
                    <a:cubicBezTo>
                      <a:pt x="28696" y="294652"/>
                      <a:pt x="28696" y="294652"/>
                      <a:pt x="28696" y="294652"/>
                    </a:cubicBezTo>
                    <a:cubicBezTo>
                      <a:pt x="28696" y="298241"/>
                      <a:pt x="28696" y="298241"/>
                      <a:pt x="32283" y="298241"/>
                    </a:cubicBezTo>
                    <a:cubicBezTo>
                      <a:pt x="369461" y="298241"/>
                      <a:pt x="369461" y="298241"/>
                      <a:pt x="369461" y="298241"/>
                    </a:cubicBezTo>
                    <a:cubicBezTo>
                      <a:pt x="369461" y="298241"/>
                      <a:pt x="373048" y="298241"/>
                      <a:pt x="373048" y="294652"/>
                    </a:cubicBezTo>
                    <a:cubicBezTo>
                      <a:pt x="373048" y="201339"/>
                      <a:pt x="373048" y="201339"/>
                      <a:pt x="373048" y="201339"/>
                    </a:cubicBezTo>
                    <a:cubicBezTo>
                      <a:pt x="373048" y="194161"/>
                      <a:pt x="376635" y="186983"/>
                      <a:pt x="387396" y="186983"/>
                    </a:cubicBezTo>
                    <a:cubicBezTo>
                      <a:pt x="394570" y="186983"/>
                      <a:pt x="401744" y="194161"/>
                      <a:pt x="401744" y="201339"/>
                    </a:cubicBezTo>
                    <a:cubicBezTo>
                      <a:pt x="401744" y="294652"/>
                      <a:pt x="401744" y="294652"/>
                      <a:pt x="401744" y="294652"/>
                    </a:cubicBezTo>
                    <a:cubicBezTo>
                      <a:pt x="401744" y="312597"/>
                      <a:pt x="387396" y="326953"/>
                      <a:pt x="369461" y="326953"/>
                    </a:cubicBezTo>
                    <a:cubicBezTo>
                      <a:pt x="32283" y="326953"/>
                      <a:pt x="32283" y="326953"/>
                      <a:pt x="32283" y="326953"/>
                    </a:cubicBezTo>
                    <a:cubicBezTo>
                      <a:pt x="14348" y="326953"/>
                      <a:pt x="0" y="312597"/>
                      <a:pt x="0" y="294652"/>
                    </a:cubicBezTo>
                    <a:cubicBezTo>
                      <a:pt x="0" y="75725"/>
                      <a:pt x="0" y="75725"/>
                      <a:pt x="0" y="75725"/>
                    </a:cubicBezTo>
                    <a:cubicBezTo>
                      <a:pt x="0" y="61369"/>
                      <a:pt x="14348" y="47013"/>
                      <a:pt x="32283" y="47013"/>
                    </a:cubicBezTo>
                    <a:close/>
                    <a:moveTo>
                      <a:pt x="291885" y="0"/>
                    </a:moveTo>
                    <a:cubicBezTo>
                      <a:pt x="291885" y="0"/>
                      <a:pt x="291885" y="0"/>
                      <a:pt x="425250" y="104112"/>
                    </a:cubicBezTo>
                    <a:cubicBezTo>
                      <a:pt x="425250" y="104112"/>
                      <a:pt x="425250" y="104112"/>
                      <a:pt x="291885" y="208224"/>
                    </a:cubicBezTo>
                    <a:cubicBezTo>
                      <a:pt x="291885" y="208224"/>
                      <a:pt x="291885" y="208224"/>
                      <a:pt x="291885" y="143603"/>
                    </a:cubicBezTo>
                    <a:cubicBezTo>
                      <a:pt x="234213" y="147193"/>
                      <a:pt x="180146" y="154373"/>
                      <a:pt x="126079" y="269255"/>
                    </a:cubicBezTo>
                    <a:cubicBezTo>
                      <a:pt x="126079" y="136423"/>
                      <a:pt x="162124" y="75392"/>
                      <a:pt x="291885" y="71801"/>
                    </a:cubicBezTo>
                    <a:cubicBezTo>
                      <a:pt x="291885" y="71801"/>
                      <a:pt x="291885" y="71801"/>
                      <a:pt x="291885" y="0"/>
                    </a:cubicBezTo>
                    <a:close/>
                  </a:path>
                </a:pathLst>
              </a:custGeom>
              <a:solidFill>
                <a:schemeClr val="bg1"/>
              </a:solidFill>
              <a:ln w="9525">
                <a:solidFill>
                  <a:schemeClr val="bg1"/>
                </a:solidFill>
                <a:round/>
              </a:ln>
            </p:spPr>
            <p:txBody>
              <a:bodyPr wrap="square" lIns="91440" tIns="45720" rIns="91440" bIns="45720" anchor="ctr">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微软雅黑" charset="-122"/>
                  <a:ea typeface="微软雅黑" charset="-122"/>
                  <a:cs typeface="+mn-cs"/>
                  <a:sym typeface="微软雅黑" charset="-122"/>
                </a:endParaRPr>
              </a:p>
            </p:txBody>
          </p:sp>
          <p:sp>
            <p:nvSpPr>
              <p:cNvPr id="30" name="ïṥḻiḍè"/>
              <p:cNvSpPr/>
              <p:nvPr/>
            </p:nvSpPr>
            <p:spPr>
              <a:xfrm>
                <a:off x="667590" y="4325430"/>
                <a:ext cx="703465" cy="7034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cxnSp>
            <p:nvCxnSpPr>
              <p:cNvPr id="31" name="直接连接符 30"/>
              <p:cNvCxnSpPr/>
              <p:nvPr/>
            </p:nvCxnSpPr>
            <p:spPr>
              <a:xfrm>
                <a:off x="1641535" y="3912050"/>
                <a:ext cx="3510000" cy="0"/>
              </a:xfrm>
              <a:prstGeom prst="line">
                <a:avLst/>
              </a:prstGeom>
              <a:ln w="3175" cap="rnd">
                <a:solidFill>
                  <a:schemeClr val="bg1">
                    <a:lumMod val="6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7" name="íṥ1ide"/>
            <p:cNvGrpSpPr/>
            <p:nvPr/>
          </p:nvGrpSpPr>
          <p:grpSpPr>
            <a:xfrm>
              <a:off x="667590" y="2379906"/>
              <a:ext cx="10625905" cy="4296613"/>
              <a:chOff x="-5375545" y="2379906"/>
              <a:chExt cx="10625905" cy="4296613"/>
            </a:xfrm>
          </p:grpSpPr>
          <p:grpSp>
            <p:nvGrpSpPr>
              <p:cNvPr id="8" name="iṧḷíḋe"/>
              <p:cNvGrpSpPr/>
              <p:nvPr/>
            </p:nvGrpSpPr>
            <p:grpSpPr>
              <a:xfrm>
                <a:off x="-5375545" y="5806058"/>
                <a:ext cx="10625905" cy="870461"/>
                <a:chOff x="-4981898" y="5651792"/>
                <a:chExt cx="10625905" cy="870461"/>
              </a:xfrm>
            </p:grpSpPr>
            <p:sp>
              <p:nvSpPr>
                <p:cNvPr id="24" name="îSliḑe"/>
                <p:cNvSpPr/>
                <p:nvPr/>
              </p:nvSpPr>
              <p:spPr>
                <a:xfrm>
                  <a:off x="-4981898" y="5818788"/>
                  <a:ext cx="703465" cy="70346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grpSp>
              <p:nvGrpSpPr>
                <p:cNvPr id="25" name="îṥḷiḓè"/>
                <p:cNvGrpSpPr/>
                <p:nvPr/>
              </p:nvGrpSpPr>
              <p:grpSpPr>
                <a:xfrm>
                  <a:off x="-4071674" y="5651792"/>
                  <a:ext cx="9715681" cy="831134"/>
                  <a:chOff x="-4071674" y="5651792"/>
                  <a:chExt cx="9715681" cy="831134"/>
                </a:xfrm>
              </p:grpSpPr>
              <p:sp>
                <p:nvSpPr>
                  <p:cNvPr id="26" name="îşḻïde"/>
                  <p:cNvSpPr/>
                  <p:nvPr/>
                </p:nvSpPr>
                <p:spPr bwMode="auto">
                  <a:xfrm>
                    <a:off x="-4071674" y="6006551"/>
                    <a:ext cx="9715681" cy="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ts val="0"/>
                      </a:spcAft>
                      <a:buClrTx/>
                      <a:buSzTx/>
                      <a:buFont typeface="Arial" panose="020B0604020202090204" pitchFamily="34" charset="0"/>
                      <a:buChar char="•"/>
                      <a:defRPr/>
                    </a:pPr>
                    <a:r>
                      <a:rPr kumimoji="0" lang="zh-CN" altLang="en-US" sz="16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构建绩效的目的是识别和激励优秀人才，淘汰不胜任人员，为企业长效发展做充足的准备</a:t>
                    </a:r>
                    <a:endParaRPr kumimoji="0" lang="en-US" altLang="zh-CN" sz="16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27" name="íŝļidê"/>
                  <p:cNvSpPr txBox="1"/>
                  <p:nvPr/>
                </p:nvSpPr>
                <p:spPr bwMode="auto">
                  <a:xfrm>
                    <a:off x="-4071674" y="5651792"/>
                    <a:ext cx="3887939"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择优劣汰</a:t>
                    </a:r>
                    <a:endParaRPr kumimoji="0" lang="en-US" altLang="zh-CN" sz="18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grpSp>
          </p:grpSp>
          <p:grpSp>
            <p:nvGrpSpPr>
              <p:cNvPr id="9" name="i$ľîḓè"/>
              <p:cNvGrpSpPr/>
              <p:nvPr/>
            </p:nvGrpSpPr>
            <p:grpSpPr>
              <a:xfrm>
                <a:off x="124814" y="2379906"/>
                <a:ext cx="4887592" cy="1480665"/>
                <a:chOff x="518461" y="2225640"/>
                <a:chExt cx="4887592" cy="1480665"/>
              </a:xfrm>
            </p:grpSpPr>
            <p:grpSp>
              <p:nvGrpSpPr>
                <p:cNvPr id="18" name="íṥ1íḍe"/>
                <p:cNvGrpSpPr/>
                <p:nvPr/>
              </p:nvGrpSpPr>
              <p:grpSpPr>
                <a:xfrm>
                  <a:off x="518461" y="2405044"/>
                  <a:ext cx="703465" cy="703465"/>
                  <a:chOff x="2202740" y="2538186"/>
                  <a:chExt cx="703465" cy="703465"/>
                </a:xfrm>
              </p:grpSpPr>
              <p:sp>
                <p:nvSpPr>
                  <p:cNvPr id="22" name="ïślïďé"/>
                  <p:cNvSpPr/>
                  <p:nvPr/>
                </p:nvSpPr>
                <p:spPr>
                  <a:xfrm>
                    <a:off x="2202740" y="2538186"/>
                    <a:ext cx="703465" cy="70346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sp>
                <p:nvSpPr>
                  <p:cNvPr id="23" name="îṣļïḑè"/>
                  <p:cNvSpPr/>
                  <p:nvPr/>
                </p:nvSpPr>
                <p:spPr bwMode="auto">
                  <a:xfrm>
                    <a:off x="2341847" y="2710335"/>
                    <a:ext cx="425250" cy="326953"/>
                  </a:xfrm>
                  <a:custGeom>
                    <a:avLst/>
                    <a:gdLst>
                      <a:gd name="connsiteX0" fmla="*/ 32283 w 425250"/>
                      <a:gd name="connsiteY0" fmla="*/ 47013 h 326953"/>
                      <a:gd name="connsiteX1" fmla="*/ 150654 w 425250"/>
                      <a:gd name="connsiteY1" fmla="*/ 47013 h 326953"/>
                      <a:gd name="connsiteX2" fmla="*/ 165002 w 425250"/>
                      <a:gd name="connsiteY2" fmla="*/ 61369 h 326953"/>
                      <a:gd name="connsiteX3" fmla="*/ 150654 w 425250"/>
                      <a:gd name="connsiteY3" fmla="*/ 75725 h 326953"/>
                      <a:gd name="connsiteX4" fmla="*/ 32283 w 425250"/>
                      <a:gd name="connsiteY4" fmla="*/ 75725 h 326953"/>
                      <a:gd name="connsiteX5" fmla="*/ 28696 w 425250"/>
                      <a:gd name="connsiteY5" fmla="*/ 75725 h 326953"/>
                      <a:gd name="connsiteX6" fmla="*/ 28696 w 425250"/>
                      <a:gd name="connsiteY6" fmla="*/ 294652 h 326953"/>
                      <a:gd name="connsiteX7" fmla="*/ 32283 w 425250"/>
                      <a:gd name="connsiteY7" fmla="*/ 298241 h 326953"/>
                      <a:gd name="connsiteX8" fmla="*/ 369461 w 425250"/>
                      <a:gd name="connsiteY8" fmla="*/ 298241 h 326953"/>
                      <a:gd name="connsiteX9" fmla="*/ 373048 w 425250"/>
                      <a:gd name="connsiteY9" fmla="*/ 294652 h 326953"/>
                      <a:gd name="connsiteX10" fmla="*/ 373048 w 425250"/>
                      <a:gd name="connsiteY10" fmla="*/ 201339 h 326953"/>
                      <a:gd name="connsiteX11" fmla="*/ 387396 w 425250"/>
                      <a:gd name="connsiteY11" fmla="*/ 186983 h 326953"/>
                      <a:gd name="connsiteX12" fmla="*/ 401744 w 425250"/>
                      <a:gd name="connsiteY12" fmla="*/ 201339 h 326953"/>
                      <a:gd name="connsiteX13" fmla="*/ 401744 w 425250"/>
                      <a:gd name="connsiteY13" fmla="*/ 294652 h 326953"/>
                      <a:gd name="connsiteX14" fmla="*/ 369461 w 425250"/>
                      <a:gd name="connsiteY14" fmla="*/ 326953 h 326953"/>
                      <a:gd name="connsiteX15" fmla="*/ 32283 w 425250"/>
                      <a:gd name="connsiteY15" fmla="*/ 326953 h 326953"/>
                      <a:gd name="connsiteX16" fmla="*/ 0 w 425250"/>
                      <a:gd name="connsiteY16" fmla="*/ 294652 h 326953"/>
                      <a:gd name="connsiteX17" fmla="*/ 0 w 425250"/>
                      <a:gd name="connsiteY17" fmla="*/ 75725 h 326953"/>
                      <a:gd name="connsiteX18" fmla="*/ 32283 w 425250"/>
                      <a:gd name="connsiteY18" fmla="*/ 47013 h 326953"/>
                      <a:gd name="connsiteX19" fmla="*/ 291885 w 425250"/>
                      <a:gd name="connsiteY19" fmla="*/ 0 h 326953"/>
                      <a:gd name="connsiteX20" fmla="*/ 425250 w 425250"/>
                      <a:gd name="connsiteY20" fmla="*/ 104112 h 326953"/>
                      <a:gd name="connsiteX21" fmla="*/ 291885 w 425250"/>
                      <a:gd name="connsiteY21" fmla="*/ 208224 h 326953"/>
                      <a:gd name="connsiteX22" fmla="*/ 291885 w 425250"/>
                      <a:gd name="connsiteY22" fmla="*/ 143603 h 326953"/>
                      <a:gd name="connsiteX23" fmla="*/ 126079 w 425250"/>
                      <a:gd name="connsiteY23" fmla="*/ 269255 h 326953"/>
                      <a:gd name="connsiteX24" fmla="*/ 291885 w 425250"/>
                      <a:gd name="connsiteY24" fmla="*/ 71801 h 326953"/>
                      <a:gd name="connsiteX25" fmla="*/ 291885 w 425250"/>
                      <a:gd name="connsiteY25" fmla="*/ 0 h 32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25250" h="326953">
                        <a:moveTo>
                          <a:pt x="32283" y="47013"/>
                        </a:moveTo>
                        <a:cubicBezTo>
                          <a:pt x="150654" y="47013"/>
                          <a:pt x="150654" y="47013"/>
                          <a:pt x="150654" y="47013"/>
                        </a:cubicBezTo>
                        <a:cubicBezTo>
                          <a:pt x="157828" y="47013"/>
                          <a:pt x="165002" y="50602"/>
                          <a:pt x="165002" y="61369"/>
                        </a:cubicBezTo>
                        <a:cubicBezTo>
                          <a:pt x="165002" y="68547"/>
                          <a:pt x="157828" y="75725"/>
                          <a:pt x="150654" y="75725"/>
                        </a:cubicBezTo>
                        <a:cubicBezTo>
                          <a:pt x="32283" y="75725"/>
                          <a:pt x="32283" y="75725"/>
                          <a:pt x="32283" y="75725"/>
                        </a:cubicBezTo>
                        <a:cubicBezTo>
                          <a:pt x="28696" y="75725"/>
                          <a:pt x="28696" y="75725"/>
                          <a:pt x="28696" y="75725"/>
                        </a:cubicBezTo>
                        <a:cubicBezTo>
                          <a:pt x="28696" y="294652"/>
                          <a:pt x="28696" y="294652"/>
                          <a:pt x="28696" y="294652"/>
                        </a:cubicBezTo>
                        <a:cubicBezTo>
                          <a:pt x="28696" y="298241"/>
                          <a:pt x="28696" y="298241"/>
                          <a:pt x="32283" y="298241"/>
                        </a:cubicBezTo>
                        <a:cubicBezTo>
                          <a:pt x="369461" y="298241"/>
                          <a:pt x="369461" y="298241"/>
                          <a:pt x="369461" y="298241"/>
                        </a:cubicBezTo>
                        <a:cubicBezTo>
                          <a:pt x="369461" y="298241"/>
                          <a:pt x="373048" y="298241"/>
                          <a:pt x="373048" y="294652"/>
                        </a:cubicBezTo>
                        <a:cubicBezTo>
                          <a:pt x="373048" y="201339"/>
                          <a:pt x="373048" y="201339"/>
                          <a:pt x="373048" y="201339"/>
                        </a:cubicBezTo>
                        <a:cubicBezTo>
                          <a:pt x="373048" y="194161"/>
                          <a:pt x="376635" y="186983"/>
                          <a:pt x="387396" y="186983"/>
                        </a:cubicBezTo>
                        <a:cubicBezTo>
                          <a:pt x="394570" y="186983"/>
                          <a:pt x="401744" y="194161"/>
                          <a:pt x="401744" y="201339"/>
                        </a:cubicBezTo>
                        <a:cubicBezTo>
                          <a:pt x="401744" y="294652"/>
                          <a:pt x="401744" y="294652"/>
                          <a:pt x="401744" y="294652"/>
                        </a:cubicBezTo>
                        <a:cubicBezTo>
                          <a:pt x="401744" y="312597"/>
                          <a:pt x="387396" y="326953"/>
                          <a:pt x="369461" y="326953"/>
                        </a:cubicBezTo>
                        <a:cubicBezTo>
                          <a:pt x="32283" y="326953"/>
                          <a:pt x="32283" y="326953"/>
                          <a:pt x="32283" y="326953"/>
                        </a:cubicBezTo>
                        <a:cubicBezTo>
                          <a:pt x="14348" y="326953"/>
                          <a:pt x="0" y="312597"/>
                          <a:pt x="0" y="294652"/>
                        </a:cubicBezTo>
                        <a:cubicBezTo>
                          <a:pt x="0" y="75725"/>
                          <a:pt x="0" y="75725"/>
                          <a:pt x="0" y="75725"/>
                        </a:cubicBezTo>
                        <a:cubicBezTo>
                          <a:pt x="0" y="61369"/>
                          <a:pt x="14348" y="47013"/>
                          <a:pt x="32283" y="47013"/>
                        </a:cubicBezTo>
                        <a:close/>
                        <a:moveTo>
                          <a:pt x="291885" y="0"/>
                        </a:moveTo>
                        <a:cubicBezTo>
                          <a:pt x="291885" y="0"/>
                          <a:pt x="291885" y="0"/>
                          <a:pt x="425250" y="104112"/>
                        </a:cubicBezTo>
                        <a:cubicBezTo>
                          <a:pt x="425250" y="104112"/>
                          <a:pt x="425250" y="104112"/>
                          <a:pt x="291885" y="208224"/>
                        </a:cubicBezTo>
                        <a:cubicBezTo>
                          <a:pt x="291885" y="208224"/>
                          <a:pt x="291885" y="208224"/>
                          <a:pt x="291885" y="143603"/>
                        </a:cubicBezTo>
                        <a:cubicBezTo>
                          <a:pt x="234213" y="147193"/>
                          <a:pt x="180146" y="154373"/>
                          <a:pt x="126079" y="269255"/>
                        </a:cubicBezTo>
                        <a:cubicBezTo>
                          <a:pt x="126079" y="136423"/>
                          <a:pt x="162124" y="75392"/>
                          <a:pt x="291885" y="71801"/>
                        </a:cubicBezTo>
                        <a:cubicBezTo>
                          <a:pt x="291885" y="71801"/>
                          <a:pt x="291885" y="71801"/>
                          <a:pt x="291885" y="0"/>
                        </a:cubicBezTo>
                        <a:close/>
                      </a:path>
                    </a:pathLst>
                  </a:custGeom>
                  <a:solidFill>
                    <a:schemeClr val="bg1"/>
                  </a:solidFill>
                  <a:ln w="9525">
                    <a:solidFill>
                      <a:schemeClr val="bg1"/>
                    </a:solidFill>
                    <a:round/>
                  </a:ln>
                </p:spPr>
                <p:txBody>
                  <a:bodyPr wrap="square" lIns="91440" tIns="45720" rIns="91440" bIns="45720" anchor="ctr">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微软雅黑" charset="-122"/>
                      <a:ea typeface="微软雅黑" charset="-122"/>
                      <a:cs typeface="+mn-cs"/>
                      <a:sym typeface="微软雅黑" charset="-122"/>
                    </a:endParaRPr>
                  </a:p>
                </p:txBody>
              </p:sp>
            </p:grpSp>
            <p:grpSp>
              <p:nvGrpSpPr>
                <p:cNvPr id="19" name="ïšľídè"/>
                <p:cNvGrpSpPr/>
                <p:nvPr/>
              </p:nvGrpSpPr>
              <p:grpSpPr>
                <a:xfrm>
                  <a:off x="1400472" y="2225640"/>
                  <a:ext cx="4005581" cy="1480665"/>
                  <a:chOff x="1400472" y="2225640"/>
                  <a:chExt cx="4005581" cy="1480665"/>
                </a:xfrm>
              </p:grpSpPr>
              <p:sp>
                <p:nvSpPr>
                  <p:cNvPr id="20" name="íṧľîḋè"/>
                  <p:cNvSpPr/>
                  <p:nvPr/>
                </p:nvSpPr>
                <p:spPr bwMode="auto">
                  <a:xfrm>
                    <a:off x="1400472" y="2543189"/>
                    <a:ext cx="4005581" cy="1163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ts val="2500"/>
                      </a:lnSpc>
                      <a:spcBef>
                        <a:spcPct val="0"/>
                      </a:spcBef>
                      <a:spcAft>
                        <a:spcPts val="0"/>
                      </a:spcAft>
                      <a:buClrTx/>
                      <a:buSzTx/>
                      <a:buFont typeface="Arial" panose="020B0604020202090204" pitchFamily="34" charset="0"/>
                      <a:buChar char="•"/>
                      <a:defRPr/>
                    </a:pPr>
                    <a:r>
                      <a:rPr kumimoji="0" lang="zh-CN" altLang="en-US" sz="16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优化绩效与激励的联动关系，导向清晰化、显性化，制度化，鼓励更多人才为了价值分配而努力创造价值</a:t>
                    </a:r>
                    <a:endParaRPr kumimoji="0" lang="en-US" altLang="zh-CN" sz="16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21" name="iṧ1ïďê"/>
                  <p:cNvSpPr txBox="1"/>
                  <p:nvPr/>
                </p:nvSpPr>
                <p:spPr bwMode="auto">
                  <a:xfrm>
                    <a:off x="1400472" y="2225640"/>
                    <a:ext cx="3887939"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考核清晰透明化</a:t>
                    </a:r>
                    <a:endParaRPr kumimoji="0" lang="en-US" altLang="zh-CN" sz="18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grpSp>
          </p:grpSp>
          <p:grpSp>
            <p:nvGrpSpPr>
              <p:cNvPr id="10" name="íşľíḍè"/>
              <p:cNvGrpSpPr/>
              <p:nvPr/>
            </p:nvGrpSpPr>
            <p:grpSpPr>
              <a:xfrm>
                <a:off x="77188" y="4233587"/>
                <a:ext cx="4854325" cy="1018810"/>
                <a:chOff x="470835" y="4079321"/>
                <a:chExt cx="4854325" cy="1018810"/>
              </a:xfrm>
            </p:grpSpPr>
            <p:grpSp>
              <p:nvGrpSpPr>
                <p:cNvPr id="12" name="išľíďé"/>
                <p:cNvGrpSpPr/>
                <p:nvPr/>
              </p:nvGrpSpPr>
              <p:grpSpPr>
                <a:xfrm>
                  <a:off x="470835" y="4157056"/>
                  <a:ext cx="703465" cy="703465"/>
                  <a:chOff x="2155114" y="3877772"/>
                  <a:chExt cx="703465" cy="703465"/>
                </a:xfrm>
              </p:grpSpPr>
              <p:sp>
                <p:nvSpPr>
                  <p:cNvPr id="16" name="iṣļïďè"/>
                  <p:cNvSpPr/>
                  <p:nvPr/>
                </p:nvSpPr>
                <p:spPr>
                  <a:xfrm>
                    <a:off x="2155114" y="3877772"/>
                    <a:ext cx="703465" cy="70346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sp>
                <p:nvSpPr>
                  <p:cNvPr id="17" name="íṩ1íde"/>
                  <p:cNvSpPr/>
                  <p:nvPr/>
                </p:nvSpPr>
                <p:spPr bwMode="auto">
                  <a:xfrm>
                    <a:off x="2311814" y="4086937"/>
                    <a:ext cx="416742" cy="340132"/>
                  </a:xfrm>
                  <a:custGeom>
                    <a:avLst/>
                    <a:gdLst>
                      <a:gd name="T0" fmla="*/ 307 w 382"/>
                      <a:gd name="T1" fmla="*/ 135 h 312"/>
                      <a:gd name="T2" fmla="*/ 362 w 382"/>
                      <a:gd name="T3" fmla="*/ 71 h 312"/>
                      <a:gd name="T4" fmla="*/ 238 w 382"/>
                      <a:gd name="T5" fmla="*/ 25 h 312"/>
                      <a:gd name="T6" fmla="*/ 229 w 382"/>
                      <a:gd name="T7" fmla="*/ 19 h 312"/>
                      <a:gd name="T8" fmla="*/ 229 w 382"/>
                      <a:gd name="T9" fmla="*/ 134 h 312"/>
                      <a:gd name="T10" fmla="*/ 180 w 382"/>
                      <a:gd name="T11" fmla="*/ 214 h 312"/>
                      <a:gd name="T12" fmla="*/ 86 w 382"/>
                      <a:gd name="T13" fmla="*/ 189 h 312"/>
                      <a:gd name="T14" fmla="*/ 129 w 382"/>
                      <a:gd name="T15" fmla="*/ 97 h 312"/>
                      <a:gd name="T16" fmla="*/ 190 w 382"/>
                      <a:gd name="T17" fmla="*/ 93 h 312"/>
                      <a:gd name="T18" fmla="*/ 190 w 382"/>
                      <a:gd name="T19" fmla="*/ 4 h 312"/>
                      <a:gd name="T20" fmla="*/ 154 w 382"/>
                      <a:gd name="T21" fmla="*/ 0 h 312"/>
                      <a:gd name="T22" fmla="*/ 0 w 382"/>
                      <a:gd name="T23" fmla="*/ 156 h 312"/>
                      <a:gd name="T24" fmla="*/ 154 w 382"/>
                      <a:gd name="T25" fmla="*/ 312 h 312"/>
                      <a:gd name="T26" fmla="*/ 308 w 382"/>
                      <a:gd name="T27" fmla="*/ 156 h 312"/>
                      <a:gd name="T28" fmla="*/ 307 w 382"/>
                      <a:gd name="T29" fmla="*/ 135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2" h="312">
                        <a:moveTo>
                          <a:pt x="307" y="135"/>
                        </a:moveTo>
                        <a:cubicBezTo>
                          <a:pt x="354" y="122"/>
                          <a:pt x="382" y="72"/>
                          <a:pt x="362" y="71"/>
                        </a:cubicBezTo>
                        <a:cubicBezTo>
                          <a:pt x="311" y="68"/>
                          <a:pt x="267" y="43"/>
                          <a:pt x="238" y="25"/>
                        </a:cubicBezTo>
                        <a:cubicBezTo>
                          <a:pt x="235" y="23"/>
                          <a:pt x="232" y="21"/>
                          <a:pt x="229" y="19"/>
                        </a:cubicBezTo>
                        <a:cubicBezTo>
                          <a:pt x="229" y="134"/>
                          <a:pt x="229" y="134"/>
                          <a:pt x="229" y="134"/>
                        </a:cubicBezTo>
                        <a:cubicBezTo>
                          <a:pt x="229" y="172"/>
                          <a:pt x="206" y="202"/>
                          <a:pt x="180" y="214"/>
                        </a:cubicBezTo>
                        <a:cubicBezTo>
                          <a:pt x="142" y="233"/>
                          <a:pt x="100" y="221"/>
                          <a:pt x="86" y="189"/>
                        </a:cubicBezTo>
                        <a:cubicBezTo>
                          <a:pt x="72" y="157"/>
                          <a:pt x="91" y="116"/>
                          <a:pt x="129" y="97"/>
                        </a:cubicBezTo>
                        <a:cubicBezTo>
                          <a:pt x="150" y="87"/>
                          <a:pt x="172" y="86"/>
                          <a:pt x="190" y="93"/>
                        </a:cubicBezTo>
                        <a:cubicBezTo>
                          <a:pt x="190" y="4"/>
                          <a:pt x="190" y="4"/>
                          <a:pt x="190" y="4"/>
                        </a:cubicBezTo>
                        <a:cubicBezTo>
                          <a:pt x="178" y="1"/>
                          <a:pt x="166" y="0"/>
                          <a:pt x="154" y="0"/>
                        </a:cubicBezTo>
                        <a:cubicBezTo>
                          <a:pt x="69" y="0"/>
                          <a:pt x="0" y="70"/>
                          <a:pt x="0" y="156"/>
                        </a:cubicBezTo>
                        <a:cubicBezTo>
                          <a:pt x="0" y="242"/>
                          <a:pt x="69" y="312"/>
                          <a:pt x="154" y="312"/>
                        </a:cubicBezTo>
                        <a:cubicBezTo>
                          <a:pt x="239" y="312"/>
                          <a:pt x="308" y="242"/>
                          <a:pt x="308" y="156"/>
                        </a:cubicBezTo>
                        <a:cubicBezTo>
                          <a:pt x="308" y="149"/>
                          <a:pt x="308" y="142"/>
                          <a:pt x="307" y="135"/>
                        </a:cubicBezTo>
                        <a:close/>
                      </a:path>
                    </a:pathLst>
                  </a:custGeom>
                  <a:solidFill>
                    <a:schemeClr val="bg1"/>
                  </a:solidFill>
                  <a:ln>
                    <a:noFill/>
                  </a:ln>
                </p:spPr>
                <p:txBody>
                  <a:bodyPr wrap="square" lIns="91440" tIns="45720" rIns="91440" bIns="4572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微软雅黑" charset="-122"/>
                      <a:ea typeface="微软雅黑" charset="-122"/>
                      <a:cs typeface="+mn-cs"/>
                      <a:sym typeface="微软雅黑" charset="-122"/>
                    </a:endParaRPr>
                  </a:p>
                </p:txBody>
              </p:sp>
            </p:grpSp>
            <p:grpSp>
              <p:nvGrpSpPr>
                <p:cNvPr id="13" name="ísḷîdê"/>
                <p:cNvGrpSpPr/>
                <p:nvPr/>
              </p:nvGrpSpPr>
              <p:grpSpPr>
                <a:xfrm>
                  <a:off x="1363722" y="4079321"/>
                  <a:ext cx="3961438" cy="1018810"/>
                  <a:chOff x="1363722" y="4079321"/>
                  <a:chExt cx="3961438" cy="1018810"/>
                </a:xfrm>
              </p:grpSpPr>
              <p:sp>
                <p:nvSpPr>
                  <p:cNvPr id="14" name="ï$ļíḓê"/>
                  <p:cNvSpPr/>
                  <p:nvPr/>
                </p:nvSpPr>
                <p:spPr bwMode="auto">
                  <a:xfrm>
                    <a:off x="1363722" y="4394666"/>
                    <a:ext cx="3961438" cy="703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ts val="0"/>
                      </a:spcAft>
                      <a:buClrTx/>
                      <a:buSzTx/>
                      <a:buFont typeface="Arial" panose="020B0604020202090204" pitchFamily="34" charset="0"/>
                      <a:buChar char="•"/>
                      <a:defRPr/>
                    </a:pPr>
                    <a:r>
                      <a:rPr kumimoji="0" lang="zh-CN" altLang="en-US" sz="16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固化绩效过程的四个环节，动作到位，让评价真正做到公正、公平、公开</a:t>
                    </a:r>
                    <a:endParaRPr kumimoji="0" lang="en-US" altLang="zh-CN" sz="16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15" name="ïṣľíḍe"/>
                  <p:cNvSpPr txBox="1"/>
                  <p:nvPr/>
                </p:nvSpPr>
                <p:spPr bwMode="auto">
                  <a:xfrm>
                    <a:off x="1400472" y="4079321"/>
                    <a:ext cx="3887939"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流程公平，结果公正</a:t>
                    </a:r>
                    <a:endParaRPr kumimoji="0" lang="en-US" altLang="zh-CN" sz="18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grpSp>
          </p:grpSp>
          <p:cxnSp>
            <p:nvCxnSpPr>
              <p:cNvPr id="11" name="直接连接符 10"/>
              <p:cNvCxnSpPr/>
              <p:nvPr/>
            </p:nvCxnSpPr>
            <p:spPr>
              <a:xfrm>
                <a:off x="1082066" y="3898650"/>
                <a:ext cx="3510000" cy="0"/>
              </a:xfrm>
              <a:prstGeom prst="line">
                <a:avLst/>
              </a:prstGeom>
              <a:ln w="3175" cap="rnd">
                <a:solidFill>
                  <a:schemeClr val="bg1">
                    <a:lumMod val="6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sp>
        <p:nvSpPr>
          <p:cNvPr id="38" name="íṥ1ide"/>
          <p:cNvSpPr txBox="1"/>
          <p:nvPr/>
        </p:nvSpPr>
        <p:spPr bwMode="auto">
          <a:xfrm>
            <a:off x="1639926" y="3850040"/>
            <a:ext cx="3887939" cy="439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业绩导向</a:t>
            </a:r>
            <a:endParaRPr kumimoji="0" lang="en-US" altLang="zh-CN" sz="18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39" name="iŝlíḓê"/>
          <p:cNvSpPr/>
          <p:nvPr/>
        </p:nvSpPr>
        <p:spPr bwMode="auto">
          <a:xfrm>
            <a:off x="1638585" y="4213511"/>
            <a:ext cx="3883102" cy="878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ts val="2500"/>
              </a:lnSpc>
              <a:spcBef>
                <a:spcPts val="0"/>
              </a:spcBef>
              <a:spcAft>
                <a:spcPts val="0"/>
              </a:spcAft>
              <a:buClrTx/>
              <a:buSzTx/>
              <a:buFont typeface="Arial" panose="020B0604020202090204" pitchFamily="34" charset="0"/>
              <a:buChar char="•"/>
              <a:defRPr/>
            </a:pPr>
            <a:r>
              <a:rPr kumimoji="0" lang="zh-CN" altLang="en-US" sz="1600" b="0" i="0" u="none" strike="noStrike" kern="1200" cap="none" spc="0" normalizeH="0" baseline="0" noProof="0" dirty="0">
                <a:ln>
                  <a:noFill/>
                </a:ln>
                <a:solidFill>
                  <a:srgbClr val="000000"/>
                </a:solidFill>
                <a:effectLst/>
                <a:uLnTx/>
                <a:uFillTx/>
                <a:latin typeface="微软雅黑" charset="-122"/>
                <a:ea typeface="微软雅黑" charset="-122"/>
                <a:cs typeface="+mn-cs"/>
              </a:rPr>
              <a:t>年度考核牵引大家博弈结果，通过横向拉通分辨员工对公司战略目标的贡献度</a:t>
            </a:r>
            <a:endParaRPr kumimoji="0" lang="en-US" altLang="zh-CN" sz="16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pic>
        <p:nvPicPr>
          <p:cNvPr id="40" name="图形 39" descr="天使的脸轮廓 纯色填充"/>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6351" y="4174938"/>
            <a:ext cx="480140" cy="480140"/>
          </a:xfrm>
          <a:prstGeom prst="rect">
            <a:avLst/>
          </a:prstGeom>
        </p:spPr>
      </p:pic>
      <p:pic>
        <p:nvPicPr>
          <p:cNvPr id="41" name="图形 40" descr="原子 纯色填充"/>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2366" y="5769607"/>
            <a:ext cx="525780" cy="525780"/>
          </a:xfrm>
          <a:prstGeom prst="rect">
            <a:avLst/>
          </a:prstGeom>
        </p:spPr>
      </p:pic>
      <p:sp>
        <p:nvSpPr>
          <p:cNvPr id="42" name="iṧḻïḋè"/>
          <p:cNvSpPr/>
          <p:nvPr/>
        </p:nvSpPr>
        <p:spPr>
          <a:xfrm>
            <a:off x="1544247" y="1263460"/>
            <a:ext cx="8905728" cy="59673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FFFFFF"/>
                </a:solidFill>
                <a:effectLst/>
                <a:uLnTx/>
                <a:uFillTx/>
                <a:latin typeface="微软雅黑" charset="-122"/>
                <a:ea typeface="微软雅黑" charset="-122"/>
                <a:cs typeface="+mn-cs"/>
                <a:sym typeface="微软雅黑" charset="-122"/>
              </a:rPr>
              <a:t>规则清晰、能上能下、能多能少</a:t>
            </a:r>
            <a:endParaRPr kumimoji="0" lang="zh-CN" altLang="en-US" sz="2000" b="1" i="0" u="none" strike="noStrike" kern="1200" cap="none" spc="0" normalizeH="0" baseline="0" noProof="0" dirty="0">
              <a:ln>
                <a:noFill/>
              </a:ln>
              <a:solidFill>
                <a:srgbClr val="FFFFFF"/>
              </a:solidFill>
              <a:effectLst/>
              <a:uLnTx/>
              <a:uFillTx/>
              <a:latin typeface="微软雅黑" charset="-122"/>
              <a:ea typeface="微软雅黑" charset="-122"/>
              <a:cs typeface="+mn-cs"/>
              <a:sym typeface="微软雅黑" charset="-122"/>
            </a:endParaRPr>
          </a:p>
        </p:txBody>
      </p:sp>
      <p:cxnSp>
        <p:nvCxnSpPr>
          <p:cNvPr id="43" name="直接连接符 42"/>
          <p:cNvCxnSpPr/>
          <p:nvPr/>
        </p:nvCxnSpPr>
        <p:spPr>
          <a:xfrm>
            <a:off x="1653503" y="5332198"/>
            <a:ext cx="9558833" cy="0"/>
          </a:xfrm>
          <a:prstGeom prst="line">
            <a:avLst/>
          </a:prstGeom>
          <a:ln w="3175" cap="rnd">
            <a:solidFill>
              <a:schemeClr val="bg1">
                <a:lumMod val="6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支撑战略从想到到做到的绩效管理全景图</a:t>
            </a:r>
            <a:endParaRPr lang="zh-CN" altLang="en-US"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grpSp>
        <p:nvGrpSpPr>
          <p:cNvPr id="3" name="组合 2"/>
          <p:cNvGrpSpPr/>
          <p:nvPr/>
        </p:nvGrpSpPr>
        <p:grpSpPr>
          <a:xfrm>
            <a:off x="470401" y="1233631"/>
            <a:ext cx="11367245" cy="4961009"/>
            <a:chOff x="702309" y="1152899"/>
            <a:chExt cx="10819131" cy="5541446"/>
          </a:xfrm>
        </p:grpSpPr>
        <p:sp>
          <p:nvSpPr>
            <p:cNvPr id="44" name="矩形 43"/>
            <p:cNvSpPr/>
            <p:nvPr>
              <p:custDataLst>
                <p:tags r:id="rId1"/>
              </p:custDataLst>
            </p:nvPr>
          </p:nvSpPr>
          <p:spPr>
            <a:xfrm>
              <a:off x="702309" y="1610995"/>
              <a:ext cx="4819650" cy="4923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65" b="0" i="0" u="none" strike="noStrike" kern="1200" cap="none" spc="0" normalizeH="0" baseline="0" noProof="0" dirty="0">
                <a:ln>
                  <a:noFill/>
                </a:ln>
                <a:solidFill>
                  <a:srgbClr val="FFFFFF"/>
                </a:solidFill>
                <a:effectLst/>
                <a:uLnTx/>
                <a:uFillTx/>
                <a:latin typeface="Arial" panose="020B0604020202090204"/>
                <a:ea typeface="微软雅黑" charset="-122"/>
                <a:cs typeface="+mn-cs"/>
              </a:endParaRPr>
            </a:p>
          </p:txBody>
        </p:sp>
        <p:sp>
          <p:nvSpPr>
            <p:cNvPr id="45" name="矩形 44"/>
            <p:cNvSpPr/>
            <p:nvPr>
              <p:custDataLst>
                <p:tags r:id="rId2"/>
              </p:custDataLst>
            </p:nvPr>
          </p:nvSpPr>
          <p:spPr>
            <a:xfrm>
              <a:off x="7246620" y="1610995"/>
              <a:ext cx="2366645" cy="4923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65" b="0" i="0" u="none" strike="noStrike" kern="1200" cap="none" spc="0" normalizeH="0" baseline="0" noProof="0">
                <a:ln>
                  <a:noFill/>
                </a:ln>
                <a:solidFill>
                  <a:srgbClr val="FFFFFF"/>
                </a:solidFill>
                <a:effectLst/>
                <a:uLnTx/>
                <a:uFillTx/>
                <a:latin typeface="Arial" panose="020B0604020202090204"/>
                <a:ea typeface="微软雅黑" charset="-122"/>
                <a:cs typeface="+mn-cs"/>
              </a:endParaRPr>
            </a:p>
          </p:txBody>
        </p:sp>
        <p:sp>
          <p:nvSpPr>
            <p:cNvPr id="46" name="矩形 45"/>
            <p:cNvSpPr/>
            <p:nvPr>
              <p:custDataLst>
                <p:tags r:id="rId3"/>
              </p:custDataLst>
            </p:nvPr>
          </p:nvSpPr>
          <p:spPr>
            <a:xfrm>
              <a:off x="9689465" y="1610995"/>
              <a:ext cx="1830705" cy="492379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65" b="0" i="0" u="none" strike="noStrike" kern="1200" cap="none" spc="0" normalizeH="0" baseline="0" noProof="0">
                <a:ln>
                  <a:noFill/>
                </a:ln>
                <a:solidFill>
                  <a:srgbClr val="FFFFFF"/>
                </a:solidFill>
                <a:effectLst/>
                <a:uLnTx/>
                <a:uFillTx/>
                <a:latin typeface="Arial" panose="020B0604020202090204"/>
                <a:ea typeface="微软雅黑" charset="-122"/>
                <a:cs typeface="+mn-cs"/>
              </a:endParaRPr>
            </a:p>
          </p:txBody>
        </p:sp>
        <p:sp>
          <p:nvSpPr>
            <p:cNvPr id="47" name="矩形 46"/>
            <p:cNvSpPr/>
            <p:nvPr/>
          </p:nvSpPr>
          <p:spPr>
            <a:xfrm>
              <a:off x="5636260" y="1617345"/>
              <a:ext cx="1549400" cy="502475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65" b="0" i="0" u="none" strike="noStrike" kern="1200" cap="none" spc="0" normalizeH="0" baseline="0" noProof="0">
                <a:ln>
                  <a:noFill/>
                </a:ln>
                <a:solidFill>
                  <a:srgbClr val="FFFFFF"/>
                </a:solidFill>
                <a:effectLst/>
                <a:uLnTx/>
                <a:uFillTx/>
                <a:latin typeface="Arial" panose="020B0604020202090204"/>
                <a:ea typeface="微软雅黑" charset="-122"/>
                <a:cs typeface="+mn-cs"/>
              </a:endParaRPr>
            </a:p>
          </p:txBody>
        </p:sp>
        <p:sp>
          <p:nvSpPr>
            <p:cNvPr id="48" name="矩形 47"/>
            <p:cNvSpPr/>
            <p:nvPr/>
          </p:nvSpPr>
          <p:spPr>
            <a:xfrm>
              <a:off x="702310" y="1967865"/>
              <a:ext cx="2076450" cy="339026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065" b="0" i="0" u="none" strike="noStrike" kern="1200" cap="none" spc="0" normalizeH="0" baseline="0" noProof="0">
                <a:ln>
                  <a:noFill/>
                </a:ln>
                <a:solidFill>
                  <a:srgbClr val="FFFFFF"/>
                </a:solidFill>
                <a:effectLst/>
                <a:uLnTx/>
                <a:uFillTx/>
                <a:latin typeface="Arial" panose="020B0604020202090204"/>
                <a:ea typeface="微软雅黑" charset="-122"/>
                <a:cs typeface="+mn-cs"/>
              </a:endParaRPr>
            </a:p>
          </p:txBody>
        </p:sp>
        <p:sp>
          <p:nvSpPr>
            <p:cNvPr id="49" name="Text Box 3" descr="蓝色面巾纸"/>
            <p:cNvSpPr txBox="1">
              <a:spLocks noChangeArrowheads="1"/>
            </p:cNvSpPr>
            <p:nvPr/>
          </p:nvSpPr>
          <p:spPr bwMode="auto">
            <a:xfrm>
              <a:off x="9807397" y="2243905"/>
              <a:ext cx="1434561" cy="457200"/>
            </a:xfrm>
            <a:prstGeom prst="rect">
              <a:avLst/>
            </a:prstGeom>
          </p:spPr>
          <p:style>
            <a:lnRef idx="2">
              <a:schemeClr val="dk1"/>
            </a:lnRef>
            <a:fillRef idx="1">
              <a:schemeClr val="lt1"/>
            </a:fillRef>
            <a:effectRef idx="0">
              <a:schemeClr val="dk1"/>
            </a:effectRef>
            <a:fontRef idx="minor">
              <a:schemeClr val="dk1"/>
            </a:fontRef>
          </p:style>
          <p:txBody>
            <a:bodyPr anchor="ctr" anchorCtr="0"/>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年终奖金包</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50" name="Text Box 27"/>
            <p:cNvSpPr txBox="1">
              <a:spLocks noChangeArrowheads="1"/>
            </p:cNvSpPr>
            <p:nvPr/>
          </p:nvSpPr>
          <p:spPr bwMode="auto">
            <a:xfrm>
              <a:off x="1150387" y="2357085"/>
              <a:ext cx="1321708" cy="370094"/>
            </a:xfrm>
            <a:prstGeom prst="rect">
              <a:avLst/>
            </a:prstGeom>
            <a:solidFill>
              <a:srgbClr val="27769F"/>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FFFFFF"/>
                  </a:solidFill>
                  <a:effectLst/>
                  <a:uLnTx/>
                  <a:uFillTx/>
                  <a:latin typeface="微软雅黑" charset="-122"/>
                  <a:ea typeface="微软雅黑" charset="-122"/>
                  <a:cs typeface="Arial" panose="020B0604020202090204"/>
                </a:rPr>
                <a:t>业务设计</a:t>
              </a:r>
              <a:endParaRPr kumimoji="0" lang="zh-CN" altLang="en-US" sz="1065" b="0" i="0" u="none" strike="noStrike" kern="0" cap="none" spc="0" normalizeH="0" baseline="0" noProof="0" dirty="0">
                <a:ln>
                  <a:noFill/>
                </a:ln>
                <a:solidFill>
                  <a:srgbClr val="FFFFFF"/>
                </a:solidFill>
                <a:effectLst/>
                <a:uLnTx/>
                <a:uFillTx/>
                <a:latin typeface="微软雅黑" charset="-122"/>
                <a:ea typeface="微软雅黑" charset="-122"/>
                <a:cs typeface="Arial" panose="020B0604020202090204"/>
              </a:endParaRPr>
            </a:p>
          </p:txBody>
        </p:sp>
        <p:sp>
          <p:nvSpPr>
            <p:cNvPr id="51" name="Text Box 28" descr="蓝色面巾纸"/>
            <p:cNvSpPr txBox="1">
              <a:spLocks noChangeArrowheads="1"/>
            </p:cNvSpPr>
            <p:nvPr/>
          </p:nvSpPr>
          <p:spPr bwMode="auto">
            <a:xfrm>
              <a:off x="3159199" y="2257922"/>
              <a:ext cx="2227309" cy="431800"/>
            </a:xfrm>
            <a:prstGeom prst="rect">
              <a:avLst/>
            </a:prstGeom>
            <a:solidFill>
              <a:srgbClr val="27769F"/>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FFFFFF"/>
                  </a:solidFill>
                  <a:effectLst/>
                  <a:uLnTx/>
                  <a:uFillTx/>
                  <a:latin typeface="微软雅黑" charset="-122"/>
                  <a:ea typeface="微软雅黑" charset="-122"/>
                  <a:cs typeface="Arial" panose="020B0604020202090204"/>
                </a:rPr>
                <a:t>公司绩效目标</a:t>
              </a:r>
              <a:endParaRPr kumimoji="0" lang="zh-CN" altLang="en-US" sz="1065" b="0" i="0" u="none" strike="noStrike" kern="0" cap="none" spc="0" normalizeH="0" baseline="0" noProof="0" dirty="0">
                <a:ln>
                  <a:noFill/>
                </a:ln>
                <a:solidFill>
                  <a:srgbClr val="FFFFFF"/>
                </a:solidFill>
                <a:effectLst/>
                <a:uLnTx/>
                <a:uFillTx/>
                <a:latin typeface="微软雅黑" charset="-122"/>
                <a:ea typeface="微软雅黑" charset="-122"/>
                <a:cs typeface="Arial" panose="020B0604020202090204"/>
              </a:endParaRPr>
            </a:p>
          </p:txBody>
        </p:sp>
        <p:sp>
          <p:nvSpPr>
            <p:cNvPr id="52" name="Text Box 29" descr="蓝色面巾纸"/>
            <p:cNvSpPr txBox="1">
              <a:spLocks noChangeArrowheads="1"/>
            </p:cNvSpPr>
            <p:nvPr/>
          </p:nvSpPr>
          <p:spPr bwMode="auto">
            <a:xfrm>
              <a:off x="5855404" y="2243588"/>
              <a:ext cx="1116191" cy="457834"/>
            </a:xfrm>
            <a:prstGeom prst="rect">
              <a:avLst/>
            </a:prstGeom>
          </p:spPr>
          <p:style>
            <a:lnRef idx="2">
              <a:schemeClr val="accent1"/>
            </a:lnRef>
            <a:fillRef idx="1">
              <a:schemeClr val="lt1"/>
            </a:fillRef>
            <a:effectRef idx="0">
              <a:schemeClr val="accent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公司经营分析会</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53" name="Text Box 30" descr="蓝色面巾纸"/>
            <p:cNvSpPr txBox="1">
              <a:spLocks noChangeArrowheads="1"/>
            </p:cNvSpPr>
            <p:nvPr/>
          </p:nvSpPr>
          <p:spPr bwMode="auto">
            <a:xfrm>
              <a:off x="7362634" y="2112850"/>
              <a:ext cx="943055" cy="712470"/>
            </a:xfrm>
            <a:prstGeom prst="rect">
              <a:avLst/>
            </a:prstGeom>
          </p:spPr>
          <p:style>
            <a:lnRef idx="2">
              <a:schemeClr val="accent1"/>
            </a:lnRef>
            <a:fillRef idx="1">
              <a:schemeClr val="lt1"/>
            </a:fillRef>
            <a:effectRef idx="0">
              <a:schemeClr val="accent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公司各项绩效目标达成情况</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54" name="Text Box 45"/>
            <p:cNvSpPr txBox="1">
              <a:spLocks noChangeArrowheads="1"/>
            </p:cNvSpPr>
            <p:nvPr/>
          </p:nvSpPr>
          <p:spPr bwMode="auto">
            <a:xfrm>
              <a:off x="1139921" y="3458795"/>
              <a:ext cx="1348561" cy="432373"/>
            </a:xfrm>
            <a:prstGeom prst="rect">
              <a:avLst/>
            </a:prstGeom>
          </p:spPr>
          <p:style>
            <a:lnRef idx="2">
              <a:schemeClr val="dk1"/>
            </a:lnRef>
            <a:fillRef idx="1">
              <a:schemeClr val="lt1"/>
            </a:fillRef>
            <a:effectRef idx="0">
              <a:schemeClr val="dk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业务策略</a:t>
              </a:r>
              <a:endParaRPr kumimoji="0" lang="en-US" altLang="zh-CN"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55" name="AutoShape 49"/>
            <p:cNvCxnSpPr>
              <a:cxnSpLocks noChangeShapeType="1"/>
              <a:stCxn id="57" idx="0"/>
              <a:endCxn id="54" idx="2"/>
            </p:cNvCxnSpPr>
            <p:nvPr/>
          </p:nvCxnSpPr>
          <p:spPr bwMode="auto">
            <a:xfrm flipV="1">
              <a:off x="1814202" y="3891402"/>
              <a:ext cx="0" cy="630555"/>
            </a:xfrm>
            <a:prstGeom prst="straightConnector1">
              <a:avLst/>
            </a:prstGeom>
            <a:noFill/>
            <a:ln w="19050">
              <a:solidFill>
                <a:sysClr val="windowText" lastClr="000000"/>
              </a:solidFill>
              <a:round/>
              <a:tailEnd type="triangle" w="med" len="med"/>
            </a:ln>
          </p:spPr>
        </p:cxnSp>
        <p:cxnSp>
          <p:nvCxnSpPr>
            <p:cNvPr id="56" name="AutoShape 50"/>
            <p:cNvCxnSpPr>
              <a:cxnSpLocks noChangeShapeType="1"/>
              <a:stCxn id="54" idx="0"/>
              <a:endCxn id="50" idx="2"/>
            </p:cNvCxnSpPr>
            <p:nvPr/>
          </p:nvCxnSpPr>
          <p:spPr bwMode="auto">
            <a:xfrm flipH="1" flipV="1">
              <a:off x="1811662" y="2727275"/>
              <a:ext cx="2540" cy="731520"/>
            </a:xfrm>
            <a:prstGeom prst="straightConnector1">
              <a:avLst/>
            </a:prstGeom>
            <a:noFill/>
            <a:ln w="19050">
              <a:solidFill>
                <a:sysClr val="windowText" lastClr="000000"/>
              </a:solidFill>
              <a:round/>
              <a:tailEnd type="triangle" w="med" len="med"/>
            </a:ln>
          </p:spPr>
        </p:cxnSp>
        <p:sp>
          <p:nvSpPr>
            <p:cNvPr id="57" name="矩形 56"/>
            <p:cNvSpPr/>
            <p:nvPr/>
          </p:nvSpPr>
          <p:spPr>
            <a:xfrm>
              <a:off x="1184377" y="4521957"/>
              <a:ext cx="1259649" cy="390355"/>
            </a:xfrm>
            <a:prstGeom prst="rect">
              <a:avLst/>
            </a:prstGeom>
            <a:solidFill>
              <a:srgbClr val="27769F"/>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FFFFFF"/>
                  </a:solidFill>
                  <a:effectLst/>
                  <a:uLnTx/>
                  <a:uFillTx/>
                  <a:latin typeface="微软雅黑" charset="-122"/>
                  <a:ea typeface="微软雅黑" charset="-122"/>
                  <a:cs typeface="+mn-cs"/>
                </a:rPr>
                <a:t>战略规划</a:t>
              </a:r>
              <a:endParaRPr kumimoji="0" lang="en-US" altLang="zh-CN" sz="1065" b="0" i="0" u="none" strike="noStrike" kern="1200" cap="none" spc="0" normalizeH="0" baseline="0" noProof="0" dirty="0">
                <a:ln>
                  <a:noFill/>
                </a:ln>
                <a:solidFill>
                  <a:srgbClr val="FFFFFF"/>
                </a:solidFill>
                <a:effectLst/>
                <a:uLnTx/>
                <a:uFillTx/>
                <a:latin typeface="微软雅黑" charset="-122"/>
                <a:ea typeface="微软雅黑" charset="-122"/>
                <a:cs typeface="+mn-cs"/>
              </a:endParaRPr>
            </a:p>
          </p:txBody>
        </p:sp>
        <p:sp>
          <p:nvSpPr>
            <p:cNvPr id="58" name="文本框 57"/>
            <p:cNvSpPr txBox="1"/>
            <p:nvPr/>
          </p:nvSpPr>
          <p:spPr>
            <a:xfrm>
              <a:off x="2788987" y="1162690"/>
              <a:ext cx="693008" cy="286561"/>
            </a:xfrm>
            <a:prstGeom prst="rect">
              <a:avLst/>
            </a:prstGeom>
            <a:noFill/>
          </p:spPr>
          <p:txBody>
            <a:bodyPr wrap="none" rtlCol="0">
              <a:spAutoFit/>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dirty="0">
                  <a:ln>
                    <a:noFill/>
                  </a:ln>
                  <a:solidFill>
                    <a:srgbClr val="000000">
                      <a:lumMod val="75000"/>
                      <a:lumOff val="25000"/>
                    </a:srgbClr>
                  </a:solidFill>
                  <a:effectLst/>
                  <a:uLnTx/>
                  <a:uFillTx/>
                  <a:latin typeface="Arial" panose="020B0604020202090204"/>
                  <a:ea typeface="微软雅黑" charset="-122"/>
                  <a:cs typeface="+mn-cs"/>
                </a:rPr>
                <a:t>目标制定</a:t>
              </a:r>
              <a:endParaRPr kumimoji="0" lang="zh-CN" altLang="en-US" sz="1065" b="1" i="0" u="none" strike="noStrike" kern="1200" cap="none" spc="0" normalizeH="0" baseline="0" noProof="0" dirty="0">
                <a:ln>
                  <a:noFill/>
                </a:ln>
                <a:solidFill>
                  <a:srgbClr val="000000">
                    <a:lumMod val="75000"/>
                    <a:lumOff val="25000"/>
                  </a:srgbClr>
                </a:solidFill>
                <a:effectLst/>
                <a:uLnTx/>
                <a:uFillTx/>
                <a:latin typeface="Arial" panose="020B0604020202090204"/>
                <a:ea typeface="微软雅黑" charset="-122"/>
                <a:cs typeface="+mn-cs"/>
              </a:endParaRPr>
            </a:p>
          </p:txBody>
        </p:sp>
        <p:sp>
          <p:nvSpPr>
            <p:cNvPr id="59" name="文本框 58"/>
            <p:cNvSpPr txBox="1"/>
            <p:nvPr/>
          </p:nvSpPr>
          <p:spPr>
            <a:xfrm>
              <a:off x="6021282" y="1166598"/>
              <a:ext cx="799209" cy="286561"/>
            </a:xfrm>
            <a:prstGeom prst="rect">
              <a:avLst/>
            </a:prstGeom>
            <a:noFill/>
          </p:spPr>
          <p:txBody>
            <a:bodyPr wrap="square" rtlCol="0">
              <a:spAutoFit/>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dirty="0">
                  <a:ln>
                    <a:noFill/>
                  </a:ln>
                  <a:solidFill>
                    <a:srgbClr val="000000">
                      <a:lumMod val="75000"/>
                      <a:lumOff val="25000"/>
                    </a:srgbClr>
                  </a:solidFill>
                  <a:effectLst/>
                  <a:uLnTx/>
                  <a:uFillTx/>
                  <a:latin typeface="Arial" panose="020B0604020202090204"/>
                  <a:ea typeface="微软雅黑" charset="-122"/>
                  <a:cs typeface="+mn-cs"/>
                </a:rPr>
                <a:t>绩效辅导</a:t>
              </a:r>
              <a:endParaRPr kumimoji="0" lang="zh-CN" altLang="en-US" sz="1065" b="1" i="0" u="none" strike="noStrike" kern="1200" cap="none" spc="0" normalizeH="0" baseline="0" noProof="0" dirty="0">
                <a:ln>
                  <a:noFill/>
                </a:ln>
                <a:solidFill>
                  <a:srgbClr val="000000">
                    <a:lumMod val="75000"/>
                    <a:lumOff val="25000"/>
                  </a:srgbClr>
                </a:solidFill>
                <a:effectLst/>
                <a:uLnTx/>
                <a:uFillTx/>
                <a:latin typeface="Arial" panose="020B0604020202090204"/>
                <a:ea typeface="微软雅黑" charset="-122"/>
                <a:cs typeface="+mn-cs"/>
              </a:endParaRPr>
            </a:p>
          </p:txBody>
        </p:sp>
        <p:sp>
          <p:nvSpPr>
            <p:cNvPr id="60" name="文本框 59"/>
            <p:cNvSpPr txBox="1"/>
            <p:nvPr/>
          </p:nvSpPr>
          <p:spPr>
            <a:xfrm>
              <a:off x="7990183" y="1152899"/>
              <a:ext cx="693008" cy="286561"/>
            </a:xfrm>
            <a:prstGeom prst="rect">
              <a:avLst/>
            </a:prstGeom>
            <a:noFill/>
          </p:spPr>
          <p:txBody>
            <a:bodyPr wrap="none" rtlCol="0">
              <a:spAutoFit/>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dirty="0">
                  <a:ln>
                    <a:noFill/>
                  </a:ln>
                  <a:solidFill>
                    <a:srgbClr val="000000">
                      <a:lumMod val="75000"/>
                      <a:lumOff val="25000"/>
                    </a:srgbClr>
                  </a:solidFill>
                  <a:effectLst/>
                  <a:uLnTx/>
                  <a:uFillTx/>
                  <a:latin typeface="Arial" panose="020B0604020202090204"/>
                  <a:ea typeface="微软雅黑" charset="-122"/>
                  <a:cs typeface="+mn-cs"/>
                </a:rPr>
                <a:t>绩效考评</a:t>
              </a:r>
              <a:endParaRPr kumimoji="0" lang="zh-CN" altLang="en-US" sz="1065" b="1" i="0" u="none" strike="noStrike" kern="1200" cap="none" spc="0" normalizeH="0" baseline="0" noProof="0" dirty="0">
                <a:ln>
                  <a:noFill/>
                </a:ln>
                <a:solidFill>
                  <a:srgbClr val="000000">
                    <a:lumMod val="75000"/>
                    <a:lumOff val="25000"/>
                  </a:srgbClr>
                </a:solidFill>
                <a:effectLst/>
                <a:uLnTx/>
                <a:uFillTx/>
                <a:latin typeface="Arial" panose="020B0604020202090204"/>
                <a:ea typeface="微软雅黑" charset="-122"/>
                <a:cs typeface="+mn-cs"/>
              </a:endParaRPr>
            </a:p>
          </p:txBody>
        </p:sp>
        <p:sp>
          <p:nvSpPr>
            <p:cNvPr id="61" name="文本框 60"/>
            <p:cNvSpPr txBox="1"/>
            <p:nvPr/>
          </p:nvSpPr>
          <p:spPr>
            <a:xfrm>
              <a:off x="703654" y="3261168"/>
              <a:ext cx="450518" cy="1019613"/>
            </a:xfrm>
            <a:prstGeom prst="rect">
              <a:avLst/>
            </a:prstGeom>
            <a:noFill/>
          </p:spPr>
          <p:txBody>
            <a:bodyPr wrap="square" rtlCol="0">
              <a:spAutoFit/>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335" b="0" i="0" u="none" strike="noStrike" kern="1200" cap="none" spc="0" normalizeH="0" baseline="0" noProof="0" dirty="0">
                  <a:ln>
                    <a:noFill/>
                  </a:ln>
                  <a:solidFill>
                    <a:srgbClr val="000000"/>
                  </a:solidFill>
                  <a:effectLst/>
                  <a:uLnTx/>
                  <a:uFillTx/>
                  <a:latin typeface="Arial" panose="020B0604020202090204"/>
                  <a:ea typeface="微软雅黑" charset="-122"/>
                  <a:cs typeface="+mn-cs"/>
                </a:rPr>
                <a:t>战略解码</a:t>
              </a:r>
              <a:endParaRPr kumimoji="0" lang="zh-CN" altLang="en-US" sz="1335"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sp>
          <p:nvSpPr>
            <p:cNvPr id="62" name="文本框 61"/>
            <p:cNvSpPr txBox="1"/>
            <p:nvPr/>
          </p:nvSpPr>
          <p:spPr>
            <a:xfrm>
              <a:off x="10151979" y="1157094"/>
              <a:ext cx="693008" cy="286561"/>
            </a:xfrm>
            <a:prstGeom prst="rect">
              <a:avLst/>
            </a:prstGeom>
            <a:noFill/>
          </p:spPr>
          <p:txBody>
            <a:bodyPr wrap="none" rtlCol="0">
              <a:spAutoFit/>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dirty="0">
                  <a:ln>
                    <a:noFill/>
                  </a:ln>
                  <a:solidFill>
                    <a:srgbClr val="000000">
                      <a:lumMod val="75000"/>
                      <a:lumOff val="25000"/>
                    </a:srgbClr>
                  </a:solidFill>
                  <a:effectLst/>
                  <a:uLnTx/>
                  <a:uFillTx/>
                  <a:latin typeface="Arial" panose="020B0604020202090204"/>
                  <a:ea typeface="微软雅黑" charset="-122"/>
                  <a:cs typeface="+mn-cs"/>
                </a:rPr>
                <a:t>结果应用</a:t>
              </a:r>
              <a:endParaRPr kumimoji="0" lang="zh-CN" altLang="en-US" sz="1065" b="1" i="0" u="none" strike="noStrike" kern="1200" cap="none" spc="0" normalizeH="0" baseline="0" noProof="0" dirty="0">
                <a:ln>
                  <a:noFill/>
                </a:ln>
                <a:solidFill>
                  <a:srgbClr val="000000">
                    <a:lumMod val="75000"/>
                    <a:lumOff val="25000"/>
                  </a:srgbClr>
                </a:solidFill>
                <a:effectLst/>
                <a:uLnTx/>
                <a:uFillTx/>
                <a:latin typeface="Arial" panose="020B0604020202090204"/>
                <a:ea typeface="微软雅黑" charset="-122"/>
                <a:cs typeface="+mn-cs"/>
              </a:endParaRPr>
            </a:p>
          </p:txBody>
        </p:sp>
        <p:sp>
          <p:nvSpPr>
            <p:cNvPr id="63" name="文本框 62"/>
            <p:cNvSpPr txBox="1"/>
            <p:nvPr/>
          </p:nvSpPr>
          <p:spPr>
            <a:xfrm>
              <a:off x="4013693" y="5022696"/>
              <a:ext cx="1324209" cy="286561"/>
            </a:xfrm>
            <a:prstGeom prst="rect">
              <a:avLst/>
            </a:prstGeom>
            <a:solidFill>
              <a:srgbClr val="27769F"/>
            </a:solidFill>
            <a:ln>
              <a:noFill/>
            </a:ln>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FFFFFF"/>
                  </a:solidFill>
                  <a:effectLst/>
                  <a:uLnTx/>
                  <a:uFillTx/>
                  <a:latin typeface="Arial" panose="020B0604020202090204"/>
                  <a:ea typeface="微软雅黑" charset="-122"/>
                  <a:cs typeface="+mn-cs"/>
                </a:rPr>
                <a:t>组织</a:t>
              </a:r>
              <a:r>
                <a:rPr kumimoji="0" lang="en-US" altLang="zh-CN" sz="1065" b="0" i="0" u="none" strike="noStrike" kern="1200" cap="none" spc="0" normalizeH="0" baseline="0" noProof="0" dirty="0">
                  <a:ln>
                    <a:noFill/>
                  </a:ln>
                  <a:solidFill>
                    <a:srgbClr val="FFFFFF"/>
                  </a:solidFill>
                  <a:effectLst/>
                  <a:uLnTx/>
                  <a:uFillTx/>
                  <a:latin typeface="Arial" panose="020B0604020202090204"/>
                  <a:ea typeface="微软雅黑" charset="-122"/>
                  <a:cs typeface="+mn-cs"/>
                </a:rPr>
                <a:t>KPI</a:t>
              </a:r>
              <a:r>
                <a:rPr kumimoji="0" lang="zh-CN" altLang="en-US" sz="1065" b="0" i="0" u="none" strike="noStrike" kern="1200" cap="none" spc="0" normalizeH="0" baseline="0" noProof="0" dirty="0">
                  <a:ln>
                    <a:noFill/>
                  </a:ln>
                  <a:solidFill>
                    <a:srgbClr val="FFFFFF"/>
                  </a:solidFill>
                  <a:effectLst/>
                  <a:uLnTx/>
                  <a:uFillTx/>
                  <a:latin typeface="Arial" panose="020B0604020202090204"/>
                  <a:ea typeface="微软雅黑" charset="-122"/>
                  <a:cs typeface="+mn-cs"/>
                </a:rPr>
                <a:t>与关键举措</a:t>
              </a:r>
              <a:endParaRPr kumimoji="0" lang="en-GB" sz="1065" b="0" i="0" u="none" strike="noStrike" kern="1200" cap="none" spc="0" normalizeH="0" baseline="0" noProof="0" dirty="0">
                <a:ln>
                  <a:noFill/>
                </a:ln>
                <a:solidFill>
                  <a:srgbClr val="FFFFFF"/>
                </a:solidFill>
                <a:effectLst/>
                <a:uLnTx/>
                <a:uFillTx/>
                <a:latin typeface="Arial" panose="020B0604020202090204"/>
                <a:ea typeface="微软雅黑" charset="-122"/>
                <a:cs typeface="+mn-cs"/>
              </a:endParaRPr>
            </a:p>
          </p:txBody>
        </p:sp>
        <p:sp>
          <p:nvSpPr>
            <p:cNvPr id="64" name="文本框 63"/>
            <p:cNvSpPr txBox="1"/>
            <p:nvPr/>
          </p:nvSpPr>
          <p:spPr>
            <a:xfrm>
              <a:off x="4013693" y="5567492"/>
              <a:ext cx="1324209" cy="469984"/>
            </a:xfrm>
            <a:prstGeom prst="rect">
              <a:avLst/>
            </a:prstGeom>
            <a:solidFill>
              <a:srgbClr val="27769F"/>
            </a:solidFill>
            <a:ln>
              <a:noFill/>
            </a:ln>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FFFFFF"/>
                  </a:solidFill>
                  <a:effectLst/>
                  <a:uLnTx/>
                  <a:uFillTx/>
                  <a:latin typeface="Arial" panose="020B0604020202090204"/>
                  <a:ea typeface="微软雅黑" charset="-122"/>
                  <a:cs typeface="+mn-cs"/>
                </a:rPr>
                <a:t>组织和人员管理</a:t>
              </a:r>
              <a:endParaRPr kumimoji="0" lang="en-US" altLang="zh-CN" sz="1065" b="0" i="0" u="none" strike="noStrike" kern="1200" cap="none" spc="0" normalizeH="0" baseline="0" noProof="0" dirty="0">
                <a:ln>
                  <a:noFill/>
                </a:ln>
                <a:solidFill>
                  <a:srgbClr val="FFFFFF"/>
                </a:solidFill>
                <a:effectLst/>
                <a:uLnTx/>
                <a:uFillTx/>
                <a:latin typeface="Arial" panose="020B0604020202090204"/>
                <a:ea typeface="微软雅黑"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FFFFFF"/>
                  </a:solidFill>
                  <a:effectLst/>
                  <a:uLnTx/>
                  <a:uFillTx/>
                  <a:latin typeface="Arial" panose="020B0604020202090204"/>
                  <a:ea typeface="微软雅黑" charset="-122"/>
                  <a:cs typeface="+mn-cs"/>
                </a:rPr>
                <a:t>价值观和行为</a:t>
              </a:r>
              <a:endParaRPr kumimoji="0" lang="en-GB" sz="1065" b="0" i="0" u="none" strike="noStrike" kern="1200" cap="none" spc="0" normalizeH="0" baseline="0" noProof="0" dirty="0">
                <a:ln>
                  <a:noFill/>
                </a:ln>
                <a:solidFill>
                  <a:srgbClr val="FFFFFF"/>
                </a:solidFill>
                <a:effectLst/>
                <a:uLnTx/>
                <a:uFillTx/>
                <a:latin typeface="Arial" panose="020B0604020202090204"/>
                <a:ea typeface="微软雅黑" charset="-122"/>
                <a:cs typeface="+mn-cs"/>
              </a:endParaRPr>
            </a:p>
          </p:txBody>
        </p:sp>
        <p:sp>
          <p:nvSpPr>
            <p:cNvPr id="65" name="Text Box 5" descr="蓝色面巾纸"/>
            <p:cNvSpPr txBox="1">
              <a:spLocks noChangeArrowheads="1"/>
            </p:cNvSpPr>
            <p:nvPr/>
          </p:nvSpPr>
          <p:spPr bwMode="auto">
            <a:xfrm>
              <a:off x="9797367" y="5322775"/>
              <a:ext cx="1434561" cy="892175"/>
            </a:xfrm>
            <a:prstGeom prst="rect">
              <a:avLst/>
            </a:prstGeom>
          </p:spPr>
          <p:style>
            <a:lnRef idx="2">
              <a:schemeClr val="dk1"/>
            </a:lnRef>
            <a:fillRef idx="1">
              <a:schemeClr val="lt1"/>
            </a:fillRef>
            <a:effectRef idx="0">
              <a:schemeClr val="dk1"/>
            </a:effectRef>
            <a:fontRef idx="minor">
              <a:schemeClr val="dk1"/>
            </a:fontRef>
          </p:style>
          <p:txBody>
            <a:bodyPr anchor="ctr"/>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sym typeface="+mn-ea"/>
                </a:rPr>
                <a:t>晋升与淘汰</a:t>
              </a:r>
              <a:endParaRPr kumimoji="0" lang="en-US" altLang="zh-CN"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sym typeface="+mn-ea"/>
                </a:rPr>
                <a:t>薪酬调整</a:t>
              </a:r>
              <a:endParaRPr kumimoji="0" lang="en-US" altLang="zh-CN"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sym typeface="+mn-ea"/>
                </a:rPr>
                <a:t>个人绩效奖金</a:t>
              </a:r>
              <a:endParaRPr kumimoji="0" lang="en-US" altLang="zh-CN"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sym typeface="+mn-ea"/>
                </a:rPr>
                <a:t>员工评优评先</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66" name="Text Box 6" descr="蓝色面巾纸"/>
            <p:cNvSpPr txBox="1">
              <a:spLocks noChangeArrowheads="1"/>
            </p:cNvSpPr>
            <p:nvPr/>
          </p:nvSpPr>
          <p:spPr bwMode="auto">
            <a:xfrm>
              <a:off x="5868346" y="5196415"/>
              <a:ext cx="1116074" cy="432373"/>
            </a:xfrm>
            <a:prstGeom prst="rect">
              <a:avLst/>
            </a:prstGeom>
          </p:spPr>
          <p:style>
            <a:lnRef idx="2">
              <a:schemeClr val="dk1"/>
            </a:lnRef>
            <a:fillRef idx="1">
              <a:schemeClr val="lt1"/>
            </a:fillRef>
            <a:effectRef idx="0">
              <a:schemeClr val="dk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绩效执行与辅导</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67" name="Text Box 7" descr="蓝色面巾纸"/>
            <p:cNvSpPr txBox="1">
              <a:spLocks noChangeArrowheads="1"/>
            </p:cNvSpPr>
            <p:nvPr/>
          </p:nvSpPr>
          <p:spPr bwMode="auto">
            <a:xfrm>
              <a:off x="7359068" y="5196415"/>
              <a:ext cx="679104" cy="432373"/>
            </a:xfrm>
            <a:prstGeom prst="rect">
              <a:avLst/>
            </a:prstGeom>
          </p:spPr>
          <p:style>
            <a:lnRef idx="2">
              <a:schemeClr val="dk1"/>
            </a:lnRef>
            <a:fillRef idx="1">
              <a:schemeClr val="lt1"/>
            </a:fillRef>
            <a:effectRef idx="0">
              <a:schemeClr val="dk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绩效考评</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68" name="Text Box 8" descr="蓝色面巾纸"/>
            <p:cNvSpPr txBox="1">
              <a:spLocks noChangeArrowheads="1"/>
            </p:cNvSpPr>
            <p:nvPr/>
          </p:nvSpPr>
          <p:spPr bwMode="auto">
            <a:xfrm>
              <a:off x="8476963" y="4867481"/>
              <a:ext cx="1073066" cy="353060"/>
            </a:xfrm>
            <a:prstGeom prst="rect">
              <a:avLst/>
            </a:prstGeom>
          </p:spPr>
          <p:style>
            <a:lnRef idx="2">
              <a:schemeClr val="dk1"/>
            </a:lnRef>
            <a:fillRef idx="1">
              <a:schemeClr val="lt1"/>
            </a:fillRef>
            <a:effectRef idx="0">
              <a:schemeClr val="dk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阶段性评价</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69" name="AutoShape 9"/>
            <p:cNvCxnSpPr>
              <a:cxnSpLocks noChangeShapeType="1"/>
              <a:stCxn id="66" idx="3"/>
              <a:endCxn id="67" idx="1"/>
            </p:cNvCxnSpPr>
            <p:nvPr/>
          </p:nvCxnSpPr>
          <p:spPr bwMode="auto">
            <a:xfrm>
              <a:off x="6984421" y="5413237"/>
              <a:ext cx="374178" cy="0"/>
            </a:xfrm>
            <a:prstGeom prst="straightConnector1">
              <a:avLst/>
            </a:prstGeom>
            <a:noFill/>
            <a:ln w="19050">
              <a:solidFill>
                <a:sysClr val="windowText" lastClr="000000"/>
              </a:solidFill>
              <a:round/>
              <a:tailEnd type="triangle" w="med" len="med"/>
            </a:ln>
          </p:spPr>
        </p:cxnSp>
        <p:cxnSp>
          <p:nvCxnSpPr>
            <p:cNvPr id="70" name="肘形连接符 136"/>
            <p:cNvCxnSpPr>
              <a:stCxn id="63" idx="3"/>
              <a:endCxn id="66" idx="1"/>
            </p:cNvCxnSpPr>
            <p:nvPr/>
          </p:nvCxnSpPr>
          <p:spPr>
            <a:xfrm>
              <a:off x="5337902" y="5165977"/>
              <a:ext cx="530444" cy="246625"/>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Rectangle 4"/>
            <p:cNvSpPr>
              <a:spLocks noChangeArrowheads="1"/>
            </p:cNvSpPr>
            <p:nvPr/>
          </p:nvSpPr>
          <p:spPr bwMode="auto">
            <a:xfrm>
              <a:off x="2885440" y="4521835"/>
              <a:ext cx="2690495" cy="2012950"/>
            </a:xfrm>
            <a:prstGeom prst="rect">
              <a:avLst/>
            </a:prstGeom>
            <a:noFill/>
            <a:ln w="12700" algn="ctr">
              <a:solidFill>
                <a:srgbClr val="C00000"/>
              </a:solidFill>
              <a:prstDash val="dash"/>
              <a:miter lim="800000"/>
            </a:ln>
          </p:spPr>
          <p:txBody>
            <a:bodyPr lIns="0" tIns="0" rIns="0" bIns="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zh-CN" altLang="en-US" sz="1065" b="0" i="0" u="none" strike="noStrike" kern="0" cap="none" spc="0" normalizeH="0" baseline="0" noProof="0">
                <a:ln>
                  <a:noFill/>
                </a:ln>
                <a:solidFill>
                  <a:srgbClr val="000000"/>
                </a:solidFill>
                <a:effectLst/>
                <a:uLnTx/>
                <a:uFillTx/>
                <a:latin typeface="微软雅黑" charset="-122"/>
                <a:ea typeface="微软雅黑" charset="-122"/>
                <a:cs typeface="Arial" panose="020B0604020202090204"/>
              </a:endParaRPr>
            </a:p>
          </p:txBody>
        </p:sp>
        <p:sp>
          <p:nvSpPr>
            <p:cNvPr id="72" name="Rectangle 4"/>
            <p:cNvSpPr>
              <a:spLocks noChangeArrowheads="1"/>
            </p:cNvSpPr>
            <p:nvPr/>
          </p:nvSpPr>
          <p:spPr bwMode="auto">
            <a:xfrm>
              <a:off x="2885440" y="1628775"/>
              <a:ext cx="2690495" cy="2803525"/>
            </a:xfrm>
            <a:prstGeom prst="rect">
              <a:avLst/>
            </a:prstGeom>
            <a:noFill/>
            <a:ln w="12700" algn="ctr">
              <a:solidFill>
                <a:srgbClr val="C00000"/>
              </a:solidFill>
              <a:prstDash val="dash"/>
              <a:miter lim="800000"/>
            </a:ln>
          </p:spPr>
          <p:txBody>
            <a:bodyPr lIns="0" tIns="0" rIns="0" bIns="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zh-CN" altLang="en-US" sz="1065" b="0" i="0" u="none" strike="noStrike" kern="0" cap="none" spc="0" normalizeH="0" baseline="0" noProof="0">
                <a:ln>
                  <a:noFill/>
                </a:ln>
                <a:solidFill>
                  <a:srgbClr val="000000"/>
                </a:solidFill>
                <a:effectLst/>
                <a:uLnTx/>
                <a:uFillTx/>
                <a:latin typeface="微软雅黑" charset="-122"/>
                <a:ea typeface="微软雅黑" charset="-122"/>
                <a:cs typeface="Arial" panose="020B0604020202090204"/>
              </a:endParaRPr>
            </a:p>
          </p:txBody>
        </p:sp>
        <p:sp>
          <p:nvSpPr>
            <p:cNvPr id="73" name="文本框 72"/>
            <p:cNvSpPr txBox="1"/>
            <p:nvPr/>
          </p:nvSpPr>
          <p:spPr>
            <a:xfrm>
              <a:off x="2989235" y="5517633"/>
              <a:ext cx="1073066" cy="469984"/>
            </a:xfrm>
            <a:prstGeom prst="rect">
              <a:avLst/>
            </a:prstGeom>
            <a:no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000000"/>
                  </a:solidFill>
                  <a:effectLst/>
                  <a:uLnTx/>
                  <a:uFillTx/>
                  <a:latin typeface="Arial" panose="020B0604020202090204"/>
                  <a:ea typeface="微软雅黑" charset="-122"/>
                  <a:cs typeface="+mn-cs"/>
                </a:rPr>
                <a:t>组织管理</a:t>
              </a:r>
              <a:endParaRPr kumimoji="0" lang="en-US" altLang="zh-CN" sz="1065"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000000"/>
                  </a:solidFill>
                  <a:effectLst/>
                  <a:uLnTx/>
                  <a:uFillTx/>
                  <a:latin typeface="Arial" panose="020B0604020202090204"/>
                  <a:ea typeface="微软雅黑" charset="-122"/>
                  <a:cs typeface="+mn-cs"/>
                </a:rPr>
                <a:t>与行为</a:t>
              </a:r>
              <a:endParaRPr kumimoji="0" lang="zh-CN" altLang="en-US" sz="1065"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sp>
          <p:nvSpPr>
            <p:cNvPr id="74" name="文本框 73"/>
            <p:cNvSpPr txBox="1"/>
            <p:nvPr/>
          </p:nvSpPr>
          <p:spPr>
            <a:xfrm>
              <a:off x="2989235" y="5028737"/>
              <a:ext cx="1103506" cy="286561"/>
            </a:xfrm>
            <a:prstGeom prst="rect">
              <a:avLst/>
            </a:prstGeom>
            <a:no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000000"/>
                  </a:solidFill>
                  <a:effectLst/>
                  <a:uLnTx/>
                  <a:uFillTx/>
                  <a:latin typeface="Arial" panose="020B0604020202090204"/>
                  <a:ea typeface="微软雅黑" charset="-122"/>
                  <a:cs typeface="+mn-cs"/>
                </a:rPr>
                <a:t>业务目标</a:t>
              </a:r>
              <a:endParaRPr kumimoji="0" lang="zh-CN" altLang="en-US" sz="1065"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cxnSp>
          <p:nvCxnSpPr>
            <p:cNvPr id="75" name="肘形连接符 8"/>
            <p:cNvCxnSpPr>
              <a:stCxn id="64" idx="3"/>
              <a:endCxn id="66" idx="1"/>
            </p:cNvCxnSpPr>
            <p:nvPr/>
          </p:nvCxnSpPr>
          <p:spPr>
            <a:xfrm flipV="1">
              <a:off x="5337902" y="5412601"/>
              <a:ext cx="530444" cy="389883"/>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肘形连接符 10"/>
            <p:cNvCxnSpPr>
              <a:stCxn id="50" idx="3"/>
              <a:endCxn id="51" idx="1"/>
            </p:cNvCxnSpPr>
            <p:nvPr/>
          </p:nvCxnSpPr>
          <p:spPr>
            <a:xfrm flipV="1">
              <a:off x="2472095" y="2473823"/>
              <a:ext cx="687104" cy="68310"/>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Text Box 29" descr="蓝色面巾纸"/>
            <p:cNvSpPr txBox="1">
              <a:spLocks noChangeArrowheads="1"/>
            </p:cNvSpPr>
            <p:nvPr/>
          </p:nvSpPr>
          <p:spPr bwMode="auto">
            <a:xfrm>
              <a:off x="8508560" y="2309354"/>
              <a:ext cx="1073066" cy="307340"/>
            </a:xfrm>
            <a:prstGeom prst="rect">
              <a:avLst/>
            </a:prstGeom>
          </p:spPr>
          <p:style>
            <a:lnRef idx="2">
              <a:schemeClr val="accent1"/>
            </a:lnRef>
            <a:fillRef idx="1">
              <a:schemeClr val="lt1"/>
            </a:fillRef>
            <a:effectRef idx="0">
              <a:schemeClr val="accent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年度评价</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78" name="肘形连接符 17"/>
            <p:cNvCxnSpPr>
              <a:stCxn id="52" idx="3"/>
              <a:endCxn id="53" idx="1"/>
            </p:cNvCxnSpPr>
            <p:nvPr/>
          </p:nvCxnSpPr>
          <p:spPr>
            <a:xfrm flipV="1">
              <a:off x="6971595" y="2469085"/>
              <a:ext cx="391039" cy="3421"/>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肘形连接符 18"/>
            <p:cNvCxnSpPr>
              <a:stCxn id="106" idx="3"/>
              <a:endCxn id="104" idx="1"/>
            </p:cNvCxnSpPr>
            <p:nvPr/>
          </p:nvCxnSpPr>
          <p:spPr>
            <a:xfrm flipV="1">
              <a:off x="6961560" y="3270138"/>
              <a:ext cx="397310" cy="354332"/>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肘形连接符 20"/>
            <p:cNvCxnSpPr>
              <a:stCxn id="53" idx="3"/>
              <a:endCxn id="77" idx="1"/>
            </p:cNvCxnSpPr>
            <p:nvPr/>
          </p:nvCxnSpPr>
          <p:spPr>
            <a:xfrm flipV="1">
              <a:off x="8305689" y="2463025"/>
              <a:ext cx="202871" cy="6060"/>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肘形连接符 23"/>
            <p:cNvCxnSpPr>
              <a:stCxn id="77" idx="3"/>
              <a:endCxn id="49" idx="1"/>
            </p:cNvCxnSpPr>
            <p:nvPr/>
          </p:nvCxnSpPr>
          <p:spPr>
            <a:xfrm>
              <a:off x="9581625" y="2463025"/>
              <a:ext cx="225772" cy="9481"/>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Text Box 8" descr="蓝色面巾纸"/>
            <p:cNvSpPr txBox="1">
              <a:spLocks noChangeArrowheads="1"/>
            </p:cNvSpPr>
            <p:nvPr/>
          </p:nvSpPr>
          <p:spPr bwMode="auto">
            <a:xfrm>
              <a:off x="8476963" y="5582491"/>
              <a:ext cx="1073066" cy="353060"/>
            </a:xfrm>
            <a:prstGeom prst="rect">
              <a:avLst/>
            </a:prstGeom>
          </p:spPr>
          <p:style>
            <a:lnRef idx="2">
              <a:schemeClr val="dk1"/>
            </a:lnRef>
            <a:fillRef idx="1">
              <a:schemeClr val="lt1"/>
            </a:fillRef>
            <a:effectRef idx="0">
              <a:schemeClr val="dk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年度评价</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83" name="肘形连接符 34"/>
            <p:cNvCxnSpPr>
              <a:stCxn id="67" idx="3"/>
              <a:endCxn id="82" idx="1"/>
            </p:cNvCxnSpPr>
            <p:nvPr/>
          </p:nvCxnSpPr>
          <p:spPr>
            <a:xfrm>
              <a:off x="8037830" y="5412740"/>
              <a:ext cx="439420" cy="346075"/>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肘形连接符 35"/>
            <p:cNvCxnSpPr>
              <a:stCxn id="67" idx="3"/>
              <a:endCxn id="68" idx="1"/>
            </p:cNvCxnSpPr>
            <p:nvPr/>
          </p:nvCxnSpPr>
          <p:spPr>
            <a:xfrm flipV="1">
              <a:off x="8037830" y="5043805"/>
              <a:ext cx="439420" cy="368935"/>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AutoShape 9"/>
            <p:cNvCxnSpPr>
              <a:cxnSpLocks noChangeShapeType="1"/>
              <a:stCxn id="82" idx="3"/>
              <a:endCxn id="65" idx="1"/>
            </p:cNvCxnSpPr>
            <p:nvPr/>
          </p:nvCxnSpPr>
          <p:spPr bwMode="auto">
            <a:xfrm>
              <a:off x="9550029" y="5759021"/>
              <a:ext cx="247338" cy="10160"/>
            </a:xfrm>
            <a:prstGeom prst="straightConnector1">
              <a:avLst/>
            </a:prstGeom>
            <a:noFill/>
            <a:ln w="19050">
              <a:solidFill>
                <a:sysClr val="windowText" lastClr="000000"/>
              </a:solidFill>
              <a:round/>
              <a:tailEnd type="triangle" w="med" len="med"/>
            </a:ln>
          </p:spPr>
        </p:cxnSp>
        <p:cxnSp>
          <p:nvCxnSpPr>
            <p:cNvPr id="86" name="肘形连接符 40"/>
            <p:cNvCxnSpPr>
              <a:stCxn id="49" idx="2"/>
              <a:endCxn id="113" idx="0"/>
            </p:cNvCxnSpPr>
            <p:nvPr/>
          </p:nvCxnSpPr>
          <p:spPr>
            <a:xfrm rot="16200000" flipH="1">
              <a:off x="10040164" y="3185618"/>
              <a:ext cx="970671" cy="1644"/>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矩形 86"/>
            <p:cNvSpPr/>
            <p:nvPr/>
          </p:nvSpPr>
          <p:spPr>
            <a:xfrm>
              <a:off x="3001645" y="4670425"/>
              <a:ext cx="2520315" cy="1531620"/>
            </a:xfrm>
            <a:prstGeom prst="rect">
              <a:avLst/>
            </a:prstGeom>
            <a:noFill/>
            <a:ln>
              <a:solidFill>
                <a:schemeClr val="tx1"/>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065" b="0" i="0" u="none" strike="noStrike" kern="1200" cap="none" spc="0" normalizeH="0" baseline="0" noProof="0">
                <a:ln>
                  <a:noFill/>
                </a:ln>
                <a:solidFill>
                  <a:srgbClr val="FFFFFF"/>
                </a:solidFill>
                <a:effectLst/>
                <a:uLnTx/>
                <a:uFillTx/>
                <a:latin typeface="Arial" panose="020B0604020202090204"/>
                <a:ea typeface="微软雅黑" charset="-122"/>
                <a:cs typeface="+mn-cs"/>
              </a:endParaRPr>
            </a:p>
          </p:txBody>
        </p:sp>
        <p:sp>
          <p:nvSpPr>
            <p:cNvPr id="88" name="矩形 87"/>
            <p:cNvSpPr/>
            <p:nvPr/>
          </p:nvSpPr>
          <p:spPr>
            <a:xfrm>
              <a:off x="3001918" y="1968071"/>
              <a:ext cx="2520309" cy="2256155"/>
            </a:xfrm>
            <a:prstGeom prst="rect">
              <a:avLst/>
            </a:prstGeom>
            <a:noFill/>
            <a:ln>
              <a:solidFill>
                <a:schemeClr val="tx1"/>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1065" b="0" i="0" u="none" strike="noStrike" kern="1200" cap="none" spc="0" normalizeH="0" baseline="0" noProof="0">
                <a:ln>
                  <a:noFill/>
                </a:ln>
                <a:solidFill>
                  <a:srgbClr val="FFFFFF"/>
                </a:solidFill>
                <a:effectLst/>
                <a:uLnTx/>
                <a:uFillTx/>
                <a:latin typeface="Arial" panose="020B0604020202090204"/>
                <a:ea typeface="微软雅黑" charset="-122"/>
                <a:cs typeface="+mn-cs"/>
              </a:endParaRPr>
            </a:p>
          </p:txBody>
        </p:sp>
        <p:sp>
          <p:nvSpPr>
            <p:cNvPr id="89" name="文本框 88"/>
            <p:cNvSpPr txBox="1"/>
            <p:nvPr/>
          </p:nvSpPr>
          <p:spPr>
            <a:xfrm>
              <a:off x="3235303" y="2003629"/>
              <a:ext cx="2075736" cy="286561"/>
            </a:xfrm>
            <a:prstGeom prst="rect">
              <a:avLst/>
            </a:prstGeom>
            <a:no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dirty="0">
                  <a:ln>
                    <a:noFill/>
                  </a:ln>
                  <a:solidFill>
                    <a:srgbClr val="000000"/>
                  </a:solidFill>
                  <a:effectLst/>
                  <a:uLnTx/>
                  <a:uFillTx/>
                  <a:latin typeface="Arial" panose="020B0604020202090204"/>
                  <a:ea typeface="微软雅黑" charset="-122"/>
                  <a:cs typeface="+mn-cs"/>
                </a:rPr>
                <a:t>组织绩效目标</a:t>
              </a:r>
              <a:endParaRPr kumimoji="0" lang="zh-CN" altLang="en-US" sz="1065" b="1"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sp>
          <p:nvSpPr>
            <p:cNvPr id="90" name="文本框 89"/>
            <p:cNvSpPr txBox="1"/>
            <p:nvPr/>
          </p:nvSpPr>
          <p:spPr>
            <a:xfrm>
              <a:off x="3305698" y="4671267"/>
              <a:ext cx="1879768" cy="286561"/>
            </a:xfrm>
            <a:prstGeom prst="rect">
              <a:avLst/>
            </a:prstGeom>
            <a:no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dirty="0">
                  <a:ln>
                    <a:noFill/>
                  </a:ln>
                  <a:solidFill>
                    <a:srgbClr val="000000"/>
                  </a:solidFill>
                  <a:effectLst/>
                  <a:uLnTx/>
                  <a:uFillTx/>
                  <a:latin typeface="Arial" panose="020B0604020202090204"/>
                  <a:ea typeface="微软雅黑" charset="-122"/>
                  <a:cs typeface="+mn-cs"/>
                </a:rPr>
                <a:t>个人绩效目标</a:t>
              </a:r>
              <a:endParaRPr kumimoji="0" lang="zh-CN" altLang="en-US" sz="1065" b="1"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cxnSp>
          <p:nvCxnSpPr>
            <p:cNvPr id="91" name="AutoShape 50"/>
            <p:cNvCxnSpPr>
              <a:cxnSpLocks noChangeShapeType="1"/>
            </p:cNvCxnSpPr>
            <p:nvPr/>
          </p:nvCxnSpPr>
          <p:spPr bwMode="auto">
            <a:xfrm flipV="1">
              <a:off x="4640055" y="4224226"/>
              <a:ext cx="0" cy="445135"/>
            </a:xfrm>
            <a:prstGeom prst="straightConnector1">
              <a:avLst/>
            </a:prstGeom>
            <a:noFill/>
            <a:ln w="19050">
              <a:solidFill>
                <a:sysClr val="windowText" lastClr="000000"/>
              </a:solidFill>
              <a:round/>
              <a:tailEnd type="triangle" w="med" len="med"/>
            </a:ln>
          </p:spPr>
        </p:cxnSp>
        <p:cxnSp>
          <p:nvCxnSpPr>
            <p:cNvPr id="92" name="AutoShape 50"/>
            <p:cNvCxnSpPr>
              <a:cxnSpLocks noChangeShapeType="1"/>
            </p:cNvCxnSpPr>
            <p:nvPr/>
          </p:nvCxnSpPr>
          <p:spPr bwMode="auto">
            <a:xfrm>
              <a:off x="3808620" y="4224226"/>
              <a:ext cx="0" cy="445135"/>
            </a:xfrm>
            <a:prstGeom prst="straightConnector1">
              <a:avLst/>
            </a:prstGeom>
            <a:noFill/>
            <a:ln w="19050">
              <a:solidFill>
                <a:sysClr val="windowText" lastClr="000000"/>
              </a:solidFill>
              <a:round/>
              <a:tailEnd type="triangle" w="med" len="med"/>
            </a:ln>
          </p:spPr>
        </p:cxnSp>
        <p:sp>
          <p:nvSpPr>
            <p:cNvPr id="93" name="文本框 92"/>
            <p:cNvSpPr txBox="1"/>
            <p:nvPr/>
          </p:nvSpPr>
          <p:spPr>
            <a:xfrm>
              <a:off x="3310772" y="4379801"/>
              <a:ext cx="545412" cy="286561"/>
            </a:xfrm>
            <a:prstGeom prst="rect">
              <a:avLst/>
            </a:prstGeom>
            <a:noFill/>
          </p:spPr>
          <p:txBody>
            <a:bodyPr wrap="square" rtlCol="0">
              <a:spAutoFit/>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a:ln>
                    <a:noFill/>
                  </a:ln>
                  <a:solidFill>
                    <a:srgbClr val="000000"/>
                  </a:solidFill>
                  <a:effectLst/>
                  <a:uLnTx/>
                  <a:uFillTx/>
                  <a:latin typeface="Arial" panose="020B0604020202090204"/>
                  <a:ea typeface="微软雅黑" charset="-122"/>
                  <a:cs typeface="+mn-cs"/>
                </a:rPr>
                <a:t>分解</a:t>
              </a:r>
              <a:endParaRPr kumimoji="0" lang="zh-CN" altLang="en-US" sz="1065" b="1" i="0" u="none" strike="noStrike" kern="1200" cap="none" spc="0" normalizeH="0" baseline="0" noProof="0">
                <a:ln>
                  <a:noFill/>
                </a:ln>
                <a:solidFill>
                  <a:srgbClr val="000000"/>
                </a:solidFill>
                <a:effectLst/>
                <a:uLnTx/>
                <a:uFillTx/>
                <a:latin typeface="Arial" panose="020B0604020202090204"/>
                <a:ea typeface="微软雅黑" charset="-122"/>
                <a:cs typeface="+mn-cs"/>
              </a:endParaRPr>
            </a:p>
          </p:txBody>
        </p:sp>
        <p:sp>
          <p:nvSpPr>
            <p:cNvPr id="94" name="文本框 93"/>
            <p:cNvSpPr txBox="1"/>
            <p:nvPr/>
          </p:nvSpPr>
          <p:spPr>
            <a:xfrm>
              <a:off x="4669863" y="4395042"/>
              <a:ext cx="545412" cy="286561"/>
            </a:xfrm>
            <a:prstGeom prst="rect">
              <a:avLst/>
            </a:prstGeom>
            <a:noFill/>
          </p:spPr>
          <p:txBody>
            <a:bodyPr wrap="square" rtlCol="0">
              <a:spAutoFit/>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a:ln>
                    <a:noFill/>
                  </a:ln>
                  <a:solidFill>
                    <a:srgbClr val="000000"/>
                  </a:solidFill>
                  <a:effectLst/>
                  <a:uLnTx/>
                  <a:uFillTx/>
                  <a:latin typeface="Arial" panose="020B0604020202090204"/>
                  <a:ea typeface="微软雅黑" charset="-122"/>
                  <a:cs typeface="+mn-cs"/>
                </a:rPr>
                <a:t>支撑</a:t>
              </a:r>
              <a:endParaRPr kumimoji="0" lang="zh-CN" altLang="en-US" sz="1065" b="1" i="0" u="none" strike="noStrike" kern="1200" cap="none" spc="0" normalizeH="0" baseline="0" noProof="0">
                <a:ln>
                  <a:noFill/>
                </a:ln>
                <a:solidFill>
                  <a:srgbClr val="000000"/>
                </a:solidFill>
                <a:effectLst/>
                <a:uLnTx/>
                <a:uFillTx/>
                <a:latin typeface="Arial" panose="020B0604020202090204"/>
                <a:ea typeface="微软雅黑" charset="-122"/>
                <a:cs typeface="+mn-cs"/>
              </a:endParaRPr>
            </a:p>
          </p:txBody>
        </p:sp>
        <p:sp>
          <p:nvSpPr>
            <p:cNvPr id="95" name="Text Box 28" descr="蓝色面巾纸"/>
            <p:cNvSpPr txBox="1">
              <a:spLocks noChangeArrowheads="1"/>
            </p:cNvSpPr>
            <p:nvPr/>
          </p:nvSpPr>
          <p:spPr bwMode="auto">
            <a:xfrm>
              <a:off x="3175687" y="3329482"/>
              <a:ext cx="2177774" cy="506332"/>
            </a:xfrm>
            <a:prstGeom prst="rect">
              <a:avLst/>
            </a:prstGeom>
            <a:solidFill>
              <a:srgbClr val="27769F"/>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FFFFFF"/>
                  </a:solidFill>
                  <a:effectLst/>
                  <a:uLnTx/>
                  <a:uFillTx/>
                  <a:latin typeface="微软雅黑" charset="-122"/>
                  <a:ea typeface="微软雅黑" charset="-122"/>
                  <a:cs typeface="Arial" panose="020B0604020202090204"/>
                </a:rPr>
                <a:t>部门绩效目标及重点工作</a:t>
              </a:r>
              <a:endParaRPr kumimoji="0" lang="zh-CN" altLang="en-US" sz="1065" b="0" i="0" u="none" strike="noStrike" kern="0" cap="none" spc="0" normalizeH="0" baseline="0" noProof="0" dirty="0">
                <a:ln>
                  <a:noFill/>
                </a:ln>
                <a:solidFill>
                  <a:srgbClr val="FFFFFF"/>
                </a:solidFill>
                <a:effectLst/>
                <a:uLnTx/>
                <a:uFillTx/>
                <a:latin typeface="微软雅黑" charset="-122"/>
                <a:ea typeface="微软雅黑" charset="-122"/>
                <a:cs typeface="Arial" panose="020B0604020202090204"/>
              </a:endParaRPr>
            </a:p>
          </p:txBody>
        </p:sp>
        <p:sp>
          <p:nvSpPr>
            <p:cNvPr id="96" name="文本框 95"/>
            <p:cNvSpPr txBox="1"/>
            <p:nvPr/>
          </p:nvSpPr>
          <p:spPr>
            <a:xfrm>
              <a:off x="3175687" y="3865016"/>
              <a:ext cx="1073066" cy="286561"/>
            </a:xfrm>
            <a:prstGeom prst="rect">
              <a:avLst/>
            </a:prstGeom>
            <a:no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000000"/>
                  </a:solidFill>
                  <a:effectLst/>
                  <a:uLnTx/>
                  <a:uFillTx/>
                  <a:latin typeface="Arial" panose="020B0604020202090204"/>
                  <a:ea typeface="微软雅黑" charset="-122"/>
                  <a:cs typeface="+mn-cs"/>
                </a:rPr>
                <a:t>资源与支持</a:t>
              </a:r>
              <a:endParaRPr kumimoji="0" lang="zh-CN" altLang="en-US" sz="1065"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sp>
          <p:nvSpPr>
            <p:cNvPr id="97" name="文本框 96"/>
            <p:cNvSpPr txBox="1"/>
            <p:nvPr/>
          </p:nvSpPr>
          <p:spPr>
            <a:xfrm>
              <a:off x="4367349" y="3865016"/>
              <a:ext cx="1072432" cy="286561"/>
            </a:xfrm>
            <a:prstGeom prst="rect">
              <a:avLst/>
            </a:prstGeom>
            <a:no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a:ln>
                    <a:noFill/>
                  </a:ln>
                  <a:solidFill>
                    <a:srgbClr val="000000"/>
                  </a:solidFill>
                  <a:effectLst/>
                  <a:uLnTx/>
                  <a:uFillTx/>
                  <a:latin typeface="Arial" panose="020B0604020202090204"/>
                  <a:ea typeface="微软雅黑" charset="-122"/>
                  <a:cs typeface="+mn-cs"/>
                </a:rPr>
                <a:t>目标与策略</a:t>
              </a:r>
              <a:endParaRPr kumimoji="0" lang="zh-CN" altLang="en-US" sz="1065" b="0" i="0" u="none" strike="noStrike" kern="1200" cap="none" spc="0" normalizeH="0" baseline="0" noProof="0">
                <a:ln>
                  <a:noFill/>
                </a:ln>
                <a:solidFill>
                  <a:srgbClr val="000000"/>
                </a:solidFill>
                <a:effectLst/>
                <a:uLnTx/>
                <a:uFillTx/>
                <a:latin typeface="Arial" panose="020B0604020202090204"/>
                <a:ea typeface="微软雅黑" charset="-122"/>
                <a:cs typeface="+mn-cs"/>
              </a:endParaRPr>
            </a:p>
          </p:txBody>
        </p:sp>
        <p:cxnSp>
          <p:nvCxnSpPr>
            <p:cNvPr id="98" name="AutoShape 50"/>
            <p:cNvCxnSpPr>
              <a:cxnSpLocks noChangeShapeType="1"/>
            </p:cNvCxnSpPr>
            <p:nvPr/>
          </p:nvCxnSpPr>
          <p:spPr bwMode="auto">
            <a:xfrm>
              <a:off x="4339727" y="2808811"/>
              <a:ext cx="0" cy="445135"/>
            </a:xfrm>
            <a:prstGeom prst="straightConnector1">
              <a:avLst/>
            </a:prstGeom>
            <a:noFill/>
            <a:ln w="19050">
              <a:solidFill>
                <a:sysClr val="windowText" lastClr="000000"/>
              </a:solidFill>
              <a:round/>
              <a:tailEnd type="triangle" w="med" len="med"/>
            </a:ln>
          </p:spPr>
        </p:cxnSp>
        <p:sp>
          <p:nvSpPr>
            <p:cNvPr id="99" name="文本框 98"/>
            <p:cNvSpPr txBox="1"/>
            <p:nvPr/>
          </p:nvSpPr>
          <p:spPr>
            <a:xfrm>
              <a:off x="4339727" y="2913587"/>
              <a:ext cx="545412" cy="286561"/>
            </a:xfrm>
            <a:prstGeom prst="rect">
              <a:avLst/>
            </a:prstGeom>
            <a:noFill/>
          </p:spPr>
          <p:txBody>
            <a:bodyPr wrap="square" rtlCol="0">
              <a:spAutoFit/>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a:ln>
                    <a:noFill/>
                  </a:ln>
                  <a:solidFill>
                    <a:srgbClr val="000000"/>
                  </a:solidFill>
                  <a:effectLst/>
                  <a:uLnTx/>
                  <a:uFillTx/>
                  <a:latin typeface="Arial" panose="020B0604020202090204"/>
                  <a:ea typeface="微软雅黑" charset="-122"/>
                  <a:cs typeface="+mn-cs"/>
                </a:rPr>
                <a:t>分解</a:t>
              </a:r>
              <a:endParaRPr kumimoji="0" lang="zh-CN" altLang="en-US" sz="1065" b="1" i="0" u="none" strike="noStrike" kern="1200" cap="none" spc="0" normalizeH="0" baseline="0" noProof="0">
                <a:ln>
                  <a:noFill/>
                </a:ln>
                <a:solidFill>
                  <a:srgbClr val="000000"/>
                </a:solidFill>
                <a:effectLst/>
                <a:uLnTx/>
                <a:uFillTx/>
                <a:latin typeface="Arial" panose="020B0604020202090204"/>
                <a:ea typeface="微软雅黑" charset="-122"/>
                <a:cs typeface="+mn-cs"/>
              </a:endParaRPr>
            </a:p>
          </p:txBody>
        </p:sp>
        <p:cxnSp>
          <p:nvCxnSpPr>
            <p:cNvPr id="100" name="AutoShape 50"/>
            <p:cNvCxnSpPr>
              <a:cxnSpLocks noChangeShapeType="1"/>
            </p:cNvCxnSpPr>
            <p:nvPr/>
          </p:nvCxnSpPr>
          <p:spPr bwMode="auto">
            <a:xfrm flipV="1">
              <a:off x="4208448" y="2825320"/>
              <a:ext cx="0" cy="445135"/>
            </a:xfrm>
            <a:prstGeom prst="straightConnector1">
              <a:avLst/>
            </a:prstGeom>
            <a:noFill/>
            <a:ln w="19050">
              <a:solidFill>
                <a:sysClr val="windowText" lastClr="000000"/>
              </a:solidFill>
              <a:round/>
              <a:tailEnd type="triangle" w="med" len="med"/>
            </a:ln>
          </p:spPr>
        </p:cxnSp>
        <p:sp>
          <p:nvSpPr>
            <p:cNvPr id="101" name="文本框 100"/>
            <p:cNvSpPr txBox="1"/>
            <p:nvPr/>
          </p:nvSpPr>
          <p:spPr>
            <a:xfrm>
              <a:off x="3663037" y="2913587"/>
              <a:ext cx="545412" cy="286561"/>
            </a:xfrm>
            <a:prstGeom prst="rect">
              <a:avLst/>
            </a:prstGeom>
            <a:noFill/>
          </p:spPr>
          <p:txBody>
            <a:bodyPr wrap="square" rtlCol="0">
              <a:spAutoFit/>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dirty="0">
                  <a:ln>
                    <a:noFill/>
                  </a:ln>
                  <a:solidFill>
                    <a:srgbClr val="000000"/>
                  </a:solidFill>
                  <a:effectLst/>
                  <a:uLnTx/>
                  <a:uFillTx/>
                  <a:latin typeface="Arial" panose="020B0604020202090204"/>
                  <a:ea typeface="微软雅黑" charset="-122"/>
                  <a:cs typeface="+mn-cs"/>
                </a:rPr>
                <a:t>支撑</a:t>
              </a:r>
              <a:endParaRPr kumimoji="0" lang="zh-CN" altLang="en-US" sz="1065" b="1"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cxnSp>
          <p:nvCxnSpPr>
            <p:cNvPr id="102" name="肘形连接符 67"/>
            <p:cNvCxnSpPr>
              <a:stCxn id="51" idx="3"/>
              <a:endCxn id="52" idx="1"/>
            </p:cNvCxnSpPr>
            <p:nvPr/>
          </p:nvCxnSpPr>
          <p:spPr>
            <a:xfrm flipV="1">
              <a:off x="5386508" y="2472505"/>
              <a:ext cx="468896" cy="1318"/>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肘形连接符 68"/>
            <p:cNvCxnSpPr>
              <a:endCxn id="106" idx="1"/>
            </p:cNvCxnSpPr>
            <p:nvPr/>
          </p:nvCxnSpPr>
          <p:spPr>
            <a:xfrm flipV="1">
              <a:off x="5461043" y="3624785"/>
              <a:ext cx="384325" cy="1905"/>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 Box 30" descr="蓝色面巾纸"/>
            <p:cNvSpPr txBox="1">
              <a:spLocks noChangeArrowheads="1"/>
            </p:cNvSpPr>
            <p:nvPr/>
          </p:nvSpPr>
          <p:spPr bwMode="auto">
            <a:xfrm>
              <a:off x="7358869" y="2913586"/>
              <a:ext cx="943055" cy="713105"/>
            </a:xfrm>
            <a:prstGeom prst="rect">
              <a:avLst/>
            </a:prstGeom>
          </p:spPr>
          <p:style>
            <a:lnRef idx="2">
              <a:schemeClr val="accent1"/>
            </a:lnRef>
            <a:fillRef idx="1">
              <a:schemeClr val="lt1"/>
            </a:fillRef>
            <a:effectRef idx="0">
              <a:schemeClr val="accent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各部门绩效目标达成情况</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105" name="Text Box 30" descr="蓝色面巾纸"/>
            <p:cNvSpPr txBox="1">
              <a:spLocks noChangeArrowheads="1"/>
            </p:cNvSpPr>
            <p:nvPr/>
          </p:nvSpPr>
          <p:spPr bwMode="auto">
            <a:xfrm>
              <a:off x="7358869" y="3681936"/>
              <a:ext cx="943055" cy="713105"/>
            </a:xfrm>
            <a:prstGeom prst="rect">
              <a:avLst/>
            </a:prstGeom>
          </p:spPr>
          <p:style>
            <a:lnRef idx="2">
              <a:schemeClr val="accent1"/>
            </a:lnRef>
            <a:fillRef idx="1">
              <a:schemeClr val="lt1"/>
            </a:fillRef>
            <a:effectRef idx="0">
              <a:schemeClr val="accent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各部门重点工作达成情况</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106" name="Text Box 29" descr="蓝色面巾纸"/>
            <p:cNvSpPr txBox="1">
              <a:spLocks noChangeArrowheads="1"/>
            </p:cNvSpPr>
            <p:nvPr/>
          </p:nvSpPr>
          <p:spPr bwMode="auto">
            <a:xfrm>
              <a:off x="5845368" y="3395552"/>
              <a:ext cx="1116191" cy="457834"/>
            </a:xfrm>
            <a:prstGeom prst="rect">
              <a:avLst/>
            </a:prstGeom>
          </p:spPr>
          <p:style>
            <a:lnRef idx="2">
              <a:schemeClr val="accent1"/>
            </a:lnRef>
            <a:fillRef idx="1">
              <a:schemeClr val="lt1"/>
            </a:fillRef>
            <a:effectRef idx="0">
              <a:schemeClr val="accent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各部门复盘会</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107" name="肘形连接符 73"/>
            <p:cNvCxnSpPr>
              <a:stCxn id="106" idx="3"/>
              <a:endCxn id="105" idx="1"/>
            </p:cNvCxnSpPr>
            <p:nvPr/>
          </p:nvCxnSpPr>
          <p:spPr>
            <a:xfrm>
              <a:off x="6961560" y="3624470"/>
              <a:ext cx="397310" cy="414018"/>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Text Box 29" descr="蓝色面巾纸"/>
            <p:cNvSpPr txBox="1">
              <a:spLocks noChangeArrowheads="1"/>
            </p:cNvSpPr>
            <p:nvPr/>
          </p:nvSpPr>
          <p:spPr bwMode="auto">
            <a:xfrm>
              <a:off x="8540383" y="3361261"/>
              <a:ext cx="1073066" cy="307340"/>
            </a:xfrm>
            <a:prstGeom prst="rect">
              <a:avLst/>
            </a:prstGeom>
          </p:spPr>
          <p:style>
            <a:lnRef idx="2">
              <a:schemeClr val="accent1"/>
            </a:lnRef>
            <a:fillRef idx="1">
              <a:schemeClr val="lt1"/>
            </a:fillRef>
            <a:effectRef idx="0">
              <a:schemeClr val="accent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阶段性评价</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109" name="Text Box 29" descr="蓝色面巾纸"/>
            <p:cNvSpPr txBox="1">
              <a:spLocks noChangeArrowheads="1"/>
            </p:cNvSpPr>
            <p:nvPr/>
          </p:nvSpPr>
          <p:spPr bwMode="auto">
            <a:xfrm>
              <a:off x="8527699" y="3731466"/>
              <a:ext cx="1073066" cy="307340"/>
            </a:xfrm>
            <a:prstGeom prst="rect">
              <a:avLst/>
            </a:prstGeom>
          </p:spPr>
          <p:style>
            <a:lnRef idx="2">
              <a:schemeClr val="accent1"/>
            </a:lnRef>
            <a:fillRef idx="1">
              <a:schemeClr val="lt1"/>
            </a:fillRef>
            <a:effectRef idx="0">
              <a:schemeClr val="accent1"/>
            </a:effectRef>
            <a:fontRef idx="minor">
              <a:schemeClr val="dk1"/>
            </a:fontRef>
          </p:style>
          <p:txBody>
            <a:bodyPr anchor="ctr" anchorCtr="1"/>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年度评价</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110" name="肘形连接符 80"/>
            <p:cNvCxnSpPr>
              <a:stCxn id="105" idx="3"/>
              <a:endCxn id="109" idx="1"/>
            </p:cNvCxnSpPr>
            <p:nvPr/>
          </p:nvCxnSpPr>
          <p:spPr>
            <a:xfrm flipV="1">
              <a:off x="8301924" y="3885136"/>
              <a:ext cx="225775" cy="153670"/>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肘形连接符 81"/>
            <p:cNvCxnSpPr>
              <a:stCxn id="104" idx="3"/>
              <a:endCxn id="109" idx="1"/>
            </p:cNvCxnSpPr>
            <p:nvPr/>
          </p:nvCxnSpPr>
          <p:spPr>
            <a:xfrm>
              <a:off x="8301924" y="3270456"/>
              <a:ext cx="225775" cy="614680"/>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肘形连接符 82"/>
            <p:cNvCxnSpPr>
              <a:stCxn id="104" idx="3"/>
              <a:endCxn id="108" idx="1"/>
            </p:cNvCxnSpPr>
            <p:nvPr/>
          </p:nvCxnSpPr>
          <p:spPr>
            <a:xfrm>
              <a:off x="8301924" y="3270456"/>
              <a:ext cx="238459" cy="244475"/>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3" name="Text Box 3" descr="蓝色面巾纸"/>
            <p:cNvSpPr txBox="1">
              <a:spLocks noChangeArrowheads="1"/>
            </p:cNvSpPr>
            <p:nvPr/>
          </p:nvSpPr>
          <p:spPr bwMode="auto">
            <a:xfrm>
              <a:off x="9809041" y="3671776"/>
              <a:ext cx="1434560" cy="431800"/>
            </a:xfrm>
            <a:prstGeom prst="rect">
              <a:avLst/>
            </a:prstGeom>
          </p:spPr>
          <p:style>
            <a:lnRef idx="2">
              <a:schemeClr val="dk1"/>
            </a:lnRef>
            <a:fillRef idx="1">
              <a:schemeClr val="lt1"/>
            </a:fillRef>
            <a:effectRef idx="0">
              <a:schemeClr val="dk1"/>
            </a:effectRef>
            <a:fontRef idx="minor">
              <a:schemeClr val="dk1"/>
            </a:fontRef>
          </p:style>
          <p:txBody>
            <a:bodyPr anchor="ctr" anchorCtr="0"/>
            <a:lstStyle/>
            <a:p>
              <a:pPr marL="0" marR="0" lvl="0" indent="0" algn="ctr" defTabSz="1068705" rtl="0" eaLnBrk="1" fontAlgn="auto" latinLnBrk="0" hangingPunct="1">
                <a:lnSpc>
                  <a:spcPct val="100000"/>
                </a:lnSpc>
                <a:spcBef>
                  <a:spcPts val="0"/>
                </a:spcBef>
                <a:spcAft>
                  <a:spcPts val="0"/>
                </a:spcAft>
                <a:buClrTx/>
                <a:buSzTx/>
                <a:buFontTx/>
                <a:buNone/>
                <a:defRPr/>
              </a:pPr>
              <a:r>
                <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部门奖金包</a:t>
              </a:r>
              <a:endParaRPr kumimoji="0" lang="zh-CN" altLang="en-US" sz="1065"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114" name="肘形连接符 85"/>
            <p:cNvCxnSpPr>
              <a:stCxn id="109" idx="3"/>
              <a:endCxn id="113" idx="1"/>
            </p:cNvCxnSpPr>
            <p:nvPr/>
          </p:nvCxnSpPr>
          <p:spPr>
            <a:xfrm>
              <a:off x="9600764" y="3885136"/>
              <a:ext cx="208276" cy="2540"/>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肘形连接符 86"/>
            <p:cNvCxnSpPr>
              <a:stCxn id="49" idx="3"/>
              <a:endCxn id="65" idx="3"/>
            </p:cNvCxnSpPr>
            <p:nvPr/>
          </p:nvCxnSpPr>
          <p:spPr>
            <a:xfrm flipH="1">
              <a:off x="11231927" y="2472506"/>
              <a:ext cx="10030" cy="3296357"/>
            </a:xfrm>
            <a:prstGeom prst="bentConnector3">
              <a:avLst>
                <a:gd name="adj1" fmla="val -2885999"/>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p:nvPr/>
          </p:nvCxnSpPr>
          <p:spPr>
            <a:xfrm>
              <a:off x="3588196" y="1301197"/>
              <a:ext cx="185158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直接箭头连接符 116"/>
            <p:cNvCxnSpPr/>
            <p:nvPr/>
          </p:nvCxnSpPr>
          <p:spPr>
            <a:xfrm flipH="1">
              <a:off x="840143" y="1301197"/>
              <a:ext cx="19488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直接连接符 117"/>
            <p:cNvCxnSpPr/>
            <p:nvPr/>
          </p:nvCxnSpPr>
          <p:spPr>
            <a:xfrm>
              <a:off x="840143" y="1195234"/>
              <a:ext cx="0" cy="23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5439781" y="1190994"/>
              <a:ext cx="0" cy="23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接箭头连接符 119"/>
            <p:cNvCxnSpPr/>
            <p:nvPr/>
          </p:nvCxnSpPr>
          <p:spPr>
            <a:xfrm>
              <a:off x="6820492" y="1305104"/>
              <a:ext cx="3341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直接箭头连接符 120"/>
            <p:cNvCxnSpPr/>
            <p:nvPr/>
          </p:nvCxnSpPr>
          <p:spPr>
            <a:xfrm flipH="1">
              <a:off x="5704011" y="1305104"/>
              <a:ext cx="3172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直接连接符 121"/>
            <p:cNvCxnSpPr/>
            <p:nvPr/>
          </p:nvCxnSpPr>
          <p:spPr>
            <a:xfrm>
              <a:off x="5704011" y="1185810"/>
              <a:ext cx="0" cy="23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7154657" y="1185810"/>
              <a:ext cx="0" cy="23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接箭头连接符 123"/>
            <p:cNvCxnSpPr/>
            <p:nvPr/>
          </p:nvCxnSpPr>
          <p:spPr>
            <a:xfrm>
              <a:off x="8789394" y="1291406"/>
              <a:ext cx="823450" cy="39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直接连接符 124"/>
            <p:cNvCxnSpPr/>
            <p:nvPr/>
          </p:nvCxnSpPr>
          <p:spPr>
            <a:xfrm>
              <a:off x="9607107" y="1162577"/>
              <a:ext cx="0" cy="23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p:nvPr/>
          </p:nvCxnSpPr>
          <p:spPr>
            <a:xfrm flipH="1">
              <a:off x="7274953" y="1291406"/>
              <a:ext cx="7152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直接连接符 126"/>
            <p:cNvCxnSpPr/>
            <p:nvPr/>
          </p:nvCxnSpPr>
          <p:spPr>
            <a:xfrm>
              <a:off x="7281899" y="1189716"/>
              <a:ext cx="0" cy="23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接箭头连接符 127"/>
            <p:cNvCxnSpPr/>
            <p:nvPr/>
          </p:nvCxnSpPr>
          <p:spPr>
            <a:xfrm>
              <a:off x="10951189" y="1295602"/>
              <a:ext cx="490664" cy="55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 name="直接连接符 128"/>
            <p:cNvCxnSpPr/>
            <p:nvPr/>
          </p:nvCxnSpPr>
          <p:spPr>
            <a:xfrm>
              <a:off x="11441853" y="1176019"/>
              <a:ext cx="0" cy="230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直接箭头连接符 129"/>
            <p:cNvCxnSpPr/>
            <p:nvPr/>
          </p:nvCxnSpPr>
          <p:spPr>
            <a:xfrm flipH="1" flipV="1">
              <a:off x="9729910" y="1291406"/>
              <a:ext cx="422069" cy="41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1" name="直接连接符 130"/>
            <p:cNvCxnSpPr/>
            <p:nvPr/>
          </p:nvCxnSpPr>
          <p:spPr>
            <a:xfrm>
              <a:off x="9729910" y="1176019"/>
              <a:ext cx="0" cy="230760"/>
            </a:xfrm>
            <a:prstGeom prst="line">
              <a:avLst/>
            </a:prstGeom>
          </p:spPr>
          <p:style>
            <a:lnRef idx="1">
              <a:schemeClr val="accent1"/>
            </a:lnRef>
            <a:fillRef idx="0">
              <a:schemeClr val="accent1"/>
            </a:fillRef>
            <a:effectRef idx="0">
              <a:schemeClr val="accent1"/>
            </a:effectRef>
            <a:fontRef idx="minor">
              <a:schemeClr val="tx1"/>
            </a:fontRef>
          </p:style>
        </p:cxnSp>
        <p:sp>
          <p:nvSpPr>
            <p:cNvPr id="132" name="Rectangle 4"/>
            <p:cNvSpPr>
              <a:spLocks noChangeArrowheads="1"/>
            </p:cNvSpPr>
            <p:nvPr/>
          </p:nvSpPr>
          <p:spPr bwMode="auto">
            <a:xfrm>
              <a:off x="5641975" y="1628775"/>
              <a:ext cx="1543050" cy="2803525"/>
            </a:xfrm>
            <a:prstGeom prst="rect">
              <a:avLst/>
            </a:prstGeom>
            <a:noFill/>
            <a:ln w="12700" algn="ctr">
              <a:solidFill>
                <a:srgbClr val="C00000"/>
              </a:solidFill>
              <a:prstDash val="dash"/>
              <a:miter lim="800000"/>
            </a:ln>
          </p:spPr>
          <p:txBody>
            <a:bodyPr lIns="0" tIns="0" rIns="0" bIns="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zh-CN" altLang="en-US" sz="1065" b="0" i="0" u="none" strike="noStrike" kern="0" cap="none" spc="0" normalizeH="0" baseline="0" noProof="0">
                <a:ln>
                  <a:noFill/>
                </a:ln>
                <a:solidFill>
                  <a:srgbClr val="000000"/>
                </a:solidFill>
                <a:effectLst/>
                <a:uLnTx/>
                <a:uFillTx/>
                <a:latin typeface="微软雅黑" charset="-122"/>
                <a:ea typeface="微软雅黑" charset="-122"/>
                <a:cs typeface="Arial" panose="020B0604020202090204"/>
              </a:endParaRPr>
            </a:p>
          </p:txBody>
        </p:sp>
        <p:sp>
          <p:nvSpPr>
            <p:cNvPr id="133" name="Rectangle 4"/>
            <p:cNvSpPr>
              <a:spLocks noChangeArrowheads="1"/>
            </p:cNvSpPr>
            <p:nvPr/>
          </p:nvSpPr>
          <p:spPr bwMode="auto">
            <a:xfrm>
              <a:off x="5641975" y="4521835"/>
              <a:ext cx="1543050" cy="2113915"/>
            </a:xfrm>
            <a:prstGeom prst="rect">
              <a:avLst/>
            </a:prstGeom>
            <a:noFill/>
            <a:ln w="12700" algn="ctr">
              <a:solidFill>
                <a:srgbClr val="C00000"/>
              </a:solidFill>
              <a:prstDash val="dash"/>
              <a:miter lim="800000"/>
            </a:ln>
          </p:spPr>
          <p:txBody>
            <a:bodyPr lIns="0" tIns="0" rIns="0" bIns="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zh-CN" altLang="en-US" sz="1065" b="0" i="0" u="none" strike="noStrike" kern="0" cap="none" spc="0" normalizeH="0" baseline="0" noProof="0">
                <a:ln>
                  <a:noFill/>
                </a:ln>
                <a:solidFill>
                  <a:srgbClr val="000000"/>
                </a:solidFill>
                <a:effectLst/>
                <a:uLnTx/>
                <a:uFillTx/>
                <a:latin typeface="微软雅黑" charset="-122"/>
                <a:ea typeface="微软雅黑" charset="-122"/>
                <a:cs typeface="Arial" panose="020B0604020202090204"/>
              </a:endParaRPr>
            </a:p>
          </p:txBody>
        </p:sp>
        <p:sp>
          <p:nvSpPr>
            <p:cNvPr id="134" name="Rectangle 4"/>
            <p:cNvSpPr>
              <a:spLocks noChangeArrowheads="1"/>
            </p:cNvSpPr>
            <p:nvPr/>
          </p:nvSpPr>
          <p:spPr bwMode="auto">
            <a:xfrm>
              <a:off x="7256780" y="1628775"/>
              <a:ext cx="2366010" cy="2803525"/>
            </a:xfrm>
            <a:prstGeom prst="rect">
              <a:avLst/>
            </a:prstGeom>
            <a:noFill/>
            <a:ln w="12700" algn="ctr">
              <a:solidFill>
                <a:srgbClr val="C00000"/>
              </a:solidFill>
              <a:prstDash val="dash"/>
              <a:miter lim="800000"/>
            </a:ln>
          </p:spPr>
          <p:txBody>
            <a:bodyPr lIns="0" tIns="0" rIns="0" bIns="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zh-CN" altLang="en-US" sz="1065" b="0" i="0" u="none" strike="noStrike" kern="0" cap="none" spc="0" normalizeH="0" baseline="0" noProof="0">
                <a:ln>
                  <a:noFill/>
                </a:ln>
                <a:solidFill>
                  <a:srgbClr val="000000"/>
                </a:solidFill>
                <a:effectLst/>
                <a:uLnTx/>
                <a:uFillTx/>
                <a:latin typeface="微软雅黑" charset="-122"/>
                <a:ea typeface="微软雅黑" charset="-122"/>
                <a:cs typeface="Arial" panose="020B0604020202090204"/>
              </a:endParaRPr>
            </a:p>
          </p:txBody>
        </p:sp>
        <p:sp>
          <p:nvSpPr>
            <p:cNvPr id="135" name="Rectangle 4"/>
            <p:cNvSpPr>
              <a:spLocks noChangeArrowheads="1"/>
            </p:cNvSpPr>
            <p:nvPr/>
          </p:nvSpPr>
          <p:spPr bwMode="auto">
            <a:xfrm>
              <a:off x="7246620" y="4521835"/>
              <a:ext cx="2376170" cy="2113915"/>
            </a:xfrm>
            <a:prstGeom prst="rect">
              <a:avLst/>
            </a:prstGeom>
            <a:noFill/>
            <a:ln w="12700" algn="ctr">
              <a:solidFill>
                <a:srgbClr val="C00000"/>
              </a:solidFill>
              <a:prstDash val="dash"/>
              <a:miter lim="800000"/>
            </a:ln>
          </p:spPr>
          <p:txBody>
            <a:bodyPr lIns="0" tIns="0" rIns="0" bIns="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zh-CN" altLang="en-US" sz="1065" b="0" i="0" u="none" strike="noStrike" kern="0" cap="none" spc="0" normalizeH="0" baseline="0" noProof="0">
                <a:ln>
                  <a:noFill/>
                </a:ln>
                <a:solidFill>
                  <a:srgbClr val="000000"/>
                </a:solidFill>
                <a:effectLst/>
                <a:uLnTx/>
                <a:uFillTx/>
                <a:latin typeface="微软雅黑" charset="-122"/>
                <a:ea typeface="微软雅黑" charset="-122"/>
                <a:cs typeface="Arial" panose="020B0604020202090204"/>
              </a:endParaRPr>
            </a:p>
          </p:txBody>
        </p:sp>
        <p:sp>
          <p:nvSpPr>
            <p:cNvPr id="136" name="Rectangle 4"/>
            <p:cNvSpPr>
              <a:spLocks noChangeArrowheads="1"/>
            </p:cNvSpPr>
            <p:nvPr/>
          </p:nvSpPr>
          <p:spPr bwMode="auto">
            <a:xfrm>
              <a:off x="9689465" y="1628775"/>
              <a:ext cx="1831340" cy="2803525"/>
            </a:xfrm>
            <a:prstGeom prst="rect">
              <a:avLst/>
            </a:prstGeom>
            <a:noFill/>
            <a:ln w="12700" algn="ctr">
              <a:solidFill>
                <a:srgbClr val="C00000"/>
              </a:solidFill>
              <a:prstDash val="dash"/>
              <a:miter lim="800000"/>
            </a:ln>
          </p:spPr>
          <p:txBody>
            <a:bodyPr lIns="0" tIns="0" rIns="0" bIns="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zh-CN" altLang="en-US" sz="1065" b="0" i="0" u="none" strike="noStrike" kern="0" cap="none" spc="0" normalizeH="0" baseline="0" noProof="0">
                <a:ln>
                  <a:noFill/>
                </a:ln>
                <a:solidFill>
                  <a:srgbClr val="000000"/>
                </a:solidFill>
                <a:effectLst/>
                <a:uLnTx/>
                <a:uFillTx/>
                <a:latin typeface="微软雅黑" charset="-122"/>
                <a:ea typeface="微软雅黑" charset="-122"/>
                <a:cs typeface="Arial" panose="020B0604020202090204"/>
              </a:endParaRPr>
            </a:p>
          </p:txBody>
        </p:sp>
        <p:sp>
          <p:nvSpPr>
            <p:cNvPr id="137" name="Rectangle 4"/>
            <p:cNvSpPr>
              <a:spLocks noChangeArrowheads="1"/>
            </p:cNvSpPr>
            <p:nvPr/>
          </p:nvSpPr>
          <p:spPr bwMode="auto">
            <a:xfrm>
              <a:off x="9689465" y="4521835"/>
              <a:ext cx="1831975" cy="2012950"/>
            </a:xfrm>
            <a:prstGeom prst="rect">
              <a:avLst/>
            </a:prstGeom>
            <a:noFill/>
            <a:ln w="12700" algn="ctr">
              <a:solidFill>
                <a:srgbClr val="C00000"/>
              </a:solidFill>
              <a:prstDash val="dash"/>
              <a:miter lim="800000"/>
            </a:ln>
          </p:spPr>
          <p:txBody>
            <a:bodyPr lIns="0" tIns="0" rIns="0" bIns="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zh-CN" altLang="en-US" sz="1065" b="0" i="0" u="none" strike="noStrike" kern="0" cap="none" spc="0" normalizeH="0" baseline="0" noProof="0">
                <a:ln>
                  <a:noFill/>
                </a:ln>
                <a:solidFill>
                  <a:srgbClr val="000000"/>
                </a:solidFill>
                <a:effectLst/>
                <a:uLnTx/>
                <a:uFillTx/>
                <a:latin typeface="微软雅黑" charset="-122"/>
                <a:ea typeface="微软雅黑" charset="-122"/>
                <a:cs typeface="Arial" panose="020B0604020202090204"/>
              </a:endParaRPr>
            </a:p>
          </p:txBody>
        </p:sp>
        <p:sp>
          <p:nvSpPr>
            <p:cNvPr id="138" name="文本框 137"/>
            <p:cNvSpPr txBox="1"/>
            <p:nvPr>
              <p:custDataLst>
                <p:tags r:id="rId4"/>
              </p:custDataLst>
            </p:nvPr>
          </p:nvSpPr>
          <p:spPr>
            <a:xfrm>
              <a:off x="4265295" y="1544954"/>
              <a:ext cx="5756910" cy="286561"/>
            </a:xfrm>
            <a:prstGeom prst="rect">
              <a:avLst/>
            </a:prstGeom>
            <a:solidFill>
              <a:srgbClr val="27769F"/>
            </a:solid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GB" sz="1065" b="1" i="0" u="none" strike="noStrike" kern="1200" cap="none" spc="0" normalizeH="0" baseline="0" noProof="0" dirty="0">
                  <a:ln>
                    <a:noFill/>
                  </a:ln>
                  <a:solidFill>
                    <a:srgbClr val="FFFFFF"/>
                  </a:solidFill>
                  <a:effectLst/>
                  <a:uLnTx/>
                  <a:uFillTx/>
                  <a:latin typeface="Arial" panose="020B0604020202090204"/>
                  <a:ea typeface="微软雅黑" charset="-122"/>
                  <a:cs typeface="+mn-cs"/>
                </a:rPr>
                <a:t>组织绩效</a:t>
              </a:r>
              <a:r>
                <a:rPr kumimoji="0" lang="zh-CN" altLang="en-US" sz="1065" b="1" i="0" u="none" strike="noStrike" kern="1200" cap="none" spc="0" normalizeH="0" baseline="0" noProof="0" dirty="0">
                  <a:ln>
                    <a:noFill/>
                  </a:ln>
                  <a:solidFill>
                    <a:srgbClr val="FFFFFF"/>
                  </a:solidFill>
                  <a:effectLst/>
                  <a:uLnTx/>
                  <a:uFillTx/>
                  <a:latin typeface="Arial" panose="020B0604020202090204"/>
                  <a:ea typeface="微软雅黑" charset="-122"/>
                  <a:cs typeface="+mn-cs"/>
                </a:rPr>
                <a:t>管理</a:t>
              </a:r>
              <a:endParaRPr kumimoji="0" lang="zh-CN" altLang="en-US" sz="1065" b="1" i="0" u="none" strike="noStrike" kern="1200" cap="none" spc="0" normalizeH="0" baseline="0" noProof="0" dirty="0">
                <a:ln>
                  <a:noFill/>
                </a:ln>
                <a:solidFill>
                  <a:srgbClr val="FFFFFF"/>
                </a:solidFill>
                <a:effectLst/>
                <a:uLnTx/>
                <a:uFillTx/>
                <a:latin typeface="Arial" panose="020B0604020202090204"/>
                <a:ea typeface="微软雅黑" charset="-122"/>
                <a:cs typeface="+mn-cs"/>
              </a:endParaRPr>
            </a:p>
          </p:txBody>
        </p:sp>
        <p:sp>
          <p:nvSpPr>
            <p:cNvPr id="139" name="文本框 138"/>
            <p:cNvSpPr txBox="1"/>
            <p:nvPr>
              <p:custDataLst>
                <p:tags r:id="rId5"/>
              </p:custDataLst>
            </p:nvPr>
          </p:nvSpPr>
          <p:spPr>
            <a:xfrm>
              <a:off x="4265295" y="6407784"/>
              <a:ext cx="5756910" cy="286561"/>
            </a:xfrm>
            <a:prstGeom prst="rect">
              <a:avLst/>
            </a:prstGeom>
            <a:solidFill>
              <a:srgbClr val="27769F"/>
            </a:solid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1065" b="1" i="0" u="none" strike="noStrike" kern="1200" cap="none" spc="0" normalizeH="0" baseline="0" noProof="0" dirty="0">
                  <a:ln>
                    <a:noFill/>
                  </a:ln>
                  <a:solidFill>
                    <a:srgbClr val="FFFFFF"/>
                  </a:solidFill>
                  <a:effectLst/>
                  <a:uLnTx/>
                  <a:uFillTx/>
                  <a:latin typeface="Arial" panose="020B0604020202090204"/>
                  <a:ea typeface="微软雅黑" charset="-122"/>
                  <a:cs typeface="+mn-cs"/>
                </a:rPr>
                <a:t>个人绩效管理</a:t>
              </a:r>
              <a:endParaRPr kumimoji="0" lang="zh-CN" altLang="en-US" sz="1065" b="1" i="0" u="none" strike="noStrike" kern="1200" cap="none" spc="0" normalizeH="0" baseline="0" noProof="0" dirty="0">
                <a:ln>
                  <a:noFill/>
                </a:ln>
                <a:solidFill>
                  <a:srgbClr val="FFFFFF"/>
                </a:solidFill>
                <a:effectLst/>
                <a:uLnTx/>
                <a:uFillTx/>
                <a:latin typeface="Arial" panose="020B0604020202090204"/>
                <a:ea typeface="微软雅黑" charset="-122"/>
                <a:cs typeface="+mn-c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绩效管理体系</a:t>
            </a:r>
            <a:r>
              <a:rPr lang="en-US" altLang="zh-CN" dirty="0"/>
              <a:t>-</a:t>
            </a:r>
            <a:r>
              <a:rPr lang="zh-CN" altLang="en-US" dirty="0"/>
              <a:t>现有岗位绩效考核优化</a:t>
            </a:r>
            <a:endParaRPr lang="zh-CN" altLang="en-US"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graphicFrame>
        <p:nvGraphicFramePr>
          <p:cNvPr id="2" name="表格 1"/>
          <p:cNvGraphicFramePr/>
          <p:nvPr>
            <p:custDataLst>
              <p:tags r:id="rId1"/>
            </p:custDataLst>
          </p:nvPr>
        </p:nvGraphicFramePr>
        <p:xfrm>
          <a:off x="1001409" y="1365813"/>
          <a:ext cx="9885474" cy="4646412"/>
        </p:xfrm>
        <a:graphic>
          <a:graphicData uri="http://schemas.openxmlformats.org/drawingml/2006/table">
            <a:tbl>
              <a:tblPr/>
              <a:tblGrid>
                <a:gridCol w="2395889"/>
                <a:gridCol w="1419014"/>
                <a:gridCol w="1490060"/>
                <a:gridCol w="2481271"/>
                <a:gridCol w="2099240"/>
              </a:tblGrid>
              <a:tr h="337782">
                <a:tc rowSpan="2">
                  <a:txBody>
                    <a:bodyPr/>
                    <a:lstStyle/>
                    <a:p>
                      <a:pPr indent="0" algn="ctr">
                        <a:buNone/>
                      </a:pPr>
                      <a:r>
                        <a:rPr lang="zh-CN" altLang="en-US" sz="1400" b="1" dirty="0">
                          <a:solidFill>
                            <a:schemeClr val="bg1"/>
                          </a:solidFill>
                          <a:latin typeface="+mn-ea"/>
                          <a:ea typeface="+mn-ea"/>
                        </a:rPr>
                        <a:t>部门</a:t>
                      </a:r>
                      <a:endParaRPr lang="en-US" altLang="en-US" sz="1400" b="1" dirty="0">
                        <a:solidFill>
                          <a:schemeClr val="bg1"/>
                        </a:solidFill>
                        <a:latin typeface="+mn-ea"/>
                        <a:ea typeface="+mn-ea"/>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27769F"/>
                    </a:solidFill>
                  </a:tcPr>
                </a:tc>
                <a:tc rowSpan="2">
                  <a:txBody>
                    <a:bodyPr/>
                    <a:lstStyle/>
                    <a:p>
                      <a:pPr indent="0" algn="ctr">
                        <a:buNone/>
                      </a:pPr>
                      <a:r>
                        <a:rPr lang="zh-CN" altLang="en-US" sz="1400" b="1" dirty="0">
                          <a:solidFill>
                            <a:schemeClr val="bg1"/>
                          </a:solidFill>
                          <a:latin typeface="+mn-ea"/>
                          <a:ea typeface="+mn-ea"/>
                        </a:rPr>
                        <a:t>对象</a:t>
                      </a:r>
                      <a:endParaRPr lang="en-US" altLang="en-US" sz="1400" b="1" dirty="0">
                        <a:solidFill>
                          <a:schemeClr val="bg1"/>
                        </a:solidFill>
                        <a:latin typeface="+mn-ea"/>
                        <a:ea typeface="+mn-ea"/>
                      </a:endParaRP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27769F"/>
                    </a:solidFill>
                  </a:tcPr>
                </a:tc>
                <a:tc gridSpan="3">
                  <a:txBody>
                    <a:bodyPr/>
                    <a:lstStyle/>
                    <a:p>
                      <a:pPr indent="0" algn="ctr">
                        <a:buNone/>
                      </a:pPr>
                      <a:r>
                        <a:rPr lang="zh-CN" altLang="en-US" sz="1400" b="1" dirty="0">
                          <a:solidFill>
                            <a:schemeClr val="tx1"/>
                          </a:solidFill>
                          <a:latin typeface="+mn-ea"/>
                          <a:ea typeface="+mn-ea"/>
                        </a:rPr>
                        <a:t>优化</a:t>
                      </a:r>
                      <a:endParaRPr lang="en-US" altLang="en-US" sz="1400" b="1" dirty="0">
                        <a:solidFill>
                          <a:schemeClr val="tx1"/>
                        </a:solidFill>
                        <a:latin typeface="+mn-ea"/>
                        <a:ea typeface="+mn-ea"/>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hMerge="1">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27769F"/>
                    </a:solidFill>
                  </a:tcPr>
                </a:tc>
                <a:tc hMerge="1">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27769F"/>
                    </a:solidFill>
                  </a:tcPr>
                </a:tc>
              </a:tr>
              <a:tr h="358980">
                <a:tc vMerge="1">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27769F"/>
                    </a:solidFill>
                  </a:tcPr>
                </a:tc>
                <a:tc vMerge="1">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27769F"/>
                    </a:solidFill>
                  </a:tcPr>
                </a:tc>
                <a:tc>
                  <a:txBody>
                    <a:bodyPr/>
                    <a:lstStyle/>
                    <a:p>
                      <a:pPr indent="0" algn="ctr">
                        <a:buNone/>
                      </a:pPr>
                      <a:r>
                        <a:rPr lang="zh-CN" sz="1400" b="1" dirty="0">
                          <a:solidFill>
                            <a:schemeClr val="tx1"/>
                          </a:solidFill>
                          <a:latin typeface="+mn-ea"/>
                          <a:ea typeface="+mn-ea"/>
                        </a:rPr>
                        <a:t>考核</a:t>
                      </a:r>
                      <a:r>
                        <a:rPr lang="zh-CN" altLang="en-US" sz="1400" b="1" dirty="0">
                          <a:solidFill>
                            <a:schemeClr val="tx1"/>
                          </a:solidFill>
                          <a:latin typeface="+mn-ea"/>
                          <a:ea typeface="+mn-ea"/>
                        </a:rPr>
                        <a:t>方式</a:t>
                      </a:r>
                      <a:endParaRPr lang="en-US" altLang="en-US" sz="1400" b="1" dirty="0">
                        <a:solidFill>
                          <a:schemeClr val="tx1"/>
                        </a:solidFill>
                        <a:latin typeface="+mn-ea"/>
                        <a:ea typeface="+mn-ea"/>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indent="0" algn="ctr">
                        <a:buNone/>
                      </a:pPr>
                      <a:r>
                        <a:rPr lang="zh-CN" sz="1400" b="1" dirty="0">
                          <a:solidFill>
                            <a:schemeClr val="tx1"/>
                          </a:solidFill>
                          <a:latin typeface="+mn-ea"/>
                          <a:ea typeface="+mn-ea"/>
                        </a:rPr>
                        <a:t>考核周期</a:t>
                      </a:r>
                      <a:endParaRPr lang="en-US" altLang="en-US" sz="1400" b="1" dirty="0">
                        <a:solidFill>
                          <a:schemeClr val="tx1"/>
                        </a:solidFill>
                        <a:latin typeface="+mn-ea"/>
                        <a:ea typeface="+mn-ea"/>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indent="0" algn="ctr">
                        <a:buNone/>
                      </a:pPr>
                      <a:r>
                        <a:rPr lang="zh-CN" altLang="en-US" sz="1400" b="1" dirty="0">
                          <a:solidFill>
                            <a:schemeClr val="tx1"/>
                          </a:solidFill>
                          <a:latin typeface="+mn-ea"/>
                          <a:ea typeface="+mn-ea"/>
                        </a:rPr>
                        <a:t>奖金应用</a:t>
                      </a:r>
                      <a:endParaRPr lang="en-US" altLang="en-US" sz="1400" b="1" dirty="0">
                        <a:solidFill>
                          <a:schemeClr val="tx1"/>
                        </a:solidFill>
                        <a:latin typeface="+mn-ea"/>
                        <a:ea typeface="+mn-ea"/>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634822">
                <a:tc>
                  <a:txBody>
                    <a:bodyPr/>
                    <a:lstStyle/>
                    <a:p>
                      <a:pPr indent="0" algn="ctr">
                        <a:lnSpc>
                          <a:spcPts val="1400"/>
                        </a:lnSpc>
                        <a:buNone/>
                      </a:pPr>
                      <a:r>
                        <a:rPr lang="zh-CN" altLang="en-US" sz="1200" b="1" dirty="0">
                          <a:solidFill>
                            <a:srgbClr val="000000"/>
                          </a:solidFill>
                          <a:latin typeface="微软雅黑" charset="-122"/>
                        </a:rPr>
                        <a:t>非</a:t>
                      </a:r>
                      <a:r>
                        <a:rPr lang="en-US" altLang="zh-CN" sz="1200" b="1" dirty="0">
                          <a:solidFill>
                            <a:srgbClr val="000000"/>
                          </a:solidFill>
                          <a:latin typeface="微软雅黑" charset="-122"/>
                        </a:rPr>
                        <a:t>(</a:t>
                      </a:r>
                      <a:r>
                        <a:rPr lang="zh-CN" altLang="en-US" sz="1200" b="1" dirty="0">
                          <a:solidFill>
                            <a:srgbClr val="000000"/>
                          </a:solidFill>
                          <a:latin typeface="微软雅黑" charset="-122"/>
                        </a:rPr>
                        <a:t>生产车间</a:t>
                      </a:r>
                      <a:r>
                        <a:rPr lang="en-US" altLang="zh-CN" sz="1200" b="1" dirty="0">
                          <a:solidFill>
                            <a:srgbClr val="000000"/>
                          </a:solidFill>
                          <a:latin typeface="微软雅黑" charset="-122"/>
                        </a:rPr>
                        <a:t>+</a:t>
                      </a:r>
                      <a:r>
                        <a:rPr lang="zh-CN" altLang="en-US" sz="1200" b="1" dirty="0">
                          <a:solidFill>
                            <a:srgbClr val="000000"/>
                          </a:solidFill>
                          <a:latin typeface="微软雅黑" charset="-122"/>
                        </a:rPr>
                        <a:t>销售部门</a:t>
                      </a:r>
                      <a:r>
                        <a:rPr lang="en-US" altLang="zh-CN" sz="1200" b="1" dirty="0">
                          <a:solidFill>
                            <a:srgbClr val="000000"/>
                          </a:solidFill>
                          <a:latin typeface="微软雅黑" charset="-122"/>
                        </a:rPr>
                        <a:t>)</a:t>
                      </a:r>
                      <a:endParaRPr lang="en-US" altLang="zh-CN" sz="1200" b="1" dirty="0">
                        <a:solidFill>
                          <a:srgbClr val="000000"/>
                        </a:solidFill>
                        <a:latin typeface="微软雅黑" charset="-122"/>
                      </a:endParaRPr>
                    </a:p>
                    <a:p>
                      <a:pPr indent="0" algn="ctr">
                        <a:lnSpc>
                          <a:spcPts val="1400"/>
                        </a:lnSpc>
                        <a:buNone/>
                      </a:pPr>
                      <a:r>
                        <a:rPr lang="zh-CN" altLang="en-US" sz="1000" b="0" dirty="0">
                          <a:solidFill>
                            <a:srgbClr val="000000"/>
                          </a:solidFill>
                          <a:latin typeface="微软雅黑" charset="-122"/>
                        </a:rPr>
                        <a:t>（参与四步分钱法的部门）</a:t>
                      </a:r>
                      <a:endParaRPr lang="en-US" altLang="zh-CN" sz="1000" b="0" dirty="0">
                        <a:solidFill>
                          <a:srgbClr val="000000"/>
                        </a:solidFill>
                        <a:latin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lnSpc>
                          <a:spcPts val="1400"/>
                        </a:lnSpc>
                        <a:buNone/>
                      </a:pPr>
                      <a:r>
                        <a:rPr lang="zh-CN" altLang="en-US" sz="1200" b="0" dirty="0">
                          <a:solidFill>
                            <a:srgbClr val="000000"/>
                          </a:solidFill>
                          <a:latin typeface="微软雅黑" charset="-122"/>
                        </a:rPr>
                        <a:t>所有员工</a:t>
                      </a:r>
                      <a:endParaRPr lang="en-US" altLang="en-US" sz="1200" b="0" dirty="0">
                        <a:solidFill>
                          <a:srgbClr val="000000"/>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lnSpc>
                          <a:spcPts val="1400"/>
                        </a:lnSpc>
                        <a:buNone/>
                      </a:pPr>
                      <a:r>
                        <a:rPr lang="en-US" altLang="en-US" sz="1200" b="0" dirty="0">
                          <a:solidFill>
                            <a:schemeClr val="tx1"/>
                          </a:solidFill>
                          <a:latin typeface="微软雅黑" charset="-122"/>
                        </a:rPr>
                        <a:t>PBC</a:t>
                      </a:r>
                      <a:r>
                        <a:rPr lang="zh-CN" altLang="en-US" sz="1200" b="0" dirty="0">
                          <a:solidFill>
                            <a:schemeClr val="tx1"/>
                          </a:solidFill>
                          <a:latin typeface="微软雅黑" charset="-122"/>
                        </a:rPr>
                        <a:t>考核</a:t>
                      </a:r>
                      <a:endParaRPr lang="zh-CN" altLang="en-US"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indent="0" algn="ctr">
                        <a:lnSpc>
                          <a:spcPts val="1400"/>
                        </a:lnSpc>
                        <a:buNone/>
                      </a:pPr>
                      <a:r>
                        <a:rPr lang="zh-CN" altLang="en-US" sz="1200" b="0" dirty="0">
                          <a:solidFill>
                            <a:srgbClr val="FF0000"/>
                          </a:solidFill>
                          <a:latin typeface="微软雅黑" charset="-122"/>
                        </a:rPr>
                        <a:t>月度检视</a:t>
                      </a:r>
                      <a:r>
                        <a:rPr lang="en-US" altLang="zh-CN" sz="1200" b="0" dirty="0">
                          <a:solidFill>
                            <a:srgbClr val="FF0000"/>
                          </a:solidFill>
                          <a:latin typeface="微软雅黑" charset="-122"/>
                        </a:rPr>
                        <a:t>+</a:t>
                      </a:r>
                      <a:r>
                        <a:rPr lang="zh-CN" altLang="en-US" sz="1200" b="0" dirty="0">
                          <a:solidFill>
                            <a:srgbClr val="FF0000"/>
                          </a:solidFill>
                          <a:latin typeface="微软雅黑" charset="-122"/>
                        </a:rPr>
                        <a:t>季度考核</a:t>
                      </a:r>
                      <a:r>
                        <a:rPr lang="en-US" altLang="zh-CN" sz="1200" b="0" dirty="0">
                          <a:solidFill>
                            <a:schemeClr val="tx1"/>
                          </a:solidFill>
                          <a:latin typeface="微软雅黑" charset="-122"/>
                        </a:rPr>
                        <a:t>+</a:t>
                      </a:r>
                      <a:r>
                        <a:rPr lang="zh-CN" altLang="en-US" sz="1200" b="0" dirty="0">
                          <a:solidFill>
                            <a:schemeClr val="tx1"/>
                          </a:solidFill>
                          <a:latin typeface="微软雅黑" charset="-122"/>
                        </a:rPr>
                        <a:t>年度考核</a:t>
                      </a:r>
                      <a:endParaRPr lang="zh-CN" altLang="en-US"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20000"/>
                        <a:lumOff val="80000"/>
                      </a:schemeClr>
                    </a:solidFill>
                  </a:tcPr>
                </a:tc>
                <a:tc>
                  <a:txBody>
                    <a:bodyPr/>
                    <a:lstStyle/>
                    <a:p>
                      <a:pPr indent="0" algn="ctr">
                        <a:lnSpc>
                          <a:spcPts val="1400"/>
                        </a:lnSpc>
                        <a:buNone/>
                      </a:pPr>
                      <a:r>
                        <a:rPr lang="zh-CN" altLang="en-US" sz="1200" b="0" dirty="0">
                          <a:solidFill>
                            <a:srgbClr val="FF0000"/>
                          </a:solidFill>
                          <a:latin typeface="微软雅黑" charset="-122"/>
                        </a:rPr>
                        <a:t>季度奖金</a:t>
                      </a:r>
                      <a:r>
                        <a:rPr lang="en-US" altLang="zh-CN" sz="1200" b="0" dirty="0">
                          <a:solidFill>
                            <a:srgbClr val="FF0000"/>
                          </a:solidFill>
                          <a:latin typeface="微软雅黑" charset="-122"/>
                        </a:rPr>
                        <a:t>+</a:t>
                      </a:r>
                      <a:r>
                        <a:rPr lang="zh-CN" altLang="en-US" sz="1200" b="0" dirty="0">
                          <a:solidFill>
                            <a:srgbClr val="FF0000"/>
                          </a:solidFill>
                          <a:latin typeface="微软雅黑" charset="-122"/>
                        </a:rPr>
                        <a:t>年终奖金</a:t>
                      </a:r>
                      <a:endParaRPr lang="en-US" altLang="en-US" sz="1200" b="0" dirty="0">
                        <a:solidFill>
                          <a:srgbClr val="FF0000"/>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583900">
                <a:tc rowSpan="3">
                  <a:txBody>
                    <a:bodyPr/>
                    <a:lstStyle/>
                    <a:p>
                      <a:pPr indent="0" algn="ctr">
                        <a:lnSpc>
                          <a:spcPts val="1400"/>
                        </a:lnSpc>
                        <a:buNone/>
                      </a:pPr>
                      <a:r>
                        <a:rPr lang="zh-CN" altLang="en-US" sz="1200" b="1" dirty="0">
                          <a:solidFill>
                            <a:srgbClr val="000000"/>
                          </a:solidFill>
                          <a:latin typeface="微软雅黑" charset="-122"/>
                        </a:rPr>
                        <a:t>销售部门</a:t>
                      </a:r>
                      <a:endParaRPr lang="en-US" altLang="en-US" sz="1200" b="1" dirty="0">
                        <a:solidFill>
                          <a:srgbClr val="000000"/>
                        </a:solidFill>
                        <a:latin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lnSpc>
                          <a:spcPts val="1400"/>
                        </a:lnSpc>
                        <a:buNone/>
                      </a:pPr>
                      <a:r>
                        <a:rPr lang="zh-CN" altLang="en-US" sz="1200" b="0" dirty="0">
                          <a:solidFill>
                            <a:srgbClr val="000000"/>
                          </a:solidFill>
                          <a:latin typeface="微软雅黑" charset="-122"/>
                        </a:rPr>
                        <a:t>指挥部负责人及以上</a:t>
                      </a:r>
                      <a:endParaRPr lang="en-US" altLang="en-US" sz="1200" b="0" dirty="0">
                        <a:solidFill>
                          <a:srgbClr val="000000"/>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auto" latinLnBrk="0" hangingPunct="1">
                        <a:lnSpc>
                          <a:spcPts val="1400"/>
                        </a:lnSpc>
                        <a:spcBef>
                          <a:spcPts val="0"/>
                        </a:spcBef>
                        <a:spcAft>
                          <a:spcPts val="0"/>
                        </a:spcAft>
                        <a:buClrTx/>
                        <a:buSzTx/>
                        <a:buFontTx/>
                        <a:buNone/>
                        <a:defRPr/>
                      </a:pPr>
                      <a:r>
                        <a:rPr lang="en-US" altLang="en-US" sz="1200" b="0" dirty="0">
                          <a:solidFill>
                            <a:schemeClr val="tx1"/>
                          </a:solidFill>
                          <a:latin typeface="微软雅黑" charset="-122"/>
                        </a:rPr>
                        <a:t>PBC</a:t>
                      </a:r>
                      <a:r>
                        <a:rPr lang="zh-CN" altLang="en-US" sz="1200" b="0" dirty="0">
                          <a:solidFill>
                            <a:schemeClr val="tx1"/>
                          </a:solidFill>
                          <a:latin typeface="微软雅黑" charset="-122"/>
                        </a:rPr>
                        <a:t>考核</a:t>
                      </a:r>
                      <a:endParaRPr lang="en-US" altLang="zh-CN"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rowSpan="2">
                  <a:txBody>
                    <a:bodyPr/>
                    <a:lstStyle/>
                    <a:p>
                      <a:pPr marL="0" marR="0" lvl="0" indent="0" algn="ctr" defTabSz="914400" rtl="0" eaLnBrk="1" fontAlgn="auto" latinLnBrk="0" hangingPunct="1">
                        <a:lnSpc>
                          <a:spcPts val="1400"/>
                        </a:lnSpc>
                        <a:spcBef>
                          <a:spcPts val="0"/>
                        </a:spcBef>
                        <a:spcAft>
                          <a:spcPts val="0"/>
                        </a:spcAft>
                        <a:buClrTx/>
                        <a:buSzTx/>
                        <a:buFontTx/>
                        <a:buNone/>
                        <a:defRPr/>
                      </a:pPr>
                      <a:r>
                        <a:rPr lang="zh-CN" altLang="en-US" sz="1200" b="0" dirty="0">
                          <a:solidFill>
                            <a:srgbClr val="FF0000"/>
                          </a:solidFill>
                          <a:latin typeface="微软雅黑" charset="-122"/>
                        </a:rPr>
                        <a:t>月度检视</a:t>
                      </a:r>
                      <a:r>
                        <a:rPr lang="en-US" altLang="zh-CN" sz="1200" b="0" dirty="0">
                          <a:solidFill>
                            <a:srgbClr val="FF0000"/>
                          </a:solidFill>
                          <a:latin typeface="微软雅黑" charset="-122"/>
                        </a:rPr>
                        <a:t>+</a:t>
                      </a:r>
                      <a:r>
                        <a:rPr lang="zh-CN" altLang="en-US" sz="1200" b="0" dirty="0">
                          <a:solidFill>
                            <a:srgbClr val="FF0000"/>
                          </a:solidFill>
                          <a:latin typeface="微软雅黑" charset="-122"/>
                        </a:rPr>
                        <a:t>季度考核</a:t>
                      </a:r>
                      <a:r>
                        <a:rPr lang="en-US" altLang="zh-CN" sz="1200" b="0" dirty="0">
                          <a:solidFill>
                            <a:schemeClr val="tx1"/>
                          </a:solidFill>
                          <a:latin typeface="微软雅黑" charset="-122"/>
                        </a:rPr>
                        <a:t>+</a:t>
                      </a:r>
                      <a:r>
                        <a:rPr lang="zh-CN" altLang="en-US" sz="1200" b="0" dirty="0">
                          <a:solidFill>
                            <a:schemeClr val="tx1"/>
                          </a:solidFill>
                          <a:latin typeface="微软雅黑" charset="-122"/>
                        </a:rPr>
                        <a:t>年度考核</a:t>
                      </a:r>
                      <a:endParaRPr lang="zh-CN" altLang="en-US"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rowSpan="2">
                  <a:txBody>
                    <a:bodyPr/>
                    <a:lstStyle/>
                    <a:p>
                      <a:pPr indent="0" algn="ctr">
                        <a:lnSpc>
                          <a:spcPts val="1400"/>
                        </a:lnSpc>
                        <a:buNone/>
                      </a:pPr>
                      <a:r>
                        <a:rPr lang="zh-CN" altLang="en-US" sz="1200" b="0" dirty="0">
                          <a:solidFill>
                            <a:srgbClr val="FF0000"/>
                          </a:solidFill>
                          <a:latin typeface="微软雅黑" charset="-122"/>
                        </a:rPr>
                        <a:t>季度奖金</a:t>
                      </a:r>
                      <a:r>
                        <a:rPr lang="en-US" altLang="zh-CN" sz="1200" b="0" dirty="0">
                          <a:solidFill>
                            <a:srgbClr val="FF0000"/>
                          </a:solidFill>
                          <a:latin typeface="微软雅黑" charset="-122"/>
                        </a:rPr>
                        <a:t>+</a:t>
                      </a:r>
                      <a:r>
                        <a:rPr lang="zh-CN" altLang="en-US" sz="1200" b="0" dirty="0">
                          <a:solidFill>
                            <a:srgbClr val="FF0000"/>
                          </a:solidFill>
                          <a:latin typeface="微软雅黑" charset="-122"/>
                        </a:rPr>
                        <a:t>年终奖金</a:t>
                      </a:r>
                      <a:endParaRPr lang="en-US" altLang="en-US" sz="1200" b="0" dirty="0">
                        <a:solidFill>
                          <a:srgbClr val="FF0000"/>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664479">
                <a:tc vMerge="1">
                  <a:tcPr>
                    <a:lnT w="6350" cap="flat" cmpd="sng" algn="ctr">
                      <a:solidFill>
                        <a:srgbClr val="000000"/>
                      </a:solidFill>
                      <a:prstDash val="solid"/>
                      <a:round/>
                      <a:headEnd type="none" w="med" len="med"/>
                      <a:tailEnd type="none" w="med" len="med"/>
                    </a:lnT>
                  </a:tcPr>
                </a:tc>
                <a:tc>
                  <a:txBody>
                    <a:bodyPr/>
                    <a:lstStyle/>
                    <a:p>
                      <a:pPr algn="ctr"/>
                      <a:r>
                        <a:rPr lang="zh-CN" altLang="en-US" sz="1200" b="0" dirty="0">
                          <a:solidFill>
                            <a:srgbClr val="000000"/>
                          </a:solidFill>
                          <a:latin typeface="微软雅黑" charset="-122"/>
                        </a:rPr>
                        <a:t>专业支持人员</a:t>
                      </a:r>
                      <a:endParaRPr lang="zh-CN" altLang="en-US" dirty="0"/>
                    </a:p>
                  </a:txBody>
                  <a:tcPr marL="12700" marR="12700" marT="1270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vMerge="1">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vMerge="1">
                  <a:tcPr marL="12700" marR="12700" marT="12700" anchor="ctr">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vMerge="1">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r>
              <a:tr h="753023">
                <a:tc vMerge="1">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lnSpc>
                          <a:spcPts val="1400"/>
                        </a:lnSpc>
                        <a:buNone/>
                      </a:pPr>
                      <a:r>
                        <a:rPr lang="zh-CN" altLang="en-US" sz="1200" b="0" dirty="0">
                          <a:solidFill>
                            <a:srgbClr val="000000"/>
                          </a:solidFill>
                          <a:latin typeface="微软雅黑" charset="-122"/>
                        </a:rPr>
                        <a:t>销售人员</a:t>
                      </a:r>
                      <a:endParaRPr lang="en-US" altLang="en-US" sz="1200" b="0" dirty="0">
                        <a:solidFill>
                          <a:srgbClr val="000000"/>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ts val="1400"/>
                        </a:lnSpc>
                        <a:spcBef>
                          <a:spcPts val="0"/>
                        </a:spcBef>
                        <a:spcAft>
                          <a:spcPts val="0"/>
                        </a:spcAft>
                        <a:buClrTx/>
                        <a:buSzTx/>
                        <a:buFontTx/>
                        <a:buNone/>
                        <a:defRPr/>
                      </a:pPr>
                      <a:r>
                        <a:rPr lang="en-US" altLang="en-US" sz="1200" b="0" dirty="0">
                          <a:solidFill>
                            <a:schemeClr val="tx1"/>
                          </a:solidFill>
                          <a:latin typeface="微软雅黑" charset="-122"/>
                        </a:rPr>
                        <a:t>PBC</a:t>
                      </a:r>
                      <a:r>
                        <a:rPr lang="zh-CN" altLang="en-US" sz="1200" b="0" dirty="0">
                          <a:solidFill>
                            <a:schemeClr val="tx1"/>
                          </a:solidFill>
                          <a:latin typeface="微软雅黑" charset="-122"/>
                        </a:rPr>
                        <a:t>考核</a:t>
                      </a:r>
                      <a:endParaRPr lang="en-US" altLang="zh-CN"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auto" latinLnBrk="0" hangingPunct="1">
                        <a:lnSpc>
                          <a:spcPts val="1400"/>
                        </a:lnSpc>
                        <a:spcBef>
                          <a:spcPts val="0"/>
                        </a:spcBef>
                        <a:spcAft>
                          <a:spcPts val="0"/>
                        </a:spcAft>
                        <a:buClrTx/>
                        <a:buSzTx/>
                        <a:buFontTx/>
                        <a:buNone/>
                        <a:defRPr/>
                      </a:pPr>
                      <a:r>
                        <a:rPr lang="zh-CN" altLang="en-US" sz="1200" b="0" dirty="0">
                          <a:solidFill>
                            <a:srgbClr val="FF0000"/>
                          </a:solidFill>
                          <a:latin typeface="微软雅黑" charset="-122"/>
                        </a:rPr>
                        <a:t>月度检视</a:t>
                      </a:r>
                      <a:r>
                        <a:rPr lang="en-US" altLang="zh-CN" sz="1200" b="0" dirty="0">
                          <a:solidFill>
                            <a:schemeClr val="tx1"/>
                          </a:solidFill>
                          <a:latin typeface="微软雅黑" charset="-122"/>
                        </a:rPr>
                        <a:t>+</a:t>
                      </a:r>
                      <a:r>
                        <a:rPr lang="zh-CN" altLang="en-US" sz="1200" b="0" dirty="0">
                          <a:solidFill>
                            <a:srgbClr val="FF0000"/>
                          </a:solidFill>
                          <a:latin typeface="微软雅黑" charset="-122"/>
                        </a:rPr>
                        <a:t>季度考核</a:t>
                      </a:r>
                      <a:r>
                        <a:rPr lang="en-US" altLang="zh-CN" sz="1200" b="0" dirty="0">
                          <a:solidFill>
                            <a:schemeClr val="tx1"/>
                          </a:solidFill>
                          <a:latin typeface="微软雅黑" charset="-122"/>
                        </a:rPr>
                        <a:t>+</a:t>
                      </a:r>
                      <a:r>
                        <a:rPr lang="zh-CN" altLang="en-US" sz="1200" b="0" dirty="0">
                          <a:solidFill>
                            <a:schemeClr val="tx1"/>
                          </a:solidFill>
                          <a:latin typeface="微软雅黑" charset="-122"/>
                        </a:rPr>
                        <a:t>年度考核</a:t>
                      </a:r>
                      <a:endParaRPr lang="en-US" altLang="zh-CN"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indent="0" algn="ctr">
                        <a:lnSpc>
                          <a:spcPts val="1400"/>
                        </a:lnSpc>
                        <a:buNone/>
                      </a:pPr>
                      <a:r>
                        <a:rPr lang="zh-CN" altLang="en-US" sz="1200" b="0" dirty="0">
                          <a:solidFill>
                            <a:srgbClr val="FF0000"/>
                          </a:solidFill>
                          <a:latin typeface="微软雅黑" charset="-122"/>
                        </a:rPr>
                        <a:t>提成激励奖金</a:t>
                      </a:r>
                      <a:endParaRPr lang="en-US" altLang="en-US" sz="1200" b="0" dirty="0">
                        <a:solidFill>
                          <a:srgbClr val="FF0000"/>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654965">
                <a:tc rowSpan="2">
                  <a:txBody>
                    <a:bodyPr/>
                    <a:lstStyle/>
                    <a:p>
                      <a:pPr indent="0" algn="ctr">
                        <a:lnSpc>
                          <a:spcPct val="100000"/>
                        </a:lnSpc>
                        <a:buNone/>
                      </a:pPr>
                      <a:r>
                        <a:rPr lang="zh-CN" altLang="en-US" sz="1200" b="1" dirty="0">
                          <a:solidFill>
                            <a:srgbClr val="000000"/>
                          </a:solidFill>
                          <a:latin typeface="微软雅黑" charset="-122"/>
                        </a:rPr>
                        <a:t>生产车间</a:t>
                      </a:r>
                      <a:endParaRPr lang="en-US" altLang="en-US" sz="1200" b="1" dirty="0">
                        <a:solidFill>
                          <a:srgbClr val="000000"/>
                        </a:solidFill>
                        <a:latin typeface="微软雅黑"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lnSpc>
                          <a:spcPts val="1400"/>
                        </a:lnSpc>
                        <a:buNone/>
                      </a:pPr>
                      <a:r>
                        <a:rPr lang="zh-CN" altLang="en-US" sz="1200" b="0" dirty="0">
                          <a:solidFill>
                            <a:srgbClr val="000000"/>
                          </a:solidFill>
                          <a:latin typeface="微软雅黑" charset="-122"/>
                        </a:rPr>
                        <a:t>员工</a:t>
                      </a:r>
                      <a:endParaRPr lang="en-US" altLang="en-US" sz="900" b="0" dirty="0">
                        <a:solidFill>
                          <a:srgbClr val="000000"/>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lnSpc>
                          <a:spcPts val="1400"/>
                        </a:lnSpc>
                        <a:buNone/>
                      </a:pPr>
                      <a:r>
                        <a:rPr lang="zh-CN" altLang="en-US" sz="1200" b="0" dirty="0">
                          <a:solidFill>
                            <a:schemeClr val="tx1"/>
                          </a:solidFill>
                          <a:latin typeface="微软雅黑" charset="-122"/>
                        </a:rPr>
                        <a:t>计件制</a:t>
                      </a:r>
                      <a:endParaRPr lang="en-US" altLang="en-US"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indent="0" algn="ctr">
                        <a:lnSpc>
                          <a:spcPts val="1400"/>
                        </a:lnSpc>
                        <a:buNone/>
                      </a:pPr>
                      <a:r>
                        <a:rPr lang="zh-CN" altLang="en-US" sz="1200" b="0" dirty="0">
                          <a:solidFill>
                            <a:schemeClr val="tx1"/>
                          </a:solidFill>
                          <a:latin typeface="微软雅黑" charset="-122"/>
                        </a:rPr>
                        <a:t>月度考核</a:t>
                      </a:r>
                      <a:r>
                        <a:rPr lang="en-US" altLang="zh-CN" sz="1200" b="0" dirty="0">
                          <a:solidFill>
                            <a:schemeClr val="tx1"/>
                          </a:solidFill>
                          <a:latin typeface="微软雅黑" charset="-122"/>
                        </a:rPr>
                        <a:t>+</a:t>
                      </a:r>
                      <a:r>
                        <a:rPr lang="zh-CN" altLang="en-US" sz="1200" b="0" dirty="0">
                          <a:solidFill>
                            <a:schemeClr val="tx1"/>
                          </a:solidFill>
                          <a:latin typeface="微软雅黑" charset="-122"/>
                        </a:rPr>
                        <a:t>年度考核</a:t>
                      </a:r>
                      <a:endParaRPr lang="en-US" altLang="en-US"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indent="0" algn="ctr">
                        <a:lnSpc>
                          <a:spcPts val="1400"/>
                        </a:lnSpc>
                        <a:buNone/>
                      </a:pPr>
                      <a:r>
                        <a:rPr lang="zh-CN" altLang="en-US" sz="1200" b="0" dirty="0">
                          <a:solidFill>
                            <a:schemeClr val="tx1"/>
                          </a:solidFill>
                          <a:latin typeface="微软雅黑" charset="-122"/>
                        </a:rPr>
                        <a:t>计件提成</a:t>
                      </a:r>
                      <a:r>
                        <a:rPr lang="en-US" altLang="zh-CN" sz="1200" b="0" dirty="0">
                          <a:solidFill>
                            <a:schemeClr val="tx1"/>
                          </a:solidFill>
                          <a:latin typeface="微软雅黑" charset="-122"/>
                        </a:rPr>
                        <a:t>+</a:t>
                      </a:r>
                      <a:r>
                        <a:rPr lang="zh-CN" altLang="en-US" sz="1200" b="0" dirty="0">
                          <a:solidFill>
                            <a:schemeClr val="tx1"/>
                          </a:solidFill>
                          <a:latin typeface="微软雅黑" charset="-122"/>
                        </a:rPr>
                        <a:t>年终奖</a:t>
                      </a:r>
                      <a:endParaRPr lang="en-US" altLang="en-US"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658461">
                <a:tc vMerge="1">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lnSpc>
                          <a:spcPts val="1400"/>
                        </a:lnSpc>
                        <a:buNone/>
                      </a:pPr>
                      <a:r>
                        <a:rPr lang="zh-CN" altLang="en-US" sz="1200" b="0" dirty="0">
                          <a:solidFill>
                            <a:srgbClr val="000000"/>
                          </a:solidFill>
                          <a:latin typeface="微软雅黑" charset="-122"/>
                        </a:rPr>
                        <a:t>车间主任级以上</a:t>
                      </a:r>
                      <a:endParaRPr lang="en-US" altLang="zh-CN" sz="1200" b="0" dirty="0">
                        <a:solidFill>
                          <a:srgbClr val="000000"/>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lnSpc>
                          <a:spcPts val="1400"/>
                        </a:lnSpc>
                        <a:buNone/>
                      </a:pPr>
                      <a:r>
                        <a:rPr lang="en-US" altLang="en-US" sz="1200" b="0" dirty="0">
                          <a:solidFill>
                            <a:schemeClr val="tx1"/>
                          </a:solidFill>
                          <a:latin typeface="微软雅黑" charset="-122"/>
                        </a:rPr>
                        <a:t>PBC</a:t>
                      </a:r>
                      <a:r>
                        <a:rPr lang="zh-CN" altLang="en-US" sz="1200" b="0" dirty="0">
                          <a:solidFill>
                            <a:schemeClr val="tx1"/>
                          </a:solidFill>
                          <a:latin typeface="微软雅黑" charset="-122"/>
                        </a:rPr>
                        <a:t>考核</a:t>
                      </a:r>
                      <a:endParaRPr lang="en-US" altLang="en-US"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20000"/>
                        <a:lumOff val="80000"/>
                      </a:schemeClr>
                    </a:solidFill>
                  </a:tcPr>
                </a:tc>
                <a:tc>
                  <a:txBody>
                    <a:bodyPr/>
                    <a:lstStyle/>
                    <a:p>
                      <a:pPr indent="0" algn="ctr">
                        <a:lnSpc>
                          <a:spcPts val="1400"/>
                        </a:lnSpc>
                        <a:buNone/>
                      </a:pPr>
                      <a:r>
                        <a:rPr lang="zh-CN" altLang="en-US" sz="1200" b="0" dirty="0">
                          <a:solidFill>
                            <a:srgbClr val="FF0000"/>
                          </a:solidFill>
                          <a:latin typeface="微软雅黑" charset="-122"/>
                        </a:rPr>
                        <a:t>月度检视</a:t>
                      </a:r>
                      <a:r>
                        <a:rPr lang="en-US" altLang="zh-CN" sz="1200" b="0" dirty="0">
                          <a:solidFill>
                            <a:srgbClr val="FF0000"/>
                          </a:solidFill>
                          <a:latin typeface="微软雅黑" charset="-122"/>
                        </a:rPr>
                        <a:t>+</a:t>
                      </a:r>
                      <a:r>
                        <a:rPr lang="zh-CN" altLang="en-US" sz="1200" b="0" dirty="0">
                          <a:solidFill>
                            <a:srgbClr val="FF0000"/>
                          </a:solidFill>
                          <a:latin typeface="微软雅黑" charset="-122"/>
                        </a:rPr>
                        <a:t>季度考核</a:t>
                      </a:r>
                      <a:r>
                        <a:rPr lang="en-US" altLang="zh-CN" sz="1200" b="0" dirty="0">
                          <a:solidFill>
                            <a:schemeClr val="tx1"/>
                          </a:solidFill>
                          <a:latin typeface="微软雅黑" charset="-122"/>
                        </a:rPr>
                        <a:t>+</a:t>
                      </a:r>
                      <a:r>
                        <a:rPr lang="zh-CN" altLang="en-US" sz="1200" b="0" dirty="0">
                          <a:solidFill>
                            <a:schemeClr val="tx1"/>
                          </a:solidFill>
                          <a:latin typeface="微软雅黑" charset="-122"/>
                        </a:rPr>
                        <a:t>年度考核</a:t>
                      </a:r>
                      <a:endParaRPr lang="zh-CN" altLang="en-US" sz="1200" b="0" dirty="0">
                        <a:solidFill>
                          <a:schemeClr val="tx1"/>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indent="0" algn="ctr">
                        <a:lnSpc>
                          <a:spcPts val="1400"/>
                        </a:lnSpc>
                        <a:buNone/>
                      </a:pPr>
                      <a:r>
                        <a:rPr lang="zh-CN" altLang="en-US" sz="1200" b="0" dirty="0">
                          <a:solidFill>
                            <a:srgbClr val="FF0000"/>
                          </a:solidFill>
                          <a:latin typeface="微软雅黑" charset="-122"/>
                        </a:rPr>
                        <a:t>季度奖金</a:t>
                      </a:r>
                      <a:r>
                        <a:rPr lang="en-US" altLang="zh-CN" sz="1200" b="0" dirty="0">
                          <a:solidFill>
                            <a:srgbClr val="FF0000"/>
                          </a:solidFill>
                          <a:latin typeface="微软雅黑" charset="-122"/>
                        </a:rPr>
                        <a:t>+</a:t>
                      </a:r>
                      <a:r>
                        <a:rPr lang="zh-CN" altLang="en-US" sz="1200" b="0" dirty="0">
                          <a:solidFill>
                            <a:srgbClr val="FF0000"/>
                          </a:solidFill>
                          <a:latin typeface="微软雅黑" charset="-122"/>
                        </a:rPr>
                        <a:t>年终奖金</a:t>
                      </a:r>
                      <a:endParaRPr lang="en-US" altLang="en-US" sz="1200" b="0" dirty="0">
                        <a:solidFill>
                          <a:srgbClr val="FF0000"/>
                        </a:solidFill>
                        <a:latin typeface="微软雅黑" charset="-122"/>
                      </a:endParaRPr>
                    </a:p>
                  </a:txBody>
                  <a:tcPr marL="12700" marR="12700" marT="127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绩效管理流程</a:t>
            </a:r>
            <a:r>
              <a:rPr lang="en-US" altLang="zh-CN" dirty="0"/>
              <a:t>-</a:t>
            </a:r>
            <a:r>
              <a:rPr lang="zh-CN" altLang="en-US" dirty="0"/>
              <a:t>月度检视</a:t>
            </a:r>
            <a:r>
              <a:rPr lang="en-US" altLang="zh-CN" dirty="0"/>
              <a:t>+</a:t>
            </a:r>
            <a:r>
              <a:rPr lang="zh-CN" altLang="en-US" dirty="0"/>
              <a:t>季度考核</a:t>
            </a:r>
            <a:r>
              <a:rPr lang="en-US" altLang="zh-CN" dirty="0"/>
              <a:t>+</a:t>
            </a:r>
            <a:r>
              <a:rPr lang="zh-CN" altLang="en-US" dirty="0"/>
              <a:t>年度运用</a:t>
            </a:r>
            <a:endParaRPr lang="zh-CN" altLang="en-US"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sp>
        <p:nvSpPr>
          <p:cNvPr id="3" name="Text Box 28" descr="蓝色面巾纸"/>
          <p:cNvSpPr txBox="1">
            <a:spLocks noChangeArrowheads="1"/>
          </p:cNvSpPr>
          <p:nvPr>
            <p:custDataLst>
              <p:tags r:id="rId1"/>
            </p:custDataLst>
          </p:nvPr>
        </p:nvSpPr>
        <p:spPr bwMode="auto">
          <a:xfrm>
            <a:off x="1796442" y="2525360"/>
            <a:ext cx="9762835" cy="2838335"/>
          </a:xfrm>
          <a:prstGeom prst="rect">
            <a:avLst/>
          </a:prstGeom>
          <a:noFill/>
          <a:ln w="9525" algn="ctr">
            <a:solidFill>
              <a:schemeClr val="tx1"/>
            </a:solidFill>
            <a:miter lim="800000"/>
          </a:ln>
        </p:spPr>
        <p:txBody>
          <a:bodyPr anchor="b" anchorCtr="1"/>
          <a:lstStyle/>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整个过程宣传、培训、推动、跟进、辅导和答疑</a:t>
            </a: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4" name="Rectangle 2"/>
          <p:cNvSpPr>
            <a:spLocks noChangeArrowheads="1"/>
          </p:cNvSpPr>
          <p:nvPr>
            <p:custDataLst>
              <p:tags r:id="rId2"/>
            </p:custDataLst>
          </p:nvPr>
        </p:nvSpPr>
        <p:spPr bwMode="auto">
          <a:xfrm>
            <a:off x="1785274" y="1435048"/>
            <a:ext cx="9774003" cy="979028"/>
          </a:xfrm>
          <a:prstGeom prst="rect">
            <a:avLst/>
          </a:prstGeom>
          <a:solidFill>
            <a:schemeClr val="bg1">
              <a:lumMod val="85000"/>
            </a:schemeClr>
          </a:solidFill>
          <a:ln w="9525" algn="ctr">
            <a:noFill/>
            <a:miter lim="800000"/>
          </a:ln>
        </p:spPr>
        <p:txBody>
          <a:bodyPr lIns="0" tIns="0" rIns="0" bIns="0" anchor="t"/>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绩效管理流程</a:t>
            </a:r>
            <a:endParaRPr kumimoji="0" lang="zh-CN" altLang="en-US" sz="18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7" name="Text Box 3" descr="蓝色面巾纸"/>
          <p:cNvSpPr txBox="1">
            <a:spLocks noChangeArrowheads="1"/>
          </p:cNvSpPr>
          <p:nvPr>
            <p:custDataLst>
              <p:tags r:id="rId3"/>
            </p:custDataLst>
          </p:nvPr>
        </p:nvSpPr>
        <p:spPr bwMode="auto">
          <a:xfrm>
            <a:off x="8598276" y="1881831"/>
            <a:ext cx="995125" cy="441325"/>
          </a:xfrm>
          <a:prstGeom prst="rect">
            <a:avLst/>
          </a:prstGeom>
          <a:solidFill>
            <a:schemeClr val="accent4">
              <a:lumMod val="20000"/>
              <a:lumOff val="80000"/>
            </a:schemeClr>
          </a:solidFill>
          <a:ln w="9525" algn="ctr">
            <a:noFill/>
            <a:miter lim="800000"/>
          </a:ln>
        </p:spPr>
        <p:txBody>
          <a:bodyPr anchor="ctr" anchorCtr="0"/>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绩效沟通</a:t>
            </a:r>
            <a:endPar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8" name="Text Box 28" descr="蓝色面巾纸"/>
          <p:cNvSpPr txBox="1">
            <a:spLocks noChangeArrowheads="1"/>
          </p:cNvSpPr>
          <p:nvPr>
            <p:custDataLst>
              <p:tags r:id="rId4"/>
            </p:custDataLst>
          </p:nvPr>
        </p:nvSpPr>
        <p:spPr bwMode="auto">
          <a:xfrm>
            <a:off x="2343496" y="1874372"/>
            <a:ext cx="1289863" cy="441475"/>
          </a:xfrm>
          <a:prstGeom prst="rect">
            <a:avLst/>
          </a:prstGeom>
          <a:solidFill>
            <a:schemeClr val="accent4">
              <a:lumMod val="20000"/>
              <a:lumOff val="80000"/>
            </a:schemeClr>
          </a:solidFill>
          <a:ln w="9525" algn="ctr">
            <a:noFill/>
            <a:miter lim="800000"/>
          </a:ln>
        </p:spPr>
        <p:txBody>
          <a:bodyPr anchor="ctr" anchorCtr="1"/>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绩效目标制定</a:t>
            </a: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9" name="Text Box 29" descr="蓝色面巾纸"/>
          <p:cNvSpPr txBox="1">
            <a:spLocks noChangeArrowheads="1"/>
          </p:cNvSpPr>
          <p:nvPr>
            <p:custDataLst>
              <p:tags r:id="rId5"/>
            </p:custDataLst>
          </p:nvPr>
        </p:nvSpPr>
        <p:spPr bwMode="auto">
          <a:xfrm>
            <a:off x="4765940" y="1878139"/>
            <a:ext cx="1436037" cy="441475"/>
          </a:xfrm>
          <a:prstGeom prst="rect">
            <a:avLst/>
          </a:prstGeom>
          <a:solidFill>
            <a:schemeClr val="accent4">
              <a:lumMod val="20000"/>
              <a:lumOff val="80000"/>
            </a:schemeClr>
          </a:solidFill>
          <a:ln w="9525" algn="ctr">
            <a:noFill/>
            <a:miter lim="800000"/>
          </a:ln>
        </p:spPr>
        <p:txBody>
          <a:bodyPr anchor="ctr" anchorCtr="1"/>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绩效执行与辅导</a:t>
            </a:r>
            <a:endPar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10" name="Text Box 30" descr="蓝色面巾纸"/>
          <p:cNvSpPr txBox="1">
            <a:spLocks noChangeArrowheads="1"/>
          </p:cNvSpPr>
          <p:nvPr>
            <p:custDataLst>
              <p:tags r:id="rId6"/>
            </p:custDataLst>
          </p:nvPr>
        </p:nvSpPr>
        <p:spPr bwMode="auto">
          <a:xfrm>
            <a:off x="6788832" y="1878139"/>
            <a:ext cx="1046983" cy="441325"/>
          </a:xfrm>
          <a:prstGeom prst="rect">
            <a:avLst/>
          </a:prstGeom>
          <a:solidFill>
            <a:schemeClr val="accent4">
              <a:lumMod val="20000"/>
              <a:lumOff val="80000"/>
            </a:schemeClr>
          </a:solidFill>
          <a:ln w="9525" algn="ctr">
            <a:noFill/>
            <a:miter lim="800000"/>
          </a:ln>
        </p:spPr>
        <p:txBody>
          <a:bodyPr anchor="ctr" anchorCtr="1"/>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绩效评价</a:t>
            </a:r>
            <a:endPar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11" name="AutoShape 32"/>
          <p:cNvCxnSpPr>
            <a:cxnSpLocks noChangeShapeType="1"/>
            <a:stCxn id="8" idx="3"/>
            <a:endCxn id="9" idx="1"/>
          </p:cNvCxnSpPr>
          <p:nvPr>
            <p:custDataLst>
              <p:tags r:id="rId7"/>
            </p:custDataLst>
          </p:nvPr>
        </p:nvCxnSpPr>
        <p:spPr bwMode="auto">
          <a:xfrm>
            <a:off x="3633359" y="2095110"/>
            <a:ext cx="1132581" cy="3767"/>
          </a:xfrm>
          <a:prstGeom prst="straightConnector1">
            <a:avLst/>
          </a:prstGeom>
          <a:noFill/>
          <a:ln w="19050">
            <a:solidFill>
              <a:sysClr val="windowText" lastClr="000000"/>
            </a:solidFill>
            <a:round/>
            <a:tailEnd type="triangle" w="med" len="med"/>
          </a:ln>
        </p:spPr>
      </p:cxnSp>
      <p:cxnSp>
        <p:nvCxnSpPr>
          <p:cNvPr id="12" name="AutoShape 33"/>
          <p:cNvCxnSpPr>
            <a:cxnSpLocks noChangeShapeType="1"/>
            <a:endCxn id="10" idx="1"/>
          </p:cNvCxnSpPr>
          <p:nvPr>
            <p:custDataLst>
              <p:tags r:id="rId8"/>
            </p:custDataLst>
          </p:nvPr>
        </p:nvCxnSpPr>
        <p:spPr bwMode="auto">
          <a:xfrm>
            <a:off x="6157841" y="2090507"/>
            <a:ext cx="630991" cy="8295"/>
          </a:xfrm>
          <a:prstGeom prst="straightConnector1">
            <a:avLst/>
          </a:prstGeom>
          <a:noFill/>
          <a:ln w="19050">
            <a:solidFill>
              <a:sysClr val="windowText" lastClr="000000"/>
            </a:solidFill>
            <a:round/>
            <a:tailEnd type="triangle" w="med" len="med"/>
          </a:ln>
        </p:spPr>
      </p:cxnSp>
      <p:cxnSp>
        <p:nvCxnSpPr>
          <p:cNvPr id="13" name="AutoShape 34"/>
          <p:cNvCxnSpPr>
            <a:cxnSpLocks noChangeShapeType="1"/>
            <a:stCxn id="10" idx="3"/>
            <a:endCxn id="7" idx="1"/>
          </p:cNvCxnSpPr>
          <p:nvPr>
            <p:custDataLst>
              <p:tags r:id="rId9"/>
            </p:custDataLst>
          </p:nvPr>
        </p:nvCxnSpPr>
        <p:spPr bwMode="auto">
          <a:xfrm>
            <a:off x="7835815" y="2098802"/>
            <a:ext cx="762461" cy="3692"/>
          </a:xfrm>
          <a:prstGeom prst="bentConnector3">
            <a:avLst>
              <a:gd name="adj1" fmla="val 50000"/>
            </a:avLst>
          </a:prstGeom>
          <a:noFill/>
          <a:ln w="19050">
            <a:solidFill>
              <a:sysClr val="windowText" lastClr="000000"/>
            </a:solidFill>
            <a:miter lim="800000"/>
            <a:tailEnd type="triangle" w="med" len="med"/>
          </a:ln>
        </p:spPr>
      </p:cxnSp>
      <p:sp>
        <p:nvSpPr>
          <p:cNvPr id="14" name="Text Box 3" descr="蓝色面巾纸"/>
          <p:cNvSpPr txBox="1">
            <a:spLocks noChangeArrowheads="1"/>
          </p:cNvSpPr>
          <p:nvPr>
            <p:custDataLst>
              <p:tags r:id="rId10"/>
            </p:custDataLst>
          </p:nvPr>
        </p:nvSpPr>
        <p:spPr bwMode="auto">
          <a:xfrm>
            <a:off x="10350454" y="1878139"/>
            <a:ext cx="995125" cy="441325"/>
          </a:xfrm>
          <a:prstGeom prst="rect">
            <a:avLst/>
          </a:prstGeom>
          <a:solidFill>
            <a:schemeClr val="accent4">
              <a:lumMod val="20000"/>
              <a:lumOff val="80000"/>
            </a:schemeClr>
          </a:solidFill>
          <a:ln w="9525" algn="ctr">
            <a:noFill/>
            <a:miter lim="800000"/>
          </a:ln>
        </p:spPr>
        <p:txBody>
          <a:bodyPr anchor="ctr" anchorCtr="0"/>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结果应用</a:t>
            </a:r>
            <a:endPar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15" name="AutoShape 34"/>
          <p:cNvCxnSpPr>
            <a:cxnSpLocks noChangeShapeType="1"/>
            <a:endCxn id="14" idx="1"/>
          </p:cNvCxnSpPr>
          <p:nvPr>
            <p:custDataLst>
              <p:tags r:id="rId11"/>
            </p:custDataLst>
          </p:nvPr>
        </p:nvCxnSpPr>
        <p:spPr bwMode="auto">
          <a:xfrm>
            <a:off x="9587993" y="2095110"/>
            <a:ext cx="762461" cy="3692"/>
          </a:xfrm>
          <a:prstGeom prst="bentConnector3">
            <a:avLst>
              <a:gd name="adj1" fmla="val 50000"/>
            </a:avLst>
          </a:prstGeom>
          <a:noFill/>
          <a:ln w="19050">
            <a:solidFill>
              <a:sysClr val="windowText" lastClr="000000"/>
            </a:solidFill>
            <a:miter lim="800000"/>
            <a:tailEnd type="triangle" w="med" len="med"/>
          </a:ln>
        </p:spPr>
      </p:cxnSp>
      <p:sp>
        <p:nvSpPr>
          <p:cNvPr id="16" name="Text Box 11" descr="蓝色面巾纸"/>
          <p:cNvSpPr txBox="1">
            <a:spLocks noChangeArrowheads="1"/>
          </p:cNvSpPr>
          <p:nvPr>
            <p:custDataLst>
              <p:tags r:id="rId12"/>
            </p:custDataLst>
          </p:nvPr>
        </p:nvSpPr>
        <p:spPr bwMode="auto">
          <a:xfrm>
            <a:off x="528248" y="1435047"/>
            <a:ext cx="1176399" cy="4120721"/>
          </a:xfrm>
          <a:prstGeom prst="rect">
            <a:avLst/>
          </a:prstGeom>
          <a:solidFill>
            <a:schemeClr val="accent4">
              <a:lumMod val="20000"/>
              <a:lumOff val="80000"/>
            </a:schemeClr>
          </a:solidFill>
          <a:ln w="9525" algn="ctr">
            <a:noFill/>
            <a:miter lim="800000"/>
          </a:ln>
        </p:spPr>
        <p:txBody>
          <a:bodyPr/>
          <a:lstStyle/>
          <a:p>
            <a:pPr marL="0" marR="0" lvl="0" indent="0" algn="ctr" defTabSz="801370" rtl="0" eaLnBrk="1" fontAlgn="auto" latinLnBrk="0" hangingPunct="1">
              <a:lnSpc>
                <a:spcPct val="100000"/>
              </a:lnSpc>
              <a:spcBef>
                <a:spcPts val="0"/>
              </a:spcBef>
              <a:spcAft>
                <a:spcPts val="0"/>
              </a:spcAft>
              <a:buClrTx/>
              <a:buSzTx/>
              <a:buFontTx/>
              <a:buNone/>
              <a:defRPr/>
            </a:pP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ctr" defTabSz="801370" rtl="0" eaLnBrk="1" fontAlgn="auto" latinLnBrk="0" hangingPunct="1">
              <a:lnSpc>
                <a:spcPct val="100000"/>
              </a:lnSpc>
              <a:spcBef>
                <a:spcPts val="0"/>
              </a:spcBef>
              <a:spcAft>
                <a:spcPts val="0"/>
              </a:spcAft>
              <a:buClrTx/>
              <a:buSzTx/>
              <a:buFontTx/>
              <a:buNone/>
              <a:defRPr/>
            </a:pP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角色</a:t>
            </a:r>
            <a:endParaRPr kumimoji="0" lang="zh-CN" altLang="en-US" sz="18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17" name="Text Box 28" descr="蓝色面巾纸"/>
          <p:cNvSpPr txBox="1">
            <a:spLocks noChangeArrowheads="1"/>
          </p:cNvSpPr>
          <p:nvPr>
            <p:custDataLst>
              <p:tags r:id="rId13"/>
            </p:custDataLst>
          </p:nvPr>
        </p:nvSpPr>
        <p:spPr bwMode="auto">
          <a:xfrm>
            <a:off x="635544" y="2705700"/>
            <a:ext cx="974482" cy="604212"/>
          </a:xfrm>
          <a:prstGeom prst="rect">
            <a:avLst/>
          </a:prstGeom>
          <a:solidFill>
            <a:schemeClr val="bg1">
              <a:lumMod val="85000"/>
            </a:schemeClr>
          </a:solidFill>
          <a:ln w="9525" algn="ctr">
            <a:noFill/>
            <a:miter lim="800000"/>
          </a:ln>
        </p:spPr>
        <p:txBody>
          <a:bodyPr anchor="ctr" anchorCtr="1"/>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员工</a:t>
            </a: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18" name="Text Box 28" descr="蓝色面巾纸"/>
          <p:cNvSpPr txBox="1">
            <a:spLocks noChangeArrowheads="1"/>
          </p:cNvSpPr>
          <p:nvPr>
            <p:custDataLst>
              <p:tags r:id="rId14"/>
            </p:custDataLst>
          </p:nvPr>
        </p:nvSpPr>
        <p:spPr bwMode="auto">
          <a:xfrm>
            <a:off x="632723" y="3889786"/>
            <a:ext cx="974482" cy="558814"/>
          </a:xfrm>
          <a:prstGeom prst="rect">
            <a:avLst/>
          </a:prstGeom>
          <a:solidFill>
            <a:schemeClr val="bg1">
              <a:lumMod val="85000"/>
            </a:schemeClr>
          </a:solidFill>
          <a:ln w="9525" algn="ctr">
            <a:noFill/>
            <a:miter lim="800000"/>
          </a:ln>
        </p:spPr>
        <p:txBody>
          <a:bodyPr anchor="ctr" anchorCtr="1"/>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直接上级</a:t>
            </a: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19" name="Text Box 28" descr="蓝色面巾纸"/>
          <p:cNvSpPr txBox="1">
            <a:spLocks noChangeArrowheads="1"/>
          </p:cNvSpPr>
          <p:nvPr>
            <p:custDataLst>
              <p:tags r:id="rId15"/>
            </p:custDataLst>
          </p:nvPr>
        </p:nvSpPr>
        <p:spPr bwMode="auto">
          <a:xfrm>
            <a:off x="632723" y="4804882"/>
            <a:ext cx="974482" cy="558813"/>
          </a:xfrm>
          <a:prstGeom prst="rect">
            <a:avLst/>
          </a:prstGeom>
          <a:solidFill>
            <a:schemeClr val="bg1">
              <a:lumMod val="85000"/>
            </a:schemeClr>
          </a:solidFill>
          <a:ln w="9525" algn="ctr">
            <a:noFill/>
            <a:miter lim="800000"/>
          </a:ln>
        </p:spPr>
        <p:txBody>
          <a:bodyPr anchor="ctr" anchorCtr="1"/>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HR</a:t>
            </a: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绩效</a:t>
            </a: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20" name="Text Box 28" descr="蓝色面巾纸"/>
          <p:cNvSpPr txBox="1">
            <a:spLocks noChangeArrowheads="1"/>
          </p:cNvSpPr>
          <p:nvPr>
            <p:custDataLst>
              <p:tags r:id="rId16"/>
            </p:custDataLst>
          </p:nvPr>
        </p:nvSpPr>
        <p:spPr bwMode="auto">
          <a:xfrm>
            <a:off x="4965295" y="2667490"/>
            <a:ext cx="1319398" cy="2074778"/>
          </a:xfrm>
          <a:prstGeom prst="rect">
            <a:avLst/>
          </a:prstGeom>
          <a:noFill/>
          <a:ln w="9525" algn="ctr">
            <a:solidFill>
              <a:schemeClr val="tx1"/>
            </a:solidFill>
            <a:miter lim="800000"/>
          </a:ln>
        </p:spPr>
        <p:txBody>
          <a:bodyPr anchor="ctr" anchorCtr="1"/>
          <a:lstStyle/>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上级与下级日常工作沟通；</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上级对下级过程观察与指导；</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下级有困难，上级进行纾解和资源支持；</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辅导</a:t>
            </a:r>
            <a:r>
              <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a:t>
            </a: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激励下属达成计划；</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21" name="AutoShape 32"/>
          <p:cNvCxnSpPr>
            <a:cxnSpLocks noChangeShapeType="1"/>
          </p:cNvCxnSpPr>
          <p:nvPr>
            <p:custDataLst>
              <p:tags r:id="rId17"/>
            </p:custDataLst>
          </p:nvPr>
        </p:nvCxnSpPr>
        <p:spPr bwMode="auto">
          <a:xfrm>
            <a:off x="4730282" y="4214369"/>
            <a:ext cx="228482" cy="88"/>
          </a:xfrm>
          <a:prstGeom prst="straightConnector1">
            <a:avLst/>
          </a:prstGeom>
          <a:noFill/>
          <a:ln w="19050">
            <a:solidFill>
              <a:sysClr val="windowText" lastClr="000000"/>
            </a:solidFill>
            <a:round/>
            <a:tailEnd type="triangle" w="med" len="med"/>
          </a:ln>
        </p:spPr>
      </p:cxnSp>
      <p:sp>
        <p:nvSpPr>
          <p:cNvPr id="22" name="Text Box 28" descr="蓝色面巾纸"/>
          <p:cNvSpPr txBox="1">
            <a:spLocks noChangeArrowheads="1"/>
          </p:cNvSpPr>
          <p:nvPr>
            <p:custDataLst>
              <p:tags r:id="rId18"/>
            </p:custDataLst>
          </p:nvPr>
        </p:nvSpPr>
        <p:spPr bwMode="auto">
          <a:xfrm>
            <a:off x="6787604" y="2667490"/>
            <a:ext cx="1226499" cy="2074776"/>
          </a:xfrm>
          <a:prstGeom prst="rect">
            <a:avLst/>
          </a:prstGeom>
          <a:noFill/>
          <a:ln w="9525" algn="ctr">
            <a:solidFill>
              <a:schemeClr val="tx1"/>
            </a:solidFill>
            <a:miter lim="800000"/>
          </a:ln>
        </p:spPr>
        <p:txBody>
          <a:bodyPr anchor="ctr" anchorCtr="1"/>
          <a:lstStyle/>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①</a:t>
            </a: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sym typeface="+mn-ea"/>
              </a:rPr>
              <a:t>月度工作执行监督与检视</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②季度</a:t>
            </a:r>
            <a:r>
              <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a:t>
            </a: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年度评价</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23" name="AutoShape 32"/>
          <p:cNvCxnSpPr>
            <a:cxnSpLocks noChangeShapeType="1"/>
          </p:cNvCxnSpPr>
          <p:nvPr>
            <p:custDataLst>
              <p:tags r:id="rId19"/>
            </p:custDataLst>
          </p:nvPr>
        </p:nvCxnSpPr>
        <p:spPr bwMode="auto">
          <a:xfrm>
            <a:off x="6302586" y="3569356"/>
            <a:ext cx="407218" cy="0"/>
          </a:xfrm>
          <a:prstGeom prst="straightConnector1">
            <a:avLst/>
          </a:prstGeom>
          <a:noFill/>
          <a:ln w="19050">
            <a:solidFill>
              <a:sysClr val="windowText" lastClr="000000"/>
            </a:solidFill>
            <a:round/>
            <a:tailEnd type="triangle" w="med" len="med"/>
          </a:ln>
        </p:spPr>
      </p:cxnSp>
      <p:sp>
        <p:nvSpPr>
          <p:cNvPr id="24" name="Text Box 28" descr="蓝色面巾纸"/>
          <p:cNvSpPr txBox="1">
            <a:spLocks noChangeArrowheads="1"/>
          </p:cNvSpPr>
          <p:nvPr>
            <p:custDataLst>
              <p:tags r:id="rId20"/>
            </p:custDataLst>
          </p:nvPr>
        </p:nvSpPr>
        <p:spPr bwMode="auto">
          <a:xfrm>
            <a:off x="8541646" y="2662180"/>
            <a:ext cx="1162811" cy="2074776"/>
          </a:xfrm>
          <a:prstGeom prst="rect">
            <a:avLst/>
          </a:prstGeom>
          <a:noFill/>
          <a:ln w="9525" algn="ctr">
            <a:solidFill>
              <a:schemeClr val="tx1"/>
            </a:solidFill>
            <a:miter lim="800000"/>
          </a:ln>
        </p:spPr>
        <p:txBody>
          <a:bodyPr anchor="ctr" anchorCtr="1"/>
          <a:lstStyle/>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评价结果反馈并对阶段性任务目标达成情况进行拉齐，同时指导和跟进下一阶段工作或改进计划</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25" name="AutoShape 32"/>
          <p:cNvCxnSpPr>
            <a:cxnSpLocks noChangeShapeType="1"/>
          </p:cNvCxnSpPr>
          <p:nvPr>
            <p:custDataLst>
              <p:tags r:id="rId21"/>
            </p:custDataLst>
          </p:nvPr>
        </p:nvCxnSpPr>
        <p:spPr bwMode="auto">
          <a:xfrm>
            <a:off x="8068505" y="3587571"/>
            <a:ext cx="473141" cy="0"/>
          </a:xfrm>
          <a:prstGeom prst="straightConnector1">
            <a:avLst/>
          </a:prstGeom>
          <a:noFill/>
          <a:ln w="19050">
            <a:solidFill>
              <a:sysClr val="windowText" lastClr="000000"/>
            </a:solidFill>
            <a:round/>
            <a:tailEnd type="triangle" w="med" len="med"/>
          </a:ln>
        </p:spPr>
      </p:cxnSp>
      <p:sp>
        <p:nvSpPr>
          <p:cNvPr id="26" name="Text Box 28" descr="蓝色面巾纸"/>
          <p:cNvSpPr txBox="1">
            <a:spLocks noChangeArrowheads="1"/>
          </p:cNvSpPr>
          <p:nvPr>
            <p:custDataLst>
              <p:tags r:id="rId22"/>
            </p:custDataLst>
          </p:nvPr>
        </p:nvSpPr>
        <p:spPr bwMode="auto">
          <a:xfrm>
            <a:off x="10200807" y="2662180"/>
            <a:ext cx="1355649" cy="2080086"/>
          </a:xfrm>
          <a:prstGeom prst="rect">
            <a:avLst/>
          </a:prstGeom>
          <a:noFill/>
          <a:ln w="9525" algn="ctr">
            <a:solidFill>
              <a:schemeClr val="tx1"/>
            </a:solidFill>
            <a:miter lim="800000"/>
          </a:ln>
        </p:spPr>
        <p:txBody>
          <a:bodyPr anchor="ctr" anchorCtr="1"/>
          <a:lstStyle/>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季度</a:t>
            </a:r>
            <a:r>
              <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a:t>
            </a: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年度：</a:t>
            </a: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①评优</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②干部晋升</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③人员胜任度</a:t>
            </a:r>
            <a:r>
              <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a:t>
            </a: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任用依据</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④奖金发放</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⑤调薪</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⑥末位改进或淘汰等</a:t>
            </a:r>
            <a:endPar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27" name="AutoShape 32"/>
          <p:cNvCxnSpPr>
            <a:cxnSpLocks noChangeShapeType="1"/>
          </p:cNvCxnSpPr>
          <p:nvPr>
            <p:custDataLst>
              <p:tags r:id="rId23"/>
            </p:custDataLst>
          </p:nvPr>
        </p:nvCxnSpPr>
        <p:spPr bwMode="auto">
          <a:xfrm>
            <a:off x="9701932" y="3587571"/>
            <a:ext cx="498875" cy="3754"/>
          </a:xfrm>
          <a:prstGeom prst="straightConnector1">
            <a:avLst/>
          </a:prstGeom>
          <a:noFill/>
          <a:ln w="19050">
            <a:solidFill>
              <a:sysClr val="windowText" lastClr="000000"/>
            </a:solidFill>
            <a:round/>
            <a:tailEnd type="triangle" w="med" len="med"/>
          </a:ln>
        </p:spPr>
      </p:cxnSp>
      <p:cxnSp>
        <p:nvCxnSpPr>
          <p:cNvPr id="28" name="AutoShape 32"/>
          <p:cNvCxnSpPr>
            <a:cxnSpLocks noChangeShapeType="1"/>
          </p:cNvCxnSpPr>
          <p:nvPr>
            <p:custDataLst>
              <p:tags r:id="rId24"/>
            </p:custDataLst>
          </p:nvPr>
        </p:nvCxnSpPr>
        <p:spPr bwMode="auto">
          <a:xfrm>
            <a:off x="4720498" y="3056846"/>
            <a:ext cx="223465" cy="88"/>
          </a:xfrm>
          <a:prstGeom prst="straightConnector1">
            <a:avLst/>
          </a:prstGeom>
          <a:noFill/>
          <a:ln w="19050">
            <a:solidFill>
              <a:sysClr val="windowText" lastClr="000000"/>
            </a:solidFill>
            <a:round/>
            <a:tailEnd type="triangle" w="med" len="med"/>
          </a:ln>
        </p:spPr>
      </p:cxnSp>
      <p:sp>
        <p:nvSpPr>
          <p:cNvPr id="29" name="Text Box 28" descr="蓝色面巾纸"/>
          <p:cNvSpPr txBox="1">
            <a:spLocks noChangeArrowheads="1"/>
          </p:cNvSpPr>
          <p:nvPr>
            <p:custDataLst>
              <p:tags r:id="rId25"/>
            </p:custDataLst>
          </p:nvPr>
        </p:nvSpPr>
        <p:spPr bwMode="auto">
          <a:xfrm>
            <a:off x="1926546" y="2721807"/>
            <a:ext cx="276028" cy="1855968"/>
          </a:xfrm>
          <a:prstGeom prst="rect">
            <a:avLst/>
          </a:prstGeom>
          <a:noFill/>
          <a:ln w="9525" algn="ctr">
            <a:solidFill>
              <a:schemeClr val="tx1"/>
            </a:solidFill>
            <a:miter lim="800000"/>
          </a:ln>
        </p:spPr>
        <p:txBody>
          <a:bodyPr anchor="ctr" anchorCtr="1"/>
          <a:lstStyle/>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战略解码</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30" name="Text Box 28" descr="蓝色面巾纸"/>
          <p:cNvSpPr txBox="1">
            <a:spLocks noChangeArrowheads="1"/>
          </p:cNvSpPr>
          <p:nvPr>
            <p:custDataLst>
              <p:tags r:id="rId26"/>
            </p:custDataLst>
          </p:nvPr>
        </p:nvSpPr>
        <p:spPr bwMode="auto">
          <a:xfrm>
            <a:off x="2451283" y="2721807"/>
            <a:ext cx="276028" cy="1855968"/>
          </a:xfrm>
          <a:prstGeom prst="rect">
            <a:avLst/>
          </a:prstGeom>
          <a:noFill/>
          <a:ln w="9525" algn="ctr">
            <a:solidFill>
              <a:schemeClr val="tx1"/>
            </a:solidFill>
            <a:miter lim="800000"/>
          </a:ln>
        </p:spPr>
        <p:txBody>
          <a:bodyPr anchor="ctr" anchorCtr="1"/>
          <a:lstStyle/>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组织绩效</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31" name="AutoShape 32"/>
          <p:cNvCxnSpPr>
            <a:cxnSpLocks noChangeShapeType="1"/>
          </p:cNvCxnSpPr>
          <p:nvPr>
            <p:custDataLst>
              <p:tags r:id="rId27"/>
            </p:custDataLst>
          </p:nvPr>
        </p:nvCxnSpPr>
        <p:spPr bwMode="auto">
          <a:xfrm>
            <a:off x="2730185" y="3649791"/>
            <a:ext cx="241276" cy="0"/>
          </a:xfrm>
          <a:prstGeom prst="straightConnector1">
            <a:avLst/>
          </a:prstGeom>
          <a:noFill/>
          <a:ln w="19050">
            <a:solidFill>
              <a:sysClr val="windowText" lastClr="000000"/>
            </a:solidFill>
            <a:round/>
            <a:tailEnd type="triangle" w="med" len="med"/>
          </a:ln>
        </p:spPr>
      </p:cxnSp>
      <p:cxnSp>
        <p:nvCxnSpPr>
          <p:cNvPr id="32" name="AutoShape 32"/>
          <p:cNvCxnSpPr>
            <a:cxnSpLocks noChangeShapeType="1"/>
          </p:cNvCxnSpPr>
          <p:nvPr>
            <p:custDataLst>
              <p:tags r:id="rId28"/>
            </p:custDataLst>
          </p:nvPr>
        </p:nvCxnSpPr>
        <p:spPr bwMode="auto">
          <a:xfrm>
            <a:off x="2210007" y="3649791"/>
            <a:ext cx="241276" cy="0"/>
          </a:xfrm>
          <a:prstGeom prst="straightConnector1">
            <a:avLst/>
          </a:prstGeom>
          <a:noFill/>
          <a:ln w="19050">
            <a:solidFill>
              <a:sysClr val="windowText" lastClr="000000"/>
            </a:solidFill>
            <a:round/>
            <a:tailEnd type="triangle" w="med" len="med"/>
          </a:ln>
        </p:spPr>
      </p:cxnSp>
      <p:sp>
        <p:nvSpPr>
          <p:cNvPr id="33" name="Text Box 28" descr="蓝色面巾纸"/>
          <p:cNvSpPr txBox="1">
            <a:spLocks noChangeArrowheads="1"/>
          </p:cNvSpPr>
          <p:nvPr>
            <p:custDataLst>
              <p:tags r:id="rId29"/>
            </p:custDataLst>
          </p:nvPr>
        </p:nvSpPr>
        <p:spPr bwMode="auto">
          <a:xfrm>
            <a:off x="2988471" y="2667490"/>
            <a:ext cx="1737032" cy="842464"/>
          </a:xfrm>
          <a:prstGeom prst="rect">
            <a:avLst/>
          </a:prstGeom>
          <a:noFill/>
          <a:ln w="12700" algn="ctr">
            <a:solidFill>
              <a:schemeClr val="tx1"/>
            </a:solidFill>
            <a:prstDash val="dash"/>
            <a:miter lim="800000"/>
          </a:ln>
        </p:spPr>
        <p:txBody>
          <a:bodyPr vert="wordArtVertRtl" lIns="1440000" anchor="ctr" anchorCtr="1"/>
          <a:lstStyle/>
          <a:p>
            <a:pPr marL="0" marR="0" lvl="0" indent="0" algn="r" defTabSz="801370" rtl="0" eaLnBrk="1" fontAlgn="auto" latinLnBrk="0" hangingPunct="1">
              <a:lnSpc>
                <a:spcPct val="100000"/>
              </a:lnSpc>
              <a:spcBef>
                <a:spcPts val="0"/>
              </a:spcBef>
              <a:spcAft>
                <a:spcPts val="0"/>
              </a:spcAft>
              <a:buClrTx/>
              <a:buSzTx/>
              <a:buFontTx/>
              <a:buNone/>
              <a:defRPr/>
            </a:pP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34" name="Text Box 28" descr="蓝色面巾纸"/>
          <p:cNvSpPr txBox="1">
            <a:spLocks noChangeArrowheads="1"/>
          </p:cNvSpPr>
          <p:nvPr>
            <p:custDataLst>
              <p:tags r:id="rId30"/>
            </p:custDataLst>
          </p:nvPr>
        </p:nvSpPr>
        <p:spPr bwMode="auto">
          <a:xfrm>
            <a:off x="3088763" y="2705701"/>
            <a:ext cx="600358" cy="724876"/>
          </a:xfrm>
          <a:prstGeom prst="rect">
            <a:avLst/>
          </a:prstGeom>
          <a:noFill/>
          <a:ln w="9525" algn="ctr">
            <a:solidFill>
              <a:schemeClr val="tx1"/>
            </a:solidFill>
            <a:miter lim="800000"/>
          </a:ln>
        </p:spPr>
        <p:txBody>
          <a:bodyPr anchor="ctr" anchorCtr="1"/>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月度工作任务</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grpSp>
        <p:nvGrpSpPr>
          <p:cNvPr id="35" name="组合 34"/>
          <p:cNvGrpSpPr/>
          <p:nvPr/>
        </p:nvGrpSpPr>
        <p:grpSpPr>
          <a:xfrm>
            <a:off x="3681446" y="3541860"/>
            <a:ext cx="320634" cy="258571"/>
            <a:chOff x="3545951" y="5727722"/>
            <a:chExt cx="320634" cy="391929"/>
          </a:xfrm>
        </p:grpSpPr>
        <p:cxnSp>
          <p:nvCxnSpPr>
            <p:cNvPr id="36" name="AutoShape 32"/>
            <p:cNvCxnSpPr>
              <a:cxnSpLocks noChangeShapeType="1"/>
            </p:cNvCxnSpPr>
            <p:nvPr>
              <p:custDataLst>
                <p:tags r:id="rId31"/>
              </p:custDataLst>
            </p:nvPr>
          </p:nvCxnSpPr>
          <p:spPr bwMode="auto">
            <a:xfrm>
              <a:off x="3563692" y="5762810"/>
              <a:ext cx="0" cy="356841"/>
            </a:xfrm>
            <a:prstGeom prst="straightConnector1">
              <a:avLst/>
            </a:prstGeom>
            <a:noFill/>
            <a:ln w="19050">
              <a:solidFill>
                <a:sysClr val="windowText" lastClr="000000"/>
              </a:solidFill>
              <a:round/>
              <a:tailEnd type="triangle" w="med" len="med"/>
            </a:ln>
          </p:spPr>
        </p:cxnSp>
        <p:cxnSp>
          <p:nvCxnSpPr>
            <p:cNvPr id="37" name="AutoShape 32"/>
            <p:cNvCxnSpPr>
              <a:cxnSpLocks noChangeShapeType="1"/>
            </p:cNvCxnSpPr>
            <p:nvPr>
              <p:custDataLst>
                <p:tags r:id="rId32"/>
              </p:custDataLst>
            </p:nvPr>
          </p:nvCxnSpPr>
          <p:spPr bwMode="auto">
            <a:xfrm flipV="1">
              <a:off x="3848842" y="5727722"/>
              <a:ext cx="0" cy="354801"/>
            </a:xfrm>
            <a:prstGeom prst="straightConnector1">
              <a:avLst/>
            </a:prstGeom>
            <a:noFill/>
            <a:ln w="19050">
              <a:solidFill>
                <a:sysClr val="windowText" lastClr="000000"/>
              </a:solidFill>
              <a:round/>
              <a:tailEnd type="triangle" w="med" len="med"/>
            </a:ln>
          </p:spPr>
        </p:cxnSp>
        <p:sp>
          <p:nvSpPr>
            <p:cNvPr id="38" name="矩形 37"/>
            <p:cNvSpPr/>
            <p:nvPr/>
          </p:nvSpPr>
          <p:spPr>
            <a:xfrm>
              <a:off x="3545951" y="5834964"/>
              <a:ext cx="320634" cy="1583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对齐</a:t>
              </a:r>
              <a:endParaRPr kumimoji="0" lang="zh-CN" altLang="en-US" sz="11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endParaRPr>
            </a:p>
          </p:txBody>
        </p:sp>
      </p:grpSp>
      <p:sp>
        <p:nvSpPr>
          <p:cNvPr id="39" name="Text Box 28" descr="蓝色面巾纸"/>
          <p:cNvSpPr txBox="1">
            <a:spLocks noChangeArrowheads="1"/>
          </p:cNvSpPr>
          <p:nvPr>
            <p:custDataLst>
              <p:tags r:id="rId33"/>
            </p:custDataLst>
          </p:nvPr>
        </p:nvSpPr>
        <p:spPr bwMode="auto">
          <a:xfrm>
            <a:off x="4011134" y="2698560"/>
            <a:ext cx="610816" cy="724876"/>
          </a:xfrm>
          <a:prstGeom prst="rect">
            <a:avLst/>
          </a:prstGeom>
          <a:noFill/>
          <a:ln w="9525" algn="ctr">
            <a:solidFill>
              <a:schemeClr val="tx1"/>
            </a:solidFill>
            <a:miter lim="800000"/>
          </a:ln>
        </p:spPr>
        <p:txBody>
          <a:bodyPr anchor="ctr" anchorCtr="1"/>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季度</a:t>
            </a:r>
            <a:r>
              <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PBC</a:t>
            </a: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40" name="矩形 39"/>
          <p:cNvSpPr/>
          <p:nvPr/>
        </p:nvSpPr>
        <p:spPr>
          <a:xfrm>
            <a:off x="4765940" y="5441371"/>
            <a:ext cx="6978389" cy="4220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charset="-122"/>
                <a:ea typeface="微软雅黑" charset="-122"/>
                <a:cs typeface="+mn-cs"/>
              </a:rPr>
              <a:t>对齐：目标对齐、思路对齐、理念对齐</a:t>
            </a:r>
            <a:endParaRPr kumimoji="0" lang="zh-CN" altLang="en-US" sz="1600" b="1" i="0" u="none" strike="noStrike" kern="1200" cap="none" spc="0" normalizeH="0" baseline="0" noProof="0" dirty="0">
              <a:ln>
                <a:noFill/>
              </a:ln>
              <a:solidFill>
                <a:srgbClr val="000000"/>
              </a:solidFill>
              <a:effectLst/>
              <a:uLnTx/>
              <a:uFillTx/>
              <a:latin typeface="微软雅黑" charset="-122"/>
              <a:ea typeface="微软雅黑" charset="-122"/>
              <a:cs typeface="+mn-cs"/>
            </a:endParaRPr>
          </a:p>
        </p:txBody>
      </p:sp>
      <p:sp>
        <p:nvSpPr>
          <p:cNvPr id="41" name="Text Box 28" descr="蓝色面巾纸"/>
          <p:cNvSpPr txBox="1">
            <a:spLocks noChangeArrowheads="1"/>
          </p:cNvSpPr>
          <p:nvPr>
            <p:custDataLst>
              <p:tags r:id="rId34"/>
            </p:custDataLst>
          </p:nvPr>
        </p:nvSpPr>
        <p:spPr bwMode="auto">
          <a:xfrm>
            <a:off x="2983961" y="3809135"/>
            <a:ext cx="1737032" cy="842464"/>
          </a:xfrm>
          <a:prstGeom prst="rect">
            <a:avLst/>
          </a:prstGeom>
          <a:noFill/>
          <a:ln w="12700" algn="ctr">
            <a:solidFill>
              <a:schemeClr val="tx1"/>
            </a:solidFill>
            <a:prstDash val="dash"/>
            <a:miter lim="800000"/>
          </a:ln>
        </p:spPr>
        <p:txBody>
          <a:bodyPr vert="wordArtVertRtl" lIns="1440000" anchor="ctr" anchorCtr="1"/>
          <a:lstStyle/>
          <a:p>
            <a:pPr marL="0" marR="0" lvl="0" indent="0" algn="r" defTabSz="801370" rtl="0" eaLnBrk="1" fontAlgn="auto" latinLnBrk="0" hangingPunct="1">
              <a:lnSpc>
                <a:spcPct val="100000"/>
              </a:lnSpc>
              <a:spcBef>
                <a:spcPts val="0"/>
              </a:spcBef>
              <a:spcAft>
                <a:spcPts val="0"/>
              </a:spcAft>
              <a:buClrTx/>
              <a:buSzTx/>
              <a:buFontTx/>
              <a:buNone/>
              <a:defRPr/>
            </a:pP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42" name="Text Box 28" descr="蓝色面巾纸"/>
          <p:cNvSpPr txBox="1">
            <a:spLocks noChangeArrowheads="1"/>
          </p:cNvSpPr>
          <p:nvPr>
            <p:custDataLst>
              <p:tags r:id="rId35"/>
            </p:custDataLst>
          </p:nvPr>
        </p:nvSpPr>
        <p:spPr bwMode="auto">
          <a:xfrm>
            <a:off x="3079709" y="3877358"/>
            <a:ext cx="600358" cy="724876"/>
          </a:xfrm>
          <a:prstGeom prst="rect">
            <a:avLst/>
          </a:prstGeom>
          <a:noFill/>
          <a:ln w="9525" algn="ctr">
            <a:solidFill>
              <a:schemeClr val="tx1"/>
            </a:solidFill>
            <a:miter lim="800000"/>
          </a:ln>
        </p:spPr>
        <p:txBody>
          <a:bodyPr anchor="ctr" anchorCtr="1"/>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月度工作任务</a:t>
            </a:r>
            <a:endParaRPr kumimoji="0" lang="en-US" altLang="zh-CN" sz="14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43" name="Text Box 28" descr="蓝色面巾纸"/>
          <p:cNvSpPr txBox="1">
            <a:spLocks noChangeArrowheads="1"/>
          </p:cNvSpPr>
          <p:nvPr>
            <p:custDataLst>
              <p:tags r:id="rId36"/>
            </p:custDataLst>
          </p:nvPr>
        </p:nvSpPr>
        <p:spPr bwMode="auto">
          <a:xfrm>
            <a:off x="4002080" y="3870217"/>
            <a:ext cx="610816" cy="724876"/>
          </a:xfrm>
          <a:prstGeom prst="rect">
            <a:avLst/>
          </a:prstGeom>
          <a:noFill/>
          <a:ln w="9525" algn="ctr">
            <a:solidFill>
              <a:schemeClr val="tx1"/>
            </a:solidFill>
            <a:miter lim="800000"/>
          </a:ln>
        </p:spPr>
        <p:txBody>
          <a:bodyPr anchor="ctr" anchorCtr="1"/>
          <a:lstStyle/>
          <a:p>
            <a:pPr marL="0" marR="0" lvl="0" indent="0" algn="ctr" defTabSz="80137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季度</a:t>
            </a:r>
            <a:r>
              <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PBC</a:t>
            </a:r>
            <a:endParaRPr kumimoji="0" lang="en-US" altLang="zh-CN" sz="14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cxnSp>
        <p:nvCxnSpPr>
          <p:cNvPr id="44" name="AutoShape 32"/>
          <p:cNvCxnSpPr>
            <a:cxnSpLocks noChangeShapeType="1"/>
          </p:cNvCxnSpPr>
          <p:nvPr>
            <p:custDataLst>
              <p:tags r:id="rId37"/>
            </p:custDataLst>
          </p:nvPr>
        </p:nvCxnSpPr>
        <p:spPr bwMode="auto">
          <a:xfrm>
            <a:off x="3735803" y="4215005"/>
            <a:ext cx="228482" cy="88"/>
          </a:xfrm>
          <a:prstGeom prst="straightConnector1">
            <a:avLst/>
          </a:prstGeom>
          <a:noFill/>
          <a:ln w="19050">
            <a:solidFill>
              <a:sysClr val="windowText" lastClr="000000"/>
            </a:solidFill>
            <a:round/>
            <a:tailEnd type="triangle" w="med" len="med"/>
          </a:ln>
        </p:spPr>
      </p:cxnSp>
      <p:cxnSp>
        <p:nvCxnSpPr>
          <p:cNvPr id="45" name="AutoShape 32"/>
          <p:cNvCxnSpPr>
            <a:cxnSpLocks noChangeShapeType="1"/>
          </p:cNvCxnSpPr>
          <p:nvPr>
            <p:custDataLst>
              <p:tags r:id="rId38"/>
            </p:custDataLst>
          </p:nvPr>
        </p:nvCxnSpPr>
        <p:spPr bwMode="auto">
          <a:xfrm>
            <a:off x="3726019" y="3057482"/>
            <a:ext cx="223465" cy="88"/>
          </a:xfrm>
          <a:prstGeom prst="straightConnector1">
            <a:avLst/>
          </a:prstGeom>
          <a:noFill/>
          <a:ln w="19050">
            <a:solidFill>
              <a:sysClr val="windowText" lastClr="000000"/>
            </a:solidFill>
            <a:roun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08400" y="468700"/>
            <a:ext cx="10969200" cy="705600"/>
          </a:xfrm>
        </p:spPr>
        <p:txBody>
          <a:bodyPr>
            <a:normAutofit/>
          </a:bodyPr>
          <a:lstStyle/>
          <a:p>
            <a:r>
              <a:rPr lang="zh-CN" altLang="en-US" dirty="0"/>
              <a:t>绩效管理体系</a:t>
            </a:r>
            <a:r>
              <a:rPr lang="en-US" altLang="zh-CN" dirty="0"/>
              <a:t>-</a:t>
            </a:r>
            <a:r>
              <a:rPr lang="zh-CN" altLang="en-US" dirty="0"/>
              <a:t>组织绩效和个人绩效</a:t>
            </a:r>
            <a:r>
              <a:rPr lang="en-US" altLang="zh-CN" dirty="0"/>
              <a:t>PBC</a:t>
            </a:r>
            <a:endParaRPr lang="zh-CN" altLang="en-US"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sp>
        <p:nvSpPr>
          <p:cNvPr id="2" name="矩形: 圆角 1"/>
          <p:cNvSpPr/>
          <p:nvPr/>
        </p:nvSpPr>
        <p:spPr>
          <a:xfrm>
            <a:off x="1876764" y="5307725"/>
            <a:ext cx="881068" cy="111369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27769F"/>
                </a:solidFill>
                <a:effectLst/>
                <a:uLnTx/>
                <a:uFillTx/>
                <a:latin typeface="Arial" panose="020B0604020202090204"/>
                <a:ea typeface="微软雅黑" charset="-122"/>
                <a:cs typeface="+mn-cs"/>
              </a:rPr>
              <a:t>矩阵式考核管理原则</a:t>
            </a:r>
            <a:endParaRPr kumimoji="0" lang="zh-CN" altLang="en-US" sz="1600" b="1" i="0" u="none" strike="noStrike" kern="1200" cap="none" spc="0" normalizeH="0" baseline="0" noProof="0" dirty="0">
              <a:ln>
                <a:noFill/>
              </a:ln>
              <a:solidFill>
                <a:srgbClr val="27769F"/>
              </a:solidFill>
              <a:effectLst/>
              <a:uLnTx/>
              <a:uFillTx/>
              <a:latin typeface="Arial" panose="020B0604020202090204"/>
              <a:ea typeface="微软雅黑" charset="-122"/>
              <a:cs typeface="+mn-cs"/>
            </a:endParaRPr>
          </a:p>
        </p:txBody>
      </p:sp>
      <p:cxnSp>
        <p:nvCxnSpPr>
          <p:cNvPr id="46" name="直接连接符 45"/>
          <p:cNvCxnSpPr/>
          <p:nvPr/>
        </p:nvCxnSpPr>
        <p:spPr>
          <a:xfrm flipH="1">
            <a:off x="445625" y="4864125"/>
            <a:ext cx="1120429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2719890" y="4982793"/>
            <a:ext cx="3657599" cy="17086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defRPr/>
            </a:pPr>
            <a:r>
              <a:rPr kumimoji="0" lang="zh-CN" altLang="en-US" sz="1200" b="1" i="0" u="none" strike="noStrike" kern="1200" cap="none" spc="0" normalizeH="0" baseline="0" noProof="0" dirty="0">
                <a:ln>
                  <a:noFill/>
                </a:ln>
                <a:solidFill>
                  <a:srgbClr val="000000"/>
                </a:solidFill>
                <a:effectLst/>
                <a:uLnTx/>
                <a:uFillTx/>
                <a:latin typeface="微软雅黑" charset="-122"/>
                <a:ea typeface="微软雅黑" charset="-122"/>
                <a:cs typeface="+mn-cs"/>
              </a:rPr>
              <a:t>适用对象：</a:t>
            </a:r>
            <a:endParaRPr kumimoji="0" lang="en-US" altLang="zh-CN" sz="1200" b="1" i="0" u="none" strike="noStrike" kern="1200" cap="none" spc="0" normalizeH="0" baseline="0" noProof="0" dirty="0">
              <a:ln>
                <a:noFill/>
              </a:ln>
              <a:solidFill>
                <a:srgbClr val="000000"/>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派出支持项目的技术人员</a:t>
            </a:r>
            <a:endPar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defRPr/>
            </a:pPr>
            <a:r>
              <a:rPr kumimoji="0" lang="zh-CN" altLang="en-US" sz="1200" b="1" i="0" u="none" strike="noStrike" kern="1200" cap="none" spc="0" normalizeH="0" baseline="0" noProof="0" dirty="0">
                <a:ln>
                  <a:noFill/>
                </a:ln>
                <a:solidFill>
                  <a:srgbClr val="000000"/>
                </a:solidFill>
                <a:effectLst/>
                <a:uLnTx/>
                <a:uFillTx/>
                <a:latin typeface="微软雅黑" charset="-122"/>
                <a:ea typeface="微软雅黑" charset="-122"/>
                <a:cs typeface="+mn-cs"/>
              </a:rPr>
              <a:t>管理原则：</a:t>
            </a:r>
            <a:endParaRPr kumimoji="0" lang="en-US" altLang="zh-CN" sz="1200" b="1" i="0" u="none" strike="noStrike" kern="1200" cap="none" spc="0" normalizeH="0" baseline="0" noProof="0" dirty="0">
              <a:ln>
                <a:noFill/>
              </a:ln>
              <a:solidFill>
                <a:srgbClr val="000000"/>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参与矩阵式管理的人员派出部门与派驻部门负责人均享有对员工的考核权限，</a:t>
            </a:r>
            <a:r>
              <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rPr>
              <a:t>KPI</a:t>
            </a: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与重点工作由派驻部门直接上级评价，个人能力提升类指标由派出部门直接上级评价，其中个人能力提升类指标，来源于个人</a:t>
            </a:r>
            <a:r>
              <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rPr>
              <a:t>IDP</a:t>
            </a: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及派出部门部门级能力提升要求</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p:txBody>
      </p:sp>
      <p:sp>
        <p:nvSpPr>
          <p:cNvPr id="48" name="矩形: 圆角 47"/>
          <p:cNvSpPr/>
          <p:nvPr/>
        </p:nvSpPr>
        <p:spPr>
          <a:xfrm>
            <a:off x="6377489" y="5226065"/>
            <a:ext cx="1001562" cy="12770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27769F"/>
                </a:solidFill>
                <a:effectLst/>
                <a:uLnTx/>
                <a:uFillTx/>
                <a:latin typeface="Arial" panose="020B0604020202090204"/>
                <a:ea typeface="微软雅黑" charset="-122"/>
                <a:cs typeface="+mn-cs"/>
              </a:rPr>
              <a:t>月度检视说明</a:t>
            </a:r>
            <a:endParaRPr kumimoji="0" lang="zh-CN" altLang="en-US" sz="1600" b="1" i="0" u="none" strike="noStrike" kern="1200" cap="none" spc="0" normalizeH="0" baseline="0" noProof="0" dirty="0">
              <a:ln>
                <a:noFill/>
              </a:ln>
              <a:solidFill>
                <a:srgbClr val="27769F"/>
              </a:solidFill>
              <a:effectLst/>
              <a:uLnTx/>
              <a:uFillTx/>
              <a:latin typeface="Arial" panose="020B0604020202090204"/>
              <a:ea typeface="微软雅黑" charset="-122"/>
              <a:cs typeface="+mn-cs"/>
            </a:endParaRPr>
          </a:p>
        </p:txBody>
      </p:sp>
      <p:sp>
        <p:nvSpPr>
          <p:cNvPr id="49" name="矩形 48"/>
          <p:cNvSpPr/>
          <p:nvPr/>
        </p:nvSpPr>
        <p:spPr>
          <a:xfrm>
            <a:off x="7299527" y="4974526"/>
            <a:ext cx="3957020" cy="17099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defRPr/>
            </a:pPr>
            <a:r>
              <a:rPr kumimoji="0" lang="zh-CN" altLang="en-US" sz="1200" b="1" i="0" u="none" strike="noStrike" kern="1200" cap="none" spc="0" normalizeH="0" baseline="0" noProof="0" dirty="0">
                <a:ln>
                  <a:noFill/>
                </a:ln>
                <a:solidFill>
                  <a:srgbClr val="000000"/>
                </a:solidFill>
                <a:effectLst/>
                <a:uLnTx/>
                <a:uFillTx/>
                <a:latin typeface="微软雅黑" charset="-122"/>
                <a:ea typeface="微软雅黑" charset="-122"/>
                <a:cs typeface="+mn-cs"/>
              </a:rPr>
              <a:t>月度检视目的：</a:t>
            </a:r>
            <a:endParaRPr kumimoji="0" lang="en-US" altLang="zh-CN" sz="1200" b="1" i="0" u="none" strike="noStrike" kern="1200" cap="none" spc="0" normalizeH="0" baseline="0" noProof="0" dirty="0">
              <a:ln>
                <a:noFill/>
              </a:ln>
              <a:solidFill>
                <a:srgbClr val="000000"/>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仅用于帮助各层级管理干部实施绩效目标的过程管理，不进行量化考核</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defRPr/>
            </a:pPr>
            <a:r>
              <a:rPr kumimoji="0" lang="zh-CN" altLang="en-US" sz="1200" b="1" i="0" u="none" strike="noStrike" kern="1200" cap="none" spc="0" normalizeH="0" baseline="0" noProof="0" dirty="0">
                <a:ln>
                  <a:noFill/>
                </a:ln>
                <a:solidFill>
                  <a:srgbClr val="000000"/>
                </a:solidFill>
                <a:effectLst/>
                <a:uLnTx/>
                <a:uFillTx/>
                <a:latin typeface="微软雅黑" charset="-122"/>
                <a:ea typeface="微软雅黑" charset="-122"/>
                <a:cs typeface="+mn-cs"/>
              </a:rPr>
              <a:t>月度检视具体操作：</a:t>
            </a:r>
            <a:endParaRPr kumimoji="0" lang="en-US" altLang="zh-CN" sz="1200" b="1" i="0" u="none" strike="noStrike" kern="1200" cap="none" spc="0" normalizeH="0" baseline="0" noProof="0" dirty="0">
              <a:ln>
                <a:noFill/>
              </a:ln>
              <a:solidFill>
                <a:srgbClr val="000000"/>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月度检视时直接上级需要对下属该月度工作进行定性（</a:t>
            </a:r>
            <a:r>
              <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rPr>
              <a:t>ABCD</a:t>
            </a: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级）的评价并及时向员工进行绩效反馈沟通</a:t>
            </a:r>
            <a:endPar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defRPr/>
            </a:pPr>
            <a:r>
              <a:rPr kumimoji="0" lang="zh-CN" altLang="en-US" sz="1200" b="1" i="0" u="none" strike="noStrike" kern="1200" cap="none" spc="0" normalizeH="0" baseline="0" noProof="0" dirty="0">
                <a:ln>
                  <a:noFill/>
                </a:ln>
                <a:solidFill>
                  <a:srgbClr val="000000"/>
                </a:solidFill>
                <a:effectLst/>
                <a:uLnTx/>
                <a:uFillTx/>
                <a:latin typeface="微软雅黑" charset="-122"/>
                <a:ea typeface="微软雅黑" charset="-122"/>
                <a:cs typeface="+mn-cs"/>
              </a:rPr>
              <a:t>月度检视结果运用：</a:t>
            </a:r>
            <a:endParaRPr kumimoji="0" lang="en-US" altLang="zh-CN" sz="1200" b="1" i="0" u="none" strike="noStrike" kern="1200" cap="none" spc="0" normalizeH="0" baseline="0" noProof="0" dirty="0">
              <a:ln>
                <a:noFill/>
              </a:ln>
              <a:solidFill>
                <a:srgbClr val="000000"/>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可用于干部考察、新员工试用期考核、季度考核、员工评优评级、员工综合评价等作为参考依据</a:t>
            </a:r>
            <a:endPar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p:txBody>
      </p:sp>
      <p:sp>
        <p:nvSpPr>
          <p:cNvPr id="50" name="矩形: 圆角 49"/>
          <p:cNvSpPr/>
          <p:nvPr/>
        </p:nvSpPr>
        <p:spPr>
          <a:xfrm>
            <a:off x="985819" y="4797622"/>
            <a:ext cx="692006" cy="181402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Arial" panose="020B0604020202090204"/>
                <a:ea typeface="微软雅黑" charset="-122"/>
                <a:cs typeface="+mn-cs"/>
              </a:rPr>
              <a:t>补充说明</a:t>
            </a:r>
            <a:endParaRPr kumimoji="0" lang="zh-CN" altLang="en-US" sz="1800" b="1"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pic>
        <p:nvPicPr>
          <p:cNvPr id="51" name="图形 50" descr="靶心 纯色填充"/>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6144" y="5473458"/>
            <a:ext cx="462351" cy="462351"/>
          </a:xfrm>
          <a:prstGeom prst="rect">
            <a:avLst/>
          </a:prstGeom>
        </p:spPr>
      </p:pic>
      <p:sp>
        <p:nvSpPr>
          <p:cNvPr id="52" name="矩形: 圆角 51"/>
          <p:cNvSpPr/>
          <p:nvPr/>
        </p:nvSpPr>
        <p:spPr>
          <a:xfrm>
            <a:off x="993268" y="1783453"/>
            <a:ext cx="692006" cy="181402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Arial" panose="020B0604020202090204"/>
                <a:ea typeface="微软雅黑" charset="-122"/>
                <a:cs typeface="+mn-cs"/>
              </a:rPr>
              <a:t>组织绩效与个人绩效</a:t>
            </a:r>
            <a:endParaRPr kumimoji="0" lang="zh-CN" altLang="en-US" sz="1800" b="1"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pic>
        <p:nvPicPr>
          <p:cNvPr id="53" name="图形 52" descr="靶心 纯色填充"/>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6144" y="2476255"/>
            <a:ext cx="462351" cy="462351"/>
          </a:xfrm>
          <a:prstGeom prst="rect">
            <a:avLst/>
          </a:prstGeom>
        </p:spPr>
      </p:pic>
      <p:sp>
        <p:nvSpPr>
          <p:cNvPr id="54" name="AutoShape 6"/>
          <p:cNvSpPr>
            <a:spLocks noChangeArrowheads="1"/>
          </p:cNvSpPr>
          <p:nvPr/>
        </p:nvSpPr>
        <p:spPr bwMode="auto">
          <a:xfrm>
            <a:off x="2035747" y="1139366"/>
            <a:ext cx="1995186" cy="355558"/>
          </a:xfrm>
          <a:prstGeom prst="flowChartAlternateProcess">
            <a:avLst/>
          </a:prstGeom>
          <a:solidFill>
            <a:schemeClr val="accent3">
              <a:lumMod val="75000"/>
            </a:schemeClr>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charset="-122"/>
                <a:cs typeface="+mn-ea"/>
                <a:sym typeface="+mn-lt"/>
              </a:rPr>
              <a:t>战略解码</a:t>
            </a: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charset="-122"/>
              <a:cs typeface="+mn-ea"/>
              <a:sym typeface="+mn-lt"/>
            </a:endParaRPr>
          </a:p>
        </p:txBody>
      </p:sp>
      <p:sp>
        <p:nvSpPr>
          <p:cNvPr id="55" name="矩形: 圆角 54"/>
          <p:cNvSpPr/>
          <p:nvPr/>
        </p:nvSpPr>
        <p:spPr>
          <a:xfrm>
            <a:off x="2034649" y="1945247"/>
            <a:ext cx="1995186" cy="33523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rPr>
              <a:t>战略性指标</a:t>
            </a:r>
            <a:endPar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endParaRPr>
          </a:p>
        </p:txBody>
      </p:sp>
      <p:sp>
        <p:nvSpPr>
          <p:cNvPr id="56" name="Rectangle 4"/>
          <p:cNvSpPr>
            <a:spLocks noChangeArrowheads="1"/>
          </p:cNvSpPr>
          <p:nvPr/>
        </p:nvSpPr>
        <p:spPr bwMode="auto">
          <a:xfrm>
            <a:off x="7850778" y="1072276"/>
            <a:ext cx="3481954" cy="3572333"/>
          </a:xfrm>
          <a:prstGeom prst="rect">
            <a:avLst/>
          </a:prstGeom>
          <a:noFill/>
          <a:ln w="952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Arial" panose="020B0604020202090204"/>
              <a:ea typeface="微软雅黑" charset="-122"/>
              <a:cs typeface="+mn-ea"/>
              <a:sym typeface="+mn-lt"/>
            </a:endParaRPr>
          </a:p>
        </p:txBody>
      </p:sp>
      <p:sp>
        <p:nvSpPr>
          <p:cNvPr id="57" name="文本框 56"/>
          <p:cNvSpPr txBox="1"/>
          <p:nvPr/>
        </p:nvSpPr>
        <p:spPr>
          <a:xfrm>
            <a:off x="8103693" y="1072276"/>
            <a:ext cx="294489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rPr>
              <a:t>组织职责</a:t>
            </a:r>
            <a:r>
              <a:rPr kumimoji="0" lang="en-US" altLang="zh-CN"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rPr>
              <a:t>+</a:t>
            </a:r>
            <a:r>
              <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rPr>
              <a:t>业务流程</a:t>
            </a:r>
            <a:endPar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endParaRPr>
          </a:p>
        </p:txBody>
      </p:sp>
      <p:sp>
        <p:nvSpPr>
          <p:cNvPr id="58" name="箭头: 右 57"/>
          <p:cNvSpPr/>
          <p:nvPr/>
        </p:nvSpPr>
        <p:spPr>
          <a:xfrm rot="10800000">
            <a:off x="7475515" y="1945247"/>
            <a:ext cx="261407" cy="350520"/>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90204"/>
              <a:ea typeface="微软雅黑" charset="-122"/>
              <a:cs typeface="+mn-ea"/>
              <a:sym typeface="+mn-lt"/>
            </a:endParaRPr>
          </a:p>
        </p:txBody>
      </p:sp>
      <p:sp>
        <p:nvSpPr>
          <p:cNvPr id="59" name="矩形: 圆角 58"/>
          <p:cNvSpPr/>
          <p:nvPr/>
        </p:nvSpPr>
        <p:spPr>
          <a:xfrm>
            <a:off x="4729843" y="1945247"/>
            <a:ext cx="2621869" cy="35052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rPr>
              <a:t>组织职责及流程性指标</a:t>
            </a:r>
            <a:endPar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endParaRPr>
          </a:p>
        </p:txBody>
      </p:sp>
      <p:sp>
        <p:nvSpPr>
          <p:cNvPr id="60" name="加号 59"/>
          <p:cNvSpPr/>
          <p:nvPr/>
        </p:nvSpPr>
        <p:spPr>
          <a:xfrm>
            <a:off x="4153638" y="1900223"/>
            <a:ext cx="452401" cy="479846"/>
          </a:xfrm>
          <a:prstGeom prst="mathPlus">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90204"/>
              <a:ea typeface="微软雅黑" charset="-122"/>
              <a:cs typeface="+mn-ea"/>
              <a:sym typeface="+mn-lt"/>
            </a:endParaRPr>
          </a:p>
        </p:txBody>
      </p:sp>
      <p:sp>
        <p:nvSpPr>
          <p:cNvPr id="61" name="箭头: 下 60"/>
          <p:cNvSpPr/>
          <p:nvPr/>
        </p:nvSpPr>
        <p:spPr>
          <a:xfrm>
            <a:off x="3683177" y="2452227"/>
            <a:ext cx="1402939" cy="220626"/>
          </a:xfrm>
          <a:prstGeom prst="downArrow">
            <a:avLst/>
          </a:prstGeom>
          <a:solidFill>
            <a:srgbClr val="27769F"/>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90204"/>
              <a:ea typeface="微软雅黑" charset="-122"/>
              <a:cs typeface="+mn-ea"/>
              <a:sym typeface="+mn-lt"/>
            </a:endParaRPr>
          </a:p>
        </p:txBody>
      </p:sp>
      <p:sp>
        <p:nvSpPr>
          <p:cNvPr id="62" name="矩形: 圆角 61"/>
          <p:cNvSpPr/>
          <p:nvPr/>
        </p:nvSpPr>
        <p:spPr>
          <a:xfrm>
            <a:off x="3292959" y="2752726"/>
            <a:ext cx="2125980" cy="350522"/>
          </a:xfrm>
          <a:prstGeom prst="roundRect">
            <a:avLst/>
          </a:prstGeom>
          <a:solidFill>
            <a:schemeClr val="accent3">
              <a:lumMod val="75000"/>
            </a:schemeClr>
          </a:solidFill>
          <a:ln w="9525" algn="ctr">
            <a:solidFill>
              <a:schemeClr val="tx1"/>
            </a:solidFill>
            <a:miter lim="800000"/>
          </a:ln>
        </p:spPr>
        <p:txBody>
          <a:bodyPr wrap="none" anchor="ct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charset="-122"/>
                <a:cs typeface="+mn-ea"/>
                <a:sym typeface="+mn-lt"/>
              </a:rPr>
              <a:t>部门绩效考核指标</a:t>
            </a: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charset="-122"/>
              <a:cs typeface="+mn-ea"/>
              <a:sym typeface="+mn-lt"/>
            </a:endParaRPr>
          </a:p>
        </p:txBody>
      </p:sp>
      <p:sp>
        <p:nvSpPr>
          <p:cNvPr id="63" name="矩形: 圆角 62"/>
          <p:cNvSpPr/>
          <p:nvPr/>
        </p:nvSpPr>
        <p:spPr>
          <a:xfrm>
            <a:off x="4030933" y="4399434"/>
            <a:ext cx="2125980" cy="347032"/>
          </a:xfrm>
          <a:prstGeom prst="roundRect">
            <a:avLst/>
          </a:prstGeom>
          <a:solidFill>
            <a:schemeClr val="accent3">
              <a:lumMod val="75000"/>
            </a:schemeClr>
          </a:solidFill>
          <a:ln w="9525" algn="ctr">
            <a:solidFill>
              <a:schemeClr val="tx1"/>
            </a:solidFill>
            <a:miter lim="800000"/>
          </a:ln>
        </p:spPr>
        <p:txBody>
          <a:bodyPr wrap="none" anchor="ct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charset="-122"/>
                <a:cs typeface="+mn-ea"/>
                <a:sym typeface="+mn-lt"/>
              </a:rPr>
              <a:t>员工绩效考核指标</a:t>
            </a: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charset="-122"/>
              <a:cs typeface="+mn-ea"/>
              <a:sym typeface="+mn-lt"/>
            </a:endParaRPr>
          </a:p>
        </p:txBody>
      </p:sp>
      <p:sp>
        <p:nvSpPr>
          <p:cNvPr id="64" name="箭头: 下 63"/>
          <p:cNvSpPr/>
          <p:nvPr/>
        </p:nvSpPr>
        <p:spPr>
          <a:xfrm>
            <a:off x="2872222" y="1606547"/>
            <a:ext cx="320040" cy="235766"/>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90204"/>
              <a:ea typeface="微软雅黑" charset="-122"/>
              <a:cs typeface="+mn-ea"/>
              <a:sym typeface="+mn-lt"/>
            </a:endParaRPr>
          </a:p>
        </p:txBody>
      </p:sp>
      <p:sp>
        <p:nvSpPr>
          <p:cNvPr id="65" name="文本框 64"/>
          <p:cNvSpPr txBox="1"/>
          <p:nvPr/>
        </p:nvSpPr>
        <p:spPr>
          <a:xfrm>
            <a:off x="2011172" y="3270565"/>
            <a:ext cx="2756854" cy="715089"/>
          </a:xfrm>
          <a:prstGeom prst="round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rPr>
              <a:t>根据岗位确认员工工作对上级组织绩效的承接</a:t>
            </a:r>
            <a:endPar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endParaRPr>
          </a:p>
        </p:txBody>
      </p:sp>
      <p:sp>
        <p:nvSpPr>
          <p:cNvPr id="66" name="文本框 65"/>
          <p:cNvSpPr txBox="1"/>
          <p:nvPr/>
        </p:nvSpPr>
        <p:spPr>
          <a:xfrm>
            <a:off x="5506286" y="3270564"/>
            <a:ext cx="2125980" cy="715089"/>
          </a:xfrm>
          <a:prstGeom prst="round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rPr>
              <a:t>个人提升目标及计划</a:t>
            </a:r>
            <a:endParaRPr kumimoji="0" lang="zh-CN" altLang="en-US" sz="1800" b="0" i="0" u="none" strike="noStrike" kern="1200" cap="none" spc="0" normalizeH="0" baseline="0" noProof="0" dirty="0">
              <a:ln>
                <a:noFill/>
              </a:ln>
              <a:solidFill>
                <a:srgbClr val="000000"/>
              </a:solidFill>
              <a:effectLst/>
              <a:uLnTx/>
              <a:uFillTx/>
              <a:latin typeface="Arial" panose="020B0604020202090204"/>
              <a:ea typeface="微软雅黑" charset="-122"/>
              <a:cs typeface="+mn-ea"/>
              <a:sym typeface="+mn-lt"/>
            </a:endParaRPr>
          </a:p>
        </p:txBody>
      </p:sp>
      <p:sp>
        <p:nvSpPr>
          <p:cNvPr id="67" name="加号 66"/>
          <p:cNvSpPr/>
          <p:nvPr/>
        </p:nvSpPr>
        <p:spPr>
          <a:xfrm>
            <a:off x="4881882" y="3429000"/>
            <a:ext cx="467588" cy="436399"/>
          </a:xfrm>
          <a:prstGeom prst="mathPlus">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90204"/>
              <a:ea typeface="微软雅黑" charset="-122"/>
              <a:cs typeface="+mn-ea"/>
              <a:sym typeface="+mn-lt"/>
            </a:endParaRPr>
          </a:p>
        </p:txBody>
      </p:sp>
      <p:sp>
        <p:nvSpPr>
          <p:cNvPr id="68" name="箭头: 圆角右 67"/>
          <p:cNvSpPr/>
          <p:nvPr/>
        </p:nvSpPr>
        <p:spPr>
          <a:xfrm rot="5400000" flipV="1">
            <a:off x="2748632" y="2742340"/>
            <a:ext cx="401743" cy="537048"/>
          </a:xfrm>
          <a:prstGeom prst="ben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90204"/>
              <a:ea typeface="微软雅黑" charset="-122"/>
              <a:cs typeface="+mn-cs"/>
            </a:endParaRPr>
          </a:p>
        </p:txBody>
      </p:sp>
      <p:sp>
        <p:nvSpPr>
          <p:cNvPr id="69" name="箭头: 下 68"/>
          <p:cNvSpPr/>
          <p:nvPr/>
        </p:nvSpPr>
        <p:spPr>
          <a:xfrm>
            <a:off x="4392454" y="4093331"/>
            <a:ext cx="1402939" cy="197015"/>
          </a:xfrm>
          <a:prstGeom prst="downArrow">
            <a:avLst/>
          </a:prstGeom>
          <a:solidFill>
            <a:srgbClr val="27769F"/>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90204"/>
              <a:ea typeface="微软雅黑" charset="-122"/>
              <a:cs typeface="+mn-ea"/>
              <a:sym typeface="+mn-lt"/>
            </a:endParaRPr>
          </a:p>
        </p:txBody>
      </p:sp>
      <p:pic>
        <p:nvPicPr>
          <p:cNvPr id="70" name="图片 69"/>
          <p:cNvPicPr>
            <a:picLocks noChangeAspect="1"/>
          </p:cNvPicPr>
          <p:nvPr/>
        </p:nvPicPr>
        <p:blipFill>
          <a:blip r:embed="rId3"/>
          <a:stretch>
            <a:fillRect/>
          </a:stretch>
        </p:blipFill>
        <p:spPr>
          <a:xfrm>
            <a:off x="7874250" y="1405525"/>
            <a:ext cx="3404334" cy="1459964"/>
          </a:xfrm>
          <a:prstGeom prst="rect">
            <a:avLst/>
          </a:prstGeom>
        </p:spPr>
      </p:pic>
      <p:pic>
        <p:nvPicPr>
          <p:cNvPr id="71" name="图片 70"/>
          <p:cNvPicPr>
            <a:picLocks noChangeAspect="1"/>
          </p:cNvPicPr>
          <p:nvPr/>
        </p:nvPicPr>
        <p:blipFill>
          <a:blip r:embed="rId4"/>
          <a:stretch>
            <a:fillRect/>
          </a:stretch>
        </p:blipFill>
        <p:spPr>
          <a:xfrm>
            <a:off x="7921194" y="2870523"/>
            <a:ext cx="3336606" cy="16841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绩效管理体系</a:t>
            </a:r>
            <a:r>
              <a:rPr lang="en-US" altLang="zh-CN" dirty="0"/>
              <a:t>-</a:t>
            </a:r>
            <a:r>
              <a:rPr lang="zh-CN" altLang="en-US" dirty="0"/>
              <a:t>绩效评价</a:t>
            </a:r>
            <a:endParaRPr lang="zh-CN" altLang="en-US"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graphicFrame>
        <p:nvGraphicFramePr>
          <p:cNvPr id="3" name="表格 6"/>
          <p:cNvGraphicFramePr>
            <a:graphicFrameLocks noGrp="1"/>
          </p:cNvGraphicFramePr>
          <p:nvPr>
            <p:custDataLst>
              <p:tags r:id="rId1"/>
            </p:custDataLst>
          </p:nvPr>
        </p:nvGraphicFramePr>
        <p:xfrm>
          <a:off x="748183" y="1340132"/>
          <a:ext cx="10394668" cy="4177735"/>
        </p:xfrm>
        <a:graphic>
          <a:graphicData uri="http://schemas.openxmlformats.org/drawingml/2006/table">
            <a:tbl>
              <a:tblPr firstRow="1">
                <a:tableStyleId>{1E171933-4619-4E11-9A3F-F7608DF75F80}</a:tableStyleId>
              </a:tblPr>
              <a:tblGrid>
                <a:gridCol w="496698"/>
                <a:gridCol w="1198170"/>
                <a:gridCol w="1022330"/>
                <a:gridCol w="1022330"/>
                <a:gridCol w="926247"/>
                <a:gridCol w="1242279"/>
                <a:gridCol w="4486614"/>
              </a:tblGrid>
              <a:tr h="936947">
                <a:tc gridSpan="2">
                  <a:txBody>
                    <a:bodyPr/>
                    <a:lstStyle/>
                    <a:p>
                      <a:pPr algn="ctr">
                        <a:buNone/>
                      </a:pPr>
                      <a:r>
                        <a:rPr lang="zh-CN" altLang="en-US" sz="1600" dirty="0">
                          <a:latin typeface="+mn-ea"/>
                          <a:ea typeface="+mn-ea"/>
                        </a:rPr>
                        <a:t>岗位名称</a:t>
                      </a:r>
                      <a:endParaRPr lang="zh-CN" altLang="en-US" sz="16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hMerge="1">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latin typeface="+mn-ea"/>
                          <a:ea typeface="+mn-ea"/>
                        </a:rPr>
                        <a:t>绩效目标</a:t>
                      </a:r>
                      <a:endParaRPr lang="zh-CN" altLang="en-US" sz="16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latin typeface="+mn-ea"/>
                          <a:ea typeface="+mn-ea"/>
                        </a:rPr>
                        <a:t>考评主体</a:t>
                      </a:r>
                      <a:endParaRPr lang="zh-CN" altLang="en-US" sz="16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latin typeface="+mn-ea"/>
                          <a:ea typeface="+mn-ea"/>
                        </a:rPr>
                        <a:t>考核周期</a:t>
                      </a:r>
                      <a:endParaRPr lang="zh-CN" altLang="en-US" sz="16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latin typeface="+mn-ea"/>
                          <a:ea typeface="+mn-ea"/>
                        </a:rPr>
                        <a:t>考评方式</a:t>
                      </a:r>
                      <a:endParaRPr lang="zh-CN" altLang="en-US" sz="16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p>
                      <a:pPr algn="ctr">
                        <a:spcBef>
                          <a:spcPts val="0"/>
                        </a:spcBef>
                        <a:spcAft>
                          <a:spcPts val="0"/>
                        </a:spcAft>
                        <a:buClrTx/>
                        <a:buSzTx/>
                        <a:buFontTx/>
                        <a:buNone/>
                        <a:defRPr/>
                      </a:pPr>
                      <a:r>
                        <a:rPr lang="zh-CN" altLang="en-US" sz="1600" dirty="0">
                          <a:latin typeface="+mn-ea"/>
                          <a:ea typeface="+mn-ea"/>
                        </a:rPr>
                        <a:t>考核计分方式</a:t>
                      </a:r>
                      <a:endParaRPr lang="zh-CN" altLang="en-US" sz="16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r>
              <a:tr h="677513">
                <a:tc rowSpan="3">
                  <a:txBody>
                    <a:bodyPr/>
                    <a:lstStyle/>
                    <a:p>
                      <a:pPr algn="ctr">
                        <a:buNone/>
                      </a:pPr>
                      <a:r>
                        <a:rPr lang="zh-CN" altLang="en-US" sz="1200" dirty="0">
                          <a:latin typeface="+mn-ea"/>
                          <a:ea typeface="+mn-ea"/>
                          <a:sym typeface="+mn-ea"/>
                        </a:rPr>
                        <a:t>管理干部</a:t>
                      </a:r>
                      <a:endParaRPr lang="zh-CN"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1200" dirty="0">
                          <a:latin typeface="+mn-ea"/>
                          <a:ea typeface="+mn-ea"/>
                          <a:sym typeface="+mn-ea"/>
                        </a:rPr>
                        <a:t>经营管理团队</a:t>
                      </a:r>
                      <a:endParaRPr lang="zh-CN"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mn-ea"/>
                          <a:ea typeface="+mn-ea"/>
                        </a:rPr>
                        <a:t>年度</a:t>
                      </a:r>
                      <a:r>
                        <a:rPr lang="en-US" altLang="zh-CN" sz="1200" dirty="0">
                          <a:latin typeface="+mn-ea"/>
                          <a:ea typeface="+mn-ea"/>
                        </a:rPr>
                        <a:t>PBC+</a:t>
                      </a:r>
                      <a:r>
                        <a:rPr lang="zh-CN" altLang="en-US" sz="1200" dirty="0">
                          <a:latin typeface="+mn-ea"/>
                          <a:ea typeface="+mn-ea"/>
                        </a:rPr>
                        <a:t>季度</a:t>
                      </a:r>
                      <a:r>
                        <a:rPr lang="en-US" altLang="zh-CN" sz="1200" dirty="0">
                          <a:latin typeface="+mn-ea"/>
                          <a:ea typeface="+mn-ea"/>
                        </a:rPr>
                        <a:t>PBC</a:t>
                      </a:r>
                      <a:endParaRPr lang="zh-CN"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mn-ea"/>
                          <a:ea typeface="+mn-ea"/>
                        </a:rPr>
                        <a:t>总经理</a:t>
                      </a:r>
                      <a:endParaRPr lang="zh-CN"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mn-ea"/>
                          <a:ea typeface="+mn-ea"/>
                        </a:rPr>
                        <a:t>月度检视</a:t>
                      </a:r>
                      <a:r>
                        <a:rPr lang="en-US" altLang="zh-CN" sz="1200" dirty="0">
                          <a:latin typeface="+mn-ea"/>
                          <a:ea typeface="+mn-ea"/>
                        </a:rPr>
                        <a:t>+</a:t>
                      </a:r>
                      <a:r>
                        <a:rPr lang="zh-CN" altLang="en-US" sz="1200" dirty="0">
                          <a:latin typeface="+mn-ea"/>
                          <a:ea typeface="+mn-ea"/>
                        </a:rPr>
                        <a:t>季度考核</a:t>
                      </a:r>
                      <a:r>
                        <a:rPr lang="en-US" altLang="zh-CN" sz="1200" dirty="0">
                          <a:latin typeface="+mn-ea"/>
                          <a:ea typeface="+mn-ea"/>
                        </a:rPr>
                        <a:t>+</a:t>
                      </a:r>
                      <a:r>
                        <a:rPr lang="zh-CN" altLang="en-US" sz="1200" dirty="0">
                          <a:latin typeface="+mn-ea"/>
                          <a:ea typeface="+mn-ea"/>
                        </a:rPr>
                        <a:t>年度考核</a:t>
                      </a:r>
                      <a:endParaRPr lang="en-US" altLang="zh-CN"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mn-ea"/>
                          <a:ea typeface="+mn-ea"/>
                        </a:rPr>
                        <a:t>季度</a:t>
                      </a:r>
                      <a:r>
                        <a:rPr lang="en-US" altLang="zh-CN" sz="1200" dirty="0">
                          <a:solidFill>
                            <a:schemeClr val="tx1"/>
                          </a:solidFill>
                          <a:latin typeface="+mn-ea"/>
                          <a:ea typeface="+mn-ea"/>
                        </a:rPr>
                        <a:t>PBC</a:t>
                      </a:r>
                      <a:r>
                        <a:rPr lang="zh-CN" altLang="en-US" sz="1200" dirty="0">
                          <a:solidFill>
                            <a:schemeClr val="tx1"/>
                          </a:solidFill>
                          <a:latin typeface="+mn-ea"/>
                          <a:ea typeface="+mn-ea"/>
                        </a:rPr>
                        <a:t>评价</a:t>
                      </a:r>
                      <a:r>
                        <a:rPr lang="en-US" altLang="zh-CN" sz="1200" dirty="0">
                          <a:solidFill>
                            <a:schemeClr val="tx1"/>
                          </a:solidFill>
                          <a:latin typeface="+mn-ea"/>
                          <a:ea typeface="+mn-ea"/>
                        </a:rPr>
                        <a:t>+</a:t>
                      </a:r>
                      <a:r>
                        <a:rPr lang="zh-CN" altLang="en-US" sz="1200" dirty="0">
                          <a:solidFill>
                            <a:schemeClr val="tx1"/>
                          </a:solidFill>
                          <a:latin typeface="+mn-ea"/>
                          <a:ea typeface="+mn-ea"/>
                        </a:rPr>
                        <a:t>工作述职（半年度</a:t>
                      </a:r>
                      <a:r>
                        <a:rPr lang="en-US" altLang="zh-CN" sz="1200" dirty="0">
                          <a:solidFill>
                            <a:schemeClr val="tx1"/>
                          </a:solidFill>
                          <a:latin typeface="+mn-ea"/>
                          <a:ea typeface="+mn-ea"/>
                        </a:rPr>
                        <a:t>/</a:t>
                      </a:r>
                      <a:r>
                        <a:rPr lang="zh-CN" altLang="en-US" sz="1200" dirty="0">
                          <a:solidFill>
                            <a:schemeClr val="tx1"/>
                          </a:solidFill>
                          <a:latin typeface="+mn-ea"/>
                          <a:ea typeface="+mn-ea"/>
                        </a:rPr>
                        <a:t>年度）</a:t>
                      </a:r>
                      <a:endParaRPr lang="zh-CN" altLang="en-US" sz="120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latin typeface="+mn-ea"/>
                          <a:ea typeface="+mn-ea"/>
                          <a:sym typeface="+mn-ea"/>
                        </a:rPr>
                        <a:t>指标分配原则：</a:t>
                      </a:r>
                      <a:endParaRPr lang="en-US" altLang="zh-CN" sz="1200" b="1" dirty="0">
                        <a:latin typeface="+mn-ea"/>
                        <a:ea typeface="+mn-ea"/>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latin typeface="+mn-ea"/>
                          <a:ea typeface="+mn-ea"/>
                          <a:sym typeface="+mn-ea"/>
                        </a:rPr>
                        <a:t>管理干部：</a:t>
                      </a:r>
                      <a:r>
                        <a:rPr lang="en-US" altLang="zh-CN" sz="1200" b="0" dirty="0">
                          <a:latin typeface="+mn-ea"/>
                          <a:ea typeface="+mn-ea"/>
                          <a:sym typeface="+mn-ea"/>
                        </a:rPr>
                        <a:t>KPI</a:t>
                      </a:r>
                      <a:r>
                        <a:rPr lang="zh-CN" altLang="en-US" sz="1200" b="0" dirty="0">
                          <a:latin typeface="+mn-ea"/>
                          <a:ea typeface="+mn-ea"/>
                          <a:sym typeface="+mn-ea"/>
                        </a:rPr>
                        <a:t>与重点工作任务指标占</a:t>
                      </a:r>
                      <a:r>
                        <a:rPr lang="en-US" altLang="zh-CN" sz="1200" b="0" dirty="0">
                          <a:latin typeface="+mn-ea"/>
                          <a:ea typeface="+mn-ea"/>
                          <a:sym typeface="+mn-ea"/>
                        </a:rPr>
                        <a:t>80%-90%</a:t>
                      </a:r>
                      <a:r>
                        <a:rPr lang="zh-CN" altLang="en-US" sz="1200" b="0" dirty="0">
                          <a:latin typeface="+mn-ea"/>
                          <a:ea typeface="+mn-ea"/>
                          <a:sym typeface="+mn-ea"/>
                        </a:rPr>
                        <a:t>，团队建设指标占</a:t>
                      </a:r>
                      <a:r>
                        <a:rPr lang="en-US" altLang="zh-CN" sz="1200" b="0" dirty="0">
                          <a:latin typeface="+mn-ea"/>
                          <a:ea typeface="+mn-ea"/>
                          <a:sym typeface="+mn-ea"/>
                        </a:rPr>
                        <a:t>10%-20%</a:t>
                      </a:r>
                      <a:endParaRPr lang="en-US" altLang="zh-CN" sz="1200" b="0" dirty="0">
                        <a:latin typeface="+mn-ea"/>
                        <a:ea typeface="+mn-ea"/>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latin typeface="+mn-ea"/>
                          <a:ea typeface="+mn-ea"/>
                          <a:sym typeface="+mn-ea"/>
                        </a:rPr>
                        <a:t>员工：</a:t>
                      </a:r>
                      <a:r>
                        <a:rPr lang="en-US" altLang="zh-CN" sz="1200" b="0" dirty="0">
                          <a:latin typeface="+mn-ea"/>
                          <a:ea typeface="+mn-ea"/>
                          <a:sym typeface="+mn-ea"/>
                        </a:rPr>
                        <a:t>KPI</a:t>
                      </a:r>
                      <a:r>
                        <a:rPr lang="zh-CN" altLang="en-US" sz="1200" b="0" dirty="0">
                          <a:latin typeface="+mn-ea"/>
                          <a:ea typeface="+mn-ea"/>
                          <a:sym typeface="+mn-ea"/>
                        </a:rPr>
                        <a:t>与重点工作任务指标占</a:t>
                      </a:r>
                      <a:r>
                        <a:rPr lang="en-US" altLang="zh-CN" sz="1200" b="0" dirty="0">
                          <a:latin typeface="+mn-ea"/>
                          <a:ea typeface="+mn-ea"/>
                          <a:sym typeface="+mn-ea"/>
                        </a:rPr>
                        <a:t>80%-90%</a:t>
                      </a:r>
                      <a:r>
                        <a:rPr lang="zh-CN" altLang="en-US" sz="1200" b="0" dirty="0">
                          <a:latin typeface="+mn-ea"/>
                          <a:ea typeface="+mn-ea"/>
                          <a:sym typeface="+mn-ea"/>
                        </a:rPr>
                        <a:t>，能力提升学习成长指标</a:t>
                      </a:r>
                      <a:r>
                        <a:rPr lang="en-US" altLang="zh-CN" sz="1200" b="0" dirty="0">
                          <a:latin typeface="+mn-ea"/>
                          <a:ea typeface="+mn-ea"/>
                          <a:sym typeface="+mn-ea"/>
                        </a:rPr>
                        <a:t>10%-20%</a:t>
                      </a:r>
                      <a:endParaRPr lang="en-US" altLang="zh-CN" sz="1200" b="0" dirty="0">
                        <a:latin typeface="+mn-ea"/>
                        <a:ea typeface="+mn-ea"/>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latin typeface="+mn-ea"/>
                        <a:ea typeface="+mn-ea"/>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latin typeface="+mn-ea"/>
                          <a:ea typeface="+mn-ea"/>
                          <a:sym typeface="+mn-ea"/>
                        </a:rPr>
                        <a:t>计分方式：</a:t>
                      </a:r>
                      <a:endParaRPr lang="en-US" altLang="zh-CN" sz="1200" b="1" dirty="0">
                        <a:latin typeface="+mn-ea"/>
                        <a:ea typeface="+mn-ea"/>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dirty="0">
                          <a:latin typeface="+mn-ea"/>
                          <a:ea typeface="+mn-ea"/>
                          <a:sym typeface="+mn-ea"/>
                        </a:rPr>
                        <a:t>季度：</a:t>
                      </a:r>
                      <a:r>
                        <a:rPr lang="zh-CN" altLang="en-US" sz="1200" dirty="0">
                          <a:solidFill>
                            <a:schemeClr val="tx1"/>
                          </a:solidFill>
                          <a:latin typeface="+mn-ea"/>
                          <a:ea typeface="+mn-ea"/>
                          <a:sym typeface="+mn-ea"/>
                        </a:rPr>
                        <a:t>根据年度目标分解及关键任务节点完成情况进行评分</a:t>
                      </a:r>
                      <a:endParaRPr lang="zh-CN" altLang="en-US" sz="1200" dirty="0">
                        <a:solidFill>
                          <a:schemeClr val="tx1"/>
                        </a:solidFill>
                        <a:latin typeface="+mn-ea"/>
                        <a:ea typeface="+mn-ea"/>
                        <a:sym typeface="+mn-ea"/>
                      </a:endParaRPr>
                    </a:p>
                    <a:p>
                      <a:pPr marL="171450" indent="-171450" algn="l">
                        <a:spcBef>
                          <a:spcPts val="0"/>
                        </a:spcBef>
                        <a:spcAft>
                          <a:spcPts val="0"/>
                        </a:spcAft>
                        <a:buClrTx/>
                        <a:buSzTx/>
                        <a:buFont typeface="Arial" panose="020B0604020202090204" pitchFamily="34" charset="0"/>
                        <a:buChar char="•"/>
                        <a:defRPr/>
                      </a:pPr>
                      <a:r>
                        <a:rPr lang="zh-CN" altLang="en-US" sz="1200" dirty="0">
                          <a:latin typeface="+mn-ea"/>
                          <a:ea typeface="+mn-ea"/>
                          <a:sym typeface="+mn-ea"/>
                        </a:rPr>
                        <a:t>年度考核得分</a:t>
                      </a:r>
                      <a:r>
                        <a:rPr lang="en-US" altLang="zh-CN" sz="1200" dirty="0">
                          <a:latin typeface="+mn-ea"/>
                          <a:ea typeface="+mn-ea"/>
                          <a:sym typeface="+mn-ea"/>
                        </a:rPr>
                        <a:t>=</a:t>
                      </a:r>
                      <a:r>
                        <a:rPr lang="zh-CN" altLang="en-US" sz="1200" dirty="0">
                          <a:latin typeface="+mn-ea"/>
                          <a:ea typeface="+mn-ea"/>
                          <a:sym typeface="+mn-ea"/>
                        </a:rPr>
                        <a:t>前三季度考核平均得分</a:t>
                      </a:r>
                      <a:r>
                        <a:rPr lang="en-US" altLang="zh-CN" sz="1200" dirty="0">
                          <a:latin typeface="+mn-ea"/>
                          <a:ea typeface="+mn-ea"/>
                          <a:sym typeface="+mn-ea"/>
                        </a:rPr>
                        <a:t>*70%+</a:t>
                      </a:r>
                      <a:r>
                        <a:rPr lang="zh-CN" altLang="en-US" sz="1200" dirty="0">
                          <a:latin typeface="+mn-ea"/>
                          <a:ea typeface="+mn-ea"/>
                          <a:sym typeface="+mn-ea"/>
                        </a:rPr>
                        <a:t>年终考核得分</a:t>
                      </a:r>
                      <a:r>
                        <a:rPr lang="en-US" altLang="zh-CN" sz="1200" dirty="0">
                          <a:latin typeface="+mn-ea"/>
                          <a:ea typeface="+mn-ea"/>
                          <a:sym typeface="+mn-ea"/>
                        </a:rPr>
                        <a:t>*30%</a:t>
                      </a:r>
                      <a:r>
                        <a:rPr lang="zh-CN" altLang="en-US" sz="1200" dirty="0">
                          <a:latin typeface="+mn-ea"/>
                          <a:ea typeface="+mn-ea"/>
                          <a:sym typeface="+mn-ea"/>
                        </a:rPr>
                        <a:t>（年终考核与</a:t>
                      </a:r>
                      <a:r>
                        <a:rPr lang="en-US" altLang="zh-CN" sz="1200" dirty="0">
                          <a:latin typeface="+mn-ea"/>
                          <a:ea typeface="+mn-ea"/>
                          <a:sym typeface="+mn-ea"/>
                        </a:rPr>
                        <a:t>Q4</a:t>
                      </a:r>
                      <a:r>
                        <a:rPr lang="zh-CN" altLang="en-US" sz="1200" dirty="0">
                          <a:latin typeface="+mn-ea"/>
                          <a:ea typeface="+mn-ea"/>
                          <a:sym typeface="+mn-ea"/>
                        </a:rPr>
                        <a:t>季度考核合并）</a:t>
                      </a:r>
                      <a:endParaRPr lang="en-US" altLang="zh-CN" sz="1200" dirty="0">
                        <a:latin typeface="+mn-ea"/>
                        <a:ea typeface="+mn-ea"/>
                        <a:sym typeface="+mn-ea"/>
                      </a:endParaRPr>
                    </a:p>
                    <a:p>
                      <a:pPr marL="171450" indent="-171450" algn="l">
                        <a:spcBef>
                          <a:spcPts val="0"/>
                        </a:spcBef>
                        <a:spcAft>
                          <a:spcPts val="0"/>
                        </a:spcAft>
                        <a:buClrTx/>
                        <a:buSzTx/>
                        <a:buFont typeface="Arial" panose="020B0604020202090204" pitchFamily="34" charset="0"/>
                        <a:buChar char="•"/>
                        <a:defRPr/>
                      </a:pPr>
                      <a:r>
                        <a:rPr lang="zh-CN" altLang="en-US" sz="1200" dirty="0">
                          <a:latin typeface="+mn-ea"/>
                          <a:ea typeface="+mn-ea"/>
                          <a:sym typeface="+mn-ea"/>
                        </a:rPr>
                        <a:t>副总监及以上干部</a:t>
                      </a:r>
                      <a:r>
                        <a:rPr lang="en-US" altLang="zh-CN" sz="1200" dirty="0">
                          <a:latin typeface="+mn-ea"/>
                          <a:ea typeface="+mn-ea"/>
                          <a:sym typeface="+mn-ea"/>
                        </a:rPr>
                        <a:t>Q2</a:t>
                      </a:r>
                      <a:r>
                        <a:rPr lang="zh-CN" altLang="en-US" sz="1200" dirty="0">
                          <a:latin typeface="+mn-ea"/>
                          <a:ea typeface="+mn-ea"/>
                          <a:sym typeface="+mn-ea"/>
                        </a:rPr>
                        <a:t>和年度考核得分</a:t>
                      </a:r>
                      <a:r>
                        <a:rPr lang="en-US" altLang="zh-CN" sz="1200" dirty="0">
                          <a:latin typeface="+mn-ea"/>
                          <a:ea typeface="+mn-ea"/>
                          <a:sym typeface="+mn-ea"/>
                        </a:rPr>
                        <a:t>=Q2</a:t>
                      </a:r>
                      <a:r>
                        <a:rPr lang="zh-CN" altLang="en-US" sz="1200" dirty="0">
                          <a:latin typeface="+mn-ea"/>
                          <a:ea typeface="+mn-ea"/>
                          <a:sym typeface="+mn-ea"/>
                        </a:rPr>
                        <a:t>考核得分</a:t>
                      </a:r>
                      <a:r>
                        <a:rPr lang="en-US" altLang="zh-CN" sz="1200" dirty="0">
                          <a:latin typeface="+mn-ea"/>
                          <a:ea typeface="+mn-ea"/>
                          <a:sym typeface="+mn-ea"/>
                        </a:rPr>
                        <a:t>/</a:t>
                      </a:r>
                      <a:r>
                        <a:rPr lang="zh-CN" altLang="en-US" sz="1200" dirty="0">
                          <a:latin typeface="+mn-ea"/>
                          <a:ea typeface="+mn-ea"/>
                          <a:sym typeface="+mn-ea"/>
                        </a:rPr>
                        <a:t>年度考核得分</a:t>
                      </a:r>
                      <a:r>
                        <a:rPr lang="en-US" altLang="zh-CN" sz="1200" dirty="0">
                          <a:latin typeface="+mn-ea"/>
                          <a:ea typeface="+mn-ea"/>
                          <a:sym typeface="+mn-ea"/>
                        </a:rPr>
                        <a:t>80%+</a:t>
                      </a:r>
                      <a:r>
                        <a:rPr lang="zh-CN" altLang="en-US" sz="1200" dirty="0">
                          <a:latin typeface="+mn-ea"/>
                          <a:ea typeface="+mn-ea"/>
                          <a:sym typeface="+mn-ea"/>
                        </a:rPr>
                        <a:t>干部述职得分</a:t>
                      </a:r>
                      <a:r>
                        <a:rPr lang="en-US" altLang="zh-CN" sz="1200" dirty="0">
                          <a:latin typeface="+mn-ea"/>
                          <a:ea typeface="+mn-ea"/>
                          <a:sym typeface="+mn-ea"/>
                        </a:rPr>
                        <a:t>20%</a:t>
                      </a:r>
                      <a:endParaRPr lang="en-US" altLang="zh-CN" sz="1200" dirty="0">
                        <a:latin typeface="+mn-ea"/>
                        <a:ea typeface="+mn-ea"/>
                        <a:sym typeface="+mn-ea"/>
                      </a:endParaRPr>
                    </a:p>
                    <a:p>
                      <a:pPr marL="171450" indent="-171450" algn="l">
                        <a:spcBef>
                          <a:spcPts val="0"/>
                        </a:spcBef>
                        <a:spcAft>
                          <a:spcPts val="0"/>
                        </a:spcAft>
                        <a:buClrTx/>
                        <a:buSzTx/>
                        <a:buFont typeface="Arial" panose="020B0604020202090204" pitchFamily="34" charset="0"/>
                        <a:buChar char="•"/>
                        <a:defRPr/>
                      </a:pPr>
                      <a:r>
                        <a:rPr lang="zh-CN" altLang="en-US" sz="1200" dirty="0">
                          <a:latin typeface="+mn-ea"/>
                          <a:ea typeface="+mn-ea"/>
                          <a:sym typeface="+mn-ea"/>
                        </a:rPr>
                        <a:t>经理级及以上干部年度考核得分</a:t>
                      </a:r>
                      <a:r>
                        <a:rPr lang="en-US" altLang="zh-CN" sz="1200" dirty="0">
                          <a:latin typeface="+mn-ea"/>
                          <a:ea typeface="+mn-ea"/>
                          <a:sym typeface="+mn-ea"/>
                        </a:rPr>
                        <a:t>=</a:t>
                      </a:r>
                      <a:r>
                        <a:rPr lang="zh-CN" altLang="en-US" sz="1200" dirty="0">
                          <a:latin typeface="+mn-ea"/>
                          <a:ea typeface="+mn-ea"/>
                          <a:sym typeface="+mn-ea"/>
                        </a:rPr>
                        <a:t>年度考核得分</a:t>
                      </a:r>
                      <a:r>
                        <a:rPr lang="en-US" altLang="zh-CN" sz="1200" dirty="0">
                          <a:latin typeface="+mn-ea"/>
                          <a:ea typeface="+mn-ea"/>
                          <a:sym typeface="+mn-ea"/>
                        </a:rPr>
                        <a:t>80%+</a:t>
                      </a:r>
                      <a:r>
                        <a:rPr lang="zh-CN" altLang="en-US" sz="1200" dirty="0">
                          <a:latin typeface="+mn-ea"/>
                          <a:ea typeface="+mn-ea"/>
                          <a:sym typeface="+mn-ea"/>
                        </a:rPr>
                        <a:t>干部述职得分</a:t>
                      </a:r>
                      <a:r>
                        <a:rPr lang="en-US" altLang="zh-CN" sz="1200" dirty="0">
                          <a:latin typeface="+mn-ea"/>
                          <a:ea typeface="+mn-ea"/>
                          <a:sym typeface="+mn-ea"/>
                        </a:rPr>
                        <a:t>20%</a:t>
                      </a:r>
                      <a:endParaRPr lang="en-US" altLang="zh-CN" sz="1200" dirty="0">
                        <a:latin typeface="+mn-ea"/>
                        <a:ea typeface="+mn-ea"/>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39695">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1200" dirty="0">
                          <a:latin typeface="+mn-ea"/>
                          <a:ea typeface="+mn-ea"/>
                        </a:rPr>
                        <a:t>副总监</a:t>
                      </a:r>
                      <a:r>
                        <a:rPr lang="en-US" altLang="zh-CN" sz="1200" dirty="0">
                          <a:latin typeface="+mn-ea"/>
                          <a:ea typeface="+mn-ea"/>
                        </a:rPr>
                        <a:t>/</a:t>
                      </a:r>
                      <a:r>
                        <a:rPr lang="zh-CN" altLang="en-US" sz="1200" dirty="0">
                          <a:latin typeface="+mn-ea"/>
                          <a:ea typeface="+mn-ea"/>
                        </a:rPr>
                        <a:t>总监级</a:t>
                      </a:r>
                      <a:endParaRPr lang="zh-CN"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mn-ea"/>
                          <a:ea typeface="+mn-ea"/>
                        </a:rPr>
                        <a:t>年度</a:t>
                      </a:r>
                      <a:r>
                        <a:rPr lang="en-US" altLang="zh-CN" sz="1200" dirty="0">
                          <a:latin typeface="+mn-ea"/>
                          <a:ea typeface="+mn-ea"/>
                        </a:rPr>
                        <a:t>PBC+</a:t>
                      </a:r>
                      <a:r>
                        <a:rPr lang="zh-CN" altLang="en-US" sz="1200" dirty="0">
                          <a:latin typeface="+mn-ea"/>
                          <a:ea typeface="+mn-ea"/>
                        </a:rPr>
                        <a:t>季度</a:t>
                      </a:r>
                      <a:r>
                        <a:rPr lang="en-US" altLang="zh-CN" sz="1200" dirty="0">
                          <a:latin typeface="+mn-ea"/>
                          <a:ea typeface="+mn-ea"/>
                        </a:rPr>
                        <a:t>PBC</a:t>
                      </a:r>
                      <a:endParaRPr lang="zh-CN"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dirty="0">
                          <a:latin typeface="+mn-ea"/>
                          <a:ea typeface="+mn-ea"/>
                        </a:rPr>
                        <a:t>总经理</a:t>
                      </a:r>
                      <a:r>
                        <a:rPr lang="en-US" altLang="zh-CN" sz="1200" dirty="0">
                          <a:latin typeface="+mn-ea"/>
                          <a:ea typeface="+mn-ea"/>
                        </a:rPr>
                        <a:t>+</a:t>
                      </a:r>
                      <a:r>
                        <a:rPr lang="zh-CN" altLang="en-US" sz="1200" dirty="0">
                          <a:latin typeface="+mn-ea"/>
                          <a:ea typeface="+mn-ea"/>
                        </a:rPr>
                        <a:t>直接上级</a:t>
                      </a:r>
                      <a:endParaRPr lang="zh-CN"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17082">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sz="1200" dirty="0">
                          <a:latin typeface="+mn-ea"/>
                          <a:ea typeface="+mn-ea"/>
                        </a:rPr>
                        <a:t>经理级及以下管理干部</a:t>
                      </a:r>
                      <a:endParaRPr lang="zh-CN"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mn-ea"/>
                          <a:ea typeface="+mn-ea"/>
                        </a:rPr>
                        <a:t>季度</a:t>
                      </a:r>
                      <a:r>
                        <a:rPr lang="en-US" altLang="zh-CN" sz="1200" dirty="0">
                          <a:latin typeface="+mn-ea"/>
                          <a:ea typeface="+mn-ea"/>
                        </a:rPr>
                        <a:t>PBC</a:t>
                      </a:r>
                      <a:endParaRPr lang="zh-CN"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mn-ea"/>
                          <a:ea typeface="+mn-ea"/>
                        </a:rPr>
                        <a:t>直接上级</a:t>
                      </a:r>
                      <a:endParaRPr lang="zh-CN"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kern="1200" dirty="0">
                          <a:solidFill>
                            <a:schemeClr val="tx1"/>
                          </a:solidFill>
                          <a:latin typeface="+mn-ea"/>
                          <a:ea typeface="+mn-ea"/>
                          <a:cs typeface="+mn-cs"/>
                        </a:rPr>
                        <a:t>季度</a:t>
                      </a:r>
                      <a:r>
                        <a:rPr lang="en-US" altLang="zh-CN" sz="1200" kern="1200" dirty="0">
                          <a:solidFill>
                            <a:schemeClr val="tx1"/>
                          </a:solidFill>
                          <a:latin typeface="+mn-ea"/>
                          <a:ea typeface="+mn-ea"/>
                          <a:cs typeface="+mn-cs"/>
                        </a:rPr>
                        <a:t>PBC</a:t>
                      </a:r>
                      <a:r>
                        <a:rPr lang="zh-CN" altLang="en-US" sz="1200" kern="1200" dirty="0">
                          <a:solidFill>
                            <a:schemeClr val="tx1"/>
                          </a:solidFill>
                          <a:latin typeface="+mn-ea"/>
                          <a:ea typeface="+mn-ea"/>
                          <a:cs typeface="+mn-cs"/>
                        </a:rPr>
                        <a:t>评价</a:t>
                      </a:r>
                      <a:r>
                        <a:rPr lang="en-US" altLang="zh-CN" sz="1200" kern="1200" dirty="0">
                          <a:solidFill>
                            <a:schemeClr val="tx1"/>
                          </a:solidFill>
                          <a:latin typeface="+mn-ea"/>
                          <a:ea typeface="+mn-ea"/>
                          <a:cs typeface="+mn-cs"/>
                        </a:rPr>
                        <a:t>+</a:t>
                      </a:r>
                      <a:r>
                        <a:rPr lang="zh-CN" altLang="en-US" sz="1200" kern="1200" dirty="0">
                          <a:solidFill>
                            <a:schemeClr val="tx1"/>
                          </a:solidFill>
                          <a:latin typeface="+mn-ea"/>
                          <a:ea typeface="+mn-ea"/>
                          <a:cs typeface="+mn-cs"/>
                        </a:rPr>
                        <a:t>年终述职（经理级）</a:t>
                      </a:r>
                      <a:endParaRPr lang="zh-CN" altLang="en-US" sz="1200" kern="1200" dirty="0">
                        <a:solidFill>
                          <a:schemeClr val="tx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06498">
                <a:tc gridSpan="2">
                  <a:txBody>
                    <a:bodyPr/>
                    <a:lstStyle/>
                    <a:p>
                      <a:pPr algn="ctr">
                        <a:buNone/>
                      </a:pPr>
                      <a:r>
                        <a:rPr lang="zh-CN" altLang="en-US" sz="1200" dirty="0">
                          <a:latin typeface="+mn-ea"/>
                          <a:ea typeface="+mn-ea"/>
                        </a:rPr>
                        <a:t>员工</a:t>
                      </a:r>
                      <a:endParaRPr lang="zh-CN" altLang="en-US" sz="12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nchor="ctr">
                    <a:lnL w="12700" cap="flat" cmpd="sng" algn="ctr">
                      <a:solidFill>
                        <a:schemeClr val="tx1"/>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vMerge="1">
                  <a:tcPr anchor="ctr">
                    <a:lnL w="12700" cap="flat" cmpd="sng" algn="ctr">
                      <a:solidFill>
                        <a:scrgbClr r="0" g="0" b="0"/>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kern="1200" dirty="0">
                          <a:solidFill>
                            <a:schemeClr val="dk1"/>
                          </a:solidFill>
                          <a:latin typeface="+mn-ea"/>
                          <a:ea typeface="+mn-ea"/>
                          <a:cs typeface="+mn-cs"/>
                        </a:rPr>
                        <a:t>季度</a:t>
                      </a:r>
                      <a:r>
                        <a:rPr lang="en-US" altLang="zh-CN" sz="1200" kern="1200" dirty="0">
                          <a:solidFill>
                            <a:schemeClr val="dk1"/>
                          </a:solidFill>
                          <a:latin typeface="+mn-ea"/>
                          <a:ea typeface="+mn-ea"/>
                          <a:cs typeface="+mn-cs"/>
                        </a:rPr>
                        <a:t>PBC</a:t>
                      </a:r>
                      <a:r>
                        <a:rPr lang="zh-CN" altLang="en-US" sz="1200" kern="1200" dirty="0">
                          <a:solidFill>
                            <a:schemeClr val="dk1"/>
                          </a:solidFill>
                          <a:latin typeface="+mn-ea"/>
                          <a:ea typeface="+mn-ea"/>
                          <a:cs typeface="+mn-cs"/>
                        </a:rPr>
                        <a:t>评价</a:t>
                      </a:r>
                      <a:endParaRPr lang="zh-CN" altLang="en-US" sz="1200" kern="1200" dirty="0">
                        <a:solidFill>
                          <a:schemeClr val="dk1"/>
                        </a:solidFill>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绩效管理体系个人绩效考评标准</a:t>
            </a:r>
            <a:endParaRPr lang="zh-CN" altLang="en-US"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graphicFrame>
        <p:nvGraphicFramePr>
          <p:cNvPr id="2" name="表格 5"/>
          <p:cNvGraphicFramePr/>
          <p:nvPr>
            <p:custDataLst>
              <p:tags r:id="rId1"/>
            </p:custDataLst>
          </p:nvPr>
        </p:nvGraphicFramePr>
        <p:xfrm>
          <a:off x="768796" y="1253604"/>
          <a:ext cx="10443210" cy="4628717"/>
        </p:xfrm>
        <a:graphic>
          <a:graphicData uri="http://schemas.openxmlformats.org/drawingml/2006/table">
            <a:tbl>
              <a:tblPr firstRow="1" bandRow="1">
                <a:tableStyleId>{00A15C55-8517-42AA-B614-E9B94910E393}</a:tableStyleId>
              </a:tblPr>
              <a:tblGrid>
                <a:gridCol w="1806100"/>
                <a:gridCol w="2325845"/>
                <a:gridCol w="2065020"/>
                <a:gridCol w="2268220"/>
                <a:gridCol w="1978025"/>
              </a:tblGrid>
              <a:tr h="533568">
                <a:tc>
                  <a:txBody>
                    <a:bodyPr/>
                    <a:lstStyle>
                      <a:lvl1pPr marL="0" algn="l" defTabSz="914400" rtl="0" eaLnBrk="1" latinLnBrk="0" hangingPunct="1">
                        <a:defRPr sz="1800" kern="1200">
                          <a:solidFill>
                            <a:schemeClr val="tx1"/>
                          </a:solidFill>
                          <a:latin typeface="Segoe UI" panose="020B0502040204020203"/>
                        </a:defRPr>
                      </a:lvl1pPr>
                      <a:lvl2pPr marL="457200" algn="l" defTabSz="914400" rtl="0" eaLnBrk="1" latinLnBrk="0" hangingPunct="1">
                        <a:defRPr sz="1800" kern="1200">
                          <a:solidFill>
                            <a:schemeClr val="tx1"/>
                          </a:solidFill>
                          <a:latin typeface="Segoe UI" panose="020B0502040204020203"/>
                        </a:defRPr>
                      </a:lvl2pPr>
                      <a:lvl3pPr marL="914400" algn="l" defTabSz="914400" rtl="0" eaLnBrk="1" latinLnBrk="0" hangingPunct="1">
                        <a:defRPr sz="1800" kern="1200">
                          <a:solidFill>
                            <a:schemeClr val="tx1"/>
                          </a:solidFill>
                          <a:latin typeface="Segoe UI" panose="020B0502040204020203"/>
                        </a:defRPr>
                      </a:lvl3pPr>
                      <a:lvl4pPr marL="1371600" algn="l" defTabSz="914400" rtl="0" eaLnBrk="1" latinLnBrk="0" hangingPunct="1">
                        <a:defRPr sz="1800" kern="1200">
                          <a:solidFill>
                            <a:schemeClr val="tx1"/>
                          </a:solidFill>
                          <a:latin typeface="Segoe UI" panose="020B0502040204020203"/>
                        </a:defRPr>
                      </a:lvl4pPr>
                      <a:lvl5pPr marL="1828800" algn="l" defTabSz="914400" rtl="0" eaLnBrk="1" latinLnBrk="0" hangingPunct="1">
                        <a:defRPr sz="1800" kern="1200">
                          <a:solidFill>
                            <a:schemeClr val="tx1"/>
                          </a:solidFill>
                          <a:latin typeface="Segoe UI" panose="020B0502040204020203"/>
                        </a:defRPr>
                      </a:lvl5pPr>
                      <a:lvl6pPr marL="2286000" algn="l" defTabSz="914400" rtl="0" eaLnBrk="1" latinLnBrk="0" hangingPunct="1">
                        <a:defRPr sz="1800" kern="1200">
                          <a:solidFill>
                            <a:schemeClr val="tx1"/>
                          </a:solidFill>
                          <a:latin typeface="Segoe UI" panose="020B0502040204020203"/>
                        </a:defRPr>
                      </a:lvl6pPr>
                      <a:lvl7pPr marL="2743200" algn="l" defTabSz="914400" rtl="0" eaLnBrk="1" latinLnBrk="0" hangingPunct="1">
                        <a:defRPr sz="1800" kern="1200">
                          <a:solidFill>
                            <a:schemeClr val="tx1"/>
                          </a:solidFill>
                          <a:latin typeface="Segoe UI" panose="020B0502040204020203"/>
                        </a:defRPr>
                      </a:lvl7pPr>
                      <a:lvl8pPr marL="3200400" algn="l" defTabSz="914400" rtl="0" eaLnBrk="1" latinLnBrk="0" hangingPunct="1">
                        <a:defRPr sz="1800" kern="1200">
                          <a:solidFill>
                            <a:schemeClr val="tx1"/>
                          </a:solidFill>
                          <a:latin typeface="Segoe UI" panose="020B0502040204020203"/>
                        </a:defRPr>
                      </a:lvl8pPr>
                      <a:lvl9pPr marL="3657600" algn="l" defTabSz="914400" rtl="0" eaLnBrk="1" latinLnBrk="0" hangingPunct="1">
                        <a:defRPr sz="1800" kern="1200">
                          <a:solidFill>
                            <a:schemeClr val="tx1"/>
                          </a:solidFill>
                          <a:latin typeface="Segoe UI" panose="020B0502040204020203"/>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400" b="1" u="none" strike="noStrike" cap="none" normalizeH="0" baseline="0" dirty="0">
                          <a:ln>
                            <a:noFill/>
                          </a:ln>
                          <a:solidFill>
                            <a:schemeClr val="bg1"/>
                          </a:solidFill>
                          <a:effectLst/>
                          <a:latin typeface="+mn-ea"/>
                          <a:ea typeface="+mn-ea"/>
                          <a:sym typeface="微软雅黑" charset="-122"/>
                        </a:rPr>
                        <a:t>考核等级</a:t>
                      </a:r>
                      <a:endParaRPr kumimoji="1" lang="zh-CN" altLang="en-US" sz="1400" b="1" i="0" u="none" strike="noStrike" cap="none" normalizeH="0" baseline="0" dirty="0">
                        <a:ln>
                          <a:noFill/>
                        </a:ln>
                        <a:solidFill>
                          <a:schemeClr val="bg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lvl1pPr marL="0" algn="l" defTabSz="914400" rtl="0" eaLnBrk="1" latinLnBrk="0" hangingPunct="1">
                        <a:defRPr sz="1800" kern="1200">
                          <a:solidFill>
                            <a:schemeClr val="tx1"/>
                          </a:solidFill>
                          <a:latin typeface="Segoe UI" panose="020B0502040204020203"/>
                        </a:defRPr>
                      </a:lvl1pPr>
                      <a:lvl2pPr marL="457200" algn="l" defTabSz="914400" rtl="0" eaLnBrk="1" latinLnBrk="0" hangingPunct="1">
                        <a:defRPr sz="1800" kern="1200">
                          <a:solidFill>
                            <a:schemeClr val="tx1"/>
                          </a:solidFill>
                          <a:latin typeface="Segoe UI" panose="020B0502040204020203"/>
                        </a:defRPr>
                      </a:lvl2pPr>
                      <a:lvl3pPr marL="914400" algn="l" defTabSz="914400" rtl="0" eaLnBrk="1" latinLnBrk="0" hangingPunct="1">
                        <a:defRPr sz="1800" kern="1200">
                          <a:solidFill>
                            <a:schemeClr val="tx1"/>
                          </a:solidFill>
                          <a:latin typeface="Segoe UI" panose="020B0502040204020203"/>
                        </a:defRPr>
                      </a:lvl3pPr>
                      <a:lvl4pPr marL="1371600" algn="l" defTabSz="914400" rtl="0" eaLnBrk="1" latinLnBrk="0" hangingPunct="1">
                        <a:defRPr sz="1800" kern="1200">
                          <a:solidFill>
                            <a:schemeClr val="tx1"/>
                          </a:solidFill>
                          <a:latin typeface="Segoe UI" panose="020B0502040204020203"/>
                        </a:defRPr>
                      </a:lvl4pPr>
                      <a:lvl5pPr marL="1828800" algn="l" defTabSz="914400" rtl="0" eaLnBrk="1" latinLnBrk="0" hangingPunct="1">
                        <a:defRPr sz="1800" kern="1200">
                          <a:solidFill>
                            <a:schemeClr val="tx1"/>
                          </a:solidFill>
                          <a:latin typeface="Segoe UI" panose="020B0502040204020203"/>
                        </a:defRPr>
                      </a:lvl5pPr>
                      <a:lvl6pPr marL="2286000" algn="l" defTabSz="914400" rtl="0" eaLnBrk="1" latinLnBrk="0" hangingPunct="1">
                        <a:defRPr sz="1800" kern="1200">
                          <a:solidFill>
                            <a:schemeClr val="tx1"/>
                          </a:solidFill>
                          <a:latin typeface="Segoe UI" panose="020B0502040204020203"/>
                        </a:defRPr>
                      </a:lvl6pPr>
                      <a:lvl7pPr marL="2743200" algn="l" defTabSz="914400" rtl="0" eaLnBrk="1" latinLnBrk="0" hangingPunct="1">
                        <a:defRPr sz="1800" kern="1200">
                          <a:solidFill>
                            <a:schemeClr val="tx1"/>
                          </a:solidFill>
                          <a:latin typeface="Segoe UI" panose="020B0502040204020203"/>
                        </a:defRPr>
                      </a:lvl7pPr>
                      <a:lvl8pPr marL="3200400" algn="l" defTabSz="914400" rtl="0" eaLnBrk="1" latinLnBrk="0" hangingPunct="1">
                        <a:defRPr sz="1800" kern="1200">
                          <a:solidFill>
                            <a:schemeClr val="tx1"/>
                          </a:solidFill>
                          <a:latin typeface="Segoe UI" panose="020B0502040204020203"/>
                        </a:defRPr>
                      </a:lvl8pPr>
                      <a:lvl9pPr marL="3657600" algn="l" defTabSz="914400" rtl="0" eaLnBrk="1" latinLnBrk="0" hangingPunct="1">
                        <a:defRPr sz="1800" kern="1200">
                          <a:solidFill>
                            <a:schemeClr val="tx1"/>
                          </a:solidFill>
                          <a:latin typeface="Segoe UI" panose="020B0502040204020203"/>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en-US" altLang="zh-CN" sz="1600" b="1" u="none" strike="noStrike" kern="1200" cap="none" normalizeH="0" baseline="0" dirty="0">
                          <a:ln>
                            <a:noFill/>
                          </a:ln>
                          <a:solidFill>
                            <a:schemeClr val="bg1"/>
                          </a:solidFill>
                          <a:effectLst/>
                          <a:latin typeface="+mn-ea"/>
                          <a:ea typeface="+mn-ea"/>
                          <a:sym typeface="微软雅黑" charset="-122"/>
                        </a:rPr>
                        <a:t>A</a:t>
                      </a:r>
                      <a:endParaRPr kumimoji="1" lang="en-US" altLang="zh-CN" sz="1600" b="1" i="0" u="none" strike="noStrike" kern="1200" cap="none" normalizeH="0" baseline="0" dirty="0">
                        <a:ln>
                          <a:noFill/>
                        </a:ln>
                        <a:solidFill>
                          <a:schemeClr val="bg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lvl1pPr marL="0" algn="l" defTabSz="914400" rtl="0" eaLnBrk="1" latinLnBrk="0" hangingPunct="1">
                        <a:defRPr sz="1800" kern="1200">
                          <a:solidFill>
                            <a:schemeClr val="tx1"/>
                          </a:solidFill>
                          <a:latin typeface="Segoe UI" panose="020B0502040204020203"/>
                        </a:defRPr>
                      </a:lvl1pPr>
                      <a:lvl2pPr marL="457200" algn="l" defTabSz="914400" rtl="0" eaLnBrk="1" latinLnBrk="0" hangingPunct="1">
                        <a:defRPr sz="1800" kern="1200">
                          <a:solidFill>
                            <a:schemeClr val="tx1"/>
                          </a:solidFill>
                          <a:latin typeface="Segoe UI" panose="020B0502040204020203"/>
                        </a:defRPr>
                      </a:lvl2pPr>
                      <a:lvl3pPr marL="914400" algn="l" defTabSz="914400" rtl="0" eaLnBrk="1" latinLnBrk="0" hangingPunct="1">
                        <a:defRPr sz="1800" kern="1200">
                          <a:solidFill>
                            <a:schemeClr val="tx1"/>
                          </a:solidFill>
                          <a:latin typeface="Segoe UI" panose="020B0502040204020203"/>
                        </a:defRPr>
                      </a:lvl3pPr>
                      <a:lvl4pPr marL="1371600" algn="l" defTabSz="914400" rtl="0" eaLnBrk="1" latinLnBrk="0" hangingPunct="1">
                        <a:defRPr sz="1800" kern="1200">
                          <a:solidFill>
                            <a:schemeClr val="tx1"/>
                          </a:solidFill>
                          <a:latin typeface="Segoe UI" panose="020B0502040204020203"/>
                        </a:defRPr>
                      </a:lvl4pPr>
                      <a:lvl5pPr marL="1828800" algn="l" defTabSz="914400" rtl="0" eaLnBrk="1" latinLnBrk="0" hangingPunct="1">
                        <a:defRPr sz="1800" kern="1200">
                          <a:solidFill>
                            <a:schemeClr val="tx1"/>
                          </a:solidFill>
                          <a:latin typeface="Segoe UI" panose="020B0502040204020203"/>
                        </a:defRPr>
                      </a:lvl5pPr>
                      <a:lvl6pPr marL="2286000" algn="l" defTabSz="914400" rtl="0" eaLnBrk="1" latinLnBrk="0" hangingPunct="1">
                        <a:defRPr sz="1800" kern="1200">
                          <a:solidFill>
                            <a:schemeClr val="tx1"/>
                          </a:solidFill>
                          <a:latin typeface="Segoe UI" panose="020B0502040204020203"/>
                        </a:defRPr>
                      </a:lvl6pPr>
                      <a:lvl7pPr marL="2743200" algn="l" defTabSz="914400" rtl="0" eaLnBrk="1" latinLnBrk="0" hangingPunct="1">
                        <a:defRPr sz="1800" kern="1200">
                          <a:solidFill>
                            <a:schemeClr val="tx1"/>
                          </a:solidFill>
                          <a:latin typeface="Segoe UI" panose="020B0502040204020203"/>
                        </a:defRPr>
                      </a:lvl7pPr>
                      <a:lvl8pPr marL="3200400" algn="l" defTabSz="914400" rtl="0" eaLnBrk="1" latinLnBrk="0" hangingPunct="1">
                        <a:defRPr sz="1800" kern="1200">
                          <a:solidFill>
                            <a:schemeClr val="tx1"/>
                          </a:solidFill>
                          <a:latin typeface="Segoe UI" panose="020B0502040204020203"/>
                        </a:defRPr>
                      </a:lvl8pPr>
                      <a:lvl9pPr marL="3657600" algn="l" defTabSz="914400" rtl="0" eaLnBrk="1" latinLnBrk="0" hangingPunct="1">
                        <a:defRPr sz="1800" kern="1200">
                          <a:solidFill>
                            <a:schemeClr val="tx1"/>
                          </a:solidFill>
                          <a:latin typeface="Segoe UI" panose="020B0502040204020203"/>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en-US" altLang="zh-CN" sz="1600" b="1" u="none" strike="noStrike" kern="1200" cap="none" normalizeH="0" baseline="0" dirty="0">
                          <a:ln>
                            <a:noFill/>
                          </a:ln>
                          <a:solidFill>
                            <a:schemeClr val="bg1"/>
                          </a:solidFill>
                          <a:effectLst/>
                          <a:latin typeface="+mn-ea"/>
                          <a:ea typeface="+mn-ea"/>
                          <a:sym typeface="微软雅黑" charset="-122"/>
                        </a:rPr>
                        <a:t>B</a:t>
                      </a:r>
                      <a:endParaRPr kumimoji="1" lang="en-US" altLang="zh-CN" sz="1600" b="1" i="0" u="none" strike="noStrike" kern="1200" cap="none" normalizeH="0" baseline="0" dirty="0">
                        <a:ln>
                          <a:noFill/>
                        </a:ln>
                        <a:solidFill>
                          <a:schemeClr val="bg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en-US" altLang="zh-CN" sz="1600" b="1" u="none" strike="noStrike" kern="1200" cap="none" normalizeH="0" baseline="0" dirty="0">
                          <a:ln>
                            <a:noFill/>
                          </a:ln>
                          <a:solidFill>
                            <a:schemeClr val="bg1"/>
                          </a:solidFill>
                          <a:effectLst/>
                          <a:latin typeface="+mn-ea"/>
                          <a:ea typeface="+mn-ea"/>
                          <a:sym typeface="微软雅黑" charset="-122"/>
                        </a:rPr>
                        <a:t>C</a:t>
                      </a:r>
                      <a:endParaRPr kumimoji="1" lang="en-US" altLang="zh-CN" sz="1600" b="1" i="0" u="none" strike="noStrike" kern="1200" cap="none" normalizeH="0" baseline="0" dirty="0">
                        <a:ln>
                          <a:noFill/>
                        </a:ln>
                        <a:solidFill>
                          <a:schemeClr val="bg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en-US" altLang="zh-CN" sz="1600" b="1" i="0" u="none" strike="noStrike" kern="1200" cap="none" normalizeH="0" baseline="0" dirty="0">
                          <a:ln>
                            <a:noFill/>
                          </a:ln>
                          <a:solidFill>
                            <a:schemeClr val="bg1"/>
                          </a:solidFill>
                          <a:effectLst/>
                          <a:latin typeface="+mn-ea"/>
                          <a:ea typeface="+mn-ea"/>
                          <a:cs typeface="Arial" panose="020B0604020202090204"/>
                          <a:sym typeface="微软雅黑" charset="-122"/>
                        </a:rPr>
                        <a:t>D</a:t>
                      </a:r>
                      <a:endParaRPr kumimoji="1" lang="en-US" altLang="zh-CN" sz="1600" b="1" i="0" u="none" strike="noStrike" kern="1200" cap="none" normalizeH="0" baseline="0" dirty="0">
                        <a:ln>
                          <a:noFill/>
                        </a:ln>
                        <a:solidFill>
                          <a:schemeClr val="bg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r>
              <a:tr h="554570">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400" b="1" i="0" u="none" strike="noStrike" cap="none" normalizeH="0" baseline="0" dirty="0">
                          <a:ln>
                            <a:noFill/>
                          </a:ln>
                          <a:solidFill>
                            <a:schemeClr val="tx1"/>
                          </a:solidFill>
                          <a:effectLst/>
                          <a:latin typeface="+mn-ea"/>
                          <a:ea typeface="+mn-ea"/>
                          <a:cs typeface="Arial" panose="020B0604020202090204"/>
                          <a:sym typeface="微软雅黑" charset="-122"/>
                        </a:rPr>
                        <a:t>定义</a:t>
                      </a:r>
                      <a:endParaRPr kumimoji="1" lang="zh-CN" altLang="en-US" sz="14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rPr>
                        <a:t>杰出贡献者</a:t>
                      </a:r>
                      <a:endPar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rPr>
                        <a:t>良好贡献者</a:t>
                      </a:r>
                      <a:endPar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zh-CN" altLang="en-US" sz="1200" b="1" i="0" u="none" strike="noStrike" kern="1200" cap="none" normalizeH="0" baseline="0" dirty="0">
                          <a:ln>
                            <a:noFill/>
                          </a:ln>
                          <a:solidFill>
                            <a:schemeClr val="tx1"/>
                          </a:solidFill>
                          <a:effectLst/>
                          <a:latin typeface="+mn-ea"/>
                          <a:ea typeface="+mn-ea"/>
                          <a:cs typeface="Arial" panose="020B0604020202090204"/>
                          <a:sym typeface="微软雅黑" charset="-122"/>
                        </a:rPr>
                        <a:t>较低贡献者</a:t>
                      </a:r>
                      <a:endParaRPr kumimoji="1" lang="zh-CN" altLang="en-US" sz="1200" b="1" i="0" u="none" strike="noStrike" kern="1200"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rPr>
                        <a:t>不胜任者</a:t>
                      </a:r>
                      <a:endPar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12356">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400" b="1" i="0" u="none" strike="noStrike" cap="none" normalizeH="0" baseline="0" dirty="0">
                          <a:ln>
                            <a:noFill/>
                          </a:ln>
                          <a:solidFill>
                            <a:schemeClr val="tx1"/>
                          </a:solidFill>
                          <a:effectLst/>
                          <a:latin typeface="+mn-ea"/>
                          <a:ea typeface="+mn-ea"/>
                          <a:cs typeface="Arial" panose="020B0604020202090204"/>
                          <a:sym typeface="微软雅黑" charset="-122"/>
                        </a:rPr>
                        <a:t>分数建议值</a:t>
                      </a:r>
                      <a:endParaRPr kumimoji="1" lang="en-US" altLang="zh-CN" sz="1400" b="1" i="0" u="none" strike="noStrike" cap="none" normalizeH="0" baseline="0" dirty="0">
                        <a:ln>
                          <a:noFill/>
                        </a:ln>
                        <a:solidFill>
                          <a:schemeClr val="tx1"/>
                        </a:solidFill>
                        <a:effectLst/>
                        <a:latin typeface="+mn-ea"/>
                        <a:ea typeface="+mn-ea"/>
                        <a:cs typeface="Arial" panose="020B0604020202090204"/>
                        <a:sym typeface="微软雅黑" charset="-122"/>
                      </a:endParaRP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400" b="1" i="0" u="none" strike="noStrike" cap="none" normalizeH="0" baseline="0" dirty="0">
                          <a:ln>
                            <a:noFill/>
                          </a:ln>
                          <a:solidFill>
                            <a:schemeClr val="tx1"/>
                          </a:solidFill>
                          <a:effectLst/>
                          <a:latin typeface="+mn-ea"/>
                          <a:ea typeface="+mn-ea"/>
                          <a:cs typeface="Arial" panose="020B0604020202090204"/>
                          <a:sym typeface="微软雅黑" charset="-122"/>
                        </a:rPr>
                        <a:t>（季度或年度）</a:t>
                      </a:r>
                      <a:endParaRPr kumimoji="1" lang="zh-CN" altLang="en-US" sz="14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en-US" altLang="zh-CN" sz="1200" b="1" i="0" u="none" strike="noStrike" cap="none" normalizeH="0" baseline="0" dirty="0">
                          <a:ln>
                            <a:noFill/>
                          </a:ln>
                          <a:solidFill>
                            <a:schemeClr val="tx1"/>
                          </a:solidFill>
                          <a:effectLst/>
                          <a:latin typeface="+mn-ea"/>
                          <a:ea typeface="+mn-ea"/>
                          <a:cs typeface="Arial" panose="020B0604020202090204"/>
                          <a:sym typeface="微软雅黑" charset="-122"/>
                        </a:rPr>
                        <a:t>95</a:t>
                      </a:r>
                      <a:r>
                        <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rPr>
                        <a:t>及以上</a:t>
                      </a:r>
                      <a:endPar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en-US" altLang="zh-CN" sz="1200" b="1" i="0" u="none" strike="noStrike" cap="none" normalizeH="0" baseline="0" dirty="0">
                          <a:ln>
                            <a:noFill/>
                          </a:ln>
                          <a:solidFill>
                            <a:schemeClr val="tx1"/>
                          </a:solidFill>
                          <a:effectLst/>
                          <a:latin typeface="+mn-ea"/>
                          <a:ea typeface="+mn-ea"/>
                          <a:cs typeface="Arial" panose="020B0604020202090204"/>
                          <a:sym typeface="微软雅黑" charset="-122"/>
                        </a:rPr>
                        <a:t>[80-95)</a:t>
                      </a:r>
                      <a:endPar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en-US" altLang="zh-CN" sz="1200" b="1" i="0" u="none" strike="noStrike" cap="none" normalizeH="0" baseline="0" dirty="0">
                          <a:ln>
                            <a:noFill/>
                          </a:ln>
                          <a:solidFill>
                            <a:schemeClr val="tx1"/>
                          </a:solidFill>
                          <a:effectLst/>
                          <a:latin typeface="+mn-ea"/>
                          <a:ea typeface="+mn-ea"/>
                          <a:cs typeface="Arial" panose="020B0604020202090204"/>
                          <a:sym typeface="微软雅黑" charset="-122"/>
                        </a:rPr>
                        <a:t>[80-60)</a:t>
                      </a:r>
                      <a:endPar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en-US" altLang="zh-CN" sz="1200" b="1" i="0" u="none" strike="noStrike" cap="none" normalizeH="0" baseline="0" dirty="0">
                          <a:ln>
                            <a:noFill/>
                          </a:ln>
                          <a:solidFill>
                            <a:schemeClr val="tx1"/>
                          </a:solidFill>
                          <a:effectLst/>
                          <a:latin typeface="+mn-ea"/>
                          <a:ea typeface="+mn-ea"/>
                          <a:cs typeface="Arial" panose="020B0604020202090204"/>
                          <a:sym typeface="微软雅黑" charset="-122"/>
                        </a:rPr>
                        <a:t>60</a:t>
                      </a:r>
                      <a:r>
                        <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rPr>
                        <a:t>分以下</a:t>
                      </a:r>
                      <a:endPar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302983">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400" b="1" i="0" u="none" strike="noStrike" cap="none" normalizeH="0" baseline="0" dirty="0">
                          <a:ln>
                            <a:noFill/>
                          </a:ln>
                          <a:solidFill>
                            <a:schemeClr val="tx1"/>
                          </a:solidFill>
                          <a:effectLst/>
                          <a:latin typeface="+mn-ea"/>
                          <a:ea typeface="+mn-ea"/>
                          <a:cs typeface="Arial" panose="020B0604020202090204"/>
                          <a:sym typeface="微软雅黑" charset="-122"/>
                        </a:rPr>
                        <a:t>标准</a:t>
                      </a:r>
                      <a:endParaRPr kumimoji="1" lang="zh-CN" altLang="en-US" sz="14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rPr>
                        <a:t>明显超出组织期望：</a:t>
                      </a:r>
                      <a:endParaRPr kumimoji="1" lang="en-US" altLang="zh-CN" sz="1200" b="1" i="0" u="none" strike="noStrike" cap="none" normalizeH="0" baseline="0" dirty="0">
                        <a:ln>
                          <a:noFill/>
                        </a:ln>
                        <a:solidFill>
                          <a:schemeClr val="tx1"/>
                        </a:solidFill>
                        <a:effectLst/>
                        <a:latin typeface="+mn-ea"/>
                        <a:ea typeface="+mn-ea"/>
                        <a:cs typeface="Arial" panose="020B0604020202090204"/>
                        <a:sym typeface="微软雅黑" charset="-122"/>
                      </a:endParaRP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200" b="0" i="0" u="none" strike="noStrike" cap="none" normalizeH="0" baseline="0" dirty="0">
                          <a:ln>
                            <a:noFill/>
                          </a:ln>
                          <a:solidFill>
                            <a:schemeClr val="tx1"/>
                          </a:solidFill>
                          <a:effectLst/>
                          <a:latin typeface="+mn-ea"/>
                          <a:ea typeface="+mn-ea"/>
                          <a:cs typeface="Arial" panose="020B0604020202090204"/>
                          <a:sym typeface="微软雅黑" charset="-122"/>
                        </a:rPr>
                        <a:t>在各方面均超越所在岗位层级的职责和绩效期望，取得杰出的成果，绩效明显高于他人，是部门员工的绩效标杆</a:t>
                      </a:r>
                      <a:endParaRPr kumimoji="1" lang="zh-CN" altLang="en-US" sz="1200" b="0"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rPr>
                        <a:t>达到组织期望，部分超出组织期望：</a:t>
                      </a:r>
                      <a:endParaRPr kumimoji="1" lang="en-US" altLang="zh-CN" sz="1200" b="1" i="0" u="none" strike="noStrike" cap="none" normalizeH="0" baseline="0" dirty="0">
                        <a:ln>
                          <a:noFill/>
                        </a:ln>
                        <a:solidFill>
                          <a:schemeClr val="tx1"/>
                        </a:solidFill>
                        <a:effectLst/>
                        <a:latin typeface="+mn-ea"/>
                        <a:ea typeface="+mn-ea"/>
                        <a:cs typeface="Arial" panose="020B0604020202090204"/>
                        <a:sym typeface="微软雅黑" charset="-122"/>
                      </a:endParaRP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zh-CN" altLang="en-US" sz="1200" b="0" i="0" u="none" strike="noStrike" cap="none" normalizeH="0" baseline="0" dirty="0">
                          <a:ln>
                            <a:noFill/>
                          </a:ln>
                          <a:solidFill>
                            <a:schemeClr val="tx1"/>
                          </a:solidFill>
                          <a:effectLst/>
                          <a:latin typeface="+mn-ea"/>
                          <a:ea typeface="+mn-ea"/>
                          <a:cs typeface="Arial" panose="020B0604020202090204"/>
                          <a:sym typeface="微软雅黑" charset="-122"/>
                        </a:rPr>
                        <a:t>始终能够满足所在岗位层级的职责和绩效期望，部分能够超出组织期望</a:t>
                      </a:r>
                      <a:endParaRPr kumimoji="1" lang="zh-CN" altLang="en-US" sz="1200" b="0"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zh-CN" altLang="en-US" sz="1200" b="1" i="0" u="none" strike="noStrike" kern="1200" cap="none" normalizeH="0" baseline="0" dirty="0">
                          <a:ln>
                            <a:noFill/>
                          </a:ln>
                          <a:solidFill>
                            <a:schemeClr val="tx1"/>
                          </a:solidFill>
                          <a:effectLst/>
                          <a:latin typeface="+mn-ea"/>
                          <a:ea typeface="+mn-ea"/>
                          <a:cs typeface="Arial" panose="020B0604020202090204"/>
                          <a:sym typeface="微软雅黑" charset="-122"/>
                        </a:rPr>
                        <a:t>基本达到组织期望，存在一定的改进空间：</a:t>
                      </a:r>
                      <a:endParaRPr kumimoji="1" lang="en-US" altLang="zh-CN" sz="1200" b="1" i="0" u="none" strike="noStrike" kern="1200" cap="none" normalizeH="0" baseline="0" dirty="0">
                        <a:ln>
                          <a:noFill/>
                        </a:ln>
                        <a:solidFill>
                          <a:schemeClr val="tx1"/>
                        </a:solidFill>
                        <a:effectLst/>
                        <a:latin typeface="+mn-ea"/>
                        <a:ea typeface="+mn-ea"/>
                        <a:cs typeface="Arial" panose="020B0604020202090204"/>
                        <a:sym typeface="微软雅黑" charset="-122"/>
                      </a:endParaRP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zh-CN" altLang="en-US" sz="1200" b="0" i="0" u="none" strike="noStrike" kern="1200" cap="none" normalizeH="0" baseline="0" dirty="0">
                          <a:ln>
                            <a:noFill/>
                          </a:ln>
                          <a:solidFill>
                            <a:schemeClr val="tx1"/>
                          </a:solidFill>
                          <a:effectLst/>
                          <a:latin typeface="+mn-ea"/>
                          <a:ea typeface="+mn-ea"/>
                          <a:cs typeface="Arial" panose="020B0604020202090204"/>
                          <a:sym typeface="微软雅黑" charset="-122"/>
                        </a:rPr>
                        <a:t>基本能够满足所在岗位层级的职责和绩效期望，部分工作不能完全履行岗位职责和绩效期望，需要改进</a:t>
                      </a:r>
                      <a:endParaRPr kumimoji="1" lang="zh-CN" altLang="en-US" sz="1200" b="0" i="0" u="none" strike="noStrike" kern="1200"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rPr>
                        <a:t>不能胜任组织期望：</a:t>
                      </a:r>
                      <a:endParaRPr kumimoji="1" lang="en-US" altLang="zh-CN" sz="1200" b="1" i="0" u="none" strike="noStrike" cap="none" normalizeH="0" baseline="0" dirty="0">
                        <a:ln>
                          <a:noFill/>
                        </a:ln>
                        <a:solidFill>
                          <a:schemeClr val="tx1"/>
                        </a:solidFill>
                        <a:effectLst/>
                        <a:latin typeface="+mn-ea"/>
                        <a:ea typeface="+mn-ea"/>
                        <a:cs typeface="Arial" panose="020B0604020202090204"/>
                        <a:sym typeface="微软雅黑" charset="-122"/>
                      </a:endParaRP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200" b="0" i="0" u="none" strike="noStrike" cap="none" normalizeH="0" baseline="0" dirty="0">
                          <a:ln>
                            <a:noFill/>
                          </a:ln>
                          <a:solidFill>
                            <a:schemeClr val="tx1"/>
                          </a:solidFill>
                          <a:effectLst/>
                          <a:latin typeface="+mn-ea"/>
                          <a:ea typeface="+mn-ea"/>
                          <a:cs typeface="Arial" panose="020B0604020202090204"/>
                          <a:sym typeface="微软雅黑" charset="-122"/>
                        </a:rPr>
                        <a:t>基本不能履行所在岗位层级的职责和绩效期望，且难以短期内改善以达到岗位期望，需考虑换岗或淘汰</a:t>
                      </a:r>
                      <a:endParaRPr kumimoji="1" lang="zh-CN" altLang="en-US" sz="1200" b="0"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41130">
                <a:tc>
                  <a:txBody>
                    <a:bodyPr/>
                    <a:lstStyle>
                      <a:lvl1pPr marL="0" algn="l" defTabSz="914400" rtl="0" eaLnBrk="1" latinLnBrk="0" hangingPunct="1">
                        <a:defRPr sz="1800" kern="1200">
                          <a:solidFill>
                            <a:schemeClr val="tx1"/>
                          </a:solidFill>
                          <a:latin typeface="Segoe UI" panose="020B0502040204020203"/>
                        </a:defRPr>
                      </a:lvl1pPr>
                      <a:lvl2pPr marL="457200" algn="l" defTabSz="914400" rtl="0" eaLnBrk="1" latinLnBrk="0" hangingPunct="1">
                        <a:defRPr sz="1800" kern="1200">
                          <a:solidFill>
                            <a:schemeClr val="tx1"/>
                          </a:solidFill>
                          <a:latin typeface="Segoe UI" panose="020B0502040204020203"/>
                        </a:defRPr>
                      </a:lvl2pPr>
                      <a:lvl3pPr marL="914400" algn="l" defTabSz="914400" rtl="0" eaLnBrk="1" latinLnBrk="0" hangingPunct="1">
                        <a:defRPr sz="1800" kern="1200">
                          <a:solidFill>
                            <a:schemeClr val="tx1"/>
                          </a:solidFill>
                          <a:latin typeface="Segoe UI" panose="020B0502040204020203"/>
                        </a:defRPr>
                      </a:lvl3pPr>
                      <a:lvl4pPr marL="1371600" algn="l" defTabSz="914400" rtl="0" eaLnBrk="1" latinLnBrk="0" hangingPunct="1">
                        <a:defRPr sz="1800" kern="1200">
                          <a:solidFill>
                            <a:schemeClr val="tx1"/>
                          </a:solidFill>
                          <a:latin typeface="Segoe UI" panose="020B0502040204020203"/>
                        </a:defRPr>
                      </a:lvl4pPr>
                      <a:lvl5pPr marL="1828800" algn="l" defTabSz="914400" rtl="0" eaLnBrk="1" latinLnBrk="0" hangingPunct="1">
                        <a:defRPr sz="1800" kern="1200">
                          <a:solidFill>
                            <a:schemeClr val="tx1"/>
                          </a:solidFill>
                          <a:latin typeface="Segoe UI" panose="020B0502040204020203"/>
                        </a:defRPr>
                      </a:lvl5pPr>
                      <a:lvl6pPr marL="2286000" algn="l" defTabSz="914400" rtl="0" eaLnBrk="1" latinLnBrk="0" hangingPunct="1">
                        <a:defRPr sz="1800" kern="1200">
                          <a:solidFill>
                            <a:schemeClr val="tx1"/>
                          </a:solidFill>
                          <a:latin typeface="Segoe UI" panose="020B0502040204020203"/>
                        </a:defRPr>
                      </a:lvl6pPr>
                      <a:lvl7pPr marL="2743200" algn="l" defTabSz="914400" rtl="0" eaLnBrk="1" latinLnBrk="0" hangingPunct="1">
                        <a:defRPr sz="1800" kern="1200">
                          <a:solidFill>
                            <a:schemeClr val="tx1"/>
                          </a:solidFill>
                          <a:latin typeface="Segoe UI" panose="020B0502040204020203"/>
                        </a:defRPr>
                      </a:lvl7pPr>
                      <a:lvl8pPr marL="3200400" algn="l" defTabSz="914400" rtl="0" eaLnBrk="1" latinLnBrk="0" hangingPunct="1">
                        <a:defRPr sz="1800" kern="1200">
                          <a:solidFill>
                            <a:schemeClr val="tx1"/>
                          </a:solidFill>
                          <a:latin typeface="Segoe UI" panose="020B0502040204020203"/>
                        </a:defRPr>
                      </a:lvl8pPr>
                      <a:lvl9pPr marL="3657600" algn="l" defTabSz="914400" rtl="0" eaLnBrk="1" latinLnBrk="0" hangingPunct="1">
                        <a:defRPr sz="1800" kern="1200">
                          <a:solidFill>
                            <a:schemeClr val="tx1"/>
                          </a:solidFill>
                          <a:latin typeface="Segoe UI" panose="020B0502040204020203"/>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400" b="1" i="0" u="none" strike="noStrike" cap="none" normalizeH="0" baseline="0" dirty="0">
                          <a:ln>
                            <a:noFill/>
                          </a:ln>
                          <a:solidFill>
                            <a:schemeClr val="tx1"/>
                          </a:solidFill>
                          <a:effectLst/>
                          <a:latin typeface="+mn-ea"/>
                          <a:ea typeface="+mn-ea"/>
                          <a:cs typeface="Arial" panose="020B0604020202090204"/>
                          <a:sym typeface="微软雅黑" charset="-122"/>
                        </a:rPr>
                        <a:t>评价要求</a:t>
                      </a:r>
                      <a:endParaRPr kumimoji="1" lang="zh-CN" altLang="en-US" sz="14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Segoe UI" panose="020B0502040204020203"/>
                        </a:defRPr>
                      </a:lvl1pPr>
                      <a:lvl2pPr marL="457200" algn="l" defTabSz="914400" rtl="0" eaLnBrk="1" latinLnBrk="0" hangingPunct="1">
                        <a:defRPr sz="1800" kern="1200">
                          <a:solidFill>
                            <a:schemeClr val="tx1"/>
                          </a:solidFill>
                          <a:latin typeface="Segoe UI" panose="020B0502040204020203"/>
                        </a:defRPr>
                      </a:lvl2pPr>
                      <a:lvl3pPr marL="914400" algn="l" defTabSz="914400" rtl="0" eaLnBrk="1" latinLnBrk="0" hangingPunct="1">
                        <a:defRPr sz="1800" kern="1200">
                          <a:solidFill>
                            <a:schemeClr val="tx1"/>
                          </a:solidFill>
                          <a:latin typeface="Segoe UI" panose="020B0502040204020203"/>
                        </a:defRPr>
                      </a:lvl3pPr>
                      <a:lvl4pPr marL="1371600" algn="l" defTabSz="914400" rtl="0" eaLnBrk="1" latinLnBrk="0" hangingPunct="1">
                        <a:defRPr sz="1800" kern="1200">
                          <a:solidFill>
                            <a:schemeClr val="tx1"/>
                          </a:solidFill>
                          <a:latin typeface="Segoe UI" panose="020B0502040204020203"/>
                        </a:defRPr>
                      </a:lvl4pPr>
                      <a:lvl5pPr marL="1828800" algn="l" defTabSz="914400" rtl="0" eaLnBrk="1" latinLnBrk="0" hangingPunct="1">
                        <a:defRPr sz="1800" kern="1200">
                          <a:solidFill>
                            <a:schemeClr val="tx1"/>
                          </a:solidFill>
                          <a:latin typeface="Segoe UI" panose="020B0502040204020203"/>
                        </a:defRPr>
                      </a:lvl5pPr>
                      <a:lvl6pPr marL="2286000" algn="l" defTabSz="914400" rtl="0" eaLnBrk="1" latinLnBrk="0" hangingPunct="1">
                        <a:defRPr sz="1800" kern="1200">
                          <a:solidFill>
                            <a:schemeClr val="tx1"/>
                          </a:solidFill>
                          <a:latin typeface="Segoe UI" panose="020B0502040204020203"/>
                        </a:defRPr>
                      </a:lvl6pPr>
                      <a:lvl7pPr marL="2743200" algn="l" defTabSz="914400" rtl="0" eaLnBrk="1" latinLnBrk="0" hangingPunct="1">
                        <a:defRPr sz="1800" kern="1200">
                          <a:solidFill>
                            <a:schemeClr val="tx1"/>
                          </a:solidFill>
                          <a:latin typeface="Segoe UI" panose="020B0502040204020203"/>
                        </a:defRPr>
                      </a:lvl7pPr>
                      <a:lvl8pPr marL="3200400" algn="l" defTabSz="914400" rtl="0" eaLnBrk="1" latinLnBrk="0" hangingPunct="1">
                        <a:defRPr sz="1800" kern="1200">
                          <a:solidFill>
                            <a:schemeClr val="tx1"/>
                          </a:solidFill>
                          <a:latin typeface="Segoe UI" panose="020B0502040204020203"/>
                        </a:defRPr>
                      </a:lvl8pPr>
                      <a:lvl9pPr marL="3657600" algn="l" defTabSz="914400" rtl="0" eaLnBrk="1" latinLnBrk="0" hangingPunct="1">
                        <a:defRPr sz="1800" kern="1200">
                          <a:solidFill>
                            <a:schemeClr val="tx1"/>
                          </a:solidFill>
                          <a:latin typeface="Segoe UI" panose="020B0502040204020203"/>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rPr>
                        <a:t>事实依据</a:t>
                      </a:r>
                      <a:endParaRPr kumimoji="1" lang="zh-CN" altLang="en-US" sz="12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Segoe UI" panose="020B0502040204020203"/>
                        </a:defRPr>
                      </a:lvl1pPr>
                      <a:lvl2pPr marL="457200" algn="l" defTabSz="914400" rtl="0" eaLnBrk="1" latinLnBrk="0" hangingPunct="1">
                        <a:defRPr sz="1800" kern="1200">
                          <a:solidFill>
                            <a:schemeClr val="tx1"/>
                          </a:solidFill>
                          <a:latin typeface="Segoe UI" panose="020B0502040204020203"/>
                        </a:defRPr>
                      </a:lvl2pPr>
                      <a:lvl3pPr marL="914400" algn="l" defTabSz="914400" rtl="0" eaLnBrk="1" latinLnBrk="0" hangingPunct="1">
                        <a:defRPr sz="1800" kern="1200">
                          <a:solidFill>
                            <a:schemeClr val="tx1"/>
                          </a:solidFill>
                          <a:latin typeface="Segoe UI" panose="020B0502040204020203"/>
                        </a:defRPr>
                      </a:lvl3pPr>
                      <a:lvl4pPr marL="1371600" algn="l" defTabSz="914400" rtl="0" eaLnBrk="1" latinLnBrk="0" hangingPunct="1">
                        <a:defRPr sz="1800" kern="1200">
                          <a:solidFill>
                            <a:schemeClr val="tx1"/>
                          </a:solidFill>
                          <a:latin typeface="Segoe UI" panose="020B0502040204020203"/>
                        </a:defRPr>
                      </a:lvl4pPr>
                      <a:lvl5pPr marL="1828800" algn="l" defTabSz="914400" rtl="0" eaLnBrk="1" latinLnBrk="0" hangingPunct="1">
                        <a:defRPr sz="1800" kern="1200">
                          <a:solidFill>
                            <a:schemeClr val="tx1"/>
                          </a:solidFill>
                          <a:latin typeface="Segoe UI" panose="020B0502040204020203"/>
                        </a:defRPr>
                      </a:lvl5pPr>
                      <a:lvl6pPr marL="2286000" algn="l" defTabSz="914400" rtl="0" eaLnBrk="1" latinLnBrk="0" hangingPunct="1">
                        <a:defRPr sz="1800" kern="1200">
                          <a:solidFill>
                            <a:schemeClr val="tx1"/>
                          </a:solidFill>
                          <a:latin typeface="Segoe UI" panose="020B0502040204020203"/>
                        </a:defRPr>
                      </a:lvl6pPr>
                      <a:lvl7pPr marL="2743200" algn="l" defTabSz="914400" rtl="0" eaLnBrk="1" latinLnBrk="0" hangingPunct="1">
                        <a:defRPr sz="1800" kern="1200">
                          <a:solidFill>
                            <a:schemeClr val="tx1"/>
                          </a:solidFill>
                          <a:latin typeface="Segoe UI" panose="020B0502040204020203"/>
                        </a:defRPr>
                      </a:lvl7pPr>
                      <a:lvl8pPr marL="3200400" algn="l" defTabSz="914400" rtl="0" eaLnBrk="1" latinLnBrk="0" hangingPunct="1">
                        <a:defRPr sz="1800" kern="1200">
                          <a:solidFill>
                            <a:schemeClr val="tx1"/>
                          </a:solidFill>
                          <a:latin typeface="Segoe UI" panose="020B0502040204020203"/>
                        </a:defRPr>
                      </a:lvl8pPr>
                      <a:lvl9pPr marL="3657600" algn="l" defTabSz="914400" rtl="0" eaLnBrk="1" latinLnBrk="0" hangingPunct="1">
                        <a:defRPr sz="1800" kern="1200">
                          <a:solidFill>
                            <a:schemeClr val="tx1"/>
                          </a:solidFill>
                          <a:latin typeface="Segoe UI" panose="020B0502040204020203"/>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endParaRPr kumimoji="1" lang="en-US" altLang="zh-CN" sz="12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endParaRPr kumimoji="1" lang="en-US" altLang="zh-CN" sz="1200" b="1" i="0" u="none" strike="noStrike" kern="1200"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Segoe UI" panose="020B0502040204020203"/>
                        </a:defRPr>
                      </a:lvl1pPr>
                      <a:lvl2pPr marL="457200" algn="l" defTabSz="914400" rtl="0" eaLnBrk="1" latinLnBrk="0" hangingPunct="1">
                        <a:defRPr sz="1800" kern="1200">
                          <a:solidFill>
                            <a:schemeClr val="tx1"/>
                          </a:solidFill>
                          <a:latin typeface="Segoe UI" panose="020B0502040204020203"/>
                        </a:defRPr>
                      </a:lvl2pPr>
                      <a:lvl3pPr marL="914400" algn="l" defTabSz="914400" rtl="0" eaLnBrk="1" latinLnBrk="0" hangingPunct="1">
                        <a:defRPr sz="1800" kern="1200">
                          <a:solidFill>
                            <a:schemeClr val="tx1"/>
                          </a:solidFill>
                          <a:latin typeface="Segoe UI" panose="020B0502040204020203"/>
                        </a:defRPr>
                      </a:lvl3pPr>
                      <a:lvl4pPr marL="1371600" algn="l" defTabSz="914400" rtl="0" eaLnBrk="1" latinLnBrk="0" hangingPunct="1">
                        <a:defRPr sz="1800" kern="1200">
                          <a:solidFill>
                            <a:schemeClr val="tx1"/>
                          </a:solidFill>
                          <a:latin typeface="Segoe UI" panose="020B0502040204020203"/>
                        </a:defRPr>
                      </a:lvl4pPr>
                      <a:lvl5pPr marL="1828800" algn="l" defTabSz="914400" rtl="0" eaLnBrk="1" latinLnBrk="0" hangingPunct="1">
                        <a:defRPr sz="1800" kern="1200">
                          <a:solidFill>
                            <a:schemeClr val="tx1"/>
                          </a:solidFill>
                          <a:latin typeface="Segoe UI" panose="020B0502040204020203"/>
                        </a:defRPr>
                      </a:lvl5pPr>
                      <a:lvl6pPr marL="2286000" algn="l" defTabSz="914400" rtl="0" eaLnBrk="1" latinLnBrk="0" hangingPunct="1">
                        <a:defRPr sz="1800" kern="1200">
                          <a:solidFill>
                            <a:schemeClr val="tx1"/>
                          </a:solidFill>
                          <a:latin typeface="Segoe UI" panose="020B0502040204020203"/>
                        </a:defRPr>
                      </a:lvl6pPr>
                      <a:lvl7pPr marL="2743200" algn="l" defTabSz="914400" rtl="0" eaLnBrk="1" latinLnBrk="0" hangingPunct="1">
                        <a:defRPr sz="1800" kern="1200">
                          <a:solidFill>
                            <a:schemeClr val="tx1"/>
                          </a:solidFill>
                          <a:latin typeface="Segoe UI" panose="020B0502040204020203"/>
                        </a:defRPr>
                      </a:lvl7pPr>
                      <a:lvl8pPr marL="3200400" algn="l" defTabSz="914400" rtl="0" eaLnBrk="1" latinLnBrk="0" hangingPunct="1">
                        <a:defRPr sz="1800" kern="1200">
                          <a:solidFill>
                            <a:schemeClr val="tx1"/>
                          </a:solidFill>
                          <a:latin typeface="Segoe UI" panose="020B0502040204020203"/>
                        </a:defRPr>
                      </a:lvl8pPr>
                      <a:lvl9pPr marL="3657600" algn="l" defTabSz="914400" rtl="0" eaLnBrk="1" latinLnBrk="0" hangingPunct="1">
                        <a:defRPr sz="1800" kern="1200">
                          <a:solidFill>
                            <a:schemeClr val="tx1"/>
                          </a:solidFill>
                          <a:latin typeface="Segoe UI" panose="020B0502040204020203"/>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200" b="1" dirty="0">
                          <a:ln>
                            <a:noFill/>
                          </a:ln>
                          <a:solidFill>
                            <a:schemeClr val="tx1"/>
                          </a:solidFill>
                          <a:effectLst/>
                          <a:latin typeface="+mn-ea"/>
                          <a:cs typeface="Arial" panose="020B0604020202090204"/>
                          <a:sym typeface="微软雅黑" charset="-122"/>
                        </a:rPr>
                        <a:t>事实依据</a:t>
                      </a:r>
                      <a:endParaRPr kumimoji="1" lang="en-US" altLang="zh-CN" sz="1200" b="1"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420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dirty="0">
                          <a:solidFill>
                            <a:schemeClr val="tx1"/>
                          </a:solidFill>
                          <a:latin typeface="+mn-ea"/>
                          <a:ea typeface="+mn-ea"/>
                        </a:rPr>
                        <a:t>个人绩效系数</a:t>
                      </a:r>
                      <a:endParaRPr lang="zh-CN" altLang="en-US" sz="1400"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mn-ea"/>
                          <a:ea typeface="+mn-ea"/>
                        </a:rPr>
                        <a:t>2</a:t>
                      </a:r>
                      <a:endParaRPr lang="zh-CN" altLang="en-US" sz="1200"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mn-ea"/>
                          <a:ea typeface="+mn-ea"/>
                        </a:rPr>
                        <a:t>1</a:t>
                      </a:r>
                      <a:endParaRPr lang="zh-CN" altLang="en-US" sz="1200"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mn-ea"/>
                          <a:ea typeface="+mn-ea"/>
                        </a:rPr>
                        <a:t>0.5</a:t>
                      </a:r>
                      <a:endParaRPr lang="en-US" altLang="zh-CN" sz="1200"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mn-ea"/>
                          <a:ea typeface="+mn-ea"/>
                        </a:rPr>
                        <a:t>0</a:t>
                      </a:r>
                      <a:endParaRPr lang="zh-CN" altLang="en-US" sz="1200"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420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dirty="0">
                          <a:latin typeface="+mn-ea"/>
                          <a:ea typeface="+mn-ea"/>
                        </a:rPr>
                        <a:t>比例要求</a:t>
                      </a:r>
                      <a:endParaRPr lang="zh-CN" altLang="en-US" sz="1400"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mn-ea"/>
                          <a:ea typeface="+mn-ea"/>
                        </a:rPr>
                        <a:t>10%</a:t>
                      </a:r>
                      <a:endParaRPr lang="zh-CN" altLang="en-US" sz="1200"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mn-ea"/>
                          <a:ea typeface="+mn-ea"/>
                        </a:rPr>
                        <a:t>30%</a:t>
                      </a:r>
                      <a:endParaRPr lang="zh-CN" altLang="en-US" sz="1200"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mn-ea"/>
                          <a:ea typeface="+mn-ea"/>
                        </a:rPr>
                        <a:t>50%</a:t>
                      </a:r>
                      <a:endParaRPr lang="en-US" altLang="zh-CN" sz="1200"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mn-ea"/>
                          <a:ea typeface="+mn-ea"/>
                        </a:rPr>
                        <a:t>10%</a:t>
                      </a:r>
                      <a:endParaRPr lang="zh-CN" altLang="en-US" sz="1200"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矩形 6"/>
          <p:cNvSpPr/>
          <p:nvPr/>
        </p:nvSpPr>
        <p:spPr>
          <a:xfrm>
            <a:off x="673934" y="6013343"/>
            <a:ext cx="8967778" cy="5092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备注：若从分数无法到比例要求，建议员工按照在所在组织进行排名：</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考核得分排名前</a:t>
            </a:r>
            <a:r>
              <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rPr>
              <a:t>10%</a:t>
            </a: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评为</a:t>
            </a:r>
            <a:r>
              <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rPr>
              <a:t>A</a:t>
            </a: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；考核得分排名前</a:t>
            </a:r>
            <a:r>
              <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rPr>
              <a:t>10%-40%</a:t>
            </a: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评为</a:t>
            </a:r>
            <a:r>
              <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rPr>
              <a:t>B</a:t>
            </a: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；排名最后</a:t>
            </a:r>
            <a:r>
              <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rPr>
              <a:t>10%</a:t>
            </a: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为</a:t>
            </a:r>
            <a:r>
              <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rPr>
              <a:t>D</a:t>
            </a: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；其余考核得分为</a:t>
            </a:r>
            <a:r>
              <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rPr>
              <a:t>C</a:t>
            </a:r>
            <a:endParaRPr kumimoji="0" lang="en-US" altLang="zh-CN"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sz="3200" dirty="0"/>
              <a:t>个人绩效考核流程 </a:t>
            </a:r>
            <a:r>
              <a:rPr lang="en-US" altLang="zh-CN" sz="3200" dirty="0"/>
              <a:t>- </a:t>
            </a:r>
            <a:r>
              <a:rPr lang="zh-CN" altLang="en-US" sz="3200" dirty="0"/>
              <a:t>三层闭环、双线评定、公正评价</a:t>
            </a:r>
            <a:endParaRPr lang="zh-CN" altLang="en-US" sz="3200"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sp>
        <p:nvSpPr>
          <p:cNvPr id="2" name="矩形 1"/>
          <p:cNvSpPr/>
          <p:nvPr/>
        </p:nvSpPr>
        <p:spPr>
          <a:xfrm>
            <a:off x="710141" y="1632835"/>
            <a:ext cx="2051033" cy="5962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sz="1400" b="1">
                <a:solidFill>
                  <a:schemeClr val="tx1"/>
                </a:solidFill>
                <a:latin typeface="黑体" panose="02010609060101010101" pitchFamily="49" charset="-122"/>
                <a:ea typeface="黑体" panose="02010609060101010101" pitchFamily="49" charset="-122"/>
              </a:defRPr>
            </a:lvl1pPr>
            <a:lvl2pPr marL="742950" indent="-285750">
              <a:defRPr kumimoji="1" sz="1400" b="1">
                <a:solidFill>
                  <a:schemeClr val="tx1"/>
                </a:solidFill>
                <a:latin typeface="黑体" panose="02010609060101010101" pitchFamily="49" charset="-122"/>
                <a:ea typeface="黑体" panose="02010609060101010101" pitchFamily="49" charset="-122"/>
              </a:defRPr>
            </a:lvl2pPr>
            <a:lvl3pPr marL="1143000" indent="-228600">
              <a:defRPr kumimoji="1" sz="1400" b="1">
                <a:solidFill>
                  <a:schemeClr val="tx1"/>
                </a:solidFill>
                <a:latin typeface="黑体" panose="02010609060101010101" pitchFamily="49" charset="-122"/>
                <a:ea typeface="黑体" panose="02010609060101010101" pitchFamily="49" charset="-122"/>
              </a:defRPr>
            </a:lvl3pPr>
            <a:lvl4pPr marL="1600200" indent="-228600">
              <a:defRPr kumimoji="1" sz="1400" b="1">
                <a:solidFill>
                  <a:schemeClr val="tx1"/>
                </a:solidFill>
                <a:latin typeface="黑体" panose="02010609060101010101" pitchFamily="49" charset="-122"/>
                <a:ea typeface="黑体" panose="02010609060101010101" pitchFamily="49" charset="-122"/>
              </a:defRPr>
            </a:lvl4pPr>
            <a:lvl5pPr marL="2057400" indent="-228600">
              <a:defRPr kumimoji="1" sz="1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公司总经理</a:t>
            </a:r>
            <a:endPar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7" name="矩形 6"/>
          <p:cNvSpPr/>
          <p:nvPr/>
        </p:nvSpPr>
        <p:spPr>
          <a:xfrm>
            <a:off x="688377" y="2922022"/>
            <a:ext cx="2051033" cy="5962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sz="1400" b="1">
                <a:solidFill>
                  <a:schemeClr val="tx1"/>
                </a:solidFill>
                <a:latin typeface="黑体" panose="02010609060101010101" pitchFamily="49" charset="-122"/>
                <a:ea typeface="黑体" panose="02010609060101010101" pitchFamily="49" charset="-122"/>
              </a:defRPr>
            </a:lvl1pPr>
            <a:lvl2pPr marL="742950" indent="-285750">
              <a:defRPr kumimoji="1" sz="1400" b="1">
                <a:solidFill>
                  <a:schemeClr val="tx1"/>
                </a:solidFill>
                <a:latin typeface="黑体" panose="02010609060101010101" pitchFamily="49" charset="-122"/>
                <a:ea typeface="黑体" panose="02010609060101010101" pitchFamily="49" charset="-122"/>
              </a:defRPr>
            </a:lvl2pPr>
            <a:lvl3pPr marL="1143000" indent="-228600">
              <a:defRPr kumimoji="1" sz="1400" b="1">
                <a:solidFill>
                  <a:schemeClr val="tx1"/>
                </a:solidFill>
                <a:latin typeface="黑体" panose="02010609060101010101" pitchFamily="49" charset="-122"/>
                <a:ea typeface="黑体" panose="02010609060101010101" pitchFamily="49" charset="-122"/>
              </a:defRPr>
            </a:lvl3pPr>
            <a:lvl4pPr marL="1600200" indent="-228600">
              <a:defRPr kumimoji="1" sz="1400" b="1">
                <a:solidFill>
                  <a:schemeClr val="tx1"/>
                </a:solidFill>
                <a:latin typeface="黑体" panose="02010609060101010101" pitchFamily="49" charset="-122"/>
                <a:ea typeface="黑体" panose="02010609060101010101" pitchFamily="49" charset="-122"/>
              </a:defRPr>
            </a:lvl4pPr>
            <a:lvl5pPr marL="2057400" indent="-228600">
              <a:defRPr kumimoji="1" sz="1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上级主管</a:t>
            </a:r>
            <a:endPar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（示例：部门总监）</a:t>
            </a:r>
            <a:endParaRPr kumimoji="1" lang="zh-CN" altLang="en-US" sz="11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8" name="矩形 7"/>
          <p:cNvSpPr/>
          <p:nvPr/>
        </p:nvSpPr>
        <p:spPr>
          <a:xfrm>
            <a:off x="688376" y="4375499"/>
            <a:ext cx="2051033" cy="59363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直接主管</a:t>
            </a:r>
            <a:endPar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（示例：模块负责人）</a:t>
            </a:r>
            <a:endParaRPr kumimoji="1" lang="zh-CN" altLang="en-US" sz="11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9" name="矩形 8"/>
          <p:cNvSpPr/>
          <p:nvPr/>
        </p:nvSpPr>
        <p:spPr>
          <a:xfrm>
            <a:off x="688376" y="5832868"/>
            <a:ext cx="2051033" cy="55382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sz="1400" b="1">
                <a:solidFill>
                  <a:schemeClr val="tx1"/>
                </a:solidFill>
                <a:latin typeface="黑体" panose="02010609060101010101" pitchFamily="49" charset="-122"/>
                <a:ea typeface="黑体" panose="02010609060101010101" pitchFamily="49" charset="-122"/>
              </a:defRPr>
            </a:lvl1pPr>
            <a:lvl2pPr marL="742950" indent="-285750">
              <a:defRPr kumimoji="1" sz="1400" b="1">
                <a:solidFill>
                  <a:schemeClr val="tx1"/>
                </a:solidFill>
                <a:latin typeface="黑体" panose="02010609060101010101" pitchFamily="49" charset="-122"/>
                <a:ea typeface="黑体" panose="02010609060101010101" pitchFamily="49" charset="-122"/>
              </a:defRPr>
            </a:lvl2pPr>
            <a:lvl3pPr marL="1143000" indent="-228600">
              <a:defRPr kumimoji="1" sz="1400" b="1">
                <a:solidFill>
                  <a:schemeClr val="tx1"/>
                </a:solidFill>
                <a:latin typeface="黑体" panose="02010609060101010101" pitchFamily="49" charset="-122"/>
                <a:ea typeface="黑体" panose="02010609060101010101" pitchFamily="49" charset="-122"/>
              </a:defRPr>
            </a:lvl3pPr>
            <a:lvl4pPr marL="1600200" indent="-228600">
              <a:defRPr kumimoji="1" sz="1400" b="1">
                <a:solidFill>
                  <a:schemeClr val="tx1"/>
                </a:solidFill>
                <a:latin typeface="黑体" panose="02010609060101010101" pitchFamily="49" charset="-122"/>
                <a:ea typeface="黑体" panose="02010609060101010101" pitchFamily="49" charset="-122"/>
              </a:defRPr>
            </a:lvl4pPr>
            <a:lvl5pPr marL="2057400" indent="-228600">
              <a:defRPr kumimoji="1" sz="1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员工</a:t>
            </a:r>
            <a:endPar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10" name="矩形 9"/>
          <p:cNvSpPr/>
          <p:nvPr/>
        </p:nvSpPr>
        <p:spPr>
          <a:xfrm>
            <a:off x="3594653" y="1684131"/>
            <a:ext cx="3163363" cy="8166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sz="1400" b="1">
                <a:solidFill>
                  <a:schemeClr val="tx1"/>
                </a:solidFill>
                <a:latin typeface="黑体" panose="02010609060101010101" pitchFamily="49" charset="-122"/>
                <a:ea typeface="黑体" panose="02010609060101010101" pitchFamily="49" charset="-122"/>
              </a:defRPr>
            </a:lvl1pPr>
            <a:lvl2pPr marL="742950" indent="-285750">
              <a:defRPr kumimoji="1" sz="1400" b="1">
                <a:solidFill>
                  <a:schemeClr val="tx1"/>
                </a:solidFill>
                <a:latin typeface="黑体" panose="02010609060101010101" pitchFamily="49" charset="-122"/>
                <a:ea typeface="黑体" panose="02010609060101010101" pitchFamily="49" charset="-122"/>
              </a:defRPr>
            </a:lvl2pPr>
            <a:lvl3pPr marL="1143000" indent="-228600">
              <a:defRPr kumimoji="1" sz="1400" b="1">
                <a:solidFill>
                  <a:schemeClr val="tx1"/>
                </a:solidFill>
                <a:latin typeface="黑体" panose="02010609060101010101" pitchFamily="49" charset="-122"/>
                <a:ea typeface="黑体" panose="02010609060101010101" pitchFamily="49" charset="-122"/>
              </a:defRPr>
            </a:lvl3pPr>
            <a:lvl4pPr marL="1600200" indent="-228600">
              <a:defRPr kumimoji="1" sz="1400" b="1">
                <a:solidFill>
                  <a:schemeClr val="tx1"/>
                </a:solidFill>
                <a:latin typeface="黑体" panose="02010609060101010101" pitchFamily="49" charset="-122"/>
                <a:ea typeface="黑体" panose="02010609060101010101" pitchFamily="49" charset="-122"/>
              </a:defRPr>
            </a:lvl4pPr>
            <a:lvl5pPr marL="2057400" indent="-228600">
              <a:defRPr kumimoji="1" sz="1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5</a:t>
            </a:r>
            <a:r>
              <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、结果批准：</a:t>
            </a:r>
            <a:endPar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审视团队整体绩效分布</a:t>
            </a:r>
            <a:endParaRPr kumimoji="1" lang="en-US" altLang="zh-CN"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批准绩效评价结果生效</a:t>
            </a:r>
            <a:endPar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11" name="矩形 10"/>
          <p:cNvSpPr/>
          <p:nvPr/>
        </p:nvSpPr>
        <p:spPr>
          <a:xfrm>
            <a:off x="3594653" y="2882947"/>
            <a:ext cx="3163363" cy="88165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sz="1400" b="1">
                <a:solidFill>
                  <a:schemeClr val="tx1"/>
                </a:solidFill>
                <a:latin typeface="黑体" panose="02010609060101010101" pitchFamily="49" charset="-122"/>
                <a:ea typeface="黑体" panose="02010609060101010101" pitchFamily="49" charset="-122"/>
              </a:defRPr>
            </a:lvl1pPr>
            <a:lvl2pPr marL="742950" indent="-285750">
              <a:defRPr kumimoji="1" sz="1400" b="1">
                <a:solidFill>
                  <a:schemeClr val="tx1"/>
                </a:solidFill>
                <a:latin typeface="黑体" panose="02010609060101010101" pitchFamily="49" charset="-122"/>
                <a:ea typeface="黑体" panose="02010609060101010101" pitchFamily="49" charset="-122"/>
              </a:defRPr>
            </a:lvl2pPr>
            <a:lvl3pPr marL="1143000" indent="-228600">
              <a:defRPr kumimoji="1" sz="1400" b="1">
                <a:solidFill>
                  <a:schemeClr val="tx1"/>
                </a:solidFill>
                <a:latin typeface="黑体" panose="02010609060101010101" pitchFamily="49" charset="-122"/>
                <a:ea typeface="黑体" panose="02010609060101010101" pitchFamily="49" charset="-122"/>
              </a:defRPr>
            </a:lvl3pPr>
            <a:lvl4pPr marL="1600200" indent="-228600">
              <a:defRPr kumimoji="1" sz="1400" b="1">
                <a:solidFill>
                  <a:schemeClr val="tx1"/>
                </a:solidFill>
                <a:latin typeface="黑体" panose="02010609060101010101" pitchFamily="49" charset="-122"/>
                <a:ea typeface="黑体" panose="02010609060101010101" pitchFamily="49" charset="-122"/>
              </a:defRPr>
            </a:lvl4pPr>
            <a:lvl5pPr marL="2057400" indent="-228600">
              <a:defRPr kumimoji="1" sz="1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4</a:t>
            </a:r>
            <a:r>
              <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、部门集体评议：</a:t>
            </a:r>
            <a:endPar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控制比例分布，审视高低绩效和特殊人群确定绩效评价结果</a:t>
            </a:r>
            <a:endPar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12" name="矩形 11"/>
          <p:cNvSpPr/>
          <p:nvPr/>
        </p:nvSpPr>
        <p:spPr>
          <a:xfrm>
            <a:off x="3593859" y="4109085"/>
            <a:ext cx="3163363" cy="92928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sz="1400" b="1">
                <a:solidFill>
                  <a:schemeClr val="tx1"/>
                </a:solidFill>
                <a:latin typeface="黑体" panose="02010609060101010101" pitchFamily="49" charset="-122"/>
                <a:ea typeface="黑体" panose="02010609060101010101" pitchFamily="49" charset="-122"/>
              </a:defRPr>
            </a:lvl1pPr>
            <a:lvl2pPr marL="742950" indent="-285750">
              <a:defRPr kumimoji="1" sz="1400" b="1">
                <a:solidFill>
                  <a:schemeClr val="tx1"/>
                </a:solidFill>
                <a:latin typeface="黑体" panose="02010609060101010101" pitchFamily="49" charset="-122"/>
                <a:ea typeface="黑体" panose="02010609060101010101" pitchFamily="49" charset="-122"/>
              </a:defRPr>
            </a:lvl2pPr>
            <a:lvl3pPr marL="1143000" indent="-228600">
              <a:defRPr kumimoji="1" sz="1400" b="1">
                <a:solidFill>
                  <a:schemeClr val="tx1"/>
                </a:solidFill>
                <a:latin typeface="黑体" panose="02010609060101010101" pitchFamily="49" charset="-122"/>
                <a:ea typeface="黑体" panose="02010609060101010101" pitchFamily="49" charset="-122"/>
              </a:defRPr>
            </a:lvl3pPr>
            <a:lvl4pPr marL="1600200" indent="-228600">
              <a:defRPr kumimoji="1" sz="1400" b="1">
                <a:solidFill>
                  <a:schemeClr val="tx1"/>
                </a:solidFill>
                <a:latin typeface="黑体" panose="02010609060101010101" pitchFamily="49" charset="-122"/>
                <a:ea typeface="黑体" panose="02010609060101010101" pitchFamily="49" charset="-122"/>
              </a:defRPr>
            </a:lvl4pPr>
            <a:lvl5pPr marL="2057400" indent="-228600">
              <a:defRPr kumimoji="1" sz="1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3</a:t>
            </a:r>
            <a:r>
              <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、主管初评：</a:t>
            </a:r>
            <a:endPar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收集周边意见，确认绩效事实和员工考评前沟通，形成初评结果排序（示例：</a:t>
            </a:r>
            <a:r>
              <a:rPr kumimoji="1" lang="en-US" altLang="zh-CN"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S/A/B/C</a:t>
            </a:r>
            <a:r>
              <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等级）</a:t>
            </a:r>
            <a:endParaRPr kumimoji="1" lang="en-US" altLang="zh-CN"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13" name="矩形 12"/>
          <p:cNvSpPr/>
          <p:nvPr/>
        </p:nvSpPr>
        <p:spPr>
          <a:xfrm>
            <a:off x="3593268" y="5669790"/>
            <a:ext cx="3163363" cy="84543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sz="1400" b="1">
                <a:solidFill>
                  <a:schemeClr val="tx1"/>
                </a:solidFill>
                <a:latin typeface="黑体" panose="02010609060101010101" pitchFamily="49" charset="-122"/>
                <a:ea typeface="黑体" panose="02010609060101010101" pitchFamily="49" charset="-122"/>
              </a:defRPr>
            </a:lvl1pPr>
            <a:lvl2pPr marL="742950" indent="-285750">
              <a:defRPr kumimoji="1" sz="1400" b="1">
                <a:solidFill>
                  <a:schemeClr val="tx1"/>
                </a:solidFill>
                <a:latin typeface="黑体" panose="02010609060101010101" pitchFamily="49" charset="-122"/>
                <a:ea typeface="黑体" panose="02010609060101010101" pitchFamily="49" charset="-122"/>
              </a:defRPr>
            </a:lvl2pPr>
            <a:lvl3pPr marL="1143000" indent="-228600">
              <a:defRPr kumimoji="1" sz="1400" b="1">
                <a:solidFill>
                  <a:schemeClr val="tx1"/>
                </a:solidFill>
                <a:latin typeface="黑体" panose="02010609060101010101" pitchFamily="49" charset="-122"/>
                <a:ea typeface="黑体" panose="02010609060101010101" pitchFamily="49" charset="-122"/>
              </a:defRPr>
            </a:lvl3pPr>
            <a:lvl4pPr marL="1600200" indent="-228600">
              <a:defRPr kumimoji="1" sz="1400" b="1">
                <a:solidFill>
                  <a:schemeClr val="tx1"/>
                </a:solidFill>
                <a:latin typeface="黑体" panose="02010609060101010101" pitchFamily="49" charset="-122"/>
                <a:ea typeface="黑体" panose="02010609060101010101" pitchFamily="49" charset="-122"/>
              </a:defRPr>
            </a:lvl4pPr>
            <a:lvl5pPr marL="2057400" indent="-228600">
              <a:defRPr kumimoji="1" sz="1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1</a:t>
            </a:r>
            <a:r>
              <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、员工自评：</a:t>
            </a:r>
            <a:endPar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对照</a:t>
            </a:r>
            <a:r>
              <a:rPr kumimoji="1" lang="en-US" altLang="zh-CN"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PBC</a:t>
            </a:r>
            <a:r>
              <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目标，进行实际完成情况的自评</a:t>
            </a:r>
            <a:endPar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14" name="流程图: 终止 13"/>
          <p:cNvSpPr/>
          <p:nvPr/>
        </p:nvSpPr>
        <p:spPr>
          <a:xfrm>
            <a:off x="7789628" y="5748019"/>
            <a:ext cx="2160587" cy="688976"/>
          </a:xfrm>
          <a:prstGeom prst="flowChartTerminator">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sz="1400" b="1">
                <a:solidFill>
                  <a:schemeClr val="tx1"/>
                </a:solidFill>
                <a:latin typeface="黑体" panose="02010609060101010101" pitchFamily="49" charset="-122"/>
                <a:ea typeface="黑体" panose="02010609060101010101" pitchFamily="49" charset="-122"/>
              </a:defRPr>
            </a:lvl1pPr>
            <a:lvl2pPr marL="742950" indent="-285750">
              <a:defRPr kumimoji="1" sz="1400" b="1">
                <a:solidFill>
                  <a:schemeClr val="tx1"/>
                </a:solidFill>
                <a:latin typeface="黑体" panose="02010609060101010101" pitchFamily="49" charset="-122"/>
                <a:ea typeface="黑体" panose="02010609060101010101" pitchFamily="49" charset="-122"/>
              </a:defRPr>
            </a:lvl2pPr>
            <a:lvl3pPr marL="1143000" indent="-228600">
              <a:defRPr kumimoji="1" sz="1400" b="1">
                <a:solidFill>
                  <a:schemeClr val="tx1"/>
                </a:solidFill>
                <a:latin typeface="黑体" panose="02010609060101010101" pitchFamily="49" charset="-122"/>
                <a:ea typeface="黑体" panose="02010609060101010101" pitchFamily="49" charset="-122"/>
              </a:defRPr>
            </a:lvl3pPr>
            <a:lvl4pPr marL="1600200" indent="-228600">
              <a:defRPr kumimoji="1" sz="1400" b="1">
                <a:solidFill>
                  <a:schemeClr val="tx1"/>
                </a:solidFill>
                <a:latin typeface="黑体" panose="02010609060101010101" pitchFamily="49" charset="-122"/>
                <a:ea typeface="黑体" panose="02010609060101010101" pitchFamily="49" charset="-122"/>
              </a:defRPr>
            </a:lvl4pPr>
            <a:lvl5pPr marL="2057400" indent="-228600">
              <a:defRPr kumimoji="1" sz="1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FFFFF"/>
                </a:solidFill>
                <a:effectLst/>
                <a:uLnTx/>
                <a:uFillTx/>
                <a:latin typeface="微软雅黑" charset="-122"/>
                <a:ea typeface="微软雅黑" charset="-122"/>
                <a:cs typeface="+mn-cs"/>
                <a:sym typeface="微软雅黑" charset="-122"/>
              </a:rPr>
              <a:t>开始：</a:t>
            </a:r>
            <a:endParaRPr kumimoji="1" lang="en-US" altLang="zh-CN" sz="1400" b="0" i="0" u="none" strike="noStrike" kern="1200" cap="none" spc="0" normalizeH="0" baseline="0" noProof="0" dirty="0">
              <a:ln>
                <a:noFill/>
              </a:ln>
              <a:solidFill>
                <a:srgbClr val="FFFFFF"/>
              </a:solidFill>
              <a:effectLst/>
              <a:uLnTx/>
              <a:uFillTx/>
              <a:latin typeface="微软雅黑" charset="-122"/>
              <a:ea typeface="微软雅黑" charset="-122"/>
              <a:cs typeface="+mn-cs"/>
              <a:sym typeface="微软雅黑"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FFFFF"/>
                </a:solidFill>
                <a:effectLst/>
                <a:uLnTx/>
                <a:uFillTx/>
                <a:latin typeface="微软雅黑" charset="-122"/>
                <a:ea typeface="微软雅黑" charset="-122"/>
                <a:cs typeface="+mn-cs"/>
                <a:sym typeface="微软雅黑" charset="-122"/>
              </a:rPr>
              <a:t>绩效评价启动</a:t>
            </a:r>
            <a:endParaRPr kumimoji="1" lang="zh-CN" altLang="en-US" sz="1400" b="0" i="0" u="none" strike="noStrike" kern="1200" cap="none" spc="0" normalizeH="0" baseline="0" noProof="0" dirty="0">
              <a:ln>
                <a:noFill/>
              </a:ln>
              <a:solidFill>
                <a:srgbClr val="FFFFFF"/>
              </a:solidFill>
              <a:effectLst/>
              <a:uLnTx/>
              <a:uFillTx/>
              <a:latin typeface="微软雅黑" charset="-122"/>
              <a:ea typeface="微软雅黑" charset="-122"/>
              <a:cs typeface="+mn-cs"/>
              <a:sym typeface="微软雅黑" charset="-122"/>
            </a:endParaRPr>
          </a:p>
        </p:txBody>
      </p:sp>
      <p:sp>
        <p:nvSpPr>
          <p:cNvPr id="15" name="流程图: 终止 14"/>
          <p:cNvSpPr/>
          <p:nvPr/>
        </p:nvSpPr>
        <p:spPr>
          <a:xfrm>
            <a:off x="7739563" y="1740227"/>
            <a:ext cx="2016125" cy="688975"/>
          </a:xfrm>
          <a:prstGeom prst="flowChartTerminator">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sz="1400" b="1">
                <a:solidFill>
                  <a:schemeClr val="tx1"/>
                </a:solidFill>
                <a:latin typeface="黑体" panose="02010609060101010101" pitchFamily="49" charset="-122"/>
                <a:ea typeface="黑体" panose="02010609060101010101" pitchFamily="49" charset="-122"/>
              </a:defRPr>
            </a:lvl1pPr>
            <a:lvl2pPr marL="742950" indent="-285750">
              <a:defRPr kumimoji="1" sz="1400" b="1">
                <a:solidFill>
                  <a:schemeClr val="tx1"/>
                </a:solidFill>
                <a:latin typeface="黑体" panose="02010609060101010101" pitchFamily="49" charset="-122"/>
                <a:ea typeface="黑体" panose="02010609060101010101" pitchFamily="49" charset="-122"/>
              </a:defRPr>
            </a:lvl2pPr>
            <a:lvl3pPr marL="1143000" indent="-228600">
              <a:defRPr kumimoji="1" sz="1400" b="1">
                <a:solidFill>
                  <a:schemeClr val="tx1"/>
                </a:solidFill>
                <a:latin typeface="黑体" panose="02010609060101010101" pitchFamily="49" charset="-122"/>
                <a:ea typeface="黑体" panose="02010609060101010101" pitchFamily="49" charset="-122"/>
              </a:defRPr>
            </a:lvl3pPr>
            <a:lvl4pPr marL="1600200" indent="-228600">
              <a:defRPr kumimoji="1" sz="1400" b="1">
                <a:solidFill>
                  <a:schemeClr val="tx1"/>
                </a:solidFill>
                <a:latin typeface="黑体" panose="02010609060101010101" pitchFamily="49" charset="-122"/>
                <a:ea typeface="黑体" panose="02010609060101010101" pitchFamily="49" charset="-122"/>
              </a:defRPr>
            </a:lvl4pPr>
            <a:lvl5pPr marL="2057400" indent="-228600">
              <a:defRPr kumimoji="1" sz="1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rPr>
              <a:t>结束：</a:t>
            </a:r>
            <a:endParaRPr kumimoji="1" lang="en-US" altLang="zh-CN" sz="140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rPr>
              <a:t>绩效结果沟通</a:t>
            </a:r>
            <a:endParaRPr kumimoji="1" lang="zh-CN" altLang="en-US" sz="140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cxnSp>
        <p:nvCxnSpPr>
          <p:cNvPr id="16" name="直接箭头连接符 15"/>
          <p:cNvCxnSpPr>
            <a:stCxn id="14" idx="1"/>
            <a:endCxn id="13" idx="3"/>
          </p:cNvCxnSpPr>
          <p:nvPr/>
        </p:nvCxnSpPr>
        <p:spPr>
          <a:xfrm flipH="1">
            <a:off x="6756631" y="6092507"/>
            <a:ext cx="103299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5584263" y="5314189"/>
            <a:ext cx="0" cy="360363"/>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5531875" y="3915362"/>
            <a:ext cx="0" cy="360363"/>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5584263" y="2370724"/>
            <a:ext cx="0" cy="360362"/>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0" idx="3"/>
            <a:endCxn id="15" idx="1"/>
          </p:cNvCxnSpPr>
          <p:nvPr/>
        </p:nvCxnSpPr>
        <p:spPr>
          <a:xfrm flipV="1">
            <a:off x="6758016" y="2084715"/>
            <a:ext cx="981547" cy="772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1"/>
          <p:cNvCxnSpPr>
            <a:stCxn id="12" idx="0"/>
            <a:endCxn id="11" idx="2"/>
          </p:cNvCxnSpPr>
          <p:nvPr/>
        </p:nvCxnSpPr>
        <p:spPr>
          <a:xfrm flipV="1">
            <a:off x="5175541" y="3764597"/>
            <a:ext cx="794" cy="34448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3" idx="0"/>
            <a:endCxn id="12" idx="2"/>
          </p:cNvCxnSpPr>
          <p:nvPr/>
        </p:nvCxnSpPr>
        <p:spPr>
          <a:xfrm flipV="1">
            <a:off x="5174950" y="5038374"/>
            <a:ext cx="591" cy="6314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1" idx="0"/>
            <a:endCxn id="10" idx="2"/>
          </p:cNvCxnSpPr>
          <p:nvPr/>
        </p:nvCxnSpPr>
        <p:spPr>
          <a:xfrm flipV="1">
            <a:off x="5176335" y="2500738"/>
            <a:ext cx="0" cy="38220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7789628" y="4862667"/>
            <a:ext cx="3163363" cy="71305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kumimoji="1" sz="1400" b="1">
                <a:solidFill>
                  <a:schemeClr val="tx1"/>
                </a:solidFill>
                <a:latin typeface="黑体" panose="02010609060101010101" pitchFamily="49" charset="-122"/>
                <a:ea typeface="黑体" panose="02010609060101010101" pitchFamily="49" charset="-122"/>
              </a:defRPr>
            </a:lvl1pPr>
            <a:lvl2pPr marL="742950" indent="-285750">
              <a:defRPr kumimoji="1" sz="1400" b="1">
                <a:solidFill>
                  <a:schemeClr val="tx1"/>
                </a:solidFill>
                <a:latin typeface="黑体" panose="02010609060101010101" pitchFamily="49" charset="-122"/>
                <a:ea typeface="黑体" panose="02010609060101010101" pitchFamily="49" charset="-122"/>
              </a:defRPr>
            </a:lvl2pPr>
            <a:lvl3pPr marL="1143000" indent="-228600">
              <a:defRPr kumimoji="1" sz="1400" b="1">
                <a:solidFill>
                  <a:schemeClr val="tx1"/>
                </a:solidFill>
                <a:latin typeface="黑体" panose="02010609060101010101" pitchFamily="49" charset="-122"/>
                <a:ea typeface="黑体" panose="02010609060101010101" pitchFamily="49" charset="-122"/>
              </a:defRPr>
            </a:lvl3pPr>
            <a:lvl4pPr marL="1600200" indent="-228600">
              <a:defRPr kumimoji="1" sz="1400" b="1">
                <a:solidFill>
                  <a:schemeClr val="tx1"/>
                </a:solidFill>
                <a:latin typeface="黑体" panose="02010609060101010101" pitchFamily="49" charset="-122"/>
                <a:ea typeface="黑体" panose="02010609060101010101" pitchFamily="49" charset="-122"/>
              </a:defRPr>
            </a:lvl4pPr>
            <a:lvl5pPr marL="2057400" indent="-228600">
              <a:defRPr kumimoji="1" sz="1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14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2</a:t>
            </a:r>
            <a:r>
              <a:rPr kumimoji="1" lang="zh-CN" altLang="en-US"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、项目经理（针对参与项目人员）</a:t>
            </a:r>
            <a:endParaRPr kumimoji="1" lang="en-US" altLang="zh-CN" sz="1400" b="1"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行使评价权：从项目贡献维度对相应责任提供绩效事实并评价</a:t>
            </a:r>
            <a:endParaRPr kumimoji="1" lang="zh-CN" altLang="en-US" sz="14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cxnSp>
        <p:nvCxnSpPr>
          <p:cNvPr id="25" name="直接箭头连接符 26"/>
          <p:cNvCxnSpPr/>
          <p:nvPr/>
        </p:nvCxnSpPr>
        <p:spPr>
          <a:xfrm flipV="1">
            <a:off x="5531875" y="3915362"/>
            <a:ext cx="0" cy="360363"/>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32"/>
          <p:cNvCxnSpPr/>
          <p:nvPr/>
        </p:nvCxnSpPr>
        <p:spPr>
          <a:xfrm flipV="1">
            <a:off x="5584263" y="2370724"/>
            <a:ext cx="0" cy="360362"/>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24" idx="1"/>
          </p:cNvCxnSpPr>
          <p:nvPr/>
        </p:nvCxnSpPr>
        <p:spPr>
          <a:xfrm flipH="1">
            <a:off x="5174949" y="5219196"/>
            <a:ext cx="26146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297075" y="1117931"/>
            <a:ext cx="877163"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责任人</a:t>
            </a:r>
            <a:endParaRPr kumimoji="0" lang="zh-CN" altLang="en-US" sz="18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29" name="文本框 28"/>
          <p:cNvSpPr txBox="1"/>
          <p:nvPr/>
        </p:nvSpPr>
        <p:spPr>
          <a:xfrm>
            <a:off x="6053656" y="1117931"/>
            <a:ext cx="20313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rPr>
              <a:t>个人绩效考核流程</a:t>
            </a:r>
            <a:endParaRPr kumimoji="0" lang="zh-CN" altLang="en-US" sz="1800" b="0" i="0" u="none" strike="noStrike" kern="1200" cap="none" spc="0" normalizeH="0" baseline="0" noProof="0" dirty="0">
              <a:ln>
                <a:noFill/>
              </a:ln>
              <a:solidFill>
                <a:srgbClr val="000000"/>
              </a:solidFill>
              <a:effectLst/>
              <a:uLnTx/>
              <a:uFillTx/>
              <a:latin typeface="微软雅黑" charset="-122"/>
              <a:ea typeface="微软雅黑" charset="-122"/>
              <a:cs typeface="+mn-cs"/>
              <a:sym typeface="微软雅黑" charset="-122"/>
            </a:endParaRPr>
          </a:p>
        </p:txBody>
      </p:sp>
      <p:sp>
        <p:nvSpPr>
          <p:cNvPr id="30" name="矩形 29"/>
          <p:cNvSpPr/>
          <p:nvPr/>
        </p:nvSpPr>
        <p:spPr>
          <a:xfrm>
            <a:off x="3351892" y="1561763"/>
            <a:ext cx="7865459" cy="50979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charset="-122"/>
              <a:ea typeface="微软雅黑" charset="-122"/>
              <a:cs typeface="+mn-cs"/>
              <a:sym typeface="微软雅黑"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08400" y="393770"/>
            <a:ext cx="10969200" cy="705600"/>
          </a:xfrm>
        </p:spPr>
        <p:txBody>
          <a:bodyPr>
            <a:normAutofit/>
          </a:bodyPr>
          <a:lstStyle/>
          <a:p>
            <a:r>
              <a:rPr lang="zh-CN" altLang="en-US" sz="3200" dirty="0"/>
              <a:t>绩效管理体系</a:t>
            </a:r>
            <a:r>
              <a:rPr lang="en-US" altLang="zh-CN" sz="3200" dirty="0"/>
              <a:t>-</a:t>
            </a:r>
            <a:r>
              <a:rPr lang="zh-CN" altLang="en-US" sz="3200" dirty="0"/>
              <a:t>个人绩效考核（部门经理级及以上员工）</a:t>
            </a:r>
            <a:endParaRPr lang="zh-CN" altLang="en-US" sz="3200"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graphicFrame>
        <p:nvGraphicFramePr>
          <p:cNvPr id="3" name="表格 2"/>
          <p:cNvGraphicFramePr>
            <a:graphicFrameLocks noGrp="1"/>
          </p:cNvGraphicFramePr>
          <p:nvPr>
            <p:custDataLst>
              <p:tags r:id="rId1"/>
            </p:custDataLst>
          </p:nvPr>
        </p:nvGraphicFramePr>
        <p:xfrm>
          <a:off x="1069711" y="1139604"/>
          <a:ext cx="10230204" cy="5200959"/>
        </p:xfrm>
        <a:graphic>
          <a:graphicData uri="http://schemas.openxmlformats.org/drawingml/2006/table">
            <a:tbl>
              <a:tblPr/>
              <a:tblGrid>
                <a:gridCol w="594236"/>
                <a:gridCol w="422899"/>
                <a:gridCol w="366127"/>
                <a:gridCol w="1512965"/>
                <a:gridCol w="2277117"/>
                <a:gridCol w="617115"/>
                <a:gridCol w="609347"/>
                <a:gridCol w="582584"/>
                <a:gridCol w="842846"/>
                <a:gridCol w="533975"/>
                <a:gridCol w="638141"/>
                <a:gridCol w="754356"/>
                <a:gridCol w="478496"/>
              </a:tblGrid>
              <a:tr h="420195">
                <a:tc gridSpan="13">
                  <a:txBody>
                    <a:bodyPr/>
                    <a:lstStyle/>
                    <a:p>
                      <a:pPr algn="ctr" fontAlgn="ctr"/>
                      <a:r>
                        <a:rPr lang="zh-CN" altLang="en-US" sz="1400" b="1" i="0" u="none" strike="noStrike" dirty="0">
                          <a:solidFill>
                            <a:srgbClr val="000000"/>
                          </a:solidFill>
                          <a:effectLst/>
                          <a:latin typeface="微软雅黑" charset="-122"/>
                          <a:ea typeface="微软雅黑" charset="-122"/>
                        </a:rPr>
                        <a:t>管理干部第</a:t>
                      </a:r>
                      <a:r>
                        <a:rPr lang="en-US" altLang="zh-CN" sz="1400" b="1" i="0" u="none" strike="noStrike" dirty="0">
                          <a:solidFill>
                            <a:srgbClr val="000000"/>
                          </a:solidFill>
                          <a:effectLst/>
                          <a:latin typeface="等线" panose="02010600030101010101" charset="-122"/>
                          <a:ea typeface="等线" panose="02010600030101010101" charset="-122"/>
                        </a:rPr>
                        <a:t>_</a:t>
                      </a:r>
                      <a:r>
                        <a:rPr lang="zh-CN" altLang="en-US" sz="1400" b="1" i="0" u="none" strike="noStrike" dirty="0">
                          <a:solidFill>
                            <a:srgbClr val="000000"/>
                          </a:solidFill>
                          <a:effectLst/>
                          <a:latin typeface="微软雅黑" charset="-122"/>
                          <a:ea typeface="微软雅黑" charset="-122"/>
                        </a:rPr>
                        <a:t>季度个人绩效承诺书</a:t>
                      </a:r>
                      <a:endParaRPr lang="zh-CN" altLang="en-US" sz="1400" b="1"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cPr/>
                </a:tc>
                <a:tc hMerge="1">
                  <a:tcPr/>
                </a:tc>
                <a:tc hMerge="1">
                  <a:tcPr/>
                </a:tc>
                <a:tc hMerge="1">
                  <a:tcPr/>
                </a:tc>
                <a:tc hMerge="1">
                  <a:tcPr>
                    <a:lnL w="6350" cap="flat" cmpd="sng" algn="ctr">
                      <a:solidFill>
                        <a:srgbClr val="000000"/>
                      </a:solidFill>
                      <a:prstDash val="solid"/>
                      <a:round/>
                      <a:headEnd type="none" w="med" len="med"/>
                      <a:tailEnd type="none" w="med" len="med"/>
                    </a:lnL>
                  </a:tcPr>
                </a:tc>
                <a:tc hMerge="1">
                  <a:tcPr>
                    <a:lnL w="6350" cap="flat" cmpd="sng" algn="ctr">
                      <a:solidFill>
                        <a:srgbClr val="000000"/>
                      </a:solidFill>
                      <a:prstDash val="solid"/>
                      <a:round/>
                      <a:headEnd type="none" w="med" len="med"/>
                      <a:tailEnd type="none" w="med" len="med"/>
                    </a:lnL>
                  </a:tcPr>
                </a:tc>
                <a:tc hMerge="1">
                  <a:tcPr>
                    <a:lnL w="6350" cap="flat" cmpd="sng" algn="ctr">
                      <a:solidFill>
                        <a:srgbClr val="000000"/>
                      </a:solidFill>
                      <a:prstDash val="solid"/>
                      <a:round/>
                      <a:headEnd type="none" w="med" len="med"/>
                      <a:tailEnd type="none" w="med" len="med"/>
                    </a:lnL>
                  </a:tcPr>
                </a:tc>
                <a:tc hMerge="1">
                  <a:tcPr/>
                </a:tc>
                <a:tc hMerge="1">
                  <a:tcPr/>
                </a:tc>
                <a:tc hMerge="1">
                  <a:tcPr/>
                </a:tc>
                <a:tc hMerge="1">
                  <a:tcPr/>
                </a:tc>
                <a:tc hMerge="1">
                  <a:tcPr/>
                </a:tc>
              </a:tr>
              <a:tr h="346059">
                <a:tc gridSpan="4">
                  <a:txBody>
                    <a:bodyPr/>
                    <a:lstStyle/>
                    <a:p>
                      <a:pPr algn="l" fontAlgn="ctr"/>
                      <a:r>
                        <a:rPr lang="zh-CN" altLang="en-US" sz="1200" b="0" i="0" u="none" strike="noStrike" dirty="0">
                          <a:solidFill>
                            <a:srgbClr val="000000"/>
                          </a:solidFill>
                          <a:effectLst/>
                          <a:latin typeface="微软雅黑" charset="-122"/>
                          <a:ea typeface="微软雅黑" charset="-122"/>
                        </a:rPr>
                        <a:t>部门：</a:t>
                      </a:r>
                      <a:r>
                        <a:rPr lang="en-US" altLang="zh-CN" sz="1200" b="0" i="0" u="none" strike="noStrike" dirty="0">
                          <a:solidFill>
                            <a:srgbClr val="000000"/>
                          </a:solidFill>
                          <a:effectLst/>
                          <a:latin typeface="微软雅黑" charset="-122"/>
                          <a:ea typeface="微软雅黑" charset="-122"/>
                        </a:rPr>
                        <a:t>XXX</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cPr/>
                </a:tc>
                <a:tc hMerge="1">
                  <a:tcPr/>
                </a:tc>
                <a:tc hMerge="1">
                  <a:tcPr/>
                </a:tc>
                <a:tc gridSpan="4">
                  <a:txBody>
                    <a:bodyPr/>
                    <a:lstStyle/>
                    <a:p>
                      <a:pPr algn="l" fontAlgn="ctr"/>
                      <a:r>
                        <a:rPr lang="zh-CN" altLang="en-US" sz="1200" b="0" i="0" u="none" strike="noStrike" dirty="0">
                          <a:solidFill>
                            <a:srgbClr val="000000"/>
                          </a:solidFill>
                          <a:effectLst/>
                          <a:latin typeface="微软雅黑" charset="-122"/>
                          <a:ea typeface="微软雅黑" charset="-122"/>
                        </a:rPr>
                        <a:t>姓名：</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cPr marL="5247" marR="5247" marT="524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rgbClr val="FFFFFF"/>
                    </a:solidFill>
                  </a:tcPr>
                </a:tc>
                <a:tc hMerge="1">
                  <a:tcPr>
                    <a:lnL w="12700" cap="flat" cmpd="sng" algn="ctr">
                      <a:solidFill>
                        <a:schemeClr val="tx1"/>
                      </a:solidFill>
                      <a:prstDash val="solid"/>
                      <a:round/>
                      <a:headEnd type="none" w="med" len="med"/>
                      <a:tailEnd type="none" w="med" len="med"/>
                    </a:lnL>
                  </a:tcPr>
                </a:tc>
                <a:tc hMerge="1">
                  <a:tcPr>
                    <a:lnL w="12700" cap="flat" cmpd="sng" algn="ctr">
                      <a:solidFill>
                        <a:schemeClr val="tx1"/>
                      </a:solidFill>
                      <a:prstDash val="solid"/>
                      <a:round/>
                      <a:headEnd type="none" w="med" len="med"/>
                      <a:tailEnd type="none" w="med" len="med"/>
                    </a:lnL>
                  </a:tcPr>
                </a:tc>
                <a:tc gridSpan="5">
                  <a:txBody>
                    <a:bodyPr/>
                    <a:lstStyle/>
                    <a:p>
                      <a:pPr algn="l" fontAlgn="ctr"/>
                      <a:r>
                        <a:rPr lang="zh-CN" altLang="en-US" sz="1200" b="0" i="0" u="none" strike="noStrike" dirty="0">
                          <a:solidFill>
                            <a:srgbClr val="000000"/>
                          </a:solidFill>
                          <a:effectLst/>
                          <a:latin typeface="微软雅黑" charset="-122"/>
                          <a:ea typeface="微软雅黑" charset="-122"/>
                        </a:rPr>
                        <a:t>岗位：</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cPr/>
                </a:tc>
                <a:tc hMerge="1">
                  <a:tcPr/>
                </a:tc>
                <a:tc hMerge="1">
                  <a:tcPr/>
                </a:tc>
                <a:tc hMerge="1">
                  <a:tcPr/>
                </a:tc>
              </a:tr>
              <a:tr h="276241">
                <a:tc rowSpan="2">
                  <a:txBody>
                    <a:bodyPr/>
                    <a:lstStyle/>
                    <a:p>
                      <a:pPr algn="ctr" fontAlgn="ctr"/>
                      <a:r>
                        <a:rPr lang="zh-CN" altLang="en-US" sz="1200" b="1" i="0" u="none" strike="noStrike" dirty="0">
                          <a:solidFill>
                            <a:srgbClr val="FFFFFF"/>
                          </a:solidFill>
                          <a:effectLst/>
                          <a:latin typeface="微软雅黑" charset="-122"/>
                          <a:ea typeface="微软雅黑" charset="-122"/>
                        </a:rPr>
                        <a:t>指标类别</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dirty="0">
                          <a:solidFill>
                            <a:srgbClr val="FFFFFF"/>
                          </a:solidFill>
                          <a:effectLst/>
                          <a:latin typeface="微软雅黑" charset="-122"/>
                          <a:ea typeface="微软雅黑" charset="-122"/>
                        </a:rPr>
                        <a:t>类别权重</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a:solidFill>
                            <a:srgbClr val="FFFFFF"/>
                          </a:solidFill>
                          <a:effectLst/>
                          <a:latin typeface="微软雅黑" charset="-122"/>
                          <a:ea typeface="微软雅黑" charset="-122"/>
                        </a:rPr>
                        <a:t>序号</a:t>
                      </a:r>
                      <a:endParaRPr lang="zh-CN" altLang="en-US" sz="1200" b="1" i="0" u="none" strike="noStrike">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dirty="0">
                          <a:solidFill>
                            <a:srgbClr val="FFFFFF"/>
                          </a:solidFill>
                          <a:effectLst/>
                          <a:latin typeface="微软雅黑" charset="-122"/>
                          <a:ea typeface="微软雅黑" charset="-122"/>
                        </a:rPr>
                        <a:t>考核指标</a:t>
                      </a:r>
                      <a:r>
                        <a:rPr lang="en-US" altLang="zh-CN" sz="1200" b="1" i="0" u="none" strike="noStrike" dirty="0">
                          <a:solidFill>
                            <a:srgbClr val="FFFFFF"/>
                          </a:solidFill>
                          <a:effectLst/>
                          <a:latin typeface="微软雅黑" charset="-122"/>
                          <a:ea typeface="微软雅黑" charset="-122"/>
                        </a:rPr>
                        <a:t>/ </a:t>
                      </a:r>
                      <a:r>
                        <a:rPr lang="zh-CN" altLang="en-US" sz="1200" b="1" i="0" u="none" strike="noStrike" dirty="0">
                          <a:solidFill>
                            <a:srgbClr val="FFFFFF"/>
                          </a:solidFill>
                          <a:effectLst/>
                          <a:latin typeface="微软雅黑" charset="-122"/>
                          <a:ea typeface="微软雅黑" charset="-122"/>
                        </a:rPr>
                        <a:t>工作任务</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dirty="0">
                          <a:solidFill>
                            <a:srgbClr val="FFFFFF"/>
                          </a:solidFill>
                          <a:effectLst/>
                          <a:latin typeface="微软雅黑" charset="-122"/>
                          <a:ea typeface="微软雅黑" charset="-122"/>
                        </a:rPr>
                        <a:t>指标与定义</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gridSpan="3">
                  <a:txBody>
                    <a:bodyPr/>
                    <a:lstStyle/>
                    <a:p>
                      <a:pPr algn="ctr" fontAlgn="ctr"/>
                      <a:r>
                        <a:rPr lang="zh-CN" altLang="en-US" sz="1200" b="1" i="0" u="none" strike="noStrike">
                          <a:solidFill>
                            <a:srgbClr val="FFFFFF"/>
                          </a:solidFill>
                          <a:effectLst/>
                          <a:latin typeface="微软雅黑" charset="-122"/>
                          <a:ea typeface="微软雅黑" charset="-122"/>
                        </a:rPr>
                        <a:t>目标值</a:t>
                      </a:r>
                      <a:endParaRPr lang="zh-CN" altLang="en-US" sz="1200" b="1" i="0" u="none" strike="noStrike">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hMerge="1">
                  <a:tcPr>
                    <a:lnL w="6350" cap="flat" cmpd="sng" algn="ctr">
                      <a:solidFill>
                        <a:srgbClr val="000000"/>
                      </a:solidFill>
                      <a:prstDash val="solid"/>
                      <a:round/>
                      <a:headEnd type="none" w="med" len="med"/>
                      <a:tailEnd type="none" w="med" len="med"/>
                    </a:lnL>
                  </a:tcPr>
                </a:tc>
                <a:tc hMerge="1">
                  <a:tcPr>
                    <a:lnL w="6350" cap="flat" cmpd="sng" algn="ctr">
                      <a:solidFill>
                        <a:srgbClr val="000000"/>
                      </a:solidFill>
                      <a:prstDash val="solid"/>
                      <a:round/>
                      <a:headEnd type="none" w="med" len="med"/>
                      <a:tailEnd type="none" w="med" len="med"/>
                    </a:lnL>
                  </a:tcPr>
                </a:tc>
                <a:tc rowSpan="2">
                  <a:txBody>
                    <a:bodyPr/>
                    <a:lstStyle/>
                    <a:p>
                      <a:pPr algn="ctr" fontAlgn="ctr"/>
                      <a:r>
                        <a:rPr lang="zh-CN" altLang="en-US" sz="1200" b="1" i="0" u="none" strike="noStrike">
                          <a:solidFill>
                            <a:srgbClr val="FFFFFF"/>
                          </a:solidFill>
                          <a:effectLst/>
                          <a:latin typeface="微软雅黑" charset="-122"/>
                          <a:ea typeface="微软雅黑" charset="-122"/>
                        </a:rPr>
                        <a:t>评分标准</a:t>
                      </a:r>
                      <a:endParaRPr lang="zh-CN" altLang="en-US" sz="1200" b="1" i="0" u="none" strike="noStrike">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a:solidFill>
                            <a:srgbClr val="FFFFFF"/>
                          </a:solidFill>
                          <a:effectLst/>
                          <a:latin typeface="微软雅黑" charset="-122"/>
                          <a:ea typeface="微软雅黑" charset="-122"/>
                        </a:rPr>
                        <a:t>单项权重</a:t>
                      </a:r>
                      <a:endParaRPr lang="zh-CN" altLang="en-US" sz="1200" b="1" i="0" u="none" strike="noStrike">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dirty="0">
                          <a:solidFill>
                            <a:srgbClr val="FFFFFF"/>
                          </a:solidFill>
                          <a:effectLst/>
                          <a:latin typeface="微软雅黑" charset="-122"/>
                          <a:ea typeface="微软雅黑" charset="-122"/>
                        </a:rPr>
                        <a:t>评分</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dirty="0">
                          <a:solidFill>
                            <a:srgbClr val="FFFFFF"/>
                          </a:solidFill>
                          <a:effectLst/>
                          <a:latin typeface="微软雅黑" charset="-122"/>
                          <a:ea typeface="微软雅黑" charset="-122"/>
                        </a:rPr>
                        <a:t>数据来源</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a:solidFill>
                            <a:srgbClr val="FFFFFF"/>
                          </a:solidFill>
                          <a:effectLst/>
                          <a:latin typeface="微软雅黑" charset="-122"/>
                          <a:ea typeface="微软雅黑" charset="-122"/>
                        </a:rPr>
                        <a:t>考核周期</a:t>
                      </a:r>
                      <a:endParaRPr lang="zh-CN" altLang="en-US" sz="1200" b="1" i="0" u="none" strike="noStrike">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r>
              <a:tr h="291314">
                <a:tc vMerge="1">
                  <a:tcPr/>
                </a:tc>
                <a:tc vMerge="1">
                  <a:tcPr/>
                </a:tc>
                <a:tc vMerge="1">
                  <a:tcPr/>
                </a:tc>
                <a:tc vMerge="1">
                  <a:tcPr/>
                </a:tc>
                <a:tc vMerge="1">
                  <a:tcPr/>
                </a:tc>
                <a:tc>
                  <a:txBody>
                    <a:bodyPr/>
                    <a:lstStyle/>
                    <a:p>
                      <a:pPr algn="ctr" fontAlgn="ctr"/>
                      <a:r>
                        <a:rPr lang="zh-CN" altLang="en-US" sz="1200" b="1" i="0" u="none" strike="noStrike" dirty="0">
                          <a:solidFill>
                            <a:srgbClr val="FFFFFF"/>
                          </a:solidFill>
                          <a:effectLst/>
                          <a:latin typeface="微软雅黑" charset="-122"/>
                          <a:ea typeface="微软雅黑" charset="-122"/>
                        </a:rPr>
                        <a:t>保底值</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a:txBody>
                    <a:bodyPr/>
                    <a:lstStyle/>
                    <a:p>
                      <a:pPr algn="ctr" fontAlgn="ctr"/>
                      <a:r>
                        <a:rPr lang="zh-CN" altLang="en-US" sz="1200" b="1" i="0" u="none" strike="noStrike" dirty="0">
                          <a:solidFill>
                            <a:srgbClr val="FFFFFF"/>
                          </a:solidFill>
                          <a:effectLst/>
                          <a:latin typeface="微软雅黑" charset="-122"/>
                          <a:ea typeface="微软雅黑" charset="-122"/>
                        </a:rPr>
                        <a:t>达标值</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27769F"/>
                    </a:solidFill>
                  </a:tcPr>
                </a:tc>
                <a:tc>
                  <a:txBody>
                    <a:bodyPr/>
                    <a:lstStyle/>
                    <a:p>
                      <a:pPr algn="ctr" fontAlgn="ctr"/>
                      <a:r>
                        <a:rPr lang="zh-CN" altLang="en-US" sz="1200" b="1" i="0" u="none" strike="noStrike" dirty="0">
                          <a:solidFill>
                            <a:srgbClr val="FFFFFF"/>
                          </a:solidFill>
                          <a:effectLst/>
                          <a:latin typeface="微软雅黑" charset="-122"/>
                          <a:ea typeface="微软雅黑" charset="-122"/>
                        </a:rPr>
                        <a:t>挑战值</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27769F"/>
                    </a:solidFill>
                  </a:tcPr>
                </a:tc>
                <a:tc vMerge="1">
                  <a:tcPr/>
                </a:tc>
                <a:tc vMerge="1">
                  <a:tcPr/>
                </a:tc>
                <a:tc vMerge="1">
                  <a:tcPr/>
                </a:tc>
                <a:tc vMerge="1">
                  <a:tcPr/>
                </a:tc>
                <a:tc vMerge="1">
                  <a:tcPr/>
                </a:tc>
              </a:tr>
              <a:tr h="432000">
                <a:tc rowSpan="3">
                  <a:txBody>
                    <a:bodyPr/>
                    <a:lstStyle/>
                    <a:p>
                      <a:pPr algn="ctr" fontAlgn="ctr"/>
                      <a:r>
                        <a:rPr lang="zh-CN" altLang="en-US" sz="1200" b="0" i="0" u="none" strike="noStrike" dirty="0">
                          <a:solidFill>
                            <a:srgbClr val="000000"/>
                          </a:solidFill>
                          <a:effectLst/>
                          <a:latin typeface="微软雅黑" charset="-122"/>
                          <a:ea typeface="微软雅黑" charset="-122"/>
                        </a:rPr>
                        <a:t>关键指标</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altLang="zh-CN" sz="1200" b="0" i="0" u="none" strike="noStrike" dirty="0">
                          <a:solidFill>
                            <a:srgbClr val="000000"/>
                          </a:solidFill>
                          <a:effectLst/>
                          <a:latin typeface="微软雅黑" charset="-122"/>
                          <a:ea typeface="微软雅黑" charset="-122"/>
                        </a:rPr>
                        <a:t>X%</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charset="-122"/>
                          <a:ea typeface="微软雅黑" charset="-122"/>
                        </a:rPr>
                        <a:t>1</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2000">
                <a:tc vMerge="1">
                  <a:tcPr/>
                </a:tc>
                <a:tc vMerge="1">
                  <a:tcPr/>
                </a:tc>
                <a:tc>
                  <a:txBody>
                    <a:bodyPr/>
                    <a:lstStyle/>
                    <a:p>
                      <a:pPr algn="ctr" fontAlgn="ctr"/>
                      <a:r>
                        <a:rPr lang="en-US" altLang="zh-CN" sz="1200" b="0" i="0" u="none" strike="noStrike">
                          <a:solidFill>
                            <a:srgbClr val="000000"/>
                          </a:solidFill>
                          <a:effectLst/>
                          <a:latin typeface="微软雅黑" charset="-122"/>
                          <a:ea typeface="微软雅黑" charset="-122"/>
                        </a:rPr>
                        <a:t>2</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2000">
                <a:tc vMerge="1">
                  <a:tcPr/>
                </a:tc>
                <a:tc vMerge="1">
                  <a:tcPr/>
                </a:tc>
                <a:tc>
                  <a:txBody>
                    <a:bodyPr/>
                    <a:lstStyle/>
                    <a:p>
                      <a:pPr algn="ctr" fontAlgn="ctr"/>
                      <a:r>
                        <a:rPr lang="en-US" altLang="zh-CN" sz="1200" b="0" i="0" u="none" strike="noStrike">
                          <a:solidFill>
                            <a:srgbClr val="000000"/>
                          </a:solidFill>
                          <a:effectLst/>
                          <a:latin typeface="微软雅黑" charset="-122"/>
                          <a:ea typeface="微软雅黑" charset="-122"/>
                        </a:rPr>
                        <a:t>3</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2000">
                <a:tc rowSpan="3">
                  <a:txBody>
                    <a:bodyPr/>
                    <a:lstStyle/>
                    <a:p>
                      <a:pPr algn="ctr" fontAlgn="ctr"/>
                      <a:r>
                        <a:rPr lang="zh-CN" altLang="en-US" sz="1200" b="0" i="0" u="none" strike="noStrike">
                          <a:solidFill>
                            <a:srgbClr val="000000"/>
                          </a:solidFill>
                          <a:effectLst/>
                          <a:latin typeface="微软雅黑" charset="-122"/>
                          <a:ea typeface="微软雅黑" charset="-122"/>
                        </a:rPr>
                        <a:t>重点工作</a:t>
                      </a:r>
                      <a:endParaRPr lang="zh-CN" altLang="en-US" sz="1200" b="0" i="0" u="none" strike="noStrike">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altLang="zh-CN" sz="1200" b="0" i="0" u="none" strike="noStrike" dirty="0">
                          <a:solidFill>
                            <a:srgbClr val="000000"/>
                          </a:solidFill>
                          <a:effectLst/>
                          <a:latin typeface="微软雅黑" charset="-122"/>
                          <a:ea typeface="微软雅黑" charset="-122"/>
                        </a:rPr>
                        <a:t>X%</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微软雅黑" charset="-122"/>
                          <a:ea typeface="微软雅黑" charset="-122"/>
                        </a:rPr>
                        <a:t>4</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l" fontAlgn="ctr"/>
                      <a:r>
                        <a:rPr lang="zh-CN" altLang="en-US" sz="1200" b="1" i="0" u="none" strike="noStrike" dirty="0">
                          <a:solidFill>
                            <a:srgbClr val="000000"/>
                          </a:solidFill>
                          <a:effectLst/>
                          <a:latin typeface="微软雅黑" charset="-122"/>
                          <a:ea typeface="微软雅黑" charset="-122"/>
                        </a:rPr>
                        <a:t>说明：</a:t>
                      </a:r>
                      <a:endParaRPr lang="en-US" altLang="zh-CN" sz="1200" b="1" i="0" u="none" strike="noStrike" dirty="0">
                        <a:solidFill>
                          <a:srgbClr val="000000"/>
                        </a:solidFill>
                        <a:effectLst/>
                        <a:latin typeface="微软雅黑" charset="-122"/>
                        <a:ea typeface="微软雅黑" charset="-122"/>
                      </a:endParaRPr>
                    </a:p>
                    <a:p>
                      <a:pPr algn="l" fontAlgn="ctr"/>
                      <a:r>
                        <a:rPr lang="zh-CN" altLang="en-US" sz="1200" b="1" i="0" u="none" strike="noStrike" dirty="0">
                          <a:solidFill>
                            <a:srgbClr val="000000"/>
                          </a:solidFill>
                          <a:effectLst/>
                          <a:latin typeface="微软雅黑" charset="-122"/>
                          <a:ea typeface="微软雅黑" charset="-122"/>
                        </a:rPr>
                        <a:t>围绕计划，在考核周期内分解的重点工作任务</a:t>
                      </a: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2000">
                <a:tc vMerge="1">
                  <a:tcPr>
                    <a:lnT w="6350" cap="flat" cmpd="sng" algn="ctr">
                      <a:solidFill>
                        <a:srgbClr val="000000"/>
                      </a:solidFill>
                      <a:prstDash val="solid"/>
                      <a:round/>
                      <a:headEnd type="none" w="med" len="med"/>
                      <a:tailEnd type="none" w="med" len="med"/>
                    </a:lnT>
                  </a:tcPr>
                </a:tc>
                <a:tc vMerge="1">
                  <a:tcPr>
                    <a:lnT w="6350" cap="flat" cmpd="sng" algn="ctr">
                      <a:solidFill>
                        <a:srgbClr val="000000"/>
                      </a:solidFill>
                      <a:prstDash val="solid"/>
                      <a:round/>
                      <a:headEnd type="none" w="med" len="med"/>
                      <a:tailEnd type="none" w="med" len="med"/>
                    </a:lnT>
                  </a:tcPr>
                </a:tc>
                <a:tc>
                  <a:txBody>
                    <a:bodyPr/>
                    <a:lstStyle/>
                    <a:p>
                      <a:pPr algn="ctr" fontAlgn="ctr"/>
                      <a:r>
                        <a:rPr lang="en-US" altLang="zh-CN" sz="1200" b="0" i="0" u="none" strike="noStrike" dirty="0">
                          <a:solidFill>
                            <a:srgbClr val="000000"/>
                          </a:solidFill>
                          <a:effectLst/>
                          <a:latin typeface="微软雅黑" charset="-122"/>
                          <a:ea typeface="微软雅黑" charset="-122"/>
                        </a:rPr>
                        <a:t>5</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2000">
                <a:tc vMerge="1">
                  <a:tcPr/>
                </a:tc>
                <a:tc vMerge="1">
                  <a:tcPr/>
                </a:tc>
                <a:tc>
                  <a:txBody>
                    <a:bodyPr/>
                    <a:lstStyle/>
                    <a:p>
                      <a:pPr algn="ctr" fontAlgn="ctr"/>
                      <a:r>
                        <a:rPr lang="en-US" altLang="zh-CN" sz="1200" b="0" i="0" u="none" strike="noStrike" dirty="0">
                          <a:solidFill>
                            <a:srgbClr val="000000"/>
                          </a:solidFill>
                          <a:effectLst/>
                          <a:latin typeface="微软雅黑" charset="-122"/>
                          <a:ea typeface="微软雅黑" charset="-122"/>
                        </a:rPr>
                        <a:t>……</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2000">
                <a:tc rowSpan="2">
                  <a:txBody>
                    <a:bodyPr/>
                    <a:lstStyle/>
                    <a:p>
                      <a:pPr algn="ctr" fontAlgn="ctr"/>
                      <a:r>
                        <a:rPr lang="zh-CN" altLang="en-US" sz="1200" b="0" i="0" u="none" strike="noStrike" dirty="0">
                          <a:solidFill>
                            <a:srgbClr val="000000"/>
                          </a:solidFill>
                          <a:effectLst/>
                          <a:latin typeface="微软雅黑" charset="-122"/>
                          <a:ea typeface="微软雅黑" charset="-122"/>
                        </a:rPr>
                        <a:t>团队建设</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altLang="zh-CN" sz="1200" b="0" i="0" u="none" strike="noStrike" dirty="0">
                          <a:solidFill>
                            <a:srgbClr val="000000"/>
                          </a:solidFill>
                          <a:effectLst/>
                          <a:latin typeface="微软雅黑" charset="-122"/>
                          <a:ea typeface="微软雅黑" charset="-122"/>
                        </a:rPr>
                        <a:t>10%-20%</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charset="-122"/>
                          <a:ea typeface="微软雅黑" charset="-122"/>
                        </a:rPr>
                        <a:t>10</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zh-CN" altLang="en-US" sz="1200" b="1" i="0" u="none" strike="noStrike" dirty="0">
                          <a:solidFill>
                            <a:srgbClr val="000000"/>
                          </a:solidFill>
                          <a:effectLst/>
                          <a:latin typeface="微软雅黑" charset="-122"/>
                          <a:ea typeface="微软雅黑" charset="-122"/>
                        </a:rPr>
                        <a:t>说明：</a:t>
                      </a:r>
                      <a:endParaRPr lang="en-US" altLang="zh-CN" sz="1200" b="1" i="0" u="none" strike="noStrike" dirty="0">
                        <a:solidFill>
                          <a:srgbClr val="000000"/>
                        </a:solidFill>
                        <a:effectLst/>
                        <a:latin typeface="微软雅黑" charset="-122"/>
                        <a:ea typeface="微软雅黑" charset="-122"/>
                      </a:endParaRPr>
                    </a:p>
                    <a:p>
                      <a:pPr algn="l" fontAlgn="ctr"/>
                      <a:r>
                        <a:rPr lang="zh-CN" altLang="en-US" sz="1200" b="1" i="0" u="none" strike="noStrike" dirty="0">
                          <a:solidFill>
                            <a:srgbClr val="000000"/>
                          </a:solidFill>
                          <a:effectLst/>
                          <a:latin typeface="微软雅黑" charset="-122"/>
                          <a:ea typeface="微软雅黑" charset="-122"/>
                        </a:rPr>
                        <a:t>承接关键人才培养及部门级人才培养计划指标</a:t>
                      </a: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l" fontAlgn="ctr"/>
                      <a:endParaRPr lang="zh-CN" altLang="en-US" sz="1200" b="0" i="0" u="none" strike="noStrike" dirty="0">
                        <a:solidFill>
                          <a:schemeClr val="tx1"/>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2000">
                <a:tc vMerge="1">
                  <a:tcPr/>
                </a:tc>
                <a:tc vMerge="1">
                  <a:tcPr/>
                </a:tc>
                <a:tc>
                  <a:txBody>
                    <a:bodyPr/>
                    <a:lstStyle/>
                    <a:p>
                      <a:pPr algn="ctr" fontAlgn="ctr"/>
                      <a:r>
                        <a:rPr lang="en-US" altLang="zh-CN" sz="1200" b="0" i="0" u="none" strike="noStrike" dirty="0">
                          <a:solidFill>
                            <a:srgbClr val="000000"/>
                          </a:solidFill>
                          <a:effectLst/>
                          <a:latin typeface="微软雅黑" charset="-122"/>
                          <a:ea typeface="微软雅黑" charset="-122"/>
                        </a:rPr>
                        <a:t>11</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1150">
                <a:tc>
                  <a:txBody>
                    <a:bodyPr/>
                    <a:lstStyle/>
                    <a:p>
                      <a:pPr algn="ctr" fontAlgn="ctr"/>
                      <a:r>
                        <a:rPr lang="zh-CN" altLang="en-US" sz="1200" b="0" i="0" u="none" strike="noStrike">
                          <a:solidFill>
                            <a:srgbClr val="000000"/>
                          </a:solidFill>
                          <a:effectLst/>
                          <a:latin typeface="微软雅黑" charset="-122"/>
                          <a:ea typeface="微软雅黑" charset="-122"/>
                        </a:rPr>
                        <a:t>合计</a:t>
                      </a:r>
                      <a:endParaRPr lang="zh-CN" altLang="en-US" sz="1200" b="0" i="0" u="none" strike="noStrike">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charset="-122"/>
                          <a:ea typeface="微软雅黑" charset="-122"/>
                        </a:rPr>
                        <a:t>100%</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l"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l"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charset="-122"/>
                          <a:ea typeface="微软雅黑" charset="-122"/>
                        </a:rPr>
                        <a:t>　</a:t>
                      </a: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dirty="0">
                          <a:solidFill>
                            <a:srgbClr val="000000"/>
                          </a:solidFill>
                          <a:effectLst/>
                          <a:latin typeface="微软雅黑" charset="-122"/>
                          <a:ea typeface="微软雅黑" charset="-122"/>
                        </a:rPr>
                        <a:t>　</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dirty="0">
                          <a:solidFill>
                            <a:srgbClr val="000000"/>
                          </a:solidFill>
                          <a:effectLst/>
                          <a:latin typeface="微软雅黑" charset="-122"/>
                          <a:ea typeface="微软雅黑" charset="-122"/>
                        </a:rPr>
                        <a:t>　</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charset="-122"/>
                          <a:ea typeface="微软雅黑" charset="-122"/>
                        </a:rPr>
                        <a:t>　</a:t>
                      </a: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charset="-122"/>
                          <a:ea typeface="微软雅黑" charset="-122"/>
                        </a:rPr>
                        <a:t>　</a:t>
                      </a: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charset="-122"/>
                          <a:ea typeface="微软雅黑" charset="-122"/>
                        </a:rPr>
                        <a:t>100%</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charset="-122"/>
                          <a:ea typeface="微软雅黑" charset="-122"/>
                        </a:rPr>
                        <a:t>　</a:t>
                      </a: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dirty="0">
                          <a:solidFill>
                            <a:srgbClr val="000000"/>
                          </a:solidFill>
                          <a:effectLst/>
                          <a:latin typeface="微软雅黑" charset="-122"/>
                          <a:ea typeface="微软雅黑" charset="-122"/>
                        </a:rPr>
                        <a:t>　</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r>
            </a:tbl>
          </a:graphicData>
        </a:graphic>
      </p:graphicFrame>
      <p:sp>
        <p:nvSpPr>
          <p:cNvPr id="4" name="矩形 3"/>
          <p:cNvSpPr/>
          <p:nvPr/>
        </p:nvSpPr>
        <p:spPr>
          <a:xfrm>
            <a:off x="518064" y="6381037"/>
            <a:ext cx="3611370" cy="4220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备注：具体表样以制度附件为主</a:t>
            </a:r>
            <a:endParaRPr kumimoji="0"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08400" y="369005"/>
            <a:ext cx="10969200" cy="705600"/>
          </a:xfrm>
        </p:spPr>
        <p:txBody>
          <a:bodyPr>
            <a:normAutofit/>
          </a:bodyPr>
          <a:lstStyle/>
          <a:p>
            <a:r>
              <a:rPr lang="zh-CN" altLang="en-US" sz="3200" dirty="0"/>
              <a:t>绩效管理体系</a:t>
            </a:r>
            <a:r>
              <a:rPr lang="en-US" altLang="zh-CN" sz="3200" dirty="0"/>
              <a:t>-</a:t>
            </a:r>
            <a:r>
              <a:rPr lang="zh-CN" altLang="en-US" sz="3200" dirty="0"/>
              <a:t>个人绩效考核（部门经理级及以下员工）</a:t>
            </a:r>
            <a:endParaRPr lang="zh-CN" altLang="en-US" sz="3200"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graphicFrame>
        <p:nvGraphicFramePr>
          <p:cNvPr id="2" name="表格 1"/>
          <p:cNvGraphicFramePr>
            <a:graphicFrameLocks noGrp="1"/>
          </p:cNvGraphicFramePr>
          <p:nvPr>
            <p:custDataLst>
              <p:tags r:id="rId1"/>
            </p:custDataLst>
          </p:nvPr>
        </p:nvGraphicFramePr>
        <p:xfrm>
          <a:off x="669924" y="1111522"/>
          <a:ext cx="10702237" cy="5350236"/>
        </p:xfrm>
        <a:graphic>
          <a:graphicData uri="http://schemas.openxmlformats.org/drawingml/2006/table">
            <a:tbl>
              <a:tblPr/>
              <a:tblGrid>
                <a:gridCol w="624063"/>
                <a:gridCol w="444597"/>
                <a:gridCol w="384912"/>
                <a:gridCol w="1590591"/>
                <a:gridCol w="2393951"/>
                <a:gridCol w="624725"/>
                <a:gridCol w="612474"/>
                <a:gridCol w="612474"/>
                <a:gridCol w="886090"/>
                <a:gridCol w="561372"/>
                <a:gridCol w="670882"/>
                <a:gridCol w="793060"/>
                <a:gridCol w="503046"/>
              </a:tblGrid>
              <a:tr h="411040">
                <a:tc gridSpan="13">
                  <a:txBody>
                    <a:bodyPr/>
                    <a:lstStyle/>
                    <a:p>
                      <a:pPr algn="ctr" fontAlgn="ctr"/>
                      <a:r>
                        <a:rPr lang="zh-CN" altLang="en-US" sz="1400" b="1" i="0" u="none" strike="noStrike" dirty="0">
                          <a:solidFill>
                            <a:srgbClr val="000000"/>
                          </a:solidFill>
                          <a:effectLst/>
                          <a:latin typeface="微软雅黑" charset="-122"/>
                          <a:ea typeface="微软雅黑" charset="-122"/>
                        </a:rPr>
                        <a:t>员工</a:t>
                      </a:r>
                      <a:r>
                        <a:rPr lang="zh-CN" altLang="en-US" sz="1400" b="1" i="0" u="sng" strike="noStrike" dirty="0">
                          <a:solidFill>
                            <a:srgbClr val="000000"/>
                          </a:solidFill>
                          <a:effectLst/>
                          <a:latin typeface="微软雅黑" charset="-122"/>
                          <a:ea typeface="微软雅黑" charset="-122"/>
                        </a:rPr>
                        <a:t>第            季度</a:t>
                      </a:r>
                      <a:r>
                        <a:rPr lang="zh-CN" altLang="en-US" sz="1400" b="1" i="0" u="none" strike="noStrike" dirty="0">
                          <a:solidFill>
                            <a:srgbClr val="000000"/>
                          </a:solidFill>
                          <a:effectLst/>
                          <a:latin typeface="微软雅黑" charset="-122"/>
                          <a:ea typeface="微软雅黑" charset="-122"/>
                        </a:rPr>
                        <a:t>个人绩效承诺书</a:t>
                      </a:r>
                      <a:endParaRPr lang="zh-CN" altLang="en-US" sz="1400" b="1"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cPr/>
                </a:tc>
                <a:tc hMerge="1">
                  <a:tcPr/>
                </a:tc>
                <a:tc hMerge="1">
                  <a:tcPr/>
                </a:tc>
                <a:tc hMerge="1">
                  <a:tcPr/>
                </a:tc>
                <a:tc hMerge="1">
                  <a:tcPr>
                    <a:lnL w="6350" cap="flat" cmpd="sng" algn="ctr">
                      <a:solidFill>
                        <a:srgbClr val="000000"/>
                      </a:solidFill>
                      <a:prstDash val="solid"/>
                      <a:round/>
                      <a:headEnd type="none" w="med" len="med"/>
                      <a:tailEnd type="none" w="med" len="med"/>
                    </a:lnL>
                  </a:tcPr>
                </a:tc>
                <a:tc hMerge="1">
                  <a:tcPr/>
                </a:tc>
                <a:tc hMerge="1">
                  <a:tcPr/>
                </a:tc>
                <a:tc hMerge="1">
                  <a:tcPr/>
                </a:tc>
                <a:tc hMerge="1">
                  <a:tcPr/>
                </a:tc>
                <a:tc hMerge="1">
                  <a:tcPr/>
                </a:tc>
                <a:tc hMerge="1">
                  <a:tcPr/>
                </a:tc>
                <a:tc hMerge="1">
                  <a:tcPr/>
                </a:tc>
              </a:tr>
              <a:tr h="338519">
                <a:tc gridSpan="4">
                  <a:txBody>
                    <a:bodyPr/>
                    <a:lstStyle/>
                    <a:p>
                      <a:pPr algn="l" fontAlgn="ctr"/>
                      <a:r>
                        <a:rPr lang="zh-CN" altLang="en-US" sz="1200" b="0" i="0" u="none" strike="noStrike" dirty="0">
                          <a:solidFill>
                            <a:srgbClr val="000000"/>
                          </a:solidFill>
                          <a:effectLst/>
                          <a:latin typeface="微软雅黑" charset="-122"/>
                          <a:ea typeface="微软雅黑" charset="-122"/>
                        </a:rPr>
                        <a:t>部门：</a:t>
                      </a:r>
                      <a:r>
                        <a:rPr lang="en-US" altLang="zh-CN" sz="1200" b="0" i="0" u="none" strike="noStrike" dirty="0">
                          <a:solidFill>
                            <a:srgbClr val="000000"/>
                          </a:solidFill>
                          <a:effectLst/>
                          <a:latin typeface="微软雅黑" charset="-122"/>
                          <a:ea typeface="微软雅黑" charset="-122"/>
                        </a:rPr>
                        <a:t>XXX</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cPr/>
                </a:tc>
                <a:tc hMerge="1">
                  <a:tcPr/>
                </a:tc>
                <a:tc hMerge="1">
                  <a:tcPr/>
                </a:tc>
                <a:tc gridSpan="4">
                  <a:txBody>
                    <a:bodyPr/>
                    <a:lstStyle/>
                    <a:p>
                      <a:pPr algn="l" fontAlgn="ctr"/>
                      <a:r>
                        <a:rPr lang="zh-CN" altLang="en-US" sz="1200" b="0" i="0" u="none" strike="noStrike" dirty="0">
                          <a:solidFill>
                            <a:srgbClr val="000000"/>
                          </a:solidFill>
                          <a:effectLst/>
                          <a:latin typeface="微软雅黑" charset="-122"/>
                          <a:ea typeface="微软雅黑" charset="-122"/>
                        </a:rPr>
                        <a:t>姓名：</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cPr marL="5247" marR="5247" marT="524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rgbClr val="FFFFFF"/>
                    </a:solidFill>
                  </a:tcPr>
                </a:tc>
                <a:tc hMerge="1">
                  <a:tcPr/>
                </a:tc>
                <a:tc hMerge="1">
                  <a:tcPr/>
                </a:tc>
                <a:tc gridSpan="5">
                  <a:txBody>
                    <a:bodyPr/>
                    <a:lstStyle/>
                    <a:p>
                      <a:pPr algn="l" fontAlgn="ctr"/>
                      <a:r>
                        <a:rPr lang="zh-CN" altLang="en-US" sz="1200" b="0" i="0" u="none" strike="noStrike" dirty="0">
                          <a:solidFill>
                            <a:srgbClr val="000000"/>
                          </a:solidFill>
                          <a:effectLst/>
                          <a:latin typeface="微软雅黑" charset="-122"/>
                          <a:ea typeface="微软雅黑" charset="-122"/>
                        </a:rPr>
                        <a:t>岗位：</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cPr/>
                </a:tc>
                <a:tc hMerge="1">
                  <a:tcPr/>
                </a:tc>
                <a:tc hMerge="1">
                  <a:tcPr/>
                </a:tc>
                <a:tc hMerge="1">
                  <a:tcPr/>
                </a:tc>
              </a:tr>
              <a:tr h="270222">
                <a:tc rowSpan="2">
                  <a:txBody>
                    <a:bodyPr/>
                    <a:lstStyle/>
                    <a:p>
                      <a:pPr algn="ctr" fontAlgn="ctr"/>
                      <a:r>
                        <a:rPr lang="zh-CN" altLang="en-US" sz="1200" b="1" i="0" u="none" strike="noStrike" dirty="0">
                          <a:solidFill>
                            <a:srgbClr val="FFFFFF"/>
                          </a:solidFill>
                          <a:effectLst/>
                          <a:latin typeface="微软雅黑" charset="-122"/>
                          <a:ea typeface="微软雅黑" charset="-122"/>
                        </a:rPr>
                        <a:t>指标类别</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dirty="0">
                          <a:solidFill>
                            <a:srgbClr val="FFFFFF"/>
                          </a:solidFill>
                          <a:effectLst/>
                          <a:latin typeface="微软雅黑" charset="-122"/>
                          <a:ea typeface="微软雅黑" charset="-122"/>
                        </a:rPr>
                        <a:t>类别权重</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a:solidFill>
                            <a:srgbClr val="FFFFFF"/>
                          </a:solidFill>
                          <a:effectLst/>
                          <a:latin typeface="微软雅黑" charset="-122"/>
                          <a:ea typeface="微软雅黑" charset="-122"/>
                        </a:rPr>
                        <a:t>序号</a:t>
                      </a:r>
                      <a:endParaRPr lang="zh-CN" altLang="en-US" sz="1200" b="1" i="0" u="none" strike="noStrike">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dirty="0">
                          <a:solidFill>
                            <a:srgbClr val="FFFFFF"/>
                          </a:solidFill>
                          <a:effectLst/>
                          <a:latin typeface="微软雅黑" charset="-122"/>
                          <a:ea typeface="微软雅黑" charset="-122"/>
                        </a:rPr>
                        <a:t>考核指标</a:t>
                      </a:r>
                      <a:r>
                        <a:rPr lang="en-US" altLang="zh-CN" sz="1200" b="1" i="0" u="none" strike="noStrike" dirty="0">
                          <a:solidFill>
                            <a:srgbClr val="FFFFFF"/>
                          </a:solidFill>
                          <a:effectLst/>
                          <a:latin typeface="微软雅黑" charset="-122"/>
                          <a:ea typeface="微软雅黑" charset="-122"/>
                        </a:rPr>
                        <a:t>/ </a:t>
                      </a:r>
                      <a:r>
                        <a:rPr lang="zh-CN" altLang="en-US" sz="1200" b="1" i="0" u="none" strike="noStrike" dirty="0">
                          <a:solidFill>
                            <a:srgbClr val="FFFFFF"/>
                          </a:solidFill>
                          <a:effectLst/>
                          <a:latin typeface="微软雅黑" charset="-122"/>
                          <a:ea typeface="微软雅黑" charset="-122"/>
                        </a:rPr>
                        <a:t>工作任务</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dirty="0">
                          <a:solidFill>
                            <a:srgbClr val="FFFFFF"/>
                          </a:solidFill>
                          <a:effectLst/>
                          <a:latin typeface="微软雅黑" charset="-122"/>
                          <a:ea typeface="微软雅黑" charset="-122"/>
                        </a:rPr>
                        <a:t>指标与定义</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gridSpan="3">
                  <a:txBody>
                    <a:bodyPr/>
                    <a:lstStyle/>
                    <a:p>
                      <a:pPr algn="ctr" fontAlgn="ctr"/>
                      <a:r>
                        <a:rPr lang="zh-CN" altLang="en-US" sz="1200" b="1" i="0" u="none" strike="noStrike">
                          <a:solidFill>
                            <a:srgbClr val="FFFFFF"/>
                          </a:solidFill>
                          <a:effectLst/>
                          <a:latin typeface="微软雅黑" charset="-122"/>
                          <a:ea typeface="微软雅黑" charset="-122"/>
                        </a:rPr>
                        <a:t>目标值</a:t>
                      </a:r>
                      <a:endParaRPr lang="zh-CN" altLang="en-US" sz="1200" b="1" i="0" u="none" strike="noStrike">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hMerge="1">
                  <a:tcPr/>
                </a:tc>
                <a:tc hMerge="1">
                  <a:tcPr/>
                </a:tc>
                <a:tc rowSpan="2">
                  <a:txBody>
                    <a:bodyPr/>
                    <a:lstStyle/>
                    <a:p>
                      <a:pPr algn="ctr" fontAlgn="ctr"/>
                      <a:r>
                        <a:rPr lang="zh-CN" altLang="en-US" sz="1200" b="1" i="0" u="none" strike="noStrike">
                          <a:solidFill>
                            <a:srgbClr val="FFFFFF"/>
                          </a:solidFill>
                          <a:effectLst/>
                          <a:latin typeface="微软雅黑" charset="-122"/>
                          <a:ea typeface="微软雅黑" charset="-122"/>
                        </a:rPr>
                        <a:t>评分标准</a:t>
                      </a:r>
                      <a:endParaRPr lang="zh-CN" altLang="en-US" sz="1200" b="1" i="0" u="none" strike="noStrike">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a:solidFill>
                            <a:srgbClr val="FFFFFF"/>
                          </a:solidFill>
                          <a:effectLst/>
                          <a:latin typeface="微软雅黑" charset="-122"/>
                          <a:ea typeface="微软雅黑" charset="-122"/>
                        </a:rPr>
                        <a:t>单项权重</a:t>
                      </a:r>
                      <a:endParaRPr lang="zh-CN" altLang="en-US" sz="1200" b="1" i="0" u="none" strike="noStrike">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dirty="0">
                          <a:solidFill>
                            <a:srgbClr val="FFFFFF"/>
                          </a:solidFill>
                          <a:effectLst/>
                          <a:latin typeface="微软雅黑" charset="-122"/>
                          <a:ea typeface="微软雅黑" charset="-122"/>
                        </a:rPr>
                        <a:t>评分</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dirty="0">
                          <a:solidFill>
                            <a:srgbClr val="FFFFFF"/>
                          </a:solidFill>
                          <a:effectLst/>
                          <a:latin typeface="微软雅黑" charset="-122"/>
                          <a:ea typeface="微软雅黑" charset="-122"/>
                        </a:rPr>
                        <a:t>数据来源</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rowSpan="2">
                  <a:txBody>
                    <a:bodyPr/>
                    <a:lstStyle/>
                    <a:p>
                      <a:pPr algn="ctr" fontAlgn="ctr"/>
                      <a:r>
                        <a:rPr lang="zh-CN" altLang="en-US" sz="1200" b="1" i="0" u="none" strike="noStrike">
                          <a:solidFill>
                            <a:srgbClr val="FFFFFF"/>
                          </a:solidFill>
                          <a:effectLst/>
                          <a:latin typeface="微软雅黑" charset="-122"/>
                          <a:ea typeface="微软雅黑" charset="-122"/>
                        </a:rPr>
                        <a:t>考核周期</a:t>
                      </a:r>
                      <a:endParaRPr lang="zh-CN" altLang="en-US" sz="1200" b="1" i="0" u="none" strike="noStrike">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r>
              <a:tr h="284967">
                <a:tc vMerge="1">
                  <a:tcPr/>
                </a:tc>
                <a:tc vMerge="1">
                  <a:tcPr/>
                </a:tc>
                <a:tc vMerge="1">
                  <a:tcPr/>
                </a:tc>
                <a:tc vMerge="1">
                  <a:tcPr/>
                </a:tc>
                <a:tc vMerge="1">
                  <a:tcPr/>
                </a:tc>
                <a:tc>
                  <a:txBody>
                    <a:bodyPr/>
                    <a:lstStyle/>
                    <a:p>
                      <a:pPr algn="ctr" fontAlgn="ctr"/>
                      <a:r>
                        <a:rPr lang="zh-CN" altLang="en-US" sz="1200" b="1" i="0" u="none" strike="noStrike" dirty="0">
                          <a:solidFill>
                            <a:srgbClr val="FFFFFF"/>
                          </a:solidFill>
                          <a:effectLst/>
                          <a:latin typeface="微软雅黑" charset="-122"/>
                          <a:ea typeface="微软雅黑" charset="-122"/>
                        </a:rPr>
                        <a:t>保底值</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a:txBody>
                    <a:bodyPr/>
                    <a:lstStyle/>
                    <a:p>
                      <a:pPr algn="ctr" fontAlgn="ctr"/>
                      <a:r>
                        <a:rPr lang="zh-CN" altLang="en-US" sz="1200" b="1" i="0" u="none" strike="noStrike" dirty="0">
                          <a:solidFill>
                            <a:srgbClr val="FFFFFF"/>
                          </a:solidFill>
                          <a:effectLst/>
                          <a:latin typeface="微软雅黑" charset="-122"/>
                          <a:ea typeface="微软雅黑" charset="-122"/>
                        </a:rPr>
                        <a:t>达标值</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a:txBody>
                    <a:bodyPr/>
                    <a:lstStyle/>
                    <a:p>
                      <a:pPr algn="ctr" fontAlgn="ctr"/>
                      <a:r>
                        <a:rPr lang="zh-CN" altLang="en-US" sz="1200" b="1" i="0" u="none" strike="noStrike" dirty="0">
                          <a:solidFill>
                            <a:srgbClr val="FFFFFF"/>
                          </a:solidFill>
                          <a:effectLst/>
                          <a:latin typeface="微软雅黑" charset="-122"/>
                          <a:ea typeface="微软雅黑" charset="-122"/>
                        </a:rPr>
                        <a:t>挑战值</a:t>
                      </a:r>
                      <a:endParaRPr lang="zh-CN" altLang="en-US" sz="1200" b="1" i="0" u="none" strike="noStrike" dirty="0">
                        <a:solidFill>
                          <a:srgbClr val="FFFFFF"/>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vMerge="1">
                  <a:tcPr/>
                </a:tc>
                <a:tc vMerge="1">
                  <a:tcPr/>
                </a:tc>
                <a:tc vMerge="1">
                  <a:tcPr/>
                </a:tc>
                <a:tc vMerge="1">
                  <a:tcPr/>
                </a:tc>
                <a:tc vMerge="1">
                  <a:tcPr/>
                </a:tc>
              </a:tr>
              <a:tr h="541819">
                <a:tc rowSpan="3">
                  <a:txBody>
                    <a:bodyPr/>
                    <a:lstStyle/>
                    <a:p>
                      <a:pPr algn="ctr" fontAlgn="ctr"/>
                      <a:r>
                        <a:rPr lang="zh-CN" altLang="en-US" sz="1200" b="0" i="0" u="none" strike="noStrike" dirty="0">
                          <a:solidFill>
                            <a:srgbClr val="000000"/>
                          </a:solidFill>
                          <a:effectLst/>
                          <a:latin typeface="微软雅黑" charset="-122"/>
                          <a:ea typeface="微软雅黑" charset="-122"/>
                        </a:rPr>
                        <a:t>关键指标</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altLang="zh-CN" sz="1200" b="0" i="0" u="none" strike="noStrike" dirty="0">
                          <a:solidFill>
                            <a:srgbClr val="000000"/>
                          </a:solidFill>
                          <a:effectLst/>
                          <a:latin typeface="微软雅黑" charset="-122"/>
                          <a:ea typeface="微软雅黑" charset="-122"/>
                        </a:rPr>
                        <a:t>X%</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charset="-122"/>
                          <a:ea typeface="微软雅黑" charset="-122"/>
                        </a:rPr>
                        <a:t>1</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1" i="0" u="none" strike="noStrike" dirty="0">
                          <a:solidFill>
                            <a:srgbClr val="000000"/>
                          </a:solidFill>
                          <a:effectLst/>
                          <a:latin typeface="微软雅黑" charset="-122"/>
                          <a:ea typeface="微软雅黑" charset="-122"/>
                        </a:rPr>
                        <a:t>说明：</a:t>
                      </a:r>
                      <a:endParaRPr lang="zh-CN" altLang="en-US" sz="1200" b="1" i="0" u="none" strike="noStrike" dirty="0">
                        <a:solidFill>
                          <a:srgbClr val="000000"/>
                        </a:solidFill>
                        <a:effectLst/>
                        <a:latin typeface="微软雅黑" charset="-122"/>
                        <a:ea typeface="微软雅黑" charset="-122"/>
                      </a:endParaRPr>
                    </a:p>
                    <a:p>
                      <a:pPr algn="l" fontAlgn="ctr"/>
                      <a:r>
                        <a:rPr lang="zh-CN" altLang="en-US" sz="1200" b="1" i="0" u="none" strike="noStrike" dirty="0">
                          <a:solidFill>
                            <a:srgbClr val="000000"/>
                          </a:solidFill>
                          <a:effectLst/>
                          <a:latin typeface="微软雅黑" charset="-122"/>
                          <a:ea typeface="微软雅黑" charset="-122"/>
                        </a:rPr>
                        <a:t>根据承接组织绩效目标确定</a:t>
                      </a: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2587">
                <a:tc vMerge="1">
                  <a:tcPr/>
                </a:tc>
                <a:tc vMerge="1">
                  <a:tcPr/>
                </a:tc>
                <a:tc>
                  <a:txBody>
                    <a:bodyPr/>
                    <a:lstStyle/>
                    <a:p>
                      <a:pPr algn="ctr" fontAlgn="ctr"/>
                      <a:r>
                        <a:rPr lang="en-US" altLang="zh-CN" sz="1200" b="0" i="0" u="none" strike="noStrike">
                          <a:solidFill>
                            <a:srgbClr val="000000"/>
                          </a:solidFill>
                          <a:effectLst/>
                          <a:latin typeface="微软雅黑" charset="-122"/>
                          <a:ea typeface="微软雅黑" charset="-122"/>
                        </a:rPr>
                        <a:t>2</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2587">
                <a:tc vMerge="1">
                  <a:tcPr/>
                </a:tc>
                <a:tc vMerge="1">
                  <a:tcPr/>
                </a:tc>
                <a:tc>
                  <a:txBody>
                    <a:bodyPr/>
                    <a:lstStyle/>
                    <a:p>
                      <a:pPr algn="ctr" fontAlgn="ctr"/>
                      <a:r>
                        <a:rPr lang="en-US" altLang="zh-CN" sz="1200" b="0" i="0" u="none" strike="noStrike">
                          <a:solidFill>
                            <a:srgbClr val="000000"/>
                          </a:solidFill>
                          <a:effectLst/>
                          <a:latin typeface="微软雅黑" charset="-122"/>
                          <a:ea typeface="微软雅黑" charset="-122"/>
                        </a:rPr>
                        <a:t>3</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2587">
                <a:tc rowSpan="3">
                  <a:txBody>
                    <a:bodyPr/>
                    <a:lstStyle/>
                    <a:p>
                      <a:pPr algn="ctr" fontAlgn="ctr"/>
                      <a:r>
                        <a:rPr lang="zh-CN" altLang="en-US" sz="1200" b="0" i="0" u="none" strike="noStrike">
                          <a:solidFill>
                            <a:srgbClr val="000000"/>
                          </a:solidFill>
                          <a:effectLst/>
                          <a:latin typeface="微软雅黑" charset="-122"/>
                          <a:ea typeface="微软雅黑" charset="-122"/>
                        </a:rPr>
                        <a:t>重点工作</a:t>
                      </a:r>
                      <a:endParaRPr lang="zh-CN" altLang="en-US" sz="1200" b="0" i="0" u="none" strike="noStrike">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altLang="zh-CN" sz="1200" b="0" i="0" u="none" strike="noStrike" dirty="0">
                          <a:solidFill>
                            <a:srgbClr val="000000"/>
                          </a:solidFill>
                          <a:effectLst/>
                          <a:latin typeface="微软雅黑" charset="-122"/>
                          <a:ea typeface="微软雅黑" charset="-122"/>
                        </a:rPr>
                        <a:t>X%</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微软雅黑" charset="-122"/>
                          <a:ea typeface="微软雅黑" charset="-122"/>
                        </a:rPr>
                        <a:t>4</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l" fontAlgn="ctr"/>
                      <a:r>
                        <a:rPr lang="zh-CN" altLang="en-US" sz="1200" b="1" i="0" u="none" strike="noStrike" dirty="0">
                          <a:solidFill>
                            <a:srgbClr val="000000"/>
                          </a:solidFill>
                          <a:effectLst/>
                          <a:latin typeface="微软雅黑" charset="-122"/>
                          <a:ea typeface="微软雅黑" charset="-122"/>
                        </a:rPr>
                        <a:t>说明：</a:t>
                      </a:r>
                      <a:endParaRPr lang="en-US" altLang="zh-CN" sz="1200" b="1" i="0" u="none" strike="noStrike" dirty="0">
                        <a:solidFill>
                          <a:srgbClr val="000000"/>
                        </a:solidFill>
                        <a:effectLst/>
                        <a:latin typeface="微软雅黑" charset="-122"/>
                        <a:ea typeface="微软雅黑" charset="-122"/>
                      </a:endParaRPr>
                    </a:p>
                    <a:p>
                      <a:pPr algn="l" fontAlgn="ctr"/>
                      <a:r>
                        <a:rPr lang="zh-CN" altLang="en-US" sz="1200" b="1" i="0" u="none" strike="noStrike" dirty="0">
                          <a:solidFill>
                            <a:srgbClr val="000000"/>
                          </a:solidFill>
                          <a:effectLst/>
                          <a:latin typeface="微软雅黑" charset="-122"/>
                          <a:ea typeface="微软雅黑" charset="-122"/>
                        </a:rPr>
                        <a:t>承接部门组织绩效</a:t>
                      </a:r>
                      <a:r>
                        <a:rPr lang="en-US" altLang="zh-CN" sz="1200" b="1" i="0" u="none" strike="noStrike" dirty="0">
                          <a:solidFill>
                            <a:srgbClr val="000000"/>
                          </a:solidFill>
                          <a:effectLst/>
                          <a:latin typeface="微软雅黑" charset="-122"/>
                          <a:ea typeface="微软雅黑" charset="-122"/>
                        </a:rPr>
                        <a:t>KPI</a:t>
                      </a:r>
                      <a:r>
                        <a:rPr lang="zh-CN" altLang="en-US" sz="1200" b="1" i="0" u="none" strike="noStrike" dirty="0">
                          <a:solidFill>
                            <a:srgbClr val="000000"/>
                          </a:solidFill>
                          <a:effectLst/>
                          <a:latin typeface="微软雅黑" charset="-122"/>
                          <a:ea typeface="微软雅黑" charset="-122"/>
                        </a:rPr>
                        <a:t>或重点工作承诺，在考核周期内分解的重点工作任务</a:t>
                      </a: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2587">
                <a:tc vMerge="1">
                  <a:tcPr>
                    <a:lnT w="6350" cap="flat" cmpd="sng" algn="ctr">
                      <a:solidFill>
                        <a:srgbClr val="000000"/>
                      </a:solidFill>
                      <a:prstDash val="solid"/>
                      <a:round/>
                      <a:headEnd type="none" w="med" len="med"/>
                      <a:tailEnd type="none" w="med" len="med"/>
                    </a:lnT>
                  </a:tcPr>
                </a:tc>
                <a:tc vMerge="1">
                  <a:tcPr>
                    <a:lnT w="6350" cap="flat" cmpd="sng" algn="ctr">
                      <a:solidFill>
                        <a:srgbClr val="000000"/>
                      </a:solidFill>
                      <a:prstDash val="solid"/>
                      <a:round/>
                      <a:headEnd type="none" w="med" len="med"/>
                      <a:tailEnd type="none" w="med" len="med"/>
                    </a:lnT>
                  </a:tcPr>
                </a:tc>
                <a:tc>
                  <a:txBody>
                    <a:bodyPr/>
                    <a:lstStyle/>
                    <a:p>
                      <a:pPr algn="ctr" fontAlgn="ctr"/>
                      <a:r>
                        <a:rPr lang="en-US" altLang="zh-CN" sz="1200" b="0" i="0" u="none" strike="noStrike" dirty="0">
                          <a:solidFill>
                            <a:srgbClr val="000000"/>
                          </a:solidFill>
                          <a:effectLst/>
                          <a:latin typeface="微软雅黑" charset="-122"/>
                          <a:ea typeface="微软雅黑" charset="-122"/>
                        </a:rPr>
                        <a:t>5</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2587">
                <a:tc vMerge="1">
                  <a:tcPr/>
                </a:tc>
                <a:tc vMerge="1">
                  <a:tcPr/>
                </a:tc>
                <a:tc>
                  <a:txBody>
                    <a:bodyPr/>
                    <a:lstStyle/>
                    <a:p>
                      <a:pPr algn="ctr" fontAlgn="ctr"/>
                      <a:r>
                        <a:rPr lang="en-US" altLang="zh-CN" sz="1200" b="0" i="0" u="none" strike="noStrike" dirty="0">
                          <a:solidFill>
                            <a:srgbClr val="000000"/>
                          </a:solidFill>
                          <a:effectLst/>
                          <a:latin typeface="微软雅黑" charset="-122"/>
                          <a:ea typeface="微软雅黑" charset="-122"/>
                        </a:rPr>
                        <a:t>……</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41819">
                <a:tc rowSpan="2">
                  <a:txBody>
                    <a:bodyPr/>
                    <a:lstStyle/>
                    <a:p>
                      <a:pPr algn="ctr" fontAlgn="ctr"/>
                      <a:r>
                        <a:rPr lang="zh-CN" altLang="en-US" sz="1200" b="0" i="0" u="none" strike="noStrike" dirty="0">
                          <a:solidFill>
                            <a:srgbClr val="000000"/>
                          </a:solidFill>
                          <a:effectLst/>
                          <a:latin typeface="微软雅黑" charset="-122"/>
                          <a:ea typeface="微软雅黑" charset="-122"/>
                        </a:rPr>
                        <a:t>能力提升学习成长</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altLang="zh-CN" sz="1200" b="0" i="0" u="none" strike="noStrike" dirty="0">
                          <a:solidFill>
                            <a:srgbClr val="000000"/>
                          </a:solidFill>
                          <a:effectLst/>
                          <a:latin typeface="微软雅黑" charset="-122"/>
                          <a:ea typeface="微软雅黑" charset="-122"/>
                        </a:rPr>
                        <a:t>10%-20%</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charset="-122"/>
                          <a:ea typeface="微软雅黑" charset="-122"/>
                        </a:rPr>
                        <a:t>10</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1" i="0" u="none" strike="noStrike" dirty="0">
                          <a:solidFill>
                            <a:srgbClr val="000000"/>
                          </a:solidFill>
                          <a:effectLst/>
                          <a:latin typeface="微软雅黑" charset="-122"/>
                          <a:ea typeface="微软雅黑" charset="-122"/>
                        </a:rPr>
                        <a:t>说明：</a:t>
                      </a:r>
                      <a:endParaRPr lang="en-US" altLang="zh-CN" sz="1200" b="1" i="0" u="none" strike="noStrike" dirty="0">
                        <a:solidFill>
                          <a:srgbClr val="000000"/>
                        </a:solidFill>
                        <a:effectLst/>
                        <a:latin typeface="微软雅黑" charset="-122"/>
                        <a:ea typeface="微软雅黑" charset="-122"/>
                      </a:endParaRPr>
                    </a:p>
                    <a:p>
                      <a:pPr algn="l" fontAlgn="ctr"/>
                      <a:r>
                        <a:rPr lang="zh-CN" altLang="en-US" sz="1200" b="1" i="0" u="none" strike="noStrike" dirty="0">
                          <a:solidFill>
                            <a:srgbClr val="000000"/>
                          </a:solidFill>
                          <a:effectLst/>
                          <a:latin typeface="微软雅黑" charset="-122"/>
                          <a:ea typeface="微软雅黑" charset="-122"/>
                        </a:rPr>
                        <a:t>承接个人</a:t>
                      </a:r>
                      <a:r>
                        <a:rPr lang="en-US" altLang="zh-CN" sz="1200" b="1" i="0" u="none" strike="noStrike" dirty="0">
                          <a:solidFill>
                            <a:srgbClr val="000000"/>
                          </a:solidFill>
                          <a:effectLst/>
                          <a:latin typeface="微软雅黑" charset="-122"/>
                          <a:ea typeface="微软雅黑" charset="-122"/>
                        </a:rPr>
                        <a:t>IPD</a:t>
                      </a:r>
                      <a:r>
                        <a:rPr lang="zh-CN" altLang="en-US" sz="1200" b="1" i="0" u="none" strike="noStrike" dirty="0">
                          <a:solidFill>
                            <a:srgbClr val="000000"/>
                          </a:solidFill>
                          <a:effectLst/>
                          <a:latin typeface="微软雅黑" charset="-122"/>
                          <a:ea typeface="微软雅黑" charset="-122"/>
                        </a:rPr>
                        <a:t>及人才培养计划指标</a:t>
                      </a: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l" fontAlgn="ctr"/>
                      <a:endParaRPr lang="zh-CN" altLang="en-US" sz="1200" b="0" i="0" u="none" strike="noStrike" dirty="0">
                        <a:solidFill>
                          <a:schemeClr val="tx1"/>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22587">
                <a:tc vMerge="1">
                  <a:tcPr/>
                </a:tc>
                <a:tc vMerge="1">
                  <a:tcPr/>
                </a:tc>
                <a:tc>
                  <a:txBody>
                    <a:bodyPr/>
                    <a:lstStyle/>
                    <a:p>
                      <a:pPr algn="ctr" fontAlgn="ctr"/>
                      <a:r>
                        <a:rPr lang="en-US" altLang="zh-CN" sz="1200" b="0" i="0" u="none" strike="noStrike" dirty="0">
                          <a:solidFill>
                            <a:srgbClr val="000000"/>
                          </a:solidFill>
                          <a:effectLst/>
                          <a:latin typeface="微软雅黑" charset="-122"/>
                          <a:ea typeface="微软雅黑" charset="-122"/>
                        </a:rPr>
                        <a:t>11</a:t>
                      </a:r>
                      <a:endParaRPr lang="en-US" altLang="zh-CN"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1"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rPr>
                        <a:t>季度</a:t>
                      </a:r>
                      <a:endParaRPr kumimoji="0" lang="zh-CN" altLang="en-US" sz="1200" b="0" i="0" u="none" strike="noStrike" kern="1200" cap="none" spc="0" normalizeH="0" baseline="0" noProof="0" dirty="0">
                        <a:ln>
                          <a:noFill/>
                        </a:ln>
                        <a:solidFill>
                          <a:srgbClr val="000000"/>
                        </a:solidFill>
                        <a:effectLst/>
                        <a:uLnTx/>
                        <a:uFillTx/>
                        <a:latin typeface="微软雅黑" charset="-122"/>
                        <a:ea typeface="微软雅黑" charset="-122"/>
                        <a:cs typeface="+mn-cs"/>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2192">
                <a:tc>
                  <a:txBody>
                    <a:bodyPr/>
                    <a:lstStyle/>
                    <a:p>
                      <a:pPr algn="ctr" fontAlgn="ctr"/>
                      <a:r>
                        <a:rPr lang="zh-CN" altLang="en-US" sz="1200" b="0" i="0" u="none" strike="noStrike" dirty="0">
                          <a:solidFill>
                            <a:srgbClr val="000000"/>
                          </a:solidFill>
                          <a:effectLst/>
                          <a:latin typeface="微软雅黑" charset="-122"/>
                          <a:ea typeface="微软雅黑" charset="-122"/>
                        </a:rPr>
                        <a:t>合计</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charset="-122"/>
                          <a:ea typeface="微软雅黑" charset="-122"/>
                        </a:rPr>
                        <a:t>100%</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l"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l" fontAlgn="ct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charset="-122"/>
                          <a:ea typeface="微软雅黑" charset="-122"/>
                        </a:rPr>
                        <a:t>　</a:t>
                      </a: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dirty="0">
                          <a:solidFill>
                            <a:srgbClr val="000000"/>
                          </a:solidFill>
                          <a:effectLst/>
                          <a:latin typeface="微软雅黑" charset="-122"/>
                          <a:ea typeface="微软雅黑" charset="-122"/>
                        </a:rPr>
                        <a:t>　</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dirty="0">
                          <a:solidFill>
                            <a:srgbClr val="000000"/>
                          </a:solidFill>
                          <a:effectLst/>
                          <a:latin typeface="微软雅黑" charset="-122"/>
                          <a:ea typeface="微软雅黑" charset="-122"/>
                        </a:rPr>
                        <a:t>　</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charset="-122"/>
                          <a:ea typeface="微软雅黑" charset="-122"/>
                        </a:rPr>
                        <a:t>　</a:t>
                      </a: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charset="-122"/>
                          <a:ea typeface="微软雅黑" charset="-122"/>
                        </a:rPr>
                        <a:t>　</a:t>
                      </a: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charset="-122"/>
                          <a:ea typeface="微软雅黑" charset="-122"/>
                        </a:rPr>
                        <a:t>100%</a:t>
                      </a:r>
                      <a:endParaRPr lang="en-US" altLang="zh-CN"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charset="-122"/>
                          <a:ea typeface="微软雅黑" charset="-122"/>
                        </a:rPr>
                        <a:t>　</a:t>
                      </a:r>
                      <a:endParaRPr lang="zh-CN" altLang="en-US" sz="1200" b="0" i="0" u="none" strike="noStrike">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fontAlgn="ctr"/>
                      <a:r>
                        <a:rPr lang="zh-CN" altLang="en-US" sz="1200" b="0" i="0" u="none" strike="noStrike" dirty="0">
                          <a:solidFill>
                            <a:srgbClr val="000000"/>
                          </a:solidFill>
                          <a:effectLst/>
                          <a:latin typeface="微软雅黑" charset="-122"/>
                          <a:ea typeface="微软雅黑" charset="-122"/>
                        </a:rPr>
                        <a:t>　</a:t>
                      </a:r>
                      <a:endParaRPr lang="zh-CN" altLang="en-US" sz="1200" b="0" i="0" u="none" strike="noStrike" dirty="0">
                        <a:solidFill>
                          <a:srgbClr val="000000"/>
                        </a:solidFill>
                        <a:effectLst/>
                        <a:latin typeface="微软雅黑" charset="-122"/>
                        <a:ea typeface="微软雅黑" charset="-122"/>
                      </a:endParaRPr>
                    </a:p>
                  </a:txBody>
                  <a:tcPr marL="5247" marR="5247" marT="524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r>
            </a:tbl>
          </a:graphicData>
        </a:graphic>
      </p:graphicFrame>
      <p:sp>
        <p:nvSpPr>
          <p:cNvPr id="7" name="矩形 6"/>
          <p:cNvSpPr/>
          <p:nvPr/>
        </p:nvSpPr>
        <p:spPr>
          <a:xfrm>
            <a:off x="714445" y="6448542"/>
            <a:ext cx="3611370" cy="4220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备注：具体表样以制度附件为主</a:t>
            </a:r>
            <a:endParaRPr kumimoji="0"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绩效管理体系</a:t>
            </a:r>
            <a:r>
              <a:rPr lang="en-US" altLang="zh-CN" dirty="0"/>
              <a:t>-</a:t>
            </a:r>
            <a:r>
              <a:rPr lang="zh-CN" altLang="en-US" dirty="0"/>
              <a:t>月度工作检视</a:t>
            </a:r>
            <a:endParaRPr lang="zh-CN" altLang="en-US"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graphicFrame>
        <p:nvGraphicFramePr>
          <p:cNvPr id="3" name="表格 2"/>
          <p:cNvGraphicFramePr>
            <a:graphicFrameLocks noGrp="1"/>
          </p:cNvGraphicFramePr>
          <p:nvPr/>
        </p:nvGraphicFramePr>
        <p:xfrm>
          <a:off x="1215087" y="1182867"/>
          <a:ext cx="9850730" cy="3297380"/>
        </p:xfrm>
        <a:graphic>
          <a:graphicData uri="http://schemas.openxmlformats.org/drawingml/2006/table">
            <a:tbl>
              <a:tblPr/>
              <a:tblGrid>
                <a:gridCol w="592868"/>
                <a:gridCol w="988114"/>
                <a:gridCol w="1900217"/>
                <a:gridCol w="2371472"/>
                <a:gridCol w="1337754"/>
                <a:gridCol w="1474568"/>
                <a:gridCol w="1185737"/>
              </a:tblGrid>
              <a:tr h="492120">
                <a:tc gridSpan="7">
                  <a:txBody>
                    <a:bodyPr/>
                    <a:lstStyle/>
                    <a:p>
                      <a:pPr algn="l" fontAlgn="ctr"/>
                      <a:r>
                        <a:rPr lang="zh-CN" altLang="en-US" sz="1600" b="1" i="0" u="none" strike="noStrike" dirty="0">
                          <a:solidFill>
                            <a:srgbClr val="000000"/>
                          </a:solidFill>
                          <a:effectLst/>
                          <a:latin typeface="微软雅黑" charset="-122"/>
                          <a:ea typeface="微软雅黑" charset="-122"/>
                        </a:rPr>
                        <a:t>                                                      </a:t>
                      </a:r>
                      <a:r>
                        <a:rPr lang="en-US" altLang="zh-CN" sz="1600" b="1" i="0" u="none" strike="noStrike" dirty="0">
                          <a:solidFill>
                            <a:srgbClr val="000000"/>
                          </a:solidFill>
                          <a:effectLst/>
                          <a:latin typeface="微软雅黑" charset="-122"/>
                          <a:ea typeface="微软雅黑" charset="-122"/>
                        </a:rPr>
                        <a:t>2023 </a:t>
                      </a:r>
                      <a:r>
                        <a:rPr lang="zh-CN" altLang="en-US" sz="1600" b="1" i="0" u="none" strike="noStrike" dirty="0">
                          <a:solidFill>
                            <a:srgbClr val="000000"/>
                          </a:solidFill>
                          <a:effectLst/>
                          <a:latin typeface="微软雅黑" charset="-122"/>
                          <a:ea typeface="微软雅黑" charset="-122"/>
                        </a:rPr>
                        <a:t>年</a:t>
                      </a:r>
                      <a:r>
                        <a:rPr lang="zh-CN" altLang="en-US" sz="1600" b="1" i="0" u="sng" strike="noStrike" dirty="0">
                          <a:solidFill>
                            <a:srgbClr val="000000"/>
                          </a:solidFill>
                          <a:effectLst/>
                          <a:latin typeface="微软雅黑" charset="-122"/>
                          <a:ea typeface="微软雅黑" charset="-122"/>
                        </a:rPr>
                        <a:t> </a:t>
                      </a:r>
                      <a:r>
                        <a:rPr lang="en-US" altLang="zh-CN" sz="1600" b="1" i="0" u="sng" strike="noStrike" dirty="0">
                          <a:solidFill>
                            <a:srgbClr val="000000"/>
                          </a:solidFill>
                          <a:effectLst/>
                          <a:latin typeface="微软雅黑" charset="-122"/>
                          <a:ea typeface="微软雅黑" charset="-122"/>
                        </a:rPr>
                        <a:t>    </a:t>
                      </a:r>
                      <a:r>
                        <a:rPr lang="zh-CN" altLang="en-US" sz="1600" b="1" i="0" u="none" strike="noStrike" dirty="0">
                          <a:solidFill>
                            <a:srgbClr val="000000"/>
                          </a:solidFill>
                          <a:effectLst/>
                          <a:latin typeface="微软雅黑" charset="-122"/>
                          <a:ea typeface="微软雅黑" charset="-122"/>
                        </a:rPr>
                        <a:t>月个人工作计划表</a:t>
                      </a:r>
                      <a:br>
                        <a:rPr lang="zh-CN" altLang="en-US" sz="1600" b="1" i="0" u="none" strike="noStrike" dirty="0">
                          <a:solidFill>
                            <a:srgbClr val="000000"/>
                          </a:solidFill>
                          <a:effectLst/>
                          <a:latin typeface="微软雅黑" charset="-122"/>
                          <a:ea typeface="微软雅黑" charset="-122"/>
                        </a:rPr>
                      </a:br>
                      <a:endParaRPr lang="zh-CN" altLang="en-US" sz="1600" b="1" i="0" u="none" strike="noStrike" dirty="0">
                        <a:solidFill>
                          <a:srgbClr val="000000"/>
                        </a:solidFill>
                        <a:effectLst/>
                        <a:latin typeface="微软雅黑" charset="-122"/>
                        <a:ea typeface="微软雅黑" charset="-122"/>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a:tc>
              </a:tr>
              <a:tr h="331595">
                <a:tc gridSpan="3">
                  <a:txBody>
                    <a:bodyPr/>
                    <a:lstStyle/>
                    <a:p>
                      <a:pPr algn="l" fontAlgn="ctr"/>
                      <a:r>
                        <a:rPr lang="zh-CN" altLang="en-US" sz="1000" b="1" i="0" u="none" strike="noStrike" dirty="0">
                          <a:solidFill>
                            <a:srgbClr val="000000"/>
                          </a:solidFill>
                          <a:effectLst/>
                          <a:latin typeface="微软雅黑" charset="-122"/>
                          <a:ea typeface="微软雅黑" charset="-122"/>
                        </a:rPr>
                        <a:t>部门：</a:t>
                      </a:r>
                      <a:endParaRPr lang="zh-CN" altLang="en-US" sz="1000" b="1" i="0" u="none" strike="noStrike" dirty="0">
                        <a:solidFill>
                          <a:srgbClr val="000000"/>
                        </a:solidFill>
                        <a:effectLst/>
                        <a:latin typeface="微软雅黑" charset="-122"/>
                        <a:ea typeface="微软雅黑" charset="-122"/>
                      </a:endParaRP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zh-CN" altLang="en-US" sz="1000" b="1" i="0" u="none" strike="noStrike" dirty="0">
                          <a:solidFill>
                            <a:srgbClr val="000000"/>
                          </a:solidFill>
                          <a:effectLst/>
                          <a:latin typeface="微软雅黑" charset="-122"/>
                          <a:ea typeface="微软雅黑" charset="-122"/>
                        </a:rPr>
                        <a:t>姓名：</a:t>
                      </a:r>
                      <a:endParaRPr lang="zh-CN" altLang="en-US" sz="1000" b="1" i="0" u="none" strike="noStrike" dirty="0">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zh-CN" altLang="en-US" sz="1000" b="1" i="0" u="none" strike="noStrike" dirty="0">
                          <a:effectLst/>
                          <a:latin typeface="微软雅黑" charset="-122"/>
                          <a:ea typeface="微软雅黑" charset="-122"/>
                        </a:rPr>
                        <a:t>岗位：</a:t>
                      </a:r>
                      <a:endParaRPr lang="zh-CN" altLang="en-US" sz="1000" b="1" i="0" u="none" strike="noStrike" dirty="0">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5283">
                <a:tc>
                  <a:txBody>
                    <a:bodyPr/>
                    <a:lstStyle/>
                    <a:p>
                      <a:pPr algn="ctr" fontAlgn="ctr"/>
                      <a:r>
                        <a:rPr lang="zh-CN" altLang="en-US" sz="1200" b="1" i="0" u="none" strike="noStrike" dirty="0">
                          <a:solidFill>
                            <a:schemeClr val="bg1"/>
                          </a:solidFill>
                          <a:effectLst/>
                          <a:latin typeface="微软雅黑" charset="-122"/>
                          <a:ea typeface="微软雅黑" charset="-122"/>
                        </a:rPr>
                        <a:t>序号</a:t>
                      </a:r>
                      <a:endParaRPr lang="zh-CN" altLang="en-US" sz="1200" b="1" i="0" u="none" strike="noStrike" dirty="0">
                        <a:solidFill>
                          <a:schemeClr val="bg1"/>
                        </a:solidFill>
                        <a:effectLst/>
                        <a:latin typeface="微软雅黑" charset="-122"/>
                        <a:ea typeface="微软雅黑" charset="-122"/>
                      </a:endParaRP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a:txBody>
                    <a:bodyPr/>
                    <a:lstStyle/>
                    <a:p>
                      <a:pPr algn="ctr" fontAlgn="ctr"/>
                      <a:r>
                        <a:rPr lang="zh-CN" altLang="en-US" sz="1200" b="1" i="0" u="none" strike="noStrike" dirty="0">
                          <a:solidFill>
                            <a:schemeClr val="bg1"/>
                          </a:solidFill>
                          <a:effectLst/>
                          <a:latin typeface="微软雅黑" charset="-122"/>
                          <a:ea typeface="微软雅黑" charset="-122"/>
                        </a:rPr>
                        <a:t>工作任务</a:t>
                      </a:r>
                      <a:endParaRPr lang="zh-CN" altLang="en-US" sz="1200" b="1" i="0" u="none" strike="noStrike" dirty="0">
                        <a:solidFill>
                          <a:schemeClr val="bg1"/>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a:txBody>
                    <a:bodyPr/>
                    <a:lstStyle/>
                    <a:p>
                      <a:pPr algn="ctr" fontAlgn="ctr"/>
                      <a:r>
                        <a:rPr lang="zh-CN" altLang="en-US" sz="1200" b="1" i="0" u="none" strike="noStrike" dirty="0">
                          <a:solidFill>
                            <a:schemeClr val="bg1"/>
                          </a:solidFill>
                          <a:effectLst/>
                          <a:latin typeface="微软雅黑" charset="-122"/>
                          <a:ea typeface="微软雅黑" charset="-122"/>
                        </a:rPr>
                        <a:t>关键动作</a:t>
                      </a:r>
                      <a:r>
                        <a:rPr lang="en-US" altLang="zh-CN" sz="1200" b="1" i="0" u="none" strike="noStrike" dirty="0">
                          <a:solidFill>
                            <a:schemeClr val="bg1"/>
                          </a:solidFill>
                          <a:effectLst/>
                          <a:latin typeface="微软雅黑" charset="-122"/>
                          <a:ea typeface="微软雅黑" charset="-122"/>
                        </a:rPr>
                        <a:t>/</a:t>
                      </a:r>
                      <a:r>
                        <a:rPr lang="zh-CN" altLang="en-US" sz="1200" b="1" i="0" u="none" strike="noStrike" dirty="0">
                          <a:solidFill>
                            <a:schemeClr val="bg1"/>
                          </a:solidFill>
                          <a:effectLst/>
                          <a:latin typeface="微软雅黑" charset="-122"/>
                          <a:ea typeface="微软雅黑" charset="-122"/>
                        </a:rPr>
                        <a:t>指标定义</a:t>
                      </a:r>
                      <a:endParaRPr lang="zh-CN" altLang="en-US" sz="1200" b="1" i="0" u="none" strike="noStrike" dirty="0">
                        <a:solidFill>
                          <a:schemeClr val="bg1"/>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a:txBody>
                    <a:bodyPr/>
                    <a:lstStyle/>
                    <a:p>
                      <a:pPr algn="ctr" fontAlgn="ctr"/>
                      <a:r>
                        <a:rPr lang="zh-CN" altLang="en-US" sz="1200" b="1" i="0" u="none" strike="noStrike" dirty="0">
                          <a:solidFill>
                            <a:schemeClr val="bg1"/>
                          </a:solidFill>
                          <a:effectLst/>
                          <a:latin typeface="微软雅黑" charset="-122"/>
                          <a:ea typeface="微软雅黑" charset="-122"/>
                        </a:rPr>
                        <a:t>工作完成标准（评价标准）</a:t>
                      </a:r>
                      <a:endParaRPr lang="zh-CN" altLang="en-US" sz="1200" b="1" i="0" u="none" strike="noStrike" dirty="0">
                        <a:solidFill>
                          <a:schemeClr val="bg1"/>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a:txBody>
                    <a:bodyPr/>
                    <a:lstStyle/>
                    <a:p>
                      <a:pPr algn="ctr" fontAlgn="ctr"/>
                      <a:r>
                        <a:rPr lang="zh-CN" altLang="en-US" sz="1200" b="1" i="0" u="none" strike="noStrike" dirty="0">
                          <a:solidFill>
                            <a:schemeClr val="bg1"/>
                          </a:solidFill>
                          <a:effectLst/>
                          <a:latin typeface="微软雅黑" charset="-122"/>
                          <a:ea typeface="微软雅黑" charset="-122"/>
                        </a:rPr>
                        <a:t>单项权重</a:t>
                      </a:r>
                      <a:endParaRPr lang="zh-CN" altLang="en-US" sz="1200" b="1" i="0" u="none" strike="noStrike" dirty="0">
                        <a:solidFill>
                          <a:schemeClr val="bg1"/>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a:txBody>
                    <a:bodyPr/>
                    <a:lstStyle/>
                    <a:p>
                      <a:pPr algn="ctr" fontAlgn="ctr"/>
                      <a:r>
                        <a:rPr lang="zh-CN" altLang="en-US" sz="1200" b="1" i="0" u="none" strike="noStrike" dirty="0">
                          <a:solidFill>
                            <a:schemeClr val="bg1"/>
                          </a:solidFill>
                          <a:effectLst/>
                          <a:latin typeface="微软雅黑" charset="-122"/>
                          <a:ea typeface="微软雅黑" charset="-122"/>
                        </a:rPr>
                        <a:t>完成情况自我描述</a:t>
                      </a:r>
                      <a:endParaRPr lang="zh-CN" altLang="en-US" sz="1200" b="1" i="0" u="none" strike="noStrike" dirty="0">
                        <a:solidFill>
                          <a:schemeClr val="bg1"/>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c>
                  <a:txBody>
                    <a:bodyPr/>
                    <a:lstStyle/>
                    <a:p>
                      <a:pPr algn="ctr" fontAlgn="ctr"/>
                      <a:r>
                        <a:rPr lang="zh-CN" altLang="en-US" sz="1200" b="1" i="0" u="none" strike="noStrike" dirty="0">
                          <a:solidFill>
                            <a:schemeClr val="bg1"/>
                          </a:solidFill>
                          <a:effectLst/>
                          <a:latin typeface="微软雅黑" charset="-122"/>
                          <a:ea typeface="微软雅黑" charset="-122"/>
                        </a:rPr>
                        <a:t>上级评价</a:t>
                      </a:r>
                      <a:endParaRPr lang="zh-CN" altLang="en-US" sz="1200" b="1" i="0" u="none" strike="noStrike" dirty="0">
                        <a:solidFill>
                          <a:schemeClr val="bg1"/>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769F"/>
                    </a:solidFill>
                  </a:tcPr>
                </a:tc>
              </a:tr>
              <a:tr h="561870">
                <a:tc>
                  <a:txBody>
                    <a:bodyPr/>
                    <a:lstStyle/>
                    <a:p>
                      <a:pPr algn="ctr" fontAlgn="ctr"/>
                      <a:r>
                        <a:rPr lang="en-US" altLang="zh-CN" sz="800" b="1" i="0" u="none" strike="noStrike" dirty="0">
                          <a:solidFill>
                            <a:srgbClr val="000000"/>
                          </a:solidFill>
                          <a:effectLst/>
                          <a:latin typeface="微软雅黑" charset="-122"/>
                          <a:ea typeface="微软雅黑" charset="-122"/>
                        </a:rPr>
                        <a:t>1</a:t>
                      </a:r>
                      <a:endParaRPr lang="en-US" altLang="zh-CN" sz="800" b="1" i="0" u="none" strike="noStrike" dirty="0">
                        <a:solidFill>
                          <a:srgbClr val="000000"/>
                        </a:solidFill>
                        <a:effectLst/>
                        <a:latin typeface="微软雅黑" charset="-122"/>
                        <a:ea typeface="微软雅黑" charset="-122"/>
                      </a:endParaRP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charset="-122"/>
                          <a:ea typeface="微软雅黑" charset="-122"/>
                        </a:rPr>
                        <a:t>　</a:t>
                      </a:r>
                      <a:endParaRPr lang="zh-CN" altLang="en-US" sz="800" b="1" i="0" u="none" strike="noStrike" dirty="0">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800" b="1" i="0" u="none" strike="noStrike" dirty="0">
                          <a:solidFill>
                            <a:srgbClr val="000000"/>
                          </a:solidFill>
                          <a:effectLst/>
                          <a:latin typeface="微软雅黑" charset="-122"/>
                          <a:ea typeface="微软雅黑" charset="-122"/>
                        </a:rPr>
                        <a:t>　</a:t>
                      </a:r>
                      <a:endParaRPr lang="zh-CN" altLang="en-US" sz="800" b="1" i="0" u="none" strike="noStrike" dirty="0">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800" b="1" i="0" u="none" strike="noStrike" dirty="0">
                          <a:solidFill>
                            <a:srgbClr val="000000"/>
                          </a:solidFill>
                          <a:effectLst/>
                          <a:latin typeface="微软雅黑" charset="-122"/>
                          <a:ea typeface="微软雅黑" charset="-122"/>
                        </a:rPr>
                        <a:t>　</a:t>
                      </a:r>
                      <a:endParaRPr lang="zh-CN" altLang="en-US" sz="800" b="1" i="0" u="none" strike="noStrike" dirty="0">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a:solidFill>
                            <a:srgbClr val="000000"/>
                          </a:solidFill>
                          <a:effectLst/>
                          <a:latin typeface="微软雅黑" charset="-122"/>
                          <a:ea typeface="微软雅黑" charset="-122"/>
                        </a:rPr>
                        <a:t>50%</a:t>
                      </a:r>
                      <a:endParaRPr lang="en-US" altLang="zh-CN"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800" b="1" i="0" u="none" strike="noStrike">
                          <a:solidFill>
                            <a:srgbClr val="000000"/>
                          </a:solidFill>
                          <a:effectLst/>
                          <a:latin typeface="微软雅黑" charset="-122"/>
                          <a:ea typeface="微软雅黑" charset="-122"/>
                        </a:rPr>
                        <a:t>　</a:t>
                      </a:r>
                      <a:endParaRPr lang="zh-CN" altLang="en-US"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a:solidFill>
                            <a:srgbClr val="000000"/>
                          </a:solidFill>
                          <a:effectLst/>
                          <a:latin typeface="微软雅黑" charset="-122"/>
                          <a:ea typeface="微软雅黑" charset="-122"/>
                        </a:rPr>
                        <a:t>　</a:t>
                      </a:r>
                      <a:endParaRPr lang="zh-CN" altLang="en-US"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1870">
                <a:tc>
                  <a:txBody>
                    <a:bodyPr/>
                    <a:lstStyle/>
                    <a:p>
                      <a:pPr algn="ctr" fontAlgn="ctr"/>
                      <a:r>
                        <a:rPr lang="en-US" altLang="zh-CN" sz="800" b="1" i="0" u="none" strike="noStrike">
                          <a:solidFill>
                            <a:srgbClr val="000000"/>
                          </a:solidFill>
                          <a:effectLst/>
                          <a:latin typeface="微软雅黑" charset="-122"/>
                          <a:ea typeface="微软雅黑" charset="-122"/>
                        </a:rPr>
                        <a:t>2</a:t>
                      </a:r>
                      <a:endParaRPr lang="en-US" altLang="zh-CN" sz="800" b="1" i="0" u="none" strike="noStrike">
                        <a:solidFill>
                          <a:srgbClr val="000000"/>
                        </a:solidFill>
                        <a:effectLst/>
                        <a:latin typeface="微软雅黑" charset="-122"/>
                        <a:ea typeface="微软雅黑" charset="-122"/>
                      </a:endParaRP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a:solidFill>
                            <a:srgbClr val="000000"/>
                          </a:solidFill>
                          <a:effectLst/>
                          <a:latin typeface="微软雅黑" charset="-122"/>
                          <a:ea typeface="微软雅黑" charset="-122"/>
                        </a:rPr>
                        <a:t>　</a:t>
                      </a:r>
                      <a:endParaRPr lang="zh-CN" altLang="en-US"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800" b="1" i="0" u="none" strike="noStrike">
                          <a:solidFill>
                            <a:srgbClr val="000000"/>
                          </a:solidFill>
                          <a:effectLst/>
                          <a:latin typeface="微软雅黑" charset="-122"/>
                          <a:ea typeface="微软雅黑" charset="-122"/>
                        </a:rPr>
                        <a:t>　</a:t>
                      </a:r>
                      <a:endParaRPr lang="zh-CN" altLang="en-US"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800" b="1" i="0" u="none" strike="noStrike">
                          <a:solidFill>
                            <a:srgbClr val="000000"/>
                          </a:solidFill>
                          <a:effectLst/>
                          <a:latin typeface="微软雅黑" charset="-122"/>
                          <a:ea typeface="微软雅黑" charset="-122"/>
                        </a:rPr>
                        <a:t>　</a:t>
                      </a:r>
                      <a:endParaRPr lang="zh-CN" altLang="en-US"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charset="-122"/>
                          <a:ea typeface="微软雅黑" charset="-122"/>
                        </a:rPr>
                        <a:t>30%</a:t>
                      </a:r>
                      <a:endParaRPr lang="en-US" altLang="zh-CN" sz="800" b="1" i="0" u="none" strike="noStrike" dirty="0">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800" b="1" i="0" u="none" strike="noStrike" dirty="0">
                          <a:solidFill>
                            <a:srgbClr val="000000"/>
                          </a:solidFill>
                          <a:effectLst/>
                          <a:latin typeface="微软雅黑" charset="-122"/>
                          <a:ea typeface="微软雅黑" charset="-122"/>
                        </a:rPr>
                        <a:t>　</a:t>
                      </a:r>
                      <a:endParaRPr lang="zh-CN" altLang="en-US" sz="800" b="1" i="0" u="none" strike="noStrike" dirty="0">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a:solidFill>
                            <a:srgbClr val="000000"/>
                          </a:solidFill>
                          <a:effectLst/>
                          <a:latin typeface="微软雅黑" charset="-122"/>
                          <a:ea typeface="微软雅黑" charset="-122"/>
                        </a:rPr>
                        <a:t>　</a:t>
                      </a:r>
                      <a:endParaRPr lang="zh-CN" altLang="en-US"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1870">
                <a:tc>
                  <a:txBody>
                    <a:bodyPr/>
                    <a:lstStyle/>
                    <a:p>
                      <a:pPr algn="ctr" fontAlgn="ctr"/>
                      <a:r>
                        <a:rPr lang="en-US" altLang="zh-CN" sz="800" b="1" i="0" u="none" strike="noStrike">
                          <a:solidFill>
                            <a:srgbClr val="000000"/>
                          </a:solidFill>
                          <a:effectLst/>
                          <a:latin typeface="微软雅黑" charset="-122"/>
                          <a:ea typeface="微软雅黑" charset="-122"/>
                        </a:rPr>
                        <a:t>3</a:t>
                      </a:r>
                      <a:endParaRPr lang="en-US" altLang="zh-CN" sz="800" b="1" i="0" u="none" strike="noStrike">
                        <a:solidFill>
                          <a:srgbClr val="000000"/>
                        </a:solidFill>
                        <a:effectLst/>
                        <a:latin typeface="微软雅黑" charset="-122"/>
                        <a:ea typeface="微软雅黑" charset="-122"/>
                      </a:endParaRP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a:solidFill>
                            <a:srgbClr val="000000"/>
                          </a:solidFill>
                          <a:effectLst/>
                          <a:latin typeface="微软雅黑" charset="-122"/>
                          <a:ea typeface="微软雅黑" charset="-122"/>
                        </a:rPr>
                        <a:t>　</a:t>
                      </a:r>
                      <a:endParaRPr lang="zh-CN" altLang="en-US"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800" b="1" i="0" u="none" strike="noStrike">
                          <a:solidFill>
                            <a:srgbClr val="000000"/>
                          </a:solidFill>
                          <a:effectLst/>
                          <a:latin typeface="微软雅黑" charset="-122"/>
                          <a:ea typeface="微软雅黑" charset="-122"/>
                        </a:rPr>
                        <a:t>　</a:t>
                      </a:r>
                      <a:endParaRPr lang="zh-CN" altLang="en-US"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800" b="1" i="0" u="none" strike="noStrike" dirty="0">
                          <a:solidFill>
                            <a:srgbClr val="000000"/>
                          </a:solidFill>
                          <a:effectLst/>
                          <a:latin typeface="微软雅黑" charset="-122"/>
                          <a:ea typeface="微软雅黑" charset="-122"/>
                        </a:rPr>
                        <a:t>　</a:t>
                      </a:r>
                      <a:endParaRPr lang="zh-CN" altLang="en-US" sz="800" b="1" i="0" u="none" strike="noStrike" dirty="0">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a:solidFill>
                            <a:srgbClr val="000000"/>
                          </a:solidFill>
                          <a:effectLst/>
                          <a:latin typeface="微软雅黑" charset="-122"/>
                          <a:ea typeface="微软雅黑" charset="-122"/>
                        </a:rPr>
                        <a:t>20%</a:t>
                      </a:r>
                      <a:endParaRPr lang="en-US" altLang="zh-CN"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800" b="1" i="0" u="none" strike="noStrike">
                          <a:solidFill>
                            <a:srgbClr val="000000"/>
                          </a:solidFill>
                          <a:effectLst/>
                          <a:latin typeface="微软雅黑" charset="-122"/>
                          <a:ea typeface="微软雅黑" charset="-122"/>
                        </a:rPr>
                        <a:t>　</a:t>
                      </a:r>
                      <a:endParaRPr lang="zh-CN" altLang="en-US" sz="800" b="1" i="0" u="none" strike="noStrike">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charset="-122"/>
                          <a:ea typeface="微软雅黑" charset="-122"/>
                        </a:rPr>
                        <a:t>　</a:t>
                      </a:r>
                      <a:endParaRPr lang="zh-CN" altLang="en-US" sz="800" b="1" i="0" u="none" strike="noStrike" dirty="0">
                        <a:solidFill>
                          <a:srgbClr val="000000"/>
                        </a:solidFill>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0862">
                <a:tc gridSpan="4">
                  <a:txBody>
                    <a:bodyPr/>
                    <a:lstStyle/>
                    <a:p>
                      <a:pPr algn="ctr" fontAlgn="ctr"/>
                      <a:r>
                        <a:rPr lang="zh-CN" altLang="en-US" sz="1050" b="1" i="0" u="none" strike="noStrike" dirty="0">
                          <a:effectLst/>
                          <a:latin typeface="微软雅黑" charset="-122"/>
                          <a:ea typeface="微软雅黑" charset="-122"/>
                        </a:rPr>
                        <a:t>合计（加权求和）</a:t>
                      </a:r>
                      <a:endParaRPr lang="zh-CN" altLang="en-US" sz="1050" b="1" i="0" u="none" strike="noStrike" dirty="0">
                        <a:effectLst/>
                        <a:latin typeface="微软雅黑" charset="-122"/>
                        <a:ea typeface="微软雅黑" charset="-122"/>
                      </a:endParaRP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hMerge="1">
                  <a:tcPr/>
                </a:tc>
                <a:tc>
                  <a:txBody>
                    <a:bodyPr/>
                    <a:lstStyle/>
                    <a:p>
                      <a:pPr algn="ctr" fontAlgn="ctr"/>
                      <a:r>
                        <a:rPr lang="en-US" altLang="zh-CN" sz="1050" b="0" i="0" u="none" strike="noStrike" dirty="0">
                          <a:effectLst/>
                          <a:latin typeface="微软雅黑" charset="-122"/>
                          <a:ea typeface="微软雅黑" charset="-122"/>
                        </a:rPr>
                        <a:t>100%</a:t>
                      </a:r>
                      <a:endParaRPr lang="en-US" altLang="zh-CN" sz="1050" b="0" i="0" u="none" strike="noStrike" dirty="0">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50" b="0" i="0" u="none" strike="noStrike" dirty="0">
                          <a:effectLst/>
                          <a:latin typeface="微软雅黑" charset="-122"/>
                          <a:ea typeface="微软雅黑" charset="-122"/>
                        </a:rPr>
                        <a:t>　</a:t>
                      </a:r>
                      <a:endParaRPr lang="zh-CN" altLang="en-US" sz="1050" b="0" i="0" u="none" strike="noStrike" dirty="0">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effectLst/>
                          <a:latin typeface="微软雅黑" charset="-122"/>
                          <a:ea typeface="微软雅黑" charset="-122"/>
                        </a:rPr>
                        <a:t>　</a:t>
                      </a:r>
                      <a:endParaRPr lang="zh-CN" altLang="en-US" sz="1200" b="0" i="0" u="none" strike="noStrike" dirty="0">
                        <a:effectLst/>
                        <a:latin typeface="微软雅黑" charset="-122"/>
                        <a:ea typeface="微软雅黑" charset="-122"/>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4" name="文本框 3"/>
          <p:cNvSpPr txBox="1"/>
          <p:nvPr/>
        </p:nvSpPr>
        <p:spPr bwMode="auto">
          <a:xfrm>
            <a:off x="1215087" y="4689378"/>
            <a:ext cx="1973176" cy="1384995"/>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pPr marL="0" marR="0" lvl="0" indent="0" algn="l" defTabSz="80137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注：</a:t>
            </a:r>
            <a:endParaRPr kumimoji="0" lang="en-US" altLang="zh-CN" sz="1200" b="1"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171450" marR="0" lvl="0" indent="-171450" algn="l" defTabSz="80137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权重仅用于表达此项工作的重要程度或精力分配强度；</a:t>
            </a:r>
            <a:endParaRPr kumimoji="0" lang="en-US" altLang="zh-CN" sz="12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a:p>
            <a:pPr marL="171450" marR="0" lvl="0" indent="-171450" algn="l" defTabSz="80137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2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rPr>
              <a:t>上级评价，不用做量化打分，对标考核等级标准，进行定级评价</a:t>
            </a:r>
            <a:endParaRPr kumimoji="0" lang="zh-CN" altLang="en-US" sz="1200" b="0" i="0" u="none" strike="noStrike" kern="0" cap="none" spc="0" normalizeH="0" baseline="0" noProof="0" dirty="0">
              <a:ln>
                <a:noFill/>
              </a:ln>
              <a:solidFill>
                <a:srgbClr val="000000"/>
              </a:solidFill>
              <a:effectLst/>
              <a:uLnTx/>
              <a:uFillTx/>
              <a:latin typeface="微软雅黑" charset="-122"/>
              <a:ea typeface="微软雅黑" charset="-122"/>
              <a:cs typeface="Arial" panose="020B0604020202090204"/>
            </a:endParaRPr>
          </a:p>
        </p:txBody>
      </p:sp>
      <p:sp>
        <p:nvSpPr>
          <p:cNvPr id="8" name="矩形 7"/>
          <p:cNvSpPr/>
          <p:nvPr/>
        </p:nvSpPr>
        <p:spPr>
          <a:xfrm>
            <a:off x="879636" y="6226127"/>
            <a:ext cx="3611370" cy="4220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备注：具体表样以制度附件为主</a:t>
            </a:r>
            <a:endParaRPr kumimoji="0"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endParaRPr>
          </a:p>
        </p:txBody>
      </p:sp>
      <p:graphicFrame>
        <p:nvGraphicFramePr>
          <p:cNvPr id="9" name="表格 8"/>
          <p:cNvGraphicFramePr>
            <a:graphicFrameLocks noGrp="1"/>
          </p:cNvGraphicFramePr>
          <p:nvPr/>
        </p:nvGraphicFramePr>
        <p:xfrm>
          <a:off x="3188264" y="4689378"/>
          <a:ext cx="7610916" cy="1398043"/>
        </p:xfrm>
        <a:graphic>
          <a:graphicData uri="http://schemas.openxmlformats.org/drawingml/2006/table">
            <a:tbl>
              <a:tblPr firstRow="1" bandRow="1">
                <a:tableStyleId>{00A15C55-8517-42AA-B614-E9B94910E393}</a:tableStyleId>
              </a:tblPr>
              <a:tblGrid>
                <a:gridCol w="2049507"/>
                <a:gridCol w="1819670"/>
                <a:gridCol w="1998728"/>
                <a:gridCol w="1743011"/>
              </a:tblGrid>
              <a:tr h="361723">
                <a:tc>
                  <a:txBody>
                    <a:bodyPr/>
                    <a:lstStyle>
                      <a:lvl1pPr marL="0" algn="l" defTabSz="914400" rtl="0" eaLnBrk="1" latinLnBrk="0" hangingPunct="1">
                        <a:defRPr sz="1800" kern="1200">
                          <a:solidFill>
                            <a:schemeClr val="tx1"/>
                          </a:solidFill>
                          <a:latin typeface="Segoe UI" panose="020B0502040204020203"/>
                        </a:defRPr>
                      </a:lvl1pPr>
                      <a:lvl2pPr marL="457200" algn="l" defTabSz="914400" rtl="0" eaLnBrk="1" latinLnBrk="0" hangingPunct="1">
                        <a:defRPr sz="1800" kern="1200">
                          <a:solidFill>
                            <a:schemeClr val="tx1"/>
                          </a:solidFill>
                          <a:latin typeface="Segoe UI" panose="020B0502040204020203"/>
                        </a:defRPr>
                      </a:lvl2pPr>
                      <a:lvl3pPr marL="914400" algn="l" defTabSz="914400" rtl="0" eaLnBrk="1" latinLnBrk="0" hangingPunct="1">
                        <a:defRPr sz="1800" kern="1200">
                          <a:solidFill>
                            <a:schemeClr val="tx1"/>
                          </a:solidFill>
                          <a:latin typeface="Segoe UI" panose="020B0502040204020203"/>
                        </a:defRPr>
                      </a:lvl3pPr>
                      <a:lvl4pPr marL="1371600" algn="l" defTabSz="914400" rtl="0" eaLnBrk="1" latinLnBrk="0" hangingPunct="1">
                        <a:defRPr sz="1800" kern="1200">
                          <a:solidFill>
                            <a:schemeClr val="tx1"/>
                          </a:solidFill>
                          <a:latin typeface="Segoe UI" panose="020B0502040204020203"/>
                        </a:defRPr>
                      </a:lvl4pPr>
                      <a:lvl5pPr marL="1828800" algn="l" defTabSz="914400" rtl="0" eaLnBrk="1" latinLnBrk="0" hangingPunct="1">
                        <a:defRPr sz="1800" kern="1200">
                          <a:solidFill>
                            <a:schemeClr val="tx1"/>
                          </a:solidFill>
                          <a:latin typeface="Segoe UI" panose="020B0502040204020203"/>
                        </a:defRPr>
                      </a:lvl5pPr>
                      <a:lvl6pPr marL="2286000" algn="l" defTabSz="914400" rtl="0" eaLnBrk="1" latinLnBrk="0" hangingPunct="1">
                        <a:defRPr sz="1800" kern="1200">
                          <a:solidFill>
                            <a:schemeClr val="tx1"/>
                          </a:solidFill>
                          <a:latin typeface="Segoe UI" panose="020B0502040204020203"/>
                        </a:defRPr>
                      </a:lvl6pPr>
                      <a:lvl7pPr marL="2743200" algn="l" defTabSz="914400" rtl="0" eaLnBrk="1" latinLnBrk="0" hangingPunct="1">
                        <a:defRPr sz="1800" kern="1200">
                          <a:solidFill>
                            <a:schemeClr val="tx1"/>
                          </a:solidFill>
                          <a:latin typeface="Segoe UI" panose="020B0502040204020203"/>
                        </a:defRPr>
                      </a:lvl7pPr>
                      <a:lvl8pPr marL="3200400" algn="l" defTabSz="914400" rtl="0" eaLnBrk="1" latinLnBrk="0" hangingPunct="1">
                        <a:defRPr sz="1800" kern="1200">
                          <a:solidFill>
                            <a:schemeClr val="tx1"/>
                          </a:solidFill>
                          <a:latin typeface="Segoe UI" panose="020B0502040204020203"/>
                        </a:defRPr>
                      </a:lvl8pPr>
                      <a:lvl9pPr marL="3657600" algn="l" defTabSz="914400" rtl="0" eaLnBrk="1" latinLnBrk="0" hangingPunct="1">
                        <a:defRPr sz="1800" kern="1200">
                          <a:solidFill>
                            <a:schemeClr val="tx1"/>
                          </a:solidFill>
                          <a:latin typeface="Segoe UI" panose="020B0502040204020203"/>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en-US" altLang="zh-CN" sz="1600" b="1" u="none" strike="noStrike" kern="1200" cap="none" normalizeH="0" baseline="0" dirty="0">
                          <a:ln>
                            <a:noFill/>
                          </a:ln>
                          <a:solidFill>
                            <a:schemeClr val="bg1"/>
                          </a:solidFill>
                          <a:effectLst/>
                          <a:latin typeface="+mn-ea"/>
                          <a:ea typeface="+mn-ea"/>
                          <a:sym typeface="微软雅黑" charset="-122"/>
                        </a:rPr>
                        <a:t>A</a:t>
                      </a:r>
                      <a:endParaRPr kumimoji="1" lang="en-US" altLang="zh-CN" sz="1600" b="1" i="0" u="none" strike="noStrike" kern="1200" cap="none" normalizeH="0" baseline="0" dirty="0">
                        <a:ln>
                          <a:noFill/>
                        </a:ln>
                        <a:solidFill>
                          <a:schemeClr val="bg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lvl1pPr marL="0" algn="l" defTabSz="914400" rtl="0" eaLnBrk="1" latinLnBrk="0" hangingPunct="1">
                        <a:defRPr sz="1800" kern="1200">
                          <a:solidFill>
                            <a:schemeClr val="tx1"/>
                          </a:solidFill>
                          <a:latin typeface="Segoe UI" panose="020B0502040204020203"/>
                        </a:defRPr>
                      </a:lvl1pPr>
                      <a:lvl2pPr marL="457200" algn="l" defTabSz="914400" rtl="0" eaLnBrk="1" latinLnBrk="0" hangingPunct="1">
                        <a:defRPr sz="1800" kern="1200">
                          <a:solidFill>
                            <a:schemeClr val="tx1"/>
                          </a:solidFill>
                          <a:latin typeface="Segoe UI" panose="020B0502040204020203"/>
                        </a:defRPr>
                      </a:lvl2pPr>
                      <a:lvl3pPr marL="914400" algn="l" defTabSz="914400" rtl="0" eaLnBrk="1" latinLnBrk="0" hangingPunct="1">
                        <a:defRPr sz="1800" kern="1200">
                          <a:solidFill>
                            <a:schemeClr val="tx1"/>
                          </a:solidFill>
                          <a:latin typeface="Segoe UI" panose="020B0502040204020203"/>
                        </a:defRPr>
                      </a:lvl3pPr>
                      <a:lvl4pPr marL="1371600" algn="l" defTabSz="914400" rtl="0" eaLnBrk="1" latinLnBrk="0" hangingPunct="1">
                        <a:defRPr sz="1800" kern="1200">
                          <a:solidFill>
                            <a:schemeClr val="tx1"/>
                          </a:solidFill>
                          <a:latin typeface="Segoe UI" panose="020B0502040204020203"/>
                        </a:defRPr>
                      </a:lvl4pPr>
                      <a:lvl5pPr marL="1828800" algn="l" defTabSz="914400" rtl="0" eaLnBrk="1" latinLnBrk="0" hangingPunct="1">
                        <a:defRPr sz="1800" kern="1200">
                          <a:solidFill>
                            <a:schemeClr val="tx1"/>
                          </a:solidFill>
                          <a:latin typeface="Segoe UI" panose="020B0502040204020203"/>
                        </a:defRPr>
                      </a:lvl5pPr>
                      <a:lvl6pPr marL="2286000" algn="l" defTabSz="914400" rtl="0" eaLnBrk="1" latinLnBrk="0" hangingPunct="1">
                        <a:defRPr sz="1800" kern="1200">
                          <a:solidFill>
                            <a:schemeClr val="tx1"/>
                          </a:solidFill>
                          <a:latin typeface="Segoe UI" panose="020B0502040204020203"/>
                        </a:defRPr>
                      </a:lvl6pPr>
                      <a:lvl7pPr marL="2743200" algn="l" defTabSz="914400" rtl="0" eaLnBrk="1" latinLnBrk="0" hangingPunct="1">
                        <a:defRPr sz="1800" kern="1200">
                          <a:solidFill>
                            <a:schemeClr val="tx1"/>
                          </a:solidFill>
                          <a:latin typeface="Segoe UI" panose="020B0502040204020203"/>
                        </a:defRPr>
                      </a:lvl7pPr>
                      <a:lvl8pPr marL="3200400" algn="l" defTabSz="914400" rtl="0" eaLnBrk="1" latinLnBrk="0" hangingPunct="1">
                        <a:defRPr sz="1800" kern="1200">
                          <a:solidFill>
                            <a:schemeClr val="tx1"/>
                          </a:solidFill>
                          <a:latin typeface="Segoe UI" panose="020B0502040204020203"/>
                        </a:defRPr>
                      </a:lvl8pPr>
                      <a:lvl9pPr marL="3657600" algn="l" defTabSz="914400" rtl="0" eaLnBrk="1" latinLnBrk="0" hangingPunct="1">
                        <a:defRPr sz="1800" kern="1200">
                          <a:solidFill>
                            <a:schemeClr val="tx1"/>
                          </a:solidFill>
                          <a:latin typeface="Segoe UI" panose="020B0502040204020203"/>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en-US" altLang="zh-CN" sz="1600" b="1" u="none" strike="noStrike" kern="1200" cap="none" normalizeH="0" baseline="0" dirty="0">
                          <a:ln>
                            <a:noFill/>
                          </a:ln>
                          <a:solidFill>
                            <a:schemeClr val="bg1"/>
                          </a:solidFill>
                          <a:effectLst/>
                          <a:latin typeface="+mn-ea"/>
                          <a:ea typeface="+mn-ea"/>
                          <a:sym typeface="微软雅黑" charset="-122"/>
                        </a:rPr>
                        <a:t>B</a:t>
                      </a:r>
                      <a:endParaRPr kumimoji="1" lang="en-US" altLang="zh-CN" sz="1600" b="1" i="0" u="none" strike="noStrike" kern="1200" cap="none" normalizeH="0" baseline="0" dirty="0">
                        <a:ln>
                          <a:noFill/>
                        </a:ln>
                        <a:solidFill>
                          <a:schemeClr val="bg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en-US" altLang="zh-CN" sz="1600" b="1" u="none" strike="noStrike" kern="1200" cap="none" normalizeH="0" baseline="0" dirty="0">
                          <a:ln>
                            <a:noFill/>
                          </a:ln>
                          <a:solidFill>
                            <a:schemeClr val="bg1"/>
                          </a:solidFill>
                          <a:effectLst/>
                          <a:latin typeface="+mn-ea"/>
                          <a:ea typeface="+mn-ea"/>
                          <a:sym typeface="微软雅黑" charset="-122"/>
                        </a:rPr>
                        <a:t>C</a:t>
                      </a:r>
                      <a:endParaRPr kumimoji="1" lang="en-US" altLang="zh-CN" sz="1600" b="1" i="0" u="none" strike="noStrike" kern="1200" cap="none" normalizeH="0" baseline="0" dirty="0">
                        <a:ln>
                          <a:noFill/>
                        </a:ln>
                        <a:solidFill>
                          <a:schemeClr val="bg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en-US" altLang="zh-CN" sz="1600" b="1" i="0" u="none" strike="noStrike" kern="1200" cap="none" normalizeH="0" baseline="0" dirty="0">
                          <a:ln>
                            <a:noFill/>
                          </a:ln>
                          <a:solidFill>
                            <a:schemeClr val="bg1"/>
                          </a:solidFill>
                          <a:effectLst/>
                          <a:latin typeface="+mn-ea"/>
                          <a:ea typeface="+mn-ea"/>
                          <a:cs typeface="Arial" panose="020B0604020202090204"/>
                          <a:sym typeface="微软雅黑" charset="-122"/>
                        </a:rPr>
                        <a:t>D</a:t>
                      </a:r>
                      <a:endParaRPr kumimoji="1" lang="en-US" altLang="zh-CN" sz="1600" b="1" i="0" u="none" strike="noStrike" kern="1200" cap="none" normalizeH="0" baseline="0" dirty="0">
                        <a:ln>
                          <a:noFill/>
                        </a:ln>
                        <a:solidFill>
                          <a:schemeClr val="bg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7769F"/>
                    </a:solidFill>
                  </a:tcPr>
                </a:tc>
              </a:tr>
              <a:tr h="967734">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000" b="1" i="0" u="none" strike="noStrike" cap="none" normalizeH="0" baseline="0" dirty="0">
                          <a:ln>
                            <a:noFill/>
                          </a:ln>
                          <a:solidFill>
                            <a:schemeClr val="tx1"/>
                          </a:solidFill>
                          <a:effectLst/>
                          <a:latin typeface="+mn-ea"/>
                          <a:ea typeface="+mn-ea"/>
                          <a:cs typeface="Arial" panose="020B0604020202090204"/>
                          <a:sym typeface="微软雅黑" charset="-122"/>
                        </a:rPr>
                        <a:t>明显超出组织期望：</a:t>
                      </a:r>
                      <a:endParaRPr kumimoji="1" lang="en-US" altLang="zh-CN" sz="1000" b="1" i="0" u="none" strike="noStrike" cap="none" normalizeH="0" baseline="0" dirty="0">
                        <a:ln>
                          <a:noFill/>
                        </a:ln>
                        <a:solidFill>
                          <a:schemeClr val="tx1"/>
                        </a:solidFill>
                        <a:effectLst/>
                        <a:latin typeface="+mn-ea"/>
                        <a:ea typeface="+mn-ea"/>
                        <a:cs typeface="Arial" panose="020B0604020202090204"/>
                        <a:sym typeface="微软雅黑" charset="-122"/>
                      </a:endParaRP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000" b="0" i="0" u="none" strike="noStrike" cap="none" normalizeH="0" baseline="0" dirty="0">
                          <a:ln>
                            <a:noFill/>
                          </a:ln>
                          <a:solidFill>
                            <a:schemeClr val="tx1"/>
                          </a:solidFill>
                          <a:effectLst/>
                          <a:latin typeface="+mn-ea"/>
                          <a:ea typeface="+mn-ea"/>
                          <a:cs typeface="Arial" panose="020B0604020202090204"/>
                          <a:sym typeface="微软雅黑" charset="-122"/>
                        </a:rPr>
                        <a:t>在各方面均超越所在岗位层级的职责和绩效期望，取得杰出的成果，绩效明显高于他人，是部门员工的绩效标杆</a:t>
                      </a:r>
                      <a:endParaRPr kumimoji="1" lang="zh-CN" altLang="en-US" sz="1000" b="0"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zh-CN" altLang="en-US" sz="1000" b="1" i="0" u="none" strike="noStrike" cap="none" normalizeH="0" baseline="0" dirty="0">
                          <a:ln>
                            <a:noFill/>
                          </a:ln>
                          <a:solidFill>
                            <a:schemeClr val="tx1"/>
                          </a:solidFill>
                          <a:effectLst/>
                          <a:latin typeface="+mn-ea"/>
                          <a:ea typeface="+mn-ea"/>
                          <a:cs typeface="Arial" panose="020B0604020202090204"/>
                          <a:sym typeface="微软雅黑" charset="-122"/>
                        </a:rPr>
                        <a:t>达到组织期望，部分超出组织期望：</a:t>
                      </a:r>
                      <a:endParaRPr kumimoji="1" lang="en-US" altLang="zh-CN" sz="1000" b="1" i="0" u="none" strike="noStrike" cap="none" normalizeH="0" baseline="0" dirty="0">
                        <a:ln>
                          <a:noFill/>
                        </a:ln>
                        <a:solidFill>
                          <a:schemeClr val="tx1"/>
                        </a:solidFill>
                        <a:effectLst/>
                        <a:latin typeface="+mn-ea"/>
                        <a:ea typeface="+mn-ea"/>
                        <a:cs typeface="Arial" panose="020B0604020202090204"/>
                        <a:sym typeface="微软雅黑" charset="-122"/>
                      </a:endParaRP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zh-CN" altLang="en-US" sz="1000" b="0" i="0" u="none" strike="noStrike" cap="none" normalizeH="0" baseline="0" dirty="0">
                          <a:ln>
                            <a:noFill/>
                          </a:ln>
                          <a:solidFill>
                            <a:schemeClr val="tx1"/>
                          </a:solidFill>
                          <a:effectLst/>
                          <a:latin typeface="+mn-ea"/>
                          <a:ea typeface="+mn-ea"/>
                          <a:cs typeface="Arial" panose="020B0604020202090204"/>
                          <a:sym typeface="微软雅黑" charset="-122"/>
                        </a:rPr>
                        <a:t>始终能够满足所在岗位层级的职责和绩效期望，部分能够超出组织期望</a:t>
                      </a:r>
                      <a:endParaRPr kumimoji="1" lang="zh-CN" altLang="en-US" sz="1000" b="0"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zh-CN" altLang="en-US" sz="1000" b="1" i="0" u="none" strike="noStrike" kern="1200" cap="none" normalizeH="0" baseline="0" dirty="0">
                          <a:ln>
                            <a:noFill/>
                          </a:ln>
                          <a:solidFill>
                            <a:schemeClr val="tx1"/>
                          </a:solidFill>
                          <a:effectLst/>
                          <a:latin typeface="+mn-ea"/>
                          <a:ea typeface="+mn-ea"/>
                          <a:cs typeface="Arial" panose="020B0604020202090204"/>
                          <a:sym typeface="微软雅黑" charset="-122"/>
                        </a:rPr>
                        <a:t>基本达到组织期望，存在一定的改进空间：</a:t>
                      </a:r>
                      <a:endParaRPr kumimoji="1" lang="en-US" altLang="zh-CN" sz="1000" b="1" i="0" u="none" strike="noStrike" kern="1200" cap="none" normalizeH="0" baseline="0" dirty="0">
                        <a:ln>
                          <a:noFill/>
                        </a:ln>
                        <a:solidFill>
                          <a:schemeClr val="tx1"/>
                        </a:solidFill>
                        <a:effectLst/>
                        <a:latin typeface="+mn-ea"/>
                        <a:ea typeface="+mn-ea"/>
                        <a:cs typeface="Arial" panose="020B0604020202090204"/>
                        <a:sym typeface="微软雅黑" charset="-122"/>
                      </a:endParaRP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defRPr/>
                      </a:pPr>
                      <a:r>
                        <a:rPr kumimoji="1" lang="zh-CN" altLang="en-US" sz="1000" b="0" i="0" u="none" strike="noStrike" kern="1200" cap="none" normalizeH="0" baseline="0" dirty="0">
                          <a:ln>
                            <a:noFill/>
                          </a:ln>
                          <a:solidFill>
                            <a:schemeClr val="tx1"/>
                          </a:solidFill>
                          <a:effectLst/>
                          <a:latin typeface="+mn-ea"/>
                          <a:ea typeface="+mn-ea"/>
                          <a:cs typeface="Arial" panose="020B0604020202090204"/>
                          <a:sym typeface="微软雅黑" charset="-122"/>
                        </a:rPr>
                        <a:t>基本能够满足所在岗位层级的职责和绩效期望，部分工作不能完全履行岗位职责和绩效期望，需要改进</a:t>
                      </a:r>
                      <a:endParaRPr kumimoji="1" lang="zh-CN" altLang="en-US" sz="1000" b="0" i="0" u="none" strike="noStrike" kern="1200"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000" b="1" i="0" u="none" strike="noStrike" cap="none" normalizeH="0" baseline="0" dirty="0">
                          <a:ln>
                            <a:noFill/>
                          </a:ln>
                          <a:solidFill>
                            <a:schemeClr val="tx1"/>
                          </a:solidFill>
                          <a:effectLst/>
                          <a:latin typeface="+mn-ea"/>
                          <a:ea typeface="+mn-ea"/>
                          <a:cs typeface="Arial" panose="020B0604020202090204"/>
                          <a:sym typeface="微软雅黑" charset="-122"/>
                        </a:rPr>
                        <a:t>不能胜任组织期望：</a:t>
                      </a:r>
                      <a:endParaRPr kumimoji="1" lang="en-US" altLang="zh-CN" sz="1000" b="1" i="0" u="none" strike="noStrike" cap="none" normalizeH="0" baseline="0" dirty="0">
                        <a:ln>
                          <a:noFill/>
                        </a:ln>
                        <a:solidFill>
                          <a:schemeClr val="tx1"/>
                        </a:solidFill>
                        <a:effectLst/>
                        <a:latin typeface="+mn-ea"/>
                        <a:ea typeface="+mn-ea"/>
                        <a:cs typeface="Arial" panose="020B0604020202090204"/>
                        <a:sym typeface="微软雅黑" charset="-122"/>
                      </a:endParaRP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charset="0"/>
                        <a:buNone/>
                      </a:pPr>
                      <a:r>
                        <a:rPr kumimoji="1" lang="zh-CN" altLang="en-US" sz="1000" b="0" i="0" u="none" strike="noStrike" cap="none" normalizeH="0" baseline="0" dirty="0">
                          <a:ln>
                            <a:noFill/>
                          </a:ln>
                          <a:solidFill>
                            <a:schemeClr val="tx1"/>
                          </a:solidFill>
                          <a:effectLst/>
                          <a:latin typeface="+mn-ea"/>
                          <a:ea typeface="+mn-ea"/>
                          <a:cs typeface="Arial" panose="020B0604020202090204"/>
                          <a:sym typeface="微软雅黑" charset="-122"/>
                        </a:rPr>
                        <a:t>基本不能履行所在岗位层级的职责和绩效期望，且难以短期内改善以达到岗位期望，需考虑换岗或淘汰</a:t>
                      </a:r>
                      <a:endParaRPr kumimoji="1" lang="zh-CN" altLang="en-US" sz="1000" b="0" i="0" u="none" strike="noStrike" cap="none" normalizeH="0" baseline="0" dirty="0">
                        <a:ln>
                          <a:noFill/>
                        </a:ln>
                        <a:solidFill>
                          <a:schemeClr val="tx1"/>
                        </a:solidFill>
                        <a:effectLst/>
                        <a:latin typeface="+mn-ea"/>
                        <a:ea typeface="+mn-ea"/>
                        <a:cs typeface="Arial" panose="020B0604020202090204"/>
                        <a:sym typeface="微软雅黑"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绩效管理体系</a:t>
            </a:r>
            <a:r>
              <a:rPr lang="en-US" altLang="zh-CN" dirty="0"/>
              <a:t>-</a:t>
            </a:r>
            <a:r>
              <a:rPr lang="zh-CN" altLang="en-US" dirty="0"/>
              <a:t>季度绩效考评结果应用</a:t>
            </a:r>
            <a:endParaRPr lang="zh-CN" altLang="en-US"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sp>
        <p:nvSpPr>
          <p:cNvPr id="2" name="矩形 1"/>
          <p:cNvSpPr/>
          <p:nvPr/>
        </p:nvSpPr>
        <p:spPr>
          <a:xfrm>
            <a:off x="678814" y="1279406"/>
            <a:ext cx="10940818" cy="417743"/>
          </a:xfrm>
          <a:prstGeom prst="rect">
            <a:avLst/>
          </a:prstGeom>
        </p:spPr>
        <p:txBody>
          <a:bodyPr wrap="square">
            <a:spAutoFit/>
          </a:bodyPr>
          <a:lstStyle/>
          <a:p>
            <a:pPr marL="285750" marR="0" lvl="0" indent="-285750" algn="l" defTabSz="914400" rtl="0" eaLnBrk="0" fontAlgn="auto" latinLnBrk="0" hangingPunct="0">
              <a:lnSpc>
                <a:spcPct val="150000"/>
              </a:lnSpc>
              <a:spcBef>
                <a:spcPts val="0"/>
              </a:spcBef>
              <a:spcAft>
                <a:spcPts val="0"/>
              </a:spcAft>
              <a:buClrTx/>
              <a:buSzTx/>
              <a:buFont typeface="Wingdings" panose="05000000000000000000" pitchFamily="2" charset="2"/>
              <a:buChar char="l"/>
              <a:defRPr/>
            </a:pPr>
            <a:r>
              <a:rPr kumimoji="1" lang="zh-CN" altLang="en-US" sz="1600" b="0" i="0" u="none" strike="noStrike" kern="1200" cap="none" spc="0" normalizeH="0" baseline="0" noProof="0" dirty="0">
                <a:ln>
                  <a:noFill/>
                </a:ln>
                <a:solidFill>
                  <a:srgbClr val="000000"/>
                </a:solidFill>
                <a:effectLst/>
                <a:uLnTx/>
                <a:uFillTx/>
                <a:latin typeface="Arial" panose="020B0604020202090204" pitchFamily="34" charset="0"/>
                <a:ea typeface="微软雅黑" charset="-122"/>
                <a:cs typeface="+mn-cs"/>
                <a:sym typeface="Arial" panose="020B0604020202090204" pitchFamily="34" charset="0"/>
              </a:rPr>
              <a:t>季度个人绩效结果应用关联季度奖金考核，职级调整，薪酬调整，具体如下：</a:t>
            </a:r>
            <a:endParaRPr kumimoji="1" lang="zh-CN" altLang="en-US" sz="1600" b="0" i="0" u="none" strike="noStrike" kern="1200" cap="none" spc="0" normalizeH="0" baseline="0" noProof="0" dirty="0">
              <a:ln>
                <a:noFill/>
              </a:ln>
              <a:solidFill>
                <a:srgbClr val="000000"/>
              </a:solidFill>
              <a:effectLst/>
              <a:uLnTx/>
              <a:uFillTx/>
              <a:latin typeface="Arial" panose="020B0604020202090204" pitchFamily="34" charset="0"/>
              <a:ea typeface="微软雅黑" charset="-122"/>
              <a:cs typeface="+mn-cs"/>
              <a:sym typeface="Arial" panose="020B0604020202090204" pitchFamily="34" charset="0"/>
            </a:endParaRPr>
          </a:p>
        </p:txBody>
      </p:sp>
      <p:graphicFrame>
        <p:nvGraphicFramePr>
          <p:cNvPr id="7" name="表格 6"/>
          <p:cNvGraphicFramePr>
            <a:graphicFrameLocks noGrp="1"/>
          </p:cNvGraphicFramePr>
          <p:nvPr/>
        </p:nvGraphicFramePr>
        <p:xfrm>
          <a:off x="806633" y="2086550"/>
          <a:ext cx="10387094" cy="3927973"/>
        </p:xfrm>
        <a:graphic>
          <a:graphicData uri="http://schemas.openxmlformats.org/drawingml/2006/table">
            <a:tbl>
              <a:tblPr/>
              <a:tblGrid>
                <a:gridCol w="1425099"/>
                <a:gridCol w="1710669"/>
                <a:gridCol w="1672870"/>
                <a:gridCol w="1888030"/>
                <a:gridCol w="1842146"/>
                <a:gridCol w="1848280"/>
              </a:tblGrid>
              <a:tr h="775919">
                <a:tc>
                  <a:txBody>
                    <a:bodyPr/>
                    <a:lstStyle>
                      <a:lvl1pPr>
                        <a:spcBef>
                          <a:spcPct val="25000"/>
                        </a:spcBef>
                        <a:spcAft>
                          <a:spcPct val="25000"/>
                        </a:spcAft>
                        <a:buClr>
                          <a:schemeClr val="tx1"/>
                        </a:buClr>
                        <a:buSzPct val="65000"/>
                        <a:buFont typeface="Wingdings" panose="05000000000000000000" pitchFamily="2" charset="2"/>
                        <a:defRPr kumimoji="1" b="1">
                          <a:solidFill>
                            <a:schemeClr val="tx1"/>
                          </a:solidFill>
                          <a:latin typeface="Arial" panose="020B0604020202090204" pitchFamily="34" charset="0"/>
                          <a:ea typeface="楷体_GB2312"/>
                          <a:cs typeface="楷体_GB2312"/>
                        </a:defRPr>
                      </a:lvl1pPr>
                      <a:lvl2pPr marL="742950" indent="-285750">
                        <a:spcBef>
                          <a:spcPct val="25000"/>
                        </a:spcBef>
                        <a:spcAft>
                          <a:spcPct val="25000"/>
                        </a:spcAft>
                        <a:buClr>
                          <a:schemeClr val="tx1"/>
                        </a:buClr>
                        <a:buSzPct val="80000"/>
                        <a:defRPr kumimoji="1" sz="2400" b="1">
                          <a:solidFill>
                            <a:schemeClr val="tx1"/>
                          </a:solidFill>
                          <a:latin typeface="Arial" panose="020B0604020202090204" pitchFamily="34" charset="0"/>
                          <a:ea typeface="楷体_GB2312"/>
                          <a:cs typeface="楷体_GB2312"/>
                        </a:defRPr>
                      </a:lvl2pPr>
                      <a:lvl3pPr marL="1143000" indent="-228600">
                        <a:spcBef>
                          <a:spcPct val="25000"/>
                        </a:spcBef>
                        <a:spcAft>
                          <a:spcPct val="25000"/>
                        </a:spcAft>
                        <a:buClr>
                          <a:srgbClr val="4E9EA2"/>
                        </a:buClr>
                        <a:buSzPct val="80000"/>
                        <a:defRPr kumimoji="1" sz="2000" b="1">
                          <a:solidFill>
                            <a:schemeClr val="tx1"/>
                          </a:solidFill>
                          <a:latin typeface="Arial" panose="020B0604020202090204" pitchFamily="34" charset="0"/>
                          <a:ea typeface="楷体_GB2312"/>
                          <a:cs typeface="楷体_GB2312"/>
                        </a:defRPr>
                      </a:lvl3pPr>
                      <a:lvl4pPr marL="1600200" indent="-228600">
                        <a:spcBef>
                          <a:spcPct val="25000"/>
                        </a:spcBef>
                        <a:spcAft>
                          <a:spcPct val="25000"/>
                        </a:spcAft>
                        <a:buClr>
                          <a:schemeClr val="accent2"/>
                        </a:buClr>
                        <a:buSzPct val="80000"/>
                        <a:defRPr kumimoji="1" b="1">
                          <a:solidFill>
                            <a:schemeClr val="tx1"/>
                          </a:solidFill>
                          <a:latin typeface="Arial" panose="020B0604020202090204" pitchFamily="34" charset="0"/>
                          <a:ea typeface="宋体" pitchFamily="2" charset="-122"/>
                          <a:cs typeface="楷体_GB2312"/>
                        </a:defRPr>
                      </a:lvl4pPr>
                      <a:lvl5pPr marL="2057400" indent="-22860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5pPr>
                      <a:lvl6pPr marL="25146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6pPr>
                      <a:lvl7pPr marL="29718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7pPr>
                      <a:lvl8pPr marL="34290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8pPr>
                      <a:lvl9pPr marL="38862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考核等级</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lvl1pPr>
                        <a:spcBef>
                          <a:spcPct val="25000"/>
                        </a:spcBef>
                        <a:spcAft>
                          <a:spcPct val="25000"/>
                        </a:spcAft>
                        <a:buClr>
                          <a:schemeClr val="tx1"/>
                        </a:buClr>
                        <a:buSzPct val="65000"/>
                        <a:buFont typeface="Wingdings" panose="05000000000000000000" pitchFamily="2" charset="2"/>
                        <a:defRPr kumimoji="1" b="1">
                          <a:solidFill>
                            <a:schemeClr val="tx1"/>
                          </a:solidFill>
                          <a:latin typeface="Arial" panose="020B0604020202090204" pitchFamily="34" charset="0"/>
                          <a:ea typeface="楷体_GB2312"/>
                          <a:cs typeface="楷体_GB2312"/>
                        </a:defRPr>
                      </a:lvl1pPr>
                      <a:lvl2pPr marL="742950" indent="-285750">
                        <a:spcBef>
                          <a:spcPct val="25000"/>
                        </a:spcBef>
                        <a:spcAft>
                          <a:spcPct val="25000"/>
                        </a:spcAft>
                        <a:buClr>
                          <a:schemeClr val="tx1"/>
                        </a:buClr>
                        <a:buSzPct val="80000"/>
                        <a:defRPr kumimoji="1" sz="2400" b="1">
                          <a:solidFill>
                            <a:schemeClr val="tx1"/>
                          </a:solidFill>
                          <a:latin typeface="Arial" panose="020B0604020202090204" pitchFamily="34" charset="0"/>
                          <a:ea typeface="楷体_GB2312"/>
                          <a:cs typeface="楷体_GB2312"/>
                        </a:defRPr>
                      </a:lvl2pPr>
                      <a:lvl3pPr marL="1143000" indent="-228600">
                        <a:spcBef>
                          <a:spcPct val="25000"/>
                        </a:spcBef>
                        <a:spcAft>
                          <a:spcPct val="25000"/>
                        </a:spcAft>
                        <a:buClr>
                          <a:srgbClr val="4E9EA2"/>
                        </a:buClr>
                        <a:buSzPct val="80000"/>
                        <a:defRPr kumimoji="1" sz="2000" b="1">
                          <a:solidFill>
                            <a:schemeClr val="tx1"/>
                          </a:solidFill>
                          <a:latin typeface="Arial" panose="020B0604020202090204" pitchFamily="34" charset="0"/>
                          <a:ea typeface="楷体_GB2312"/>
                          <a:cs typeface="楷体_GB2312"/>
                        </a:defRPr>
                      </a:lvl3pPr>
                      <a:lvl4pPr marL="1600200" indent="-228600">
                        <a:spcBef>
                          <a:spcPct val="25000"/>
                        </a:spcBef>
                        <a:spcAft>
                          <a:spcPct val="25000"/>
                        </a:spcAft>
                        <a:buClr>
                          <a:schemeClr val="accent2"/>
                        </a:buClr>
                        <a:buSzPct val="80000"/>
                        <a:defRPr kumimoji="1" b="1">
                          <a:solidFill>
                            <a:schemeClr val="tx1"/>
                          </a:solidFill>
                          <a:latin typeface="Arial" panose="020B0604020202090204" pitchFamily="34" charset="0"/>
                          <a:ea typeface="宋体" pitchFamily="2" charset="-122"/>
                          <a:cs typeface="楷体_GB2312"/>
                        </a:defRPr>
                      </a:lvl4pPr>
                      <a:lvl5pPr marL="2057400" indent="-22860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5pPr>
                      <a:lvl6pPr marL="25146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6pPr>
                      <a:lvl7pPr marL="29718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7pPr>
                      <a:lvl8pPr marL="34290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8pPr>
                      <a:lvl9pPr marL="38862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工资调整</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季度</a:t>
                      </a:r>
                      <a:endParaRPr kumimoji="0" lang="en-US" altLang="zh-CN"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奖金系数</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职级升级升等</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干部选拔或晋升</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不胜任淘汰</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r>
              <a:tr h="6399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kern="1200" cap="none" normalizeH="0" baseline="0" dirty="0">
                          <a:ln>
                            <a:noFill/>
                          </a:ln>
                          <a:solidFill>
                            <a:schemeClr val="tx1"/>
                          </a:solidFill>
                          <a:effectLst/>
                          <a:latin typeface="+mn-ea"/>
                          <a:ea typeface="+mn-ea"/>
                          <a:cs typeface="楷体_GB2312"/>
                          <a:sym typeface="Arial" panose="020B0604020202090204" pitchFamily="34" charset="0"/>
                        </a:rPr>
                        <a:t>A</a:t>
                      </a:r>
                      <a:endParaRPr kumimoji="0" lang="en-US" altLang="zh-CN" sz="1200" b="0" i="0" u="none" strike="noStrike" kern="1200" cap="none" normalizeH="0" baseline="0" dirty="0">
                        <a:ln>
                          <a:noFill/>
                        </a:ln>
                        <a:solidFill>
                          <a:schemeClr val="tx1"/>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ctr"/>
                      <a:r>
                        <a:rPr kumimoji="0" lang="zh-CN" altLang="en-US" sz="1200" b="0" i="0" u="none" strike="noStrike" kern="1200" cap="none" normalizeH="0" baseline="0" dirty="0">
                          <a:ln>
                            <a:noFill/>
                          </a:ln>
                          <a:solidFill>
                            <a:schemeClr val="tx1"/>
                          </a:solidFill>
                          <a:effectLst/>
                          <a:latin typeface="+mn-ea"/>
                          <a:ea typeface="+mn-ea"/>
                        </a:rPr>
                        <a:t>有机会，纳入工资标准范围内统一管理</a:t>
                      </a:r>
                      <a:endParaRPr kumimoji="0" lang="zh-CN" altLang="en-US" sz="1200" b="0" i="0" u="none" strike="noStrike" kern="1200" cap="none" normalizeH="0" baseline="0" dirty="0">
                        <a:ln>
                          <a:noFill/>
                        </a:ln>
                        <a:solidFill>
                          <a:schemeClr val="tx1"/>
                        </a:solidFill>
                        <a:effectLst/>
                        <a:latin typeface="+mn-ea"/>
                        <a:ea typeface="+mn-ea"/>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kumimoji="0" lang="en-US" altLang="zh-CN" sz="1200" b="0" i="0" u="none" strike="noStrike" kern="1200" cap="none" normalizeH="0" baseline="0" dirty="0">
                          <a:ln>
                            <a:noFill/>
                          </a:ln>
                          <a:solidFill>
                            <a:schemeClr val="tx1"/>
                          </a:solidFill>
                          <a:effectLst/>
                          <a:latin typeface="+mn-ea"/>
                          <a:ea typeface="+mn-ea"/>
                        </a:rPr>
                        <a:t>1.5</a:t>
                      </a:r>
                      <a:endParaRPr kumimoji="0" lang="zh-CN" altLang="en-US" sz="1200" b="0" i="0" u="none" strike="noStrike" kern="1200" cap="none" normalizeH="0" baseline="0" dirty="0">
                        <a:ln>
                          <a:noFill/>
                        </a:ln>
                        <a:solidFill>
                          <a:schemeClr val="tx1"/>
                        </a:solidFill>
                        <a:effectLst/>
                        <a:latin typeface="+mn-ea"/>
                        <a:ea typeface="+mn-ea"/>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rPr>
                        <a:t>有机会，可进入快通道</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F3F3"/>
                    </a:solidFill>
                  </a:tcPr>
                </a:tc>
                <a:tc rowSpan="2">
                  <a:txBody>
                    <a:bodyPr/>
                    <a:lstStyle/>
                    <a:p>
                      <a:pPr algn="ctr"/>
                      <a:r>
                        <a:rPr lang="zh-CN" altLang="en-US" sz="1200" dirty="0">
                          <a:latin typeface="+mn-ea"/>
                          <a:ea typeface="+mn-ea"/>
                        </a:rPr>
                        <a:t>无</a:t>
                      </a:r>
                      <a:endParaRPr lang="zh-CN" sz="1200" dirty="0">
                        <a:latin typeface="+mn-ea"/>
                        <a:ea typeface="+mn-ea"/>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74700">
                <a:tc>
                  <a:txBody>
                    <a:bodyPr/>
                    <a:lstStyle/>
                    <a:p>
                      <a:pPr algn="ctr"/>
                      <a:r>
                        <a:rPr kumimoji="0" lang="en-US" altLang="zh-CN" sz="1200" b="0" i="0" u="none" strike="noStrike" kern="1200" cap="none" normalizeH="0" baseline="0" dirty="0">
                          <a:ln>
                            <a:noFill/>
                          </a:ln>
                          <a:solidFill>
                            <a:schemeClr val="tx1"/>
                          </a:solidFill>
                          <a:effectLst/>
                          <a:latin typeface="+mn-ea"/>
                          <a:ea typeface="+mn-ea"/>
                          <a:cs typeface="楷体_GB2312"/>
                          <a:sym typeface="Arial" panose="020B0604020202090204" pitchFamily="34" charset="0"/>
                        </a:rPr>
                        <a:t>B</a:t>
                      </a:r>
                      <a:endParaRPr kumimoji="0" lang="en-US" altLang="zh-CN" sz="1200" b="0" i="0" u="none" strike="noStrike" kern="1200" cap="none" normalizeH="0" baseline="0" dirty="0">
                        <a:ln>
                          <a:noFill/>
                        </a:ln>
                        <a:solidFill>
                          <a:schemeClr val="tx1"/>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kumimoji="0" lang="en-US" altLang="zh-CN" sz="1200" b="0" i="0" u="none" strike="noStrike" kern="1200" cap="none" normalizeH="0" baseline="0" dirty="0">
                          <a:ln>
                            <a:noFill/>
                          </a:ln>
                          <a:solidFill>
                            <a:schemeClr val="tx1"/>
                          </a:solidFill>
                          <a:effectLst/>
                          <a:latin typeface="+mn-ea"/>
                          <a:ea typeface="+mn-ea"/>
                        </a:rPr>
                        <a:t>1</a:t>
                      </a:r>
                      <a:endParaRPr kumimoji="0" lang="zh-CN" altLang="en-US" sz="1200" b="0" i="0" u="none" strike="noStrike" kern="1200" cap="none" normalizeH="0" baseline="0" dirty="0">
                        <a:ln>
                          <a:noFill/>
                        </a:ln>
                        <a:solidFill>
                          <a:schemeClr val="tx1"/>
                        </a:solidFill>
                        <a:effectLst/>
                        <a:latin typeface="+mn-ea"/>
                        <a:ea typeface="+mn-ea"/>
                      </a:endParaRPr>
                    </a:p>
                  </a:txBody>
                  <a:tcPr marL="121946" marR="121946" marT="45724" marB="45724"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mn-ea"/>
                          <a:ea typeface="+mn-ea"/>
                          <a:sym typeface="Arial" panose="020B0604020202090204" pitchFamily="34" charset="0"/>
                        </a:rPr>
                        <a:t>有机会</a:t>
                      </a:r>
                      <a:endParaRPr lang="zh-CN" altLang="en-US" sz="1200" dirty="0">
                        <a:latin typeface="+mn-ea"/>
                        <a:ea typeface="+mn-ea"/>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cPr/>
                </a:tc>
                <a:tc vMerge="1">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8021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mn-ea"/>
                          <a:ea typeface="+mn-ea"/>
                          <a:cs typeface="楷体_GB2312"/>
                          <a:sym typeface="Arial" panose="020B0604020202090204" pitchFamily="34" charset="0"/>
                        </a:rPr>
                        <a:t>C</a:t>
                      </a:r>
                      <a:endParaRPr kumimoji="0" lang="en-US" altLang="zh-CN" sz="1200" b="0" i="0" u="none" strike="noStrike" cap="none" normalizeH="0" baseline="0" dirty="0">
                        <a:ln>
                          <a:noFill/>
                        </a:ln>
                        <a:solidFill>
                          <a:schemeClr val="tx1"/>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mn-ea"/>
                          <a:ea typeface="+mn-ea"/>
                          <a:cs typeface="楷体_GB2312"/>
                          <a:sym typeface="Arial" panose="020B0604020202090204" pitchFamily="34" charset="0"/>
                        </a:rPr>
                        <a:t>不涨薪</a:t>
                      </a:r>
                      <a:endParaRPr kumimoji="0" lang="zh-CN" altLang="en-US" sz="1200" b="0" i="0" u="none" strike="noStrike" cap="none" normalizeH="0" baseline="0" dirty="0">
                        <a:ln>
                          <a:noFill/>
                        </a:ln>
                        <a:solidFill>
                          <a:schemeClr val="tx1"/>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chemeClr val="tx1"/>
                          </a:solidFill>
                          <a:effectLst/>
                          <a:latin typeface="+mn-ea"/>
                          <a:ea typeface="+mn-ea"/>
                          <a:cs typeface="楷体_GB2312"/>
                          <a:sym typeface="Arial" panose="020B0604020202090204" pitchFamily="34" charset="0"/>
                        </a:rPr>
                        <a:t>0.5</a:t>
                      </a:r>
                      <a:endParaRPr kumimoji="0" lang="zh-CN" altLang="en-US" sz="1200" b="0" i="0" u="none" strike="noStrike" cap="none" normalizeH="0" baseline="0" dirty="0">
                        <a:ln>
                          <a:noFill/>
                        </a:ln>
                        <a:solidFill>
                          <a:schemeClr val="tx1"/>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rPr>
                        <a:t>无机会</a:t>
                      </a:r>
                      <a:endPar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rPr>
                        <a:t>无机会</a:t>
                      </a:r>
                      <a:endPar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rPr>
                        <a:t>连续</a:t>
                      </a:r>
                      <a:r>
                        <a:rPr kumimoji="0" lang="en-US" altLang="zh-CN" sz="1200" b="0" i="0" u="none" strike="noStrike" cap="none" normalizeH="0" baseline="0" dirty="0">
                          <a:ln>
                            <a:noFill/>
                          </a:ln>
                          <a:solidFill>
                            <a:srgbClr val="000000"/>
                          </a:solidFill>
                          <a:effectLst/>
                          <a:latin typeface="+mn-ea"/>
                          <a:ea typeface="+mn-ea"/>
                          <a:cs typeface="楷体_GB2312"/>
                          <a:sym typeface="Arial" panose="020B0604020202090204" pitchFamily="34" charset="0"/>
                        </a:rPr>
                        <a:t>D</a:t>
                      </a:r>
                      <a:r>
                        <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rPr>
                        <a:t>或可能纳入绩效改进计划</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93523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mn-ea"/>
                          <a:ea typeface="+mn-ea"/>
                          <a:cs typeface="楷体_GB2312"/>
                          <a:sym typeface="Arial" panose="020B0604020202090204" pitchFamily="34" charset="0"/>
                        </a:rPr>
                        <a:t>D</a:t>
                      </a:r>
                      <a:endParaRPr kumimoji="0" lang="en-US" altLang="zh-CN"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1200" dirty="0">
                          <a:ln>
                            <a:noFill/>
                          </a:ln>
                          <a:solidFill>
                            <a:srgbClr val="000000"/>
                          </a:solidFill>
                          <a:effectLst/>
                          <a:latin typeface="+mn-ea"/>
                          <a:ea typeface="+mn-ea"/>
                          <a:cs typeface="楷体_GB2312"/>
                          <a:sym typeface="Arial" panose="020B0604020202090204" pitchFamily="34" charset="0"/>
                        </a:rPr>
                        <a:t>观察中</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mn-ea"/>
                          <a:ea typeface="+mn-ea"/>
                          <a:cs typeface="楷体_GB2312"/>
                          <a:sym typeface="Arial" panose="020B0604020202090204" pitchFamily="34" charset="0"/>
                        </a:rPr>
                        <a:t>0</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zh-CN" altLang="en-US" sz="1200" dirty="0">
                          <a:ln>
                            <a:noFill/>
                          </a:ln>
                          <a:solidFill>
                            <a:srgbClr val="000000"/>
                          </a:solidFill>
                          <a:effectLst/>
                          <a:latin typeface="+mn-ea"/>
                          <a:ea typeface="+mn-ea"/>
                          <a:cs typeface="楷体_GB2312"/>
                          <a:sym typeface="Arial" panose="020B0604020202090204" pitchFamily="34" charset="0"/>
                        </a:rPr>
                        <a:t>降职降级</a:t>
                      </a:r>
                      <a:r>
                        <a:rPr lang="en-US" altLang="zh-CN" sz="1200" dirty="0">
                          <a:ln>
                            <a:noFill/>
                          </a:ln>
                          <a:solidFill>
                            <a:srgbClr val="000000"/>
                          </a:solidFill>
                          <a:effectLst/>
                          <a:latin typeface="+mn-ea"/>
                          <a:ea typeface="+mn-ea"/>
                          <a:cs typeface="楷体_GB2312"/>
                          <a:sym typeface="Arial" panose="020B0604020202090204" pitchFamily="34" charset="0"/>
                        </a:rPr>
                        <a:t>/</a:t>
                      </a:r>
                      <a:r>
                        <a:rPr lang="zh-CN" altLang="en-US" sz="1200" dirty="0">
                          <a:ln>
                            <a:noFill/>
                          </a:ln>
                          <a:solidFill>
                            <a:srgbClr val="000000"/>
                          </a:solidFill>
                          <a:effectLst/>
                          <a:latin typeface="+mn-ea"/>
                          <a:ea typeface="+mn-ea"/>
                          <a:cs typeface="楷体_GB2312"/>
                          <a:sym typeface="Arial" panose="020B0604020202090204" pitchFamily="34" charset="0"/>
                        </a:rPr>
                        <a:t>换岗</a:t>
                      </a:r>
                      <a:r>
                        <a:rPr lang="en-US" altLang="zh-CN" sz="1200" dirty="0">
                          <a:ln>
                            <a:noFill/>
                          </a:ln>
                          <a:solidFill>
                            <a:srgbClr val="000000"/>
                          </a:solidFill>
                          <a:effectLst/>
                          <a:latin typeface="+mn-ea"/>
                          <a:ea typeface="+mn-ea"/>
                          <a:cs typeface="楷体_GB2312"/>
                          <a:sym typeface="Arial" panose="020B0604020202090204" pitchFamily="34" charset="0"/>
                        </a:rPr>
                        <a:t>/</a:t>
                      </a:r>
                      <a:r>
                        <a:rPr lang="zh-CN" altLang="en-US" sz="1200" dirty="0">
                          <a:ln>
                            <a:noFill/>
                          </a:ln>
                          <a:solidFill>
                            <a:srgbClr val="000000"/>
                          </a:solidFill>
                          <a:effectLst/>
                          <a:latin typeface="+mn-ea"/>
                          <a:ea typeface="+mn-ea"/>
                          <a:cs typeface="楷体_GB2312"/>
                          <a:sym typeface="Arial" panose="020B0604020202090204" pitchFamily="34" charset="0"/>
                        </a:rPr>
                        <a:t>淘汰</a:t>
                      </a:r>
                      <a:endPar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zh-CN" altLang="en-US" sz="1200" dirty="0">
                          <a:ln>
                            <a:noFill/>
                          </a:ln>
                          <a:solidFill>
                            <a:srgbClr val="000000"/>
                          </a:solidFill>
                          <a:effectLst/>
                          <a:latin typeface="+mn-ea"/>
                          <a:ea typeface="+mn-ea"/>
                          <a:cs typeface="楷体_GB2312"/>
                          <a:sym typeface="Arial" panose="020B0604020202090204" pitchFamily="34" charset="0"/>
                        </a:rPr>
                        <a:t>不合格干部调整</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rPr>
                        <a:t>纳入绩效改进计划</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r>
                        <a:rPr lang="zh-CN" altLang="en-US" sz="1200" dirty="0">
                          <a:ln>
                            <a:noFill/>
                          </a:ln>
                          <a:solidFill>
                            <a:srgbClr val="000000"/>
                          </a:solidFill>
                          <a:effectLst/>
                          <a:latin typeface="+mn-ea"/>
                          <a:ea typeface="+mn-ea"/>
                          <a:cs typeface="楷体_GB2312"/>
                          <a:sym typeface="Arial" panose="020B0604020202090204" pitchFamily="34" charset="0"/>
                        </a:rPr>
                        <a:t>，改善差考虑换岗</a:t>
                      </a:r>
                      <a:r>
                        <a:rPr lang="en-US" altLang="zh-CN" sz="1200" dirty="0">
                          <a:ln>
                            <a:noFill/>
                          </a:ln>
                          <a:solidFill>
                            <a:srgbClr val="000000"/>
                          </a:solidFill>
                          <a:effectLst/>
                          <a:latin typeface="+mn-ea"/>
                          <a:ea typeface="+mn-ea"/>
                          <a:cs typeface="楷体_GB2312"/>
                          <a:sym typeface="Arial" panose="020B0604020202090204" pitchFamily="34" charset="0"/>
                        </a:rPr>
                        <a:t>/</a:t>
                      </a:r>
                      <a:r>
                        <a:rPr lang="zh-CN" altLang="en-US" sz="1200" dirty="0">
                          <a:ln>
                            <a:noFill/>
                          </a:ln>
                          <a:solidFill>
                            <a:srgbClr val="000000"/>
                          </a:solidFill>
                          <a:effectLst/>
                          <a:latin typeface="+mn-ea"/>
                          <a:ea typeface="+mn-ea"/>
                          <a:cs typeface="楷体_GB2312"/>
                          <a:sym typeface="Arial" panose="020B0604020202090204" pitchFamily="34" charset="0"/>
                        </a:rPr>
                        <a:t>淘汰</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绩效管理体系</a:t>
            </a:r>
            <a:r>
              <a:rPr lang="en-US" altLang="zh-CN" dirty="0"/>
              <a:t>-</a:t>
            </a:r>
            <a:r>
              <a:rPr lang="zh-CN" altLang="en-US" dirty="0"/>
              <a:t>年度绩效考评结果应用</a:t>
            </a:r>
            <a:endParaRPr lang="zh-CN" altLang="en-US" dirty="0"/>
          </a:p>
        </p:txBody>
      </p:sp>
      <p:sp>
        <p:nvSpPr>
          <p:cNvPr id="5" name="灯片编号占位符 1"/>
          <p:cNvSpPr txBox="1"/>
          <p:nvPr/>
        </p:nvSpPr>
        <p:spPr>
          <a:xfrm>
            <a:off x="8610599" y="6497638"/>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solidFill>
                <a:effectLst/>
                <a:uLnTx/>
                <a:uFillTx/>
                <a:latin typeface="Arial" panose="020B0604020202090204"/>
                <a:ea typeface="微软雅黑" charset="-122"/>
                <a:cs typeface="+mn-cs"/>
              </a:rPr>
            </a:fld>
            <a:endParaRPr kumimoji="0" lang="zh-CN" altLang="en-US" sz="1000" b="0" i="0" u="none" strike="noStrike" kern="1200" cap="none" spc="0" normalizeH="0" baseline="0" noProof="0" dirty="0">
              <a:ln>
                <a:noFill/>
              </a:ln>
              <a:solidFill>
                <a:srgbClr val="000000"/>
              </a:solidFill>
              <a:effectLst/>
              <a:uLnTx/>
              <a:uFillTx/>
              <a:latin typeface="Arial" panose="020B0604020202090204"/>
              <a:ea typeface="微软雅黑" charset="-122"/>
              <a:cs typeface="+mn-cs"/>
            </a:endParaRPr>
          </a:p>
        </p:txBody>
      </p:sp>
      <p:sp>
        <p:nvSpPr>
          <p:cNvPr id="3" name="矩形 2"/>
          <p:cNvSpPr/>
          <p:nvPr/>
        </p:nvSpPr>
        <p:spPr>
          <a:xfrm>
            <a:off x="678814" y="1128935"/>
            <a:ext cx="10940818" cy="787075"/>
          </a:xfrm>
          <a:prstGeom prst="rect">
            <a:avLst/>
          </a:prstGeom>
        </p:spPr>
        <p:txBody>
          <a:bodyPr wrap="square">
            <a:spAutoFit/>
          </a:bodyPr>
          <a:lstStyle/>
          <a:p>
            <a:pPr marL="285750" marR="0" lvl="0" indent="-285750" algn="l" defTabSz="914400" rtl="0" eaLnBrk="0" fontAlgn="auto" latinLnBrk="0" hangingPunct="0">
              <a:lnSpc>
                <a:spcPct val="150000"/>
              </a:lnSpc>
              <a:spcBef>
                <a:spcPts val="0"/>
              </a:spcBef>
              <a:spcAft>
                <a:spcPts val="0"/>
              </a:spcAft>
              <a:buClrTx/>
              <a:buSzTx/>
              <a:buFont typeface="Wingdings" panose="05000000000000000000" pitchFamily="2" charset="2"/>
              <a:buChar char="l"/>
              <a:defRPr/>
            </a:pPr>
            <a:r>
              <a:rPr kumimoji="1" lang="zh-CN" altLang="en-US" sz="1600" b="0" i="0" u="none" strike="noStrike" kern="1200" cap="none" spc="0" normalizeH="0" baseline="0" noProof="0" dirty="0">
                <a:ln>
                  <a:noFill/>
                </a:ln>
                <a:solidFill>
                  <a:srgbClr val="000000"/>
                </a:solidFill>
                <a:effectLst/>
                <a:uLnTx/>
                <a:uFillTx/>
                <a:latin typeface="Arial" panose="020B0604020202090204" pitchFamily="34" charset="0"/>
                <a:ea typeface="微软雅黑" charset="-122"/>
                <a:cs typeface="+mn-cs"/>
                <a:sym typeface="Arial" panose="020B0604020202090204" pitchFamily="34" charset="0"/>
              </a:rPr>
              <a:t>考核结果同员工薪酬调整挂钩</a:t>
            </a:r>
            <a:endParaRPr kumimoji="1" lang="en-US" altLang="zh-CN" sz="1600" b="0" i="0" u="none" strike="noStrike" kern="1200" cap="none" spc="0" normalizeH="0" baseline="0" noProof="0" dirty="0">
              <a:ln>
                <a:noFill/>
              </a:ln>
              <a:solidFill>
                <a:srgbClr val="000000"/>
              </a:solidFill>
              <a:effectLst/>
              <a:uLnTx/>
              <a:uFillTx/>
              <a:latin typeface="Arial" panose="020B0604020202090204" pitchFamily="34" charset="0"/>
              <a:ea typeface="微软雅黑" charset="-122"/>
              <a:cs typeface="+mn-cs"/>
              <a:sym typeface="Arial" panose="020B0604020202090204" pitchFamily="34" charset="0"/>
            </a:endParaRPr>
          </a:p>
          <a:p>
            <a:pPr marL="285750" marR="0" lvl="0" indent="-285750" algn="l" defTabSz="914400" rtl="0" eaLnBrk="0" fontAlgn="auto" latinLnBrk="0" hangingPunct="0">
              <a:lnSpc>
                <a:spcPct val="150000"/>
              </a:lnSpc>
              <a:spcBef>
                <a:spcPts val="0"/>
              </a:spcBef>
              <a:spcAft>
                <a:spcPts val="0"/>
              </a:spcAft>
              <a:buClrTx/>
              <a:buSzTx/>
              <a:buFont typeface="Wingdings" panose="05000000000000000000" pitchFamily="2" charset="2"/>
              <a:buChar char="l"/>
              <a:defRPr/>
            </a:pPr>
            <a:r>
              <a:rPr kumimoji="1" lang="zh-CN" altLang="en-US" sz="1600" b="0" i="0" u="none" strike="noStrike" kern="1200" cap="none" spc="0" normalizeH="0" baseline="0" noProof="0" dirty="0">
                <a:ln>
                  <a:noFill/>
                </a:ln>
                <a:solidFill>
                  <a:srgbClr val="000000"/>
                </a:solidFill>
                <a:effectLst/>
                <a:uLnTx/>
                <a:uFillTx/>
                <a:latin typeface="Arial" panose="020B0604020202090204" pitchFamily="34" charset="0"/>
                <a:ea typeface="微软雅黑" charset="-122"/>
                <a:cs typeface="+mn-cs"/>
                <a:sym typeface="Arial" panose="020B0604020202090204" pitchFamily="34" charset="0"/>
              </a:rPr>
              <a:t>考核结果同员工任用和成长挂钩</a:t>
            </a:r>
            <a:endParaRPr kumimoji="1" lang="zh-CN" altLang="en-US" sz="1600" b="0" i="0" u="none" strike="noStrike" kern="1200" cap="none" spc="0" normalizeH="0" baseline="0" noProof="0" dirty="0">
              <a:ln>
                <a:noFill/>
              </a:ln>
              <a:solidFill>
                <a:srgbClr val="000000"/>
              </a:solidFill>
              <a:effectLst/>
              <a:uLnTx/>
              <a:uFillTx/>
              <a:latin typeface="Arial" panose="020B0604020202090204" pitchFamily="34" charset="0"/>
              <a:ea typeface="微软雅黑" charset="-122"/>
              <a:cs typeface="+mn-cs"/>
              <a:sym typeface="Arial" panose="020B0604020202090204" pitchFamily="34" charset="0"/>
            </a:endParaRPr>
          </a:p>
        </p:txBody>
      </p:sp>
      <p:graphicFrame>
        <p:nvGraphicFramePr>
          <p:cNvPr id="4" name="表格 3"/>
          <p:cNvGraphicFramePr>
            <a:graphicFrameLocks noGrp="1"/>
          </p:cNvGraphicFramePr>
          <p:nvPr/>
        </p:nvGraphicFramePr>
        <p:xfrm>
          <a:off x="742973" y="2168947"/>
          <a:ext cx="10777514" cy="3903772"/>
        </p:xfrm>
        <a:graphic>
          <a:graphicData uri="http://schemas.openxmlformats.org/drawingml/2006/table">
            <a:tbl>
              <a:tblPr/>
              <a:tblGrid>
                <a:gridCol w="906924"/>
                <a:gridCol w="1249186"/>
                <a:gridCol w="1015705"/>
                <a:gridCol w="1064603"/>
                <a:gridCol w="1201530"/>
                <a:gridCol w="1172329"/>
                <a:gridCol w="1265371"/>
                <a:gridCol w="1421042"/>
                <a:gridCol w="1480824"/>
              </a:tblGrid>
              <a:tr h="751718">
                <a:tc>
                  <a:txBody>
                    <a:bodyPr/>
                    <a:lstStyle>
                      <a:lvl1pPr>
                        <a:spcBef>
                          <a:spcPct val="25000"/>
                        </a:spcBef>
                        <a:spcAft>
                          <a:spcPct val="25000"/>
                        </a:spcAft>
                        <a:buClr>
                          <a:schemeClr val="tx1"/>
                        </a:buClr>
                        <a:buSzPct val="65000"/>
                        <a:buFont typeface="Wingdings" panose="05000000000000000000" pitchFamily="2" charset="2"/>
                        <a:defRPr kumimoji="1" b="1">
                          <a:solidFill>
                            <a:schemeClr val="tx1"/>
                          </a:solidFill>
                          <a:latin typeface="Arial" panose="020B0604020202090204" pitchFamily="34" charset="0"/>
                          <a:ea typeface="楷体_GB2312"/>
                          <a:cs typeface="楷体_GB2312"/>
                        </a:defRPr>
                      </a:lvl1pPr>
                      <a:lvl2pPr marL="742950" indent="-285750">
                        <a:spcBef>
                          <a:spcPct val="25000"/>
                        </a:spcBef>
                        <a:spcAft>
                          <a:spcPct val="25000"/>
                        </a:spcAft>
                        <a:buClr>
                          <a:schemeClr val="tx1"/>
                        </a:buClr>
                        <a:buSzPct val="80000"/>
                        <a:defRPr kumimoji="1" sz="2400" b="1">
                          <a:solidFill>
                            <a:schemeClr val="tx1"/>
                          </a:solidFill>
                          <a:latin typeface="Arial" panose="020B0604020202090204" pitchFamily="34" charset="0"/>
                          <a:ea typeface="楷体_GB2312"/>
                          <a:cs typeface="楷体_GB2312"/>
                        </a:defRPr>
                      </a:lvl2pPr>
                      <a:lvl3pPr marL="1143000" indent="-228600">
                        <a:spcBef>
                          <a:spcPct val="25000"/>
                        </a:spcBef>
                        <a:spcAft>
                          <a:spcPct val="25000"/>
                        </a:spcAft>
                        <a:buClr>
                          <a:srgbClr val="4E9EA2"/>
                        </a:buClr>
                        <a:buSzPct val="80000"/>
                        <a:defRPr kumimoji="1" sz="2000" b="1">
                          <a:solidFill>
                            <a:schemeClr val="tx1"/>
                          </a:solidFill>
                          <a:latin typeface="Arial" panose="020B0604020202090204" pitchFamily="34" charset="0"/>
                          <a:ea typeface="楷体_GB2312"/>
                          <a:cs typeface="楷体_GB2312"/>
                        </a:defRPr>
                      </a:lvl3pPr>
                      <a:lvl4pPr marL="1600200" indent="-228600">
                        <a:spcBef>
                          <a:spcPct val="25000"/>
                        </a:spcBef>
                        <a:spcAft>
                          <a:spcPct val="25000"/>
                        </a:spcAft>
                        <a:buClr>
                          <a:schemeClr val="accent2"/>
                        </a:buClr>
                        <a:buSzPct val="80000"/>
                        <a:defRPr kumimoji="1" b="1">
                          <a:solidFill>
                            <a:schemeClr val="tx1"/>
                          </a:solidFill>
                          <a:latin typeface="Arial" panose="020B0604020202090204" pitchFamily="34" charset="0"/>
                          <a:ea typeface="宋体" pitchFamily="2" charset="-122"/>
                          <a:cs typeface="楷体_GB2312"/>
                        </a:defRPr>
                      </a:lvl4pPr>
                      <a:lvl5pPr marL="2057400" indent="-22860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5pPr>
                      <a:lvl6pPr marL="25146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6pPr>
                      <a:lvl7pPr marL="29718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7pPr>
                      <a:lvl8pPr marL="34290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8pPr>
                      <a:lvl9pPr marL="38862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考核等级</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lvl1pPr>
                        <a:spcBef>
                          <a:spcPct val="25000"/>
                        </a:spcBef>
                        <a:spcAft>
                          <a:spcPct val="25000"/>
                        </a:spcAft>
                        <a:buClr>
                          <a:schemeClr val="tx1"/>
                        </a:buClr>
                        <a:buSzPct val="65000"/>
                        <a:buFont typeface="Wingdings" panose="05000000000000000000" pitchFamily="2" charset="2"/>
                        <a:defRPr kumimoji="1" b="1">
                          <a:solidFill>
                            <a:schemeClr val="tx1"/>
                          </a:solidFill>
                          <a:latin typeface="Arial" panose="020B0604020202090204" pitchFamily="34" charset="0"/>
                          <a:ea typeface="楷体_GB2312"/>
                          <a:cs typeface="楷体_GB2312"/>
                        </a:defRPr>
                      </a:lvl1pPr>
                      <a:lvl2pPr marL="742950" indent="-285750">
                        <a:spcBef>
                          <a:spcPct val="25000"/>
                        </a:spcBef>
                        <a:spcAft>
                          <a:spcPct val="25000"/>
                        </a:spcAft>
                        <a:buClr>
                          <a:schemeClr val="tx1"/>
                        </a:buClr>
                        <a:buSzPct val="80000"/>
                        <a:defRPr kumimoji="1" sz="2400" b="1">
                          <a:solidFill>
                            <a:schemeClr val="tx1"/>
                          </a:solidFill>
                          <a:latin typeface="Arial" panose="020B0604020202090204" pitchFamily="34" charset="0"/>
                          <a:ea typeface="楷体_GB2312"/>
                          <a:cs typeface="楷体_GB2312"/>
                        </a:defRPr>
                      </a:lvl2pPr>
                      <a:lvl3pPr marL="1143000" indent="-228600">
                        <a:spcBef>
                          <a:spcPct val="25000"/>
                        </a:spcBef>
                        <a:spcAft>
                          <a:spcPct val="25000"/>
                        </a:spcAft>
                        <a:buClr>
                          <a:srgbClr val="4E9EA2"/>
                        </a:buClr>
                        <a:buSzPct val="80000"/>
                        <a:defRPr kumimoji="1" sz="2000" b="1">
                          <a:solidFill>
                            <a:schemeClr val="tx1"/>
                          </a:solidFill>
                          <a:latin typeface="Arial" panose="020B0604020202090204" pitchFamily="34" charset="0"/>
                          <a:ea typeface="楷体_GB2312"/>
                          <a:cs typeface="楷体_GB2312"/>
                        </a:defRPr>
                      </a:lvl3pPr>
                      <a:lvl4pPr marL="1600200" indent="-228600">
                        <a:spcBef>
                          <a:spcPct val="25000"/>
                        </a:spcBef>
                        <a:spcAft>
                          <a:spcPct val="25000"/>
                        </a:spcAft>
                        <a:buClr>
                          <a:schemeClr val="accent2"/>
                        </a:buClr>
                        <a:buSzPct val="80000"/>
                        <a:defRPr kumimoji="1" b="1">
                          <a:solidFill>
                            <a:schemeClr val="tx1"/>
                          </a:solidFill>
                          <a:latin typeface="Arial" panose="020B0604020202090204" pitchFamily="34" charset="0"/>
                          <a:ea typeface="宋体" pitchFamily="2" charset="-122"/>
                          <a:cs typeface="楷体_GB2312"/>
                        </a:defRPr>
                      </a:lvl4pPr>
                      <a:lvl5pPr marL="2057400" indent="-22860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5pPr>
                      <a:lvl6pPr marL="25146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6pPr>
                      <a:lvl7pPr marL="29718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7pPr>
                      <a:lvl8pPr marL="34290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8pPr>
                      <a:lvl9pPr marL="38862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工资调整</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lvl1pPr>
                        <a:spcBef>
                          <a:spcPct val="25000"/>
                        </a:spcBef>
                        <a:spcAft>
                          <a:spcPct val="25000"/>
                        </a:spcAft>
                        <a:buClr>
                          <a:schemeClr val="tx1"/>
                        </a:buClr>
                        <a:buSzPct val="65000"/>
                        <a:buFont typeface="Wingdings" panose="05000000000000000000" pitchFamily="2" charset="2"/>
                        <a:defRPr kumimoji="1" b="1">
                          <a:solidFill>
                            <a:schemeClr val="tx1"/>
                          </a:solidFill>
                          <a:latin typeface="Arial" panose="020B0604020202090204" pitchFamily="34" charset="0"/>
                          <a:ea typeface="楷体_GB2312"/>
                          <a:cs typeface="楷体_GB2312"/>
                        </a:defRPr>
                      </a:lvl1pPr>
                      <a:lvl2pPr marL="742950" indent="-285750">
                        <a:spcBef>
                          <a:spcPct val="25000"/>
                        </a:spcBef>
                        <a:spcAft>
                          <a:spcPct val="25000"/>
                        </a:spcAft>
                        <a:buClr>
                          <a:schemeClr val="tx1"/>
                        </a:buClr>
                        <a:buSzPct val="80000"/>
                        <a:defRPr kumimoji="1" sz="2400" b="1">
                          <a:solidFill>
                            <a:schemeClr val="tx1"/>
                          </a:solidFill>
                          <a:latin typeface="Arial" panose="020B0604020202090204" pitchFamily="34" charset="0"/>
                          <a:ea typeface="楷体_GB2312"/>
                          <a:cs typeface="楷体_GB2312"/>
                        </a:defRPr>
                      </a:lvl2pPr>
                      <a:lvl3pPr marL="1143000" indent="-228600">
                        <a:spcBef>
                          <a:spcPct val="25000"/>
                        </a:spcBef>
                        <a:spcAft>
                          <a:spcPct val="25000"/>
                        </a:spcAft>
                        <a:buClr>
                          <a:srgbClr val="4E9EA2"/>
                        </a:buClr>
                        <a:buSzPct val="80000"/>
                        <a:defRPr kumimoji="1" sz="2000" b="1">
                          <a:solidFill>
                            <a:schemeClr val="tx1"/>
                          </a:solidFill>
                          <a:latin typeface="Arial" panose="020B0604020202090204" pitchFamily="34" charset="0"/>
                          <a:ea typeface="楷体_GB2312"/>
                          <a:cs typeface="楷体_GB2312"/>
                        </a:defRPr>
                      </a:lvl3pPr>
                      <a:lvl4pPr marL="1600200" indent="-228600">
                        <a:spcBef>
                          <a:spcPct val="25000"/>
                        </a:spcBef>
                        <a:spcAft>
                          <a:spcPct val="25000"/>
                        </a:spcAft>
                        <a:buClr>
                          <a:schemeClr val="accent2"/>
                        </a:buClr>
                        <a:buSzPct val="80000"/>
                        <a:defRPr kumimoji="1" b="1">
                          <a:solidFill>
                            <a:schemeClr val="tx1"/>
                          </a:solidFill>
                          <a:latin typeface="Arial" panose="020B0604020202090204" pitchFamily="34" charset="0"/>
                          <a:ea typeface="宋体" pitchFamily="2" charset="-122"/>
                          <a:cs typeface="楷体_GB2312"/>
                        </a:defRPr>
                      </a:lvl4pPr>
                      <a:lvl5pPr marL="2057400" indent="-22860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5pPr>
                      <a:lvl6pPr marL="25146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6pPr>
                      <a:lvl7pPr marL="29718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7pPr>
                      <a:lvl8pPr marL="34290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8pPr>
                      <a:lvl9pPr marL="3886200" indent="-228600" eaLnBrk="0" fontAlgn="base" hangingPunct="0">
                        <a:spcBef>
                          <a:spcPct val="25000"/>
                        </a:spcBef>
                        <a:spcAft>
                          <a:spcPct val="25000"/>
                        </a:spcAft>
                        <a:buClr>
                          <a:schemeClr val="accent2"/>
                        </a:buClr>
                        <a:buSzPct val="80000"/>
                        <a:buFont typeface="Wingdings" panose="05000000000000000000" pitchFamily="2" charset="2"/>
                        <a:defRPr kumimoji="1">
                          <a:solidFill>
                            <a:schemeClr val="tx1"/>
                          </a:solidFill>
                          <a:latin typeface="Times New Roman" panose="02020503050405090304" pitchFamily="18" charset="0"/>
                          <a:ea typeface="宋体" pitchFamily="2" charset="-122"/>
                          <a:cs typeface="楷体_GB231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奖金</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年终奖</a:t>
                      </a:r>
                      <a:endParaRPr kumimoji="0" lang="en-US" altLang="zh-CN"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奖金系数</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职级升级升等</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干部选拔或晋升</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其他荣誉奖励</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重点关键任务分配</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rPr>
                        <a:t>不胜任淘汰</a:t>
                      </a:r>
                      <a:endParaRPr kumimoji="0" lang="zh-CN" altLang="en-US" sz="1400" b="1" i="0" u="none" strike="noStrike" cap="none" normalizeH="0" baseline="0" dirty="0">
                        <a:ln>
                          <a:noFill/>
                        </a:ln>
                        <a:solidFill>
                          <a:schemeClr val="bg1"/>
                        </a:solidFill>
                        <a:effectLst/>
                        <a:latin typeface="Arial" panose="020B0604020202090204" pitchFamily="34" charset="0"/>
                        <a:ea typeface="微软雅黑" charset="-122"/>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7769F"/>
                    </a:solidFill>
                  </a:tcPr>
                </a:tc>
              </a:tr>
              <a:tr h="6399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kern="1200" cap="none" normalizeH="0" baseline="0" dirty="0">
                          <a:ln>
                            <a:noFill/>
                          </a:ln>
                          <a:solidFill>
                            <a:schemeClr val="tx1"/>
                          </a:solidFill>
                          <a:effectLst/>
                          <a:latin typeface="+mn-ea"/>
                          <a:ea typeface="+mn-ea"/>
                          <a:cs typeface="楷体_GB2312"/>
                          <a:sym typeface="Arial" panose="020B0604020202090204" pitchFamily="34" charset="0"/>
                        </a:rPr>
                        <a:t>A</a:t>
                      </a:r>
                      <a:endParaRPr kumimoji="0" lang="en-US" altLang="zh-CN" sz="1200" b="0" i="0" u="none" strike="noStrike" kern="1200" cap="none" normalizeH="0" baseline="0" dirty="0">
                        <a:ln>
                          <a:noFill/>
                        </a:ln>
                        <a:solidFill>
                          <a:schemeClr val="tx1"/>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ctr"/>
                      <a:r>
                        <a:rPr kumimoji="0" lang="zh-CN" altLang="en-US" sz="1200" b="0" i="0" u="none" strike="noStrike" kern="1200" cap="none" normalizeH="0" baseline="0" dirty="0">
                          <a:ln>
                            <a:noFill/>
                          </a:ln>
                          <a:solidFill>
                            <a:schemeClr val="tx1"/>
                          </a:solidFill>
                          <a:effectLst/>
                          <a:latin typeface="+mn-ea"/>
                          <a:ea typeface="+mn-ea"/>
                        </a:rPr>
                        <a:t>有机会，纳入工资标准范围内统一管理</a:t>
                      </a:r>
                      <a:endParaRPr kumimoji="0" lang="zh-CN" altLang="en-US" sz="1200" b="0" i="0" u="none" strike="noStrike" kern="1200" cap="none" normalizeH="0" baseline="0" dirty="0">
                        <a:ln>
                          <a:noFill/>
                        </a:ln>
                        <a:solidFill>
                          <a:schemeClr val="tx1"/>
                        </a:solidFill>
                        <a:effectLst/>
                        <a:latin typeface="+mn-ea"/>
                        <a:ea typeface="+mn-ea"/>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3">
                  <a:txBody>
                    <a:bodyPr/>
                    <a:lstStyle/>
                    <a:p>
                      <a:pPr algn="ctr"/>
                      <a:r>
                        <a:rPr lang="zh-CN" altLang="en-US" sz="1200" dirty="0">
                          <a:solidFill>
                            <a:schemeClr val="tx1"/>
                          </a:solidFill>
                          <a:latin typeface="+mn-ea"/>
                          <a:ea typeface="+mn-ea"/>
                        </a:rPr>
                        <a:t>纳入奖金分配计划统一管理</a:t>
                      </a:r>
                      <a:endParaRPr lang="zh-CN" altLang="en-US" sz="1200" dirty="0">
                        <a:solidFill>
                          <a:schemeClr val="tx1"/>
                        </a:solidFill>
                        <a:latin typeface="+mn-ea"/>
                        <a:ea typeface="+mn-ea"/>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kumimoji="0" lang="en-US" altLang="zh-CN" sz="1200" b="0" i="0" u="none" strike="noStrike" kern="1200" cap="none" normalizeH="0" baseline="0" dirty="0">
                          <a:ln>
                            <a:noFill/>
                          </a:ln>
                          <a:solidFill>
                            <a:schemeClr val="tx1"/>
                          </a:solidFill>
                          <a:effectLst/>
                          <a:latin typeface="+mn-ea"/>
                          <a:ea typeface="+mn-ea"/>
                        </a:rPr>
                        <a:t>1.5</a:t>
                      </a:r>
                      <a:endParaRPr kumimoji="0" lang="zh-CN" altLang="en-US" sz="1200" b="0" i="0" u="none" strike="noStrike" kern="1200" cap="none" normalizeH="0" baseline="0" dirty="0">
                        <a:ln>
                          <a:noFill/>
                        </a:ln>
                        <a:solidFill>
                          <a:schemeClr val="tx1"/>
                        </a:solidFill>
                        <a:effectLst/>
                        <a:latin typeface="+mn-ea"/>
                        <a:ea typeface="+mn-ea"/>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rPr>
                        <a:t>有机会，可进入快通道</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F3F3"/>
                    </a:solidFill>
                  </a:tcPr>
                </a:tc>
                <a:tc rowSpan="2">
                  <a:txBody>
                    <a:bodyPr/>
                    <a:lstStyle/>
                    <a:p>
                      <a:pPr algn="ctr"/>
                      <a:r>
                        <a:rPr lang="zh-CN" altLang="en-US" sz="1200" dirty="0">
                          <a:latin typeface="+mn-ea"/>
                          <a:ea typeface="+mn-ea"/>
                          <a:sym typeface="Arial" panose="020B0604020202090204" pitchFamily="34" charset="0"/>
                        </a:rPr>
                        <a:t>有机会</a:t>
                      </a:r>
                      <a:endParaRPr lang="zh-CN" altLang="en-US" sz="1200" dirty="0">
                        <a:latin typeface="+mn-ea"/>
                        <a:ea typeface="+mn-ea"/>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ctr"/>
                      <a:r>
                        <a:rPr lang="zh-CN" altLang="en-US" sz="1200" dirty="0">
                          <a:latin typeface="+mn-ea"/>
                          <a:ea typeface="+mn-ea"/>
                          <a:sym typeface="Arial" panose="020B0604020202090204" pitchFamily="34" charset="0"/>
                        </a:rPr>
                        <a:t>有机会</a:t>
                      </a:r>
                      <a:endParaRPr lang="zh-CN" altLang="en-US" sz="1200" dirty="0">
                        <a:latin typeface="+mn-ea"/>
                        <a:ea typeface="+mn-ea"/>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ctr"/>
                      <a:r>
                        <a:rPr lang="zh-CN" altLang="en-US" sz="1200" dirty="0">
                          <a:latin typeface="+mn-ea"/>
                          <a:ea typeface="+mn-ea"/>
                        </a:rPr>
                        <a:t>无</a:t>
                      </a:r>
                      <a:endParaRPr lang="zh-CN" sz="1200" dirty="0">
                        <a:latin typeface="+mn-ea"/>
                        <a:ea typeface="+mn-ea"/>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74700">
                <a:tc>
                  <a:txBody>
                    <a:bodyPr/>
                    <a:lstStyle/>
                    <a:p>
                      <a:pPr algn="ctr"/>
                      <a:r>
                        <a:rPr kumimoji="0" lang="en-US" altLang="zh-CN" sz="1200" b="0" i="0" u="none" strike="noStrike" kern="1200" cap="none" normalizeH="0" baseline="0" dirty="0">
                          <a:ln>
                            <a:noFill/>
                          </a:ln>
                          <a:solidFill>
                            <a:schemeClr val="tx1"/>
                          </a:solidFill>
                          <a:effectLst/>
                          <a:latin typeface="+mn-ea"/>
                          <a:ea typeface="+mn-ea"/>
                          <a:cs typeface="楷体_GB2312"/>
                          <a:sym typeface="Arial" panose="020B0604020202090204" pitchFamily="34" charset="0"/>
                        </a:rPr>
                        <a:t>B</a:t>
                      </a:r>
                      <a:endParaRPr kumimoji="0" lang="en-US" altLang="zh-CN" sz="1200" b="0" i="0" u="none" strike="noStrike" kern="1200" cap="none" normalizeH="0" baseline="0" dirty="0">
                        <a:ln>
                          <a:noFill/>
                        </a:ln>
                        <a:solidFill>
                          <a:schemeClr val="tx1"/>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kumimoji="0" lang="en-US" altLang="zh-CN" sz="1200" b="0" i="0" u="none" strike="noStrike" kern="1200" cap="none" normalizeH="0" baseline="0" dirty="0">
                          <a:ln>
                            <a:noFill/>
                          </a:ln>
                          <a:solidFill>
                            <a:schemeClr val="tx1"/>
                          </a:solidFill>
                          <a:effectLst/>
                          <a:latin typeface="+mn-ea"/>
                          <a:ea typeface="+mn-ea"/>
                        </a:rPr>
                        <a:t>1</a:t>
                      </a:r>
                      <a:endParaRPr kumimoji="0" lang="zh-CN" altLang="en-US" sz="1200" b="0" i="0" u="none" strike="noStrike" kern="1200" cap="none" normalizeH="0" baseline="0" dirty="0">
                        <a:ln>
                          <a:noFill/>
                        </a:ln>
                        <a:solidFill>
                          <a:schemeClr val="tx1"/>
                        </a:solidFill>
                        <a:effectLst/>
                        <a:latin typeface="+mn-ea"/>
                        <a:ea typeface="+mn-ea"/>
                      </a:endParaRPr>
                    </a:p>
                  </a:txBody>
                  <a:tcPr marL="121946" marR="121946" marT="45724" marB="45724"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mn-ea"/>
                          <a:ea typeface="+mn-ea"/>
                          <a:sym typeface="Arial" panose="020B0604020202090204" pitchFamily="34" charset="0"/>
                        </a:rPr>
                        <a:t>有机会</a:t>
                      </a:r>
                      <a:endParaRPr lang="zh-CN" altLang="en-US" sz="1200" dirty="0">
                        <a:latin typeface="+mn-ea"/>
                        <a:ea typeface="+mn-ea"/>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cPr/>
                </a:tc>
                <a:tc vMerge="1">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vMerge="1">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8021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mn-ea"/>
                          <a:ea typeface="+mn-ea"/>
                          <a:cs typeface="楷体_GB2312"/>
                          <a:sym typeface="Arial" panose="020B0604020202090204" pitchFamily="34" charset="0"/>
                        </a:rPr>
                        <a:t>C</a:t>
                      </a:r>
                      <a:endParaRPr kumimoji="0" lang="en-US" altLang="zh-CN" sz="1200" b="0" i="0" u="none" strike="noStrike" cap="none" normalizeH="0" baseline="0" dirty="0">
                        <a:ln>
                          <a:noFill/>
                        </a:ln>
                        <a:solidFill>
                          <a:schemeClr val="tx1"/>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mn-ea"/>
                          <a:ea typeface="+mn-ea"/>
                          <a:cs typeface="楷体_GB2312"/>
                          <a:sym typeface="Arial" panose="020B0604020202090204" pitchFamily="34" charset="0"/>
                        </a:rPr>
                        <a:t>不涨薪</a:t>
                      </a:r>
                      <a:endParaRPr kumimoji="0" lang="zh-CN" altLang="en-US" sz="1200" b="0" i="0" u="none" strike="noStrike" cap="none" normalizeH="0" baseline="0" dirty="0">
                        <a:ln>
                          <a:noFill/>
                        </a:ln>
                        <a:solidFill>
                          <a:schemeClr val="tx1"/>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chemeClr val="tx1"/>
                          </a:solidFill>
                          <a:effectLst/>
                          <a:latin typeface="+mn-ea"/>
                          <a:ea typeface="+mn-ea"/>
                          <a:cs typeface="楷体_GB2312"/>
                          <a:sym typeface="Arial" panose="020B0604020202090204" pitchFamily="34" charset="0"/>
                        </a:rPr>
                        <a:t>0.5</a:t>
                      </a:r>
                      <a:endParaRPr kumimoji="0" lang="zh-CN" altLang="en-US" sz="1200" b="0" i="0" u="none" strike="noStrike" cap="none" normalizeH="0" baseline="0" dirty="0">
                        <a:ln>
                          <a:noFill/>
                        </a:ln>
                        <a:solidFill>
                          <a:schemeClr val="tx1"/>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rPr>
                        <a:t>无机会</a:t>
                      </a:r>
                      <a:endPar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rPr>
                        <a:t>无机会</a:t>
                      </a:r>
                      <a:endPar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rPr>
                        <a:t>无机会</a:t>
                      </a:r>
                      <a:endPar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rPr>
                        <a:t>无机会</a:t>
                      </a:r>
                      <a:endPar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rPr>
                        <a:t>连续</a:t>
                      </a:r>
                      <a:r>
                        <a:rPr kumimoji="0" lang="en-US" altLang="zh-CN" sz="1200" b="0" i="0" u="none" strike="noStrike" cap="none" normalizeH="0" baseline="0" dirty="0">
                          <a:ln>
                            <a:noFill/>
                          </a:ln>
                          <a:solidFill>
                            <a:srgbClr val="000000"/>
                          </a:solidFill>
                          <a:effectLst/>
                          <a:latin typeface="+mn-ea"/>
                          <a:ea typeface="+mn-ea"/>
                          <a:cs typeface="楷体_GB2312"/>
                          <a:sym typeface="Arial" panose="020B0604020202090204" pitchFamily="34" charset="0"/>
                        </a:rPr>
                        <a:t>C</a:t>
                      </a:r>
                      <a:r>
                        <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rPr>
                        <a:t>或可能纳入绩效改进计划</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93523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mn-ea"/>
                          <a:ea typeface="+mn-ea"/>
                          <a:cs typeface="楷体_GB2312"/>
                          <a:sym typeface="Arial" panose="020B0604020202090204" pitchFamily="34" charset="0"/>
                        </a:rPr>
                        <a:t>D</a:t>
                      </a:r>
                      <a:endParaRPr kumimoji="0" lang="en-US" altLang="zh-CN"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1200">
                          <a:ln>
                            <a:noFill/>
                          </a:ln>
                          <a:solidFill>
                            <a:srgbClr val="000000"/>
                          </a:solidFill>
                          <a:effectLst/>
                          <a:latin typeface="+mn-ea"/>
                          <a:ea typeface="+mn-ea"/>
                          <a:cs typeface="楷体_GB2312"/>
                          <a:sym typeface="Arial" panose="020B0604020202090204" pitchFamily="34" charset="0"/>
                        </a:rPr>
                        <a:t>降薪</a:t>
                      </a:r>
                      <a:r>
                        <a:rPr lang="en-US" altLang="zh-CN" sz="1200">
                          <a:ln>
                            <a:noFill/>
                          </a:ln>
                          <a:solidFill>
                            <a:srgbClr val="000000"/>
                          </a:solidFill>
                          <a:effectLst/>
                          <a:latin typeface="+mn-ea"/>
                          <a:ea typeface="+mn-ea"/>
                          <a:cs typeface="楷体_GB2312"/>
                          <a:sym typeface="Arial" panose="020B0604020202090204" pitchFamily="34" charset="0"/>
                        </a:rPr>
                        <a:t>/</a:t>
                      </a:r>
                      <a:r>
                        <a:rPr lang="zh-CN" altLang="en-US" sz="1200">
                          <a:ln>
                            <a:noFill/>
                          </a:ln>
                          <a:solidFill>
                            <a:srgbClr val="000000"/>
                          </a:solidFill>
                          <a:effectLst/>
                          <a:latin typeface="+mn-ea"/>
                          <a:ea typeface="+mn-ea"/>
                          <a:cs typeface="楷体_GB2312"/>
                          <a:sym typeface="Arial" panose="020B0604020202090204" pitchFamily="34" charset="0"/>
                        </a:rPr>
                        <a:t>降级</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rPr>
                        <a:t>无</a:t>
                      </a:r>
                      <a:endParaRPr lang="zh-CN" altLang="en-US" sz="1200" dirty="0">
                        <a:latin typeface="+mn-ea"/>
                        <a:ea typeface="+mn-ea"/>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mn-ea"/>
                          <a:ea typeface="+mn-ea"/>
                          <a:cs typeface="楷体_GB2312"/>
                          <a:sym typeface="Arial" panose="020B0604020202090204" pitchFamily="34" charset="0"/>
                        </a:rPr>
                        <a:t>0</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zh-CN" altLang="en-US" sz="1200" dirty="0">
                          <a:ln>
                            <a:noFill/>
                          </a:ln>
                          <a:solidFill>
                            <a:srgbClr val="000000"/>
                          </a:solidFill>
                          <a:effectLst/>
                          <a:latin typeface="+mn-ea"/>
                          <a:ea typeface="+mn-ea"/>
                          <a:cs typeface="楷体_GB2312"/>
                          <a:sym typeface="Arial" panose="020B0604020202090204" pitchFamily="34" charset="0"/>
                        </a:rPr>
                        <a:t>降职降级</a:t>
                      </a:r>
                      <a:r>
                        <a:rPr lang="en-US" altLang="zh-CN" sz="1200" dirty="0">
                          <a:ln>
                            <a:noFill/>
                          </a:ln>
                          <a:solidFill>
                            <a:srgbClr val="000000"/>
                          </a:solidFill>
                          <a:effectLst/>
                          <a:latin typeface="+mn-ea"/>
                          <a:ea typeface="+mn-ea"/>
                          <a:cs typeface="楷体_GB2312"/>
                          <a:sym typeface="Arial" panose="020B0604020202090204" pitchFamily="34" charset="0"/>
                        </a:rPr>
                        <a:t>/</a:t>
                      </a:r>
                      <a:r>
                        <a:rPr lang="zh-CN" altLang="en-US" sz="1200" dirty="0">
                          <a:ln>
                            <a:noFill/>
                          </a:ln>
                          <a:solidFill>
                            <a:srgbClr val="000000"/>
                          </a:solidFill>
                          <a:effectLst/>
                          <a:latin typeface="+mn-ea"/>
                          <a:ea typeface="+mn-ea"/>
                          <a:cs typeface="楷体_GB2312"/>
                          <a:sym typeface="Arial" panose="020B0604020202090204" pitchFamily="34" charset="0"/>
                        </a:rPr>
                        <a:t>换岗</a:t>
                      </a:r>
                      <a:r>
                        <a:rPr lang="en-US" altLang="zh-CN" sz="1200" dirty="0">
                          <a:ln>
                            <a:noFill/>
                          </a:ln>
                          <a:solidFill>
                            <a:srgbClr val="000000"/>
                          </a:solidFill>
                          <a:effectLst/>
                          <a:latin typeface="+mn-ea"/>
                          <a:ea typeface="+mn-ea"/>
                          <a:cs typeface="楷体_GB2312"/>
                          <a:sym typeface="Arial" panose="020B0604020202090204" pitchFamily="34" charset="0"/>
                        </a:rPr>
                        <a:t>/</a:t>
                      </a:r>
                      <a:r>
                        <a:rPr lang="zh-CN" altLang="en-US" sz="1200" dirty="0">
                          <a:ln>
                            <a:noFill/>
                          </a:ln>
                          <a:solidFill>
                            <a:srgbClr val="000000"/>
                          </a:solidFill>
                          <a:effectLst/>
                          <a:latin typeface="+mn-ea"/>
                          <a:ea typeface="+mn-ea"/>
                          <a:cs typeface="楷体_GB2312"/>
                          <a:sym typeface="Arial" panose="020B0604020202090204" pitchFamily="34" charset="0"/>
                        </a:rPr>
                        <a:t>淘汰</a:t>
                      </a:r>
                      <a:endPar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zh-CN" altLang="en-US" sz="1200" dirty="0">
                          <a:ln>
                            <a:noFill/>
                          </a:ln>
                          <a:solidFill>
                            <a:srgbClr val="000000"/>
                          </a:solidFill>
                          <a:effectLst/>
                          <a:latin typeface="+mn-ea"/>
                          <a:ea typeface="+mn-ea"/>
                          <a:cs typeface="楷体_GB2312"/>
                          <a:sym typeface="Arial" panose="020B0604020202090204" pitchFamily="34" charset="0"/>
                        </a:rPr>
                        <a:t>不合格干部调整</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zh-CN" altLang="en-US" sz="1200" dirty="0">
                          <a:ln>
                            <a:noFill/>
                          </a:ln>
                          <a:solidFill>
                            <a:srgbClr val="000000"/>
                          </a:solidFill>
                          <a:effectLst/>
                          <a:latin typeface="+mn-ea"/>
                          <a:ea typeface="+mn-ea"/>
                          <a:cs typeface="楷体_GB2312"/>
                          <a:sym typeface="Arial" panose="020B0604020202090204" pitchFamily="34" charset="0"/>
                        </a:rPr>
                        <a:t>无机会</a:t>
                      </a:r>
                      <a:endPar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zh-CN" altLang="en-US" sz="1200" dirty="0">
                          <a:ln>
                            <a:noFill/>
                          </a:ln>
                          <a:solidFill>
                            <a:srgbClr val="000000"/>
                          </a:solidFill>
                          <a:effectLst/>
                          <a:latin typeface="+mn-ea"/>
                          <a:ea typeface="+mn-ea"/>
                          <a:cs typeface="楷体_GB2312"/>
                          <a:sym typeface="Arial" panose="020B0604020202090204" pitchFamily="34" charset="0"/>
                        </a:rPr>
                        <a:t>无机会</a:t>
                      </a:r>
                      <a:endParaRPr kumimoji="0" lang="zh-CN" altLang="en-US" sz="1200" b="0" i="0" u="none" strike="noStrike" kern="1200"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200" dirty="0">
                          <a:ln>
                            <a:noFill/>
                          </a:ln>
                          <a:solidFill>
                            <a:srgbClr val="000000"/>
                          </a:solidFill>
                          <a:effectLst/>
                          <a:latin typeface="+mn-ea"/>
                          <a:ea typeface="+mn-ea"/>
                          <a:cs typeface="楷体_GB2312"/>
                          <a:sym typeface="Arial" panose="020B0604020202090204" pitchFamily="34" charset="0"/>
                        </a:rPr>
                        <a:t>换岗</a:t>
                      </a:r>
                      <a:r>
                        <a:rPr lang="en-US" altLang="zh-CN" sz="1200" dirty="0">
                          <a:ln>
                            <a:noFill/>
                          </a:ln>
                          <a:solidFill>
                            <a:srgbClr val="000000"/>
                          </a:solidFill>
                          <a:effectLst/>
                          <a:latin typeface="+mn-ea"/>
                          <a:ea typeface="+mn-ea"/>
                          <a:cs typeface="楷体_GB2312"/>
                          <a:sym typeface="Arial" panose="020B0604020202090204" pitchFamily="34" charset="0"/>
                        </a:rPr>
                        <a:t>/</a:t>
                      </a:r>
                      <a:r>
                        <a:rPr lang="zh-CN" altLang="en-US" sz="1200" dirty="0">
                          <a:ln>
                            <a:noFill/>
                          </a:ln>
                          <a:solidFill>
                            <a:srgbClr val="000000"/>
                          </a:solidFill>
                          <a:effectLst/>
                          <a:latin typeface="+mn-ea"/>
                          <a:ea typeface="+mn-ea"/>
                          <a:cs typeface="楷体_GB2312"/>
                          <a:sym typeface="Arial" panose="020B0604020202090204" pitchFamily="34" charset="0"/>
                        </a:rPr>
                        <a:t>淘汰</a:t>
                      </a:r>
                      <a:endParaRPr kumimoji="0" lang="zh-CN" altLang="en-US" sz="1200" b="0" i="0" u="none" strike="noStrike" cap="none" normalizeH="0" baseline="0" dirty="0">
                        <a:ln>
                          <a:noFill/>
                        </a:ln>
                        <a:solidFill>
                          <a:srgbClr val="000000"/>
                        </a:solidFill>
                        <a:effectLst/>
                        <a:latin typeface="+mn-ea"/>
                        <a:ea typeface="+mn-ea"/>
                        <a:cs typeface="楷体_GB2312"/>
                        <a:sym typeface="Arial" panose="020B0604020202090204" pitchFamily="34" charset="0"/>
                      </a:endParaRPr>
                    </a:p>
                  </a:txBody>
                  <a:tcPr marL="121946" marR="121946"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ISLIDE.DIAGRAM" val="271884"/>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TABLE_ENDDRAG_ORIGIN_RECT" val="805*275"/>
  <p:tag name="TABLE_ENDDRAG_RECT" val="52*173*805*275"/>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UNIT_TABLE_BEAUTIFY" val="smartTable{9c9ffe79-efd9-474f-bc93-9e2638686eac}"/>
  <p:tag name="TABLE_ENDDRAG_ORIGIN_RECT" val="860*409"/>
  <p:tag name="TABLE_ENDDRAG_RECT" val="52*133*860*377"/>
</p:tagLst>
</file>

<file path=ppt/tags/tag109.xml><?xml version="1.0" encoding="utf-8"?>
<p:tagLst xmlns:p="http://schemas.openxmlformats.org/presentationml/2006/main">
  <p:tag name="KSO_WM_UNIT_TABLE_BEAUTIFY" val="smartTable{e69a3af7-8b91-4666-b359-81466cafa5fe}"/>
  <p:tag name="TABLE_ENDDRAG_ORIGIN_RECT" val="822*120"/>
  <p:tag name="TABLE_ENDDRAG_RECT" val="77*296*822*120"/>
</p:tagLst>
</file>

<file path=ppt/tags/tag110.xml><?xml version="1.0" encoding="utf-8"?>
<p:tagLst xmlns:p="http://schemas.openxmlformats.org/presentationml/2006/main">
  <p:tag name="KSO_WM_UNIT_TABLE_BEAUTIFY" val="smartTable{eb69187c-decf-4080-909f-48dc985071ac}"/>
</p:tagLst>
</file>

<file path=ppt/tags/tag111.xml><?xml version="1.0" encoding="utf-8"?>
<p:tagLst xmlns:p="http://schemas.openxmlformats.org/presentationml/2006/main">
  <p:tag name="KSO_WM_UNIT_TABLE_BEAUTIFY" val="smartTable{3f61ddb6-cf34-446c-99d3-3c9a32e55d5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6208</Words>
  <Application>WPS 演示</Application>
  <PresentationFormat>宽屏</PresentationFormat>
  <Paragraphs>1237</Paragraphs>
  <Slides>13</Slides>
  <Notes>4</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13</vt:i4>
      </vt:variant>
    </vt:vector>
  </HeadingPairs>
  <TitlesOfParts>
    <vt:vector size="36" baseType="lpstr">
      <vt:lpstr>Arial</vt:lpstr>
      <vt:lpstr>宋体</vt:lpstr>
      <vt:lpstr>Wingdings</vt:lpstr>
      <vt:lpstr>Wingdings</vt:lpstr>
      <vt:lpstr>苹方-简</vt:lpstr>
      <vt:lpstr>微软雅黑</vt:lpstr>
      <vt:lpstr>汉仪旗黑</vt:lpstr>
      <vt:lpstr>宋体</vt:lpstr>
      <vt:lpstr>Arial Unicode MS</vt:lpstr>
      <vt:lpstr>汉仪书宋二KW</vt:lpstr>
      <vt:lpstr>Arial</vt:lpstr>
      <vt:lpstr>Calibri</vt:lpstr>
      <vt:lpstr>微软雅黑 Light</vt:lpstr>
      <vt:lpstr>Segoe UI</vt:lpstr>
      <vt:lpstr>黑体</vt:lpstr>
      <vt:lpstr>汉仪中黑KW</vt:lpstr>
      <vt:lpstr>等线</vt:lpstr>
      <vt:lpstr>楷体_GB2312</vt:lpstr>
      <vt:lpstr>Times New Roman</vt:lpstr>
      <vt:lpstr>Helvetica Neue</vt:lpstr>
      <vt:lpstr>汉仪中等线KW</vt:lpstr>
      <vt:lpstr>汉仪楷体简</vt:lpstr>
      <vt:lpstr>WPS</vt:lpstr>
      <vt:lpstr>绩效管理体系总体目标</vt:lpstr>
      <vt:lpstr>支撑战略从想到到做到的绩效管理全景图</vt:lpstr>
      <vt:lpstr>绩效管理体系-现有岗位绩效考核优化</vt:lpstr>
      <vt:lpstr>绩效管理流程-月度检视+季度考核+年度运用</vt:lpstr>
      <vt:lpstr>绩效管理体系-组织绩效和个人绩效PBC</vt:lpstr>
      <vt:lpstr>绩效管理体系-绩效评价</vt:lpstr>
      <vt:lpstr>绩效管理体系个人绩效考评标准</vt:lpstr>
      <vt:lpstr>个人绩效考核流程 - 三层闭环、双线评定、公正评价</vt:lpstr>
      <vt:lpstr>绩效管理体系-个人绩效考核（部门经理级及以上员工）</vt:lpstr>
      <vt:lpstr>绩效管理体系-个人绩效考核（部门经理级及以下员工）</vt:lpstr>
      <vt:lpstr>绩效管理体系-月度工作检视</vt:lpstr>
      <vt:lpstr>绩效管理体系-季度绩效考评结果应用</vt:lpstr>
      <vt:lpstr>绩效管理体系-年度绩效考评结果应用</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kjonekong</dc:creator>
  <cp:lastModifiedBy>杨玉强</cp:lastModifiedBy>
  <cp:revision>162</cp:revision>
  <dcterms:created xsi:type="dcterms:W3CDTF">2025-05-07T13:47:16Z</dcterms:created>
  <dcterms:modified xsi:type="dcterms:W3CDTF">2025-05-07T13:47:16Z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2052-7.3.1.8967</vt:lpwstr>
  </property>
  <property fmtid="{D5CDD505-2E9C-101B-9397-08002B2CF9AE}" pid="3" name="ICV">
    <vt:lpwstr>703370753EF630530D5E1B6860F533F9_41</vt:lpwstr>
  </property>
</Properties>
</file>