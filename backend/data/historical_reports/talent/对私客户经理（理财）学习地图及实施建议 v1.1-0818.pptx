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3.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4.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33"/>
  </p:notesMasterIdLst>
  <p:handoutMasterIdLst>
    <p:handoutMasterId r:id="rId34"/>
  </p:handoutMasterIdLst>
  <p:sldIdLst>
    <p:sldId id="451" r:id="rId2"/>
    <p:sldId id="484" r:id="rId3"/>
    <p:sldId id="516" r:id="rId4"/>
    <p:sldId id="522" r:id="rId5"/>
    <p:sldId id="531" r:id="rId6"/>
    <p:sldId id="529" r:id="rId7"/>
    <p:sldId id="538" r:id="rId8"/>
    <p:sldId id="539" r:id="rId9"/>
    <p:sldId id="493" r:id="rId10"/>
    <p:sldId id="532" r:id="rId11"/>
    <p:sldId id="527" r:id="rId12"/>
    <p:sldId id="499" r:id="rId13"/>
    <p:sldId id="517" r:id="rId14"/>
    <p:sldId id="530" r:id="rId15"/>
    <p:sldId id="518" r:id="rId16"/>
    <p:sldId id="502" r:id="rId17"/>
    <p:sldId id="523" r:id="rId18"/>
    <p:sldId id="514" r:id="rId19"/>
    <p:sldId id="524" r:id="rId20"/>
    <p:sldId id="515" r:id="rId21"/>
    <p:sldId id="521" r:id="rId22"/>
    <p:sldId id="525" r:id="rId23"/>
    <p:sldId id="512" r:id="rId24"/>
    <p:sldId id="533" r:id="rId25"/>
    <p:sldId id="534" r:id="rId26"/>
    <p:sldId id="535" r:id="rId27"/>
    <p:sldId id="536" r:id="rId28"/>
    <p:sldId id="526" r:id="rId29"/>
    <p:sldId id="537" r:id="rId30"/>
    <p:sldId id="513" r:id="rId31"/>
    <p:sldId id="293" r:id="rId32"/>
  </p:sldIdLst>
  <p:sldSz cx="9906000" cy="6858000" type="A4"/>
  <p:notesSz cx="9926638" cy="6797675"/>
  <p:custDataLst>
    <p:tags r:id="rId35"/>
  </p:custDataLst>
  <p:defaultTextStyle>
    <a:defPPr>
      <a:defRPr lang="en-US"/>
    </a:defPPr>
    <a:lvl1pPr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550" userDrawn="1">
          <p15:clr>
            <a:srgbClr val="A4A3A4"/>
          </p15:clr>
        </p15:guide>
        <p15:guide id="2" orient="horz" pos="4133" userDrawn="1">
          <p15:clr>
            <a:srgbClr val="A4A3A4"/>
          </p15:clr>
        </p15:guide>
        <p15:guide id="3" pos="330" userDrawn="1">
          <p15:clr>
            <a:srgbClr val="A4A3A4"/>
          </p15:clr>
        </p15:guide>
        <p15:guide id="4" pos="5910" userDrawn="1">
          <p15:clr>
            <a:srgbClr val="A4A3A4"/>
          </p15:clr>
        </p15:guide>
        <p15:guide id="5" orient="horz" pos="10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2060"/>
    <a:srgbClr val="002A7E"/>
    <a:srgbClr val="00246C"/>
    <a:srgbClr val="00339A"/>
    <a:srgbClr val="FFAA00"/>
    <a:srgbClr val="B4A697"/>
    <a:srgbClr val="00B0EE"/>
    <a:srgbClr val="172F37"/>
    <a:srgbClr val="FFFFFF"/>
    <a:srgbClr val="FE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100013-AE2A-0A4A-B7EA-A5C4EAF33990}" v="36" dt="2023-08-22T04:20:28.32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4" autoAdjust="0"/>
    <p:restoredTop sz="96018" autoAdjust="0"/>
  </p:normalViewPr>
  <p:slideViewPr>
    <p:cSldViewPr snapToGrid="0" showGuides="1">
      <p:cViewPr varScale="1">
        <p:scale>
          <a:sx n="113" d="100"/>
          <a:sy n="113" d="100"/>
        </p:scale>
        <p:origin x="1368" y="168"/>
      </p:cViewPr>
      <p:guideLst>
        <p:guide orient="horz" pos="550"/>
        <p:guide orient="horz" pos="4133"/>
        <p:guide pos="330"/>
        <p:guide pos="5910"/>
        <p:guide orient="horz" pos="10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2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sher Yang" userId="8e274039aba4e351" providerId="LiveId" clId="{40100013-AE2A-0A4A-B7EA-A5C4EAF33990}"/>
    <pc:docChg chg="undo custSel addSld delSld modSld sldOrd">
      <pc:chgData name="Fisher Yang" userId="8e274039aba4e351" providerId="LiveId" clId="{40100013-AE2A-0A4A-B7EA-A5C4EAF33990}" dt="2023-08-22T04:26:28.168" v="1405" actId="20578"/>
      <pc:docMkLst>
        <pc:docMk/>
      </pc:docMkLst>
      <pc:sldChg chg="addSp modSp add mod">
        <pc:chgData name="Fisher Yang" userId="8e274039aba4e351" providerId="LiveId" clId="{40100013-AE2A-0A4A-B7EA-A5C4EAF33990}" dt="2023-08-22T04:20:28.324" v="1401" actId="167"/>
        <pc:sldMkLst>
          <pc:docMk/>
          <pc:sldMk cId="0" sldId="293"/>
        </pc:sldMkLst>
        <pc:picChg chg="add mod modCrop">
          <ac:chgData name="Fisher Yang" userId="8e274039aba4e351" providerId="LiveId" clId="{40100013-AE2A-0A4A-B7EA-A5C4EAF33990}" dt="2023-08-22T04:20:28.324" v="1401" actId="167"/>
          <ac:picMkLst>
            <pc:docMk/>
            <pc:sldMk cId="0" sldId="293"/>
            <ac:picMk id="2" creationId="{A9EB3A6D-2D7C-E3CE-29F9-170A3F4DF76D}"/>
          </ac:picMkLst>
        </pc:picChg>
      </pc:sldChg>
      <pc:sldChg chg="ord">
        <pc:chgData name="Fisher Yang" userId="8e274039aba4e351" providerId="LiveId" clId="{40100013-AE2A-0A4A-B7EA-A5C4EAF33990}" dt="2023-08-22T04:24:55.313" v="1404" actId="20578"/>
        <pc:sldMkLst>
          <pc:docMk/>
          <pc:sldMk cId="0" sldId="493"/>
        </pc:sldMkLst>
      </pc:sldChg>
      <pc:sldChg chg="modSp mod">
        <pc:chgData name="Fisher Yang" userId="8e274039aba4e351" providerId="LiveId" clId="{40100013-AE2A-0A4A-B7EA-A5C4EAF33990}" dt="2023-08-21T06:54:02.697" v="65" actId="1035"/>
        <pc:sldMkLst>
          <pc:docMk/>
          <pc:sldMk cId="0" sldId="514"/>
        </pc:sldMkLst>
        <pc:spChg chg="mod">
          <ac:chgData name="Fisher Yang" userId="8e274039aba4e351" providerId="LiveId" clId="{40100013-AE2A-0A4A-B7EA-A5C4EAF33990}" dt="2023-08-21T06:54:02.697" v="65" actId="1035"/>
          <ac:spMkLst>
            <pc:docMk/>
            <pc:sldMk cId="0" sldId="514"/>
            <ac:spMk id="25" creationId="{00000000-0000-0000-0000-000000000000}"/>
          </ac:spMkLst>
        </pc:spChg>
        <pc:spChg chg="mod">
          <ac:chgData name="Fisher Yang" userId="8e274039aba4e351" providerId="LiveId" clId="{40100013-AE2A-0A4A-B7EA-A5C4EAF33990}" dt="2023-08-21T06:54:02.697" v="65" actId="1035"/>
          <ac:spMkLst>
            <pc:docMk/>
            <pc:sldMk cId="0" sldId="514"/>
            <ac:spMk id="26" creationId="{00000000-0000-0000-0000-000000000000}"/>
          </ac:spMkLst>
        </pc:spChg>
        <pc:graphicFrameChg chg="mod modGraphic">
          <ac:chgData name="Fisher Yang" userId="8e274039aba4e351" providerId="LiveId" clId="{40100013-AE2A-0A4A-B7EA-A5C4EAF33990}" dt="2023-08-21T06:53:56.410" v="44" actId="798"/>
          <ac:graphicFrameMkLst>
            <pc:docMk/>
            <pc:sldMk cId="0" sldId="514"/>
            <ac:graphicFrameMk id="21" creationId="{00000000-0000-0000-0000-000000000000}"/>
          </ac:graphicFrameMkLst>
        </pc:graphicFrameChg>
      </pc:sldChg>
      <pc:sldChg chg="ord">
        <pc:chgData name="Fisher Yang" userId="8e274039aba4e351" providerId="LiveId" clId="{40100013-AE2A-0A4A-B7EA-A5C4EAF33990}" dt="2023-08-22T04:24:30.899" v="1403" actId="20578"/>
        <pc:sldMkLst>
          <pc:docMk/>
          <pc:sldMk cId="0" sldId="516"/>
        </pc:sldMkLst>
      </pc:sldChg>
      <pc:sldChg chg="modSp mod">
        <pc:chgData name="Fisher Yang" userId="8e274039aba4e351" providerId="LiveId" clId="{40100013-AE2A-0A4A-B7EA-A5C4EAF33990}" dt="2023-08-21T02:12:15.662" v="21" actId="20577"/>
        <pc:sldMkLst>
          <pc:docMk/>
          <pc:sldMk cId="0" sldId="517"/>
        </pc:sldMkLst>
        <pc:spChg chg="mod">
          <ac:chgData name="Fisher Yang" userId="8e274039aba4e351" providerId="LiveId" clId="{40100013-AE2A-0A4A-B7EA-A5C4EAF33990}" dt="2023-08-21T02:12:12.092" v="12" actId="20577"/>
          <ac:spMkLst>
            <pc:docMk/>
            <pc:sldMk cId="0" sldId="517"/>
            <ac:spMk id="9" creationId="{00000000-0000-0000-0000-000000000000}"/>
          </ac:spMkLst>
        </pc:spChg>
        <pc:spChg chg="mod">
          <ac:chgData name="Fisher Yang" userId="8e274039aba4e351" providerId="LiveId" clId="{40100013-AE2A-0A4A-B7EA-A5C4EAF33990}" dt="2023-08-21T02:12:15.662" v="21" actId="20577"/>
          <ac:spMkLst>
            <pc:docMk/>
            <pc:sldMk cId="0" sldId="517"/>
            <ac:spMk id="10" creationId="{00000000-0000-0000-0000-000000000000}"/>
          </ac:spMkLst>
        </pc:spChg>
      </pc:sldChg>
      <pc:sldChg chg="modSp mod">
        <pc:chgData name="Fisher Yang" userId="8e274039aba4e351" providerId="LiveId" clId="{40100013-AE2A-0A4A-B7EA-A5C4EAF33990}" dt="2023-08-21T07:14:19.343" v="315" actId="207"/>
        <pc:sldMkLst>
          <pc:docMk/>
          <pc:sldMk cId="0" sldId="529"/>
        </pc:sldMkLst>
        <pc:spChg chg="mod">
          <ac:chgData name="Fisher Yang" userId="8e274039aba4e351" providerId="LiveId" clId="{40100013-AE2A-0A4A-B7EA-A5C4EAF33990}" dt="2023-08-21T07:13:45.290" v="270" actId="207"/>
          <ac:spMkLst>
            <pc:docMk/>
            <pc:sldMk cId="0" sldId="529"/>
            <ac:spMk id="33" creationId="{00000000-0000-0000-0000-000000000000}"/>
          </ac:spMkLst>
        </pc:spChg>
        <pc:spChg chg="mod">
          <ac:chgData name="Fisher Yang" userId="8e274039aba4e351" providerId="LiveId" clId="{40100013-AE2A-0A4A-B7EA-A5C4EAF33990}" dt="2023-08-21T07:13:22.157" v="251" actId="207"/>
          <ac:spMkLst>
            <pc:docMk/>
            <pc:sldMk cId="0" sldId="529"/>
            <ac:spMk id="34" creationId="{00000000-0000-0000-0000-000000000000}"/>
          </ac:spMkLst>
        </pc:spChg>
        <pc:spChg chg="mod">
          <ac:chgData name="Fisher Yang" userId="8e274039aba4e351" providerId="LiveId" clId="{40100013-AE2A-0A4A-B7EA-A5C4EAF33990}" dt="2023-08-21T07:14:19.343" v="315" actId="207"/>
          <ac:spMkLst>
            <pc:docMk/>
            <pc:sldMk cId="0" sldId="529"/>
            <ac:spMk id="35" creationId="{00000000-0000-0000-0000-000000000000}"/>
          </ac:spMkLst>
        </pc:spChg>
        <pc:spChg chg="mod">
          <ac:chgData name="Fisher Yang" userId="8e274039aba4e351" providerId="LiveId" clId="{40100013-AE2A-0A4A-B7EA-A5C4EAF33990}" dt="2023-08-21T07:13:13.607" v="250" actId="207"/>
          <ac:spMkLst>
            <pc:docMk/>
            <pc:sldMk cId="0" sldId="529"/>
            <ac:spMk id="49" creationId="{00000000-0000-0000-0000-000000000000}"/>
          </ac:spMkLst>
        </pc:spChg>
        <pc:spChg chg="mod">
          <ac:chgData name="Fisher Yang" userId="8e274039aba4e351" providerId="LiveId" clId="{40100013-AE2A-0A4A-B7EA-A5C4EAF33990}" dt="2023-08-21T07:13:01.839" v="248" actId="207"/>
          <ac:spMkLst>
            <pc:docMk/>
            <pc:sldMk cId="0" sldId="529"/>
            <ac:spMk id="50" creationId="{00000000-0000-0000-0000-000000000000}"/>
          </ac:spMkLst>
        </pc:spChg>
        <pc:spChg chg="mod">
          <ac:chgData name="Fisher Yang" userId="8e274039aba4e351" providerId="LiveId" clId="{40100013-AE2A-0A4A-B7EA-A5C4EAF33990}" dt="2023-08-21T07:12:38.595" v="245" actId="207"/>
          <ac:spMkLst>
            <pc:docMk/>
            <pc:sldMk cId="0" sldId="529"/>
            <ac:spMk id="51" creationId="{00000000-0000-0000-0000-000000000000}"/>
          </ac:spMkLst>
        </pc:spChg>
      </pc:sldChg>
      <pc:sldChg chg="ord">
        <pc:chgData name="Fisher Yang" userId="8e274039aba4e351" providerId="LiveId" clId="{40100013-AE2A-0A4A-B7EA-A5C4EAF33990}" dt="2023-08-22T04:26:28.168" v="1405" actId="20578"/>
        <pc:sldMkLst>
          <pc:docMk/>
          <pc:sldMk cId="0" sldId="531"/>
        </pc:sldMkLst>
      </pc:sldChg>
      <pc:sldChg chg="modSp mod">
        <pc:chgData name="Fisher Yang" userId="8e274039aba4e351" providerId="LiveId" clId="{40100013-AE2A-0A4A-B7EA-A5C4EAF33990}" dt="2023-08-21T06:52:42.443" v="23" actId="20577"/>
        <pc:sldMkLst>
          <pc:docMk/>
          <pc:sldMk cId="0" sldId="532"/>
        </pc:sldMkLst>
        <pc:spChg chg="mod">
          <ac:chgData name="Fisher Yang" userId="8e274039aba4e351" providerId="LiveId" clId="{40100013-AE2A-0A4A-B7EA-A5C4EAF33990}" dt="2023-08-21T06:52:42.443" v="23" actId="20577"/>
          <ac:spMkLst>
            <pc:docMk/>
            <pc:sldMk cId="0" sldId="532"/>
            <ac:spMk id="5" creationId="{00000000-0000-0000-0000-000000000000}"/>
          </ac:spMkLst>
        </pc:spChg>
      </pc:sldChg>
      <pc:sldChg chg="addSp delSp modSp add mod">
        <pc:chgData name="Fisher Yang" userId="8e274039aba4e351" providerId="LiveId" clId="{40100013-AE2A-0A4A-B7EA-A5C4EAF33990}" dt="2023-08-22T04:17:43.940" v="1390" actId="1076"/>
        <pc:sldMkLst>
          <pc:docMk/>
          <pc:sldMk cId="2434556768" sldId="536"/>
        </pc:sldMkLst>
        <pc:spChg chg="mod">
          <ac:chgData name="Fisher Yang" userId="8e274039aba4e351" providerId="LiveId" clId="{40100013-AE2A-0A4A-B7EA-A5C4EAF33990}" dt="2023-08-21T06:57:47.594" v="184" actId="20577"/>
          <ac:spMkLst>
            <pc:docMk/>
            <pc:sldMk cId="2434556768" sldId="536"/>
            <ac:spMk id="3" creationId="{00000000-0000-0000-0000-000000000000}"/>
          </ac:spMkLst>
        </pc:spChg>
        <pc:spChg chg="add mod">
          <ac:chgData name="Fisher Yang" userId="8e274039aba4e351" providerId="LiveId" clId="{40100013-AE2A-0A4A-B7EA-A5C4EAF33990}" dt="2023-08-22T04:17:43.940" v="1390" actId="1076"/>
          <ac:spMkLst>
            <pc:docMk/>
            <pc:sldMk cId="2434556768" sldId="536"/>
            <ac:spMk id="66" creationId="{AF1AB052-868A-705F-2C46-59AAD61D2C05}"/>
          </ac:spMkLst>
        </pc:spChg>
        <pc:grpChg chg="del">
          <ac:chgData name="Fisher Yang" userId="8e274039aba4e351" providerId="LiveId" clId="{40100013-AE2A-0A4A-B7EA-A5C4EAF33990}" dt="2023-08-21T06:54:42.007" v="67" actId="478"/>
          <ac:grpSpMkLst>
            <pc:docMk/>
            <pc:sldMk cId="2434556768" sldId="536"/>
            <ac:grpSpMk id="4" creationId="{00000000-0000-0000-0000-000000000000}"/>
          </ac:grpSpMkLst>
        </pc:grpChg>
        <pc:picChg chg="add mod">
          <ac:chgData name="Fisher Yang" userId="8e274039aba4e351" providerId="LiveId" clId="{40100013-AE2A-0A4A-B7EA-A5C4EAF33990}" dt="2023-08-22T04:16:48.420" v="1176" actId="1076"/>
          <ac:picMkLst>
            <pc:docMk/>
            <pc:sldMk cId="2434556768" sldId="536"/>
            <ac:picMk id="64" creationId="{C9CED08B-751E-F481-3017-70FA201FF01F}"/>
          </ac:picMkLst>
        </pc:picChg>
        <pc:picChg chg="add mod">
          <ac:chgData name="Fisher Yang" userId="8e274039aba4e351" providerId="LiveId" clId="{40100013-AE2A-0A4A-B7EA-A5C4EAF33990}" dt="2023-08-22T04:16:48.420" v="1176" actId="1076"/>
          <ac:picMkLst>
            <pc:docMk/>
            <pc:sldMk cId="2434556768" sldId="536"/>
            <ac:picMk id="65" creationId="{277023F1-75B2-B79D-3560-12B7320CBAFA}"/>
          </ac:picMkLst>
        </pc:picChg>
      </pc:sldChg>
      <pc:sldChg chg="addSp delSp modSp add mod">
        <pc:chgData name="Fisher Yang" userId="8e274039aba4e351" providerId="LiveId" clId="{40100013-AE2A-0A4A-B7EA-A5C4EAF33990}" dt="2023-08-22T04:18:10.224" v="1392" actId="1076"/>
        <pc:sldMkLst>
          <pc:docMk/>
          <pc:sldMk cId="723630822" sldId="537"/>
        </pc:sldMkLst>
        <pc:spChg chg="mod">
          <ac:chgData name="Fisher Yang" userId="8e274039aba4e351" providerId="LiveId" clId="{40100013-AE2A-0A4A-B7EA-A5C4EAF33990}" dt="2023-08-22T04:18:10.224" v="1392" actId="1076"/>
          <ac:spMkLst>
            <pc:docMk/>
            <pc:sldMk cId="723630822" sldId="537"/>
            <ac:spMk id="5" creationId="{00000000-0000-0000-0000-000000000000}"/>
          </ac:spMkLst>
        </pc:spChg>
        <pc:spChg chg="del">
          <ac:chgData name="Fisher Yang" userId="8e274039aba4e351" providerId="LiveId" clId="{40100013-AE2A-0A4A-B7EA-A5C4EAF33990}" dt="2023-08-21T06:58:17.689" v="187" actId="478"/>
          <ac:spMkLst>
            <pc:docMk/>
            <pc:sldMk cId="723630822" sldId="537"/>
            <ac:spMk id="6" creationId="{00000000-0000-0000-0000-000000000000}"/>
          </ac:spMkLst>
        </pc:spChg>
        <pc:picChg chg="del">
          <ac:chgData name="Fisher Yang" userId="8e274039aba4e351" providerId="LiveId" clId="{40100013-AE2A-0A4A-B7EA-A5C4EAF33990}" dt="2023-08-21T06:58:15.878" v="186" actId="478"/>
          <ac:picMkLst>
            <pc:docMk/>
            <pc:sldMk cId="723630822" sldId="537"/>
            <ac:picMk id="3" creationId="{00000000-0000-0000-0000-000000000000}"/>
          </ac:picMkLst>
        </pc:picChg>
        <pc:picChg chg="add mod">
          <ac:chgData name="Fisher Yang" userId="8e274039aba4e351" providerId="LiveId" clId="{40100013-AE2A-0A4A-B7EA-A5C4EAF33990}" dt="2023-08-22T04:18:02.577" v="1391" actId="1076"/>
          <ac:picMkLst>
            <pc:docMk/>
            <pc:sldMk cId="723630822" sldId="537"/>
            <ac:picMk id="7" creationId="{A62DAF1B-37F3-B51A-DF37-F8060058B76E}"/>
          </ac:picMkLst>
        </pc:picChg>
        <pc:picChg chg="add mod">
          <ac:chgData name="Fisher Yang" userId="8e274039aba4e351" providerId="LiveId" clId="{40100013-AE2A-0A4A-B7EA-A5C4EAF33990}" dt="2023-08-22T04:18:02.577" v="1391" actId="1076"/>
          <ac:picMkLst>
            <pc:docMk/>
            <pc:sldMk cId="723630822" sldId="537"/>
            <ac:picMk id="8" creationId="{88A0846A-7ADA-E50A-1226-46CD4394BAA3}"/>
          </ac:picMkLst>
        </pc:picChg>
        <pc:picChg chg="add mod">
          <ac:chgData name="Fisher Yang" userId="8e274039aba4e351" providerId="LiveId" clId="{40100013-AE2A-0A4A-B7EA-A5C4EAF33990}" dt="2023-08-22T04:18:02.577" v="1391" actId="1076"/>
          <ac:picMkLst>
            <pc:docMk/>
            <pc:sldMk cId="723630822" sldId="537"/>
            <ac:picMk id="9" creationId="{9FE06DF3-FC30-07F8-ACC8-6ECC9B1E9A9C}"/>
          </ac:picMkLst>
        </pc:picChg>
      </pc:sldChg>
      <pc:sldChg chg="addSp delSp modSp add mod">
        <pc:chgData name="Fisher Yang" userId="8e274039aba4e351" providerId="LiveId" clId="{40100013-AE2A-0A4A-B7EA-A5C4EAF33990}" dt="2023-08-21T09:30:52.087" v="438" actId="207"/>
        <pc:sldMkLst>
          <pc:docMk/>
          <pc:sldMk cId="2179962506" sldId="538"/>
        </pc:sldMkLst>
        <pc:spChg chg="mod">
          <ac:chgData name="Fisher Yang" userId="8e274039aba4e351" providerId="LiveId" clId="{40100013-AE2A-0A4A-B7EA-A5C4EAF33990}" dt="2023-08-21T09:29:07.611" v="430" actId="20577"/>
          <ac:spMkLst>
            <pc:docMk/>
            <pc:sldMk cId="2179962506" sldId="538"/>
            <ac:spMk id="3" creationId="{00000000-0000-0000-0000-000000000000}"/>
          </ac:spMkLst>
        </pc:spChg>
        <pc:graphicFrameChg chg="add del mod">
          <ac:chgData name="Fisher Yang" userId="8e274039aba4e351" providerId="LiveId" clId="{40100013-AE2A-0A4A-B7EA-A5C4EAF33990}" dt="2023-08-21T09:24:11.611" v="319"/>
          <ac:graphicFrameMkLst>
            <pc:docMk/>
            <pc:sldMk cId="2179962506" sldId="538"/>
            <ac:graphicFrameMk id="4" creationId="{25E5575C-9290-102B-9B6E-9909DF91CB6B}"/>
          </ac:graphicFrameMkLst>
        </pc:graphicFrameChg>
        <pc:graphicFrameChg chg="add del mod">
          <ac:chgData name="Fisher Yang" userId="8e274039aba4e351" providerId="LiveId" clId="{40100013-AE2A-0A4A-B7EA-A5C4EAF33990}" dt="2023-08-21T09:24:20.132" v="321"/>
          <ac:graphicFrameMkLst>
            <pc:docMk/>
            <pc:sldMk cId="2179962506" sldId="538"/>
            <ac:graphicFrameMk id="5" creationId="{1C70971F-F78F-8172-7734-69A3AFAE29CF}"/>
          </ac:graphicFrameMkLst>
        </pc:graphicFrameChg>
        <pc:graphicFrameChg chg="add del mod">
          <ac:chgData name="Fisher Yang" userId="8e274039aba4e351" providerId="LiveId" clId="{40100013-AE2A-0A4A-B7EA-A5C4EAF33990}" dt="2023-08-21T09:24:49.475" v="329"/>
          <ac:graphicFrameMkLst>
            <pc:docMk/>
            <pc:sldMk cId="2179962506" sldId="538"/>
            <ac:graphicFrameMk id="7" creationId="{CA645004-16A4-0709-B239-CD9BC27D9EA4}"/>
          </ac:graphicFrameMkLst>
        </pc:graphicFrameChg>
        <pc:graphicFrameChg chg="add mod modGraphic">
          <ac:chgData name="Fisher Yang" userId="8e274039aba4e351" providerId="LiveId" clId="{40100013-AE2A-0A4A-B7EA-A5C4EAF33990}" dt="2023-08-21T09:30:52.087" v="438" actId="207"/>
          <ac:graphicFrameMkLst>
            <pc:docMk/>
            <pc:sldMk cId="2179962506" sldId="538"/>
            <ac:graphicFrameMk id="8" creationId="{3F81328D-3857-AE56-712B-B40F69B82510}"/>
          </ac:graphicFrameMkLst>
        </pc:graphicFrameChg>
        <pc:graphicFrameChg chg="del">
          <ac:chgData name="Fisher Yang" userId="8e274039aba4e351" providerId="LiveId" clId="{40100013-AE2A-0A4A-B7EA-A5C4EAF33990}" dt="2023-08-21T09:23:42.435" v="317" actId="478"/>
          <ac:graphicFrameMkLst>
            <pc:docMk/>
            <pc:sldMk cId="2179962506" sldId="538"/>
            <ac:graphicFrameMk id="21" creationId="{00000000-0000-0000-0000-000000000000}"/>
          </ac:graphicFrameMkLst>
        </pc:graphicFrameChg>
        <pc:picChg chg="add del mod">
          <ac:chgData name="Fisher Yang" userId="8e274039aba4e351" providerId="LiveId" clId="{40100013-AE2A-0A4A-B7EA-A5C4EAF33990}" dt="2023-08-21T09:24:28.210" v="327"/>
          <ac:picMkLst>
            <pc:docMk/>
            <pc:sldMk cId="2179962506" sldId="538"/>
            <ac:picMk id="6" creationId="{771F43B1-B326-44C7-EB58-BF721663A32F}"/>
          </ac:picMkLst>
        </pc:picChg>
      </pc:sldChg>
      <pc:sldChg chg="addSp delSp modSp add mod">
        <pc:chgData name="Fisher Yang" userId="8e274039aba4e351" providerId="LiveId" clId="{40100013-AE2A-0A4A-B7EA-A5C4EAF33990}" dt="2023-08-22T03:27:45.315" v="1175" actId="1076"/>
        <pc:sldMkLst>
          <pc:docMk/>
          <pc:sldMk cId="3958463354" sldId="539"/>
        </pc:sldMkLst>
        <pc:spChg chg="mod">
          <ac:chgData name="Fisher Yang" userId="8e274039aba4e351" providerId="LiveId" clId="{40100013-AE2A-0A4A-B7EA-A5C4EAF33990}" dt="2023-08-21T09:32:19.346" v="445" actId="18245"/>
          <ac:spMkLst>
            <pc:docMk/>
            <pc:sldMk cId="3958463354" sldId="539"/>
            <ac:spMk id="6" creationId="{2C74A106-E8AC-F704-A33B-93BCD175B432}"/>
          </ac:spMkLst>
        </pc:spChg>
        <pc:spChg chg="mod">
          <ac:chgData name="Fisher Yang" userId="8e274039aba4e351" providerId="LiveId" clId="{40100013-AE2A-0A4A-B7EA-A5C4EAF33990}" dt="2023-08-21T09:32:19.346" v="445" actId="18245"/>
          <ac:spMkLst>
            <pc:docMk/>
            <pc:sldMk cId="3958463354" sldId="539"/>
            <ac:spMk id="7" creationId="{F0600BA1-AB61-4985-1B7A-C0A5C4D279B4}"/>
          </ac:spMkLst>
        </pc:spChg>
        <pc:spChg chg="mod">
          <ac:chgData name="Fisher Yang" userId="8e274039aba4e351" providerId="LiveId" clId="{40100013-AE2A-0A4A-B7EA-A5C4EAF33990}" dt="2023-08-21T09:32:19.346" v="445" actId="18245"/>
          <ac:spMkLst>
            <pc:docMk/>
            <pc:sldMk cId="3958463354" sldId="539"/>
            <ac:spMk id="9" creationId="{87B71CD2-1EB6-33DE-2C60-1B3470968F7C}"/>
          </ac:spMkLst>
        </pc:spChg>
        <pc:spChg chg="mod">
          <ac:chgData name="Fisher Yang" userId="8e274039aba4e351" providerId="LiveId" clId="{40100013-AE2A-0A4A-B7EA-A5C4EAF33990}" dt="2023-08-21T09:32:19.346" v="445" actId="18245"/>
          <ac:spMkLst>
            <pc:docMk/>
            <pc:sldMk cId="3958463354" sldId="539"/>
            <ac:spMk id="10" creationId="{FFB98F9C-44FD-33E1-E6C8-652D059D3503}"/>
          </ac:spMkLst>
        </pc:spChg>
        <pc:spChg chg="mod">
          <ac:chgData name="Fisher Yang" userId="8e274039aba4e351" providerId="LiveId" clId="{40100013-AE2A-0A4A-B7EA-A5C4EAF33990}" dt="2023-08-21T09:32:19.346" v="445" actId="18245"/>
          <ac:spMkLst>
            <pc:docMk/>
            <pc:sldMk cId="3958463354" sldId="539"/>
            <ac:spMk id="11" creationId="{B2C4EC4A-A240-EEB5-B718-CC5C458C1D69}"/>
          </ac:spMkLst>
        </pc:spChg>
        <pc:spChg chg="mod">
          <ac:chgData name="Fisher Yang" userId="8e274039aba4e351" providerId="LiveId" clId="{40100013-AE2A-0A4A-B7EA-A5C4EAF33990}" dt="2023-08-21T09:32:19.346" v="445" actId="18245"/>
          <ac:spMkLst>
            <pc:docMk/>
            <pc:sldMk cId="3958463354" sldId="539"/>
            <ac:spMk id="12" creationId="{02B40410-13D7-9836-9E2F-E9C78C49F43F}"/>
          </ac:spMkLst>
        </pc:spChg>
        <pc:spChg chg="mod">
          <ac:chgData name="Fisher Yang" userId="8e274039aba4e351" providerId="LiveId" clId="{40100013-AE2A-0A4A-B7EA-A5C4EAF33990}" dt="2023-08-21T09:32:19.346" v="445" actId="18245"/>
          <ac:spMkLst>
            <pc:docMk/>
            <pc:sldMk cId="3958463354" sldId="539"/>
            <ac:spMk id="13" creationId="{9BDE98EA-1C0A-9180-179B-D09B9EFF858E}"/>
          </ac:spMkLst>
        </pc:spChg>
        <pc:spChg chg="mod">
          <ac:chgData name="Fisher Yang" userId="8e274039aba4e351" providerId="LiveId" clId="{40100013-AE2A-0A4A-B7EA-A5C4EAF33990}" dt="2023-08-21T09:32:19.346" v="445" actId="18245"/>
          <ac:spMkLst>
            <pc:docMk/>
            <pc:sldMk cId="3958463354" sldId="539"/>
            <ac:spMk id="14" creationId="{9A2C5978-7F2C-07C5-CBBF-D09DC3A300BB}"/>
          </ac:spMkLst>
        </pc:spChg>
        <pc:spChg chg="add mod">
          <ac:chgData name="Fisher Yang" userId="8e274039aba4e351" providerId="LiveId" clId="{40100013-AE2A-0A4A-B7EA-A5C4EAF33990}" dt="2023-08-22T03:27:45.315" v="1175" actId="1076"/>
          <ac:spMkLst>
            <pc:docMk/>
            <pc:sldMk cId="3958463354" sldId="539"/>
            <ac:spMk id="15" creationId="{19749D2C-927B-1F27-4C68-5524B639391A}"/>
          </ac:spMkLst>
        </pc:spChg>
        <pc:spChg chg="add mod">
          <ac:chgData name="Fisher Yang" userId="8e274039aba4e351" providerId="LiveId" clId="{40100013-AE2A-0A4A-B7EA-A5C4EAF33990}" dt="2023-08-22T03:27:45.315" v="1175" actId="1076"/>
          <ac:spMkLst>
            <pc:docMk/>
            <pc:sldMk cId="3958463354" sldId="539"/>
            <ac:spMk id="16" creationId="{6C3F10F9-B70B-28B2-1D07-9AB4DC17DAA5}"/>
          </ac:spMkLst>
        </pc:spChg>
        <pc:spChg chg="add mod">
          <ac:chgData name="Fisher Yang" userId="8e274039aba4e351" providerId="LiveId" clId="{40100013-AE2A-0A4A-B7EA-A5C4EAF33990}" dt="2023-08-22T03:27:45.315" v="1175" actId="1076"/>
          <ac:spMkLst>
            <pc:docMk/>
            <pc:sldMk cId="3958463354" sldId="539"/>
            <ac:spMk id="17" creationId="{E08AE9D9-F9D0-AB0D-D1ED-12239333EF34}"/>
          </ac:spMkLst>
        </pc:spChg>
        <pc:spChg chg="add mod">
          <ac:chgData name="Fisher Yang" userId="8e274039aba4e351" providerId="LiveId" clId="{40100013-AE2A-0A4A-B7EA-A5C4EAF33990}" dt="2023-08-22T03:27:45.315" v="1175" actId="1076"/>
          <ac:spMkLst>
            <pc:docMk/>
            <pc:sldMk cId="3958463354" sldId="539"/>
            <ac:spMk id="18" creationId="{A26F1054-EF22-711A-EBF0-F7981380C6FB}"/>
          </ac:spMkLst>
        </pc:spChg>
        <pc:spChg chg="add mod">
          <ac:chgData name="Fisher Yang" userId="8e274039aba4e351" providerId="LiveId" clId="{40100013-AE2A-0A4A-B7EA-A5C4EAF33990}" dt="2023-08-22T03:27:45.315" v="1175" actId="1076"/>
          <ac:spMkLst>
            <pc:docMk/>
            <pc:sldMk cId="3958463354" sldId="539"/>
            <ac:spMk id="19" creationId="{1A49C273-2899-DD58-DCA0-D73ACDC7FBD0}"/>
          </ac:spMkLst>
        </pc:spChg>
        <pc:spChg chg="add mod">
          <ac:chgData name="Fisher Yang" userId="8e274039aba4e351" providerId="LiveId" clId="{40100013-AE2A-0A4A-B7EA-A5C4EAF33990}" dt="2023-08-22T03:27:45.315" v="1175" actId="1076"/>
          <ac:spMkLst>
            <pc:docMk/>
            <pc:sldMk cId="3958463354" sldId="539"/>
            <ac:spMk id="20" creationId="{B11EAABC-A9C5-723A-A262-0B33F7C854A7}"/>
          </ac:spMkLst>
        </pc:spChg>
        <pc:grpChg chg="mod">
          <ac:chgData name="Fisher Yang" userId="8e274039aba4e351" providerId="LiveId" clId="{40100013-AE2A-0A4A-B7EA-A5C4EAF33990}" dt="2023-08-22T03:27:45.315" v="1175" actId="1076"/>
          <ac:grpSpMkLst>
            <pc:docMk/>
            <pc:sldMk cId="3958463354" sldId="539"/>
            <ac:grpSpMk id="5" creationId="{095A7529-9F32-E4C4-CEA5-28ABA414DFCE}"/>
          </ac:grpSpMkLst>
        </pc:grpChg>
        <pc:graphicFrameChg chg="add del mod modGraphic">
          <ac:chgData name="Fisher Yang" userId="8e274039aba4e351" providerId="LiveId" clId="{40100013-AE2A-0A4A-B7EA-A5C4EAF33990}" dt="2023-08-21T09:32:19.346" v="445" actId="18245"/>
          <ac:graphicFrameMkLst>
            <pc:docMk/>
            <pc:sldMk cId="3958463354" sldId="539"/>
            <ac:graphicFrameMk id="4" creationId="{D72C709D-8790-FFE4-07A3-266C0EE2931C}"/>
          </ac:graphicFrameMkLst>
        </pc:graphicFrameChg>
        <pc:graphicFrameChg chg="del">
          <ac:chgData name="Fisher Yang" userId="8e274039aba4e351" providerId="LiveId" clId="{40100013-AE2A-0A4A-B7EA-A5C4EAF33990}" dt="2023-08-21T09:31:13.857" v="440" actId="478"/>
          <ac:graphicFrameMkLst>
            <pc:docMk/>
            <pc:sldMk cId="3958463354" sldId="539"/>
            <ac:graphicFrameMk id="8" creationId="{3F81328D-3857-AE56-712B-B40F69B82510}"/>
          </ac:graphicFrameMkLst>
        </pc:graphicFrameChg>
      </pc:sldChg>
      <pc:sldChg chg="new del">
        <pc:chgData name="Fisher Yang" userId="8e274039aba4e351" providerId="LiveId" clId="{40100013-AE2A-0A4A-B7EA-A5C4EAF33990}" dt="2023-08-22T04:20:32.711" v="1402" actId="2696"/>
        <pc:sldMkLst>
          <pc:docMk/>
          <pc:sldMk cId="3535220039" sldId="54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1" y="0"/>
            <a:ext cx="4276343" cy="302940"/>
          </a:xfrm>
          <a:prstGeom prst="rect">
            <a:avLst/>
          </a:prstGeom>
          <a:noFill/>
          <a:ln w="9525">
            <a:noFill/>
            <a:miter lim="800000"/>
          </a:ln>
          <a:effectLst/>
        </p:spPr>
        <p:txBody>
          <a:bodyPr vert="horz" wrap="square" lIns="90075" tIns="45038" rIns="90075" bIns="45038" numCol="1" anchor="t" anchorCtr="0" compatLnSpc="1"/>
          <a:lstStyle>
            <a:lvl1pPr defTabSz="901700">
              <a:defRPr kumimoji="1" sz="1200"/>
            </a:lvl1pPr>
          </a:lstStyle>
          <a:p>
            <a:endParaRPr lang="en-GB"/>
          </a:p>
        </p:txBody>
      </p:sp>
      <p:sp>
        <p:nvSpPr>
          <p:cNvPr id="129027" name="Rectangle 3"/>
          <p:cNvSpPr>
            <a:spLocks noGrp="1" noChangeArrowheads="1"/>
          </p:cNvSpPr>
          <p:nvPr>
            <p:ph type="dt" sz="quarter" idx="1"/>
          </p:nvPr>
        </p:nvSpPr>
        <p:spPr bwMode="auto">
          <a:xfrm>
            <a:off x="5650295" y="0"/>
            <a:ext cx="4276343" cy="302940"/>
          </a:xfrm>
          <a:prstGeom prst="rect">
            <a:avLst/>
          </a:prstGeom>
          <a:noFill/>
          <a:ln w="9525">
            <a:noFill/>
            <a:miter lim="800000"/>
          </a:ln>
          <a:effectLst/>
        </p:spPr>
        <p:txBody>
          <a:bodyPr vert="horz" wrap="square" lIns="90075" tIns="45038" rIns="90075" bIns="45038" numCol="1" anchor="t" anchorCtr="0" compatLnSpc="1"/>
          <a:lstStyle>
            <a:lvl1pPr algn="r" defTabSz="901700">
              <a:defRPr kumimoji="1" sz="1200"/>
            </a:lvl1pPr>
          </a:lstStyle>
          <a:p>
            <a:endParaRPr lang="en-GB"/>
          </a:p>
        </p:txBody>
      </p:sp>
      <p:sp>
        <p:nvSpPr>
          <p:cNvPr id="129028" name="Rectangle 4"/>
          <p:cNvSpPr>
            <a:spLocks noGrp="1" noChangeArrowheads="1"/>
          </p:cNvSpPr>
          <p:nvPr>
            <p:ph type="ftr" sz="quarter" idx="2"/>
          </p:nvPr>
        </p:nvSpPr>
        <p:spPr bwMode="auto">
          <a:xfrm>
            <a:off x="1" y="6479959"/>
            <a:ext cx="4276343" cy="302939"/>
          </a:xfrm>
          <a:prstGeom prst="rect">
            <a:avLst/>
          </a:prstGeom>
          <a:noFill/>
          <a:ln w="9525">
            <a:noFill/>
            <a:miter lim="800000"/>
          </a:ln>
          <a:effectLst/>
        </p:spPr>
        <p:txBody>
          <a:bodyPr vert="horz" wrap="square" lIns="90075" tIns="45038" rIns="90075" bIns="45038" numCol="1" anchor="b" anchorCtr="0" compatLnSpc="1"/>
          <a:lstStyle>
            <a:lvl1pPr defTabSz="901700">
              <a:defRPr kumimoji="1" sz="1200"/>
            </a:lvl1pPr>
          </a:lstStyle>
          <a:p>
            <a:endParaRPr lang="en-GB"/>
          </a:p>
        </p:txBody>
      </p:sp>
      <p:sp>
        <p:nvSpPr>
          <p:cNvPr id="129029" name="Rectangle 5"/>
          <p:cNvSpPr>
            <a:spLocks noGrp="1" noChangeArrowheads="1"/>
          </p:cNvSpPr>
          <p:nvPr>
            <p:ph type="sldNum" sz="quarter" idx="3"/>
          </p:nvPr>
        </p:nvSpPr>
        <p:spPr bwMode="auto">
          <a:xfrm>
            <a:off x="5650295" y="6479959"/>
            <a:ext cx="4276343" cy="302939"/>
          </a:xfrm>
          <a:prstGeom prst="rect">
            <a:avLst/>
          </a:prstGeom>
          <a:noFill/>
          <a:ln w="9525">
            <a:noFill/>
            <a:miter lim="800000"/>
          </a:ln>
          <a:effectLst/>
        </p:spPr>
        <p:txBody>
          <a:bodyPr vert="horz" wrap="square" lIns="90075" tIns="45038" rIns="90075" bIns="45038" numCol="1" anchor="b" anchorCtr="0" compatLnSpc="1"/>
          <a:lstStyle>
            <a:lvl1pPr algn="r" defTabSz="901700">
              <a:defRPr kumimoji="1" sz="1200"/>
            </a:lvl1pPr>
          </a:lstStyle>
          <a:p>
            <a:fld id="{F84D5316-9B70-44AE-9BCD-0DF6BC82863A}" type="slidenum">
              <a:rPr lang="en-GB"/>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300996" cy="339884"/>
          </a:xfrm>
          <a:prstGeom prst="rect">
            <a:avLst/>
          </a:prstGeom>
          <a:noFill/>
          <a:ln w="9525">
            <a:noFill/>
            <a:miter lim="800000"/>
          </a:ln>
          <a:effectLst/>
        </p:spPr>
        <p:txBody>
          <a:bodyPr vert="horz" wrap="square" lIns="90075" tIns="45038" rIns="90075" bIns="45038" numCol="1" anchor="t" anchorCtr="0" compatLnSpc="1"/>
          <a:lstStyle>
            <a:lvl1pPr defTabSz="901700">
              <a:defRPr sz="1200" b="0">
                <a:solidFill>
                  <a:schemeClr val="tx1"/>
                </a:solidFill>
              </a:defRPr>
            </a:lvl1pPr>
          </a:lstStyle>
          <a:p>
            <a:endParaRPr lang="de-DE" altLang="de-DE"/>
          </a:p>
        </p:txBody>
      </p:sp>
      <p:sp>
        <p:nvSpPr>
          <p:cNvPr id="6147" name="Rectangle 3"/>
          <p:cNvSpPr>
            <a:spLocks noGrp="1" noChangeArrowheads="1"/>
          </p:cNvSpPr>
          <p:nvPr>
            <p:ph type="dt" idx="1"/>
          </p:nvPr>
        </p:nvSpPr>
        <p:spPr bwMode="auto">
          <a:xfrm>
            <a:off x="5625644" y="0"/>
            <a:ext cx="4300995" cy="339884"/>
          </a:xfrm>
          <a:prstGeom prst="rect">
            <a:avLst/>
          </a:prstGeom>
          <a:noFill/>
          <a:ln w="9525">
            <a:noFill/>
            <a:miter lim="800000"/>
          </a:ln>
          <a:effectLst/>
        </p:spPr>
        <p:txBody>
          <a:bodyPr vert="horz" wrap="square" lIns="90075" tIns="45038" rIns="90075" bIns="45038" numCol="1" anchor="t" anchorCtr="0" compatLnSpc="1"/>
          <a:lstStyle>
            <a:lvl1pPr algn="r" defTabSz="901700">
              <a:defRPr sz="1200" b="0">
                <a:solidFill>
                  <a:schemeClr val="tx1"/>
                </a:solidFill>
              </a:defRPr>
            </a:lvl1pPr>
          </a:lstStyle>
          <a:p>
            <a:endParaRPr lang="de-DE" altLang="de-DE"/>
          </a:p>
        </p:txBody>
      </p:sp>
      <p:sp>
        <p:nvSpPr>
          <p:cNvPr id="6148" name="Rectangle 4"/>
          <p:cNvSpPr>
            <a:spLocks noGrp="1" noRot="1" noChangeAspect="1" noChangeArrowheads="1" noTextEdit="1"/>
          </p:cNvSpPr>
          <p:nvPr>
            <p:ph type="sldImg" idx="2"/>
          </p:nvPr>
        </p:nvSpPr>
        <p:spPr bwMode="auto">
          <a:xfrm>
            <a:off x="3122613" y="509588"/>
            <a:ext cx="3681412" cy="2547937"/>
          </a:xfrm>
          <a:prstGeom prst="rect">
            <a:avLst/>
          </a:prstGeom>
          <a:noFill/>
          <a:ln w="9525">
            <a:solidFill>
              <a:srgbClr val="000000"/>
            </a:solidFill>
            <a:miter lim="800000"/>
          </a:ln>
          <a:effectLst/>
        </p:spPr>
      </p:sp>
      <p:sp>
        <p:nvSpPr>
          <p:cNvPr id="6149" name="Rectangle 5"/>
          <p:cNvSpPr>
            <a:spLocks noGrp="1" noChangeArrowheads="1"/>
          </p:cNvSpPr>
          <p:nvPr>
            <p:ph type="body" sz="quarter" idx="3"/>
          </p:nvPr>
        </p:nvSpPr>
        <p:spPr bwMode="auto">
          <a:xfrm>
            <a:off x="1323005" y="3228896"/>
            <a:ext cx="7280630" cy="3058954"/>
          </a:xfrm>
          <a:prstGeom prst="rect">
            <a:avLst/>
          </a:prstGeom>
          <a:noFill/>
          <a:ln w="9525">
            <a:noFill/>
            <a:miter lim="800000"/>
          </a:ln>
          <a:effectLst/>
        </p:spPr>
        <p:txBody>
          <a:bodyPr vert="horz" wrap="square" lIns="90075" tIns="45038" rIns="90075" bIns="45038"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6150" name="Rectangle 6"/>
          <p:cNvSpPr>
            <a:spLocks noGrp="1" noChangeArrowheads="1"/>
          </p:cNvSpPr>
          <p:nvPr>
            <p:ph type="ftr" sz="quarter" idx="4"/>
          </p:nvPr>
        </p:nvSpPr>
        <p:spPr bwMode="auto">
          <a:xfrm>
            <a:off x="0" y="6457792"/>
            <a:ext cx="4300996" cy="339884"/>
          </a:xfrm>
          <a:prstGeom prst="rect">
            <a:avLst/>
          </a:prstGeom>
          <a:noFill/>
          <a:ln w="9525">
            <a:noFill/>
            <a:miter lim="800000"/>
          </a:ln>
          <a:effectLst/>
        </p:spPr>
        <p:txBody>
          <a:bodyPr vert="horz" wrap="square" lIns="90075" tIns="45038" rIns="90075" bIns="45038" numCol="1" anchor="b" anchorCtr="0" compatLnSpc="1"/>
          <a:lstStyle>
            <a:lvl1pPr defTabSz="901700">
              <a:defRPr sz="1200" b="0">
                <a:solidFill>
                  <a:schemeClr val="tx1"/>
                </a:solidFill>
              </a:defRPr>
            </a:lvl1pPr>
          </a:lstStyle>
          <a:p>
            <a:endParaRPr lang="de-DE" altLang="de-DE"/>
          </a:p>
        </p:txBody>
      </p:sp>
      <p:sp>
        <p:nvSpPr>
          <p:cNvPr id="6151" name="Rectangle 7"/>
          <p:cNvSpPr>
            <a:spLocks noGrp="1" noChangeArrowheads="1"/>
          </p:cNvSpPr>
          <p:nvPr>
            <p:ph type="sldNum" sz="quarter" idx="5"/>
          </p:nvPr>
        </p:nvSpPr>
        <p:spPr bwMode="auto">
          <a:xfrm>
            <a:off x="5625644" y="6457792"/>
            <a:ext cx="4300995" cy="339884"/>
          </a:xfrm>
          <a:prstGeom prst="rect">
            <a:avLst/>
          </a:prstGeom>
          <a:noFill/>
          <a:ln w="9525">
            <a:noFill/>
            <a:miter lim="800000"/>
          </a:ln>
          <a:effectLst/>
        </p:spPr>
        <p:txBody>
          <a:bodyPr vert="horz" wrap="square" lIns="90075" tIns="45038" rIns="90075" bIns="45038" numCol="1" anchor="b" anchorCtr="0" compatLnSpc="1"/>
          <a:lstStyle>
            <a:lvl1pPr algn="r" defTabSz="901700">
              <a:defRPr sz="1200" b="0">
                <a:solidFill>
                  <a:schemeClr val="tx1"/>
                </a:solidFill>
              </a:defRPr>
            </a:lvl1pPr>
          </a:lstStyle>
          <a:p>
            <a:fld id="{7720FCD6-BB5F-46B0-AB3B-EF2E06CDD11D}" type="slidenum">
              <a:rPr lang="de-DE" altLang="de-DE"/>
              <a:t>‹#›</a:t>
            </a:fld>
            <a:endParaRPr lang="de-DE" alt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720FCD6-BB5F-46B0-AB3B-EF2E06CDD11D}" type="slidenum">
              <a:rPr lang="de-DE" altLang="de-DE" smtClean="0"/>
              <a:t>4</a:t>
            </a:fld>
            <a:endParaRPr lang="de-DE" alt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统一称谓，公司金融客户经理</a:t>
            </a:r>
            <a:endParaRPr lang="en-US" altLang="zh-CN" dirty="0"/>
          </a:p>
          <a:p>
            <a:r>
              <a:rPr lang="en-US" altLang="zh-CN" dirty="0"/>
              <a:t>2\P17-25</a:t>
            </a:r>
            <a:r>
              <a:rPr lang="zh-CN" altLang="en-US" dirty="0"/>
              <a:t>页，将分阶段合并，初级</a:t>
            </a:r>
            <a:r>
              <a:rPr lang="en-US" altLang="zh-CN" dirty="0"/>
              <a:t>4,</a:t>
            </a:r>
            <a:r>
              <a:rPr lang="zh-CN" altLang="en-US" dirty="0"/>
              <a:t>中级</a:t>
            </a:r>
            <a:r>
              <a:rPr lang="en-US" altLang="zh-CN" dirty="0"/>
              <a:t>6,</a:t>
            </a:r>
            <a:r>
              <a:rPr lang="zh-CN" altLang="en-US" dirty="0"/>
              <a:t>高级</a:t>
            </a:r>
            <a:r>
              <a:rPr lang="en-US" altLang="zh-CN" dirty="0"/>
              <a:t>5,</a:t>
            </a:r>
            <a:r>
              <a:rPr lang="zh-CN" altLang="en-US" dirty="0"/>
              <a:t>资深</a:t>
            </a:r>
            <a:r>
              <a:rPr lang="en-US" altLang="zh-CN" dirty="0"/>
              <a:t>4</a:t>
            </a:r>
          </a:p>
          <a:p>
            <a:r>
              <a:rPr lang="en-US" altLang="zh-CN" dirty="0"/>
              <a:t>3\</a:t>
            </a:r>
            <a:r>
              <a:rPr lang="zh-CN" altLang="en-US" dirty="0"/>
              <a:t>明确课程安排中的任职资格中已经包含内容，将未包含的课程进行重新组合与合并</a:t>
            </a:r>
            <a:endParaRPr lang="en-US" altLang="zh-CN" dirty="0"/>
          </a:p>
          <a:p>
            <a:r>
              <a:rPr lang="en-US" altLang="zh-CN" dirty="0"/>
              <a:t>4\</a:t>
            </a:r>
            <a:r>
              <a:rPr lang="zh-CN" altLang="en-US" dirty="0"/>
              <a:t>扩大研讨交流的内容占比</a:t>
            </a:r>
            <a:endParaRPr lang="en-US" altLang="zh-CN" dirty="0"/>
          </a:p>
          <a:p>
            <a:r>
              <a:rPr lang="en-US" altLang="zh-CN" dirty="0"/>
              <a:t>5\</a:t>
            </a:r>
            <a:r>
              <a:rPr lang="zh-CN" altLang="en-US" dirty="0"/>
              <a:t>更关注可实施性，易于操作使用</a:t>
            </a:r>
            <a:endParaRPr lang="en-US" altLang="zh-CN" dirty="0"/>
          </a:p>
        </p:txBody>
      </p:sp>
      <p:sp>
        <p:nvSpPr>
          <p:cNvPr id="4" name="灯片编号占位符 3"/>
          <p:cNvSpPr>
            <a:spLocks noGrp="1"/>
          </p:cNvSpPr>
          <p:nvPr>
            <p:ph type="sldNum" sz="quarter" idx="10"/>
          </p:nvPr>
        </p:nvSpPr>
        <p:spPr/>
        <p:txBody>
          <a:bodyPr/>
          <a:lstStyle/>
          <a:p>
            <a:fld id="{7720FCD6-BB5F-46B0-AB3B-EF2E06CDD11D}" type="slidenum">
              <a:rPr lang="de-DE" altLang="de-DE" smtClean="0"/>
              <a:t>12</a:t>
            </a:fld>
            <a:endParaRPr lang="de-DE" alt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720FCD6-BB5F-46B0-AB3B-EF2E06CDD11D}" type="slidenum">
              <a:rPr lang="de-DE" altLang="de-DE" smtClean="0"/>
              <a:t>16</a:t>
            </a:fld>
            <a:endParaRPr lang="de-DE" alt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720FCD6-BB5F-46B0-AB3B-EF2E06CDD11D}" type="slidenum">
              <a:rPr lang="de-DE" altLang="de-DE" smtClean="0"/>
              <a:t>18</a:t>
            </a:fld>
            <a:endParaRPr lang="de-DE" alt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720FCD6-BB5F-46B0-AB3B-EF2E06CDD11D}" type="slidenum">
              <a:rPr lang="de-DE" altLang="de-DE" smtClean="0"/>
              <a:t>20</a:t>
            </a:fld>
            <a:endParaRPr lang="de-DE" alt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51865" rtl="0" eaLnBrk="1" fontAlgn="auto" latinLnBrk="0" hangingPunct="1">
              <a:lnSpc>
                <a:spcPct val="100000"/>
              </a:lnSpc>
              <a:spcBef>
                <a:spcPts val="0"/>
              </a:spcBef>
              <a:spcAft>
                <a:spcPts val="0"/>
              </a:spcAft>
              <a:buClrTx/>
              <a:buSzTx/>
              <a:buFontTx/>
              <a:buNone/>
              <a:defRPr/>
            </a:pPr>
            <a:fld id="{A555B25F-535F-4C5D-B1DA-56F763568B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lvl1pPr>
              <a:defRPr/>
            </a:lvl1pPr>
          </a:lstStyle>
          <a:p>
            <a:fld id="{D4BD6580-F8FC-42FF-860C-8DEF8C782564}" type="slidenum">
              <a:rPr lang="en-GB"/>
              <a:t>‹#›</a:t>
            </a:fld>
            <a:endParaRPr lang="en-GB"/>
          </a:p>
        </p:txBody>
      </p:sp>
      <p:sp>
        <p:nvSpPr>
          <p:cNvPr id="6" name="Rectangle 103"/>
          <p:cNvSpPr>
            <a:spLocks noGrp="1" noChangeArrowheads="1"/>
          </p:cNvSpPr>
          <p:nvPr>
            <p:ph idx="1" hasCustomPrompt="1"/>
          </p:nvPr>
        </p:nvSpPr>
        <p:spPr bwMode="auto">
          <a:xfrm>
            <a:off x="735013" y="1930400"/>
            <a:ext cx="8543925" cy="2846388"/>
          </a:xfrm>
          <a:prstGeom prst="rect">
            <a:avLst/>
          </a:prstGeom>
          <a:noFill/>
          <a:ln w="6350">
            <a:noFill/>
            <a:miter lim="800000"/>
          </a:ln>
          <a:effectLst/>
        </p:spPr>
        <p:txBody>
          <a:bodyPr vert="horz" wrap="square" lIns="0" tIns="0" rIns="0" bIns="0" numCol="1" anchor="t" anchorCtr="0" compatLnSpc="1">
            <a:spAutoFit/>
          </a:bodyPr>
          <a:lstStyle/>
          <a:p>
            <a:pPr lvl="0"/>
            <a:r>
              <a:rPr lang="de-DE" altLang="de-DE"/>
              <a:t>Klicken Sie, um die Textformatierung des Masters zu bearbeiten.</a:t>
            </a:r>
          </a:p>
          <a:p>
            <a:pPr lvl="1"/>
            <a:r>
              <a:rPr lang="de-DE" altLang="de-DE"/>
              <a:t>Ebene 1</a:t>
            </a:r>
          </a:p>
          <a:p>
            <a:pPr lvl="2"/>
            <a:r>
              <a:rPr lang="de-DE" altLang="de-DE"/>
              <a:t>Ebene 2</a:t>
            </a:r>
          </a:p>
          <a:p>
            <a:pPr lvl="3"/>
            <a:r>
              <a:rPr lang="de-DE" altLang="de-DE"/>
              <a:t>Ebene 3</a:t>
            </a:r>
          </a:p>
          <a:p>
            <a:pPr lvl="3"/>
            <a:r>
              <a:rPr lang="de-DE" altLang="de-DE"/>
              <a:t>Ebene 3</a:t>
            </a:r>
          </a:p>
          <a:p>
            <a:pPr lvl="3"/>
            <a:r>
              <a:rPr lang="de-DE" altLang="de-DE"/>
              <a:t>Ebene 3</a:t>
            </a:r>
          </a:p>
          <a:p>
            <a:pPr lvl="1"/>
            <a:r>
              <a:rPr lang="de-DE" altLang="de-DE"/>
              <a:t>Ebene 1</a:t>
            </a:r>
          </a:p>
          <a:p>
            <a:pPr lvl="2"/>
            <a:r>
              <a:rPr lang="de-DE" altLang="de-DE"/>
              <a:t>Ebene 2</a:t>
            </a:r>
          </a:p>
          <a:p>
            <a:pPr lvl="2"/>
            <a:r>
              <a:rPr lang="de-DE" altLang="de-DE"/>
              <a:t>Ebene 2</a:t>
            </a:r>
          </a:p>
          <a:p>
            <a:pPr lvl="1"/>
            <a:r>
              <a:rPr lang="de-DE" altLang="de-DE"/>
              <a:t>Ebene 1</a:t>
            </a:r>
          </a:p>
          <a:p>
            <a:pPr lvl="3"/>
            <a:endParaRPr lang="de-DE" alt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2_空白">
    <p:spTree>
      <p:nvGrpSpPr>
        <p:cNvPr id="1" name=""/>
        <p:cNvGrpSpPr/>
        <p:nvPr/>
      </p:nvGrpSpPr>
      <p:grpSpPr>
        <a:xfrm>
          <a:off x="0" y="0"/>
          <a:ext cx="0" cy="0"/>
          <a:chOff x="0" y="0"/>
          <a:chExt cx="0" cy="0"/>
        </a:xfrm>
      </p:grpSpPr>
      <p:sp>
        <p:nvSpPr>
          <p:cNvPr id="2" name="Rectangle 360"/>
          <p:cNvSpPr>
            <a:spLocks noGrp="1" noChangeArrowheads="1"/>
          </p:cNvSpPr>
          <p:nvPr>
            <p:ph type="sldNum" sz="quarter" idx="10"/>
          </p:nvPr>
        </p:nvSpPr>
        <p:spPr>
          <a:xfrm>
            <a:off x="9488490" y="6681792"/>
            <a:ext cx="153987" cy="128587"/>
          </a:xfrm>
          <a:prstGeom prst="rect">
            <a:avLst/>
          </a:prstGeom>
        </p:spPr>
        <p:txBody>
          <a:bodyPr/>
          <a:lstStyle>
            <a:lvl1pPr>
              <a:defRPr/>
            </a:lvl1pPr>
          </a:lstStyle>
          <a:p>
            <a:pPr>
              <a:defRPr/>
            </a:pPr>
            <a:fld id="{E12325B5-FEAD-4FF7-889F-BE918B0BF804}"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1" y="2130428"/>
            <a:ext cx="8420100" cy="1470025"/>
          </a:xfrm>
        </p:spPr>
        <p:txBody>
          <a:bodyPr/>
          <a:lstStyle/>
          <a:p>
            <a:r>
              <a:rPr lang="zh-CN" altLang="en-US"/>
              <a:t>单击此处编辑母版标题样式</a:t>
            </a:r>
          </a:p>
        </p:txBody>
      </p:sp>
      <p:sp>
        <p:nvSpPr>
          <p:cNvPr id="3" name="副标题 2"/>
          <p:cNvSpPr>
            <a:spLocks noGrp="1"/>
          </p:cNvSpPr>
          <p:nvPr>
            <p:ph type="subTitle" idx="1"/>
          </p:nvPr>
        </p:nvSpPr>
        <p:spPr>
          <a:xfrm>
            <a:off x="1485902" y="3886200"/>
            <a:ext cx="6934200" cy="261610"/>
          </a:xfrm>
        </p:spPr>
        <p:txBody>
          <a:bodyPr/>
          <a:lstStyle>
            <a:lvl1pPr marL="0" indent="0" algn="ctr">
              <a:buNone/>
              <a:defRPr>
                <a:solidFill>
                  <a:schemeClr val="tx1">
                    <a:tint val="75000"/>
                  </a:schemeClr>
                </a:solidFill>
              </a:defRPr>
            </a:lvl1pPr>
            <a:lvl2pPr marL="386390" indent="0" algn="ctr">
              <a:buNone/>
              <a:defRPr>
                <a:solidFill>
                  <a:schemeClr val="tx1">
                    <a:tint val="75000"/>
                  </a:schemeClr>
                </a:solidFill>
              </a:defRPr>
            </a:lvl2pPr>
            <a:lvl3pPr marL="773295" indent="0" algn="ctr">
              <a:buNone/>
              <a:defRPr>
                <a:solidFill>
                  <a:schemeClr val="tx1">
                    <a:tint val="75000"/>
                  </a:schemeClr>
                </a:solidFill>
              </a:defRPr>
            </a:lvl3pPr>
            <a:lvl4pPr marL="1159685" indent="0" algn="ctr">
              <a:buNone/>
              <a:defRPr>
                <a:solidFill>
                  <a:schemeClr val="tx1">
                    <a:tint val="75000"/>
                  </a:schemeClr>
                </a:solidFill>
              </a:defRPr>
            </a:lvl4pPr>
            <a:lvl5pPr marL="1546074" indent="0" algn="ctr">
              <a:buNone/>
              <a:defRPr>
                <a:solidFill>
                  <a:schemeClr val="tx1">
                    <a:tint val="75000"/>
                  </a:schemeClr>
                </a:solidFill>
              </a:defRPr>
            </a:lvl5pPr>
            <a:lvl6pPr marL="1932464" indent="0" algn="ctr">
              <a:buNone/>
              <a:defRPr>
                <a:solidFill>
                  <a:schemeClr val="tx1">
                    <a:tint val="75000"/>
                  </a:schemeClr>
                </a:solidFill>
              </a:defRPr>
            </a:lvl6pPr>
            <a:lvl7pPr marL="2319370" indent="0" algn="ctr">
              <a:buNone/>
              <a:defRPr>
                <a:solidFill>
                  <a:schemeClr val="tx1">
                    <a:tint val="75000"/>
                  </a:schemeClr>
                </a:solidFill>
              </a:defRPr>
            </a:lvl7pPr>
            <a:lvl8pPr marL="2705759" indent="0" algn="ctr">
              <a:buNone/>
              <a:defRPr>
                <a:solidFill>
                  <a:schemeClr val="tx1">
                    <a:tint val="75000"/>
                  </a:schemeClr>
                </a:solidFill>
              </a:defRPr>
            </a:lvl8pPr>
            <a:lvl9pPr marL="3092149"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FDCD2F4-581C-6740-BF14-58EC724116A2}" type="datetime1">
              <a:rPr lang="zh-CN" altLang="en-US" smtClean="0"/>
              <a:t>2023/8/21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D4E539-7ADC-4EAE-B951-4D0795672BAE}" type="slidenum">
              <a:rPr lang="zh-CN" altLang="en-US" smtClean="0"/>
              <a:t>‹#›</a:t>
            </a:fld>
            <a:endParaRPr lang="zh-CN" altLang="en-US"/>
          </a:p>
        </p:txBody>
      </p:sp>
    </p:spTree>
    <p:extLst>
      <p:ext uri="{BB962C8B-B14F-4D97-AF65-F5344CB8AC3E}">
        <p14:creationId xmlns:p14="http://schemas.microsoft.com/office/powerpoint/2010/main" val="2603874641"/>
      </p:ext>
    </p:extLst>
  </p:cSld>
  <p:clrMapOvr>
    <a:masterClrMapping/>
  </p:clrMapOvr>
  <mc:AlternateContent xmlns:mc="http://schemas.openxmlformats.org/markup-compatibility/2006" xmlns:p14="http://schemas.microsoft.com/office/powerpoint/2010/main">
    <mc:Choice Requires="p14">
      <p:transition spd="slow" p14:dur="2000" advClick="0">
        <p14:vortex dir="r"/>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408" name="Rectangle 360"/>
          <p:cNvSpPr>
            <a:spLocks noGrp="1" noChangeArrowheads="1"/>
          </p:cNvSpPr>
          <p:nvPr>
            <p:ph type="sldNum" sz="quarter" idx="4"/>
          </p:nvPr>
        </p:nvSpPr>
        <p:spPr bwMode="auto">
          <a:xfrm>
            <a:off x="9386888" y="6716713"/>
            <a:ext cx="153987" cy="128587"/>
          </a:xfrm>
          <a:prstGeom prst="rect">
            <a:avLst/>
          </a:prstGeom>
          <a:noFill/>
          <a:ln w="9525">
            <a:noFill/>
            <a:miter lim="800000"/>
          </a:ln>
          <a:effectLst/>
        </p:spPr>
        <p:txBody>
          <a:bodyPr vert="horz" wrap="square" lIns="0" tIns="0" rIns="0" bIns="0" numCol="1" anchor="t" anchorCtr="0" compatLnSpc="1"/>
          <a:lstStyle>
            <a:lvl1pPr>
              <a:defRPr kumimoji="1" sz="900"/>
            </a:lvl1pPr>
          </a:lstStyle>
          <a:p>
            <a:fld id="{3BE1A057-B349-4F59-99FC-44E037FAAF81}" type="slidenum">
              <a:rPr lang="en-GB"/>
              <a:t>‹#›</a:t>
            </a:fld>
            <a:endParaRPr lang="en-GB"/>
          </a:p>
        </p:txBody>
      </p:sp>
      <p:sp>
        <p:nvSpPr>
          <p:cNvPr id="2149" name="Rectangle 101"/>
          <p:cNvSpPr>
            <a:spLocks noGrp="1" noChangeArrowheads="1"/>
          </p:cNvSpPr>
          <p:nvPr>
            <p:ph type="title"/>
          </p:nvPr>
        </p:nvSpPr>
        <p:spPr bwMode="auto">
          <a:xfrm>
            <a:off x="735013" y="1008063"/>
            <a:ext cx="8559800" cy="660400"/>
          </a:xfrm>
          <a:prstGeom prst="rect">
            <a:avLst/>
          </a:prstGeom>
          <a:noFill/>
          <a:ln w="9525">
            <a:noFill/>
            <a:miter lim="800000"/>
          </a:ln>
          <a:effectLst/>
        </p:spPr>
        <p:txBody>
          <a:bodyPr vert="horz" wrap="square" lIns="0" tIns="0" rIns="0" bIns="0" numCol="1" anchor="t" anchorCtr="0" compatLnSpc="1"/>
          <a:lstStyle/>
          <a:p>
            <a:pPr lvl="0"/>
            <a:r>
              <a:rPr lang="de-DE" altLang="de-DE" dirty="0"/>
              <a:t>Klicken Sie, um das Format des Titel-Masters zu bearbeiten.</a:t>
            </a:r>
          </a:p>
        </p:txBody>
      </p:sp>
      <p:sp>
        <p:nvSpPr>
          <p:cNvPr id="2151" name="Rectangle 103"/>
          <p:cNvSpPr>
            <a:spLocks noGrp="1" noChangeArrowheads="1"/>
          </p:cNvSpPr>
          <p:nvPr>
            <p:ph type="body" idx="1"/>
          </p:nvPr>
        </p:nvSpPr>
        <p:spPr bwMode="auto">
          <a:xfrm>
            <a:off x="735013" y="1930400"/>
            <a:ext cx="8543925" cy="2846388"/>
          </a:xfrm>
          <a:prstGeom prst="rect">
            <a:avLst/>
          </a:prstGeom>
          <a:noFill/>
          <a:ln w="6350">
            <a:noFill/>
            <a:miter lim="800000"/>
          </a:ln>
          <a:effectLst/>
        </p:spPr>
        <p:txBody>
          <a:bodyPr vert="horz" wrap="square" lIns="0" tIns="0" rIns="0" bIns="0" numCol="1" anchor="t" anchorCtr="0" compatLnSpc="1">
            <a:spAutoFit/>
          </a:bodyPr>
          <a:lstStyle/>
          <a:p>
            <a:pPr lvl="0"/>
            <a:r>
              <a:rPr lang="de-DE" altLang="de-DE"/>
              <a:t>Klicken Sie, um die Textformatierung des Masters zu bearbeiten.</a:t>
            </a:r>
          </a:p>
          <a:p>
            <a:pPr lvl="1"/>
            <a:r>
              <a:rPr lang="de-DE" altLang="de-DE"/>
              <a:t>Ebene 1</a:t>
            </a:r>
          </a:p>
          <a:p>
            <a:pPr lvl="2"/>
            <a:r>
              <a:rPr lang="de-DE" altLang="de-DE"/>
              <a:t>Ebene 2</a:t>
            </a:r>
          </a:p>
          <a:p>
            <a:pPr lvl="3"/>
            <a:r>
              <a:rPr lang="de-DE" altLang="de-DE"/>
              <a:t>Ebene 3</a:t>
            </a:r>
          </a:p>
          <a:p>
            <a:pPr lvl="3"/>
            <a:r>
              <a:rPr lang="de-DE" altLang="de-DE"/>
              <a:t>Ebene 3</a:t>
            </a:r>
          </a:p>
          <a:p>
            <a:pPr lvl="3"/>
            <a:r>
              <a:rPr lang="de-DE" altLang="de-DE"/>
              <a:t>Ebene 3</a:t>
            </a:r>
          </a:p>
          <a:p>
            <a:pPr lvl="1"/>
            <a:r>
              <a:rPr lang="de-DE" altLang="de-DE"/>
              <a:t>Ebene 1</a:t>
            </a:r>
          </a:p>
          <a:p>
            <a:pPr lvl="2"/>
            <a:r>
              <a:rPr lang="de-DE" altLang="de-DE"/>
              <a:t>Ebene 2</a:t>
            </a:r>
          </a:p>
          <a:p>
            <a:pPr lvl="2"/>
            <a:r>
              <a:rPr lang="de-DE" altLang="de-DE"/>
              <a:t>Ebene 2</a:t>
            </a:r>
          </a:p>
          <a:p>
            <a:pPr lvl="1"/>
            <a:r>
              <a:rPr lang="de-DE" altLang="de-DE"/>
              <a:t>Ebene 1</a:t>
            </a:r>
          </a:p>
          <a:p>
            <a:pPr lvl="3"/>
            <a:endParaRPr lang="de-DE" altLang="de-DE"/>
          </a:p>
        </p:txBody>
      </p:sp>
      <p:sp>
        <p:nvSpPr>
          <p:cNvPr id="2327" name="Line 279"/>
          <p:cNvSpPr>
            <a:spLocks noChangeShapeType="1"/>
          </p:cNvSpPr>
          <p:nvPr/>
        </p:nvSpPr>
        <p:spPr bwMode="auto">
          <a:xfrm>
            <a:off x="9293225" y="-6350"/>
            <a:ext cx="0" cy="7073900"/>
          </a:xfrm>
          <a:prstGeom prst="line">
            <a:avLst/>
          </a:prstGeom>
          <a:noFill/>
          <a:ln w="19050">
            <a:noFill/>
            <a:prstDash val="sysDot"/>
            <a:round/>
          </a:ln>
          <a:effectLst/>
        </p:spPr>
        <p:txBody>
          <a:bodyPr wrap="none" anchor="ctr"/>
          <a:lstStyle/>
          <a:p>
            <a:endParaRPr lang="zh-CN" altLang="en-US"/>
          </a:p>
        </p:txBody>
      </p:sp>
      <p:sp>
        <p:nvSpPr>
          <p:cNvPr id="2185" name="Line 137"/>
          <p:cNvSpPr>
            <a:spLocks noChangeShapeType="1"/>
          </p:cNvSpPr>
          <p:nvPr/>
        </p:nvSpPr>
        <p:spPr bwMode="auto">
          <a:xfrm>
            <a:off x="0" y="762000"/>
            <a:ext cx="9906000" cy="0"/>
          </a:xfrm>
          <a:prstGeom prst="line">
            <a:avLst/>
          </a:prstGeom>
          <a:noFill/>
          <a:ln w="9525">
            <a:solidFill>
              <a:srgbClr val="172F37"/>
            </a:solidFill>
            <a:round/>
          </a:ln>
          <a:effectLst/>
        </p:spPr>
        <p:txBody>
          <a:bodyPr wrap="none" lIns="0" tIns="0" rIns="0" bIns="0" anchor="ctr"/>
          <a:lstStyle/>
          <a:p>
            <a:endParaRPr lang="zh-CN" altLang="en-US"/>
          </a:p>
        </p:txBody>
      </p:sp>
      <p:sp>
        <p:nvSpPr>
          <p:cNvPr id="2398" name="Line 350"/>
          <p:cNvSpPr>
            <a:spLocks noChangeShapeType="1"/>
          </p:cNvSpPr>
          <p:nvPr userDrawn="1"/>
        </p:nvSpPr>
        <p:spPr bwMode="auto">
          <a:xfrm>
            <a:off x="9269413" y="6734175"/>
            <a:ext cx="0" cy="123825"/>
          </a:xfrm>
          <a:prstGeom prst="line">
            <a:avLst/>
          </a:prstGeom>
          <a:noFill/>
          <a:ln w="9525">
            <a:solidFill>
              <a:srgbClr val="172F37"/>
            </a:solidFill>
            <a:round/>
          </a:ln>
          <a:effectLst/>
        </p:spPr>
        <p:txBody>
          <a:bodyPr wrap="none" lIns="0" tIns="0" rIns="0" bIns="0" anchor="ctr">
            <a:spAutoFit/>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p:titleStyle>
    <p:bodyStyle>
      <a:lvl1pPr algn="l" defTabSz="330200" rtl="0" eaLnBrk="0" fontAlgn="base" hangingPunct="0">
        <a:spcBef>
          <a:spcPct val="0"/>
        </a:spcBef>
        <a:spcAft>
          <a:spcPct val="0"/>
        </a:spcAft>
        <a:defRPr kumimoji="1" sz="1700" b="1">
          <a:solidFill>
            <a:srgbClr val="000000"/>
          </a:solidFill>
          <a:latin typeface="+mn-lt"/>
          <a:ea typeface="+mn-ea"/>
          <a:cs typeface="+mn-cs"/>
        </a:defRPr>
      </a:lvl1pPr>
      <a:lvl2pPr marL="392430" indent="-390525" algn="l" defTabSz="330200" rtl="0" eaLnBrk="0" fontAlgn="base" hangingPunct="0">
        <a:spcBef>
          <a:spcPct val="0"/>
        </a:spcBef>
        <a:spcAft>
          <a:spcPct val="0"/>
        </a:spcAft>
        <a:buChar char="•"/>
        <a:defRPr kumimoji="1" sz="1700">
          <a:solidFill>
            <a:srgbClr val="000000"/>
          </a:solidFill>
          <a:latin typeface="+mn-lt"/>
          <a:ea typeface="+mn-ea"/>
        </a:defRPr>
      </a:lvl2pPr>
      <a:lvl3pPr marL="835025" indent="-441325" algn="l" defTabSz="330200" rtl="0" eaLnBrk="0" fontAlgn="base" hangingPunct="0">
        <a:spcBef>
          <a:spcPct val="0"/>
        </a:spcBef>
        <a:spcAft>
          <a:spcPct val="0"/>
        </a:spcAft>
        <a:buChar char="–"/>
        <a:defRPr kumimoji="1" sz="1700">
          <a:solidFill>
            <a:srgbClr val="000000"/>
          </a:solidFill>
          <a:latin typeface="+mn-lt"/>
          <a:ea typeface="+mn-ea"/>
        </a:defRPr>
      </a:lvl3pPr>
      <a:lvl4pPr marL="1240155" indent="-403225" algn="l" defTabSz="330200" rtl="0" eaLnBrk="0" fontAlgn="base" hangingPunct="0">
        <a:spcBef>
          <a:spcPct val="0"/>
        </a:spcBef>
        <a:spcAft>
          <a:spcPct val="0"/>
        </a:spcAft>
        <a:buChar char="-"/>
        <a:defRPr kumimoji="1" sz="1700">
          <a:solidFill>
            <a:srgbClr val="000000"/>
          </a:solidFill>
          <a:latin typeface="+mn-lt"/>
          <a:ea typeface="+mn-ea"/>
        </a:defRPr>
      </a:lvl4pPr>
      <a:lvl5pPr marL="2624455" indent="5080" algn="ctr" defTabSz="330200" rtl="0" eaLnBrk="0" fontAlgn="base" hangingPunct="0">
        <a:lnSpc>
          <a:spcPts val="1600"/>
        </a:lnSpc>
        <a:spcBef>
          <a:spcPct val="0"/>
        </a:spcBef>
        <a:spcAft>
          <a:spcPct val="0"/>
        </a:spcAft>
        <a:defRPr kumimoji="1" sz="1400" b="1">
          <a:solidFill>
            <a:srgbClr val="000000"/>
          </a:solidFill>
          <a:latin typeface="+mn-lt"/>
          <a:ea typeface="+mn-ea"/>
        </a:defRPr>
      </a:lvl5pPr>
      <a:lvl6pPr marL="3081655" indent="5080" algn="ctr" defTabSz="330200" rtl="0" eaLnBrk="0" fontAlgn="base" hangingPunct="0">
        <a:lnSpc>
          <a:spcPts val="1600"/>
        </a:lnSpc>
        <a:spcBef>
          <a:spcPct val="0"/>
        </a:spcBef>
        <a:spcAft>
          <a:spcPct val="0"/>
        </a:spcAft>
        <a:defRPr kumimoji="1" sz="1400" b="1">
          <a:solidFill>
            <a:srgbClr val="000000"/>
          </a:solidFill>
          <a:latin typeface="+mn-lt"/>
          <a:ea typeface="+mn-ea"/>
        </a:defRPr>
      </a:lvl6pPr>
      <a:lvl7pPr marL="3538855" indent="5080" algn="ctr" defTabSz="330200" rtl="0" eaLnBrk="0" fontAlgn="base" hangingPunct="0">
        <a:lnSpc>
          <a:spcPts val="1600"/>
        </a:lnSpc>
        <a:spcBef>
          <a:spcPct val="0"/>
        </a:spcBef>
        <a:spcAft>
          <a:spcPct val="0"/>
        </a:spcAft>
        <a:defRPr kumimoji="1" sz="1400" b="1">
          <a:solidFill>
            <a:srgbClr val="000000"/>
          </a:solidFill>
          <a:latin typeface="+mn-lt"/>
          <a:ea typeface="+mn-ea"/>
        </a:defRPr>
      </a:lvl7pPr>
      <a:lvl8pPr marL="3996055" indent="5080" algn="ctr" defTabSz="330200" rtl="0" eaLnBrk="0" fontAlgn="base" hangingPunct="0">
        <a:lnSpc>
          <a:spcPts val="1600"/>
        </a:lnSpc>
        <a:spcBef>
          <a:spcPct val="0"/>
        </a:spcBef>
        <a:spcAft>
          <a:spcPct val="0"/>
        </a:spcAft>
        <a:defRPr kumimoji="1" sz="1400" b="1">
          <a:solidFill>
            <a:srgbClr val="000000"/>
          </a:solidFill>
          <a:latin typeface="+mn-lt"/>
          <a:ea typeface="+mn-ea"/>
        </a:defRPr>
      </a:lvl8pPr>
      <a:lvl9pPr marL="4453255" indent="5080" algn="ctr" defTabSz="330200" rtl="0" eaLnBrk="0" fontAlgn="base" hangingPunct="0">
        <a:lnSpc>
          <a:spcPts val="1600"/>
        </a:lnSpc>
        <a:spcBef>
          <a:spcPct val="0"/>
        </a:spcBef>
        <a:spcAft>
          <a:spcPct val="0"/>
        </a:spcAft>
        <a:defRPr kumimoji="1" sz="1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6" Type="http://schemas.openxmlformats.org/officeDocument/2006/relationships/tags" Target="../tags/tag27.xml"/><Relationship Id="rId21" Type="http://schemas.openxmlformats.org/officeDocument/2006/relationships/tags" Target="../tags/tag22.xml"/><Relationship Id="rId34" Type="http://schemas.openxmlformats.org/officeDocument/2006/relationships/tags" Target="../tags/tag35.xml"/><Relationship Id="rId42" Type="http://schemas.openxmlformats.org/officeDocument/2006/relationships/tags" Target="../tags/tag43.xml"/><Relationship Id="rId47" Type="http://schemas.openxmlformats.org/officeDocument/2006/relationships/tags" Target="../tags/tag48.xml"/><Relationship Id="rId50" Type="http://schemas.openxmlformats.org/officeDocument/2006/relationships/tags" Target="../tags/tag51.xml"/><Relationship Id="rId55" Type="http://schemas.openxmlformats.org/officeDocument/2006/relationships/tags" Target="../tags/tag56.xml"/><Relationship Id="rId63" Type="http://schemas.openxmlformats.org/officeDocument/2006/relationships/notesSlide" Target="../notesSlides/notesSlide3.xml"/><Relationship Id="rId7" Type="http://schemas.openxmlformats.org/officeDocument/2006/relationships/tags" Target="../tags/tag8.xml"/><Relationship Id="rId2" Type="http://schemas.openxmlformats.org/officeDocument/2006/relationships/tags" Target="../tags/tag3.xml"/><Relationship Id="rId16" Type="http://schemas.openxmlformats.org/officeDocument/2006/relationships/tags" Target="../tags/tag17.xml"/><Relationship Id="rId29" Type="http://schemas.openxmlformats.org/officeDocument/2006/relationships/tags" Target="../tags/tag30.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tags" Target="../tags/tag33.xml"/><Relationship Id="rId37" Type="http://schemas.openxmlformats.org/officeDocument/2006/relationships/tags" Target="../tags/tag38.xml"/><Relationship Id="rId40" Type="http://schemas.openxmlformats.org/officeDocument/2006/relationships/tags" Target="../tags/tag41.xml"/><Relationship Id="rId45" Type="http://schemas.openxmlformats.org/officeDocument/2006/relationships/tags" Target="../tags/tag46.xml"/><Relationship Id="rId53" Type="http://schemas.openxmlformats.org/officeDocument/2006/relationships/tags" Target="../tags/tag54.xml"/><Relationship Id="rId58" Type="http://schemas.openxmlformats.org/officeDocument/2006/relationships/tags" Target="../tags/tag59.xml"/><Relationship Id="rId5" Type="http://schemas.openxmlformats.org/officeDocument/2006/relationships/tags" Target="../tags/tag6.xml"/><Relationship Id="rId61" Type="http://schemas.openxmlformats.org/officeDocument/2006/relationships/tags" Target="../tags/tag62.xml"/><Relationship Id="rId19" Type="http://schemas.openxmlformats.org/officeDocument/2006/relationships/tags" Target="../tags/tag2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tags" Target="../tags/tag36.xml"/><Relationship Id="rId43" Type="http://schemas.openxmlformats.org/officeDocument/2006/relationships/tags" Target="../tags/tag44.xml"/><Relationship Id="rId48" Type="http://schemas.openxmlformats.org/officeDocument/2006/relationships/tags" Target="../tags/tag49.xml"/><Relationship Id="rId56" Type="http://schemas.openxmlformats.org/officeDocument/2006/relationships/tags" Target="../tags/tag57.xml"/><Relationship Id="rId64" Type="http://schemas.openxmlformats.org/officeDocument/2006/relationships/oleObject" Target="../embeddings/oleObject1.bin"/><Relationship Id="rId8" Type="http://schemas.openxmlformats.org/officeDocument/2006/relationships/tags" Target="../tags/tag9.xml"/><Relationship Id="rId51" Type="http://schemas.openxmlformats.org/officeDocument/2006/relationships/tags" Target="../tags/tag52.xml"/><Relationship Id="rId3" Type="http://schemas.openxmlformats.org/officeDocument/2006/relationships/tags" Target="../tags/tag4.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tags" Target="../tags/tag34.xml"/><Relationship Id="rId38" Type="http://schemas.openxmlformats.org/officeDocument/2006/relationships/tags" Target="../tags/tag39.xml"/><Relationship Id="rId46" Type="http://schemas.openxmlformats.org/officeDocument/2006/relationships/tags" Target="../tags/tag47.xml"/><Relationship Id="rId59" Type="http://schemas.openxmlformats.org/officeDocument/2006/relationships/tags" Target="../tags/tag60.xml"/><Relationship Id="rId20" Type="http://schemas.openxmlformats.org/officeDocument/2006/relationships/tags" Target="../tags/tag21.xml"/><Relationship Id="rId41" Type="http://schemas.openxmlformats.org/officeDocument/2006/relationships/tags" Target="../tags/tag42.xml"/><Relationship Id="rId54" Type="http://schemas.openxmlformats.org/officeDocument/2006/relationships/tags" Target="../tags/tag55.xml"/><Relationship Id="rId6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tags" Target="../tags/tag7.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tags" Target="../tags/tag37.xml"/><Relationship Id="rId49" Type="http://schemas.openxmlformats.org/officeDocument/2006/relationships/tags" Target="../tags/tag50.xml"/><Relationship Id="rId57" Type="http://schemas.openxmlformats.org/officeDocument/2006/relationships/tags" Target="../tags/tag58.xml"/><Relationship Id="rId10" Type="http://schemas.openxmlformats.org/officeDocument/2006/relationships/tags" Target="../tags/tag11.xml"/><Relationship Id="rId31" Type="http://schemas.openxmlformats.org/officeDocument/2006/relationships/tags" Target="../tags/tag32.xml"/><Relationship Id="rId44" Type="http://schemas.openxmlformats.org/officeDocument/2006/relationships/tags" Target="../tags/tag45.xml"/><Relationship Id="rId52" Type="http://schemas.openxmlformats.org/officeDocument/2006/relationships/tags" Target="../tags/tag53.xml"/><Relationship Id="rId60" Type="http://schemas.openxmlformats.org/officeDocument/2006/relationships/tags" Target="../tags/tag61.xml"/><Relationship Id="rId65" Type="http://schemas.openxmlformats.org/officeDocument/2006/relationships/image" Target="../media/image8.emf"/><Relationship Id="rId4" Type="http://schemas.openxmlformats.org/officeDocument/2006/relationships/tags" Target="../tags/tag5.xml"/><Relationship Id="rId9" Type="http://schemas.openxmlformats.org/officeDocument/2006/relationships/tags" Target="../tags/tag10.xml"/><Relationship Id="rId13" Type="http://schemas.openxmlformats.org/officeDocument/2006/relationships/tags" Target="../tags/tag14.xml"/><Relationship Id="rId18" Type="http://schemas.openxmlformats.org/officeDocument/2006/relationships/tags" Target="../tags/tag19.xml"/><Relationship Id="rId39" Type="http://schemas.openxmlformats.org/officeDocument/2006/relationships/tags" Target="../tags/tag4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6" Type="http://schemas.openxmlformats.org/officeDocument/2006/relationships/tags" Target="../tags/tag88.xml"/><Relationship Id="rId21" Type="http://schemas.openxmlformats.org/officeDocument/2006/relationships/tags" Target="../tags/tag83.xml"/><Relationship Id="rId42" Type="http://schemas.openxmlformats.org/officeDocument/2006/relationships/tags" Target="../tags/tag104.xml"/><Relationship Id="rId47" Type="http://schemas.openxmlformats.org/officeDocument/2006/relationships/tags" Target="../tags/tag109.xml"/><Relationship Id="rId63" Type="http://schemas.openxmlformats.org/officeDocument/2006/relationships/tags" Target="../tags/tag125.xml"/><Relationship Id="rId68" Type="http://schemas.openxmlformats.org/officeDocument/2006/relationships/tags" Target="../tags/tag130.xml"/><Relationship Id="rId16" Type="http://schemas.openxmlformats.org/officeDocument/2006/relationships/tags" Target="../tags/tag78.xml"/><Relationship Id="rId11" Type="http://schemas.openxmlformats.org/officeDocument/2006/relationships/tags" Target="../tags/tag73.xml"/><Relationship Id="rId24" Type="http://schemas.openxmlformats.org/officeDocument/2006/relationships/tags" Target="../tags/tag86.xml"/><Relationship Id="rId32" Type="http://schemas.openxmlformats.org/officeDocument/2006/relationships/tags" Target="../tags/tag94.xml"/><Relationship Id="rId37" Type="http://schemas.openxmlformats.org/officeDocument/2006/relationships/tags" Target="../tags/tag99.xml"/><Relationship Id="rId40" Type="http://schemas.openxmlformats.org/officeDocument/2006/relationships/tags" Target="../tags/tag102.xml"/><Relationship Id="rId45" Type="http://schemas.openxmlformats.org/officeDocument/2006/relationships/tags" Target="../tags/tag107.xml"/><Relationship Id="rId53" Type="http://schemas.openxmlformats.org/officeDocument/2006/relationships/tags" Target="../tags/tag115.xml"/><Relationship Id="rId58" Type="http://schemas.openxmlformats.org/officeDocument/2006/relationships/tags" Target="../tags/tag120.xml"/><Relationship Id="rId66" Type="http://schemas.openxmlformats.org/officeDocument/2006/relationships/tags" Target="../tags/tag128.xml"/><Relationship Id="rId74" Type="http://schemas.openxmlformats.org/officeDocument/2006/relationships/slideLayout" Target="../slideLayouts/slideLayout2.xml"/><Relationship Id="rId5" Type="http://schemas.openxmlformats.org/officeDocument/2006/relationships/tags" Target="../tags/tag67.xml"/><Relationship Id="rId61" Type="http://schemas.openxmlformats.org/officeDocument/2006/relationships/tags" Target="../tags/tag123.xml"/><Relationship Id="rId19" Type="http://schemas.openxmlformats.org/officeDocument/2006/relationships/tags" Target="../tags/tag81.xml"/><Relationship Id="rId14" Type="http://schemas.openxmlformats.org/officeDocument/2006/relationships/tags" Target="../tags/tag76.xml"/><Relationship Id="rId22" Type="http://schemas.openxmlformats.org/officeDocument/2006/relationships/tags" Target="../tags/tag84.xml"/><Relationship Id="rId27" Type="http://schemas.openxmlformats.org/officeDocument/2006/relationships/tags" Target="../tags/tag89.xml"/><Relationship Id="rId30" Type="http://schemas.openxmlformats.org/officeDocument/2006/relationships/tags" Target="../tags/tag92.xml"/><Relationship Id="rId35" Type="http://schemas.openxmlformats.org/officeDocument/2006/relationships/tags" Target="../tags/tag97.xml"/><Relationship Id="rId43" Type="http://schemas.openxmlformats.org/officeDocument/2006/relationships/tags" Target="../tags/tag105.xml"/><Relationship Id="rId48" Type="http://schemas.openxmlformats.org/officeDocument/2006/relationships/tags" Target="../tags/tag110.xml"/><Relationship Id="rId56" Type="http://schemas.openxmlformats.org/officeDocument/2006/relationships/tags" Target="../tags/tag118.xml"/><Relationship Id="rId64" Type="http://schemas.openxmlformats.org/officeDocument/2006/relationships/tags" Target="../tags/tag126.xml"/><Relationship Id="rId69" Type="http://schemas.openxmlformats.org/officeDocument/2006/relationships/tags" Target="../tags/tag131.xml"/><Relationship Id="rId77" Type="http://schemas.openxmlformats.org/officeDocument/2006/relationships/image" Target="../media/image8.emf"/><Relationship Id="rId8" Type="http://schemas.openxmlformats.org/officeDocument/2006/relationships/tags" Target="../tags/tag70.xml"/><Relationship Id="rId51" Type="http://schemas.openxmlformats.org/officeDocument/2006/relationships/tags" Target="../tags/tag113.xml"/><Relationship Id="rId72" Type="http://schemas.openxmlformats.org/officeDocument/2006/relationships/tags" Target="../tags/tag134.xml"/><Relationship Id="rId3" Type="http://schemas.openxmlformats.org/officeDocument/2006/relationships/tags" Target="../tags/tag65.xml"/><Relationship Id="rId12" Type="http://schemas.openxmlformats.org/officeDocument/2006/relationships/tags" Target="../tags/tag74.xml"/><Relationship Id="rId17" Type="http://schemas.openxmlformats.org/officeDocument/2006/relationships/tags" Target="../tags/tag79.xml"/><Relationship Id="rId25" Type="http://schemas.openxmlformats.org/officeDocument/2006/relationships/tags" Target="../tags/tag87.xml"/><Relationship Id="rId33" Type="http://schemas.openxmlformats.org/officeDocument/2006/relationships/tags" Target="../tags/tag95.xml"/><Relationship Id="rId38" Type="http://schemas.openxmlformats.org/officeDocument/2006/relationships/tags" Target="../tags/tag100.xml"/><Relationship Id="rId46" Type="http://schemas.openxmlformats.org/officeDocument/2006/relationships/tags" Target="../tags/tag108.xml"/><Relationship Id="rId59" Type="http://schemas.openxmlformats.org/officeDocument/2006/relationships/tags" Target="../tags/tag121.xml"/><Relationship Id="rId67" Type="http://schemas.openxmlformats.org/officeDocument/2006/relationships/tags" Target="../tags/tag129.xml"/><Relationship Id="rId20" Type="http://schemas.openxmlformats.org/officeDocument/2006/relationships/tags" Target="../tags/tag82.xml"/><Relationship Id="rId41" Type="http://schemas.openxmlformats.org/officeDocument/2006/relationships/tags" Target="../tags/tag103.xml"/><Relationship Id="rId54" Type="http://schemas.openxmlformats.org/officeDocument/2006/relationships/tags" Target="../tags/tag116.xml"/><Relationship Id="rId62" Type="http://schemas.openxmlformats.org/officeDocument/2006/relationships/tags" Target="../tags/tag124.xml"/><Relationship Id="rId70" Type="http://schemas.openxmlformats.org/officeDocument/2006/relationships/tags" Target="../tags/tag132.xml"/><Relationship Id="rId75" Type="http://schemas.openxmlformats.org/officeDocument/2006/relationships/notesSlide" Target="../notesSlides/notesSlide4.xml"/><Relationship Id="rId1" Type="http://schemas.openxmlformats.org/officeDocument/2006/relationships/tags" Target="../tags/tag63.xml"/><Relationship Id="rId6" Type="http://schemas.openxmlformats.org/officeDocument/2006/relationships/tags" Target="../tags/tag68.xml"/><Relationship Id="rId15" Type="http://schemas.openxmlformats.org/officeDocument/2006/relationships/tags" Target="../tags/tag77.xml"/><Relationship Id="rId23" Type="http://schemas.openxmlformats.org/officeDocument/2006/relationships/tags" Target="../tags/tag85.xml"/><Relationship Id="rId28" Type="http://schemas.openxmlformats.org/officeDocument/2006/relationships/tags" Target="../tags/tag90.xml"/><Relationship Id="rId36" Type="http://schemas.openxmlformats.org/officeDocument/2006/relationships/tags" Target="../tags/tag98.xml"/><Relationship Id="rId49" Type="http://schemas.openxmlformats.org/officeDocument/2006/relationships/tags" Target="../tags/tag111.xml"/><Relationship Id="rId57" Type="http://schemas.openxmlformats.org/officeDocument/2006/relationships/tags" Target="../tags/tag119.xml"/><Relationship Id="rId10" Type="http://schemas.openxmlformats.org/officeDocument/2006/relationships/tags" Target="../tags/tag72.xml"/><Relationship Id="rId31" Type="http://schemas.openxmlformats.org/officeDocument/2006/relationships/tags" Target="../tags/tag93.xml"/><Relationship Id="rId44" Type="http://schemas.openxmlformats.org/officeDocument/2006/relationships/tags" Target="../tags/tag106.xml"/><Relationship Id="rId52" Type="http://schemas.openxmlformats.org/officeDocument/2006/relationships/tags" Target="../tags/tag114.xml"/><Relationship Id="rId60" Type="http://schemas.openxmlformats.org/officeDocument/2006/relationships/tags" Target="../tags/tag122.xml"/><Relationship Id="rId65" Type="http://schemas.openxmlformats.org/officeDocument/2006/relationships/tags" Target="../tags/tag127.xml"/><Relationship Id="rId73" Type="http://schemas.openxmlformats.org/officeDocument/2006/relationships/tags" Target="../tags/tag135.xml"/><Relationship Id="rId4" Type="http://schemas.openxmlformats.org/officeDocument/2006/relationships/tags" Target="../tags/tag66.xml"/><Relationship Id="rId9" Type="http://schemas.openxmlformats.org/officeDocument/2006/relationships/tags" Target="../tags/tag71.xml"/><Relationship Id="rId13" Type="http://schemas.openxmlformats.org/officeDocument/2006/relationships/tags" Target="../tags/tag75.xml"/><Relationship Id="rId18" Type="http://schemas.openxmlformats.org/officeDocument/2006/relationships/tags" Target="../tags/tag80.xml"/><Relationship Id="rId39" Type="http://schemas.openxmlformats.org/officeDocument/2006/relationships/tags" Target="../tags/tag101.xml"/><Relationship Id="rId34" Type="http://schemas.openxmlformats.org/officeDocument/2006/relationships/tags" Target="../tags/tag96.xml"/><Relationship Id="rId50" Type="http://schemas.openxmlformats.org/officeDocument/2006/relationships/tags" Target="../tags/tag112.xml"/><Relationship Id="rId55" Type="http://schemas.openxmlformats.org/officeDocument/2006/relationships/tags" Target="../tags/tag117.xml"/><Relationship Id="rId76" Type="http://schemas.openxmlformats.org/officeDocument/2006/relationships/oleObject" Target="../embeddings/oleObject2.bin"/><Relationship Id="rId7" Type="http://schemas.openxmlformats.org/officeDocument/2006/relationships/tags" Target="../tags/tag69.xml"/><Relationship Id="rId71" Type="http://schemas.openxmlformats.org/officeDocument/2006/relationships/tags" Target="../tags/tag133.xml"/><Relationship Id="rId2" Type="http://schemas.openxmlformats.org/officeDocument/2006/relationships/tags" Target="../tags/tag64.xml"/><Relationship Id="rId29" Type="http://schemas.openxmlformats.org/officeDocument/2006/relationships/tags" Target="../tags/tag9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6" Type="http://schemas.openxmlformats.org/officeDocument/2006/relationships/tags" Target="../tags/tag161.xml"/><Relationship Id="rId21" Type="http://schemas.openxmlformats.org/officeDocument/2006/relationships/tags" Target="../tags/tag156.xml"/><Relationship Id="rId42" Type="http://schemas.openxmlformats.org/officeDocument/2006/relationships/tags" Target="../tags/tag177.xml"/><Relationship Id="rId47" Type="http://schemas.openxmlformats.org/officeDocument/2006/relationships/tags" Target="../tags/tag182.xml"/><Relationship Id="rId63" Type="http://schemas.openxmlformats.org/officeDocument/2006/relationships/tags" Target="../tags/tag198.xml"/><Relationship Id="rId68" Type="http://schemas.openxmlformats.org/officeDocument/2006/relationships/tags" Target="../tags/tag203.xml"/><Relationship Id="rId2" Type="http://schemas.openxmlformats.org/officeDocument/2006/relationships/tags" Target="../tags/tag137.xml"/><Relationship Id="rId16" Type="http://schemas.openxmlformats.org/officeDocument/2006/relationships/tags" Target="../tags/tag151.xml"/><Relationship Id="rId29" Type="http://schemas.openxmlformats.org/officeDocument/2006/relationships/tags" Target="../tags/tag164.xml"/><Relationship Id="rId11" Type="http://schemas.openxmlformats.org/officeDocument/2006/relationships/tags" Target="../tags/tag146.xml"/><Relationship Id="rId24" Type="http://schemas.openxmlformats.org/officeDocument/2006/relationships/tags" Target="../tags/tag159.xml"/><Relationship Id="rId32" Type="http://schemas.openxmlformats.org/officeDocument/2006/relationships/tags" Target="../tags/tag167.xml"/><Relationship Id="rId37" Type="http://schemas.openxmlformats.org/officeDocument/2006/relationships/tags" Target="../tags/tag172.xml"/><Relationship Id="rId40" Type="http://schemas.openxmlformats.org/officeDocument/2006/relationships/tags" Target="../tags/tag175.xml"/><Relationship Id="rId45" Type="http://schemas.openxmlformats.org/officeDocument/2006/relationships/tags" Target="../tags/tag180.xml"/><Relationship Id="rId53" Type="http://schemas.openxmlformats.org/officeDocument/2006/relationships/tags" Target="../tags/tag188.xml"/><Relationship Id="rId58" Type="http://schemas.openxmlformats.org/officeDocument/2006/relationships/tags" Target="../tags/tag193.xml"/><Relationship Id="rId66" Type="http://schemas.openxmlformats.org/officeDocument/2006/relationships/tags" Target="../tags/tag201.xml"/><Relationship Id="rId74" Type="http://schemas.openxmlformats.org/officeDocument/2006/relationships/oleObject" Target="../embeddings/oleObject3.bin"/><Relationship Id="rId5" Type="http://schemas.openxmlformats.org/officeDocument/2006/relationships/tags" Target="../tags/tag140.xml"/><Relationship Id="rId61" Type="http://schemas.openxmlformats.org/officeDocument/2006/relationships/tags" Target="../tags/tag196.xml"/><Relationship Id="rId19" Type="http://schemas.openxmlformats.org/officeDocument/2006/relationships/tags" Target="../tags/tag154.xml"/><Relationship Id="rId14" Type="http://schemas.openxmlformats.org/officeDocument/2006/relationships/tags" Target="../tags/tag149.xml"/><Relationship Id="rId22" Type="http://schemas.openxmlformats.org/officeDocument/2006/relationships/tags" Target="../tags/tag157.xml"/><Relationship Id="rId27" Type="http://schemas.openxmlformats.org/officeDocument/2006/relationships/tags" Target="../tags/tag162.xml"/><Relationship Id="rId30" Type="http://schemas.openxmlformats.org/officeDocument/2006/relationships/tags" Target="../tags/tag165.xml"/><Relationship Id="rId35" Type="http://schemas.openxmlformats.org/officeDocument/2006/relationships/tags" Target="../tags/tag170.xml"/><Relationship Id="rId43" Type="http://schemas.openxmlformats.org/officeDocument/2006/relationships/tags" Target="../tags/tag178.xml"/><Relationship Id="rId48" Type="http://schemas.openxmlformats.org/officeDocument/2006/relationships/tags" Target="../tags/tag183.xml"/><Relationship Id="rId56" Type="http://schemas.openxmlformats.org/officeDocument/2006/relationships/tags" Target="../tags/tag191.xml"/><Relationship Id="rId64" Type="http://schemas.openxmlformats.org/officeDocument/2006/relationships/tags" Target="../tags/tag199.xml"/><Relationship Id="rId69" Type="http://schemas.openxmlformats.org/officeDocument/2006/relationships/tags" Target="../tags/tag204.xml"/><Relationship Id="rId8" Type="http://schemas.openxmlformats.org/officeDocument/2006/relationships/tags" Target="../tags/tag143.xml"/><Relationship Id="rId51" Type="http://schemas.openxmlformats.org/officeDocument/2006/relationships/tags" Target="../tags/tag186.xml"/><Relationship Id="rId72" Type="http://schemas.openxmlformats.org/officeDocument/2006/relationships/slideLayout" Target="../slideLayouts/slideLayout2.xml"/><Relationship Id="rId3" Type="http://schemas.openxmlformats.org/officeDocument/2006/relationships/tags" Target="../tags/tag138.xml"/><Relationship Id="rId12" Type="http://schemas.openxmlformats.org/officeDocument/2006/relationships/tags" Target="../tags/tag147.xml"/><Relationship Id="rId17" Type="http://schemas.openxmlformats.org/officeDocument/2006/relationships/tags" Target="../tags/tag152.xml"/><Relationship Id="rId25" Type="http://schemas.openxmlformats.org/officeDocument/2006/relationships/tags" Target="../tags/tag160.xml"/><Relationship Id="rId33" Type="http://schemas.openxmlformats.org/officeDocument/2006/relationships/tags" Target="../tags/tag168.xml"/><Relationship Id="rId38" Type="http://schemas.openxmlformats.org/officeDocument/2006/relationships/tags" Target="../tags/tag173.xml"/><Relationship Id="rId46" Type="http://schemas.openxmlformats.org/officeDocument/2006/relationships/tags" Target="../tags/tag181.xml"/><Relationship Id="rId59" Type="http://schemas.openxmlformats.org/officeDocument/2006/relationships/tags" Target="../tags/tag194.xml"/><Relationship Id="rId67" Type="http://schemas.openxmlformats.org/officeDocument/2006/relationships/tags" Target="../tags/tag202.xml"/><Relationship Id="rId20" Type="http://schemas.openxmlformats.org/officeDocument/2006/relationships/tags" Target="../tags/tag155.xml"/><Relationship Id="rId41" Type="http://schemas.openxmlformats.org/officeDocument/2006/relationships/tags" Target="../tags/tag176.xml"/><Relationship Id="rId54" Type="http://schemas.openxmlformats.org/officeDocument/2006/relationships/tags" Target="../tags/tag189.xml"/><Relationship Id="rId62" Type="http://schemas.openxmlformats.org/officeDocument/2006/relationships/tags" Target="../tags/tag197.xml"/><Relationship Id="rId70" Type="http://schemas.openxmlformats.org/officeDocument/2006/relationships/tags" Target="../tags/tag205.xml"/><Relationship Id="rId75" Type="http://schemas.openxmlformats.org/officeDocument/2006/relationships/image" Target="../media/image8.emf"/><Relationship Id="rId1" Type="http://schemas.openxmlformats.org/officeDocument/2006/relationships/tags" Target="../tags/tag136.xml"/><Relationship Id="rId6" Type="http://schemas.openxmlformats.org/officeDocument/2006/relationships/tags" Target="../tags/tag141.xml"/><Relationship Id="rId15" Type="http://schemas.openxmlformats.org/officeDocument/2006/relationships/tags" Target="../tags/tag150.xml"/><Relationship Id="rId23" Type="http://schemas.openxmlformats.org/officeDocument/2006/relationships/tags" Target="../tags/tag158.xml"/><Relationship Id="rId28" Type="http://schemas.openxmlformats.org/officeDocument/2006/relationships/tags" Target="../tags/tag163.xml"/><Relationship Id="rId36" Type="http://schemas.openxmlformats.org/officeDocument/2006/relationships/tags" Target="../tags/tag171.xml"/><Relationship Id="rId49" Type="http://schemas.openxmlformats.org/officeDocument/2006/relationships/tags" Target="../tags/tag184.xml"/><Relationship Id="rId57" Type="http://schemas.openxmlformats.org/officeDocument/2006/relationships/tags" Target="../tags/tag192.xml"/><Relationship Id="rId10" Type="http://schemas.openxmlformats.org/officeDocument/2006/relationships/tags" Target="../tags/tag145.xml"/><Relationship Id="rId31" Type="http://schemas.openxmlformats.org/officeDocument/2006/relationships/tags" Target="../tags/tag166.xml"/><Relationship Id="rId44" Type="http://schemas.openxmlformats.org/officeDocument/2006/relationships/tags" Target="../tags/tag179.xml"/><Relationship Id="rId52" Type="http://schemas.openxmlformats.org/officeDocument/2006/relationships/tags" Target="../tags/tag187.xml"/><Relationship Id="rId60" Type="http://schemas.openxmlformats.org/officeDocument/2006/relationships/tags" Target="../tags/tag195.xml"/><Relationship Id="rId65" Type="http://schemas.openxmlformats.org/officeDocument/2006/relationships/tags" Target="../tags/tag200.xml"/><Relationship Id="rId73" Type="http://schemas.openxmlformats.org/officeDocument/2006/relationships/notesSlide" Target="../notesSlides/notesSlide5.xml"/><Relationship Id="rId4" Type="http://schemas.openxmlformats.org/officeDocument/2006/relationships/tags" Target="../tags/tag139.xml"/><Relationship Id="rId9" Type="http://schemas.openxmlformats.org/officeDocument/2006/relationships/tags" Target="../tags/tag144.xml"/><Relationship Id="rId13" Type="http://schemas.openxmlformats.org/officeDocument/2006/relationships/tags" Target="../tags/tag148.xml"/><Relationship Id="rId18" Type="http://schemas.openxmlformats.org/officeDocument/2006/relationships/tags" Target="../tags/tag153.xml"/><Relationship Id="rId39" Type="http://schemas.openxmlformats.org/officeDocument/2006/relationships/tags" Target="../tags/tag174.xml"/><Relationship Id="rId34" Type="http://schemas.openxmlformats.org/officeDocument/2006/relationships/tags" Target="../tags/tag169.xml"/><Relationship Id="rId50" Type="http://schemas.openxmlformats.org/officeDocument/2006/relationships/tags" Target="../tags/tag185.xml"/><Relationship Id="rId55" Type="http://schemas.openxmlformats.org/officeDocument/2006/relationships/tags" Target="../tags/tag190.xml"/><Relationship Id="rId7" Type="http://schemas.openxmlformats.org/officeDocument/2006/relationships/tags" Target="../tags/tag142.xml"/><Relationship Id="rId71" Type="http://schemas.openxmlformats.org/officeDocument/2006/relationships/tags" Target="../tags/tag20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a:t>
            </a:fld>
            <a:endParaRPr lang="zh-CN" altLang="en-US"/>
          </a:p>
        </p:txBody>
      </p:sp>
      <p:sp>
        <p:nvSpPr>
          <p:cNvPr id="4" name="Rectangle 164"/>
          <p:cNvSpPr>
            <a:spLocks noChangeArrowheads="1"/>
          </p:cNvSpPr>
          <p:nvPr/>
        </p:nvSpPr>
        <p:spPr bwMode="auto">
          <a:xfrm>
            <a:off x="740532" y="2012158"/>
            <a:ext cx="8568784" cy="2833687"/>
          </a:xfrm>
          <a:prstGeom prst="rect">
            <a:avLst/>
          </a:prstGeom>
          <a:noFill/>
          <a:ln w="9525">
            <a:noFill/>
            <a:miter lim="800000"/>
          </a:ln>
        </p:spPr>
        <p:txBody>
          <a:bodyPr lIns="0" tIns="0" rIns="0" bIns="0"/>
          <a:lstStyle>
            <a:defPPr>
              <a:defRPr lang="en-US"/>
            </a:defPPr>
            <a:lvl1pPr algn="l" rtl="0" fontAlgn="base">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9pPr>
          </a:lstStyle>
          <a:p>
            <a:pPr eaLnBrk="0" hangingPunct="0">
              <a:lnSpc>
                <a:spcPct val="150000"/>
              </a:lnSpc>
            </a:pPr>
            <a:r>
              <a:rPr kumimoji="1" lang="zh-CN" altLang="en-US" sz="2000" dirty="0">
                <a:latin typeface="+mn-ea"/>
                <a:ea typeface="+mn-ea"/>
              </a:rPr>
              <a:t>中国建设银行广东省分行</a:t>
            </a:r>
          </a:p>
          <a:p>
            <a:pPr eaLnBrk="0" hangingPunct="0">
              <a:lnSpc>
                <a:spcPct val="150000"/>
              </a:lnSpc>
            </a:pPr>
            <a:r>
              <a:rPr kumimoji="1" lang="zh-CN" altLang="en-US" sz="2000" dirty="0">
                <a:latin typeface="+mn-ea"/>
                <a:ea typeface="+mn-ea"/>
              </a:rPr>
              <a:t>对私客户经理（理财）学习地图开发项目</a:t>
            </a:r>
            <a:endParaRPr kumimoji="1" lang="en-US" altLang="zh-CN" sz="2000" dirty="0">
              <a:latin typeface="+mn-ea"/>
              <a:ea typeface="+mn-ea"/>
            </a:endParaRPr>
          </a:p>
          <a:p>
            <a:pPr>
              <a:lnSpc>
                <a:spcPct val="150000"/>
              </a:lnSpc>
            </a:pPr>
            <a:r>
              <a:rPr kumimoji="1" lang="zh-CN" altLang="en-US" sz="2800" dirty="0">
                <a:latin typeface="华文中宋" panose="02010600040101010101" charset="-122"/>
                <a:ea typeface="华文中宋" panose="02010600040101010101" charset="-122"/>
              </a:rPr>
              <a:t>对私客户经理（理财）学习地图及实施建议</a:t>
            </a:r>
            <a:endParaRPr kumimoji="1" lang="en-US" altLang="zh-CN" sz="2800" dirty="0">
              <a:latin typeface="华文中宋" panose="02010600040101010101" charset="-122"/>
              <a:ea typeface="华文中宋" panose="02010600040101010101" charset="-122"/>
            </a:endParaRPr>
          </a:p>
          <a:p>
            <a:pPr algn="ctr" eaLnBrk="0" hangingPunct="0">
              <a:lnSpc>
                <a:spcPct val="90000"/>
              </a:lnSpc>
            </a:pPr>
            <a:br>
              <a:rPr kumimoji="1" lang="en-US" altLang="de-DE" sz="1400" dirty="0"/>
            </a:br>
            <a:br>
              <a:rPr kumimoji="1" lang="en-US" altLang="de-DE" sz="1400" dirty="0">
                <a:solidFill>
                  <a:schemeClr val="tx1"/>
                </a:solidFill>
              </a:rPr>
            </a:br>
            <a:br>
              <a:rPr kumimoji="1" lang="en-US" altLang="de-DE" sz="1400" b="0" dirty="0">
                <a:solidFill>
                  <a:schemeClr val="tx1"/>
                </a:solidFill>
              </a:rPr>
            </a:br>
            <a:br>
              <a:rPr kumimoji="1" lang="en-US" altLang="de-DE" sz="1400" b="0" dirty="0">
                <a:solidFill>
                  <a:schemeClr val="tx1"/>
                </a:solidFill>
              </a:rPr>
            </a:br>
            <a:br>
              <a:rPr kumimoji="1" lang="en-US" altLang="de-DE" sz="1400" b="0" dirty="0">
                <a:solidFill>
                  <a:schemeClr val="tx1"/>
                </a:solidFill>
              </a:rPr>
            </a:br>
            <a:r>
              <a:rPr kumimoji="1" lang="zh-CN" altLang="en-US" sz="1600" b="0" dirty="0">
                <a:solidFill>
                  <a:schemeClr val="tx1"/>
                </a:solidFill>
              </a:rPr>
              <a:t>深圳市辰启知本企业管理咨询有限公司</a:t>
            </a:r>
          </a:p>
          <a:p>
            <a:pPr algn="ctr" eaLnBrk="0" hangingPunct="0">
              <a:spcBef>
                <a:spcPts val="600"/>
              </a:spcBef>
            </a:pPr>
            <a:r>
              <a:rPr kumimoji="1" lang="en-US" altLang="zh-CN" sz="1400" b="0" dirty="0">
                <a:solidFill>
                  <a:schemeClr val="tx1"/>
                </a:solidFill>
              </a:rPr>
              <a:t>2</a:t>
            </a:r>
            <a:r>
              <a:rPr kumimoji="1" lang="en-US" altLang="de-DE" sz="1400" b="0" dirty="0"/>
              <a:t>0</a:t>
            </a:r>
            <a:r>
              <a:rPr kumimoji="1" lang="en-US" altLang="zh-CN" sz="1400" b="0" dirty="0"/>
              <a:t>23.08</a:t>
            </a:r>
            <a:endParaRPr kumimoji="1" lang="en-US" altLang="de-DE" sz="14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a:t>
            </a:fld>
            <a:endParaRPr lang="zh-CN" altLang="en-US"/>
          </a:p>
        </p:txBody>
      </p:sp>
      <p:sp>
        <p:nvSpPr>
          <p:cNvPr id="4" name="标题 1"/>
          <p:cNvSpPr txBox="1"/>
          <p:nvPr/>
        </p:nvSpPr>
        <p:spPr>
          <a:xfrm>
            <a:off x="665738" y="1008063"/>
            <a:ext cx="8559800"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pPr eaLnBrk="1" hangingPunct="1"/>
            <a:r>
              <a:rPr lang="zh-CN" altLang="en-US" sz="2800" kern="0" dirty="0"/>
              <a:t>目录</a:t>
            </a:r>
          </a:p>
        </p:txBody>
      </p:sp>
      <p:sp>
        <p:nvSpPr>
          <p:cNvPr id="5" name="矩形 4"/>
          <p:cNvSpPr/>
          <p:nvPr/>
        </p:nvSpPr>
        <p:spPr>
          <a:xfrm>
            <a:off x="813905" y="1839625"/>
            <a:ext cx="7494717" cy="574675"/>
          </a:xfrm>
          <a:prstGeom prst="rect">
            <a:avLst/>
          </a:prstGeom>
          <a:solidFill>
            <a:srgbClr val="B2D2DE">
              <a:lumMod val="60000"/>
              <a:lumOff val="40000"/>
            </a:srgbClr>
          </a:solidFill>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p:txBody>
      </p:sp>
      <p:sp>
        <p:nvSpPr>
          <p:cNvPr id="6" name="内容占位符 6"/>
          <p:cNvSpPr txBox="1"/>
          <p:nvPr/>
        </p:nvSpPr>
        <p:spPr bwMode="auto">
          <a:xfrm>
            <a:off x="1057852" y="1944048"/>
            <a:ext cx="6257347"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marL="273050" indent="-273050" algn="l" defTabSz="330200" rtl="0" eaLnBrk="0" fontAlgn="base" hangingPunct="0">
              <a:spcBef>
                <a:spcPct val="0"/>
              </a:spcBef>
              <a:spcAft>
                <a:spcPct val="0"/>
              </a:spcAft>
              <a:buChar char="•"/>
              <a:defRPr kumimoji="1" sz="1700" b="1">
                <a:solidFill>
                  <a:srgbClr val="000000"/>
                </a:solidFill>
                <a:latin typeface="+mn-lt"/>
                <a:ea typeface="+mn-ea"/>
                <a:cs typeface="+mn-cs"/>
              </a:defRPr>
            </a:lvl1pPr>
            <a:lvl2pPr marL="843280" indent="-390525" algn="l" defTabSz="330200" rtl="0" eaLnBrk="0" fontAlgn="base" hangingPunct="0">
              <a:spcBef>
                <a:spcPct val="0"/>
              </a:spcBef>
              <a:spcAft>
                <a:spcPct val="0"/>
              </a:spcAft>
              <a:buChar char="•"/>
              <a:defRPr kumimoji="1" sz="1700">
                <a:solidFill>
                  <a:srgbClr val="000000"/>
                </a:solidFill>
                <a:latin typeface="+mn-lt"/>
                <a:ea typeface="+mn-ea"/>
              </a:defRPr>
            </a:lvl2pPr>
            <a:lvl3pPr marL="1463675" indent="-441325" algn="l" defTabSz="330200" rtl="0" eaLnBrk="0" fontAlgn="base" hangingPunct="0">
              <a:spcBef>
                <a:spcPct val="0"/>
              </a:spcBef>
              <a:spcAft>
                <a:spcPct val="0"/>
              </a:spcAft>
              <a:buChar char="–"/>
              <a:defRPr kumimoji="1" sz="1700">
                <a:solidFill>
                  <a:srgbClr val="000000"/>
                </a:solidFill>
                <a:latin typeface="+mn-lt"/>
                <a:ea typeface="+mn-ea"/>
              </a:defRPr>
            </a:lvl3pPr>
            <a:lvl4pPr marL="2046605" indent="-403225" algn="l" defTabSz="330200" rtl="0" eaLnBrk="0" fontAlgn="base" hangingPunct="0">
              <a:spcBef>
                <a:spcPct val="0"/>
              </a:spcBef>
              <a:spcAft>
                <a:spcPct val="0"/>
              </a:spcAft>
              <a:buChar char="-"/>
              <a:defRPr kumimoji="1" sz="1700">
                <a:solidFill>
                  <a:srgbClr val="000000"/>
                </a:solidFill>
                <a:latin typeface="+mn-lt"/>
                <a:ea typeface="+mn-ea"/>
              </a:defRPr>
            </a:lvl4pPr>
            <a:lvl5pPr marL="2624455" indent="5080" algn="ctr" defTabSz="330200" rtl="0" eaLnBrk="0" fontAlgn="base" hangingPunct="0">
              <a:lnSpc>
                <a:spcPts val="1600"/>
              </a:lnSpc>
              <a:spcBef>
                <a:spcPct val="0"/>
              </a:spcBef>
              <a:spcAft>
                <a:spcPct val="0"/>
              </a:spcAft>
              <a:buChar char="»"/>
              <a:defRPr kumimoji="1" sz="1400" b="1">
                <a:solidFill>
                  <a:srgbClr val="000000"/>
                </a:solidFill>
                <a:latin typeface="+mn-lt"/>
                <a:ea typeface="+mn-ea"/>
              </a:defRPr>
            </a:lvl5pPr>
            <a:lvl6pPr marL="30816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6pPr>
            <a:lvl7pPr marL="35388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7pPr>
            <a:lvl8pPr marL="39960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8pPr>
            <a:lvl9pPr marL="44532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9pPr>
          </a:lstStyle>
          <a:p>
            <a:pPr marL="431800" indent="-431800" defTabSz="914400" eaLnBrk="1" hangingPunct="1">
              <a:spcBef>
                <a:spcPct val="100000"/>
              </a:spcBef>
              <a:buFontTx/>
              <a:buAutoNum type="romanUcPeriod"/>
              <a:tabLst>
                <a:tab pos="8402320" algn="r"/>
              </a:tabLst>
              <a:defRPr/>
            </a:pPr>
            <a:r>
              <a:rPr kumimoji="1" lang="zh-CN" altLang="en-US"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对私客户经理学习地图绘制基本思路</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a:p>
            <a:pPr marL="431800" indent="-431800" defTabSz="914400" eaLnBrk="1" hangingPunct="1">
              <a:spcBef>
                <a:spcPct val="100000"/>
              </a:spcBef>
              <a:buFontTx/>
              <a:buAutoNum type="romanUcPeriod"/>
              <a:tabLst>
                <a:tab pos="8402320" algn="r"/>
              </a:tabLst>
              <a:defRPr/>
            </a:pPr>
            <a:r>
              <a:rPr kumimoji="1" lang="zh-CN" altLang="en-US"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对私客户经理分层培养项目设计</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a:p>
            <a:pPr marL="431800" indent="-431800" defTabSz="914400" eaLnBrk="1" hangingPunct="1">
              <a:spcBef>
                <a:spcPct val="100000"/>
              </a:spcBef>
              <a:buFontTx/>
              <a:buAutoNum type="romanUcPeriod"/>
              <a:tabLst>
                <a:tab pos="8402320" algn="r"/>
              </a:tabLst>
              <a:defRPr/>
            </a:pPr>
            <a:r>
              <a:rPr lang="zh-CN" altLang="en-US" sz="2200" kern="0" noProof="0" dirty="0">
                <a:latin typeface="华文中宋" panose="02010600040101010101" charset="-122"/>
                <a:ea typeface="华文中宋" panose="02010600040101010101" charset="-122"/>
              </a:rPr>
              <a:t>对私客户经理培养项目落地建议</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3</a:t>
            </a:fld>
            <a:endParaRPr lang="zh-CN" altLang="en-US"/>
          </a:p>
        </p:txBody>
      </p:sp>
      <p:sp>
        <p:nvSpPr>
          <p:cNvPr id="3" name="TextBox 1"/>
          <p:cNvSpPr txBox="1"/>
          <p:nvPr/>
        </p:nvSpPr>
        <p:spPr>
          <a:xfrm flipH="1">
            <a:off x="6065838" y="4410075"/>
            <a:ext cx="3128962" cy="830997"/>
          </a:xfrm>
          <a:prstGeom prst="rect">
            <a:avLst/>
          </a:prstGeom>
          <a:solidFill>
            <a:srgbClr val="FFFFFF"/>
          </a:solidFill>
          <a:ln w="25400" cap="flat" cmpd="sng" algn="ctr">
            <a:solidFill>
              <a:srgbClr val="B2D2DE"/>
            </a:solidFill>
            <a:prstDash val="solid"/>
          </a:ln>
          <a:effectLst/>
        </p:spPr>
        <p:txBody>
          <a:bodyP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为缩短各层级客户经理胜任周期，促进客户经理能力不断提升，助力其不断提升能力改善工作表现。</a:t>
            </a:r>
          </a:p>
        </p:txBody>
      </p:sp>
      <p:sp>
        <p:nvSpPr>
          <p:cNvPr id="4" name="Text Box 7"/>
          <p:cNvSpPr txBox="1">
            <a:spLocks noChangeArrowheads="1"/>
          </p:cNvSpPr>
          <p:nvPr/>
        </p:nvSpPr>
        <p:spPr bwMode="auto">
          <a:xfrm>
            <a:off x="631825" y="4508500"/>
            <a:ext cx="19161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解决学什么、怎么学</a:t>
            </a:r>
            <a:endParaRPr kumimoji="1" lang="en-US" altLang="zh-CN"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形成结构化的学习项目</a:t>
            </a:r>
            <a:endParaRPr kumimoji="1" lang="en-US" altLang="zh-CN"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 name="Text Box 8"/>
          <p:cNvSpPr txBox="1">
            <a:spLocks noChangeArrowheads="1"/>
          </p:cNvSpPr>
          <p:nvPr/>
        </p:nvSpPr>
        <p:spPr bwMode="auto">
          <a:xfrm>
            <a:off x="3894138" y="3370263"/>
            <a:ext cx="15382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解决路径依赖问题</a:t>
            </a:r>
            <a:endParaRPr kumimoji="1" lang="en-US" altLang="zh-CN"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清晰目标与方向</a:t>
            </a:r>
            <a:endParaRPr kumimoji="1" lang="en-US" altLang="zh-CN" sz="15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 name="Text Box 8"/>
          <p:cNvSpPr txBox="1">
            <a:spLocks noChangeArrowheads="1"/>
          </p:cNvSpPr>
          <p:nvPr/>
        </p:nvSpPr>
        <p:spPr bwMode="auto">
          <a:xfrm>
            <a:off x="2576735" y="5473849"/>
            <a:ext cx="19236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解决多久胜任等问题</a:t>
            </a:r>
            <a:endParaRPr kumimoji="1" lang="en-US" altLang="zh-CN"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尽可能缩短胜任的时间</a:t>
            </a:r>
            <a:endParaRPr kumimoji="1" lang="en-US" altLang="zh-CN"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7" name="Text Box 8"/>
          <p:cNvSpPr txBox="1">
            <a:spLocks noChangeArrowheads="1"/>
          </p:cNvSpPr>
          <p:nvPr/>
        </p:nvSpPr>
        <p:spPr bwMode="auto">
          <a:xfrm>
            <a:off x="1589088" y="2327275"/>
            <a:ext cx="19240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解决学习成长全景问题</a:t>
            </a:r>
            <a:endParaRPr kumimoji="1" lang="en-US" altLang="zh-CN"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以职业生涯通道为依托</a:t>
            </a:r>
            <a:endParaRPr kumimoji="1" lang="en-US" altLang="zh-CN" sz="15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 name="AutoShape 22"/>
          <p:cNvSpPr>
            <a:spLocks noChangeArrowheads="1"/>
          </p:cNvSpPr>
          <p:nvPr/>
        </p:nvSpPr>
        <p:spPr bwMode="auto">
          <a:xfrm>
            <a:off x="5529263" y="2276475"/>
            <a:ext cx="312737" cy="3724275"/>
          </a:xfrm>
          <a:prstGeom prst="notchedRightArrow">
            <a:avLst>
              <a:gd name="adj1" fmla="val 77537"/>
              <a:gd name="adj2" fmla="val 100000"/>
            </a:avLst>
          </a:prstGeom>
          <a:solidFill>
            <a:srgbClr val="366B7E"/>
          </a:solidFill>
          <a:ln w="6350">
            <a:solidFill>
              <a:srgbClr val="366B7E"/>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 name="Rectangle 85"/>
          <p:cNvSpPr>
            <a:spLocks noChangeArrowheads="1"/>
          </p:cNvSpPr>
          <p:nvPr/>
        </p:nvSpPr>
        <p:spPr bwMode="auto">
          <a:xfrm>
            <a:off x="6065838" y="2498725"/>
            <a:ext cx="3128962" cy="569913"/>
          </a:xfrm>
          <a:prstGeom prst="rect">
            <a:avLst/>
          </a:prstGeom>
          <a:solidFill>
            <a:srgbClr val="366B7E"/>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学习地图</a:t>
            </a:r>
          </a:p>
        </p:txBody>
      </p:sp>
      <p:sp>
        <p:nvSpPr>
          <p:cNvPr id="10" name="Freeform 22"/>
          <p:cNvSpPr/>
          <p:nvPr/>
        </p:nvSpPr>
        <p:spPr bwMode="auto">
          <a:xfrm>
            <a:off x="6465888" y="3429000"/>
            <a:ext cx="2232025" cy="720725"/>
          </a:xfrm>
          <a:custGeom>
            <a:avLst/>
            <a:gdLst>
              <a:gd name="T0" fmla="*/ 2147483647 w 1271"/>
              <a:gd name="T1" fmla="*/ 0 h 383"/>
              <a:gd name="T2" fmla="*/ 2147483647 w 1271"/>
              <a:gd name="T3" fmla="*/ 2147483647 h 383"/>
              <a:gd name="T4" fmla="*/ 2147483647 w 1271"/>
              <a:gd name="T5" fmla="*/ 2147483647 h 383"/>
              <a:gd name="T6" fmla="*/ 0 w 1271"/>
              <a:gd name="T7" fmla="*/ 2147483647 h 3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71" h="383">
                <a:moveTo>
                  <a:pt x="1271" y="0"/>
                </a:moveTo>
                <a:lnTo>
                  <a:pt x="1270" y="236"/>
                </a:lnTo>
                <a:lnTo>
                  <a:pt x="630" y="383"/>
                </a:lnTo>
                <a:lnTo>
                  <a:pt x="0" y="236"/>
                </a:lnTo>
              </a:path>
            </a:pathLst>
          </a:custGeom>
          <a:noFill/>
          <a:ln w="22225" cap="flat" cmpd="sng">
            <a:solidFill>
              <a:srgbClr val="366B7E"/>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0000"/>
              </a:solidFill>
              <a:effectLst/>
              <a:uLnTx/>
              <a:uFillTx/>
            </a:endParaRPr>
          </a:p>
        </p:txBody>
      </p:sp>
      <p:sp>
        <p:nvSpPr>
          <p:cNvPr id="11" name="TextBox 18"/>
          <p:cNvSpPr txBox="1">
            <a:spLocks noChangeArrowheads="1"/>
          </p:cNvSpPr>
          <p:nvPr/>
        </p:nvSpPr>
        <p:spPr bwMode="auto">
          <a:xfrm>
            <a:off x="7185025" y="34718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定义</a:t>
            </a:r>
          </a:p>
        </p:txBody>
      </p:sp>
      <p:grpSp>
        <p:nvGrpSpPr>
          <p:cNvPr id="12" name="组合 3"/>
          <p:cNvGrpSpPr/>
          <p:nvPr/>
        </p:nvGrpSpPr>
        <p:grpSpPr bwMode="auto">
          <a:xfrm>
            <a:off x="884238" y="1911350"/>
            <a:ext cx="4716462" cy="4610100"/>
            <a:chOff x="2288704" y="1912517"/>
            <a:chExt cx="4932834" cy="4974058"/>
          </a:xfrm>
        </p:grpSpPr>
        <p:grpSp>
          <p:nvGrpSpPr>
            <p:cNvPr id="13" name="组合 2"/>
            <p:cNvGrpSpPr/>
            <p:nvPr/>
          </p:nvGrpSpPr>
          <p:grpSpPr bwMode="auto">
            <a:xfrm>
              <a:off x="2288704" y="1912517"/>
              <a:ext cx="4932834" cy="4974058"/>
              <a:chOff x="1751013" y="1406525"/>
              <a:chExt cx="5470525" cy="5480050"/>
            </a:xfrm>
          </p:grpSpPr>
          <p:sp>
            <p:nvSpPr>
              <p:cNvPr id="15" name="Rectangle 3"/>
              <p:cNvSpPr>
                <a:spLocks noChangeArrowheads="1"/>
              </p:cNvSpPr>
              <p:nvPr/>
            </p:nvSpPr>
            <p:spPr bwMode="auto">
              <a:xfrm>
                <a:off x="3133725" y="3203575"/>
                <a:ext cx="271463" cy="271463"/>
              </a:xfrm>
              <a:prstGeom prst="rect">
                <a:avLst/>
              </a:prstGeom>
              <a:solidFill>
                <a:srgbClr val="366B7E"/>
              </a:solidFill>
              <a:ln>
                <a:noFill/>
              </a:ln>
              <a:effectLst/>
              <a:extLst>
                <a:ext uri="{91240B29-F687-4F45-9708-019B960494DF}">
                  <a14:hiddenLine xmlns:a14="http://schemas.microsoft.com/office/drawing/2010/main" w="635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rPr>
                  <a:t>1</a:t>
                </a:r>
              </a:p>
            </p:txBody>
          </p:sp>
          <p:sp>
            <p:nvSpPr>
              <p:cNvPr id="16" name="Rectangle 4"/>
              <p:cNvSpPr>
                <a:spLocks noChangeArrowheads="1"/>
              </p:cNvSpPr>
              <p:nvPr/>
            </p:nvSpPr>
            <p:spPr bwMode="auto">
              <a:xfrm>
                <a:off x="5132388" y="2768600"/>
                <a:ext cx="271462" cy="271463"/>
              </a:xfrm>
              <a:prstGeom prst="rect">
                <a:avLst/>
              </a:prstGeom>
              <a:solidFill>
                <a:srgbClr val="366B7E"/>
              </a:solidFill>
              <a:ln>
                <a:noFill/>
              </a:ln>
              <a:effectLst/>
              <a:extLst>
                <a:ext uri="{91240B29-F687-4F45-9708-019B960494DF}">
                  <a14:hiddenLine xmlns:a14="http://schemas.microsoft.com/office/drawing/2010/main" w="635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rPr>
                  <a:t>2</a:t>
                </a:r>
              </a:p>
            </p:txBody>
          </p:sp>
          <p:sp>
            <p:nvSpPr>
              <p:cNvPr id="17" name="Rectangle 5"/>
              <p:cNvSpPr>
                <a:spLocks noChangeArrowheads="1"/>
              </p:cNvSpPr>
              <p:nvPr/>
            </p:nvSpPr>
            <p:spPr bwMode="auto">
              <a:xfrm>
                <a:off x="5580063" y="4794250"/>
                <a:ext cx="271462" cy="271463"/>
              </a:xfrm>
              <a:prstGeom prst="rect">
                <a:avLst/>
              </a:prstGeom>
              <a:solidFill>
                <a:srgbClr val="366B7E"/>
              </a:solidFill>
              <a:ln>
                <a:noFill/>
              </a:ln>
              <a:effectLst/>
              <a:extLst>
                <a:ext uri="{91240B29-F687-4F45-9708-019B960494DF}">
                  <a14:hiddenLine xmlns:a14="http://schemas.microsoft.com/office/drawing/2010/main" w="635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rPr>
                  <a:t>3</a:t>
                </a:r>
              </a:p>
            </p:txBody>
          </p:sp>
          <p:sp>
            <p:nvSpPr>
              <p:cNvPr id="18" name="Rectangle 6"/>
              <p:cNvSpPr>
                <a:spLocks noChangeArrowheads="1"/>
              </p:cNvSpPr>
              <p:nvPr/>
            </p:nvSpPr>
            <p:spPr bwMode="auto">
              <a:xfrm>
                <a:off x="3544888" y="5251450"/>
                <a:ext cx="271462" cy="271463"/>
              </a:xfrm>
              <a:prstGeom prst="rect">
                <a:avLst/>
              </a:prstGeom>
              <a:solidFill>
                <a:srgbClr val="366B7E"/>
              </a:solidFill>
              <a:ln>
                <a:noFill/>
              </a:ln>
              <a:effectLst/>
              <a:extLst>
                <a:ext uri="{91240B29-F687-4F45-9708-019B960494DF}">
                  <a14:hiddenLine xmlns:a14="http://schemas.microsoft.com/office/drawing/2010/main" w="635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rPr>
                  <a:t>4</a:t>
                </a:r>
              </a:p>
            </p:txBody>
          </p:sp>
          <p:sp>
            <p:nvSpPr>
              <p:cNvPr id="19" name="Text Box 7"/>
              <p:cNvSpPr txBox="1">
                <a:spLocks noChangeArrowheads="1"/>
              </p:cNvSpPr>
              <p:nvPr/>
            </p:nvSpPr>
            <p:spPr bwMode="auto">
              <a:xfrm>
                <a:off x="3166368" y="2652047"/>
                <a:ext cx="539154" cy="32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规划</a:t>
                </a:r>
                <a:endParaRPr kumimoji="1" lang="en-US" altLang="zh-CN"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0" name="Text Box 8"/>
              <p:cNvSpPr txBox="1">
                <a:spLocks noChangeArrowheads="1"/>
              </p:cNvSpPr>
              <p:nvPr/>
            </p:nvSpPr>
            <p:spPr bwMode="auto">
              <a:xfrm>
                <a:off x="5718168" y="2611489"/>
                <a:ext cx="539155" cy="32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路径</a:t>
                </a:r>
                <a:endParaRPr kumimoji="1" lang="en-US" altLang="zh-CN"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1" name="Text Box 9"/>
              <p:cNvSpPr txBox="1">
                <a:spLocks noChangeArrowheads="1"/>
              </p:cNvSpPr>
              <p:nvPr/>
            </p:nvSpPr>
            <p:spPr bwMode="auto">
              <a:xfrm>
                <a:off x="5176341" y="5179598"/>
                <a:ext cx="539154" cy="32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速度</a:t>
                </a:r>
                <a:endParaRPr kumimoji="1" lang="en-US" altLang="zh-CN"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2" name="Text Box 10"/>
              <p:cNvSpPr txBox="1">
                <a:spLocks noChangeArrowheads="1"/>
              </p:cNvSpPr>
              <p:nvPr/>
            </p:nvSpPr>
            <p:spPr bwMode="auto">
              <a:xfrm>
                <a:off x="2636657" y="5093995"/>
                <a:ext cx="539154" cy="329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内容</a:t>
                </a:r>
                <a:endParaRPr kumimoji="1" lang="en-US" altLang="zh-CN" sz="18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3" name="Rectangle 11"/>
              <p:cNvSpPr>
                <a:spLocks noChangeArrowheads="1"/>
              </p:cNvSpPr>
              <p:nvPr/>
            </p:nvSpPr>
            <p:spPr bwMode="auto">
              <a:xfrm rot="9198256">
                <a:off x="3689350" y="3348038"/>
                <a:ext cx="1593850" cy="1597025"/>
              </a:xfrm>
              <a:prstGeom prst="rect">
                <a:avLst/>
              </a:prstGeom>
              <a:solidFill>
                <a:srgbClr val="366B7E"/>
              </a:solidFill>
              <a:ln w="635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4" name="Freeform 12"/>
              <p:cNvSpPr/>
              <p:nvPr/>
            </p:nvSpPr>
            <p:spPr bwMode="auto">
              <a:xfrm rot="9198256">
                <a:off x="4557713" y="4892675"/>
                <a:ext cx="1816100" cy="1993900"/>
              </a:xfrm>
              <a:custGeom>
                <a:avLst/>
                <a:gdLst>
                  <a:gd name="T0" fmla="*/ 0 w 820"/>
                  <a:gd name="T1" fmla="*/ 0 h 819"/>
                  <a:gd name="T2" fmla="*/ 0 w 820"/>
                  <a:gd name="T3" fmla="*/ 2147483647 h 819"/>
                  <a:gd name="T4" fmla="*/ 2147483647 w 820"/>
                  <a:gd name="T5" fmla="*/ 2147483647 h 819"/>
                  <a:gd name="T6" fmla="*/ 0 60000 65536"/>
                  <a:gd name="T7" fmla="*/ 0 60000 65536"/>
                  <a:gd name="T8" fmla="*/ 0 60000 65536"/>
                </a:gdLst>
                <a:ahLst/>
                <a:cxnLst>
                  <a:cxn ang="T6">
                    <a:pos x="T0" y="T1"/>
                  </a:cxn>
                  <a:cxn ang="T7">
                    <a:pos x="T2" y="T3"/>
                  </a:cxn>
                  <a:cxn ang="T8">
                    <a:pos x="T4" y="T5"/>
                  </a:cxn>
                </a:cxnLst>
                <a:rect l="0" t="0" r="r" b="b"/>
                <a:pathLst>
                  <a:path w="820" h="819">
                    <a:moveTo>
                      <a:pt x="0" y="0"/>
                    </a:moveTo>
                    <a:lnTo>
                      <a:pt x="0" y="819"/>
                    </a:lnTo>
                    <a:lnTo>
                      <a:pt x="820" y="819"/>
                    </a:lnTo>
                  </a:path>
                </a:pathLst>
              </a:custGeom>
              <a:noFill/>
              <a:ln w="22225" cap="flat" cmpd="sng">
                <a:solidFill>
                  <a:srgbClr val="366B7E"/>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0000"/>
                  </a:solidFill>
                  <a:effectLst/>
                  <a:uLnTx/>
                  <a:uFillTx/>
                </a:endParaRPr>
              </a:p>
            </p:txBody>
          </p:sp>
          <p:sp>
            <p:nvSpPr>
              <p:cNvPr id="25" name="Freeform 13"/>
              <p:cNvSpPr/>
              <p:nvPr/>
            </p:nvSpPr>
            <p:spPr bwMode="auto">
              <a:xfrm rot="-7001744">
                <a:off x="1838325" y="4125913"/>
                <a:ext cx="1819275" cy="1993900"/>
              </a:xfrm>
              <a:custGeom>
                <a:avLst/>
                <a:gdLst>
                  <a:gd name="T0" fmla="*/ 0 w 820"/>
                  <a:gd name="T1" fmla="*/ 0 h 819"/>
                  <a:gd name="T2" fmla="*/ 0 w 820"/>
                  <a:gd name="T3" fmla="*/ 2147483647 h 819"/>
                  <a:gd name="T4" fmla="*/ 2147483647 w 820"/>
                  <a:gd name="T5" fmla="*/ 2147483647 h 819"/>
                  <a:gd name="T6" fmla="*/ 0 60000 65536"/>
                  <a:gd name="T7" fmla="*/ 0 60000 65536"/>
                  <a:gd name="T8" fmla="*/ 0 60000 65536"/>
                </a:gdLst>
                <a:ahLst/>
                <a:cxnLst>
                  <a:cxn ang="T6">
                    <a:pos x="T0" y="T1"/>
                  </a:cxn>
                  <a:cxn ang="T7">
                    <a:pos x="T2" y="T3"/>
                  </a:cxn>
                  <a:cxn ang="T8">
                    <a:pos x="T4" y="T5"/>
                  </a:cxn>
                </a:cxnLst>
                <a:rect l="0" t="0" r="r" b="b"/>
                <a:pathLst>
                  <a:path w="820" h="819">
                    <a:moveTo>
                      <a:pt x="0" y="0"/>
                    </a:moveTo>
                    <a:lnTo>
                      <a:pt x="0" y="819"/>
                    </a:lnTo>
                    <a:lnTo>
                      <a:pt x="820" y="819"/>
                    </a:lnTo>
                  </a:path>
                </a:pathLst>
              </a:custGeom>
              <a:noFill/>
              <a:ln w="22225" cap="flat" cmpd="sng">
                <a:solidFill>
                  <a:srgbClr val="366B7E"/>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0000"/>
                  </a:solidFill>
                  <a:effectLst/>
                  <a:uLnTx/>
                  <a:uFillTx/>
                </a:endParaRPr>
              </a:p>
            </p:txBody>
          </p:sp>
          <p:sp>
            <p:nvSpPr>
              <p:cNvPr id="26" name="Freeform 14"/>
              <p:cNvSpPr/>
              <p:nvPr/>
            </p:nvSpPr>
            <p:spPr bwMode="auto">
              <a:xfrm rot="3798256" flipH="1">
                <a:off x="2509044" y="1504156"/>
                <a:ext cx="1997075" cy="1801813"/>
              </a:xfrm>
              <a:custGeom>
                <a:avLst/>
                <a:gdLst>
                  <a:gd name="T0" fmla="*/ 0 w 820"/>
                  <a:gd name="T1" fmla="*/ 0 h 819"/>
                  <a:gd name="T2" fmla="*/ 0 w 820"/>
                  <a:gd name="T3" fmla="*/ 2147483647 h 819"/>
                  <a:gd name="T4" fmla="*/ 2147483647 w 820"/>
                  <a:gd name="T5" fmla="*/ 2147483647 h 819"/>
                  <a:gd name="T6" fmla="*/ 0 60000 65536"/>
                  <a:gd name="T7" fmla="*/ 0 60000 65536"/>
                  <a:gd name="T8" fmla="*/ 0 60000 65536"/>
                </a:gdLst>
                <a:ahLst/>
                <a:cxnLst>
                  <a:cxn ang="T6">
                    <a:pos x="T0" y="T1"/>
                  </a:cxn>
                  <a:cxn ang="T7">
                    <a:pos x="T2" y="T3"/>
                  </a:cxn>
                  <a:cxn ang="T8">
                    <a:pos x="T4" y="T5"/>
                  </a:cxn>
                </a:cxnLst>
                <a:rect l="0" t="0" r="r" b="b"/>
                <a:pathLst>
                  <a:path w="820" h="819">
                    <a:moveTo>
                      <a:pt x="0" y="0"/>
                    </a:moveTo>
                    <a:lnTo>
                      <a:pt x="0" y="819"/>
                    </a:lnTo>
                    <a:lnTo>
                      <a:pt x="820" y="819"/>
                    </a:lnTo>
                  </a:path>
                </a:pathLst>
              </a:custGeom>
              <a:noFill/>
              <a:ln w="22225" cap="flat" cmpd="sng">
                <a:solidFill>
                  <a:srgbClr val="366B7E"/>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0000"/>
                  </a:solidFill>
                  <a:effectLst/>
                  <a:uLnTx/>
                  <a:uFillTx/>
                </a:endParaRPr>
              </a:p>
            </p:txBody>
          </p:sp>
          <p:sp>
            <p:nvSpPr>
              <p:cNvPr id="27" name="Freeform 15"/>
              <p:cNvSpPr/>
              <p:nvPr/>
            </p:nvSpPr>
            <p:spPr bwMode="auto">
              <a:xfrm rot="-7001744" flipH="1" flipV="1">
                <a:off x="5318125" y="2173288"/>
                <a:ext cx="1812925" cy="1993900"/>
              </a:xfrm>
              <a:custGeom>
                <a:avLst/>
                <a:gdLst>
                  <a:gd name="T0" fmla="*/ 0 w 820"/>
                  <a:gd name="T1" fmla="*/ 0 h 819"/>
                  <a:gd name="T2" fmla="*/ 0 w 820"/>
                  <a:gd name="T3" fmla="*/ 2147483647 h 819"/>
                  <a:gd name="T4" fmla="*/ 2147483647 w 820"/>
                  <a:gd name="T5" fmla="*/ 2147483647 h 819"/>
                  <a:gd name="T6" fmla="*/ 0 60000 65536"/>
                  <a:gd name="T7" fmla="*/ 0 60000 65536"/>
                  <a:gd name="T8" fmla="*/ 0 60000 65536"/>
                </a:gdLst>
                <a:ahLst/>
                <a:cxnLst>
                  <a:cxn ang="T6">
                    <a:pos x="T0" y="T1"/>
                  </a:cxn>
                  <a:cxn ang="T7">
                    <a:pos x="T2" y="T3"/>
                  </a:cxn>
                  <a:cxn ang="T8">
                    <a:pos x="T4" y="T5"/>
                  </a:cxn>
                </a:cxnLst>
                <a:rect l="0" t="0" r="r" b="b"/>
                <a:pathLst>
                  <a:path w="820" h="819">
                    <a:moveTo>
                      <a:pt x="0" y="0"/>
                    </a:moveTo>
                    <a:lnTo>
                      <a:pt x="0" y="819"/>
                    </a:lnTo>
                    <a:lnTo>
                      <a:pt x="820" y="819"/>
                    </a:lnTo>
                  </a:path>
                </a:pathLst>
              </a:custGeom>
              <a:noFill/>
              <a:ln w="22225" cap="flat" cmpd="sng">
                <a:solidFill>
                  <a:srgbClr val="366B7E"/>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000000"/>
                  </a:solidFill>
                  <a:effectLst/>
                  <a:uLnTx/>
                  <a:uFillTx/>
                </a:endParaRPr>
              </a:p>
            </p:txBody>
          </p:sp>
        </p:grpSp>
        <p:sp>
          <p:nvSpPr>
            <p:cNvPr id="14" name="Text Box 16"/>
            <p:cNvSpPr txBox="1">
              <a:spLocks noChangeArrowheads="1"/>
            </p:cNvSpPr>
            <p:nvPr/>
          </p:nvSpPr>
          <p:spPr bwMode="auto">
            <a:xfrm>
              <a:off x="4261027" y="4076109"/>
              <a:ext cx="965689" cy="59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学习地图</a:t>
              </a:r>
              <a:endParaRPr kumimoji="1" lang="en-US" altLang="zh-CN"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lang="zh-CN" altLang="en-US" sz="1800" b="0" kern="0" dirty="0">
                  <a:solidFill>
                    <a:srgbClr val="FFFFFF"/>
                  </a:solidFill>
                  <a:latin typeface="微软雅黑" panose="020B0503020204020204" pitchFamily="34" charset="-122"/>
                  <a:ea typeface="微软雅黑" panose="020B0503020204020204" pitchFamily="34" charset="-122"/>
                </a:rPr>
                <a:t>培养方案</a:t>
              </a:r>
              <a:endParaRPr kumimoji="1"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28" name="标题 3"/>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学习地图，是指以职业技能发展为主轴而设计的一系列学习活动，其主要构成要素：学习内容、学习方式、学习体验</a:t>
            </a:r>
          </a:p>
        </p:txBody>
      </p:sp>
      <p:sp>
        <p:nvSpPr>
          <p:cNvPr id="30" name="矩形 29"/>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4</a:t>
            </a:fld>
            <a:endParaRPr lang="zh-CN" altLang="en-US"/>
          </a:p>
        </p:txBody>
      </p:sp>
      <p:sp>
        <p:nvSpPr>
          <p:cNvPr id="4" name="矩形 3"/>
          <p:cNvSpPr/>
          <p:nvPr/>
        </p:nvSpPr>
        <p:spPr bwMode="auto">
          <a:xfrm>
            <a:off x="395288" y="1760538"/>
            <a:ext cx="9226550" cy="4895850"/>
          </a:xfrm>
          <a:prstGeom prst="rect">
            <a:avLst/>
          </a:prstGeom>
          <a:solidFill>
            <a:schemeClr val="accent2">
              <a:lumMod val="50000"/>
            </a:schemeClr>
          </a:solidFill>
          <a:ln w="9525" cap="flat" cmpd="sng" algn="ctr">
            <a:solidFill>
              <a:srgbClr val="FFFFFF"/>
            </a:solidFill>
            <a:prstDash val="solid"/>
            <a:round/>
            <a:headEnd type="none" w="med" len="med"/>
            <a:tailEnd type="none" w="med" len="med"/>
          </a:ln>
          <a:effectLst>
            <a:outerShdw blurRad="50800" dist="38100" dir="5400000" algn="t" rotWithShape="0">
              <a:prstClr val="black">
                <a:alpha val="40000"/>
              </a:prstClr>
            </a:outerShdw>
          </a:effectLst>
        </p:spPr>
        <p:txBody>
          <a:bodyPr wrap="none" lIns="0" tIns="0" rIns="0" bIns="0" anchor="ct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endParaRPr>
          </a:p>
        </p:txBody>
      </p:sp>
      <p:grpSp>
        <p:nvGrpSpPr>
          <p:cNvPr id="5" name="组合 93"/>
          <p:cNvGrpSpPr/>
          <p:nvPr/>
        </p:nvGrpSpPr>
        <p:grpSpPr bwMode="auto">
          <a:xfrm>
            <a:off x="4003488" y="2281238"/>
            <a:ext cx="1368425" cy="4257675"/>
            <a:chOff x="2276552" y="1323926"/>
            <a:chExt cx="1440000" cy="4257674"/>
          </a:xfrm>
        </p:grpSpPr>
        <p:sp>
          <p:nvSpPr>
            <p:cNvPr id="80" name="AutoShape 5"/>
            <p:cNvSpPr>
              <a:spLocks noChangeArrowheads="1"/>
            </p:cNvSpPr>
            <p:nvPr/>
          </p:nvSpPr>
          <p:spPr bwMode="auto">
            <a:xfrm>
              <a:off x="2276552" y="1323926"/>
              <a:ext cx="1440000" cy="431800"/>
            </a:xfrm>
            <a:prstGeom prst="roundRect">
              <a:avLst>
                <a:gd name="adj" fmla="val 16667"/>
              </a:avLst>
            </a:prstGeom>
            <a:solidFill>
              <a:srgbClr val="FFFFFF">
                <a:lumMod val="75000"/>
              </a:srgbClr>
            </a:solidFill>
            <a:ln w="9525">
              <a:noFill/>
              <a:round/>
            </a:ln>
          </p:spPr>
          <p:txBody>
            <a:bodyPr wrap="none"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charset="-122"/>
                </a:rPr>
                <a:t>能力模型</a:t>
              </a:r>
            </a:p>
          </p:txBody>
        </p:sp>
        <p:grpSp>
          <p:nvGrpSpPr>
            <p:cNvPr id="81" name="组合 67"/>
            <p:cNvGrpSpPr/>
            <p:nvPr/>
          </p:nvGrpSpPr>
          <p:grpSpPr bwMode="auto">
            <a:xfrm>
              <a:off x="2276552" y="1849388"/>
              <a:ext cx="1440000" cy="3732212"/>
              <a:chOff x="1993593" y="1781148"/>
              <a:chExt cx="1440000" cy="3732212"/>
            </a:xfrm>
          </p:grpSpPr>
          <p:sp>
            <p:nvSpPr>
              <p:cNvPr id="82" name="AutoShape 21"/>
              <p:cNvSpPr>
                <a:spLocks noChangeArrowheads="1"/>
              </p:cNvSpPr>
              <p:nvPr/>
            </p:nvSpPr>
            <p:spPr bwMode="auto">
              <a:xfrm>
                <a:off x="1993593" y="1781148"/>
                <a:ext cx="1440000" cy="3732212"/>
              </a:xfrm>
              <a:prstGeom prst="roundRect">
                <a:avLst>
                  <a:gd name="adj" fmla="val 5588"/>
                </a:avLst>
              </a:prstGeom>
              <a:solidFill>
                <a:srgbClr val="FFFFFF">
                  <a:lumMod val="75000"/>
                </a:srgbClr>
              </a:solidFill>
              <a:ln w="9525">
                <a:noFill/>
                <a:round/>
              </a:ln>
            </p:spPr>
            <p:txBody>
              <a:bodyPr wrap="none" anchor="ct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83" name="组合 61"/>
              <p:cNvGrpSpPr/>
              <p:nvPr/>
            </p:nvGrpSpPr>
            <p:grpSpPr bwMode="auto">
              <a:xfrm>
                <a:off x="2035806" y="1878287"/>
                <a:ext cx="1348190" cy="1105200"/>
                <a:chOff x="2046045" y="1891935"/>
                <a:chExt cx="1348190" cy="1105200"/>
              </a:xfrm>
            </p:grpSpPr>
            <p:sp>
              <p:nvSpPr>
                <p:cNvPr id="86" name="圆角矩形 52"/>
                <p:cNvSpPr>
                  <a:spLocks noChangeArrowheads="1"/>
                </p:cNvSpPr>
                <p:nvPr/>
              </p:nvSpPr>
              <p:spPr bwMode="auto">
                <a:xfrm>
                  <a:off x="2046045" y="1891935"/>
                  <a:ext cx="1326316" cy="1105200"/>
                </a:xfrm>
                <a:prstGeom prst="rect">
                  <a:avLst/>
                </a:prstGeom>
                <a:solidFill>
                  <a:srgbClr val="FFFFCC"/>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7" name="TextBox 28"/>
                <p:cNvSpPr txBox="1"/>
                <p:nvPr/>
              </p:nvSpPr>
              <p:spPr>
                <a:xfrm>
                  <a:off x="2144676" y="1977044"/>
                  <a:ext cx="1249559" cy="903132"/>
                </a:xfrm>
                <a:prstGeom prst="rect">
                  <a:avLst/>
                </a:prstGeom>
                <a:noFill/>
              </p:spPr>
              <p:txBody>
                <a:bodyPr>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2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自我精进</a:t>
                  </a:r>
                  <a:endParaRPr kumimoji="0" lang="en-US" altLang="zh-CN" sz="12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高效执行</a:t>
                  </a:r>
                  <a:endParaRPr kumimoji="0" lang="en-US" altLang="zh-CN" sz="11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专业致胜</a:t>
                  </a:r>
                  <a:endParaRPr lang="en-US" altLang="zh-CN" sz="1100" b="0" kern="0" dirty="0"/>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风险防控</a:t>
                  </a:r>
                  <a:endParaRPr kumimoji="0" lang="en-US" altLang="zh-CN" sz="11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84" name="圆角矩形 54"/>
              <p:cNvSpPr>
                <a:spLocks noChangeArrowheads="1"/>
              </p:cNvSpPr>
              <p:nvPr/>
            </p:nvSpPr>
            <p:spPr bwMode="auto">
              <a:xfrm>
                <a:off x="2035806" y="4247257"/>
                <a:ext cx="1326316" cy="1108518"/>
              </a:xfrm>
              <a:prstGeom prst="rect">
                <a:avLst/>
              </a:prstGeom>
              <a:solidFill>
                <a:srgbClr val="FFFFCC"/>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5" name="圆角矩形 54"/>
              <p:cNvSpPr>
                <a:spLocks noChangeArrowheads="1"/>
              </p:cNvSpPr>
              <p:nvPr/>
            </p:nvSpPr>
            <p:spPr bwMode="auto">
              <a:xfrm>
                <a:off x="2037304" y="3059256"/>
                <a:ext cx="1326316" cy="1108518"/>
              </a:xfrm>
              <a:prstGeom prst="rect">
                <a:avLst/>
              </a:prstGeom>
              <a:solidFill>
                <a:srgbClr val="FFFFCC"/>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grpSp>
      <p:grpSp>
        <p:nvGrpSpPr>
          <p:cNvPr id="6" name="组合 134"/>
          <p:cNvGrpSpPr/>
          <p:nvPr/>
        </p:nvGrpSpPr>
        <p:grpSpPr bwMode="auto">
          <a:xfrm>
            <a:off x="488231" y="2281238"/>
            <a:ext cx="1368425" cy="4257675"/>
            <a:chOff x="541098" y="1951734"/>
            <a:chExt cx="1440000" cy="4257675"/>
          </a:xfrm>
        </p:grpSpPr>
        <p:sp>
          <p:nvSpPr>
            <p:cNvPr id="72" name="AutoShape 24"/>
            <p:cNvSpPr>
              <a:spLocks noChangeArrowheads="1"/>
            </p:cNvSpPr>
            <p:nvPr/>
          </p:nvSpPr>
          <p:spPr bwMode="auto">
            <a:xfrm>
              <a:off x="541098" y="1951734"/>
              <a:ext cx="1440000" cy="431800"/>
            </a:xfrm>
            <a:prstGeom prst="roundRect">
              <a:avLst>
                <a:gd name="adj" fmla="val 16667"/>
              </a:avLst>
            </a:prstGeom>
            <a:solidFill>
              <a:schemeClr val="accent5">
                <a:lumMod val="60000"/>
                <a:lumOff val="40000"/>
              </a:schemeClr>
            </a:solidFill>
            <a:ln w="9525">
              <a:noFill/>
              <a:round/>
            </a:ln>
          </p:spPr>
          <p:txBody>
            <a:bodyPr wrap="none"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lang="zh-CN" altLang="en-US" sz="1500" b="1" kern="0" dirty="0">
                  <a:ea typeface="华文中宋" panose="02010600040101010101" charset="-122"/>
                </a:rPr>
                <a:t>职级</a:t>
              </a:r>
              <a:endPar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charset="-122"/>
              </a:endParaRPr>
            </a:p>
          </p:txBody>
        </p:sp>
        <p:grpSp>
          <p:nvGrpSpPr>
            <p:cNvPr id="73" name="组合 76"/>
            <p:cNvGrpSpPr/>
            <p:nvPr/>
          </p:nvGrpSpPr>
          <p:grpSpPr bwMode="auto">
            <a:xfrm>
              <a:off x="541098" y="2477196"/>
              <a:ext cx="1440000" cy="3732213"/>
              <a:chOff x="537923" y="1849388"/>
              <a:chExt cx="1440000" cy="3732213"/>
            </a:xfrm>
          </p:grpSpPr>
          <p:sp>
            <p:nvSpPr>
              <p:cNvPr id="74" name="AutoShape 23"/>
              <p:cNvSpPr>
                <a:spLocks noChangeArrowheads="1"/>
              </p:cNvSpPr>
              <p:nvPr/>
            </p:nvSpPr>
            <p:spPr bwMode="auto">
              <a:xfrm>
                <a:off x="537923" y="1849388"/>
                <a:ext cx="1440000" cy="3732213"/>
              </a:xfrm>
              <a:prstGeom prst="roundRect">
                <a:avLst>
                  <a:gd name="adj" fmla="val 5588"/>
                </a:avLst>
              </a:prstGeom>
              <a:solidFill>
                <a:schemeClr val="accent5">
                  <a:lumMod val="60000"/>
                  <a:lumOff val="40000"/>
                </a:schemeClr>
              </a:solidFill>
              <a:ln w="9525">
                <a:noFill/>
                <a:round/>
              </a:ln>
            </p:spPr>
            <p:txBody>
              <a:bodyPr wrap="none" anchor="ct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75" name="圆角矩形 71"/>
              <p:cNvSpPr>
                <a:spLocks noChangeArrowheads="1"/>
              </p:cNvSpPr>
              <p:nvPr/>
            </p:nvSpPr>
            <p:spPr bwMode="auto">
              <a:xfrm>
                <a:off x="602775" y="1895289"/>
                <a:ext cx="1269243" cy="904253"/>
              </a:xfrm>
              <a:prstGeom prst="roundRect">
                <a:avLst>
                  <a:gd name="adj" fmla="val 16667"/>
                </a:avLst>
              </a:prstGeom>
              <a:solidFill>
                <a:schemeClr val="accent2">
                  <a:lumMod val="75000"/>
                </a:schemeClr>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高级客户经理</a:t>
                </a:r>
              </a:p>
            </p:txBody>
          </p:sp>
          <p:sp>
            <p:nvSpPr>
              <p:cNvPr id="76" name="圆角矩形 72"/>
              <p:cNvSpPr>
                <a:spLocks noChangeArrowheads="1"/>
              </p:cNvSpPr>
              <p:nvPr/>
            </p:nvSpPr>
            <p:spPr bwMode="auto">
              <a:xfrm>
                <a:off x="602775" y="3132686"/>
                <a:ext cx="1269243" cy="904253"/>
              </a:xfrm>
              <a:prstGeom prst="roundRect">
                <a:avLst>
                  <a:gd name="adj" fmla="val 16667"/>
                </a:avLst>
              </a:prstGeom>
              <a:solidFill>
                <a:schemeClr val="accent2">
                  <a:lumMod val="75000"/>
                </a:schemeClr>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中级客户经理</a:t>
                </a:r>
              </a:p>
            </p:txBody>
          </p:sp>
          <p:sp>
            <p:nvSpPr>
              <p:cNvPr id="77" name="圆角矩形 73"/>
              <p:cNvSpPr>
                <a:spLocks noChangeArrowheads="1"/>
              </p:cNvSpPr>
              <p:nvPr/>
            </p:nvSpPr>
            <p:spPr bwMode="auto">
              <a:xfrm>
                <a:off x="602775" y="4370083"/>
                <a:ext cx="1269243" cy="904253"/>
              </a:xfrm>
              <a:prstGeom prst="roundRect">
                <a:avLst>
                  <a:gd name="adj" fmla="val 16667"/>
                </a:avLst>
              </a:prstGeom>
              <a:solidFill>
                <a:schemeClr val="accent2">
                  <a:lumMod val="75000"/>
                </a:schemeClr>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3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初级客户经理</a:t>
                </a:r>
              </a:p>
            </p:txBody>
          </p:sp>
          <p:sp>
            <p:nvSpPr>
              <p:cNvPr id="78" name="下箭头 74"/>
              <p:cNvSpPr>
                <a:spLocks noChangeArrowheads="1"/>
              </p:cNvSpPr>
              <p:nvPr/>
            </p:nvSpPr>
            <p:spPr bwMode="auto">
              <a:xfrm flipV="1">
                <a:off x="1072486" y="2715904"/>
                <a:ext cx="259308" cy="436728"/>
              </a:xfrm>
              <a:prstGeom prst="downArrow">
                <a:avLst>
                  <a:gd name="adj1" fmla="val 50000"/>
                  <a:gd name="adj2" fmla="val 50004"/>
                </a:avLst>
              </a:prstGeom>
              <a:solidFill>
                <a:schemeClr val="accent2">
                  <a:lumMod val="75000"/>
                </a:schemeClr>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9" name="下箭头 75"/>
              <p:cNvSpPr>
                <a:spLocks noChangeArrowheads="1"/>
              </p:cNvSpPr>
              <p:nvPr/>
            </p:nvSpPr>
            <p:spPr bwMode="auto">
              <a:xfrm flipV="1">
                <a:off x="1072486" y="4001068"/>
                <a:ext cx="259308" cy="436728"/>
              </a:xfrm>
              <a:prstGeom prst="downArrow">
                <a:avLst>
                  <a:gd name="adj1" fmla="val 50000"/>
                  <a:gd name="adj2" fmla="val 50004"/>
                </a:avLst>
              </a:prstGeom>
              <a:solidFill>
                <a:schemeClr val="accent2">
                  <a:lumMod val="75000"/>
                </a:schemeClr>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grpSp>
        <p:nvGrpSpPr>
          <p:cNvPr id="7" name="组合 133"/>
          <p:cNvGrpSpPr/>
          <p:nvPr/>
        </p:nvGrpSpPr>
        <p:grpSpPr bwMode="auto">
          <a:xfrm>
            <a:off x="8259763" y="2281238"/>
            <a:ext cx="1187450" cy="4257675"/>
            <a:chOff x="7922260" y="1323926"/>
            <a:chExt cx="1440000" cy="4257675"/>
          </a:xfrm>
        </p:grpSpPr>
        <p:sp>
          <p:nvSpPr>
            <p:cNvPr id="66" name="AutoShape 23"/>
            <p:cNvSpPr>
              <a:spLocks noChangeArrowheads="1"/>
            </p:cNvSpPr>
            <p:nvPr/>
          </p:nvSpPr>
          <p:spPr bwMode="auto">
            <a:xfrm>
              <a:off x="7922260" y="1849388"/>
              <a:ext cx="1440000" cy="3732213"/>
            </a:xfrm>
            <a:prstGeom prst="roundRect">
              <a:avLst>
                <a:gd name="adj" fmla="val 5588"/>
              </a:avLst>
            </a:prstGeom>
            <a:solidFill>
              <a:srgbClr val="FFFFFF">
                <a:lumMod val="75000"/>
              </a:srgbClr>
            </a:solidFill>
            <a:ln w="9525">
              <a:noFill/>
              <a:round/>
            </a:ln>
          </p:spPr>
          <p:txBody>
            <a:bodyPr wrap="none" anchor="ct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67" name="AutoShape 24"/>
            <p:cNvSpPr>
              <a:spLocks noChangeArrowheads="1"/>
            </p:cNvSpPr>
            <p:nvPr/>
          </p:nvSpPr>
          <p:spPr bwMode="auto">
            <a:xfrm>
              <a:off x="7922260" y="1323926"/>
              <a:ext cx="1440000" cy="431800"/>
            </a:xfrm>
            <a:prstGeom prst="roundRect">
              <a:avLst>
                <a:gd name="adj" fmla="val 16667"/>
              </a:avLst>
            </a:prstGeom>
            <a:solidFill>
              <a:srgbClr val="FFFFFF">
                <a:lumMod val="75000"/>
              </a:srgbClr>
            </a:solidFill>
            <a:ln w="9525">
              <a:noFill/>
              <a:round/>
            </a:ln>
          </p:spPr>
          <p:txBody>
            <a:bodyPr wrap="none"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lang="zh-CN" altLang="en-US" sz="1500" b="1" kern="0" dirty="0">
                  <a:ea typeface="华文中宋" panose="02010600040101010101" charset="-122"/>
                </a:rPr>
                <a:t>培养</a:t>
              </a:r>
              <a:r>
                <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charset="-122"/>
                </a:rPr>
                <a:t>项目</a:t>
              </a:r>
            </a:p>
          </p:txBody>
        </p:sp>
        <p:sp>
          <p:nvSpPr>
            <p:cNvPr id="68" name="矩形 110"/>
            <p:cNvSpPr>
              <a:spLocks noChangeArrowheads="1"/>
            </p:cNvSpPr>
            <p:nvPr/>
          </p:nvSpPr>
          <p:spPr bwMode="auto">
            <a:xfrm>
              <a:off x="7997397" y="2426791"/>
              <a:ext cx="1289727" cy="895590"/>
            </a:xfrm>
            <a:prstGeom prst="rect">
              <a:avLst/>
            </a:prstGeom>
            <a:solidFill>
              <a:srgbClr val="FFFFCC"/>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新晋</a:t>
              </a:r>
              <a:r>
                <a:rPr kumimoji="0" lang="en-US" altLang="zh-CN"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a:t>
              </a:r>
              <a:r>
                <a:rPr lang="zh-CN" altLang="en-US" sz="1100" kern="0" dirty="0"/>
                <a:t>转岗</a:t>
              </a:r>
              <a:endParaRPr kumimoji="0" lang="en-US" altLang="zh-CN"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培养项目</a:t>
              </a:r>
            </a:p>
          </p:txBody>
        </p:sp>
        <p:sp>
          <p:nvSpPr>
            <p:cNvPr id="69" name="矩形 110"/>
            <p:cNvSpPr>
              <a:spLocks noChangeArrowheads="1"/>
            </p:cNvSpPr>
            <p:nvPr/>
          </p:nvSpPr>
          <p:spPr bwMode="auto">
            <a:xfrm>
              <a:off x="7997397" y="3842539"/>
              <a:ext cx="1289727" cy="895590"/>
            </a:xfrm>
            <a:prstGeom prst="rect">
              <a:avLst/>
            </a:prstGeom>
            <a:solidFill>
              <a:srgbClr val="FFFFCC"/>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进阶培养项目</a:t>
              </a:r>
            </a:p>
          </p:txBody>
        </p:sp>
      </p:grpSp>
      <p:sp>
        <p:nvSpPr>
          <p:cNvPr id="8" name="TextBox 136"/>
          <p:cNvSpPr txBox="1"/>
          <p:nvPr/>
        </p:nvSpPr>
        <p:spPr>
          <a:xfrm>
            <a:off x="546100" y="1870075"/>
            <a:ext cx="4640270" cy="338554"/>
          </a:xfrm>
          <a:prstGeom prst="rect">
            <a:avLst/>
          </a:prstGeom>
          <a:noFill/>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lang="zh-CN" altLang="en-US" sz="1600" dirty="0">
                <a:solidFill>
                  <a:schemeClr val="bg1"/>
                </a:solidFill>
                <a:latin typeface="华文中宋" panose="02010600040101010101" charset="-122"/>
                <a:ea typeface="华文中宋" panose="02010600040101010101" charset="-122"/>
              </a:rPr>
              <a:t>对私客户经理（理财）</a:t>
            </a:r>
            <a:r>
              <a:rPr lang="zh-CN" altLang="en-US" sz="1600" b="1" dirty="0">
                <a:solidFill>
                  <a:schemeClr val="bg1"/>
                </a:solidFill>
                <a:latin typeface="华文中宋" panose="02010600040101010101" charset="-122"/>
                <a:ea typeface="华文中宋" panose="02010600040101010101" charset="-122"/>
              </a:rPr>
              <a:t>学习地图到培养项目</a:t>
            </a:r>
          </a:p>
        </p:txBody>
      </p:sp>
      <p:sp>
        <p:nvSpPr>
          <p:cNvPr id="9" name="右箭头 83"/>
          <p:cNvSpPr>
            <a:spLocks noChangeArrowheads="1"/>
          </p:cNvSpPr>
          <p:nvPr/>
        </p:nvSpPr>
        <p:spPr bwMode="auto">
          <a:xfrm>
            <a:off x="2989263" y="2444750"/>
            <a:ext cx="217487" cy="204788"/>
          </a:xfrm>
          <a:prstGeom prst="rightArrow">
            <a:avLst>
              <a:gd name="adj1" fmla="val 50000"/>
              <a:gd name="adj2" fmla="val 49782"/>
            </a:avLst>
          </a:prstGeom>
          <a:solidFill>
            <a:srgbClr val="FFFFFF"/>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10" name="组合 94"/>
          <p:cNvGrpSpPr/>
          <p:nvPr/>
        </p:nvGrpSpPr>
        <p:grpSpPr bwMode="auto">
          <a:xfrm>
            <a:off x="6862465" y="2281238"/>
            <a:ext cx="1258887" cy="4257675"/>
            <a:chOff x="6444209" y="2306638"/>
            <a:chExt cx="1439862" cy="4257675"/>
          </a:xfrm>
        </p:grpSpPr>
        <p:sp>
          <p:nvSpPr>
            <p:cNvPr id="61" name="AutoShape 6"/>
            <p:cNvSpPr>
              <a:spLocks noChangeArrowheads="1"/>
            </p:cNvSpPr>
            <p:nvPr/>
          </p:nvSpPr>
          <p:spPr bwMode="auto">
            <a:xfrm>
              <a:off x="6444209" y="2306638"/>
              <a:ext cx="1439862" cy="431800"/>
            </a:xfrm>
            <a:prstGeom prst="roundRect">
              <a:avLst>
                <a:gd name="adj" fmla="val 16667"/>
              </a:avLst>
            </a:prstGeom>
            <a:solidFill>
              <a:srgbClr val="FFFFFF">
                <a:lumMod val="75000"/>
              </a:srgbClr>
            </a:solidFill>
            <a:ln w="9525">
              <a:noFill/>
              <a:round/>
            </a:ln>
          </p:spPr>
          <p:txBody>
            <a:bodyPr wrap="none"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charset="-122"/>
                </a:rPr>
                <a:t>成长阶段</a:t>
              </a:r>
            </a:p>
          </p:txBody>
        </p:sp>
        <p:sp>
          <p:nvSpPr>
            <p:cNvPr id="62" name="AutoShape 20"/>
            <p:cNvSpPr>
              <a:spLocks noChangeArrowheads="1"/>
            </p:cNvSpPr>
            <p:nvPr/>
          </p:nvSpPr>
          <p:spPr bwMode="auto">
            <a:xfrm>
              <a:off x="6444209" y="2832100"/>
              <a:ext cx="1439862" cy="3732213"/>
            </a:xfrm>
            <a:prstGeom prst="roundRect">
              <a:avLst>
                <a:gd name="adj" fmla="val 5588"/>
              </a:avLst>
            </a:prstGeom>
            <a:solidFill>
              <a:srgbClr val="FFFFFF">
                <a:lumMod val="75000"/>
              </a:srgbClr>
            </a:solidFill>
            <a:ln w="9525">
              <a:noFill/>
              <a:round/>
            </a:ln>
          </p:spPr>
          <p:txBody>
            <a:bodyPr wrap="none" anchor="ct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63" name="矩形 28"/>
            <p:cNvSpPr/>
            <p:nvPr/>
          </p:nvSpPr>
          <p:spPr bwMode="auto">
            <a:xfrm>
              <a:off x="6605807" y="3360737"/>
              <a:ext cx="1116666" cy="787199"/>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rPr>
                <a:t>新任期</a:t>
              </a:r>
            </a:p>
          </p:txBody>
        </p:sp>
        <p:sp>
          <p:nvSpPr>
            <p:cNvPr id="64" name="矩形 28"/>
            <p:cNvSpPr/>
            <p:nvPr/>
          </p:nvSpPr>
          <p:spPr bwMode="auto">
            <a:xfrm>
              <a:off x="6605807" y="4353048"/>
              <a:ext cx="1116666" cy="787199"/>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rPr>
                <a:t>成长期</a:t>
              </a:r>
            </a:p>
          </p:txBody>
        </p:sp>
        <p:sp>
          <p:nvSpPr>
            <p:cNvPr id="65" name="矩形 28"/>
            <p:cNvSpPr/>
            <p:nvPr/>
          </p:nvSpPr>
          <p:spPr bwMode="auto">
            <a:xfrm>
              <a:off x="6605807" y="5320960"/>
              <a:ext cx="1116666" cy="792176"/>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挑战期</a:t>
              </a:r>
            </a:p>
          </p:txBody>
        </p:sp>
      </p:grpSp>
      <p:grpSp>
        <p:nvGrpSpPr>
          <p:cNvPr id="11" name="组合 93"/>
          <p:cNvGrpSpPr/>
          <p:nvPr/>
        </p:nvGrpSpPr>
        <p:grpSpPr bwMode="auto">
          <a:xfrm>
            <a:off x="1883643" y="2281238"/>
            <a:ext cx="2042491" cy="4257675"/>
            <a:chOff x="1983112" y="1323926"/>
            <a:chExt cx="2151819" cy="4257674"/>
          </a:xfrm>
        </p:grpSpPr>
        <p:sp>
          <p:nvSpPr>
            <p:cNvPr id="59" name="AutoShape 5"/>
            <p:cNvSpPr>
              <a:spLocks noChangeArrowheads="1"/>
            </p:cNvSpPr>
            <p:nvPr/>
          </p:nvSpPr>
          <p:spPr bwMode="auto">
            <a:xfrm>
              <a:off x="2276552" y="1323926"/>
              <a:ext cx="1440000" cy="431800"/>
            </a:xfrm>
            <a:prstGeom prst="roundRect">
              <a:avLst>
                <a:gd name="adj" fmla="val 16667"/>
              </a:avLst>
            </a:prstGeom>
            <a:solidFill>
              <a:srgbClr val="FFFFFF">
                <a:lumMod val="75000"/>
              </a:srgbClr>
            </a:solidFill>
            <a:ln w="9525">
              <a:noFill/>
              <a:round/>
            </a:ln>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charset="-122"/>
                </a:rPr>
                <a:t>调研重点发现</a:t>
              </a:r>
            </a:p>
          </p:txBody>
        </p:sp>
        <p:sp>
          <p:nvSpPr>
            <p:cNvPr id="60" name="AutoShape 21"/>
            <p:cNvSpPr>
              <a:spLocks noChangeArrowheads="1"/>
            </p:cNvSpPr>
            <p:nvPr/>
          </p:nvSpPr>
          <p:spPr bwMode="auto">
            <a:xfrm>
              <a:off x="1983112" y="1849388"/>
              <a:ext cx="2151819" cy="3732212"/>
            </a:xfrm>
            <a:prstGeom prst="roundRect">
              <a:avLst>
                <a:gd name="adj" fmla="val 5588"/>
              </a:avLst>
            </a:prstGeom>
            <a:solidFill>
              <a:srgbClr val="FFFFFF">
                <a:lumMod val="75000"/>
              </a:srgbClr>
            </a:solidFill>
            <a:ln w="9525">
              <a:noFill/>
              <a:round/>
            </a:ln>
          </p:spPr>
          <p:txBody>
            <a:bodyPr wrap="none" anchor="ct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12" name="TextBox 50"/>
          <p:cNvSpPr txBox="1">
            <a:spLocks noChangeArrowheads="1"/>
          </p:cNvSpPr>
          <p:nvPr/>
        </p:nvSpPr>
        <p:spPr bwMode="auto">
          <a:xfrm>
            <a:off x="1959771" y="2907254"/>
            <a:ext cx="1902429"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latin typeface="宋体" panose="02010600030101010101" pitchFamily="2" charset="-122"/>
                <a:ea typeface="宋体" panose="02010600030101010101" pitchFamily="2" charset="-122"/>
              </a:rPr>
              <a:t>1.</a:t>
            </a:r>
            <a:r>
              <a:rPr kumimoji="1" lang="zh-CN" altLang="en-US" sz="800" b="0" dirty="0"/>
              <a:t>竞争压力空前，网点和客户经理的服务营销挑战巨大</a:t>
            </a:r>
            <a:endParaRPr kumimoji="1" lang="en-US" altLang="zh-CN" sz="800" b="0" dirty="0">
              <a:latin typeface="宋体" panose="02010600030101010101" pitchFamily="2" charset="-122"/>
              <a:ea typeface="宋体" panose="02010600030101010101" pitchFamily="2" charset="-122"/>
            </a:endParaRPr>
          </a:p>
        </p:txBody>
      </p:sp>
      <p:sp>
        <p:nvSpPr>
          <p:cNvPr id="13" name="右箭头 84"/>
          <p:cNvSpPr>
            <a:spLocks noChangeArrowheads="1"/>
          </p:cNvSpPr>
          <p:nvPr/>
        </p:nvSpPr>
        <p:spPr bwMode="auto">
          <a:xfrm>
            <a:off x="3636896" y="2403423"/>
            <a:ext cx="287363" cy="204788"/>
          </a:xfrm>
          <a:prstGeom prst="rightArrow">
            <a:avLst>
              <a:gd name="adj1" fmla="val 50000"/>
              <a:gd name="adj2" fmla="val 50121"/>
            </a:avLst>
          </a:prstGeom>
          <a:solidFill>
            <a:srgbClr val="FFFFFF"/>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9" name="TextBox 50"/>
          <p:cNvSpPr txBox="1">
            <a:spLocks noChangeArrowheads="1"/>
          </p:cNvSpPr>
          <p:nvPr/>
        </p:nvSpPr>
        <p:spPr bwMode="auto">
          <a:xfrm>
            <a:off x="1959772" y="3300491"/>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latin typeface="宋体" panose="02010600030101010101" pitchFamily="2" charset="-122"/>
                <a:ea typeface="宋体" panose="02010600030101010101" pitchFamily="2" charset="-122"/>
                <a:sym typeface="+mn-ea"/>
              </a:rPr>
              <a:t>2.</a:t>
            </a:r>
            <a:r>
              <a:rPr kumimoji="1" lang="zh-CN" altLang="en-US" sz="800" b="0" dirty="0"/>
              <a:t>梯队，呈现“倒挂”现象，出现人才断层，团队逐渐老化</a:t>
            </a:r>
            <a:endParaRPr kumimoji="1" lang="zh-CN" altLang="en-US" sz="800" b="0" dirty="0">
              <a:latin typeface="宋体" panose="02010600030101010101" pitchFamily="2" charset="-122"/>
              <a:ea typeface="宋体" panose="02010600030101010101" pitchFamily="2" charset="-122"/>
            </a:endParaRPr>
          </a:p>
        </p:txBody>
      </p:sp>
      <p:sp>
        <p:nvSpPr>
          <p:cNvPr id="20" name="TextBox 50"/>
          <p:cNvSpPr txBox="1">
            <a:spLocks noChangeArrowheads="1"/>
          </p:cNvSpPr>
          <p:nvPr/>
        </p:nvSpPr>
        <p:spPr bwMode="auto">
          <a:xfrm>
            <a:off x="1959772" y="3693728"/>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solidFill>
                  <a:schemeClr val="tx1"/>
                </a:solidFill>
                <a:latin typeface="宋体" panose="02010600030101010101" pitchFamily="2" charset="-122"/>
                <a:ea typeface="宋体" panose="02010600030101010101" pitchFamily="2" charset="-122"/>
                <a:sym typeface="+mn-ea"/>
              </a:rPr>
              <a:t>3.</a:t>
            </a:r>
            <a:r>
              <a:rPr kumimoji="1" lang="zh-CN" altLang="en-US" sz="800" b="0" dirty="0">
                <a:solidFill>
                  <a:schemeClr val="tx1"/>
                </a:solidFill>
                <a:latin typeface="宋体" panose="02010600030101010101" pitchFamily="2" charset="-122"/>
                <a:ea typeface="宋体" panose="02010600030101010101" pitchFamily="2" charset="-122"/>
                <a:sym typeface="+mn-ea"/>
              </a:rPr>
              <a:t>不同层级</a:t>
            </a:r>
            <a:r>
              <a:rPr kumimoji="1" lang="zh-CN" altLang="en-US" sz="800" b="0" dirty="0"/>
              <a:t>客户经理在能力区分性方面较为模糊</a:t>
            </a:r>
            <a:endParaRPr kumimoji="1" lang="zh-CN" altLang="en-US" sz="800" dirty="0">
              <a:solidFill>
                <a:schemeClr val="tx1"/>
              </a:solidFill>
              <a:latin typeface="宋体" panose="02010600030101010101" pitchFamily="2" charset="-122"/>
              <a:ea typeface="宋体" panose="02010600030101010101" pitchFamily="2" charset="-122"/>
            </a:endParaRPr>
          </a:p>
        </p:txBody>
      </p:sp>
      <p:sp>
        <p:nvSpPr>
          <p:cNvPr id="21" name="TextBox 50"/>
          <p:cNvSpPr txBox="1">
            <a:spLocks noChangeArrowheads="1"/>
          </p:cNvSpPr>
          <p:nvPr/>
        </p:nvSpPr>
        <p:spPr bwMode="auto">
          <a:xfrm>
            <a:off x="1959772" y="4086965"/>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latin typeface="宋体" panose="02010600030101010101" pitchFamily="2" charset="-122"/>
                <a:ea typeface="宋体" panose="02010600030101010101" pitchFamily="2" charset="-122"/>
                <a:sym typeface="+mn-ea"/>
              </a:rPr>
              <a:t>4.</a:t>
            </a:r>
            <a:r>
              <a:rPr kumimoji="1" lang="zh-CN" altLang="en-US" sz="800" b="0" dirty="0"/>
              <a:t>优秀销售人员占比更高的挑战型和独立型占比较低</a:t>
            </a:r>
            <a:endParaRPr kumimoji="1" lang="zh-CN" altLang="en-US" sz="800" b="0" dirty="0">
              <a:latin typeface="宋体" panose="02010600030101010101" pitchFamily="2" charset="-122"/>
              <a:ea typeface="宋体" panose="02010600030101010101" pitchFamily="2" charset="-122"/>
            </a:endParaRPr>
          </a:p>
        </p:txBody>
      </p:sp>
      <p:sp>
        <p:nvSpPr>
          <p:cNvPr id="22" name="TextBox 50"/>
          <p:cNvSpPr txBox="1">
            <a:spLocks noChangeArrowheads="1"/>
          </p:cNvSpPr>
          <p:nvPr/>
        </p:nvSpPr>
        <p:spPr bwMode="auto">
          <a:xfrm>
            <a:off x="1959772" y="4480202"/>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solidFill>
                  <a:schemeClr val="tx1"/>
                </a:solidFill>
                <a:latin typeface="宋体" panose="02010600030101010101" pitchFamily="2" charset="-122"/>
                <a:ea typeface="宋体" panose="02010600030101010101" pitchFamily="2" charset="-122"/>
              </a:rPr>
              <a:t>5.</a:t>
            </a:r>
            <a:r>
              <a:rPr kumimoji="1" lang="zh-CN" altLang="en-US" sz="800" b="0" dirty="0">
                <a:solidFill>
                  <a:schemeClr val="tx1"/>
                </a:solidFill>
                <a:latin typeface="宋体" panose="02010600030101010101" pitchFamily="2" charset="-122"/>
                <a:ea typeface="宋体" panose="02010600030101010101" pitchFamily="2" charset="-122"/>
              </a:rPr>
              <a:t>客户经理</a:t>
            </a:r>
            <a:r>
              <a:rPr kumimoji="1" lang="zh-CN" altLang="en-US" sz="800" b="0" dirty="0"/>
              <a:t>长于服务响应，洞察力和掌控力不足</a:t>
            </a:r>
            <a:endParaRPr kumimoji="1" lang="zh-CN" altLang="en-US" sz="800" b="0" dirty="0">
              <a:latin typeface="宋体" panose="02010600030101010101" pitchFamily="2" charset="-122"/>
              <a:ea typeface="宋体" panose="02010600030101010101" pitchFamily="2" charset="-122"/>
            </a:endParaRPr>
          </a:p>
        </p:txBody>
      </p:sp>
      <p:sp>
        <p:nvSpPr>
          <p:cNvPr id="24" name="TextBox 50"/>
          <p:cNvSpPr txBox="1">
            <a:spLocks noChangeArrowheads="1"/>
          </p:cNvSpPr>
          <p:nvPr/>
        </p:nvSpPr>
        <p:spPr bwMode="auto">
          <a:xfrm>
            <a:off x="1959772" y="5659913"/>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solidFill>
                  <a:schemeClr val="tx1"/>
                </a:solidFill>
                <a:latin typeface="宋体" panose="02010600030101010101" pitchFamily="2" charset="-122"/>
                <a:ea typeface="宋体" panose="02010600030101010101" pitchFamily="2" charset="-122"/>
                <a:sym typeface="+mn-ea"/>
              </a:rPr>
              <a:t>8.</a:t>
            </a:r>
            <a:r>
              <a:rPr kumimoji="1" lang="zh-CN" altLang="en-US" sz="800" b="0" dirty="0"/>
              <a:t>客户经理（特别是初级客户经理）基本功不扎实</a:t>
            </a:r>
            <a:endParaRPr kumimoji="1" lang="zh-CN" altLang="en-US" sz="800" b="0" dirty="0">
              <a:latin typeface="宋体" panose="02010600030101010101" pitchFamily="2" charset="-122"/>
              <a:ea typeface="宋体" panose="02010600030101010101" pitchFamily="2" charset="-122"/>
            </a:endParaRPr>
          </a:p>
        </p:txBody>
      </p:sp>
      <p:sp>
        <p:nvSpPr>
          <p:cNvPr id="25" name="TextBox 50"/>
          <p:cNvSpPr txBox="1">
            <a:spLocks noChangeArrowheads="1"/>
          </p:cNvSpPr>
          <p:nvPr/>
        </p:nvSpPr>
        <p:spPr bwMode="auto">
          <a:xfrm>
            <a:off x="1957397" y="6053148"/>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latin typeface="宋体" panose="02010600030101010101" pitchFamily="2" charset="-122"/>
                <a:ea typeface="宋体" panose="02010600030101010101" pitchFamily="2" charset="-122"/>
                <a:sym typeface="+mn-ea"/>
              </a:rPr>
              <a:t>9.</a:t>
            </a:r>
            <a:r>
              <a:rPr kumimoji="1" lang="zh-CN" altLang="en-US" sz="800" b="0" dirty="0"/>
              <a:t>工作任务和岗位定位不匹配，精力分散严重，难以聚焦核心任务</a:t>
            </a:r>
            <a:endParaRPr kumimoji="1" lang="zh-CN" altLang="en-US" sz="800" b="0" dirty="0">
              <a:latin typeface="宋体" panose="02010600030101010101" pitchFamily="2" charset="-122"/>
              <a:ea typeface="宋体" panose="02010600030101010101" pitchFamily="2" charset="-122"/>
            </a:endParaRPr>
          </a:p>
        </p:txBody>
      </p:sp>
      <p:sp>
        <p:nvSpPr>
          <p:cNvPr id="36" name="TextBox 28"/>
          <p:cNvSpPr txBox="1"/>
          <p:nvPr/>
        </p:nvSpPr>
        <p:spPr bwMode="auto">
          <a:xfrm>
            <a:off x="4137332" y="4284341"/>
            <a:ext cx="1187449" cy="700000"/>
          </a:xfrm>
          <a:prstGeom prst="rect">
            <a:avLst/>
          </a:prstGeom>
          <a:noFill/>
        </p:spPr>
        <p:txBody>
          <a:bodyPr>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20000"/>
              </a:lnSpc>
              <a:spcBef>
                <a:spcPts val="0"/>
              </a:spcBef>
              <a:spcAft>
                <a:spcPts val="0"/>
              </a:spcAft>
              <a:buClrTx/>
              <a:buSzTx/>
              <a:buFontTx/>
              <a:buNone/>
              <a:defRPr/>
            </a:pPr>
            <a:r>
              <a:rPr kumimoji="0" lang="zh-CN" altLang="en-US" sz="120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客户导向</a:t>
            </a:r>
            <a:endParaRPr kumimoji="0" lang="en-US" altLang="zh-CN" sz="12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客户画像</a:t>
            </a:r>
            <a:endParaRPr kumimoji="0" lang="en-US" altLang="zh-CN" sz="11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经营客户</a:t>
            </a:r>
            <a:endParaRPr lang="en-US" altLang="zh-CN" sz="1100" b="0" kern="0" dirty="0"/>
          </a:p>
        </p:txBody>
      </p:sp>
      <p:sp>
        <p:nvSpPr>
          <p:cNvPr id="37" name="TextBox 28"/>
          <p:cNvSpPr txBox="1"/>
          <p:nvPr/>
        </p:nvSpPr>
        <p:spPr bwMode="auto">
          <a:xfrm>
            <a:off x="4137332" y="5356116"/>
            <a:ext cx="1187449" cy="1107804"/>
          </a:xfrm>
          <a:prstGeom prst="rect">
            <a:avLst/>
          </a:prstGeom>
          <a:noFill/>
        </p:spPr>
        <p:txBody>
          <a:bodyPr>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20000"/>
              </a:lnSpc>
              <a:spcBef>
                <a:spcPts val="0"/>
              </a:spcBef>
              <a:spcAft>
                <a:spcPts val="0"/>
              </a:spcAft>
              <a:buClrTx/>
              <a:buSzTx/>
              <a:buFontTx/>
              <a:buNone/>
              <a:defRPr/>
            </a:pPr>
            <a:r>
              <a:rPr lang="zh-CN" altLang="en-US" sz="1200" b="1" kern="0" dirty="0"/>
              <a:t>创造绩效</a:t>
            </a:r>
            <a:endParaRPr kumimoji="0" lang="en-US" altLang="zh-CN" sz="11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资源盘整</a:t>
            </a:r>
            <a:endParaRPr lang="en-US" altLang="zh-CN" sz="1100" b="0" kern="0" dirty="0"/>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客户攻关</a:t>
            </a:r>
            <a:endParaRPr lang="en-US" altLang="zh-CN" sz="1100" b="0" kern="0" dirty="0"/>
          </a:p>
          <a:p>
            <a:pPr marL="171450" marR="0" lvl="0" indent="-171450" defTabSz="914400" eaLnBrk="0" fontAlgn="auto" latinLnBrk="0" hangingPunct="0">
              <a:lnSpc>
                <a:spcPct val="120000"/>
              </a:lnSpc>
              <a:spcBef>
                <a:spcPts val="0"/>
              </a:spcBef>
              <a:spcAft>
                <a:spcPts val="0"/>
              </a:spcAft>
              <a:buClrTx/>
              <a:buSzTx/>
              <a:buFont typeface="Arial" panose="020B0604020202020204" pitchFamily="34" charset="0"/>
              <a:buChar char="•"/>
              <a:defRPr/>
            </a:pPr>
            <a:r>
              <a:rPr lang="zh-CN" altLang="en-US" sz="1100" b="0" kern="0" dirty="0"/>
              <a:t>教练育才</a:t>
            </a:r>
            <a:endParaRPr lang="en-US" altLang="zh-CN" sz="1100" b="0" kern="0" dirty="0"/>
          </a:p>
          <a:p>
            <a:pPr marR="0" lvl="0" defTabSz="914400" eaLnBrk="0" fontAlgn="auto" latinLnBrk="0" hangingPunct="0">
              <a:lnSpc>
                <a:spcPct val="120000"/>
              </a:lnSpc>
              <a:spcBef>
                <a:spcPts val="0"/>
              </a:spcBef>
              <a:spcAft>
                <a:spcPts val="0"/>
              </a:spcAft>
              <a:buClrTx/>
              <a:buSzTx/>
              <a:defRPr/>
            </a:pPr>
            <a:endParaRPr kumimoji="0" lang="en-US" altLang="zh-CN" sz="11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38" name="组合 94"/>
          <p:cNvGrpSpPr/>
          <p:nvPr/>
        </p:nvGrpSpPr>
        <p:grpSpPr bwMode="auto">
          <a:xfrm>
            <a:off x="5477174" y="2281238"/>
            <a:ext cx="1258887" cy="4257675"/>
            <a:chOff x="6444209" y="2306638"/>
            <a:chExt cx="1439862" cy="4257675"/>
          </a:xfrm>
        </p:grpSpPr>
        <p:sp>
          <p:nvSpPr>
            <p:cNvPr id="50" name="AutoShape 6"/>
            <p:cNvSpPr>
              <a:spLocks noChangeArrowheads="1"/>
            </p:cNvSpPr>
            <p:nvPr/>
          </p:nvSpPr>
          <p:spPr bwMode="auto">
            <a:xfrm>
              <a:off x="6444209" y="2306638"/>
              <a:ext cx="1439862" cy="431800"/>
            </a:xfrm>
            <a:prstGeom prst="roundRect">
              <a:avLst>
                <a:gd name="adj" fmla="val 16667"/>
              </a:avLst>
            </a:prstGeom>
            <a:solidFill>
              <a:srgbClr val="FFFFFF">
                <a:lumMod val="75000"/>
              </a:srgbClr>
            </a:solidFill>
            <a:ln w="9525">
              <a:noFill/>
              <a:round/>
            </a:ln>
          </p:spPr>
          <p:txBody>
            <a:bodyPr wrap="none"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500" b="1"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charset="-122"/>
                </a:rPr>
                <a:t>学习内容</a:t>
              </a:r>
            </a:p>
          </p:txBody>
        </p:sp>
        <p:sp>
          <p:nvSpPr>
            <p:cNvPr id="51" name="AutoShape 20"/>
            <p:cNvSpPr>
              <a:spLocks noChangeArrowheads="1"/>
            </p:cNvSpPr>
            <p:nvPr/>
          </p:nvSpPr>
          <p:spPr bwMode="auto">
            <a:xfrm>
              <a:off x="6444209" y="2832100"/>
              <a:ext cx="1439862" cy="3732213"/>
            </a:xfrm>
            <a:prstGeom prst="roundRect">
              <a:avLst>
                <a:gd name="adj" fmla="val 5588"/>
              </a:avLst>
            </a:prstGeom>
            <a:solidFill>
              <a:srgbClr val="FFFFFF">
                <a:lumMod val="75000"/>
              </a:srgbClr>
            </a:solidFill>
            <a:ln w="9525">
              <a:noFill/>
              <a:round/>
            </a:ln>
          </p:spPr>
          <p:txBody>
            <a:bodyPr wrap="none" anchor="ct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 name="矩形 28"/>
            <p:cNvSpPr/>
            <p:nvPr/>
          </p:nvSpPr>
          <p:spPr bwMode="auto">
            <a:xfrm>
              <a:off x="6605807" y="3066246"/>
              <a:ext cx="1116666" cy="252413"/>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lang="zh-CN" altLang="en-US" sz="1100" kern="0" dirty="0"/>
                <a:t>产品知识</a:t>
              </a:r>
              <a:endPar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3" name="矩形 28"/>
            <p:cNvSpPr/>
            <p:nvPr/>
          </p:nvSpPr>
          <p:spPr bwMode="auto">
            <a:xfrm>
              <a:off x="6605807" y="3560851"/>
              <a:ext cx="1116666" cy="252412"/>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系统操作</a:t>
              </a:r>
            </a:p>
          </p:txBody>
        </p:sp>
        <p:sp>
          <p:nvSpPr>
            <p:cNvPr id="54" name="矩形 28"/>
            <p:cNvSpPr/>
            <p:nvPr/>
          </p:nvSpPr>
          <p:spPr bwMode="auto">
            <a:xfrm>
              <a:off x="6605807" y="4055455"/>
              <a:ext cx="1116666" cy="252413"/>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专业知识</a:t>
              </a:r>
            </a:p>
          </p:txBody>
        </p:sp>
        <p:sp>
          <p:nvSpPr>
            <p:cNvPr id="55" name="矩形 28"/>
            <p:cNvSpPr/>
            <p:nvPr/>
          </p:nvSpPr>
          <p:spPr bwMode="auto">
            <a:xfrm>
              <a:off x="6604178" y="6033877"/>
              <a:ext cx="1116666" cy="250825"/>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rPr>
                <a:t>团队管理</a:t>
              </a:r>
            </a:p>
          </p:txBody>
        </p:sp>
        <p:sp>
          <p:nvSpPr>
            <p:cNvPr id="56" name="矩形 28"/>
            <p:cNvSpPr/>
            <p:nvPr/>
          </p:nvSpPr>
          <p:spPr bwMode="auto">
            <a:xfrm>
              <a:off x="6605807" y="5044665"/>
              <a:ext cx="1116666" cy="252412"/>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lang="zh-CN" altLang="en-US" sz="1100" b="1" kern="0" dirty="0"/>
                <a:t>客户维护</a:t>
              </a:r>
              <a:endPar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7" name="矩形 28"/>
            <p:cNvSpPr/>
            <p:nvPr/>
          </p:nvSpPr>
          <p:spPr bwMode="auto">
            <a:xfrm>
              <a:off x="6604178" y="4550060"/>
              <a:ext cx="1116666" cy="252413"/>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风险合规</a:t>
              </a:r>
            </a:p>
          </p:txBody>
        </p:sp>
        <p:sp>
          <p:nvSpPr>
            <p:cNvPr id="58" name="矩形 28"/>
            <p:cNvSpPr/>
            <p:nvPr/>
          </p:nvSpPr>
          <p:spPr bwMode="auto">
            <a:xfrm>
              <a:off x="6604177" y="5539269"/>
              <a:ext cx="1116666" cy="252413"/>
            </a:xfrm>
            <a:prstGeom prst="rect">
              <a:avLst/>
            </a:prstGeom>
            <a:solidFill>
              <a:srgbClr val="FFFFCC"/>
            </a:solidFill>
            <a:ln w="9525" cap="flat" cmpd="sng" algn="ctr">
              <a:solidFill>
                <a:srgbClr val="FFFFFF"/>
              </a:solidFill>
              <a:prstDash val="solid"/>
              <a:round/>
              <a:headEnd type="none" w="med" len="med"/>
              <a:tailEnd type="none" w="med" len="med"/>
            </a:ln>
            <a:effectLst>
              <a:outerShdw blurRad="50800" dist="38100" dir="2700000" algn="tl" rotWithShape="0">
                <a:prstClr val="black">
                  <a:alpha val="40000"/>
                </a:prstClr>
              </a:outerShdw>
            </a:effectLst>
          </p:spPr>
          <p:txBody>
            <a:bodyPr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lang="zh-CN" altLang="en-US" sz="1100" b="1" kern="0" dirty="0"/>
                <a:t>产品营销</a:t>
              </a:r>
              <a:endParaRPr kumimoji="0" lang="zh-CN" altLang="en-US" sz="11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39" name="右箭头 84"/>
          <p:cNvSpPr>
            <a:spLocks noChangeArrowheads="1"/>
          </p:cNvSpPr>
          <p:nvPr/>
        </p:nvSpPr>
        <p:spPr bwMode="auto">
          <a:xfrm>
            <a:off x="5324781" y="2419350"/>
            <a:ext cx="215900" cy="204788"/>
          </a:xfrm>
          <a:prstGeom prst="rightArrow">
            <a:avLst>
              <a:gd name="adj1" fmla="val 50000"/>
              <a:gd name="adj2" fmla="val 50121"/>
            </a:avLst>
          </a:prstGeom>
          <a:solidFill>
            <a:srgbClr val="FFFFFF"/>
          </a:solidFill>
          <a:ln w="9525" algn="ctr">
            <a:solidFill>
              <a:srgbClr val="FFFFFF"/>
            </a:solidFill>
            <a:round/>
          </a:ln>
        </p:spPr>
        <p:txBody>
          <a:bodyPr wrap="none" lIns="0" tIns="0" rIns="0" bIns="0" anchor="ct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300" b="1"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cxnSp>
        <p:nvCxnSpPr>
          <p:cNvPr id="40" name="直接箭头连接符 96"/>
          <p:cNvCxnSpPr>
            <a:cxnSpLocks noChangeShapeType="1"/>
            <a:stCxn id="87" idx="3"/>
            <a:endCxn id="52" idx="1"/>
          </p:cNvCxnSpPr>
          <p:nvPr/>
        </p:nvCxnSpPr>
        <p:spPr bwMode="auto">
          <a:xfrm flipV="1">
            <a:off x="5324781" y="3167053"/>
            <a:ext cx="293680" cy="273461"/>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41" name="直接箭头连接符 96"/>
          <p:cNvCxnSpPr>
            <a:cxnSpLocks noChangeShapeType="1"/>
            <a:stCxn id="87" idx="3"/>
            <a:endCxn id="53" idx="1"/>
          </p:cNvCxnSpPr>
          <p:nvPr/>
        </p:nvCxnSpPr>
        <p:spPr bwMode="auto">
          <a:xfrm>
            <a:off x="5324781" y="3440514"/>
            <a:ext cx="293680" cy="221143"/>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sp>
        <p:nvSpPr>
          <p:cNvPr id="42" name="圆角矩形 41"/>
          <p:cNvSpPr/>
          <p:nvPr/>
        </p:nvSpPr>
        <p:spPr bwMode="auto">
          <a:xfrm>
            <a:off x="5413451" y="2187576"/>
            <a:ext cx="4097261" cy="4419370"/>
          </a:xfrm>
          <a:prstGeom prst="roundRect">
            <a:avLst>
              <a:gd name="adj" fmla="val 2702"/>
            </a:avLst>
          </a:prstGeom>
          <a:noFill/>
          <a:ln w="9525" cap="flat" cmpd="sng" algn="ctr">
            <a:solidFill>
              <a:schemeClr val="bg1"/>
            </a:solidFill>
            <a:prstDash val="solid"/>
            <a:round/>
            <a:headEnd type="none" w="med" len="med"/>
            <a:tailEnd type="none" w="med" len="med"/>
          </a:ln>
        </p:spPr>
        <p:txBody>
          <a:bodyPr vert="horz" wrap="square" lIns="0" tIns="0" rIns="0" bIns="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p:txBody>
      </p:sp>
      <p:cxnSp>
        <p:nvCxnSpPr>
          <p:cNvPr id="43" name="直接箭头连接符 96"/>
          <p:cNvCxnSpPr>
            <a:cxnSpLocks noChangeShapeType="1"/>
            <a:stCxn id="87" idx="3"/>
            <a:endCxn id="54" idx="1"/>
          </p:cNvCxnSpPr>
          <p:nvPr/>
        </p:nvCxnSpPr>
        <p:spPr bwMode="auto">
          <a:xfrm>
            <a:off x="5324781" y="3440514"/>
            <a:ext cx="293680" cy="715748"/>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44" name="直接箭头连接符 96"/>
          <p:cNvCxnSpPr>
            <a:cxnSpLocks noChangeShapeType="1"/>
            <a:stCxn id="36" idx="3"/>
            <a:endCxn id="58" idx="1"/>
          </p:cNvCxnSpPr>
          <p:nvPr/>
        </p:nvCxnSpPr>
        <p:spPr bwMode="auto">
          <a:xfrm>
            <a:off x="5324781" y="4634341"/>
            <a:ext cx="292255" cy="1005735"/>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45" name="直接箭头连接符 96"/>
          <p:cNvCxnSpPr>
            <a:cxnSpLocks noChangeShapeType="1"/>
            <a:stCxn id="36" idx="3"/>
            <a:endCxn id="56" idx="1"/>
          </p:cNvCxnSpPr>
          <p:nvPr/>
        </p:nvCxnSpPr>
        <p:spPr bwMode="auto">
          <a:xfrm>
            <a:off x="5324781" y="4634341"/>
            <a:ext cx="293680" cy="511130"/>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46" name="直接箭头连接符 96"/>
          <p:cNvCxnSpPr>
            <a:cxnSpLocks noChangeShapeType="1"/>
            <a:stCxn id="37" idx="3"/>
            <a:endCxn id="58" idx="1"/>
          </p:cNvCxnSpPr>
          <p:nvPr/>
        </p:nvCxnSpPr>
        <p:spPr bwMode="auto">
          <a:xfrm flipV="1">
            <a:off x="5324781" y="5640076"/>
            <a:ext cx="292255" cy="269942"/>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47" name="直接箭头连接符 96"/>
          <p:cNvCxnSpPr>
            <a:cxnSpLocks noChangeShapeType="1"/>
            <a:stCxn id="37" idx="3"/>
            <a:endCxn id="55" idx="1"/>
          </p:cNvCxnSpPr>
          <p:nvPr/>
        </p:nvCxnSpPr>
        <p:spPr bwMode="auto">
          <a:xfrm>
            <a:off x="5324781" y="5910018"/>
            <a:ext cx="292256" cy="223872"/>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sp>
        <p:nvSpPr>
          <p:cNvPr id="89"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pPr algn="ctr"/>
            <a:r>
              <a:rPr lang="zh-CN" altLang="en-US" sz="2200" kern="0" dirty="0"/>
              <a:t>学习地图是承接能力模型的学习解决方案，重点包括学习内容和培养项目</a:t>
            </a:r>
          </a:p>
        </p:txBody>
      </p:sp>
      <p:sp>
        <p:nvSpPr>
          <p:cNvPr id="91" name="TextBox 50"/>
          <p:cNvSpPr txBox="1">
            <a:spLocks noChangeArrowheads="1"/>
          </p:cNvSpPr>
          <p:nvPr/>
        </p:nvSpPr>
        <p:spPr bwMode="auto">
          <a:xfrm>
            <a:off x="1958241" y="4873439"/>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solidFill>
                  <a:schemeClr val="tx1"/>
                </a:solidFill>
                <a:latin typeface="宋体" panose="02010600030101010101" pitchFamily="2" charset="-122"/>
                <a:ea typeface="宋体" panose="02010600030101010101" pitchFamily="2" charset="-122"/>
                <a:sym typeface="+mn-ea"/>
              </a:rPr>
              <a:t>6.</a:t>
            </a:r>
            <a:r>
              <a:rPr kumimoji="1" lang="zh-CN" altLang="en-US" sz="800" b="0" dirty="0"/>
              <a:t>新老客户经理均面临客户关系难以突破的困难</a:t>
            </a:r>
            <a:endParaRPr kumimoji="1" lang="zh-CN" altLang="en-US" sz="800" b="0" dirty="0">
              <a:latin typeface="宋体" panose="02010600030101010101" pitchFamily="2" charset="-122"/>
              <a:ea typeface="宋体" panose="02010600030101010101" pitchFamily="2" charset="-122"/>
            </a:endParaRPr>
          </a:p>
        </p:txBody>
      </p:sp>
      <p:sp>
        <p:nvSpPr>
          <p:cNvPr id="92" name="TextBox 50"/>
          <p:cNvSpPr txBox="1">
            <a:spLocks noChangeArrowheads="1"/>
          </p:cNvSpPr>
          <p:nvPr/>
        </p:nvSpPr>
        <p:spPr bwMode="auto">
          <a:xfrm>
            <a:off x="1958241" y="5266676"/>
            <a:ext cx="1895570" cy="338554"/>
          </a:xfrm>
          <a:prstGeom prst="rect">
            <a:avLst/>
          </a:prstGeom>
          <a:solidFill>
            <a:srgbClr val="FFFFCC"/>
          </a:solidFill>
          <a:ln w="9525">
            <a:solidFill>
              <a:srgbClr val="FFFFFF"/>
            </a:solidFill>
            <a:miter lim="800000"/>
          </a:ln>
        </p:spPr>
        <p:txBody>
          <a:bodyPr wrap="square">
            <a:spAutoFit/>
          </a:bodyPr>
          <a:lstStyle>
            <a:lvl1pPr eaLnBrk="0" hangingPunct="0">
              <a:defRPr sz="1300">
                <a:solidFill>
                  <a:srgbClr val="000000"/>
                </a:solidFill>
                <a:latin typeface="Arial" panose="020B0604020202020204" pitchFamily="34" charset="0"/>
                <a:ea typeface="宋体" panose="02010600030101010101" pitchFamily="2" charset="-122"/>
              </a:defRPr>
            </a:lvl1pPr>
            <a:lvl2pPr marL="742950" indent="-285750" eaLnBrk="0" hangingPunct="0">
              <a:defRPr sz="1300">
                <a:solidFill>
                  <a:srgbClr val="000000"/>
                </a:solidFill>
                <a:latin typeface="Arial" panose="020B0604020202020204" pitchFamily="34" charset="0"/>
                <a:ea typeface="宋体" panose="02010600030101010101" pitchFamily="2" charset="-122"/>
              </a:defRPr>
            </a:lvl2pPr>
            <a:lvl3pPr marL="1143000" indent="-228600" eaLnBrk="0" hangingPunct="0">
              <a:defRPr sz="1300">
                <a:solidFill>
                  <a:srgbClr val="000000"/>
                </a:solidFill>
                <a:latin typeface="Arial" panose="020B0604020202020204" pitchFamily="34" charset="0"/>
                <a:ea typeface="宋体" panose="02010600030101010101" pitchFamily="2" charset="-122"/>
              </a:defRPr>
            </a:lvl3pPr>
            <a:lvl4pPr marL="1600200" indent="-228600" eaLnBrk="0" hangingPunct="0">
              <a:defRPr sz="1300">
                <a:solidFill>
                  <a:srgbClr val="000000"/>
                </a:solidFill>
                <a:latin typeface="Arial" panose="020B0604020202020204" pitchFamily="34" charset="0"/>
                <a:ea typeface="宋体" panose="02010600030101010101" pitchFamily="2" charset="-122"/>
              </a:defRPr>
            </a:lvl4pPr>
            <a:lvl5pPr marL="2057400" indent="-228600" eaLnBrk="0" hangingPunct="0">
              <a:defRPr sz="13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a:solidFill>
                  <a:srgbClr val="000000"/>
                </a:solidFill>
                <a:latin typeface="Arial" panose="020B0604020202020204" pitchFamily="34" charset="0"/>
                <a:ea typeface="宋体" panose="02010600030101010101" pitchFamily="2" charset="-122"/>
              </a:defRPr>
            </a:lvl9pPr>
          </a:lstStyle>
          <a:p>
            <a:r>
              <a:rPr kumimoji="1" lang="en-US" altLang="zh-CN" sz="800" b="0" dirty="0">
                <a:latin typeface="宋体" panose="02010600030101010101" pitchFamily="2" charset="-122"/>
                <a:ea typeface="宋体" panose="02010600030101010101" pitchFamily="2" charset="-122"/>
                <a:sym typeface="+mn-ea"/>
              </a:rPr>
              <a:t>7.</a:t>
            </a:r>
            <a:r>
              <a:rPr kumimoji="1" lang="zh-CN" altLang="en-US" sz="800" b="0" dirty="0"/>
              <a:t>大部份客户不够了解，缺少客户群意识，</a:t>
            </a:r>
            <a:r>
              <a:rPr kumimoji="1" lang="en-US" altLang="zh-CN" sz="800" b="0" dirty="0"/>
              <a:t>KYC</a:t>
            </a:r>
            <a:r>
              <a:rPr kumimoji="1" lang="zh-CN" altLang="en-US" sz="800" b="0" dirty="0"/>
              <a:t>常常流于表面</a:t>
            </a:r>
            <a:endParaRPr kumimoji="1" lang="zh-CN" altLang="en-US" sz="800" b="0" dirty="0">
              <a:latin typeface="宋体" panose="02010600030101010101" pitchFamily="2" charset="-122"/>
              <a:ea typeface="宋体" panose="02010600030101010101" pitchFamily="2" charset="-122"/>
            </a:endParaRPr>
          </a:p>
        </p:txBody>
      </p:sp>
      <p:cxnSp>
        <p:nvCxnSpPr>
          <p:cNvPr id="97" name="直接箭头连接符 96"/>
          <p:cNvCxnSpPr>
            <a:cxnSpLocks noChangeShapeType="1"/>
            <a:endCxn id="57" idx="1"/>
          </p:cNvCxnSpPr>
          <p:nvPr/>
        </p:nvCxnSpPr>
        <p:spPr bwMode="auto">
          <a:xfrm>
            <a:off x="5323357" y="3436992"/>
            <a:ext cx="293680" cy="1213875"/>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100" name="直接箭头连接符 96"/>
          <p:cNvCxnSpPr>
            <a:cxnSpLocks noChangeShapeType="1"/>
            <a:stCxn id="63" idx="3"/>
            <a:endCxn id="68" idx="1"/>
          </p:cNvCxnSpPr>
          <p:nvPr/>
        </p:nvCxnSpPr>
        <p:spPr bwMode="auto">
          <a:xfrm>
            <a:off x="7980065" y="3728937"/>
            <a:ext cx="341657" cy="102961"/>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103" name="直接箭头连接符 96"/>
          <p:cNvCxnSpPr>
            <a:cxnSpLocks noChangeShapeType="1"/>
            <a:stCxn id="64" idx="3"/>
            <a:endCxn id="69" idx="1"/>
          </p:cNvCxnSpPr>
          <p:nvPr/>
        </p:nvCxnSpPr>
        <p:spPr bwMode="auto">
          <a:xfrm>
            <a:off x="7980065" y="4721248"/>
            <a:ext cx="341657" cy="526398"/>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cxnSp>
        <p:nvCxnSpPr>
          <p:cNvPr id="106" name="直接箭头连接符 96"/>
          <p:cNvCxnSpPr>
            <a:cxnSpLocks noChangeShapeType="1"/>
            <a:endCxn id="69" idx="1"/>
          </p:cNvCxnSpPr>
          <p:nvPr/>
        </p:nvCxnSpPr>
        <p:spPr bwMode="auto">
          <a:xfrm flipV="1">
            <a:off x="8036317" y="5247646"/>
            <a:ext cx="285405" cy="447395"/>
          </a:xfrm>
          <a:prstGeom prst="straightConnector1">
            <a:avLst/>
          </a:prstGeom>
          <a:noFill/>
          <a:ln w="9525" algn="ctr">
            <a:solidFill>
              <a:srgbClr val="000000"/>
            </a:solidFill>
            <a:prstDash val="dash"/>
            <a:round/>
            <a:headEnd type="none" w="med" len="med"/>
            <a:tailEnd type="triangle" w="med" len="med"/>
          </a:ln>
          <a:extLst>
            <a:ext uri="{909E8E84-426E-40DD-AFC4-6F175D3DCCD1}">
              <a14:hiddenFill xmlns:a14="http://schemas.microsoft.com/office/drawing/2010/main">
                <a:noFill/>
              </a14:hiddenFill>
            </a:ext>
          </a:extLst>
        </p:spPr>
      </p:cxnSp>
      <p:sp>
        <p:nvSpPr>
          <p:cNvPr id="113" name="矩形 112"/>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客户经理各层级学习内容主要基于能力模型能力项和关键行为定义</a:t>
            </a:r>
          </a:p>
        </p:txBody>
      </p:sp>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5</a:t>
            </a:fld>
            <a:endParaRPr lang="zh-CN" altLang="en-US"/>
          </a:p>
        </p:txBody>
      </p:sp>
      <p:sp>
        <p:nvSpPr>
          <p:cNvPr id="22" name="矩形 21"/>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graphicFrame>
        <p:nvGraphicFramePr>
          <p:cNvPr id="21" name="表格 20"/>
          <p:cNvGraphicFramePr>
            <a:graphicFrameLocks noGrp="1"/>
          </p:cNvGraphicFramePr>
          <p:nvPr/>
        </p:nvGraphicFramePr>
        <p:xfrm>
          <a:off x="523874" y="1809768"/>
          <a:ext cx="8863014" cy="4755129"/>
        </p:xfrm>
        <a:graphic>
          <a:graphicData uri="http://schemas.openxmlformats.org/drawingml/2006/table">
            <a:tbl>
              <a:tblPr/>
              <a:tblGrid>
                <a:gridCol w="795640">
                  <a:extLst>
                    <a:ext uri="{9D8B030D-6E8A-4147-A177-3AD203B41FA5}">
                      <a16:colId xmlns:a16="http://schemas.microsoft.com/office/drawing/2014/main" val="20000"/>
                    </a:ext>
                  </a:extLst>
                </a:gridCol>
                <a:gridCol w="1018572">
                  <a:extLst>
                    <a:ext uri="{9D8B030D-6E8A-4147-A177-3AD203B41FA5}">
                      <a16:colId xmlns:a16="http://schemas.microsoft.com/office/drawing/2014/main" val="20001"/>
                    </a:ext>
                  </a:extLst>
                </a:gridCol>
                <a:gridCol w="5474825">
                  <a:extLst>
                    <a:ext uri="{9D8B030D-6E8A-4147-A177-3AD203B41FA5}">
                      <a16:colId xmlns:a16="http://schemas.microsoft.com/office/drawing/2014/main" val="20002"/>
                    </a:ext>
                  </a:extLst>
                </a:gridCol>
                <a:gridCol w="1573977">
                  <a:extLst>
                    <a:ext uri="{9D8B030D-6E8A-4147-A177-3AD203B41FA5}">
                      <a16:colId xmlns:a16="http://schemas.microsoft.com/office/drawing/2014/main" val="20003"/>
                    </a:ext>
                  </a:extLst>
                </a:gridCol>
              </a:tblGrid>
              <a:tr h="279574">
                <a:tc gridSpan="4">
                  <a:txBody>
                    <a:bodyPr/>
                    <a:lstStyle/>
                    <a:p>
                      <a:pPr algn="ctr" fontAlgn="ctr"/>
                      <a:r>
                        <a:rPr lang="zh-CN" altLang="en-US" sz="1400" b="1" i="0" u="none" strike="noStrike" dirty="0">
                          <a:solidFill>
                            <a:srgbClr val="000000"/>
                          </a:solidFill>
                          <a:effectLst/>
                          <a:latin typeface="楷体" panose="02010609060101010101" pitchFamily="49" charset="-122"/>
                          <a:ea typeface="楷体" panose="02010609060101010101" pitchFamily="49" charset="-122"/>
                        </a:rPr>
                        <a:t>对私客户经理（理财）能力模型 </a:t>
                      </a:r>
                      <a:r>
                        <a:rPr lang="en-GB" sz="1400" b="1" i="0" u="none" strike="noStrike" dirty="0">
                          <a:solidFill>
                            <a:srgbClr val="000000"/>
                          </a:solidFill>
                          <a:effectLst/>
                          <a:latin typeface="楷体" panose="02010609060101010101" pitchFamily="49" charset="-122"/>
                          <a:ea typeface="楷体" panose="02010609060101010101" pitchFamily="49" charset="-122"/>
                        </a:rPr>
                        <a:t>V2.1</a:t>
                      </a:r>
                    </a:p>
                  </a:txBody>
                  <a:tcPr marL="3713" marR="3713" marT="371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79574">
                <a:tc>
                  <a:txBody>
                    <a:bodyPr/>
                    <a:lstStyle/>
                    <a:p>
                      <a:pPr algn="ctr" fontAlgn="ctr"/>
                      <a:r>
                        <a:rPr lang="zh-CN" altLang="en-US" sz="1400" b="1" i="0" u="none" strike="noStrike">
                          <a:solidFill>
                            <a:srgbClr val="000000"/>
                          </a:solidFill>
                          <a:effectLst/>
                          <a:latin typeface="楷体" panose="02010609060101010101" pitchFamily="49" charset="-122"/>
                          <a:ea typeface="楷体" panose="02010609060101010101" pitchFamily="49" charset="-122"/>
                        </a:rPr>
                        <a:t>能力维度</a:t>
                      </a:r>
                    </a:p>
                  </a:txBody>
                  <a:tcPr marL="3713" marR="3713" marT="371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b="1" i="0" u="none" strike="noStrike">
                          <a:solidFill>
                            <a:srgbClr val="000000"/>
                          </a:solidFill>
                          <a:effectLst/>
                          <a:latin typeface="楷体" panose="02010609060101010101" pitchFamily="49" charset="-122"/>
                          <a:ea typeface="楷体" panose="02010609060101010101" pitchFamily="49" charset="-122"/>
                        </a:rPr>
                        <a:t>能力项</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b="1" i="0" u="none" strike="noStrike">
                          <a:solidFill>
                            <a:srgbClr val="000000"/>
                          </a:solidFill>
                          <a:effectLst/>
                          <a:latin typeface="楷体" panose="02010609060101010101" pitchFamily="49" charset="-122"/>
                          <a:ea typeface="楷体" panose="02010609060101010101" pitchFamily="49" charset="-122"/>
                        </a:rPr>
                        <a:t>定义</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400" b="1" i="0" u="none" strike="noStrike">
                          <a:solidFill>
                            <a:srgbClr val="000000"/>
                          </a:solidFill>
                          <a:effectLst/>
                          <a:latin typeface="楷体" panose="02010609060101010101" pitchFamily="49" charset="-122"/>
                          <a:ea typeface="楷体" panose="02010609060101010101" pitchFamily="49" charset="-122"/>
                        </a:rPr>
                        <a:t>关键行为</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6384">
                <a:tc rowSpan="8">
                  <a:txBody>
                    <a:bodyPr/>
                    <a:lstStyle/>
                    <a:p>
                      <a:pPr algn="ctr" fontAlgn="ctr"/>
                      <a:r>
                        <a:rPr lang="zh-CN" altLang="en-US" sz="1400" b="1" i="0" u="none" strike="noStrike" dirty="0">
                          <a:solidFill>
                            <a:srgbClr val="000000"/>
                          </a:solidFill>
                          <a:effectLst/>
                          <a:latin typeface="楷体" panose="02010609060101010101" pitchFamily="49" charset="-122"/>
                          <a:ea typeface="楷体" panose="02010609060101010101" pitchFamily="49" charset="-122"/>
                        </a:rPr>
                        <a:t>自我精进</a:t>
                      </a:r>
                    </a:p>
                  </a:txBody>
                  <a:tcPr marL="3713" marR="3713" marT="371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高效执行</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以目标导向，抓住重点工作任务，做好工作统筹，在精细化管理模式下，做好目标计划和过程跟踪，协同团队开展营销工作，实现精力投入与团队协作的效益最大化。</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计划组织</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执行跟踪</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效益复盘</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6384">
                <a:tc vMerge="1">
                  <a:txBody>
                    <a:bodyPr/>
                    <a:lstStyle/>
                    <a:p>
                      <a:endParaRPr lang="zh-CN"/>
                    </a:p>
                  </a:txBody>
                  <a:tcPr/>
                </a:tc>
                <a:tc rowSpan="3">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专业致胜</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以客户为中心，主动加强学习，提升综合服务能力，服务穿透价值，合规保驾护航；打造“理财首选建行”的品牌。</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深度理解产品</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专业呈现</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持续精进</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6384">
                <a:tc vMerge="1">
                  <a:txBody>
                    <a:bodyPr/>
                    <a:lstStyle/>
                    <a:p>
                      <a:endParaRPr lang="zh-CN"/>
                    </a:p>
                  </a:txBody>
                  <a:tcPr/>
                </a:tc>
                <a:tc rowSpan="2">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风险防控</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提升个人风险意识，关注可能产生风险的业务流程，落实消费者权益保护、反洗钱等合规要求，开展消费者教育，识别经营风险，做好风险防范。</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识别风险因素</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93916">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警示教育</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86384">
                <a:tc rowSpan="7">
                  <a:txBody>
                    <a:bodyPr/>
                    <a:lstStyle/>
                    <a:p>
                      <a:pPr algn="ctr" fontAlgn="ctr"/>
                      <a:r>
                        <a:rPr lang="zh-CN" altLang="en-US" sz="1400" b="1" i="0" u="none" strike="noStrike">
                          <a:solidFill>
                            <a:srgbClr val="000000"/>
                          </a:solidFill>
                          <a:effectLst/>
                          <a:latin typeface="楷体" panose="02010609060101010101" pitchFamily="49" charset="-122"/>
                          <a:ea typeface="楷体" panose="02010609060101010101" pitchFamily="49" charset="-122"/>
                        </a:rPr>
                        <a:t>客户导向</a:t>
                      </a:r>
                    </a:p>
                  </a:txBody>
                  <a:tcPr marL="3713" marR="3713" marT="371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4">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客户画像</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4">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了解客户的基本信息（家庭信息、资产情况等），分析客户所处的生命周期，运用系统及工具洞察客户的真实需求。</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了解客户</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5559">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分析资产质量动态</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a:solidFill>
                            <a:srgbClr val="000000"/>
                          </a:solidFill>
                          <a:effectLst/>
                          <a:latin typeface="楷体" panose="02010609060101010101" pitchFamily="49" charset="-122"/>
                          <a:ea typeface="楷体" panose="02010609060101010101" pitchFamily="49" charset="-122"/>
                        </a:rPr>
                        <a:t>发现客群联系</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a:solidFill>
                            <a:srgbClr val="000000"/>
                          </a:solidFill>
                          <a:effectLst/>
                          <a:latin typeface="楷体" panose="02010609060101010101" pitchFamily="49" charset="-122"/>
                          <a:ea typeface="楷体" panose="02010609060101010101" pitchFamily="49" charset="-122"/>
                        </a:rPr>
                        <a:t>挖掘需求</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86384">
                <a:tc vMerge="1">
                  <a:txBody>
                    <a:bodyPr/>
                    <a:lstStyle/>
                    <a:p>
                      <a:endParaRPr lang="zh-CN"/>
                    </a:p>
                  </a:txBody>
                  <a:tcPr/>
                </a:tc>
                <a:tc rowSpan="3">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经营客户</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通过提高客户经理的服务能力，定期联系客户，深度了解客户的需求，为客户创造价值，提升客户满意度。</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高效服务</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a:solidFill>
                            <a:srgbClr val="000000"/>
                          </a:solidFill>
                          <a:effectLst/>
                          <a:latin typeface="楷体" panose="02010609060101010101" pitchFamily="49" charset="-122"/>
                          <a:ea typeface="楷体" panose="02010609060101010101" pitchFamily="49" charset="-122"/>
                        </a:rPr>
                        <a:t>制定价值方案</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建立伙伴关系</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186384">
                <a:tc rowSpan="7">
                  <a:txBody>
                    <a:bodyPr/>
                    <a:lstStyle/>
                    <a:p>
                      <a:pPr algn="ctr" fontAlgn="ctr"/>
                      <a:r>
                        <a:rPr lang="zh-CN" altLang="en-US" sz="1400" b="1" i="0" u="none" strike="noStrike">
                          <a:solidFill>
                            <a:srgbClr val="000000"/>
                          </a:solidFill>
                          <a:effectLst/>
                          <a:latin typeface="楷体" panose="02010609060101010101" pitchFamily="49" charset="-122"/>
                          <a:ea typeface="楷体" panose="02010609060101010101" pitchFamily="49" charset="-122"/>
                        </a:rPr>
                        <a:t>创造绩效</a:t>
                      </a:r>
                    </a:p>
                  </a:txBody>
                  <a:tcPr marL="3713" marR="3713" marT="3713"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rowSpan="2">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资源盘整</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盘点可用、可借、可拓的各类资源，根据客户痛点和需求，优化配置资源以达到最佳的组合和协同，从而提升客户满意度。</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掌握竞争优势</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93916">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协同联动</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186384">
                <a:tc vMerge="1">
                  <a:txBody>
                    <a:bodyPr/>
                    <a:lstStyle/>
                    <a:p>
                      <a:endParaRPr lang="zh-CN"/>
                    </a:p>
                  </a:txBody>
                  <a:tcPr/>
                </a:tc>
                <a:tc rowSpan="3">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客户攻关</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制定销售计划并转化为实际行动，充分准备，主动影响，适当施压，最终达成双赢局面。</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制定销售计划</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引导和影响客户</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20"/>
                  </a:ext>
                </a:extLst>
              </a:tr>
              <a:tr h="186384">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商务谈判</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186384">
                <a:tc vMerge="1">
                  <a:txBody>
                    <a:bodyPr/>
                    <a:lstStyle/>
                    <a:p>
                      <a:endParaRPr lang="zh-CN"/>
                    </a:p>
                  </a:txBody>
                  <a:tcPr/>
                </a:tc>
                <a:tc rowSpan="2">
                  <a:txBody>
                    <a:bodyPr/>
                    <a:lstStyle/>
                    <a:p>
                      <a:pPr algn="ctr" fontAlgn="ctr"/>
                      <a:r>
                        <a:rPr lang="zh-CN" altLang="en-US" sz="1400" b="0" i="0" u="none" strike="noStrike">
                          <a:solidFill>
                            <a:srgbClr val="000000"/>
                          </a:solidFill>
                          <a:effectLst/>
                          <a:latin typeface="楷体" panose="02010609060101010101" pitchFamily="49" charset="-122"/>
                          <a:ea typeface="楷体" panose="02010609060101010101" pitchFamily="49" charset="-122"/>
                        </a:rPr>
                        <a:t>教练育才</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rowSpan="2">
                  <a:txBody>
                    <a:bodyPr/>
                    <a:lstStyle/>
                    <a:p>
                      <a:pPr algn="l"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以丰富的工作经验和投入状态，激发网点或团队人员的成长动机，帮助同事挖掘和发挥自己的潜力，应对工作中的挑战，保持最佳工作状态</a:t>
                      </a:r>
                    </a:p>
                  </a:txBody>
                  <a:tcPr marL="3713" marR="3713" marT="3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组织学习活动</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22"/>
                  </a:ext>
                </a:extLst>
              </a:tr>
              <a:tr h="193916">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200" b="0" i="0" u="none" strike="noStrike" dirty="0">
                          <a:solidFill>
                            <a:srgbClr val="000000"/>
                          </a:solidFill>
                          <a:effectLst/>
                          <a:latin typeface="楷体" panose="02010609060101010101" pitchFamily="49" charset="-122"/>
                          <a:ea typeface="楷体" panose="02010609060101010101" pitchFamily="49" charset="-122"/>
                        </a:rPr>
                        <a:t>指导反馈</a:t>
                      </a:r>
                    </a:p>
                  </a:txBody>
                  <a:tcPr marL="3713" marR="3713" marT="3713"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2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6</a:t>
            </a:fld>
            <a:endParaRPr lang="zh-CN" altLang="en-US"/>
          </a:p>
        </p:txBody>
      </p:sp>
      <p:sp>
        <p:nvSpPr>
          <p:cNvPr id="28" name="标题 3"/>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各层级客户经理都有明确的角色定位和能力发展要求是学习地图的基本特点</a:t>
            </a:r>
          </a:p>
        </p:txBody>
      </p:sp>
      <p:sp>
        <p:nvSpPr>
          <p:cNvPr id="30" name="矩形 29"/>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grpSp>
        <p:nvGrpSpPr>
          <p:cNvPr id="29" name="组合 28"/>
          <p:cNvGrpSpPr/>
          <p:nvPr/>
        </p:nvGrpSpPr>
        <p:grpSpPr>
          <a:xfrm>
            <a:off x="0" y="1727815"/>
            <a:ext cx="9565482" cy="5046741"/>
            <a:chOff x="62066" y="1705610"/>
            <a:chExt cx="10598631" cy="5046741"/>
          </a:xfrm>
        </p:grpSpPr>
        <p:grpSp>
          <p:nvGrpSpPr>
            <p:cNvPr id="31" name="组合 30"/>
            <p:cNvGrpSpPr/>
            <p:nvPr/>
          </p:nvGrpSpPr>
          <p:grpSpPr>
            <a:xfrm>
              <a:off x="992622" y="1705610"/>
              <a:ext cx="9668075" cy="5046741"/>
              <a:chOff x="896889" y="1487011"/>
              <a:chExt cx="9668075" cy="5046741"/>
            </a:xfrm>
          </p:grpSpPr>
          <p:sp>
            <p:nvSpPr>
              <p:cNvPr id="43" name="TextBox 5"/>
              <p:cNvSpPr txBox="1">
                <a:spLocks noChangeArrowheads="1"/>
              </p:cNvSpPr>
              <p:nvPr/>
            </p:nvSpPr>
            <p:spPr bwMode="auto">
              <a:xfrm>
                <a:off x="896889" y="1496836"/>
                <a:ext cx="2071336" cy="338554"/>
              </a:xfrm>
              <a:prstGeom prst="rect">
                <a:avLst/>
              </a:prstGeom>
              <a:noFill/>
              <a:ln>
                <a:noFill/>
              </a:ln>
            </p:spPr>
            <p:txBody>
              <a:bodyPr wrap="none">
                <a:spAutoFit/>
              </a:bodyPr>
              <a:lstStyle>
                <a:lvl1pPr>
                  <a:defRPr sz="1400">
                    <a:solidFill>
                      <a:srgbClr val="000000"/>
                    </a:solidFill>
                    <a:latin typeface="Arial" panose="020B0604020202020204" pitchFamily="34" charset="0"/>
                    <a:ea typeface="微软雅黑" panose="020B0503020204020204" pitchFamily="34" charset="-122"/>
                  </a:defRPr>
                </a:lvl1pPr>
                <a:lvl2pPr marL="742950" indent="-285750">
                  <a:defRPr sz="1400">
                    <a:solidFill>
                      <a:srgbClr val="000000"/>
                    </a:solidFill>
                    <a:latin typeface="Arial" panose="020B0604020202020204" pitchFamily="34" charset="0"/>
                    <a:ea typeface="微软雅黑" panose="020B0503020204020204" pitchFamily="34" charset="-122"/>
                  </a:defRPr>
                </a:lvl2pPr>
                <a:lvl3pPr marL="1143000" indent="-228600">
                  <a:defRPr sz="1400">
                    <a:solidFill>
                      <a:srgbClr val="000000"/>
                    </a:solidFill>
                    <a:latin typeface="Arial" panose="020B0604020202020204" pitchFamily="34" charset="0"/>
                    <a:ea typeface="微软雅黑" panose="020B0503020204020204" pitchFamily="34" charset="-122"/>
                  </a:defRPr>
                </a:lvl3pPr>
                <a:lvl4pPr marL="1600200" indent="-228600">
                  <a:defRPr sz="1400">
                    <a:solidFill>
                      <a:srgbClr val="000000"/>
                    </a:solidFill>
                    <a:latin typeface="Arial" panose="020B0604020202020204" pitchFamily="34" charset="0"/>
                    <a:ea typeface="微软雅黑" panose="020B0503020204020204" pitchFamily="34" charset="-122"/>
                  </a:defRPr>
                </a:lvl4pPr>
                <a:lvl5pPr marL="2057400" indent="-228600">
                  <a:defRPr sz="1400">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9pPr>
              </a:lstStyle>
              <a:p>
                <a:pPr>
                  <a:defRPr/>
                </a:pPr>
                <a:r>
                  <a:rPr lang="zh-CN" altLang="en-US" sz="1600" b="1" dirty="0">
                    <a:latin typeface="楷体" panose="02010609060101010101" pitchFamily="49" charset="-122"/>
                    <a:ea typeface="楷体" panose="02010609060101010101" pitchFamily="49" charset="-122"/>
                  </a:rPr>
                  <a:t>客户经理发展阶段</a:t>
                </a:r>
              </a:p>
            </p:txBody>
          </p:sp>
          <p:sp>
            <p:nvSpPr>
              <p:cNvPr id="44" name="TextBox 88"/>
              <p:cNvSpPr txBox="1">
                <a:spLocks noChangeArrowheads="1"/>
              </p:cNvSpPr>
              <p:nvPr/>
            </p:nvSpPr>
            <p:spPr bwMode="auto">
              <a:xfrm>
                <a:off x="7767922" y="1496836"/>
                <a:ext cx="2304008" cy="338554"/>
              </a:xfrm>
              <a:prstGeom prst="rect">
                <a:avLst/>
              </a:prstGeom>
              <a:noFill/>
              <a:ln>
                <a:noFill/>
              </a:ln>
            </p:spPr>
            <p:txBody>
              <a:bodyPr wrap="none">
                <a:spAutoFit/>
              </a:bodyPr>
              <a:lstStyle>
                <a:lvl1pPr>
                  <a:defRPr sz="1400">
                    <a:solidFill>
                      <a:srgbClr val="000000"/>
                    </a:solidFill>
                    <a:latin typeface="Arial" panose="020B0604020202020204" pitchFamily="34" charset="0"/>
                    <a:ea typeface="微软雅黑" panose="020B0503020204020204" pitchFamily="34" charset="-122"/>
                  </a:defRPr>
                </a:lvl1pPr>
                <a:lvl2pPr marL="742950" indent="-285750">
                  <a:defRPr sz="1400">
                    <a:solidFill>
                      <a:srgbClr val="000000"/>
                    </a:solidFill>
                    <a:latin typeface="Arial" panose="020B0604020202020204" pitchFamily="34" charset="0"/>
                    <a:ea typeface="微软雅黑" panose="020B0503020204020204" pitchFamily="34" charset="-122"/>
                  </a:defRPr>
                </a:lvl2pPr>
                <a:lvl3pPr marL="1143000" indent="-228600">
                  <a:defRPr sz="1400">
                    <a:solidFill>
                      <a:srgbClr val="000000"/>
                    </a:solidFill>
                    <a:latin typeface="Arial" panose="020B0604020202020204" pitchFamily="34" charset="0"/>
                    <a:ea typeface="微软雅黑" panose="020B0503020204020204" pitchFamily="34" charset="-122"/>
                  </a:defRPr>
                </a:lvl3pPr>
                <a:lvl4pPr marL="1600200" indent="-228600">
                  <a:defRPr sz="1400">
                    <a:solidFill>
                      <a:srgbClr val="000000"/>
                    </a:solidFill>
                    <a:latin typeface="Arial" panose="020B0604020202020204" pitchFamily="34" charset="0"/>
                    <a:ea typeface="微软雅黑" panose="020B0503020204020204" pitchFamily="34" charset="-122"/>
                  </a:defRPr>
                </a:lvl4pPr>
                <a:lvl5pPr marL="2057400" indent="-228600">
                  <a:defRPr sz="1400">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9pPr>
              </a:lstStyle>
              <a:p>
                <a:pPr>
                  <a:defRPr/>
                </a:pPr>
                <a:r>
                  <a:rPr lang="zh-CN" altLang="en-US" sz="1600" b="1" dirty="0">
                    <a:latin typeface="楷体" panose="02010609060101010101" pitchFamily="49" charset="-122"/>
                    <a:ea typeface="楷体" panose="02010609060101010101" pitchFamily="49" charset="-122"/>
                  </a:rPr>
                  <a:t>角色定位和发展目标</a:t>
                </a:r>
              </a:p>
            </p:txBody>
          </p:sp>
          <p:sp>
            <p:nvSpPr>
              <p:cNvPr id="45" name="矩形 44"/>
              <p:cNvSpPr/>
              <p:nvPr/>
            </p:nvSpPr>
            <p:spPr>
              <a:xfrm>
                <a:off x="6876780" y="4533204"/>
                <a:ext cx="3688183" cy="2000548"/>
              </a:xfrm>
              <a:prstGeom prst="rect">
                <a:avLst/>
              </a:prstGeom>
            </p:spPr>
            <p:txBody>
              <a:bodyPr wrap="square">
                <a:spAutoFit/>
              </a:bodyPr>
              <a:lstStyle/>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快速“转身”时期，以新的视角看待和认知自己的角色：</a:t>
                </a:r>
                <a:endParaRPr lang="en-US" altLang="zh-CN" b="0" dirty="0">
                  <a:latin typeface="楷体" panose="02010609060101010101" pitchFamily="49" charset="-122"/>
                  <a:ea typeface="楷体" panose="02010609060101010101" pitchFamily="49" charset="-122"/>
                </a:endParaRPr>
              </a:p>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重新衡量工作对自己和他人的价值；</a:t>
                </a:r>
                <a:endParaRPr lang="en-US" altLang="zh-CN" b="0" dirty="0">
                  <a:latin typeface="楷体" panose="02010609060101010101" pitchFamily="49" charset="-122"/>
                  <a:ea typeface="楷体" panose="02010609060101010101" pitchFamily="49" charset="-122"/>
                </a:endParaRPr>
              </a:p>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重新认知人与人之间的关系，并以此为基础建立关系；</a:t>
                </a:r>
                <a:endParaRPr lang="en-US" altLang="zh-CN" b="0" dirty="0">
                  <a:latin typeface="楷体" panose="02010609060101010101" pitchFamily="49" charset="-122"/>
                  <a:ea typeface="楷体" panose="02010609060101010101" pitchFamily="49" charset="-122"/>
                </a:endParaRPr>
              </a:p>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了解什么是重要的、什么是可以放弃的；</a:t>
                </a:r>
                <a:endParaRPr lang="en-US" altLang="zh-CN" b="0" dirty="0">
                  <a:latin typeface="楷体" panose="02010609060101010101" pitchFamily="49" charset="-122"/>
                  <a:ea typeface="楷体" panose="02010609060101010101" pitchFamily="49" charset="-122"/>
                </a:endParaRPr>
              </a:p>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掌握角色所必备的</a:t>
                </a:r>
                <a:r>
                  <a:rPr lang="zh-CN" altLang="en-US" b="0" dirty="0">
                    <a:solidFill>
                      <a:srgbClr val="FF0000"/>
                    </a:solidFill>
                    <a:latin typeface="楷体" panose="02010609060101010101" pitchFamily="49" charset="-122"/>
                    <a:ea typeface="楷体" panose="02010609060101010101" pitchFamily="49" charset="-122"/>
                  </a:rPr>
                  <a:t>基础技能</a:t>
                </a:r>
                <a:r>
                  <a:rPr lang="zh-CN" altLang="en-US" b="0" dirty="0">
                    <a:latin typeface="楷体" panose="02010609060101010101" pitchFamily="49" charset="-122"/>
                    <a:ea typeface="楷体" panose="02010609060101010101" pitchFamily="49" charset="-122"/>
                  </a:rPr>
                  <a:t>（应知应会、岗位通用技能）</a:t>
                </a:r>
                <a:endParaRPr lang="en-US" altLang="zh-CN" b="0" dirty="0">
                  <a:latin typeface="楷体" panose="02010609060101010101" pitchFamily="49" charset="-122"/>
                  <a:ea typeface="楷体" panose="02010609060101010101" pitchFamily="49" charset="-122"/>
                </a:endParaRPr>
              </a:p>
            </p:txBody>
          </p:sp>
          <p:sp>
            <p:nvSpPr>
              <p:cNvPr id="46" name="矩形 45"/>
              <p:cNvSpPr/>
              <p:nvPr/>
            </p:nvSpPr>
            <p:spPr>
              <a:xfrm>
                <a:off x="6876780" y="3249528"/>
                <a:ext cx="3688184" cy="969496"/>
              </a:xfrm>
              <a:prstGeom prst="rect">
                <a:avLst/>
              </a:prstGeom>
            </p:spPr>
            <p:txBody>
              <a:bodyPr wrap="square">
                <a:spAutoFit/>
              </a:bodyPr>
              <a:lstStyle/>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工作的重心是运用</a:t>
                </a:r>
                <a:r>
                  <a:rPr lang="zh-CN" altLang="en-US" b="0" dirty="0">
                    <a:solidFill>
                      <a:srgbClr val="FF0000"/>
                    </a:solidFill>
                    <a:latin typeface="楷体" panose="02010609060101010101" pitchFamily="49" charset="-122"/>
                    <a:ea typeface="楷体" panose="02010609060101010101" pitchFamily="49" charset="-122"/>
                  </a:rPr>
                  <a:t>专业技能</a:t>
                </a:r>
                <a:r>
                  <a:rPr lang="zh-CN" altLang="en-US" b="0" dirty="0">
                    <a:latin typeface="楷体" panose="02010609060101010101" pitchFamily="49" charset="-122"/>
                    <a:ea typeface="楷体" panose="02010609060101010101" pitchFamily="49" charset="-122"/>
                  </a:rPr>
                  <a:t>，尽快取得工作上的成绩</a:t>
                </a:r>
                <a:endParaRPr lang="en-US" altLang="zh-CN" b="0" dirty="0">
                  <a:latin typeface="楷体" panose="02010609060101010101" pitchFamily="49" charset="-122"/>
                  <a:ea typeface="楷体" panose="02010609060101010101" pitchFamily="49" charset="-122"/>
                </a:endParaRPr>
              </a:p>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进一步实践并增强工作所需的各种技能，持续提升能力，注重弥补短板</a:t>
                </a:r>
              </a:p>
            </p:txBody>
          </p:sp>
          <p:sp>
            <p:nvSpPr>
              <p:cNvPr id="47" name="矩形 46"/>
              <p:cNvSpPr/>
              <p:nvPr/>
            </p:nvSpPr>
            <p:spPr>
              <a:xfrm>
                <a:off x="6876781" y="1930642"/>
                <a:ext cx="3688183" cy="1246495"/>
              </a:xfrm>
              <a:prstGeom prst="rect">
                <a:avLst/>
              </a:prstGeom>
            </p:spPr>
            <p:txBody>
              <a:bodyPr wrap="square">
                <a:spAutoFit/>
              </a:bodyPr>
              <a:lstStyle/>
              <a:p>
                <a:pPr>
                  <a:spcBef>
                    <a:spcPts val="600"/>
                  </a:spcBef>
                  <a:buFont typeface="Arial" panose="020B0604020202020204" pitchFamily="34" charset="0"/>
                  <a:buChar char="•"/>
                  <a:defRPr/>
                </a:pPr>
                <a:r>
                  <a:rPr lang="zh-CN" altLang="en-US" b="0" dirty="0">
                    <a:solidFill>
                      <a:srgbClr val="FF0000"/>
                    </a:solidFill>
                    <a:latin typeface="楷体" panose="02010609060101010101" pitchFamily="49" charset="-122"/>
                    <a:ea typeface="楷体" panose="02010609060101010101" pitchFamily="49" charset="-122"/>
                  </a:rPr>
                  <a:t>独特的个人优势</a:t>
                </a:r>
                <a:r>
                  <a:rPr lang="zh-CN" altLang="en-US" b="0" dirty="0">
                    <a:latin typeface="楷体" panose="02010609060101010101" pitchFamily="49" charset="-122"/>
                    <a:ea typeface="楷体" panose="02010609060101010101" pitchFamily="49" charset="-122"/>
                  </a:rPr>
                  <a:t>和卓越的绩效是必要的</a:t>
                </a:r>
                <a:endParaRPr lang="en-US" altLang="zh-CN" b="0" dirty="0">
                  <a:latin typeface="楷体" panose="02010609060101010101" pitchFamily="49" charset="-122"/>
                  <a:ea typeface="楷体" panose="02010609060101010101" pitchFamily="49" charset="-122"/>
                </a:endParaRPr>
              </a:p>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并非没有缺点，但通常无明显短板</a:t>
                </a:r>
                <a:endParaRPr lang="en-US" altLang="zh-CN" b="0" dirty="0">
                  <a:latin typeface="楷体" panose="02010609060101010101" pitchFamily="49" charset="-122"/>
                  <a:ea typeface="楷体" panose="02010609060101010101" pitchFamily="49" charset="-122"/>
                </a:endParaRPr>
              </a:p>
              <a:p>
                <a:pPr>
                  <a:spcBef>
                    <a:spcPts val="600"/>
                  </a:spcBef>
                  <a:buFont typeface="Arial" panose="020B0604020202020204" pitchFamily="34" charset="0"/>
                  <a:buChar char="•"/>
                  <a:defRPr/>
                </a:pPr>
                <a:r>
                  <a:rPr lang="zh-CN" altLang="en-US" b="0" dirty="0">
                    <a:latin typeface="楷体" panose="02010609060101010101" pitchFamily="49" charset="-122"/>
                    <a:ea typeface="楷体" panose="02010609060101010101" pitchFamily="49" charset="-122"/>
                  </a:rPr>
                  <a:t>对团队有激情，愿意并有能力</a:t>
                </a:r>
                <a:r>
                  <a:rPr lang="zh-CN" altLang="en-US" b="0" dirty="0">
                    <a:solidFill>
                      <a:srgbClr val="FF0000"/>
                    </a:solidFill>
                    <a:latin typeface="楷体" panose="02010609060101010101" pitchFamily="49" charset="-122"/>
                    <a:ea typeface="楷体" panose="02010609060101010101" pitchFamily="49" charset="-122"/>
                  </a:rPr>
                  <a:t>带新人</a:t>
                </a:r>
                <a:r>
                  <a:rPr lang="zh-CN" altLang="en-US" b="0" dirty="0">
                    <a:latin typeface="楷体" panose="02010609060101010101" pitchFamily="49" charset="-122"/>
                    <a:ea typeface="楷体" panose="02010609060101010101" pitchFamily="49" charset="-122"/>
                  </a:rPr>
                  <a:t>，从团队（网点）立场考虑个人目标，并努力协同他人实现目标</a:t>
                </a:r>
              </a:p>
            </p:txBody>
          </p:sp>
          <p:sp>
            <p:nvSpPr>
              <p:cNvPr id="48" name="Line 7"/>
              <p:cNvSpPr>
                <a:spLocks noChangeShapeType="1"/>
              </p:cNvSpPr>
              <p:nvPr/>
            </p:nvSpPr>
            <p:spPr bwMode="auto">
              <a:xfrm>
                <a:off x="1025411" y="1910237"/>
                <a:ext cx="9336389" cy="0"/>
              </a:xfrm>
              <a:prstGeom prst="line">
                <a:avLst/>
              </a:prstGeom>
              <a:noFill/>
              <a:ln w="28575">
                <a:solidFill>
                  <a:schemeClr val="accent2">
                    <a:lumMod val="50000"/>
                  </a:schemeClr>
                </a:solidFill>
                <a:round/>
              </a:ln>
            </p:spPr>
            <p:txBody>
              <a:bodyPr/>
              <a:lstStyle/>
              <a:p>
                <a:endParaRPr lang="zh-CN" altLang="en-US">
                  <a:latin typeface="楷体" panose="02010609060101010101" pitchFamily="49" charset="-122"/>
                  <a:ea typeface="楷体" panose="02010609060101010101" pitchFamily="49" charset="-122"/>
                </a:endParaRPr>
              </a:p>
            </p:txBody>
          </p:sp>
          <p:sp>
            <p:nvSpPr>
              <p:cNvPr id="52" name="TextBox 5"/>
              <p:cNvSpPr txBox="1">
                <a:spLocks noChangeArrowheads="1"/>
              </p:cNvSpPr>
              <p:nvPr/>
            </p:nvSpPr>
            <p:spPr bwMode="auto">
              <a:xfrm>
                <a:off x="4653069" y="1487011"/>
                <a:ext cx="1135308" cy="338554"/>
              </a:xfrm>
              <a:prstGeom prst="rect">
                <a:avLst/>
              </a:prstGeom>
              <a:noFill/>
              <a:ln>
                <a:noFill/>
              </a:ln>
            </p:spPr>
            <p:txBody>
              <a:bodyPr wrap="none">
                <a:spAutoFit/>
              </a:bodyPr>
              <a:lstStyle>
                <a:lvl1pPr>
                  <a:defRPr sz="1400">
                    <a:solidFill>
                      <a:srgbClr val="000000"/>
                    </a:solidFill>
                    <a:latin typeface="Arial" panose="020B0604020202020204" pitchFamily="34" charset="0"/>
                    <a:ea typeface="微软雅黑" panose="020B0503020204020204" pitchFamily="34" charset="-122"/>
                  </a:defRPr>
                </a:lvl1pPr>
                <a:lvl2pPr marL="742950" indent="-285750">
                  <a:defRPr sz="1400">
                    <a:solidFill>
                      <a:srgbClr val="000000"/>
                    </a:solidFill>
                    <a:latin typeface="Arial" panose="020B0604020202020204" pitchFamily="34" charset="0"/>
                    <a:ea typeface="微软雅黑" panose="020B0503020204020204" pitchFamily="34" charset="-122"/>
                  </a:defRPr>
                </a:lvl2pPr>
                <a:lvl3pPr marL="1143000" indent="-228600">
                  <a:defRPr sz="1400">
                    <a:solidFill>
                      <a:srgbClr val="000000"/>
                    </a:solidFill>
                    <a:latin typeface="Arial" panose="020B0604020202020204" pitchFamily="34" charset="0"/>
                    <a:ea typeface="微软雅黑" panose="020B0503020204020204" pitchFamily="34" charset="-122"/>
                  </a:defRPr>
                </a:lvl3pPr>
                <a:lvl4pPr marL="1600200" indent="-228600">
                  <a:defRPr sz="1400">
                    <a:solidFill>
                      <a:srgbClr val="000000"/>
                    </a:solidFill>
                    <a:latin typeface="Arial" panose="020B0604020202020204" pitchFamily="34" charset="0"/>
                    <a:ea typeface="微软雅黑" panose="020B0503020204020204" pitchFamily="34" charset="-122"/>
                  </a:defRPr>
                </a:lvl4pPr>
                <a:lvl5pPr marL="2057400" indent="-228600">
                  <a:defRPr sz="1400">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9pPr>
              </a:lstStyle>
              <a:p>
                <a:pPr>
                  <a:defRPr/>
                </a:pPr>
                <a:r>
                  <a:rPr lang="zh-CN" altLang="en-US" sz="1600" b="1" dirty="0">
                    <a:latin typeface="楷体" panose="02010609060101010101" pitchFamily="49" charset="-122"/>
                    <a:ea typeface="楷体" panose="02010609060101010101" pitchFamily="49" charset="-122"/>
                  </a:rPr>
                  <a:t>岗位职责</a:t>
                </a:r>
              </a:p>
            </p:txBody>
          </p:sp>
        </p:grpSp>
        <p:grpSp>
          <p:nvGrpSpPr>
            <p:cNvPr id="32" name="组合 31"/>
            <p:cNvGrpSpPr/>
            <p:nvPr/>
          </p:nvGrpSpPr>
          <p:grpSpPr>
            <a:xfrm rot="19944123">
              <a:off x="847069" y="2678101"/>
              <a:ext cx="3914406" cy="3255253"/>
              <a:chOff x="4228345" y="3122025"/>
              <a:chExt cx="2410480" cy="2026303"/>
            </a:xfrm>
          </p:grpSpPr>
          <p:pic>
            <p:nvPicPr>
              <p:cNvPr id="38" name="图片 37"/>
              <p:cNvPicPr>
                <a:picLocks noChangeAspect="1"/>
              </p:cNvPicPr>
              <p:nvPr/>
            </p:nvPicPr>
            <p:blipFill>
              <a:blip r:embed="rId2"/>
              <a:stretch>
                <a:fillRect/>
              </a:stretch>
            </p:blipFill>
            <p:spPr>
              <a:xfrm>
                <a:off x="4228345" y="3122025"/>
                <a:ext cx="2410480" cy="2026303"/>
              </a:xfrm>
              <a:prstGeom prst="rect">
                <a:avLst/>
              </a:prstGeom>
            </p:spPr>
          </p:pic>
          <p:grpSp>
            <p:nvGrpSpPr>
              <p:cNvPr id="39" name="组合 38"/>
              <p:cNvGrpSpPr/>
              <p:nvPr/>
            </p:nvGrpSpPr>
            <p:grpSpPr>
              <a:xfrm>
                <a:off x="4582258" y="3483066"/>
                <a:ext cx="1890320" cy="1638225"/>
                <a:chOff x="3193155" y="3495806"/>
                <a:chExt cx="1700422" cy="1473651"/>
              </a:xfrm>
            </p:grpSpPr>
            <p:sp>
              <p:nvSpPr>
                <p:cNvPr id="40" name="椭圆 11"/>
                <p:cNvSpPr>
                  <a:spLocks noChangeArrowheads="1"/>
                </p:cNvSpPr>
                <p:nvPr/>
              </p:nvSpPr>
              <p:spPr bwMode="auto">
                <a:xfrm>
                  <a:off x="3193155" y="4827762"/>
                  <a:ext cx="155864" cy="141695"/>
                </a:xfrm>
                <a:prstGeom prst="ellipse">
                  <a:avLst/>
                </a:prstGeom>
                <a:solidFill>
                  <a:srgbClr val="002060"/>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ea typeface="微软雅黑" panose="020B0503020204020204" pitchFamily="34" charset="-122"/>
                  </a:endParaRPr>
                </a:p>
              </p:txBody>
            </p:sp>
            <p:sp>
              <p:nvSpPr>
                <p:cNvPr id="41" name="椭圆 12"/>
                <p:cNvSpPr>
                  <a:spLocks noChangeArrowheads="1"/>
                </p:cNvSpPr>
                <p:nvPr/>
              </p:nvSpPr>
              <p:spPr bwMode="auto">
                <a:xfrm>
                  <a:off x="4343912" y="4047794"/>
                  <a:ext cx="155864" cy="141695"/>
                </a:xfrm>
                <a:prstGeom prst="ellipse">
                  <a:avLst/>
                </a:prstGeom>
                <a:solidFill>
                  <a:srgbClr val="002060"/>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ea typeface="微软雅黑" panose="020B0503020204020204" pitchFamily="34" charset="-122"/>
                  </a:endParaRPr>
                </a:p>
              </p:txBody>
            </p:sp>
            <p:sp>
              <p:nvSpPr>
                <p:cNvPr id="42" name="椭圆 13"/>
                <p:cNvSpPr>
                  <a:spLocks noChangeArrowheads="1"/>
                </p:cNvSpPr>
                <p:nvPr/>
              </p:nvSpPr>
              <p:spPr bwMode="auto">
                <a:xfrm>
                  <a:off x="4736271" y="3495806"/>
                  <a:ext cx="157306" cy="141695"/>
                </a:xfrm>
                <a:prstGeom prst="ellipse">
                  <a:avLst/>
                </a:prstGeom>
                <a:solidFill>
                  <a:srgbClr val="002060"/>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ea typeface="微软雅黑" panose="020B0503020204020204" pitchFamily="34" charset="-122"/>
                  </a:endParaRPr>
                </a:p>
              </p:txBody>
            </p:sp>
          </p:grpSp>
        </p:grpSp>
        <p:sp>
          <p:nvSpPr>
            <p:cNvPr id="33" name="TextBox 5"/>
            <p:cNvSpPr txBox="1">
              <a:spLocks noChangeArrowheads="1"/>
            </p:cNvSpPr>
            <p:nvPr/>
          </p:nvSpPr>
          <p:spPr bwMode="auto">
            <a:xfrm>
              <a:off x="62066" y="5315467"/>
              <a:ext cx="2810191" cy="954107"/>
            </a:xfrm>
            <a:prstGeom prst="rect">
              <a:avLst/>
            </a:prstGeom>
            <a:noFill/>
            <a:ln>
              <a:noFill/>
            </a:ln>
          </p:spPr>
          <p:txBody>
            <a:bodyPr wrap="square">
              <a:spAutoFit/>
            </a:bodyPr>
            <a:lstStyle>
              <a:lvl1pPr>
                <a:defRPr sz="1400">
                  <a:solidFill>
                    <a:srgbClr val="000000"/>
                  </a:solidFill>
                  <a:latin typeface="Arial" panose="020B0604020202020204" pitchFamily="34" charset="0"/>
                  <a:ea typeface="微软雅黑" panose="020B0503020204020204" pitchFamily="34" charset="-122"/>
                </a:defRPr>
              </a:lvl1pPr>
              <a:lvl2pPr marL="742950" indent="-285750">
                <a:defRPr sz="1400">
                  <a:solidFill>
                    <a:srgbClr val="000000"/>
                  </a:solidFill>
                  <a:latin typeface="Arial" panose="020B0604020202020204" pitchFamily="34" charset="0"/>
                  <a:ea typeface="微软雅黑" panose="020B0503020204020204" pitchFamily="34" charset="-122"/>
                </a:defRPr>
              </a:lvl2pPr>
              <a:lvl3pPr marL="1143000" indent="-228600">
                <a:defRPr sz="1400">
                  <a:solidFill>
                    <a:srgbClr val="000000"/>
                  </a:solidFill>
                  <a:latin typeface="Arial" panose="020B0604020202020204" pitchFamily="34" charset="0"/>
                  <a:ea typeface="微软雅黑" panose="020B0503020204020204" pitchFamily="34" charset="-122"/>
                </a:defRPr>
              </a:lvl3pPr>
              <a:lvl4pPr marL="1600200" indent="-228600">
                <a:defRPr sz="1400">
                  <a:solidFill>
                    <a:srgbClr val="000000"/>
                  </a:solidFill>
                  <a:latin typeface="Arial" panose="020B0604020202020204" pitchFamily="34" charset="0"/>
                  <a:ea typeface="微软雅黑" panose="020B0503020204020204" pitchFamily="34" charset="-122"/>
                </a:defRPr>
              </a:lvl4pPr>
              <a:lvl5pPr marL="2057400" indent="-228600">
                <a:defRPr sz="1400">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9pPr>
            </a:lstStyle>
            <a:p>
              <a:pPr algn="ctr">
                <a:defRPr/>
              </a:pPr>
              <a:r>
                <a:rPr lang="zh-CN" altLang="en-US" dirty="0">
                  <a:latin typeface="楷体" panose="02010609060101010101" pitchFamily="49" charset="-122"/>
                  <a:ea typeface="楷体" panose="02010609060101010101" pitchFamily="49" charset="-122"/>
                </a:rPr>
                <a:t>初级（</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年以下）</a:t>
              </a:r>
              <a:endParaRPr lang="en-US" altLang="zh-CN" dirty="0">
                <a:latin typeface="楷体" panose="02010609060101010101" pitchFamily="49" charset="-122"/>
                <a:ea typeface="楷体" panose="02010609060101010101" pitchFamily="49" charset="-122"/>
              </a:endParaRPr>
            </a:p>
            <a:p>
              <a:pPr algn="ctr">
                <a:defRPr/>
              </a:pPr>
              <a:r>
                <a:rPr lang="zh-CN" altLang="en-US" dirty="0">
                  <a:latin typeface="楷体" panose="02010609060101010101" pitchFamily="49" charset="-122"/>
                  <a:ea typeface="楷体" panose="02010609060101010101" pitchFamily="49" charset="-122"/>
                </a:rPr>
                <a:t>“基本功扎实，突破客户关系和产品营销两个关卡。能</a:t>
              </a:r>
              <a:r>
                <a:rPr lang="zh-CN" altLang="en-US" dirty="0">
                  <a:solidFill>
                    <a:srgbClr val="FF0000"/>
                  </a:solidFill>
                  <a:latin typeface="楷体" panose="02010609060101010101" pitchFamily="49" charset="-122"/>
                  <a:ea typeface="楷体" panose="02010609060101010101" pitchFamily="49" charset="-122"/>
                </a:rPr>
                <a:t>独立工作</a:t>
              </a:r>
              <a:r>
                <a:rPr lang="zh-CN" altLang="en-US" dirty="0">
                  <a:latin typeface="楷体" panose="02010609060101010101" pitchFamily="49" charset="-122"/>
                  <a:ea typeface="楷体" panose="02010609060101010101" pitchFamily="49" charset="-122"/>
                </a:rPr>
                <a:t>”</a:t>
              </a:r>
            </a:p>
          </p:txBody>
        </p:sp>
        <p:sp>
          <p:nvSpPr>
            <p:cNvPr id="34" name="TextBox 5"/>
            <p:cNvSpPr txBox="1">
              <a:spLocks noChangeArrowheads="1"/>
            </p:cNvSpPr>
            <p:nvPr/>
          </p:nvSpPr>
          <p:spPr bwMode="auto">
            <a:xfrm>
              <a:off x="285095" y="3678693"/>
              <a:ext cx="2569756" cy="738664"/>
            </a:xfrm>
            <a:prstGeom prst="rect">
              <a:avLst/>
            </a:prstGeom>
            <a:noFill/>
            <a:ln>
              <a:noFill/>
            </a:ln>
          </p:spPr>
          <p:txBody>
            <a:bodyPr wrap="square">
              <a:spAutoFit/>
            </a:bodyPr>
            <a:lstStyle>
              <a:lvl1pPr>
                <a:defRPr sz="1400">
                  <a:solidFill>
                    <a:srgbClr val="000000"/>
                  </a:solidFill>
                  <a:latin typeface="Arial" panose="020B0604020202020204" pitchFamily="34" charset="0"/>
                  <a:ea typeface="微软雅黑" panose="020B0503020204020204" pitchFamily="34" charset="-122"/>
                </a:defRPr>
              </a:lvl1pPr>
              <a:lvl2pPr marL="742950" indent="-285750">
                <a:defRPr sz="1400">
                  <a:solidFill>
                    <a:srgbClr val="000000"/>
                  </a:solidFill>
                  <a:latin typeface="Arial" panose="020B0604020202020204" pitchFamily="34" charset="0"/>
                  <a:ea typeface="微软雅黑" panose="020B0503020204020204" pitchFamily="34" charset="-122"/>
                </a:defRPr>
              </a:lvl2pPr>
              <a:lvl3pPr marL="1143000" indent="-228600">
                <a:defRPr sz="1400">
                  <a:solidFill>
                    <a:srgbClr val="000000"/>
                  </a:solidFill>
                  <a:latin typeface="Arial" panose="020B0604020202020204" pitchFamily="34" charset="0"/>
                  <a:ea typeface="微软雅黑" panose="020B0503020204020204" pitchFamily="34" charset="-122"/>
                </a:defRPr>
              </a:lvl3pPr>
              <a:lvl4pPr marL="1600200" indent="-228600">
                <a:defRPr sz="1400">
                  <a:solidFill>
                    <a:srgbClr val="000000"/>
                  </a:solidFill>
                  <a:latin typeface="Arial" panose="020B0604020202020204" pitchFamily="34" charset="0"/>
                  <a:ea typeface="微软雅黑" panose="020B0503020204020204" pitchFamily="34" charset="-122"/>
                </a:defRPr>
              </a:lvl4pPr>
              <a:lvl5pPr marL="2057400" indent="-228600">
                <a:defRPr sz="1400">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9pPr>
            </a:lstStyle>
            <a:p>
              <a:pPr algn="ctr">
                <a:defRPr/>
              </a:pPr>
              <a:r>
                <a:rPr lang="zh-CN" altLang="en-US" dirty="0">
                  <a:latin typeface="楷体" panose="02010609060101010101" pitchFamily="49" charset="-122"/>
                  <a:ea typeface="楷体" panose="02010609060101010101" pitchFamily="49" charset="-122"/>
                </a:rPr>
                <a:t>中级（</a:t>
              </a:r>
              <a:r>
                <a:rPr lang="en-US" altLang="zh-CN" dirty="0">
                  <a:latin typeface="楷体" panose="02010609060101010101" pitchFamily="49" charset="-122"/>
                  <a:ea typeface="楷体" panose="02010609060101010101" pitchFamily="49" charset="-122"/>
                </a:rPr>
                <a:t>2-5</a:t>
              </a:r>
              <a:r>
                <a:rPr lang="zh-CN" altLang="en-US" dirty="0">
                  <a:latin typeface="楷体" panose="02010609060101010101" pitchFamily="49" charset="-122"/>
                  <a:ea typeface="楷体" panose="02010609060101010101" pitchFamily="49" charset="-122"/>
                </a:rPr>
                <a:t>年）</a:t>
              </a:r>
              <a:endParaRPr lang="en-US" altLang="zh-CN" dirty="0">
                <a:latin typeface="楷体" panose="02010609060101010101" pitchFamily="49" charset="-122"/>
                <a:ea typeface="楷体" panose="02010609060101010101" pitchFamily="49" charset="-122"/>
              </a:endParaRPr>
            </a:p>
            <a:p>
              <a:pPr algn="ctr">
                <a:defRPr/>
              </a:pPr>
              <a:r>
                <a:rPr lang="zh-CN" altLang="en-US" dirty="0">
                  <a:latin typeface="楷体" panose="02010609060101010101" pitchFamily="49" charset="-122"/>
                  <a:ea typeface="楷体" panose="02010609060101010101" pitchFamily="49" charset="-122"/>
                </a:rPr>
                <a:t>“业务熟练，全面客户经营，能</a:t>
              </a:r>
              <a:r>
                <a:rPr lang="zh-CN" altLang="en-US" dirty="0">
                  <a:solidFill>
                    <a:srgbClr val="FF0000"/>
                  </a:solidFill>
                  <a:latin typeface="楷体" panose="02010609060101010101" pitchFamily="49" charset="-122"/>
                  <a:ea typeface="楷体" panose="02010609060101010101" pitchFamily="49" charset="-122"/>
                </a:rPr>
                <a:t>独当一面</a:t>
              </a:r>
              <a:r>
                <a:rPr lang="zh-CN" altLang="en-US" dirty="0">
                  <a:latin typeface="楷体" panose="02010609060101010101" pitchFamily="49" charset="-122"/>
                  <a:ea typeface="楷体" panose="02010609060101010101" pitchFamily="49" charset="-122"/>
                </a:rPr>
                <a:t>”</a:t>
              </a:r>
            </a:p>
          </p:txBody>
        </p:sp>
        <p:sp>
          <p:nvSpPr>
            <p:cNvPr id="35" name="TextBox 5"/>
            <p:cNvSpPr txBox="1">
              <a:spLocks noChangeArrowheads="1"/>
            </p:cNvSpPr>
            <p:nvPr/>
          </p:nvSpPr>
          <p:spPr bwMode="auto">
            <a:xfrm>
              <a:off x="338647" y="2538425"/>
              <a:ext cx="2592185" cy="954107"/>
            </a:xfrm>
            <a:prstGeom prst="rect">
              <a:avLst/>
            </a:prstGeom>
            <a:noFill/>
            <a:ln>
              <a:noFill/>
            </a:ln>
          </p:spPr>
          <p:txBody>
            <a:bodyPr wrap="square">
              <a:spAutoFit/>
            </a:bodyPr>
            <a:lstStyle>
              <a:lvl1pPr>
                <a:defRPr sz="1400">
                  <a:solidFill>
                    <a:srgbClr val="000000"/>
                  </a:solidFill>
                  <a:latin typeface="Arial" panose="020B0604020202020204" pitchFamily="34" charset="0"/>
                  <a:ea typeface="微软雅黑" panose="020B0503020204020204" pitchFamily="34" charset="-122"/>
                </a:defRPr>
              </a:lvl1pPr>
              <a:lvl2pPr marL="742950" indent="-285750">
                <a:defRPr sz="1400">
                  <a:solidFill>
                    <a:srgbClr val="000000"/>
                  </a:solidFill>
                  <a:latin typeface="Arial" panose="020B0604020202020204" pitchFamily="34" charset="0"/>
                  <a:ea typeface="微软雅黑" panose="020B0503020204020204" pitchFamily="34" charset="-122"/>
                </a:defRPr>
              </a:lvl2pPr>
              <a:lvl3pPr marL="1143000" indent="-228600">
                <a:defRPr sz="1400">
                  <a:solidFill>
                    <a:srgbClr val="000000"/>
                  </a:solidFill>
                  <a:latin typeface="Arial" panose="020B0604020202020204" pitchFamily="34" charset="0"/>
                  <a:ea typeface="微软雅黑" panose="020B0503020204020204" pitchFamily="34" charset="-122"/>
                </a:defRPr>
              </a:lvl3pPr>
              <a:lvl4pPr marL="1600200" indent="-228600">
                <a:defRPr sz="1400">
                  <a:solidFill>
                    <a:srgbClr val="000000"/>
                  </a:solidFill>
                  <a:latin typeface="Arial" panose="020B0604020202020204" pitchFamily="34" charset="0"/>
                  <a:ea typeface="微软雅黑" panose="020B0503020204020204" pitchFamily="34" charset="-122"/>
                </a:defRPr>
              </a:lvl4pPr>
              <a:lvl5pPr marL="2057400" indent="-228600">
                <a:defRPr sz="1400">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400">
                  <a:solidFill>
                    <a:srgbClr val="000000"/>
                  </a:solidFill>
                  <a:latin typeface="Arial" panose="020B0604020202020204" pitchFamily="34" charset="0"/>
                  <a:ea typeface="微软雅黑" panose="020B0503020204020204" pitchFamily="34" charset="-122"/>
                </a:defRPr>
              </a:lvl9pPr>
            </a:lstStyle>
            <a:p>
              <a:pPr algn="ctr">
                <a:defRPr/>
              </a:pPr>
              <a:r>
                <a:rPr lang="zh-CN" altLang="en-US" dirty="0">
                  <a:latin typeface="楷体" panose="02010609060101010101" pitchFamily="49" charset="-122"/>
                  <a:ea typeface="楷体" panose="02010609060101010101" pitchFamily="49" charset="-122"/>
                </a:rPr>
                <a:t>高级（</a:t>
              </a:r>
              <a:r>
                <a:rPr lang="en-US" altLang="zh-CN" dirty="0">
                  <a:latin typeface="楷体" panose="02010609060101010101" pitchFamily="49" charset="-122"/>
                  <a:ea typeface="楷体" panose="02010609060101010101" pitchFamily="49" charset="-122"/>
                </a:rPr>
                <a:t>5</a:t>
              </a:r>
              <a:r>
                <a:rPr lang="zh-CN" altLang="en-US" dirty="0">
                  <a:latin typeface="楷体" panose="02010609060101010101" pitchFamily="49" charset="-122"/>
                  <a:ea typeface="楷体" panose="02010609060101010101" pitchFamily="49" charset="-122"/>
                </a:rPr>
                <a:t>年以上）</a:t>
              </a:r>
              <a:endParaRPr lang="en-US" altLang="zh-CN" dirty="0">
                <a:latin typeface="楷体" panose="02010609060101010101" pitchFamily="49" charset="-122"/>
                <a:ea typeface="楷体" panose="02010609060101010101" pitchFamily="49" charset="-122"/>
              </a:endParaRPr>
            </a:p>
            <a:p>
              <a:pPr algn="ctr">
                <a:defRPr/>
              </a:pPr>
              <a:r>
                <a:rPr lang="zh-CN" altLang="en-US"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业务专家</a:t>
              </a:r>
              <a:r>
                <a:rPr lang="zh-CN" altLang="en-US"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多面手</a:t>
              </a:r>
              <a:r>
                <a:rPr lang="zh-CN" altLang="en-US" dirty="0">
                  <a:latin typeface="楷体" panose="02010609060101010101" pitchFamily="49" charset="-122"/>
                  <a:ea typeface="楷体" panose="02010609060101010101" pitchFamily="49" charset="-122"/>
                </a:rPr>
                <a:t>，高绩效者。</a:t>
              </a:r>
              <a:r>
                <a:rPr lang="zh-CN" altLang="en-US" dirty="0">
                  <a:solidFill>
                    <a:srgbClr val="FF0000"/>
                  </a:solidFill>
                  <a:latin typeface="楷体" panose="02010609060101010101" pitchFamily="49" charset="-122"/>
                  <a:ea typeface="楷体" panose="02010609060101010101" pitchFamily="49" charset="-122"/>
                </a:rPr>
                <a:t>网点对私营销工作牵头人</a:t>
              </a:r>
              <a:r>
                <a:rPr lang="zh-CN" altLang="en-US" dirty="0">
                  <a:latin typeface="楷体" panose="02010609060101010101" pitchFamily="49" charset="-122"/>
                  <a:ea typeface="楷体" panose="02010609060101010101" pitchFamily="49" charset="-122"/>
                </a:rPr>
                <a:t>”</a:t>
              </a:r>
            </a:p>
          </p:txBody>
        </p:sp>
        <p:cxnSp>
          <p:nvCxnSpPr>
            <p:cNvPr id="36" name="直线连接符 35"/>
            <p:cNvCxnSpPr/>
            <p:nvPr/>
          </p:nvCxnSpPr>
          <p:spPr bwMode="auto">
            <a:xfrm>
              <a:off x="1075102" y="3431582"/>
              <a:ext cx="9397686" cy="0"/>
            </a:xfrm>
            <a:prstGeom prst="line">
              <a:avLst/>
            </a:prstGeom>
            <a:solidFill>
              <a:schemeClr val="accent1"/>
            </a:solidFill>
            <a:ln w="9525" cap="flat" cmpd="sng" algn="ctr">
              <a:solidFill>
                <a:schemeClr val="tx1"/>
              </a:solidFill>
              <a:prstDash val="dash"/>
              <a:round/>
              <a:headEnd type="none" w="med" len="med"/>
              <a:tailEnd type="none" w="med" len="med"/>
            </a:ln>
          </p:spPr>
        </p:cxnSp>
        <p:cxnSp>
          <p:nvCxnSpPr>
            <p:cNvPr id="37" name="直线连接符 36"/>
            <p:cNvCxnSpPr/>
            <p:nvPr/>
          </p:nvCxnSpPr>
          <p:spPr bwMode="auto">
            <a:xfrm>
              <a:off x="1097211" y="4751803"/>
              <a:ext cx="9384253" cy="0"/>
            </a:xfrm>
            <a:prstGeom prst="line">
              <a:avLst/>
            </a:prstGeom>
            <a:solidFill>
              <a:schemeClr val="accent1"/>
            </a:solidFill>
            <a:ln w="9525" cap="flat" cmpd="sng" algn="ctr">
              <a:solidFill>
                <a:schemeClr val="tx1"/>
              </a:solidFill>
              <a:prstDash val="dash"/>
              <a:round/>
              <a:headEnd type="none" w="med" len="med"/>
              <a:tailEnd type="none" w="med" len="med"/>
            </a:ln>
          </p:spPr>
        </p:cxnSp>
      </p:grpSp>
      <p:sp>
        <p:nvSpPr>
          <p:cNvPr id="49" name="Text Box 24"/>
          <p:cNvSpPr txBox="1">
            <a:spLocks noChangeArrowheads="1"/>
          </p:cNvSpPr>
          <p:nvPr/>
        </p:nvSpPr>
        <p:spPr bwMode="auto">
          <a:xfrm>
            <a:off x="3504095" y="2269696"/>
            <a:ext cx="2571776" cy="576000"/>
          </a:xfrm>
          <a:prstGeom prst="rect">
            <a:avLst/>
          </a:prstGeom>
          <a:solidFill>
            <a:srgbClr val="FFFFFF"/>
          </a:solidFill>
          <a:ln w="9525">
            <a:noFill/>
            <a:miter lim="800000"/>
          </a:ln>
        </p:spPr>
        <p:txBody>
          <a:bodyPr wrap="square">
            <a:noAutofit/>
          </a:bodyPr>
          <a:lstStyle/>
          <a:p>
            <a:pPr fontAlgn="auto">
              <a:spcBef>
                <a:spcPts val="0"/>
              </a:spcBef>
              <a:spcAft>
                <a:spcPts val="0"/>
              </a:spcAft>
            </a:pPr>
            <a:r>
              <a:rPr lang="zh-CN" altLang="en-US" sz="1400" b="0" dirty="0">
                <a:solidFill>
                  <a:srgbClr val="000000"/>
                </a:solidFill>
                <a:latin typeface="楷体" panose="02010609060101010101" pitchFamily="49" charset="-122"/>
                <a:ea typeface="楷体" panose="02010609060101010101" pitchFamily="49" charset="-122"/>
              </a:rPr>
              <a:t>对对私客户经理工作有深入的领会，</a:t>
            </a:r>
            <a:r>
              <a:rPr lang="zh-CN" altLang="en-US" sz="1400" b="0" dirty="0">
                <a:solidFill>
                  <a:srgbClr val="FF0000"/>
                </a:solidFill>
                <a:latin typeface="楷体" panose="02010609060101010101" pitchFamily="49" charset="-122"/>
                <a:ea typeface="楷体" panose="02010609060101010101" pitchFamily="49" charset="-122"/>
              </a:rPr>
              <a:t>技术全面能力突出</a:t>
            </a:r>
            <a:r>
              <a:rPr lang="zh-CN" altLang="en-US" sz="1400" b="0" dirty="0">
                <a:solidFill>
                  <a:srgbClr val="000000"/>
                </a:solidFill>
                <a:latin typeface="楷体" panose="02010609060101010101" pitchFamily="49" charset="-122"/>
                <a:ea typeface="楷体" panose="02010609060101010101" pitchFamily="49" charset="-122"/>
              </a:rPr>
              <a:t>，对业务开拓创新有激情，能</a:t>
            </a:r>
            <a:r>
              <a:rPr lang="zh-CN" altLang="en-US" sz="1400" b="0" dirty="0">
                <a:solidFill>
                  <a:srgbClr val="FF0000"/>
                </a:solidFill>
                <a:latin typeface="楷体" panose="02010609060101010101" pitchFamily="49" charset="-122"/>
                <a:ea typeface="楷体" panose="02010609060101010101" pitchFamily="49" charset="-122"/>
              </a:rPr>
              <a:t>协助支行网点</a:t>
            </a:r>
            <a:r>
              <a:rPr lang="zh-CN" altLang="en-US" sz="1400" b="0" dirty="0">
                <a:solidFill>
                  <a:srgbClr val="000000"/>
                </a:solidFill>
                <a:latin typeface="楷体" panose="02010609060101010101" pitchFamily="49" charset="-122"/>
                <a:ea typeface="楷体" panose="02010609060101010101" pitchFamily="49" charset="-122"/>
              </a:rPr>
              <a:t>培养营销人才</a:t>
            </a:r>
            <a:endParaRPr kumimoji="0" lang="zh-CN" altLang="zh-CN" sz="14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endParaRPr>
          </a:p>
        </p:txBody>
      </p:sp>
      <p:sp>
        <p:nvSpPr>
          <p:cNvPr id="50" name="Text Box 32"/>
          <p:cNvSpPr txBox="1">
            <a:spLocks noChangeArrowheads="1"/>
          </p:cNvSpPr>
          <p:nvPr/>
        </p:nvSpPr>
        <p:spPr bwMode="auto">
          <a:xfrm>
            <a:off x="3490814" y="3512331"/>
            <a:ext cx="2571776" cy="694524"/>
          </a:xfrm>
          <a:prstGeom prst="rect">
            <a:avLst/>
          </a:prstGeom>
          <a:solidFill>
            <a:srgbClr val="FFFFFF"/>
          </a:solidFill>
          <a:ln w="9525">
            <a:noFill/>
            <a:miter lim="800000"/>
          </a:ln>
        </p:spPr>
        <p:txBody>
          <a:bodyPr wrap="square">
            <a:no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熟悉五大任务工作模块，对各模块内涵有</a:t>
            </a:r>
            <a:r>
              <a:rPr kumimoji="0" lang="zh-CN" altLang="en-US" sz="1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rPr>
              <a:t>较深的理解</a:t>
            </a:r>
            <a:r>
              <a:rPr kumimoji="0"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，在部分领域有</a:t>
            </a:r>
            <a:r>
              <a:rPr kumimoji="0" lang="zh-CN" altLang="en-US" sz="1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rPr>
              <a:t>良好的训练</a:t>
            </a:r>
            <a:r>
              <a:rPr kumimoji="0"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，能</a:t>
            </a:r>
            <a:r>
              <a:rPr kumimoji="0" lang="zh-CN" altLang="en-US" sz="1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rPr>
              <a:t>协同初级客户经理</a:t>
            </a:r>
            <a:r>
              <a:rPr kumimoji="0"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完成网点所辖客户的日常管理和营销工作</a:t>
            </a:r>
          </a:p>
        </p:txBody>
      </p:sp>
      <p:sp>
        <p:nvSpPr>
          <p:cNvPr id="51" name="Text Box 32"/>
          <p:cNvSpPr txBox="1">
            <a:spLocks noChangeArrowheads="1"/>
          </p:cNvSpPr>
          <p:nvPr/>
        </p:nvSpPr>
        <p:spPr bwMode="auto">
          <a:xfrm>
            <a:off x="3456308" y="5137373"/>
            <a:ext cx="2571776" cy="576000"/>
          </a:xfrm>
          <a:prstGeom prst="rect">
            <a:avLst/>
          </a:prstGeom>
          <a:solidFill>
            <a:srgbClr val="FFFFFF"/>
          </a:solidFill>
          <a:ln w="9525">
            <a:noFill/>
            <a:miter lim="800000"/>
          </a:ln>
        </p:spPr>
        <p:txBody>
          <a:bodyPr wrap="square">
            <a:no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rPr>
              <a:t>了解五大任务模块</a:t>
            </a:r>
            <a:r>
              <a:rPr kumimoji="0"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（客户维护、资产配置与服务、产品销售和售后陪伴、综合营销和风险防控）</a:t>
            </a:r>
            <a:r>
              <a:rPr kumimoji="0" lang="zh-CN" altLang="en-US" sz="1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rPr>
              <a:t>工作内容、流程</a:t>
            </a:r>
            <a:r>
              <a:rPr kumimoji="0"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，完成管户客户的</a:t>
            </a:r>
            <a:r>
              <a:rPr kumimoji="0" lang="zh-CN" altLang="en-US" sz="1400" b="0" i="0" u="none" strike="noStrike" kern="0" cap="none" spc="0" normalizeH="0" baseline="0" noProof="0" dirty="0">
                <a:ln>
                  <a:noFill/>
                </a:ln>
                <a:solidFill>
                  <a:srgbClr val="FF0000"/>
                </a:solidFill>
                <a:effectLst/>
                <a:uLnTx/>
                <a:uFillTx/>
                <a:latin typeface="Times New Roman" panose="02020603050405020304" pitchFamily="18" charset="0"/>
                <a:ea typeface="楷体" panose="02010609060101010101" pitchFamily="49" charset="-122"/>
              </a:rPr>
              <a:t>日常维护服务</a:t>
            </a:r>
            <a:r>
              <a:rPr kumimoji="0"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工作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示例：如何对能力进行分层级定义？</a:t>
            </a:r>
          </a:p>
        </p:txBody>
      </p:sp>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7</a:t>
            </a:fld>
            <a:endParaRPr lang="zh-CN" altLang="en-US"/>
          </a:p>
        </p:txBody>
      </p:sp>
      <p:sp>
        <p:nvSpPr>
          <p:cNvPr id="22" name="矩形 21"/>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graphicFrame>
        <p:nvGraphicFramePr>
          <p:cNvPr id="8" name="表格 7">
            <a:extLst>
              <a:ext uri="{FF2B5EF4-FFF2-40B4-BE49-F238E27FC236}">
                <a16:creationId xmlns:a16="http://schemas.microsoft.com/office/drawing/2014/main" id="{3F81328D-3857-AE56-712B-B40F69B82510}"/>
              </a:ext>
            </a:extLst>
          </p:cNvPr>
          <p:cNvGraphicFramePr>
            <a:graphicFrameLocks noGrp="1"/>
          </p:cNvGraphicFramePr>
          <p:nvPr>
            <p:extLst>
              <p:ext uri="{D42A27DB-BD31-4B8C-83A1-F6EECF244321}">
                <p14:modId xmlns:p14="http://schemas.microsoft.com/office/powerpoint/2010/main" val="3208690319"/>
              </p:ext>
            </p:extLst>
          </p:nvPr>
        </p:nvGraphicFramePr>
        <p:xfrm>
          <a:off x="523875" y="1706644"/>
          <a:ext cx="8863013" cy="4927136"/>
        </p:xfrm>
        <a:graphic>
          <a:graphicData uri="http://schemas.openxmlformats.org/drawingml/2006/table">
            <a:tbl>
              <a:tblPr firstRow="1" firstCol="1" bandRow="1"/>
              <a:tblGrid>
                <a:gridCol w="1226186">
                  <a:extLst>
                    <a:ext uri="{9D8B030D-6E8A-4147-A177-3AD203B41FA5}">
                      <a16:colId xmlns:a16="http://schemas.microsoft.com/office/drawing/2014/main" val="1328970069"/>
                    </a:ext>
                  </a:extLst>
                </a:gridCol>
                <a:gridCol w="7636827">
                  <a:extLst>
                    <a:ext uri="{9D8B030D-6E8A-4147-A177-3AD203B41FA5}">
                      <a16:colId xmlns:a16="http://schemas.microsoft.com/office/drawing/2014/main" val="3429248238"/>
                    </a:ext>
                  </a:extLst>
                </a:gridCol>
              </a:tblGrid>
              <a:tr h="463161">
                <a:tc gridSpan="2">
                  <a:txBody>
                    <a:bodyPr/>
                    <a:lstStyle/>
                    <a:p>
                      <a:pPr>
                        <a:lnSpc>
                          <a:spcPct val="115000"/>
                        </a:lnSpc>
                      </a:pPr>
                      <a:r>
                        <a:rPr lang="zh-CN" sz="1400" b="1" dirty="0">
                          <a:effectLst/>
                          <a:latin typeface="Times New Roman" panose="02020603050405020304" pitchFamily="18" charset="0"/>
                          <a:ea typeface="宋体" panose="02010600030101010101" pitchFamily="2" charset="-122"/>
                        </a:rPr>
                        <a:t>专业致胜</a:t>
                      </a:r>
                      <a:endParaRPr lang="zh-CN" sz="1400" dirty="0">
                        <a:effectLst/>
                        <a:latin typeface="Times New Roman" panose="02020603050405020304" pitchFamily="18" charset="0"/>
                        <a:ea typeface="宋体" panose="02010600030101010101" pitchFamily="2" charset="-122"/>
                      </a:endParaRPr>
                    </a:p>
                    <a:p>
                      <a:pPr>
                        <a:lnSpc>
                          <a:spcPct val="115000"/>
                        </a:lnSpc>
                      </a:pPr>
                      <a:r>
                        <a:rPr lang="zh-CN" sz="1200" dirty="0">
                          <a:effectLst/>
                          <a:latin typeface="Times New Roman" panose="02020603050405020304" pitchFamily="18" charset="0"/>
                          <a:ea typeface="宋体" panose="02010600030101010101" pitchFamily="2" charset="-122"/>
                        </a:rPr>
                        <a:t>以客户为中心，主动加强学习，提升综合服务能力，服务穿透价值，合规保驾护航；打造“理财首选建行”的品牌。</a:t>
                      </a:r>
                    </a:p>
                  </a:txBody>
                  <a:tcPr marL="60056" marR="60056" marT="30028" marB="3002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4235439280"/>
                  </a:ext>
                </a:extLst>
              </a:tr>
              <a:tr h="392737">
                <a:tc rowSpan="3">
                  <a:txBody>
                    <a:bodyPr/>
                    <a:lstStyle/>
                    <a:p>
                      <a:pPr algn="ctr"/>
                      <a:r>
                        <a:rPr lang="en-US" sz="1100">
                          <a:effectLst/>
                          <a:latin typeface="Times New Roman" panose="02020603050405020304" pitchFamily="18" charset="0"/>
                          <a:ea typeface="宋体" panose="02010600030101010101" pitchFamily="2" charset="-122"/>
                        </a:rPr>
                        <a:t>Level0</a:t>
                      </a:r>
                      <a:endParaRPr lang="zh-CN" sz="1100">
                        <a:effectLst/>
                        <a:latin typeface="Times New Roman" panose="02020603050405020304" pitchFamily="18" charset="0"/>
                        <a:ea typeface="宋体" panose="02010600030101010101" pitchFamily="2" charset="-122"/>
                      </a:endParaRPr>
                    </a:p>
                    <a:p>
                      <a:pPr algn="ctr"/>
                      <a:r>
                        <a:rPr lang="zh-CN" sz="1100">
                          <a:effectLst/>
                          <a:latin typeface="Times New Roman" panose="02020603050405020304" pitchFamily="18" charset="0"/>
                          <a:ea typeface="宋体" panose="02010600030101010101" pitchFamily="2" charset="-122"/>
                        </a:rPr>
                        <a:t>（不胜任表现）</a:t>
                      </a: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（深度理解产品）对产品基本特性理解不到位，难以回答客户相关问题。</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667893"/>
                  </a:ext>
                </a:extLst>
              </a:tr>
              <a:tr h="305183">
                <a:tc vMerge="1">
                  <a:txBody>
                    <a:bodyPr/>
                    <a:lstStyle/>
                    <a:p>
                      <a:endParaRPr lang="zh-CN" altLang="en-US"/>
                    </a:p>
                  </a:txBody>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（专业呈现）不会采用专业的工具方法向客户呈现产品或方案价值，以增强客户信任。</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7116608"/>
                  </a:ext>
                </a:extLst>
              </a:tr>
              <a:tr h="289041">
                <a:tc vMerge="1">
                  <a:txBody>
                    <a:bodyPr/>
                    <a:lstStyle/>
                    <a:p>
                      <a:endParaRPr lang="zh-CN" altLang="en-US"/>
                    </a:p>
                  </a:txBody>
                  <a:tcPr/>
                </a:tc>
                <a:tc>
                  <a:txBody>
                    <a:bodyPr/>
                    <a:lstStyle/>
                    <a:p>
                      <a:r>
                        <a:rPr lang="zh-CN" sz="1050">
                          <a:solidFill>
                            <a:srgbClr val="000000"/>
                          </a:solidFill>
                          <a:effectLst/>
                          <a:latin typeface="Times New Roman" panose="02020603050405020304" pitchFamily="18" charset="0"/>
                          <a:ea typeface="DengXian" panose="02010600030101010101" pitchFamily="2" charset="-122"/>
                        </a:rPr>
                        <a:t>（持续精进）对经济和技术发展不敏感，缺少学习致使知识结构老化。</a:t>
                      </a:r>
                      <a:endParaRPr lang="zh-CN" sz="110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2994261"/>
                  </a:ext>
                </a:extLst>
              </a:tr>
              <a:tr h="282223">
                <a:tc rowSpan="3">
                  <a:txBody>
                    <a:bodyPr/>
                    <a:lstStyle/>
                    <a:p>
                      <a:pPr algn="ctr"/>
                      <a:r>
                        <a:rPr lang="en-US" sz="1100" dirty="0">
                          <a:effectLst/>
                          <a:latin typeface="Times New Roman" panose="02020603050405020304" pitchFamily="18" charset="0"/>
                          <a:ea typeface="宋体" panose="02010600030101010101" pitchFamily="2" charset="-122"/>
                        </a:rPr>
                        <a:t>Level1</a:t>
                      </a:r>
                      <a:endParaRPr lang="zh-CN" sz="1100" dirty="0">
                        <a:effectLst/>
                        <a:latin typeface="Times New Roman" panose="02020603050405020304" pitchFamily="18" charset="0"/>
                        <a:ea typeface="宋体" panose="02010600030101010101" pitchFamily="2" charset="-122"/>
                      </a:endParaRPr>
                    </a:p>
                    <a:p>
                      <a:pPr algn="ctr"/>
                      <a:r>
                        <a:rPr lang="zh-CN" sz="1100" dirty="0">
                          <a:effectLst/>
                          <a:latin typeface="Times New Roman" panose="02020603050405020304" pitchFamily="18" charset="0"/>
                          <a:ea typeface="宋体" panose="02010600030101010101" pitchFamily="2" charset="-122"/>
                        </a:rPr>
                        <a:t>（初级）</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（深度理解产品）了解</a:t>
                      </a:r>
                      <a:r>
                        <a:rPr lang="zh-CN" sz="1050" dirty="0">
                          <a:solidFill>
                            <a:srgbClr val="FF0000"/>
                          </a:solidFill>
                          <a:effectLst/>
                          <a:latin typeface="Times New Roman" panose="02020603050405020304" pitchFamily="18" charset="0"/>
                          <a:ea typeface="DengXian" panose="02010600030101010101" pitchFamily="2" charset="-122"/>
                        </a:rPr>
                        <a:t>产品基本特点</a:t>
                      </a:r>
                      <a:r>
                        <a:rPr lang="zh-CN" sz="1050" dirty="0">
                          <a:solidFill>
                            <a:srgbClr val="000000"/>
                          </a:solidFill>
                          <a:effectLst/>
                          <a:latin typeface="Times New Roman" panose="02020603050405020304" pitchFamily="18" charset="0"/>
                          <a:ea typeface="DengXian" panose="02010600030101010101" pitchFamily="2" charset="-122"/>
                        </a:rPr>
                        <a:t>，能回应客户</a:t>
                      </a:r>
                      <a:r>
                        <a:rPr lang="zh-CN" sz="1050" dirty="0">
                          <a:solidFill>
                            <a:srgbClr val="FF0000"/>
                          </a:solidFill>
                          <a:effectLst/>
                          <a:latin typeface="Times New Roman" panose="02020603050405020304" pitchFamily="18" charset="0"/>
                          <a:ea typeface="DengXian" panose="02010600030101010101" pitchFamily="2" charset="-122"/>
                        </a:rPr>
                        <a:t>常见产品问题</a:t>
                      </a:r>
                      <a:r>
                        <a:rPr lang="zh-CN" sz="1050" dirty="0">
                          <a:solidFill>
                            <a:srgbClr val="000000"/>
                          </a:solidFill>
                          <a:effectLst/>
                          <a:latin typeface="Times New Roman" panose="02020603050405020304" pitchFamily="18" charset="0"/>
                          <a:ea typeface="DengXian" panose="02010600030101010101" pitchFamily="2" charset="-122"/>
                        </a:rPr>
                        <a:t>。</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5667631"/>
                  </a:ext>
                </a:extLst>
              </a:tr>
              <a:tr h="349955">
                <a:tc vMerge="1">
                  <a:txBody>
                    <a:bodyPr/>
                    <a:lstStyle/>
                    <a:p>
                      <a:endParaRPr lang="zh-CN" altLang="en-US"/>
                    </a:p>
                  </a:txBody>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（专业呈现）能使用</a:t>
                      </a:r>
                      <a:r>
                        <a:rPr lang="zh-CN" sz="1050" dirty="0">
                          <a:solidFill>
                            <a:srgbClr val="00B0F0"/>
                          </a:solidFill>
                          <a:effectLst/>
                          <a:latin typeface="Times New Roman" panose="02020603050405020304" pitchFamily="18" charset="0"/>
                          <a:ea typeface="DengXian" panose="02010600030101010101" pitchFamily="2" charset="-122"/>
                        </a:rPr>
                        <a:t>基本的话术</a:t>
                      </a:r>
                      <a:r>
                        <a:rPr lang="zh-CN" sz="1050" dirty="0">
                          <a:solidFill>
                            <a:srgbClr val="000000"/>
                          </a:solidFill>
                          <a:effectLst/>
                          <a:latin typeface="Times New Roman" panose="02020603050405020304" pitchFamily="18" charset="0"/>
                          <a:ea typeface="DengXian" panose="02010600030101010101" pitchFamily="2" charset="-122"/>
                        </a:rPr>
                        <a:t>向客户推荐产品或方案。</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0445397"/>
                  </a:ext>
                </a:extLst>
              </a:tr>
              <a:tr h="361245">
                <a:tc vMerge="1">
                  <a:txBody>
                    <a:bodyPr/>
                    <a:lstStyle/>
                    <a:p>
                      <a:endParaRPr lang="zh-CN" altLang="en-US"/>
                    </a:p>
                  </a:txBody>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（持续精进）</a:t>
                      </a:r>
                      <a:r>
                        <a:rPr lang="zh-CN" sz="1050" dirty="0">
                          <a:solidFill>
                            <a:srgbClr val="00B050"/>
                          </a:solidFill>
                          <a:effectLst/>
                          <a:latin typeface="Times New Roman" panose="02020603050405020304" pitchFamily="18" charset="0"/>
                          <a:ea typeface="DengXian" panose="02010600030101010101" pitchFamily="2" charset="-122"/>
                        </a:rPr>
                        <a:t>跟随</a:t>
                      </a:r>
                      <a:r>
                        <a:rPr lang="zh-CN" sz="1050" dirty="0">
                          <a:solidFill>
                            <a:srgbClr val="000000"/>
                          </a:solidFill>
                          <a:effectLst/>
                          <a:latin typeface="Times New Roman" panose="02020603050405020304" pitchFamily="18" charset="0"/>
                          <a:ea typeface="DengXian" panose="02010600030101010101" pitchFamily="2" charset="-122"/>
                        </a:rPr>
                        <a:t>我行，保持新产品新战略的</a:t>
                      </a:r>
                      <a:r>
                        <a:rPr lang="zh-CN" sz="1050" dirty="0">
                          <a:solidFill>
                            <a:srgbClr val="00B050"/>
                          </a:solidFill>
                          <a:effectLst/>
                          <a:latin typeface="Times New Roman" panose="02020603050405020304" pitchFamily="18" charset="0"/>
                          <a:ea typeface="DengXian" panose="02010600030101010101" pitchFamily="2" charset="-122"/>
                        </a:rPr>
                        <a:t>持续更新</a:t>
                      </a:r>
                      <a:r>
                        <a:rPr lang="zh-CN" sz="1050" dirty="0">
                          <a:solidFill>
                            <a:srgbClr val="000000"/>
                          </a:solidFill>
                          <a:effectLst/>
                          <a:latin typeface="Times New Roman" panose="02020603050405020304" pitchFamily="18" charset="0"/>
                          <a:ea typeface="DengXian" panose="02010600030101010101" pitchFamily="2" charset="-122"/>
                        </a:rPr>
                        <a:t>。</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3076558"/>
                  </a:ext>
                </a:extLst>
              </a:tr>
              <a:tr h="361244">
                <a:tc rowSpan="2">
                  <a:txBody>
                    <a:bodyPr/>
                    <a:lstStyle/>
                    <a:p>
                      <a:pPr algn="ctr"/>
                      <a:r>
                        <a:rPr lang="en-US" sz="1100">
                          <a:effectLst/>
                          <a:latin typeface="Times New Roman" panose="02020603050405020304" pitchFamily="18" charset="0"/>
                          <a:ea typeface="宋体" panose="02010600030101010101" pitchFamily="2" charset="-122"/>
                        </a:rPr>
                        <a:t>Level2</a:t>
                      </a:r>
                      <a:endParaRPr lang="zh-CN" sz="1100">
                        <a:effectLst/>
                        <a:latin typeface="Times New Roman" panose="02020603050405020304" pitchFamily="18" charset="0"/>
                        <a:ea typeface="宋体" panose="02010600030101010101" pitchFamily="2" charset="-122"/>
                      </a:endParaRPr>
                    </a:p>
                    <a:p>
                      <a:pPr algn="ctr"/>
                      <a:r>
                        <a:rPr lang="zh-CN" sz="1100">
                          <a:effectLst/>
                          <a:latin typeface="Times New Roman" panose="02020603050405020304" pitchFamily="18" charset="0"/>
                          <a:ea typeface="宋体" panose="02010600030101010101" pitchFamily="2" charset="-122"/>
                        </a:rPr>
                        <a:t>（中级）</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just"/>
                      <a:r>
                        <a:rPr lang="zh-CN" sz="1050" dirty="0">
                          <a:solidFill>
                            <a:srgbClr val="000000"/>
                          </a:solidFill>
                          <a:effectLst/>
                          <a:latin typeface="Times New Roman" panose="02020603050405020304" pitchFamily="18" charset="0"/>
                          <a:ea typeface="DengXian" panose="02010600030101010101" pitchFamily="2" charset="-122"/>
                        </a:rPr>
                        <a:t>（深度理解产品）掌握产品和方案的</a:t>
                      </a:r>
                      <a:r>
                        <a:rPr lang="zh-CN" sz="1050" dirty="0">
                          <a:solidFill>
                            <a:srgbClr val="FF0000"/>
                          </a:solidFill>
                          <a:effectLst/>
                          <a:latin typeface="Times New Roman" panose="02020603050405020304" pitchFamily="18" charset="0"/>
                          <a:ea typeface="DengXian" panose="02010600030101010101" pitchFamily="2" charset="-122"/>
                        </a:rPr>
                        <a:t>深层原理</a:t>
                      </a:r>
                      <a:r>
                        <a:rPr lang="zh-CN" sz="1050" dirty="0">
                          <a:solidFill>
                            <a:srgbClr val="000000"/>
                          </a:solidFill>
                          <a:effectLst/>
                          <a:latin typeface="Times New Roman" panose="02020603050405020304" pitchFamily="18" charset="0"/>
                          <a:ea typeface="DengXian" panose="02010600030101010101" pitchFamily="2" charset="-122"/>
                        </a:rPr>
                        <a:t>，能回答客户</a:t>
                      </a:r>
                      <a:r>
                        <a:rPr lang="zh-CN" sz="1050" dirty="0">
                          <a:solidFill>
                            <a:srgbClr val="FF0000"/>
                          </a:solidFill>
                          <a:effectLst/>
                          <a:latin typeface="Times New Roman" panose="02020603050405020304" pitchFamily="18" charset="0"/>
                          <a:ea typeface="DengXian" panose="02010600030101010101" pitchFamily="2" charset="-122"/>
                        </a:rPr>
                        <a:t>较为复杂的问题</a:t>
                      </a:r>
                      <a:r>
                        <a:rPr lang="zh-CN" sz="1050" dirty="0">
                          <a:solidFill>
                            <a:srgbClr val="000000"/>
                          </a:solidFill>
                          <a:effectLst/>
                          <a:latin typeface="Times New Roman" panose="02020603050405020304" pitchFamily="18" charset="0"/>
                          <a:ea typeface="DengXian" panose="02010600030101010101" pitchFamily="2" charset="-122"/>
                        </a:rPr>
                        <a:t>。</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5191772"/>
                  </a:ext>
                </a:extLst>
              </a:tr>
              <a:tr h="406400">
                <a:tc vMerge="1">
                  <a:txBody>
                    <a:bodyPr/>
                    <a:lstStyle/>
                    <a:p>
                      <a:endParaRPr lang="zh-CN" altLang="en-US"/>
                    </a:p>
                  </a:txBody>
                  <a:tcPr/>
                </a:tc>
                <a:tc>
                  <a:txBody>
                    <a:bodyPr/>
                    <a:lstStyle/>
                    <a:p>
                      <a:pPr algn="just"/>
                      <a:r>
                        <a:rPr lang="zh-CN" sz="1050" dirty="0">
                          <a:solidFill>
                            <a:srgbClr val="000000"/>
                          </a:solidFill>
                          <a:effectLst/>
                          <a:latin typeface="Times New Roman" panose="02020603050405020304" pitchFamily="18" charset="0"/>
                          <a:ea typeface="DengXian" panose="02010600030101010101" pitchFamily="2" charset="-122"/>
                        </a:rPr>
                        <a:t>（专业呈现）善于使用一些专门</a:t>
                      </a:r>
                      <a:r>
                        <a:rPr lang="zh-CN" sz="1050" dirty="0">
                          <a:solidFill>
                            <a:srgbClr val="00B0F0"/>
                          </a:solidFill>
                          <a:effectLst/>
                          <a:latin typeface="Times New Roman" panose="02020603050405020304" pitchFamily="18" charset="0"/>
                          <a:ea typeface="DengXian" panose="02010600030101010101" pitchFamily="2" charset="-122"/>
                        </a:rPr>
                        <a:t>工具和方法</a:t>
                      </a:r>
                      <a:r>
                        <a:rPr lang="zh-CN" sz="1050" dirty="0">
                          <a:solidFill>
                            <a:srgbClr val="000000"/>
                          </a:solidFill>
                          <a:effectLst/>
                          <a:latin typeface="Times New Roman" panose="02020603050405020304" pitchFamily="18" charset="0"/>
                          <a:ea typeface="DengXian" panose="02010600030101010101" pitchFamily="2" charset="-122"/>
                        </a:rPr>
                        <a:t>，深入浅出地介绍产品和方案，让客户信服。</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012109"/>
                  </a:ext>
                </a:extLst>
              </a:tr>
              <a:tr h="417689">
                <a:tc>
                  <a:txBody>
                    <a:bodyPr/>
                    <a:lstStyle/>
                    <a:p>
                      <a:pPr algn="ctr"/>
                      <a:r>
                        <a:rPr lang="en-US" sz="1100">
                          <a:effectLst/>
                          <a:latin typeface="Times New Roman" panose="02020603050405020304" pitchFamily="18" charset="0"/>
                          <a:ea typeface="宋体" panose="02010600030101010101" pitchFamily="2" charset="-122"/>
                        </a:rPr>
                        <a:t> </a:t>
                      </a:r>
                      <a:endParaRPr lang="zh-CN" sz="1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just"/>
                      <a:r>
                        <a:rPr lang="zh-CN" sz="1050" dirty="0">
                          <a:solidFill>
                            <a:srgbClr val="000000"/>
                          </a:solidFill>
                          <a:effectLst/>
                          <a:latin typeface="Times New Roman" panose="02020603050405020304" pitchFamily="18" charset="0"/>
                          <a:ea typeface="DengXian" panose="02010600030101010101" pitchFamily="2" charset="-122"/>
                        </a:rPr>
                        <a:t>（持续精进）根据自身情况</a:t>
                      </a:r>
                      <a:r>
                        <a:rPr lang="zh-CN" sz="1050" dirty="0">
                          <a:solidFill>
                            <a:srgbClr val="00B050"/>
                          </a:solidFill>
                          <a:effectLst/>
                          <a:latin typeface="Times New Roman" panose="02020603050405020304" pitchFamily="18" charset="0"/>
                          <a:ea typeface="DengXian" panose="02010600030101010101" pitchFamily="2" charset="-122"/>
                        </a:rPr>
                        <a:t>主动学习</a:t>
                      </a:r>
                      <a:r>
                        <a:rPr lang="zh-CN" sz="1050" dirty="0">
                          <a:solidFill>
                            <a:srgbClr val="000000"/>
                          </a:solidFill>
                          <a:effectLst/>
                          <a:latin typeface="Times New Roman" panose="02020603050405020304" pitchFamily="18" charset="0"/>
                          <a:ea typeface="DengXian" panose="02010600030101010101" pitchFamily="2" charset="-122"/>
                        </a:rPr>
                        <a:t>，不断更新知识结构，提升客户沟通话题的宽度。</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6960284"/>
                  </a:ext>
                </a:extLst>
              </a:tr>
              <a:tr h="428978">
                <a:tc rowSpan="3">
                  <a:txBody>
                    <a:bodyPr/>
                    <a:lstStyle/>
                    <a:p>
                      <a:pPr algn="ctr"/>
                      <a:r>
                        <a:rPr lang="en-US" sz="1100">
                          <a:effectLst/>
                          <a:latin typeface="Times New Roman" panose="02020603050405020304" pitchFamily="18" charset="0"/>
                          <a:ea typeface="宋体" panose="02010600030101010101" pitchFamily="2" charset="-122"/>
                        </a:rPr>
                        <a:t>Level3</a:t>
                      </a:r>
                      <a:endParaRPr lang="zh-CN" sz="1100">
                        <a:effectLst/>
                        <a:latin typeface="Times New Roman" panose="02020603050405020304" pitchFamily="18" charset="0"/>
                        <a:ea typeface="宋体" panose="02010600030101010101" pitchFamily="2" charset="-122"/>
                      </a:endParaRPr>
                    </a:p>
                    <a:p>
                      <a:pPr algn="ctr"/>
                      <a:r>
                        <a:rPr lang="zh-CN" sz="1100">
                          <a:effectLst/>
                          <a:latin typeface="Times New Roman" panose="02020603050405020304" pitchFamily="18" charset="0"/>
                          <a:ea typeface="宋体" panose="02010600030101010101" pitchFamily="2" charset="-122"/>
                        </a:rPr>
                        <a:t>（高级）</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（深度理解产品）深刻理解</a:t>
                      </a:r>
                      <a:r>
                        <a:rPr lang="zh-CN" sz="1050" dirty="0">
                          <a:solidFill>
                            <a:srgbClr val="FF0000"/>
                          </a:solidFill>
                          <a:effectLst/>
                          <a:latin typeface="Times New Roman" panose="02020603050405020304" pitchFamily="18" charset="0"/>
                          <a:ea typeface="DengXian" panose="02010600030101010101" pitchFamily="2" charset="-122"/>
                        </a:rPr>
                        <a:t>产品及其组合背后的逻辑</a:t>
                      </a:r>
                      <a:r>
                        <a:rPr lang="zh-CN" sz="1050" dirty="0">
                          <a:solidFill>
                            <a:srgbClr val="000000"/>
                          </a:solidFill>
                          <a:effectLst/>
                          <a:latin typeface="Times New Roman" panose="02020603050405020304" pitchFamily="18" charset="0"/>
                          <a:ea typeface="DengXian" panose="02010600030101010101" pitchFamily="2" charset="-122"/>
                        </a:rPr>
                        <a:t>，从</a:t>
                      </a:r>
                      <a:r>
                        <a:rPr lang="zh-CN" sz="1050" dirty="0">
                          <a:solidFill>
                            <a:srgbClr val="FF0000"/>
                          </a:solidFill>
                          <a:effectLst/>
                          <a:latin typeface="Times New Roman" panose="02020603050405020304" pitchFamily="18" charset="0"/>
                          <a:ea typeface="DengXian" panose="02010600030101010101" pitchFamily="2" charset="-122"/>
                        </a:rPr>
                        <a:t>战略性系统性</a:t>
                      </a:r>
                      <a:r>
                        <a:rPr lang="zh-CN" sz="1050" dirty="0">
                          <a:solidFill>
                            <a:srgbClr val="000000"/>
                          </a:solidFill>
                          <a:effectLst/>
                          <a:latin typeface="Times New Roman" panose="02020603050405020304" pitchFamily="18" charset="0"/>
                          <a:ea typeface="DengXian" panose="02010600030101010101" pitchFamily="2" charset="-122"/>
                        </a:rPr>
                        <a:t>方面</a:t>
                      </a:r>
                      <a:r>
                        <a:rPr lang="zh-CN" sz="1050" dirty="0">
                          <a:solidFill>
                            <a:srgbClr val="FF0000"/>
                          </a:solidFill>
                          <a:effectLst/>
                          <a:latin typeface="Times New Roman" panose="02020603050405020304" pitchFamily="18" charset="0"/>
                          <a:ea typeface="DengXian" panose="02010600030101010101" pitchFamily="2" charset="-122"/>
                        </a:rPr>
                        <a:t>回应</a:t>
                      </a:r>
                      <a:r>
                        <a:rPr lang="zh-CN" sz="1050" dirty="0">
                          <a:solidFill>
                            <a:srgbClr val="000000"/>
                          </a:solidFill>
                          <a:effectLst/>
                          <a:latin typeface="Times New Roman" panose="02020603050405020304" pitchFamily="18" charset="0"/>
                          <a:ea typeface="DengXian" panose="02010600030101010101" pitchFamily="2" charset="-122"/>
                        </a:rPr>
                        <a:t>客户的复杂问题。</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9080069"/>
                  </a:ext>
                </a:extLst>
              </a:tr>
              <a:tr h="383822">
                <a:tc vMerge="1">
                  <a:txBody>
                    <a:bodyPr/>
                    <a:lstStyle/>
                    <a:p>
                      <a:endParaRPr lang="zh-CN" altLang="en-US"/>
                    </a:p>
                  </a:txBody>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（专业呈现）在产品和方案解读以及客户营销时，具有令人信服的</a:t>
                      </a:r>
                      <a:r>
                        <a:rPr lang="zh-CN" sz="1050" dirty="0">
                          <a:solidFill>
                            <a:srgbClr val="00B0F0"/>
                          </a:solidFill>
                          <a:effectLst/>
                          <a:latin typeface="Times New Roman" panose="02020603050405020304" pitchFamily="18" charset="0"/>
                          <a:ea typeface="DengXian" panose="02010600030101010101" pitchFamily="2" charset="-122"/>
                        </a:rPr>
                        <a:t>专业度或专家风范</a:t>
                      </a:r>
                      <a:r>
                        <a:rPr lang="zh-CN" sz="1050" dirty="0">
                          <a:solidFill>
                            <a:srgbClr val="000000"/>
                          </a:solidFill>
                          <a:effectLst/>
                          <a:latin typeface="Times New Roman" panose="02020603050405020304" pitchFamily="18" charset="0"/>
                          <a:ea typeface="DengXian" panose="02010600030101010101" pitchFamily="2" charset="-122"/>
                        </a:rPr>
                        <a:t>。</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6359863"/>
                  </a:ext>
                </a:extLst>
              </a:tr>
              <a:tr h="451556">
                <a:tc vMerge="1">
                  <a:txBody>
                    <a:bodyPr/>
                    <a:lstStyle/>
                    <a:p>
                      <a:endParaRPr lang="zh-CN" altLang="en-US"/>
                    </a:p>
                  </a:txBody>
                  <a:tcPr/>
                </a:tc>
                <a:tc>
                  <a:txBody>
                    <a:bodyPr/>
                    <a:lstStyle/>
                    <a:p>
                      <a:r>
                        <a:rPr lang="zh-CN" sz="1050" dirty="0">
                          <a:solidFill>
                            <a:srgbClr val="000000"/>
                          </a:solidFill>
                          <a:effectLst/>
                          <a:latin typeface="Times New Roman" panose="02020603050405020304" pitchFamily="18" charset="0"/>
                          <a:ea typeface="DengXian" panose="02010600030101010101" pitchFamily="2" charset="-122"/>
                        </a:rPr>
                        <a:t>（持续精进）在经济金融领域</a:t>
                      </a:r>
                      <a:r>
                        <a:rPr lang="zh-CN" sz="1050" dirty="0">
                          <a:solidFill>
                            <a:srgbClr val="00B050"/>
                          </a:solidFill>
                          <a:effectLst/>
                          <a:latin typeface="Times New Roman" panose="02020603050405020304" pitchFamily="18" charset="0"/>
                          <a:ea typeface="DengXian" panose="02010600030101010101" pitchFamily="2" charset="-122"/>
                        </a:rPr>
                        <a:t>持续深入学习</a:t>
                      </a:r>
                      <a:r>
                        <a:rPr lang="zh-CN" sz="1050" dirty="0">
                          <a:solidFill>
                            <a:srgbClr val="000000"/>
                          </a:solidFill>
                          <a:effectLst/>
                          <a:latin typeface="Times New Roman" panose="02020603050405020304" pitchFamily="18" charset="0"/>
                          <a:ea typeface="DengXian" panose="02010600030101010101" pitchFamily="2" charset="-122"/>
                        </a:rPr>
                        <a:t>，不断探索相关领域的深度，能在</a:t>
                      </a:r>
                      <a:r>
                        <a:rPr lang="zh-CN" sz="1050" dirty="0">
                          <a:solidFill>
                            <a:srgbClr val="00B050"/>
                          </a:solidFill>
                          <a:effectLst/>
                          <a:latin typeface="Times New Roman" panose="02020603050405020304" pitchFamily="18" charset="0"/>
                          <a:ea typeface="DengXian" panose="02010600030101010101" pitchFamily="2" charset="-122"/>
                        </a:rPr>
                        <a:t>某方面引领客户</a:t>
                      </a:r>
                      <a:r>
                        <a:rPr lang="zh-CN" sz="1050" dirty="0">
                          <a:solidFill>
                            <a:srgbClr val="000000"/>
                          </a:solidFill>
                          <a:effectLst/>
                          <a:latin typeface="Times New Roman" panose="02020603050405020304" pitchFamily="18" charset="0"/>
                          <a:ea typeface="DengXian" panose="02010600030101010101" pitchFamily="2" charset="-122"/>
                        </a:rPr>
                        <a:t>认知。</a:t>
                      </a:r>
                      <a:endParaRPr lang="zh-CN" sz="1100" dirty="0">
                        <a:effectLst/>
                        <a:latin typeface="Times New Roman" panose="02020603050405020304" pitchFamily="18" charset="0"/>
                        <a:ea typeface="宋体" panose="02010600030101010101" pitchFamily="2" charset="-122"/>
                      </a:endParaRPr>
                    </a:p>
                  </a:txBody>
                  <a:tcPr marL="60056" marR="60056" marT="30028" marB="3002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3589389"/>
                  </a:ext>
                </a:extLst>
              </a:tr>
            </a:tbl>
          </a:graphicData>
        </a:graphic>
      </p:graphicFrame>
    </p:spTree>
    <p:extLst>
      <p:ext uri="{BB962C8B-B14F-4D97-AF65-F5344CB8AC3E}">
        <p14:creationId xmlns:p14="http://schemas.microsoft.com/office/powerpoint/2010/main" val="2179962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示例：如何对能力进行分层级定义？</a:t>
            </a:r>
          </a:p>
        </p:txBody>
      </p:sp>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8</a:t>
            </a:fld>
            <a:endParaRPr lang="zh-CN" altLang="en-US"/>
          </a:p>
        </p:txBody>
      </p:sp>
      <p:sp>
        <p:nvSpPr>
          <p:cNvPr id="22" name="矩形 21"/>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grpSp>
        <p:nvGrpSpPr>
          <p:cNvPr id="5" name="组合 4">
            <a:extLst>
              <a:ext uri="{FF2B5EF4-FFF2-40B4-BE49-F238E27FC236}">
                <a16:creationId xmlns:a16="http://schemas.microsoft.com/office/drawing/2014/main" id="{095A7529-9F32-E4C4-CEA5-28ABA414DFCE}"/>
              </a:ext>
            </a:extLst>
          </p:cNvPr>
          <p:cNvGrpSpPr/>
          <p:nvPr/>
        </p:nvGrpSpPr>
        <p:grpSpPr>
          <a:xfrm>
            <a:off x="706423" y="2366573"/>
            <a:ext cx="8662635" cy="2952998"/>
            <a:chOff x="2003613" y="2393297"/>
            <a:chExt cx="6598684" cy="2952998"/>
          </a:xfrm>
        </p:grpSpPr>
        <p:sp>
          <p:nvSpPr>
            <p:cNvPr id="6" name="L 形 5">
              <a:extLst>
                <a:ext uri="{FF2B5EF4-FFF2-40B4-BE49-F238E27FC236}">
                  <a16:creationId xmlns:a16="http://schemas.microsoft.com/office/drawing/2014/main" id="{2C74A106-E8AC-F704-A33B-93BCD175B432}"/>
                </a:ext>
              </a:extLst>
            </p:cNvPr>
            <p:cNvSpPr/>
            <p:nvPr/>
          </p:nvSpPr>
          <p:spPr>
            <a:xfrm rot="5400000">
              <a:off x="2413440" y="3107010"/>
              <a:ext cx="1234459" cy="2054113"/>
            </a:xfrm>
            <a:prstGeom prst="corner">
              <a:avLst>
                <a:gd name="adj1" fmla="val 16120"/>
                <a:gd name="adj2" fmla="val 161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7" name="任意形状 6">
              <a:extLst>
                <a:ext uri="{FF2B5EF4-FFF2-40B4-BE49-F238E27FC236}">
                  <a16:creationId xmlns:a16="http://schemas.microsoft.com/office/drawing/2014/main" id="{F0600BA1-AB61-4985-1B7A-C0A5C4D279B4}"/>
                </a:ext>
              </a:extLst>
            </p:cNvPr>
            <p:cNvSpPr/>
            <p:nvPr/>
          </p:nvSpPr>
          <p:spPr>
            <a:xfrm>
              <a:off x="2207378" y="3720748"/>
              <a:ext cx="1854464" cy="1625547"/>
            </a:xfrm>
            <a:custGeom>
              <a:avLst/>
              <a:gdLst>
                <a:gd name="connsiteX0" fmla="*/ 0 w 1854464"/>
                <a:gd name="connsiteY0" fmla="*/ 0 h 1625547"/>
                <a:gd name="connsiteX1" fmla="*/ 1854464 w 1854464"/>
                <a:gd name="connsiteY1" fmla="*/ 0 h 1625547"/>
                <a:gd name="connsiteX2" fmla="*/ 1854464 w 1854464"/>
                <a:gd name="connsiteY2" fmla="*/ 1625547 h 1625547"/>
                <a:gd name="connsiteX3" fmla="*/ 0 w 1854464"/>
                <a:gd name="connsiteY3" fmla="*/ 1625547 h 1625547"/>
                <a:gd name="connsiteX4" fmla="*/ 0 w 1854464"/>
                <a:gd name="connsiteY4" fmla="*/ 0 h 1625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464" h="1625547">
                  <a:moveTo>
                    <a:pt x="0" y="0"/>
                  </a:moveTo>
                  <a:lnTo>
                    <a:pt x="1854464" y="0"/>
                  </a:lnTo>
                  <a:lnTo>
                    <a:pt x="1854464" y="1625547"/>
                  </a:lnTo>
                  <a:lnTo>
                    <a:pt x="0" y="162554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0" tIns="190500" rIns="190500" bIns="190500" numCol="1" spcCol="1270" anchor="t" anchorCtr="0">
              <a:noAutofit/>
            </a:bodyPr>
            <a:lstStyle/>
            <a:p>
              <a:pPr marL="0" lvl="0" indent="0" algn="l" defTabSz="2222500">
                <a:lnSpc>
                  <a:spcPct val="90000"/>
                </a:lnSpc>
                <a:spcBef>
                  <a:spcPct val="0"/>
                </a:spcBef>
                <a:spcAft>
                  <a:spcPct val="35000"/>
                </a:spcAft>
                <a:buNone/>
              </a:pPr>
              <a:endParaRPr lang="zh-CN" altLang="en-US" sz="5000" kern="1200"/>
            </a:p>
          </p:txBody>
        </p:sp>
        <p:sp>
          <p:nvSpPr>
            <p:cNvPr id="9" name="三角形 8">
              <a:extLst>
                <a:ext uri="{FF2B5EF4-FFF2-40B4-BE49-F238E27FC236}">
                  <a16:creationId xmlns:a16="http://schemas.microsoft.com/office/drawing/2014/main" id="{87B71CD2-1EB6-33DE-2C60-1B3470968F7C}"/>
                </a:ext>
              </a:extLst>
            </p:cNvPr>
            <p:cNvSpPr/>
            <p:nvPr/>
          </p:nvSpPr>
          <p:spPr>
            <a:xfrm>
              <a:off x="3711944" y="2955784"/>
              <a:ext cx="349899" cy="349899"/>
            </a:xfrm>
            <a:prstGeom prst="triangle">
              <a:avLst>
                <a:gd name="adj" fmla="val 10000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0" name="L 形 9">
              <a:extLst>
                <a:ext uri="{FF2B5EF4-FFF2-40B4-BE49-F238E27FC236}">
                  <a16:creationId xmlns:a16="http://schemas.microsoft.com/office/drawing/2014/main" id="{FFB98F9C-44FD-33E1-E6C8-652D059D3503}"/>
                </a:ext>
              </a:extLst>
            </p:cNvPr>
            <p:cNvSpPr/>
            <p:nvPr/>
          </p:nvSpPr>
          <p:spPr>
            <a:xfrm rot="5400000">
              <a:off x="4683667" y="2545240"/>
              <a:ext cx="1234459" cy="2054113"/>
            </a:xfrm>
            <a:prstGeom prst="corner">
              <a:avLst>
                <a:gd name="adj1" fmla="val 16120"/>
                <a:gd name="adj2" fmla="val 161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1" name="任意形状 10">
              <a:extLst>
                <a:ext uri="{FF2B5EF4-FFF2-40B4-BE49-F238E27FC236}">
                  <a16:creationId xmlns:a16="http://schemas.microsoft.com/office/drawing/2014/main" id="{B2C4EC4A-A240-EEB5-B718-CC5C458C1D69}"/>
                </a:ext>
              </a:extLst>
            </p:cNvPr>
            <p:cNvSpPr/>
            <p:nvPr/>
          </p:nvSpPr>
          <p:spPr>
            <a:xfrm>
              <a:off x="4477605" y="3158978"/>
              <a:ext cx="1854464" cy="1625547"/>
            </a:xfrm>
            <a:custGeom>
              <a:avLst/>
              <a:gdLst>
                <a:gd name="connsiteX0" fmla="*/ 0 w 1854464"/>
                <a:gd name="connsiteY0" fmla="*/ 0 h 1625547"/>
                <a:gd name="connsiteX1" fmla="*/ 1854464 w 1854464"/>
                <a:gd name="connsiteY1" fmla="*/ 0 h 1625547"/>
                <a:gd name="connsiteX2" fmla="*/ 1854464 w 1854464"/>
                <a:gd name="connsiteY2" fmla="*/ 1625547 h 1625547"/>
                <a:gd name="connsiteX3" fmla="*/ 0 w 1854464"/>
                <a:gd name="connsiteY3" fmla="*/ 1625547 h 1625547"/>
                <a:gd name="connsiteX4" fmla="*/ 0 w 1854464"/>
                <a:gd name="connsiteY4" fmla="*/ 0 h 1625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464" h="1625547">
                  <a:moveTo>
                    <a:pt x="0" y="0"/>
                  </a:moveTo>
                  <a:lnTo>
                    <a:pt x="1854464" y="0"/>
                  </a:lnTo>
                  <a:lnTo>
                    <a:pt x="1854464" y="1625547"/>
                  </a:lnTo>
                  <a:lnTo>
                    <a:pt x="0" y="162554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0" tIns="190500" rIns="190500" bIns="190500" numCol="1" spcCol="1270" anchor="t" anchorCtr="0">
              <a:noAutofit/>
            </a:bodyPr>
            <a:lstStyle/>
            <a:p>
              <a:pPr marL="0" lvl="0" indent="0" algn="l" defTabSz="2222500">
                <a:lnSpc>
                  <a:spcPct val="90000"/>
                </a:lnSpc>
                <a:spcBef>
                  <a:spcPct val="0"/>
                </a:spcBef>
                <a:spcAft>
                  <a:spcPct val="35000"/>
                </a:spcAft>
                <a:buNone/>
              </a:pPr>
              <a:endParaRPr lang="zh-CN" altLang="en-US" sz="5000" kern="1200"/>
            </a:p>
          </p:txBody>
        </p:sp>
        <p:sp>
          <p:nvSpPr>
            <p:cNvPr id="12" name="三角形 11">
              <a:extLst>
                <a:ext uri="{FF2B5EF4-FFF2-40B4-BE49-F238E27FC236}">
                  <a16:creationId xmlns:a16="http://schemas.microsoft.com/office/drawing/2014/main" id="{02B40410-13D7-9836-9E2F-E9C78C49F43F}"/>
                </a:ext>
              </a:extLst>
            </p:cNvPr>
            <p:cNvSpPr/>
            <p:nvPr/>
          </p:nvSpPr>
          <p:spPr>
            <a:xfrm>
              <a:off x="5982171" y="2394014"/>
              <a:ext cx="349899" cy="349899"/>
            </a:xfrm>
            <a:prstGeom prst="triangle">
              <a:avLst>
                <a:gd name="adj" fmla="val 10000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3" name="L 形 12">
              <a:extLst>
                <a:ext uri="{FF2B5EF4-FFF2-40B4-BE49-F238E27FC236}">
                  <a16:creationId xmlns:a16="http://schemas.microsoft.com/office/drawing/2014/main" id="{9BDE98EA-1C0A-9180-179B-D09B9EFF858E}"/>
                </a:ext>
              </a:extLst>
            </p:cNvPr>
            <p:cNvSpPr/>
            <p:nvPr/>
          </p:nvSpPr>
          <p:spPr>
            <a:xfrm rot="5400000">
              <a:off x="6953895" y="1983470"/>
              <a:ext cx="1234459" cy="2054113"/>
            </a:xfrm>
            <a:prstGeom prst="corner">
              <a:avLst>
                <a:gd name="adj1" fmla="val 16120"/>
                <a:gd name="adj2" fmla="val 161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4" name="任意形状 13">
              <a:extLst>
                <a:ext uri="{FF2B5EF4-FFF2-40B4-BE49-F238E27FC236}">
                  <a16:creationId xmlns:a16="http://schemas.microsoft.com/office/drawing/2014/main" id="{9A2C5978-7F2C-07C5-CBBF-D09DC3A300BB}"/>
                </a:ext>
              </a:extLst>
            </p:cNvPr>
            <p:cNvSpPr/>
            <p:nvPr/>
          </p:nvSpPr>
          <p:spPr>
            <a:xfrm>
              <a:off x="6747833" y="2597208"/>
              <a:ext cx="1854464" cy="1625547"/>
            </a:xfrm>
            <a:custGeom>
              <a:avLst/>
              <a:gdLst>
                <a:gd name="connsiteX0" fmla="*/ 0 w 1854464"/>
                <a:gd name="connsiteY0" fmla="*/ 0 h 1625547"/>
                <a:gd name="connsiteX1" fmla="*/ 1854464 w 1854464"/>
                <a:gd name="connsiteY1" fmla="*/ 0 h 1625547"/>
                <a:gd name="connsiteX2" fmla="*/ 1854464 w 1854464"/>
                <a:gd name="connsiteY2" fmla="*/ 1625547 h 1625547"/>
                <a:gd name="connsiteX3" fmla="*/ 0 w 1854464"/>
                <a:gd name="connsiteY3" fmla="*/ 1625547 h 1625547"/>
                <a:gd name="connsiteX4" fmla="*/ 0 w 1854464"/>
                <a:gd name="connsiteY4" fmla="*/ 0 h 1625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464" h="1625547">
                  <a:moveTo>
                    <a:pt x="0" y="0"/>
                  </a:moveTo>
                  <a:lnTo>
                    <a:pt x="1854464" y="0"/>
                  </a:lnTo>
                  <a:lnTo>
                    <a:pt x="1854464" y="1625547"/>
                  </a:lnTo>
                  <a:lnTo>
                    <a:pt x="0" y="162554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0" tIns="190500" rIns="190500" bIns="190500" numCol="1" spcCol="1270" anchor="t" anchorCtr="0">
              <a:noAutofit/>
            </a:bodyPr>
            <a:lstStyle/>
            <a:p>
              <a:pPr marL="0" lvl="0" indent="0" algn="l" defTabSz="2222500">
                <a:lnSpc>
                  <a:spcPct val="90000"/>
                </a:lnSpc>
                <a:spcBef>
                  <a:spcPct val="0"/>
                </a:spcBef>
                <a:spcAft>
                  <a:spcPct val="35000"/>
                </a:spcAft>
                <a:buNone/>
              </a:pPr>
              <a:endParaRPr lang="zh-CN" altLang="en-US" sz="5000" kern="1200"/>
            </a:p>
          </p:txBody>
        </p:sp>
      </p:grpSp>
      <p:sp>
        <p:nvSpPr>
          <p:cNvPr id="15" name="文本框 14">
            <a:extLst>
              <a:ext uri="{FF2B5EF4-FFF2-40B4-BE49-F238E27FC236}">
                <a16:creationId xmlns:a16="http://schemas.microsoft.com/office/drawing/2014/main" id="{19749D2C-927B-1F27-4C68-5524B639391A}"/>
              </a:ext>
            </a:extLst>
          </p:cNvPr>
          <p:cNvSpPr txBox="1"/>
          <p:nvPr/>
        </p:nvSpPr>
        <p:spPr>
          <a:xfrm>
            <a:off x="1472010" y="3133340"/>
            <a:ext cx="1204176" cy="292388"/>
          </a:xfrm>
          <a:prstGeom prst="rect">
            <a:avLst/>
          </a:prstGeom>
          <a:noFill/>
        </p:spPr>
        <p:txBody>
          <a:bodyPr wrap="none" rtlCol="0">
            <a:spAutoFit/>
          </a:bodyPr>
          <a:lstStyle/>
          <a:p>
            <a:r>
              <a:rPr kumimoji="1" lang="zh-CN" altLang="en-US" dirty="0"/>
              <a:t>初级客户经理</a:t>
            </a:r>
          </a:p>
        </p:txBody>
      </p:sp>
      <p:sp>
        <p:nvSpPr>
          <p:cNvPr id="16" name="文本框 15">
            <a:extLst>
              <a:ext uri="{FF2B5EF4-FFF2-40B4-BE49-F238E27FC236}">
                <a16:creationId xmlns:a16="http://schemas.microsoft.com/office/drawing/2014/main" id="{6C3F10F9-B70B-28B2-1D07-9AB4DC17DAA5}"/>
              </a:ext>
            </a:extLst>
          </p:cNvPr>
          <p:cNvSpPr txBox="1"/>
          <p:nvPr/>
        </p:nvSpPr>
        <p:spPr>
          <a:xfrm>
            <a:off x="4487071" y="2530378"/>
            <a:ext cx="1204176" cy="292388"/>
          </a:xfrm>
          <a:prstGeom prst="rect">
            <a:avLst/>
          </a:prstGeom>
          <a:noFill/>
        </p:spPr>
        <p:txBody>
          <a:bodyPr wrap="none" rtlCol="0">
            <a:spAutoFit/>
          </a:bodyPr>
          <a:lstStyle/>
          <a:p>
            <a:r>
              <a:rPr kumimoji="1" lang="zh-CN" altLang="en-US" dirty="0"/>
              <a:t>中级客户经理</a:t>
            </a:r>
          </a:p>
        </p:txBody>
      </p:sp>
      <p:sp>
        <p:nvSpPr>
          <p:cNvPr id="17" name="文本框 16">
            <a:extLst>
              <a:ext uri="{FF2B5EF4-FFF2-40B4-BE49-F238E27FC236}">
                <a16:creationId xmlns:a16="http://schemas.microsoft.com/office/drawing/2014/main" id="{E08AE9D9-F9D0-AB0D-D1ED-12239333EF34}"/>
              </a:ext>
            </a:extLst>
          </p:cNvPr>
          <p:cNvSpPr txBox="1"/>
          <p:nvPr/>
        </p:nvSpPr>
        <p:spPr>
          <a:xfrm>
            <a:off x="7549716" y="2017069"/>
            <a:ext cx="1204176" cy="292388"/>
          </a:xfrm>
          <a:prstGeom prst="rect">
            <a:avLst/>
          </a:prstGeom>
          <a:noFill/>
        </p:spPr>
        <p:txBody>
          <a:bodyPr wrap="none" rtlCol="0">
            <a:spAutoFit/>
          </a:bodyPr>
          <a:lstStyle/>
          <a:p>
            <a:r>
              <a:rPr kumimoji="1" lang="zh-CN" altLang="en-US" dirty="0"/>
              <a:t>高级客户经理</a:t>
            </a:r>
          </a:p>
        </p:txBody>
      </p:sp>
      <p:sp>
        <p:nvSpPr>
          <p:cNvPr id="18" name="文本框 17">
            <a:extLst>
              <a:ext uri="{FF2B5EF4-FFF2-40B4-BE49-F238E27FC236}">
                <a16:creationId xmlns:a16="http://schemas.microsoft.com/office/drawing/2014/main" id="{A26F1054-EF22-711A-EBF0-F7981380C6FB}"/>
              </a:ext>
            </a:extLst>
          </p:cNvPr>
          <p:cNvSpPr txBox="1"/>
          <p:nvPr/>
        </p:nvSpPr>
        <p:spPr>
          <a:xfrm>
            <a:off x="973922" y="4225060"/>
            <a:ext cx="2682145" cy="125560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zh-CN" altLang="en-US" dirty="0"/>
              <a:t>理解工作任务所需的基本知识</a:t>
            </a:r>
            <a:endParaRPr kumimoji="1" lang="en-US" altLang="zh-CN" dirty="0"/>
          </a:p>
          <a:p>
            <a:pPr marL="285750" indent="-285750">
              <a:lnSpc>
                <a:spcPct val="150000"/>
              </a:lnSpc>
              <a:buFont typeface="Arial" panose="020B0604020202020204" pitchFamily="34" charset="0"/>
              <a:buChar char="•"/>
            </a:pPr>
            <a:r>
              <a:rPr kumimoji="1" lang="zh-CN" altLang="en-US" dirty="0"/>
              <a:t>基本工作基本方法完成工作</a:t>
            </a:r>
            <a:endParaRPr kumimoji="1" lang="en-US" altLang="zh-CN" dirty="0"/>
          </a:p>
          <a:p>
            <a:pPr marL="285750" indent="-285750">
              <a:lnSpc>
                <a:spcPct val="150000"/>
              </a:lnSpc>
              <a:buFont typeface="Arial" panose="020B0604020202020204" pitchFamily="34" charset="0"/>
              <a:buChar char="•"/>
            </a:pPr>
            <a:r>
              <a:rPr kumimoji="1" lang="zh-CN" altLang="en-US" dirty="0"/>
              <a:t>能够跟随我行保持学习</a:t>
            </a:r>
            <a:endParaRPr kumimoji="1" lang="en-US" altLang="zh-CN" dirty="0"/>
          </a:p>
          <a:p>
            <a:pPr marL="285750" indent="-285750">
              <a:lnSpc>
                <a:spcPct val="150000"/>
              </a:lnSpc>
              <a:buFont typeface="Arial" panose="020B0604020202020204" pitchFamily="34" charset="0"/>
              <a:buChar char="•"/>
            </a:pPr>
            <a:r>
              <a:rPr kumimoji="1" lang="zh-CN" altLang="en-US" dirty="0"/>
              <a:t>熟悉主要的业务场景</a:t>
            </a:r>
          </a:p>
        </p:txBody>
      </p:sp>
      <p:sp>
        <p:nvSpPr>
          <p:cNvPr id="19" name="文本框 18">
            <a:extLst>
              <a:ext uri="{FF2B5EF4-FFF2-40B4-BE49-F238E27FC236}">
                <a16:creationId xmlns:a16="http://schemas.microsoft.com/office/drawing/2014/main" id="{1A49C273-2899-DD58-DCA0-D73ACDC7FBD0}"/>
              </a:ext>
            </a:extLst>
          </p:cNvPr>
          <p:cNvSpPr txBox="1"/>
          <p:nvPr/>
        </p:nvSpPr>
        <p:spPr>
          <a:xfrm>
            <a:off x="3923566" y="3374282"/>
            <a:ext cx="3021981" cy="125560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zh-CN" altLang="en-US" dirty="0"/>
              <a:t>理解产品和业务基本原理</a:t>
            </a:r>
            <a:endParaRPr kumimoji="1" lang="en-US" altLang="zh-CN" dirty="0"/>
          </a:p>
          <a:p>
            <a:pPr marL="285750" indent="-285750">
              <a:lnSpc>
                <a:spcPct val="150000"/>
              </a:lnSpc>
              <a:buFont typeface="Arial" panose="020B0604020202020204" pitchFamily="34" charset="0"/>
              <a:buChar char="•"/>
            </a:pPr>
            <a:r>
              <a:rPr kumimoji="1" lang="zh-CN" altLang="en-US" dirty="0"/>
              <a:t>工作中善于使用工具、方法和策略</a:t>
            </a:r>
            <a:endParaRPr kumimoji="1" lang="en-US" altLang="zh-CN" dirty="0"/>
          </a:p>
          <a:p>
            <a:pPr marL="285750" indent="-285750">
              <a:lnSpc>
                <a:spcPct val="150000"/>
              </a:lnSpc>
              <a:buFont typeface="Arial" panose="020B0604020202020204" pitchFamily="34" charset="0"/>
              <a:buChar char="•"/>
            </a:pPr>
            <a:r>
              <a:rPr kumimoji="1" lang="zh-CN" altLang="en-US" dirty="0"/>
              <a:t>主动学习，积极思考</a:t>
            </a:r>
            <a:endParaRPr kumimoji="1" lang="en-US" altLang="zh-CN" dirty="0"/>
          </a:p>
          <a:p>
            <a:pPr marL="285750" indent="-285750">
              <a:lnSpc>
                <a:spcPct val="150000"/>
              </a:lnSpc>
              <a:buFont typeface="Arial" panose="020B0604020202020204" pitchFamily="34" charset="0"/>
              <a:buChar char="•"/>
            </a:pPr>
            <a:r>
              <a:rPr kumimoji="1" lang="zh-CN" altLang="en-US" dirty="0"/>
              <a:t>工作收尾衔接，有闭环思维</a:t>
            </a:r>
          </a:p>
        </p:txBody>
      </p:sp>
      <p:sp>
        <p:nvSpPr>
          <p:cNvPr id="20" name="文本框 19">
            <a:extLst>
              <a:ext uri="{FF2B5EF4-FFF2-40B4-BE49-F238E27FC236}">
                <a16:creationId xmlns:a16="http://schemas.microsoft.com/office/drawing/2014/main" id="{B11EAABC-A9C5-723A-A262-0B33F7C854A7}"/>
              </a:ext>
            </a:extLst>
          </p:cNvPr>
          <p:cNvSpPr txBox="1"/>
          <p:nvPr/>
        </p:nvSpPr>
        <p:spPr>
          <a:xfrm>
            <a:off x="6884019" y="2802097"/>
            <a:ext cx="3021981" cy="1253805"/>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zh-CN" altLang="en-US" dirty="0"/>
              <a:t>理解产品和业务背后的运行逻辑</a:t>
            </a:r>
            <a:endParaRPr kumimoji="1" lang="en-US" altLang="zh-CN" dirty="0"/>
          </a:p>
          <a:p>
            <a:pPr marL="285750" indent="-285750">
              <a:lnSpc>
                <a:spcPct val="150000"/>
              </a:lnSpc>
              <a:buFont typeface="Arial" panose="020B0604020202020204" pitchFamily="34" charset="0"/>
              <a:buChar char="•"/>
            </a:pPr>
            <a:r>
              <a:rPr kumimoji="1" lang="zh-CN" altLang="en-US" dirty="0"/>
              <a:t>业务方面独到的技巧或全面的能力</a:t>
            </a:r>
            <a:endParaRPr kumimoji="1" lang="en-US" altLang="zh-CN" dirty="0"/>
          </a:p>
          <a:p>
            <a:pPr marL="285750" indent="-285750">
              <a:lnSpc>
                <a:spcPct val="150000"/>
              </a:lnSpc>
              <a:buFont typeface="Arial" panose="020B0604020202020204" pitchFamily="34" charset="0"/>
              <a:buChar char="•"/>
            </a:pPr>
            <a:r>
              <a:rPr kumimoji="1" lang="zh-CN" altLang="en-US" dirty="0"/>
              <a:t>深度学习，引领认知</a:t>
            </a:r>
            <a:endParaRPr kumimoji="1" lang="en-US" altLang="zh-CN" dirty="0"/>
          </a:p>
          <a:p>
            <a:pPr marL="285750" indent="-285750">
              <a:lnSpc>
                <a:spcPct val="150000"/>
              </a:lnSpc>
              <a:buFont typeface="Arial" panose="020B0604020202020204" pitchFamily="34" charset="0"/>
              <a:buChar char="•"/>
            </a:pPr>
            <a:r>
              <a:rPr kumimoji="1" lang="zh-CN" altLang="en-US" dirty="0"/>
              <a:t>具有概念化和系统思考能力</a:t>
            </a:r>
          </a:p>
        </p:txBody>
      </p:sp>
    </p:spTree>
    <p:extLst>
      <p:ext uri="{BB962C8B-B14F-4D97-AF65-F5344CB8AC3E}">
        <p14:creationId xmlns:p14="http://schemas.microsoft.com/office/powerpoint/2010/main" val="3958463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为有效推动业务拓展，各级客户经理都需要了解从宏观至微观四个维度的知识技能</a:t>
            </a:r>
          </a:p>
        </p:txBody>
      </p:sp>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9</a:t>
            </a:fld>
            <a:endParaRPr lang="zh-CN" altLang="en-US"/>
          </a:p>
        </p:txBody>
      </p:sp>
      <p:sp>
        <p:nvSpPr>
          <p:cNvPr id="5" name="矩形 4"/>
          <p:cNvSpPr/>
          <p:nvPr/>
        </p:nvSpPr>
        <p:spPr>
          <a:xfrm>
            <a:off x="2097642" y="5768865"/>
            <a:ext cx="5688000" cy="360000"/>
          </a:xfrm>
          <a:prstGeom prst="rect">
            <a:avLst/>
          </a:prstGeom>
          <a:solidFill>
            <a:schemeClr val="bg2">
              <a:lumMod val="20000"/>
              <a:lumOff val="80000"/>
            </a:schemeClr>
          </a:solidFill>
        </p:spPr>
        <p:txBody>
          <a:bodyPr wrap="none" anchor="ctr">
            <a:noAutofit/>
          </a:bodyPr>
          <a:lstStyle/>
          <a:p>
            <a:pPr algn="ctr"/>
            <a:r>
              <a:rPr lang="zh-CN" altLang="en-US" dirty="0"/>
              <a:t>在各维度上，根据客户经理的能力模型，匹配相应培养内容</a:t>
            </a:r>
          </a:p>
        </p:txBody>
      </p:sp>
      <p:sp>
        <p:nvSpPr>
          <p:cNvPr id="6" name="Freeform 3"/>
          <p:cNvSpPr/>
          <p:nvPr/>
        </p:nvSpPr>
        <p:spPr bwMode="auto">
          <a:xfrm>
            <a:off x="2521413" y="2388393"/>
            <a:ext cx="785813" cy="652462"/>
          </a:xfrm>
          <a:custGeom>
            <a:avLst/>
            <a:gdLst>
              <a:gd name="T0" fmla="*/ 307 w 615"/>
              <a:gd name="T1" fmla="*/ 0 h 529"/>
              <a:gd name="T2" fmla="*/ 0 w 615"/>
              <a:gd name="T3" fmla="*/ 529 h 529"/>
              <a:gd name="T4" fmla="*/ 615 w 615"/>
              <a:gd name="T5" fmla="*/ 526 h 529"/>
              <a:gd name="T6" fmla="*/ 0 60000 65536"/>
              <a:gd name="T7" fmla="*/ 0 60000 65536"/>
              <a:gd name="T8" fmla="*/ 0 60000 65536"/>
              <a:gd name="T9" fmla="*/ 0 w 615"/>
              <a:gd name="T10" fmla="*/ 0 h 529"/>
              <a:gd name="T11" fmla="*/ 615 w 615"/>
              <a:gd name="T12" fmla="*/ 529 h 529"/>
            </a:gdLst>
            <a:ahLst/>
            <a:cxnLst>
              <a:cxn ang="T6">
                <a:pos x="T0" y="T1"/>
              </a:cxn>
              <a:cxn ang="T7">
                <a:pos x="T2" y="T3"/>
              </a:cxn>
              <a:cxn ang="T8">
                <a:pos x="T4" y="T5"/>
              </a:cxn>
            </a:cxnLst>
            <a:rect l="T9" t="T10" r="T11" b="T12"/>
            <a:pathLst>
              <a:path w="615" h="529">
                <a:moveTo>
                  <a:pt x="307" y="0"/>
                </a:moveTo>
                <a:lnTo>
                  <a:pt x="0" y="529"/>
                </a:lnTo>
                <a:lnTo>
                  <a:pt x="615" y="526"/>
                </a:lnTo>
              </a:path>
            </a:pathLst>
          </a:custGeom>
          <a:noFill/>
          <a:ln w="22225">
            <a:solidFill>
              <a:srgbClr val="4F81BD"/>
            </a:solidFill>
            <a:rou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7" name="Freeform 4"/>
          <p:cNvSpPr/>
          <p:nvPr/>
        </p:nvSpPr>
        <p:spPr bwMode="auto">
          <a:xfrm>
            <a:off x="2088026" y="3088480"/>
            <a:ext cx="1646237" cy="655638"/>
          </a:xfrm>
          <a:custGeom>
            <a:avLst/>
            <a:gdLst>
              <a:gd name="T0" fmla="*/ 307 w 1287"/>
              <a:gd name="T1" fmla="*/ 0 h 529"/>
              <a:gd name="T2" fmla="*/ 0 w 1287"/>
              <a:gd name="T3" fmla="*/ 529 h 529"/>
              <a:gd name="T4" fmla="*/ 1287 w 1287"/>
              <a:gd name="T5" fmla="*/ 529 h 529"/>
              <a:gd name="T6" fmla="*/ 0 60000 65536"/>
              <a:gd name="T7" fmla="*/ 0 60000 65536"/>
              <a:gd name="T8" fmla="*/ 0 60000 65536"/>
              <a:gd name="T9" fmla="*/ 0 w 1287"/>
              <a:gd name="T10" fmla="*/ 0 h 529"/>
              <a:gd name="T11" fmla="*/ 1287 w 1287"/>
              <a:gd name="T12" fmla="*/ 529 h 529"/>
            </a:gdLst>
            <a:ahLst/>
            <a:cxnLst>
              <a:cxn ang="T6">
                <a:pos x="T0" y="T1"/>
              </a:cxn>
              <a:cxn ang="T7">
                <a:pos x="T2" y="T3"/>
              </a:cxn>
              <a:cxn ang="T8">
                <a:pos x="T4" y="T5"/>
              </a:cxn>
            </a:cxnLst>
            <a:rect l="T9" t="T10" r="T11" b="T12"/>
            <a:pathLst>
              <a:path w="1287" h="529">
                <a:moveTo>
                  <a:pt x="307" y="0"/>
                </a:moveTo>
                <a:lnTo>
                  <a:pt x="0" y="529"/>
                </a:lnTo>
                <a:lnTo>
                  <a:pt x="1287" y="529"/>
                </a:lnTo>
              </a:path>
            </a:pathLst>
          </a:custGeom>
          <a:noFill/>
          <a:ln w="22225">
            <a:solidFill>
              <a:srgbClr val="4F81BD"/>
            </a:solidFill>
            <a:rou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8" name="Freeform 5"/>
          <p:cNvSpPr/>
          <p:nvPr/>
        </p:nvSpPr>
        <p:spPr bwMode="auto">
          <a:xfrm>
            <a:off x="1668926" y="3783805"/>
            <a:ext cx="2484437" cy="650875"/>
          </a:xfrm>
          <a:custGeom>
            <a:avLst/>
            <a:gdLst>
              <a:gd name="T0" fmla="*/ 307 w 1947"/>
              <a:gd name="T1" fmla="*/ 0 h 529"/>
              <a:gd name="T2" fmla="*/ 0 w 1947"/>
              <a:gd name="T3" fmla="*/ 529 h 529"/>
              <a:gd name="T4" fmla="*/ 1947 w 1947"/>
              <a:gd name="T5" fmla="*/ 529 h 529"/>
              <a:gd name="T6" fmla="*/ 0 60000 65536"/>
              <a:gd name="T7" fmla="*/ 0 60000 65536"/>
              <a:gd name="T8" fmla="*/ 0 60000 65536"/>
              <a:gd name="T9" fmla="*/ 0 w 1947"/>
              <a:gd name="T10" fmla="*/ 0 h 529"/>
              <a:gd name="T11" fmla="*/ 1947 w 1947"/>
              <a:gd name="T12" fmla="*/ 529 h 529"/>
            </a:gdLst>
            <a:ahLst/>
            <a:cxnLst>
              <a:cxn ang="T6">
                <a:pos x="T0" y="T1"/>
              </a:cxn>
              <a:cxn ang="T7">
                <a:pos x="T2" y="T3"/>
              </a:cxn>
              <a:cxn ang="T8">
                <a:pos x="T4" y="T5"/>
              </a:cxn>
            </a:cxnLst>
            <a:rect l="T9" t="T10" r="T11" b="T12"/>
            <a:pathLst>
              <a:path w="1947" h="529">
                <a:moveTo>
                  <a:pt x="307" y="0"/>
                </a:moveTo>
                <a:lnTo>
                  <a:pt x="0" y="529"/>
                </a:lnTo>
                <a:lnTo>
                  <a:pt x="1947" y="529"/>
                </a:lnTo>
              </a:path>
            </a:pathLst>
          </a:custGeom>
          <a:noFill/>
          <a:ln w="22225">
            <a:solidFill>
              <a:srgbClr val="4F81BD"/>
            </a:solidFill>
            <a:rou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9" name="Freeform 6"/>
          <p:cNvSpPr/>
          <p:nvPr/>
        </p:nvSpPr>
        <p:spPr bwMode="auto">
          <a:xfrm>
            <a:off x="1235538" y="4469605"/>
            <a:ext cx="3336926" cy="652463"/>
          </a:xfrm>
          <a:custGeom>
            <a:avLst/>
            <a:gdLst>
              <a:gd name="T0" fmla="*/ 307 w 2613"/>
              <a:gd name="T1" fmla="*/ 0 h 529"/>
              <a:gd name="T2" fmla="*/ 0 w 2613"/>
              <a:gd name="T3" fmla="*/ 529 h 529"/>
              <a:gd name="T4" fmla="*/ 2613 w 2613"/>
              <a:gd name="T5" fmla="*/ 526 h 529"/>
              <a:gd name="T6" fmla="*/ 0 60000 65536"/>
              <a:gd name="T7" fmla="*/ 0 60000 65536"/>
              <a:gd name="T8" fmla="*/ 0 60000 65536"/>
              <a:gd name="T9" fmla="*/ 0 w 2613"/>
              <a:gd name="T10" fmla="*/ 0 h 529"/>
              <a:gd name="T11" fmla="*/ 2613 w 2613"/>
              <a:gd name="T12" fmla="*/ 529 h 529"/>
            </a:gdLst>
            <a:ahLst/>
            <a:cxnLst>
              <a:cxn ang="T6">
                <a:pos x="T0" y="T1"/>
              </a:cxn>
              <a:cxn ang="T7">
                <a:pos x="T2" y="T3"/>
              </a:cxn>
              <a:cxn ang="T8">
                <a:pos x="T4" y="T5"/>
              </a:cxn>
            </a:cxnLst>
            <a:rect l="T9" t="T10" r="T11" b="T12"/>
            <a:pathLst>
              <a:path w="2613" h="529">
                <a:moveTo>
                  <a:pt x="307" y="0"/>
                </a:moveTo>
                <a:lnTo>
                  <a:pt x="0" y="529"/>
                </a:lnTo>
                <a:lnTo>
                  <a:pt x="2613" y="526"/>
                </a:lnTo>
              </a:path>
            </a:pathLst>
          </a:custGeom>
          <a:noFill/>
          <a:ln w="22225">
            <a:solidFill>
              <a:srgbClr val="4F81BD"/>
            </a:solidFill>
            <a:rou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zh-CN" altLang="en-US"/>
          </a:p>
        </p:txBody>
      </p:sp>
      <p:sp>
        <p:nvSpPr>
          <p:cNvPr id="10" name="文本框 22"/>
          <p:cNvSpPr txBox="1"/>
          <p:nvPr/>
        </p:nvSpPr>
        <p:spPr>
          <a:xfrm>
            <a:off x="2588088" y="2728272"/>
            <a:ext cx="612622"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zh-CN" altLang="en-US" sz="1400"/>
              <a:t>宏观</a:t>
            </a:r>
          </a:p>
        </p:txBody>
      </p:sp>
      <p:sp>
        <p:nvSpPr>
          <p:cNvPr id="11" name="文本框 23"/>
          <p:cNvSpPr txBox="1"/>
          <p:nvPr/>
        </p:nvSpPr>
        <p:spPr>
          <a:xfrm>
            <a:off x="2369013" y="3395022"/>
            <a:ext cx="1101621"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zh-CN" altLang="en-US" sz="1400"/>
              <a:t>行业</a:t>
            </a:r>
          </a:p>
        </p:txBody>
      </p:sp>
      <p:sp>
        <p:nvSpPr>
          <p:cNvPr id="12" name="文本框 24"/>
          <p:cNvSpPr txBox="1"/>
          <p:nvPr/>
        </p:nvSpPr>
        <p:spPr>
          <a:xfrm>
            <a:off x="2349963" y="4090347"/>
            <a:ext cx="1144918"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zh-CN" altLang="en-US" sz="1400"/>
              <a:t>客户</a:t>
            </a:r>
          </a:p>
        </p:txBody>
      </p:sp>
      <p:sp>
        <p:nvSpPr>
          <p:cNvPr id="13" name="文本框 25"/>
          <p:cNvSpPr txBox="1"/>
          <p:nvPr/>
        </p:nvSpPr>
        <p:spPr>
          <a:xfrm>
            <a:off x="2349963" y="4785672"/>
            <a:ext cx="1144918"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zh-CN" altLang="en-US" sz="1400" dirty="0"/>
              <a:t>业务</a:t>
            </a:r>
          </a:p>
        </p:txBody>
      </p:sp>
      <p:sp>
        <p:nvSpPr>
          <p:cNvPr id="14" name="文本框 26"/>
          <p:cNvSpPr txBox="1"/>
          <p:nvPr/>
        </p:nvSpPr>
        <p:spPr>
          <a:xfrm>
            <a:off x="4628219" y="2503995"/>
            <a:ext cx="3266721" cy="261610"/>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buFont typeface="Wingdings" panose="05000000000000000000" pitchFamily="2" charset="2"/>
              <a:buChar char="l"/>
            </a:pPr>
            <a:r>
              <a:rPr kumimoji="1" lang="zh-CN" altLang="en-US" dirty="0"/>
              <a:t>宏观经济趋势</a:t>
            </a:r>
            <a:endParaRPr kumimoji="1" lang="en-US" altLang="zh-CN" dirty="0"/>
          </a:p>
        </p:txBody>
      </p:sp>
      <p:sp>
        <p:nvSpPr>
          <p:cNvPr id="15" name="文本框 27"/>
          <p:cNvSpPr txBox="1"/>
          <p:nvPr/>
        </p:nvSpPr>
        <p:spPr>
          <a:xfrm>
            <a:off x="4628219" y="3308858"/>
            <a:ext cx="2232905" cy="43088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buFont typeface="Wingdings" panose="05000000000000000000" pitchFamily="2" charset="2"/>
              <a:buChar char="l"/>
            </a:pPr>
            <a:r>
              <a:rPr kumimoji="1" lang="zh-CN" altLang="en-US" dirty="0"/>
              <a:t>金融行业趋势</a:t>
            </a:r>
            <a:endParaRPr kumimoji="1" lang="en-US" altLang="zh-CN" dirty="0"/>
          </a:p>
          <a:p>
            <a:pPr marL="285750" indent="-285750">
              <a:buFont typeface="Wingdings" panose="05000000000000000000" pitchFamily="2" charset="2"/>
              <a:buChar char="l"/>
            </a:pPr>
            <a:r>
              <a:rPr kumimoji="1" lang="zh-CN" altLang="en-US" dirty="0"/>
              <a:t>个人金融（理财）业务趋势</a:t>
            </a:r>
          </a:p>
        </p:txBody>
      </p:sp>
      <p:sp>
        <p:nvSpPr>
          <p:cNvPr id="16" name="文本框 28"/>
          <p:cNvSpPr txBox="1"/>
          <p:nvPr/>
        </p:nvSpPr>
        <p:spPr>
          <a:xfrm>
            <a:off x="6795155" y="3308858"/>
            <a:ext cx="2232905" cy="43088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buFont typeface="Wingdings" panose="05000000000000000000" pitchFamily="2" charset="2"/>
              <a:buChar char="l"/>
            </a:pPr>
            <a:r>
              <a:rPr kumimoji="1" lang="zh-CN" altLang="en-US" dirty="0"/>
              <a:t>个人金融竞争格局</a:t>
            </a:r>
            <a:endParaRPr kumimoji="1" lang="en-US" altLang="zh-CN" dirty="0"/>
          </a:p>
          <a:p>
            <a:pPr marL="285750" indent="-285750">
              <a:buFont typeface="Wingdings" panose="05000000000000000000" pitchFamily="2" charset="2"/>
              <a:buChar char="l"/>
            </a:pPr>
            <a:r>
              <a:rPr kumimoji="1" lang="zh-CN" altLang="en-US" dirty="0"/>
              <a:t>财富管理与私行发展趋势</a:t>
            </a:r>
          </a:p>
        </p:txBody>
      </p:sp>
      <p:sp>
        <p:nvSpPr>
          <p:cNvPr id="17" name="文本框 29"/>
          <p:cNvSpPr txBox="1"/>
          <p:nvPr/>
        </p:nvSpPr>
        <p:spPr>
          <a:xfrm>
            <a:off x="4628219" y="3956558"/>
            <a:ext cx="2001307" cy="43088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buFont typeface="Wingdings" panose="05000000000000000000" pitchFamily="2" charset="2"/>
              <a:buChar char="l"/>
            </a:pPr>
            <a:r>
              <a:rPr kumimoji="1" lang="zh-CN" altLang="en-US" dirty="0"/>
              <a:t>客户了解与需求分析</a:t>
            </a:r>
            <a:endParaRPr kumimoji="1" lang="en-US" altLang="zh-CN" dirty="0"/>
          </a:p>
          <a:p>
            <a:pPr marL="285750" indent="-285750">
              <a:buFont typeface="Wingdings" panose="05000000000000000000" pitchFamily="2" charset="2"/>
              <a:buChar char="l"/>
            </a:pPr>
            <a:r>
              <a:rPr kumimoji="1" lang="zh-CN" altLang="en-US" dirty="0"/>
              <a:t>客户群及关联服务需求</a:t>
            </a:r>
          </a:p>
        </p:txBody>
      </p:sp>
      <p:sp>
        <p:nvSpPr>
          <p:cNvPr id="18" name="文本框 30"/>
          <p:cNvSpPr txBox="1"/>
          <p:nvPr/>
        </p:nvSpPr>
        <p:spPr>
          <a:xfrm>
            <a:off x="6795156" y="3956558"/>
            <a:ext cx="2001308" cy="482918"/>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buFont typeface="Wingdings" panose="05000000000000000000" pitchFamily="2" charset="2"/>
              <a:buChar char="l"/>
            </a:pPr>
            <a:r>
              <a:rPr kumimoji="1" lang="zh-CN" altLang="en-US" dirty="0"/>
              <a:t>客户关系管理</a:t>
            </a:r>
            <a:endParaRPr kumimoji="1" lang="en-US" altLang="zh-CN" dirty="0"/>
          </a:p>
          <a:p>
            <a:pPr marL="285750" indent="-285750">
              <a:buFont typeface="Wingdings" panose="05000000000000000000" pitchFamily="2" charset="2"/>
              <a:buChar char="l"/>
            </a:pPr>
            <a:r>
              <a:rPr kumimoji="1" lang="zh-CN" altLang="en-US" dirty="0"/>
              <a:t>客户经营策略</a:t>
            </a:r>
          </a:p>
        </p:txBody>
      </p:sp>
      <p:sp>
        <p:nvSpPr>
          <p:cNvPr id="19" name="文本框 31"/>
          <p:cNvSpPr txBox="1"/>
          <p:nvPr/>
        </p:nvSpPr>
        <p:spPr>
          <a:xfrm>
            <a:off x="4628219" y="4632833"/>
            <a:ext cx="2001307" cy="43088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buFont typeface="Wingdings" panose="05000000000000000000" pitchFamily="2" charset="2"/>
              <a:buChar char="l"/>
            </a:pPr>
            <a:r>
              <a:rPr kumimoji="1" lang="zh-CN" altLang="en-US" dirty="0"/>
              <a:t>业务数据分析</a:t>
            </a:r>
            <a:endParaRPr kumimoji="1" lang="en-US" altLang="zh-CN" dirty="0"/>
          </a:p>
          <a:p>
            <a:pPr marL="285750" indent="-285750">
              <a:buFont typeface="Wingdings" panose="05000000000000000000" pitchFamily="2" charset="2"/>
              <a:buChar char="l"/>
            </a:pPr>
            <a:r>
              <a:rPr kumimoji="1" lang="zh-CN" altLang="en-US" dirty="0"/>
              <a:t>理财产品组合策略</a:t>
            </a:r>
          </a:p>
        </p:txBody>
      </p:sp>
      <p:sp>
        <p:nvSpPr>
          <p:cNvPr id="20" name="文本框 32"/>
          <p:cNvSpPr txBox="1"/>
          <p:nvPr/>
        </p:nvSpPr>
        <p:spPr>
          <a:xfrm>
            <a:off x="6804681" y="4632833"/>
            <a:ext cx="2223380" cy="43088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buFont typeface="Wingdings" panose="05000000000000000000" pitchFamily="2" charset="2"/>
              <a:buChar char="l"/>
            </a:pPr>
            <a:r>
              <a:rPr kumimoji="1" lang="zh-CN" altLang="en-US" dirty="0"/>
              <a:t>个人金融产品创新</a:t>
            </a:r>
            <a:endParaRPr kumimoji="1" lang="en-US" altLang="zh-CN" dirty="0"/>
          </a:p>
          <a:p>
            <a:pPr marL="285750" indent="-285750">
              <a:buFont typeface="Wingdings" panose="05000000000000000000" pitchFamily="2" charset="2"/>
              <a:buChar char="l"/>
            </a:pPr>
            <a:r>
              <a:rPr kumimoji="1" lang="zh-CN" altLang="en-US" dirty="0"/>
              <a:t>个人金融产品体系规划</a:t>
            </a:r>
          </a:p>
        </p:txBody>
      </p:sp>
      <p:sp>
        <p:nvSpPr>
          <p:cNvPr id="22" name="矩形 21"/>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课程体系示例（详见附件</a:t>
            </a:r>
            <a:r>
              <a:rPr lang="en-US" altLang="zh-CN" dirty="0"/>
              <a:t>1</a:t>
            </a:r>
            <a:r>
              <a:rPr lang="zh-CN" altLang="en-US" dirty="0"/>
              <a:t>）</a:t>
            </a:r>
          </a:p>
        </p:txBody>
      </p:sp>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10</a:t>
            </a:fld>
            <a:endParaRPr lang="zh-CN" altLang="en-US"/>
          </a:p>
        </p:txBody>
      </p:sp>
      <p:sp>
        <p:nvSpPr>
          <p:cNvPr id="22" name="矩形 21"/>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学习地图绘制基本思路</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pic>
        <p:nvPicPr>
          <p:cNvPr id="4" name="图片 3"/>
          <p:cNvPicPr>
            <a:picLocks noChangeAspect="1"/>
          </p:cNvPicPr>
          <p:nvPr/>
        </p:nvPicPr>
        <p:blipFill>
          <a:blip r:embed="rId2"/>
          <a:stretch>
            <a:fillRect/>
          </a:stretch>
        </p:blipFill>
        <p:spPr>
          <a:xfrm>
            <a:off x="522221" y="1668463"/>
            <a:ext cx="8938588" cy="4469294"/>
          </a:xfrm>
          <a:prstGeom prst="rect">
            <a:avLst/>
          </a:prstGeom>
        </p:spPr>
      </p:pic>
      <p:sp>
        <p:nvSpPr>
          <p:cNvPr id="5" name="文本框 4"/>
          <p:cNvSpPr txBox="1"/>
          <p:nvPr/>
        </p:nvSpPr>
        <p:spPr>
          <a:xfrm>
            <a:off x="523875" y="6281041"/>
            <a:ext cx="3395481" cy="292388"/>
          </a:xfrm>
          <a:prstGeom prst="rect">
            <a:avLst/>
          </a:prstGeom>
          <a:noFill/>
        </p:spPr>
        <p:txBody>
          <a:bodyPr wrap="none" rtlCol="0">
            <a:spAutoFit/>
          </a:bodyPr>
          <a:lstStyle/>
          <a:p>
            <a:r>
              <a:rPr kumimoji="1" lang="zh-CN" altLang="en-US" dirty="0"/>
              <a:t>附件</a:t>
            </a:r>
            <a:r>
              <a:rPr kumimoji="1" lang="en-US" altLang="zh-CN" dirty="0"/>
              <a:t>1-</a:t>
            </a:r>
            <a:r>
              <a:rPr kumimoji="1" lang="zh-CN" altLang="en-US" dirty="0"/>
              <a:t>对私客户经理（理财）课程体系</a:t>
            </a:r>
            <a:r>
              <a:rPr kumimoji="1" lang="en-US" altLang="zh-CN" dirty="0"/>
              <a:t>V1.1</a:t>
            </a:r>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11</a:t>
            </a:fld>
            <a:endParaRPr lang="zh-CN" altLang="en-US"/>
          </a:p>
        </p:txBody>
      </p:sp>
      <p:sp>
        <p:nvSpPr>
          <p:cNvPr id="4" name="标题 1"/>
          <p:cNvSpPr txBox="1"/>
          <p:nvPr/>
        </p:nvSpPr>
        <p:spPr>
          <a:xfrm>
            <a:off x="665738" y="1008063"/>
            <a:ext cx="8559800"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pPr eaLnBrk="1" hangingPunct="1"/>
            <a:r>
              <a:rPr lang="zh-CN" altLang="en-US" sz="2800" kern="0" dirty="0"/>
              <a:t>目录</a:t>
            </a:r>
          </a:p>
        </p:txBody>
      </p:sp>
      <p:sp>
        <p:nvSpPr>
          <p:cNvPr id="5" name="矩形 4"/>
          <p:cNvSpPr/>
          <p:nvPr/>
        </p:nvSpPr>
        <p:spPr>
          <a:xfrm>
            <a:off x="813905" y="2510956"/>
            <a:ext cx="7494717" cy="574675"/>
          </a:xfrm>
          <a:prstGeom prst="rect">
            <a:avLst/>
          </a:prstGeom>
          <a:solidFill>
            <a:srgbClr val="B2D2DE">
              <a:lumMod val="60000"/>
              <a:lumOff val="40000"/>
            </a:srgbClr>
          </a:solidFill>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p:txBody>
      </p:sp>
      <p:sp>
        <p:nvSpPr>
          <p:cNvPr id="6" name="内容占位符 6"/>
          <p:cNvSpPr txBox="1"/>
          <p:nvPr/>
        </p:nvSpPr>
        <p:spPr bwMode="auto">
          <a:xfrm>
            <a:off x="1057852" y="1944048"/>
            <a:ext cx="6257347"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marL="273050" indent="-273050" algn="l" defTabSz="330200" rtl="0" eaLnBrk="0" fontAlgn="base" hangingPunct="0">
              <a:spcBef>
                <a:spcPct val="0"/>
              </a:spcBef>
              <a:spcAft>
                <a:spcPct val="0"/>
              </a:spcAft>
              <a:buChar char="•"/>
              <a:defRPr kumimoji="1" sz="1700" b="1">
                <a:solidFill>
                  <a:srgbClr val="000000"/>
                </a:solidFill>
                <a:latin typeface="+mn-lt"/>
                <a:ea typeface="+mn-ea"/>
                <a:cs typeface="+mn-cs"/>
              </a:defRPr>
            </a:lvl1pPr>
            <a:lvl2pPr marL="843280" indent="-390525" algn="l" defTabSz="330200" rtl="0" eaLnBrk="0" fontAlgn="base" hangingPunct="0">
              <a:spcBef>
                <a:spcPct val="0"/>
              </a:spcBef>
              <a:spcAft>
                <a:spcPct val="0"/>
              </a:spcAft>
              <a:buChar char="•"/>
              <a:defRPr kumimoji="1" sz="1700">
                <a:solidFill>
                  <a:srgbClr val="000000"/>
                </a:solidFill>
                <a:latin typeface="+mn-lt"/>
                <a:ea typeface="+mn-ea"/>
              </a:defRPr>
            </a:lvl2pPr>
            <a:lvl3pPr marL="1463675" indent="-441325" algn="l" defTabSz="330200" rtl="0" eaLnBrk="0" fontAlgn="base" hangingPunct="0">
              <a:spcBef>
                <a:spcPct val="0"/>
              </a:spcBef>
              <a:spcAft>
                <a:spcPct val="0"/>
              </a:spcAft>
              <a:buChar char="–"/>
              <a:defRPr kumimoji="1" sz="1700">
                <a:solidFill>
                  <a:srgbClr val="000000"/>
                </a:solidFill>
                <a:latin typeface="+mn-lt"/>
                <a:ea typeface="+mn-ea"/>
              </a:defRPr>
            </a:lvl3pPr>
            <a:lvl4pPr marL="2046605" indent="-403225" algn="l" defTabSz="330200" rtl="0" eaLnBrk="0" fontAlgn="base" hangingPunct="0">
              <a:spcBef>
                <a:spcPct val="0"/>
              </a:spcBef>
              <a:spcAft>
                <a:spcPct val="0"/>
              </a:spcAft>
              <a:buChar char="-"/>
              <a:defRPr kumimoji="1" sz="1700">
                <a:solidFill>
                  <a:srgbClr val="000000"/>
                </a:solidFill>
                <a:latin typeface="+mn-lt"/>
                <a:ea typeface="+mn-ea"/>
              </a:defRPr>
            </a:lvl4pPr>
            <a:lvl5pPr marL="2624455" indent="5080" algn="ctr" defTabSz="330200" rtl="0" eaLnBrk="0" fontAlgn="base" hangingPunct="0">
              <a:lnSpc>
                <a:spcPts val="1600"/>
              </a:lnSpc>
              <a:spcBef>
                <a:spcPct val="0"/>
              </a:spcBef>
              <a:spcAft>
                <a:spcPct val="0"/>
              </a:spcAft>
              <a:buChar char="»"/>
              <a:defRPr kumimoji="1" sz="1400" b="1">
                <a:solidFill>
                  <a:srgbClr val="000000"/>
                </a:solidFill>
                <a:latin typeface="+mn-lt"/>
                <a:ea typeface="+mn-ea"/>
              </a:defRPr>
            </a:lvl5pPr>
            <a:lvl6pPr marL="30816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6pPr>
            <a:lvl7pPr marL="35388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7pPr>
            <a:lvl8pPr marL="39960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8pPr>
            <a:lvl9pPr marL="44532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9pPr>
          </a:lstStyle>
          <a:p>
            <a:pPr marL="431800" indent="-431800" defTabSz="914400" eaLnBrk="1" hangingPunct="1">
              <a:spcBef>
                <a:spcPct val="100000"/>
              </a:spcBef>
              <a:buFontTx/>
              <a:buAutoNum type="romanUcPeriod"/>
              <a:tabLst>
                <a:tab pos="8402320" algn="r"/>
              </a:tabLst>
              <a:defRPr/>
            </a:pPr>
            <a:r>
              <a:rPr kumimoji="1" lang="zh-CN" altLang="en-US"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对私客户经理学习地图绘制基本思路</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a:p>
            <a:pPr marL="431800" indent="-431800" defTabSz="914400" eaLnBrk="1" hangingPunct="1">
              <a:spcBef>
                <a:spcPct val="100000"/>
              </a:spcBef>
              <a:buFontTx/>
              <a:buAutoNum type="romanUcPeriod"/>
              <a:tabLst>
                <a:tab pos="8402320" algn="r"/>
              </a:tabLst>
              <a:defRPr/>
            </a:pPr>
            <a:r>
              <a:rPr kumimoji="1" lang="zh-CN" altLang="en-US"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对私客户经理分层培养项目设计</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a:p>
            <a:pPr marL="431800" indent="-431800" defTabSz="914400" eaLnBrk="1" hangingPunct="1">
              <a:spcBef>
                <a:spcPct val="100000"/>
              </a:spcBef>
              <a:buFontTx/>
              <a:buAutoNum type="romanUcPeriod"/>
              <a:tabLst>
                <a:tab pos="8402320" algn="r"/>
              </a:tabLst>
              <a:defRPr/>
            </a:pPr>
            <a:r>
              <a:rPr lang="zh-CN" altLang="en-US" sz="2200" kern="0" noProof="0" dirty="0">
                <a:latin typeface="华文中宋" panose="02010600040101010101" charset="-122"/>
                <a:ea typeface="华文中宋" panose="02010600040101010101" charset="-122"/>
              </a:rPr>
              <a:t>对私客户经理培养项目落地建议</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培养项目基于能力模型和课程体系进行设计</a:t>
            </a:r>
          </a:p>
        </p:txBody>
      </p:sp>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12</a:t>
            </a:fld>
            <a:endParaRPr lang="zh-CN" altLang="en-US"/>
          </a:p>
        </p:txBody>
      </p:sp>
      <p:grpSp>
        <p:nvGrpSpPr>
          <p:cNvPr id="5" name="组合 4"/>
          <p:cNvGrpSpPr/>
          <p:nvPr/>
        </p:nvGrpSpPr>
        <p:grpSpPr>
          <a:xfrm>
            <a:off x="992207" y="2270982"/>
            <a:ext cx="3841244" cy="3795767"/>
            <a:chOff x="847392" y="2143125"/>
            <a:chExt cx="3660223" cy="4270375"/>
          </a:xfrm>
        </p:grpSpPr>
        <p:cxnSp>
          <p:nvCxnSpPr>
            <p:cNvPr id="6" name="直接连接符 5"/>
            <p:cNvCxnSpPr/>
            <p:nvPr/>
          </p:nvCxnSpPr>
          <p:spPr bwMode="auto">
            <a:xfrm flipV="1">
              <a:off x="847392" y="2143125"/>
              <a:ext cx="3456000" cy="1588"/>
            </a:xfrm>
            <a:prstGeom prst="line">
              <a:avLst/>
            </a:prstGeom>
            <a:solidFill>
              <a:schemeClr val="accent1"/>
            </a:solidFill>
            <a:ln w="28575" cap="flat" cmpd="sng" algn="ctr">
              <a:solidFill>
                <a:schemeClr val="accent2">
                  <a:lumMod val="50000"/>
                </a:schemeClr>
              </a:solidFill>
              <a:prstDash val="solid"/>
              <a:round/>
              <a:headEnd type="none" w="med" len="med"/>
              <a:tailEnd type="none" w="med" len="med"/>
            </a:ln>
            <a:effectLst/>
          </p:spPr>
        </p:cxnSp>
        <p:grpSp>
          <p:nvGrpSpPr>
            <p:cNvPr id="7" name="组合 6"/>
            <p:cNvGrpSpPr/>
            <p:nvPr/>
          </p:nvGrpSpPr>
          <p:grpSpPr>
            <a:xfrm>
              <a:off x="4301794" y="2146300"/>
              <a:ext cx="205821" cy="4267200"/>
              <a:chOff x="4403393" y="2119313"/>
              <a:chExt cx="386655" cy="4725987"/>
            </a:xfrm>
          </p:grpSpPr>
          <p:cxnSp>
            <p:nvCxnSpPr>
              <p:cNvPr id="8" name="直接连接符 7"/>
              <p:cNvCxnSpPr/>
              <p:nvPr/>
            </p:nvCxnSpPr>
            <p:spPr bwMode="auto">
              <a:xfrm>
                <a:off x="4403393" y="2119313"/>
                <a:ext cx="386655" cy="2363787"/>
              </a:xfrm>
              <a:prstGeom prst="line">
                <a:avLst/>
              </a:prstGeom>
              <a:solidFill>
                <a:schemeClr val="accent1"/>
              </a:solidFill>
              <a:ln w="28575" cap="flat" cmpd="sng" algn="ctr">
                <a:solidFill>
                  <a:schemeClr val="accent2">
                    <a:lumMod val="50000"/>
                  </a:schemeClr>
                </a:solidFill>
                <a:prstDash val="solid"/>
                <a:round/>
                <a:headEnd type="none" w="med" len="med"/>
                <a:tailEnd type="none" w="med" len="med"/>
              </a:ln>
              <a:effectLst/>
            </p:spPr>
          </p:cxnSp>
          <p:cxnSp>
            <p:nvCxnSpPr>
              <p:cNvPr id="9" name="直接连接符 8"/>
              <p:cNvCxnSpPr/>
              <p:nvPr/>
            </p:nvCxnSpPr>
            <p:spPr bwMode="auto">
              <a:xfrm flipH="1">
                <a:off x="4403393" y="4481513"/>
                <a:ext cx="386655" cy="2363787"/>
              </a:xfrm>
              <a:prstGeom prst="line">
                <a:avLst/>
              </a:prstGeom>
              <a:solidFill>
                <a:schemeClr val="accent1"/>
              </a:solidFill>
              <a:ln w="28575" cap="flat" cmpd="sng" algn="ctr">
                <a:solidFill>
                  <a:schemeClr val="accent2">
                    <a:lumMod val="50000"/>
                  </a:schemeClr>
                </a:solidFill>
                <a:prstDash val="solid"/>
                <a:round/>
                <a:headEnd type="none" w="med" len="med"/>
                <a:tailEnd type="none" w="med" len="med"/>
              </a:ln>
              <a:effectLst/>
            </p:spPr>
          </p:cxnSp>
        </p:grpSp>
      </p:grpSp>
      <p:sp>
        <p:nvSpPr>
          <p:cNvPr id="10" name="TextBox 16"/>
          <p:cNvSpPr txBox="1">
            <a:spLocks noChangeArrowheads="1"/>
          </p:cNvSpPr>
          <p:nvPr/>
        </p:nvSpPr>
        <p:spPr bwMode="auto">
          <a:xfrm>
            <a:off x="5505932" y="1908334"/>
            <a:ext cx="2548971" cy="338554"/>
          </a:xfrm>
          <a:prstGeom prst="rect">
            <a:avLst/>
          </a:prstGeom>
          <a:noFill/>
          <a:ln w="9525">
            <a:noFill/>
            <a:miter lim="800000"/>
          </a:ln>
        </p:spPr>
        <p:txBody>
          <a:bodyPr wrap="square">
            <a:spAutoFit/>
          </a:bodyPr>
          <a:lstStyle/>
          <a:p>
            <a:r>
              <a:rPr lang="zh-CN" altLang="en-US" sz="1600" dirty="0">
                <a:solidFill>
                  <a:schemeClr val="tx1"/>
                </a:solidFill>
              </a:rPr>
              <a:t>具体解决策略</a:t>
            </a:r>
          </a:p>
        </p:txBody>
      </p:sp>
      <p:sp>
        <p:nvSpPr>
          <p:cNvPr id="11" name="TextBox 16"/>
          <p:cNvSpPr txBox="1">
            <a:spLocks noChangeArrowheads="1"/>
          </p:cNvSpPr>
          <p:nvPr/>
        </p:nvSpPr>
        <p:spPr bwMode="auto">
          <a:xfrm>
            <a:off x="939199" y="1901648"/>
            <a:ext cx="3348517" cy="338554"/>
          </a:xfrm>
          <a:prstGeom prst="rect">
            <a:avLst/>
          </a:prstGeom>
          <a:noFill/>
          <a:ln w="9525">
            <a:noFill/>
            <a:miter lim="800000"/>
          </a:ln>
        </p:spPr>
        <p:txBody>
          <a:bodyPr wrap="square">
            <a:spAutoFit/>
          </a:bodyPr>
          <a:lstStyle/>
          <a:p>
            <a:r>
              <a:rPr lang="zh-CN" altLang="en-US" sz="1600" dirty="0">
                <a:solidFill>
                  <a:schemeClr val="tx1"/>
                </a:solidFill>
              </a:rPr>
              <a:t>项目设计的核心思路</a:t>
            </a:r>
          </a:p>
        </p:txBody>
      </p:sp>
      <p:grpSp>
        <p:nvGrpSpPr>
          <p:cNvPr id="12" name="组合 11"/>
          <p:cNvGrpSpPr/>
          <p:nvPr/>
        </p:nvGrpSpPr>
        <p:grpSpPr>
          <a:xfrm>
            <a:off x="5448206" y="2274153"/>
            <a:ext cx="3520898" cy="3792596"/>
            <a:chOff x="7086191" y="1922125"/>
            <a:chExt cx="2448000" cy="4320000"/>
          </a:xfrm>
        </p:grpSpPr>
        <p:cxnSp>
          <p:nvCxnSpPr>
            <p:cNvPr id="13" name="直接连接符 12"/>
            <p:cNvCxnSpPr/>
            <p:nvPr/>
          </p:nvCxnSpPr>
          <p:spPr bwMode="auto">
            <a:xfrm flipV="1">
              <a:off x="7086191" y="1924050"/>
              <a:ext cx="2448000" cy="1588"/>
            </a:xfrm>
            <a:prstGeom prst="line">
              <a:avLst/>
            </a:prstGeom>
            <a:solidFill>
              <a:schemeClr val="accent1"/>
            </a:solidFill>
            <a:ln w="28575" cap="flat" cmpd="sng" algn="ctr">
              <a:solidFill>
                <a:schemeClr val="accent2">
                  <a:lumMod val="50000"/>
                </a:schemeClr>
              </a:solidFill>
              <a:prstDash val="solid"/>
              <a:round/>
              <a:headEnd type="none" w="med" len="med"/>
              <a:tailEnd type="none" w="med" len="med"/>
            </a:ln>
            <a:effectLst/>
          </p:spPr>
        </p:cxnSp>
        <p:cxnSp>
          <p:nvCxnSpPr>
            <p:cNvPr id="14" name="直接连接符 13"/>
            <p:cNvCxnSpPr/>
            <p:nvPr/>
          </p:nvCxnSpPr>
          <p:spPr bwMode="auto">
            <a:xfrm rot="16200000" flipH="1" flipV="1">
              <a:off x="7373397" y="4081331"/>
              <a:ext cx="4320000" cy="1588"/>
            </a:xfrm>
            <a:prstGeom prst="line">
              <a:avLst/>
            </a:prstGeom>
            <a:solidFill>
              <a:schemeClr val="accent1"/>
            </a:solidFill>
            <a:ln w="28575" cap="flat" cmpd="sng" algn="ctr">
              <a:solidFill>
                <a:schemeClr val="accent2">
                  <a:lumMod val="50000"/>
                </a:schemeClr>
              </a:solidFill>
              <a:prstDash val="solid"/>
              <a:round/>
              <a:headEnd type="none" w="med" len="med"/>
              <a:tailEnd type="none" w="med" len="med"/>
            </a:ln>
            <a:effectLst/>
          </p:spPr>
        </p:cxnSp>
      </p:grpSp>
      <p:sp>
        <p:nvSpPr>
          <p:cNvPr id="15" name="TextBox 14"/>
          <p:cNvSpPr txBox="1"/>
          <p:nvPr/>
        </p:nvSpPr>
        <p:spPr>
          <a:xfrm>
            <a:off x="5698273" y="2525539"/>
            <a:ext cx="3103850" cy="3170099"/>
          </a:xfrm>
          <a:prstGeom prst="rect">
            <a:avLst/>
          </a:prstGeom>
          <a:noFill/>
        </p:spPr>
        <p:txBody>
          <a:bodyPr wrap="square" rtlCol="0">
            <a:spAutoFit/>
          </a:bodyPr>
          <a:lstStyle/>
          <a:p>
            <a:pPr marL="273050" indent="-273050" eaLnBrk="1" hangingPunct="1">
              <a:spcBef>
                <a:spcPts val="1200"/>
              </a:spcBef>
              <a:buFont typeface="Wingdings" panose="05000000000000000000" pitchFamily="2" charset="2"/>
              <a:buChar char="l"/>
            </a:pPr>
            <a:r>
              <a:rPr lang="zh-CN" altLang="en-US" sz="1600" dirty="0">
                <a:solidFill>
                  <a:schemeClr val="tx1"/>
                </a:solidFill>
              </a:rPr>
              <a:t>以对私客户经理能力模型为基础匹配学习内容</a:t>
            </a:r>
            <a:endParaRPr lang="en-US" altLang="zh-CN" sz="1600" dirty="0">
              <a:solidFill>
                <a:schemeClr val="tx1"/>
              </a:solidFill>
            </a:endParaRPr>
          </a:p>
          <a:p>
            <a:pPr marL="273050" indent="-273050" eaLnBrk="1" hangingPunct="1">
              <a:spcBef>
                <a:spcPts val="1200"/>
              </a:spcBef>
              <a:buFont typeface="Wingdings" panose="05000000000000000000" pitchFamily="2" charset="2"/>
              <a:buChar char="l"/>
            </a:pPr>
            <a:r>
              <a:rPr lang="zh-CN" altLang="en-US" sz="1600" dirty="0">
                <a:solidFill>
                  <a:schemeClr val="tx1"/>
                </a:solidFill>
              </a:rPr>
              <a:t>将分层学习内容（课程体系）作为方案的基础和组成内容</a:t>
            </a:r>
            <a:endParaRPr lang="en-US" altLang="zh-CN" sz="1600" dirty="0">
              <a:solidFill>
                <a:schemeClr val="tx1"/>
              </a:solidFill>
            </a:endParaRPr>
          </a:p>
          <a:p>
            <a:pPr marL="273050" indent="-273050" eaLnBrk="1" hangingPunct="1">
              <a:spcBef>
                <a:spcPts val="1200"/>
              </a:spcBef>
              <a:buFont typeface="Wingdings" panose="05000000000000000000" pitchFamily="2" charset="2"/>
              <a:buChar char="l"/>
            </a:pPr>
            <a:r>
              <a:rPr lang="zh-CN" altLang="en-US" sz="1600" dirty="0">
                <a:solidFill>
                  <a:schemeClr val="tx1"/>
                </a:solidFill>
              </a:rPr>
              <a:t>引入“自主学习、业务研讨、在岗实践”等实务内容</a:t>
            </a:r>
            <a:endParaRPr lang="en-US" altLang="zh-CN" sz="1600" dirty="0">
              <a:solidFill>
                <a:schemeClr val="tx1"/>
              </a:solidFill>
            </a:endParaRPr>
          </a:p>
          <a:p>
            <a:pPr marL="273050" indent="-273050" eaLnBrk="1" hangingPunct="1">
              <a:spcBef>
                <a:spcPts val="1200"/>
              </a:spcBef>
              <a:buFont typeface="Wingdings" panose="05000000000000000000" pitchFamily="2" charset="2"/>
              <a:buChar char="l"/>
            </a:pPr>
            <a:r>
              <a:rPr lang="zh-CN" altLang="en-US" sz="1600" dirty="0">
                <a:solidFill>
                  <a:schemeClr val="tx1"/>
                </a:solidFill>
              </a:rPr>
              <a:t>有效利用现有学习资源和学习平台</a:t>
            </a:r>
            <a:endParaRPr lang="en-US" altLang="zh-CN" sz="1600" dirty="0">
              <a:solidFill>
                <a:schemeClr val="tx1"/>
              </a:solidFill>
            </a:endParaRPr>
          </a:p>
          <a:p>
            <a:pPr marL="273050" indent="-273050" eaLnBrk="1" hangingPunct="1">
              <a:spcBef>
                <a:spcPts val="1200"/>
              </a:spcBef>
              <a:buFont typeface="Wingdings" panose="05000000000000000000" pitchFamily="2" charset="2"/>
              <a:buChar char="l"/>
            </a:pPr>
            <a:r>
              <a:rPr lang="zh-CN" altLang="en-US" sz="1600" dirty="0">
                <a:solidFill>
                  <a:schemeClr val="tx1"/>
                </a:solidFill>
              </a:rPr>
              <a:t>以学习项目为着眼点，设计完整的项目实施方案</a:t>
            </a:r>
            <a:endParaRPr lang="en-US" altLang="zh-CN" sz="1600" dirty="0">
              <a:solidFill>
                <a:schemeClr val="tx1"/>
              </a:solidFill>
            </a:endParaRPr>
          </a:p>
        </p:txBody>
      </p:sp>
      <p:sp>
        <p:nvSpPr>
          <p:cNvPr id="16" name="TextBox 15"/>
          <p:cNvSpPr txBox="1">
            <a:spLocks noChangeArrowheads="1"/>
          </p:cNvSpPr>
          <p:nvPr/>
        </p:nvSpPr>
        <p:spPr bwMode="auto">
          <a:xfrm>
            <a:off x="1048383" y="2343319"/>
            <a:ext cx="352107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20204" pitchFamily="34" charset="0"/>
                <a:ea typeface="宋体" panose="02010600030101010101" pitchFamily="2" charset="-122"/>
              </a:defRPr>
            </a:lvl1pPr>
            <a:lvl2pPr marL="742950" indent="-285750" eaLnBrk="0" hangingPunct="0">
              <a:defRPr sz="1300" b="1">
                <a:solidFill>
                  <a:srgbClr val="000000"/>
                </a:solidFill>
                <a:latin typeface="Arial" panose="020B0604020202020204" pitchFamily="34" charset="0"/>
                <a:ea typeface="宋体" panose="02010600030101010101" pitchFamily="2" charset="-122"/>
              </a:defRPr>
            </a:lvl2pPr>
            <a:lvl3pPr marL="1143000" indent="-228600" eaLnBrk="0" hangingPunct="0">
              <a:defRPr sz="1300" b="1">
                <a:solidFill>
                  <a:srgbClr val="000000"/>
                </a:solidFill>
                <a:latin typeface="Arial" panose="020B0604020202020204" pitchFamily="34" charset="0"/>
                <a:ea typeface="宋体" panose="02010600030101010101" pitchFamily="2" charset="-122"/>
              </a:defRPr>
            </a:lvl3pPr>
            <a:lvl4pPr marL="1600200" indent="-228600" eaLnBrk="0" hangingPunct="0">
              <a:defRPr sz="1300" b="1">
                <a:solidFill>
                  <a:srgbClr val="000000"/>
                </a:solidFill>
                <a:latin typeface="Arial" panose="020B0604020202020204" pitchFamily="34" charset="0"/>
                <a:ea typeface="宋体" panose="02010600030101010101" pitchFamily="2" charset="-122"/>
              </a:defRPr>
            </a:lvl4pPr>
            <a:lvl5pPr marL="2057400" indent="-228600" eaLnBrk="0" hangingPunct="0">
              <a:defRPr sz="13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1400" dirty="0">
                <a:solidFill>
                  <a:schemeClr val="tx1"/>
                </a:solidFill>
              </a:rPr>
              <a:t> </a:t>
            </a:r>
            <a:r>
              <a:rPr lang="zh-CN" altLang="en-US" sz="1400" dirty="0">
                <a:solidFill>
                  <a:schemeClr val="tx1"/>
                </a:solidFill>
              </a:rPr>
              <a:t>从面向人员到面向任务</a:t>
            </a:r>
            <a:endParaRPr lang="en-US" altLang="zh-CN" sz="1400" dirty="0">
              <a:solidFill>
                <a:schemeClr val="tx1"/>
              </a:solidFill>
            </a:endParaRPr>
          </a:p>
          <a:p>
            <a:pPr marL="182880" eaLnBrk="1" hangingPunct="1">
              <a:spcBef>
                <a:spcPts val="600"/>
              </a:spcBef>
            </a:pPr>
            <a:r>
              <a:rPr lang="zh-CN" altLang="en-US" sz="1200" b="0" dirty="0">
                <a:solidFill>
                  <a:schemeClr val="tx1"/>
                </a:solidFill>
              </a:rPr>
              <a:t>传统的培养方案中往往强调学员对象的个体需求，而忽视学员的核心职责是完成任务而非学习本身，学习培养仅仅是任务完成的催化剂</a:t>
            </a:r>
          </a:p>
        </p:txBody>
      </p:sp>
      <p:sp>
        <p:nvSpPr>
          <p:cNvPr id="17" name="TextBox 15"/>
          <p:cNvSpPr txBox="1">
            <a:spLocks noChangeArrowheads="1"/>
          </p:cNvSpPr>
          <p:nvPr/>
        </p:nvSpPr>
        <p:spPr bwMode="auto">
          <a:xfrm>
            <a:off x="1048383" y="3341572"/>
            <a:ext cx="352107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20204" pitchFamily="34" charset="0"/>
                <a:ea typeface="宋体" panose="02010600030101010101" pitchFamily="2" charset="-122"/>
              </a:defRPr>
            </a:lvl1pPr>
            <a:lvl2pPr marL="742950" indent="-285750" eaLnBrk="0" hangingPunct="0">
              <a:defRPr sz="1300" b="1">
                <a:solidFill>
                  <a:srgbClr val="000000"/>
                </a:solidFill>
                <a:latin typeface="Arial" panose="020B0604020202020204" pitchFamily="34" charset="0"/>
                <a:ea typeface="宋体" panose="02010600030101010101" pitchFamily="2" charset="-122"/>
              </a:defRPr>
            </a:lvl2pPr>
            <a:lvl3pPr marL="1143000" indent="-228600" eaLnBrk="0" hangingPunct="0">
              <a:defRPr sz="1300" b="1">
                <a:solidFill>
                  <a:srgbClr val="000000"/>
                </a:solidFill>
                <a:latin typeface="Arial" panose="020B0604020202020204" pitchFamily="34" charset="0"/>
                <a:ea typeface="宋体" panose="02010600030101010101" pitchFamily="2" charset="-122"/>
              </a:defRPr>
            </a:lvl3pPr>
            <a:lvl4pPr marL="1600200" indent="-228600" eaLnBrk="0" hangingPunct="0">
              <a:defRPr sz="1300" b="1">
                <a:solidFill>
                  <a:srgbClr val="000000"/>
                </a:solidFill>
                <a:latin typeface="Arial" panose="020B0604020202020204" pitchFamily="34" charset="0"/>
                <a:ea typeface="宋体" panose="02010600030101010101" pitchFamily="2" charset="-122"/>
              </a:defRPr>
            </a:lvl4pPr>
            <a:lvl5pPr marL="2057400" indent="-228600" eaLnBrk="0" hangingPunct="0">
              <a:defRPr sz="13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1400" dirty="0">
                <a:solidFill>
                  <a:schemeClr val="tx1"/>
                </a:solidFill>
              </a:rPr>
              <a:t> </a:t>
            </a:r>
            <a:r>
              <a:rPr lang="zh-CN" altLang="en-US" sz="1400" dirty="0">
                <a:solidFill>
                  <a:schemeClr val="tx1"/>
                </a:solidFill>
              </a:rPr>
              <a:t>从个人参与到协作联动</a:t>
            </a:r>
            <a:endParaRPr lang="en-US" altLang="zh-CN" sz="1400" dirty="0">
              <a:solidFill>
                <a:schemeClr val="tx1"/>
              </a:solidFill>
            </a:endParaRPr>
          </a:p>
          <a:p>
            <a:pPr marL="182880" eaLnBrk="1" hangingPunct="1">
              <a:spcBef>
                <a:spcPts val="600"/>
              </a:spcBef>
            </a:pPr>
            <a:r>
              <a:rPr lang="zh-CN" altLang="en-US" sz="1200" b="0" dirty="0">
                <a:solidFill>
                  <a:schemeClr val="tx1"/>
                </a:solidFill>
              </a:rPr>
              <a:t>个人金融业务的持续发展，对客户经理的能力要求已经由个人能力向写作联动转变，相应的培养定位也需要从个人向团队突破，打破瓶颈</a:t>
            </a:r>
          </a:p>
        </p:txBody>
      </p:sp>
      <p:sp>
        <p:nvSpPr>
          <p:cNvPr id="18" name="TextBox 15"/>
          <p:cNvSpPr txBox="1">
            <a:spLocks noChangeArrowheads="1"/>
          </p:cNvSpPr>
          <p:nvPr/>
        </p:nvSpPr>
        <p:spPr bwMode="auto">
          <a:xfrm>
            <a:off x="1048383" y="5338078"/>
            <a:ext cx="352107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20204" pitchFamily="34" charset="0"/>
                <a:ea typeface="宋体" panose="02010600030101010101" pitchFamily="2" charset="-122"/>
              </a:defRPr>
            </a:lvl1pPr>
            <a:lvl2pPr marL="742950" indent="-285750" eaLnBrk="0" hangingPunct="0">
              <a:defRPr sz="1300" b="1">
                <a:solidFill>
                  <a:srgbClr val="000000"/>
                </a:solidFill>
                <a:latin typeface="Arial" panose="020B0604020202020204" pitchFamily="34" charset="0"/>
                <a:ea typeface="宋体" panose="02010600030101010101" pitchFamily="2" charset="-122"/>
              </a:defRPr>
            </a:lvl2pPr>
            <a:lvl3pPr marL="1143000" indent="-228600" eaLnBrk="0" hangingPunct="0">
              <a:defRPr sz="1300" b="1">
                <a:solidFill>
                  <a:srgbClr val="000000"/>
                </a:solidFill>
                <a:latin typeface="Arial" panose="020B0604020202020204" pitchFamily="34" charset="0"/>
                <a:ea typeface="宋体" panose="02010600030101010101" pitchFamily="2" charset="-122"/>
              </a:defRPr>
            </a:lvl3pPr>
            <a:lvl4pPr marL="1600200" indent="-228600" eaLnBrk="0" hangingPunct="0">
              <a:defRPr sz="1300" b="1">
                <a:solidFill>
                  <a:srgbClr val="000000"/>
                </a:solidFill>
                <a:latin typeface="Arial" panose="020B0604020202020204" pitchFamily="34" charset="0"/>
                <a:ea typeface="宋体" panose="02010600030101010101" pitchFamily="2" charset="-122"/>
              </a:defRPr>
            </a:lvl4pPr>
            <a:lvl5pPr marL="2057400" indent="-228600" eaLnBrk="0" hangingPunct="0">
              <a:defRPr sz="13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1400" dirty="0">
                <a:solidFill>
                  <a:schemeClr val="tx1"/>
                </a:solidFill>
              </a:rPr>
              <a:t> </a:t>
            </a:r>
            <a:r>
              <a:rPr lang="zh-CN" altLang="en-US" sz="1400" dirty="0">
                <a:solidFill>
                  <a:schemeClr val="tx1"/>
                </a:solidFill>
              </a:rPr>
              <a:t>从单一面授到多管齐下</a:t>
            </a:r>
            <a:endParaRPr lang="en-US" altLang="zh-CN" sz="1400" dirty="0">
              <a:solidFill>
                <a:schemeClr val="tx1"/>
              </a:solidFill>
            </a:endParaRPr>
          </a:p>
          <a:p>
            <a:pPr marL="182880" eaLnBrk="1" hangingPunct="1">
              <a:spcBef>
                <a:spcPts val="600"/>
              </a:spcBef>
            </a:pPr>
            <a:r>
              <a:rPr lang="zh-CN" altLang="en-US" sz="1200" b="0" dirty="0">
                <a:solidFill>
                  <a:schemeClr val="tx1"/>
                </a:solidFill>
              </a:rPr>
              <a:t>在学习项目设计中考虑客户经理日程工作压力与时间限制，尽可能将学习与工作有机结合，在工作过程中学习、实践、提升</a:t>
            </a:r>
          </a:p>
        </p:txBody>
      </p:sp>
      <p:sp>
        <p:nvSpPr>
          <p:cNvPr id="19" name="TextBox 15"/>
          <p:cNvSpPr txBox="1">
            <a:spLocks noChangeArrowheads="1"/>
          </p:cNvSpPr>
          <p:nvPr/>
        </p:nvSpPr>
        <p:spPr bwMode="auto">
          <a:xfrm>
            <a:off x="1048383" y="4339825"/>
            <a:ext cx="352107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20204" pitchFamily="34" charset="0"/>
                <a:ea typeface="宋体" panose="02010600030101010101" pitchFamily="2" charset="-122"/>
              </a:defRPr>
            </a:lvl1pPr>
            <a:lvl2pPr marL="742950" indent="-285750" eaLnBrk="0" hangingPunct="0">
              <a:defRPr sz="1300" b="1">
                <a:solidFill>
                  <a:srgbClr val="000000"/>
                </a:solidFill>
                <a:latin typeface="Arial" panose="020B0604020202020204" pitchFamily="34" charset="0"/>
                <a:ea typeface="宋体" panose="02010600030101010101" pitchFamily="2" charset="-122"/>
              </a:defRPr>
            </a:lvl2pPr>
            <a:lvl3pPr marL="1143000" indent="-228600" eaLnBrk="0" hangingPunct="0">
              <a:defRPr sz="1300" b="1">
                <a:solidFill>
                  <a:srgbClr val="000000"/>
                </a:solidFill>
                <a:latin typeface="Arial" panose="020B0604020202020204" pitchFamily="34" charset="0"/>
                <a:ea typeface="宋体" panose="02010600030101010101" pitchFamily="2" charset="-122"/>
              </a:defRPr>
            </a:lvl3pPr>
            <a:lvl4pPr marL="1600200" indent="-228600" eaLnBrk="0" hangingPunct="0">
              <a:defRPr sz="1300" b="1">
                <a:solidFill>
                  <a:srgbClr val="000000"/>
                </a:solidFill>
                <a:latin typeface="Arial" panose="020B0604020202020204" pitchFamily="34" charset="0"/>
                <a:ea typeface="宋体" panose="02010600030101010101" pitchFamily="2" charset="-122"/>
              </a:defRPr>
            </a:lvl4pPr>
            <a:lvl5pPr marL="2057400" indent="-228600" eaLnBrk="0" hangingPunct="0">
              <a:defRPr sz="13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1400" dirty="0">
                <a:solidFill>
                  <a:schemeClr val="tx1"/>
                </a:solidFill>
              </a:rPr>
              <a:t> </a:t>
            </a:r>
            <a:r>
              <a:rPr lang="zh-CN" altLang="en-US" sz="1400" dirty="0">
                <a:solidFill>
                  <a:schemeClr val="tx1"/>
                </a:solidFill>
              </a:rPr>
              <a:t>从获取知识到解决问题</a:t>
            </a:r>
            <a:endParaRPr lang="en-US" altLang="zh-CN" sz="1400" dirty="0">
              <a:solidFill>
                <a:schemeClr val="tx1"/>
              </a:solidFill>
            </a:endParaRPr>
          </a:p>
          <a:p>
            <a:pPr marL="182880" eaLnBrk="1" hangingPunct="1">
              <a:spcBef>
                <a:spcPts val="600"/>
              </a:spcBef>
            </a:pPr>
            <a:r>
              <a:rPr lang="zh-CN" altLang="en-US" sz="1200" b="0" dirty="0">
                <a:solidFill>
                  <a:schemeClr val="tx1"/>
                </a:solidFill>
              </a:rPr>
              <a:t>以核心业务流程为基础，细化各个阶段的任务目标与学习目标，将日程工作中遇到的问题有效分解到相应的环节、流程中，进行强化训练</a:t>
            </a:r>
          </a:p>
        </p:txBody>
      </p:sp>
      <p:sp>
        <p:nvSpPr>
          <p:cNvPr id="4" name="矩形 3"/>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13</a:t>
            </a:fld>
            <a:endParaRPr lang="zh-CN" altLang="en-US"/>
          </a:p>
        </p:txBody>
      </p:sp>
      <p:sp>
        <p:nvSpPr>
          <p:cNvPr id="3" name="标题 3"/>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sz="2400" kern="0" dirty="0"/>
              <a:t>基于学习项目设计原理，每一层级客户经理可以分为三个成长阶段</a:t>
            </a:r>
            <a:endParaRPr lang="zh-CN" altLang="en-US" kern="0" dirty="0"/>
          </a:p>
        </p:txBody>
      </p:sp>
      <p:grpSp>
        <p:nvGrpSpPr>
          <p:cNvPr id="4" name="组合 3"/>
          <p:cNvGrpSpPr/>
          <p:nvPr/>
        </p:nvGrpSpPr>
        <p:grpSpPr>
          <a:xfrm>
            <a:off x="312737" y="1635125"/>
            <a:ext cx="9382125" cy="5039420"/>
            <a:chOff x="177800" y="1604963"/>
            <a:chExt cx="9382125" cy="5039420"/>
          </a:xfrm>
        </p:grpSpPr>
        <p:sp>
          <p:nvSpPr>
            <p:cNvPr id="5" name="右箭头 1"/>
            <p:cNvSpPr>
              <a:spLocks noChangeArrowheads="1"/>
            </p:cNvSpPr>
            <p:nvPr/>
          </p:nvSpPr>
          <p:spPr bwMode="auto">
            <a:xfrm>
              <a:off x="1709738" y="1604963"/>
              <a:ext cx="2268537" cy="1138237"/>
            </a:xfrm>
            <a:prstGeom prst="rightArrow">
              <a:avLst>
                <a:gd name="adj1" fmla="val 78750"/>
                <a:gd name="adj2" fmla="val 50010"/>
              </a:avLst>
            </a:prstGeom>
            <a:solidFill>
              <a:srgbClr val="00B0F0"/>
            </a:solidFill>
            <a:ln w="9525" algn="ctr">
              <a:solidFill>
                <a:schemeClr val="bg1"/>
              </a:solidFill>
              <a:round/>
            </a:ln>
          </p:spPr>
          <p:txBody>
            <a:bodyPr lIns="0" tIns="0" rIns="0" bIns="0"/>
            <a:lstStyle/>
            <a:p>
              <a:endParaRPr lang="zh-CN" altLang="en-US">
                <a:latin typeface="楷体" panose="02010609060101010101" pitchFamily="49" charset="-122"/>
                <a:ea typeface="楷体" panose="02010609060101010101" pitchFamily="49" charset="-122"/>
              </a:endParaRPr>
            </a:p>
          </p:txBody>
        </p:sp>
        <p:sp>
          <p:nvSpPr>
            <p:cNvPr id="6" name="右箭头 5"/>
            <p:cNvSpPr>
              <a:spLocks noChangeArrowheads="1"/>
            </p:cNvSpPr>
            <p:nvPr/>
          </p:nvSpPr>
          <p:spPr bwMode="auto">
            <a:xfrm>
              <a:off x="4264025" y="1604963"/>
              <a:ext cx="2268538" cy="1138237"/>
            </a:xfrm>
            <a:prstGeom prst="rightArrow">
              <a:avLst>
                <a:gd name="adj1" fmla="val 77444"/>
                <a:gd name="adj2" fmla="val 50010"/>
              </a:avLst>
            </a:prstGeom>
            <a:solidFill>
              <a:srgbClr val="00B0F0"/>
            </a:solidFill>
            <a:ln w="9525" algn="ctr">
              <a:solidFill>
                <a:schemeClr val="bg1"/>
              </a:solidFill>
              <a:round/>
            </a:ln>
          </p:spPr>
          <p:txBody>
            <a:bodyPr lIns="0" tIns="0" rIns="0" bIns="0"/>
            <a:lstStyle/>
            <a:p>
              <a:endParaRPr lang="zh-CN" altLang="en-US">
                <a:latin typeface="楷体" panose="02010609060101010101" pitchFamily="49" charset="-122"/>
                <a:ea typeface="楷体" panose="02010609060101010101" pitchFamily="49" charset="-122"/>
              </a:endParaRPr>
            </a:p>
          </p:txBody>
        </p:sp>
        <p:sp>
          <p:nvSpPr>
            <p:cNvPr id="7" name="右箭头 6"/>
            <p:cNvSpPr>
              <a:spLocks noChangeArrowheads="1"/>
            </p:cNvSpPr>
            <p:nvPr/>
          </p:nvSpPr>
          <p:spPr bwMode="auto">
            <a:xfrm>
              <a:off x="6915150" y="1604963"/>
              <a:ext cx="2268538" cy="1138237"/>
            </a:xfrm>
            <a:prstGeom prst="rightArrow">
              <a:avLst>
                <a:gd name="adj1" fmla="val 74824"/>
                <a:gd name="adj2" fmla="val 50010"/>
              </a:avLst>
            </a:prstGeom>
            <a:solidFill>
              <a:srgbClr val="00B0F0"/>
            </a:solidFill>
            <a:ln w="9525" algn="ctr">
              <a:solidFill>
                <a:schemeClr val="bg1"/>
              </a:solidFill>
              <a:round/>
            </a:ln>
          </p:spPr>
          <p:txBody>
            <a:bodyPr lIns="0" tIns="0" rIns="0" bIns="0"/>
            <a:lstStyle/>
            <a:p>
              <a:endParaRPr lang="zh-CN" altLang="en-US">
                <a:latin typeface="楷体" panose="02010609060101010101" pitchFamily="49" charset="-122"/>
                <a:ea typeface="楷体" panose="02010609060101010101" pitchFamily="49" charset="-122"/>
              </a:endParaRPr>
            </a:p>
          </p:txBody>
        </p:sp>
        <p:sp>
          <p:nvSpPr>
            <p:cNvPr id="8" name="TextBox 2"/>
            <p:cNvSpPr txBox="1">
              <a:spLocks noChangeArrowheads="1"/>
            </p:cNvSpPr>
            <p:nvPr/>
          </p:nvSpPr>
          <p:spPr bwMode="auto">
            <a:xfrm>
              <a:off x="2262188" y="1866900"/>
              <a:ext cx="8826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lgn="ct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新任期</a:t>
              </a:r>
              <a:endPar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endParaRPr>
            </a:p>
            <a:p>
              <a:pPr algn="ctr"/>
              <a:r>
                <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rPr>
                <a:t>12</a:t>
              </a: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个月</a:t>
              </a:r>
            </a:p>
          </p:txBody>
        </p:sp>
        <p:sp>
          <p:nvSpPr>
            <p:cNvPr id="9" name="TextBox 46"/>
            <p:cNvSpPr txBox="1">
              <a:spLocks noChangeArrowheads="1"/>
            </p:cNvSpPr>
            <p:nvPr/>
          </p:nvSpPr>
          <p:spPr bwMode="auto">
            <a:xfrm>
              <a:off x="4457762" y="1866900"/>
              <a:ext cx="14318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lgn="ct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成长期</a:t>
              </a:r>
              <a:endPar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endParaRPr>
            </a:p>
            <a:p>
              <a:pPr algn="ctr"/>
              <a:r>
                <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rPr>
                <a:t>1-2</a:t>
              </a: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年或更长</a:t>
              </a:r>
            </a:p>
          </p:txBody>
        </p:sp>
        <p:sp>
          <p:nvSpPr>
            <p:cNvPr id="10" name="TextBox 47"/>
            <p:cNvSpPr txBox="1">
              <a:spLocks noChangeArrowheads="1"/>
            </p:cNvSpPr>
            <p:nvPr/>
          </p:nvSpPr>
          <p:spPr bwMode="auto">
            <a:xfrm>
              <a:off x="7322072" y="1878013"/>
              <a:ext cx="100860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lgn="ct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挑战期</a:t>
              </a:r>
              <a:endPar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endParaRPr>
            </a:p>
            <a:p>
              <a:pPr algn="ctr"/>
              <a:r>
                <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rPr>
                <a:t>3</a:t>
              </a: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年以上</a:t>
              </a:r>
            </a:p>
          </p:txBody>
        </p:sp>
        <p:cxnSp>
          <p:nvCxnSpPr>
            <p:cNvPr id="11" name="直接连接符 16"/>
            <p:cNvCxnSpPr>
              <a:cxnSpLocks noChangeShapeType="1"/>
            </p:cNvCxnSpPr>
            <p:nvPr/>
          </p:nvCxnSpPr>
          <p:spPr bwMode="auto">
            <a:xfrm>
              <a:off x="177800" y="3800475"/>
              <a:ext cx="9382125" cy="0"/>
            </a:xfrm>
            <a:prstGeom prst="line">
              <a:avLst/>
            </a:prstGeom>
            <a:noFill/>
            <a:ln w="9525"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7"/>
            <p:cNvCxnSpPr>
              <a:cxnSpLocks noChangeShapeType="1"/>
            </p:cNvCxnSpPr>
            <p:nvPr/>
          </p:nvCxnSpPr>
          <p:spPr bwMode="auto">
            <a:xfrm>
              <a:off x="177800" y="5211763"/>
              <a:ext cx="9382125" cy="0"/>
            </a:xfrm>
            <a:prstGeom prst="line">
              <a:avLst/>
            </a:prstGeom>
            <a:noFill/>
            <a:ln w="9525"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9"/>
            <p:cNvCxnSpPr>
              <a:cxnSpLocks noChangeShapeType="1"/>
            </p:cNvCxnSpPr>
            <p:nvPr/>
          </p:nvCxnSpPr>
          <p:spPr bwMode="auto">
            <a:xfrm>
              <a:off x="4025900" y="2849563"/>
              <a:ext cx="0" cy="3794125"/>
            </a:xfrm>
            <a:prstGeom prst="line">
              <a:avLst/>
            </a:prstGeom>
            <a:noFill/>
            <a:ln w="9525"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20"/>
            <p:cNvCxnSpPr>
              <a:cxnSpLocks noChangeShapeType="1"/>
            </p:cNvCxnSpPr>
            <p:nvPr/>
          </p:nvCxnSpPr>
          <p:spPr bwMode="auto">
            <a:xfrm>
              <a:off x="6659563" y="2849563"/>
              <a:ext cx="0" cy="3794125"/>
            </a:xfrm>
            <a:prstGeom prst="line">
              <a:avLst/>
            </a:prstGeom>
            <a:noFill/>
            <a:ln w="9525"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21"/>
            <p:cNvSpPr txBox="1">
              <a:spLocks noChangeArrowheads="1"/>
            </p:cNvSpPr>
            <p:nvPr/>
          </p:nvSpPr>
          <p:spPr bwMode="auto">
            <a:xfrm>
              <a:off x="177800" y="3016250"/>
              <a:ext cx="1360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r>
                <a:rPr lang="zh-CN" altLang="en-US" sz="1400">
                  <a:latin typeface="Calibri" panose="020F0502020204030204" pitchFamily="34" charset="0"/>
                  <a:ea typeface="楷体" panose="02010609060101010101" pitchFamily="49" charset="-122"/>
                  <a:cs typeface="Calibri" panose="020F0502020204030204" pitchFamily="34" charset="0"/>
                </a:rPr>
                <a:t>基于自我发展</a:t>
              </a:r>
              <a:endParaRPr lang="en-US" altLang="zh-CN" sz="1400">
                <a:latin typeface="Calibri" panose="020F0502020204030204" pitchFamily="34" charset="0"/>
                <a:ea typeface="楷体" panose="02010609060101010101" pitchFamily="49" charset="-122"/>
                <a:cs typeface="Calibri" panose="020F0502020204030204" pitchFamily="34" charset="0"/>
              </a:endParaRPr>
            </a:p>
            <a:p>
              <a:r>
                <a:rPr lang="en-US" altLang="zh-CN" sz="1400">
                  <a:latin typeface="Calibri" panose="020F0502020204030204" pitchFamily="34" charset="0"/>
                  <a:ea typeface="楷体" panose="02010609060101010101" pitchFamily="49" charset="-122"/>
                  <a:cs typeface="Calibri" panose="020F0502020204030204" pitchFamily="34" charset="0"/>
                </a:rPr>
                <a:t>Learning by Self</a:t>
              </a:r>
              <a:endParaRPr lang="zh-CN" altLang="en-US" sz="1400">
                <a:latin typeface="Calibri" panose="020F0502020204030204" pitchFamily="34" charset="0"/>
                <a:ea typeface="楷体" panose="02010609060101010101" pitchFamily="49" charset="-122"/>
                <a:cs typeface="Calibri" panose="020F0502020204030204" pitchFamily="34" charset="0"/>
              </a:endParaRPr>
            </a:p>
          </p:txBody>
        </p:sp>
        <p:sp>
          <p:nvSpPr>
            <p:cNvPr id="16" name="TextBox 22"/>
            <p:cNvSpPr txBox="1">
              <a:spLocks noChangeArrowheads="1"/>
            </p:cNvSpPr>
            <p:nvPr/>
          </p:nvSpPr>
          <p:spPr bwMode="auto">
            <a:xfrm>
              <a:off x="177800" y="4237038"/>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r>
                <a:rPr lang="zh-CN" altLang="en-US" sz="1400" dirty="0">
                  <a:latin typeface="Calibri" panose="020F0502020204030204" pitchFamily="34" charset="0"/>
                  <a:ea typeface="楷体" panose="02010609060101010101" pitchFamily="49" charset="-122"/>
                  <a:cs typeface="Calibri" panose="020F0502020204030204" pitchFamily="34" charset="0"/>
                </a:rPr>
                <a:t>基于实践经验发展</a:t>
              </a:r>
              <a:endParaRPr lang="en-US" altLang="zh-CN" sz="1400" dirty="0">
                <a:latin typeface="Calibri" panose="020F0502020204030204" pitchFamily="34" charset="0"/>
                <a:ea typeface="楷体" panose="02010609060101010101" pitchFamily="49" charset="-122"/>
                <a:cs typeface="Calibri" panose="020F0502020204030204" pitchFamily="34" charset="0"/>
              </a:endParaRPr>
            </a:p>
            <a:p>
              <a:r>
                <a:rPr lang="en-US" altLang="zh-CN" sz="1400" dirty="0">
                  <a:latin typeface="Calibri" panose="020F0502020204030204" pitchFamily="34" charset="0"/>
                  <a:ea typeface="楷体" panose="02010609060101010101" pitchFamily="49" charset="-122"/>
                  <a:cs typeface="Calibri" panose="020F0502020204030204" pitchFamily="34" charset="0"/>
                </a:rPr>
                <a:t>Learning by Doing</a:t>
              </a:r>
              <a:endParaRPr lang="zh-CN" altLang="en-US" sz="1400" dirty="0">
                <a:latin typeface="Calibri" panose="020F0502020204030204" pitchFamily="34" charset="0"/>
                <a:ea typeface="楷体" panose="02010609060101010101" pitchFamily="49" charset="-122"/>
                <a:cs typeface="Calibri" panose="020F0502020204030204" pitchFamily="34" charset="0"/>
              </a:endParaRPr>
            </a:p>
          </p:txBody>
        </p:sp>
        <p:sp>
          <p:nvSpPr>
            <p:cNvPr id="17" name="TextBox 23"/>
            <p:cNvSpPr txBox="1">
              <a:spLocks noChangeArrowheads="1"/>
            </p:cNvSpPr>
            <p:nvPr/>
          </p:nvSpPr>
          <p:spPr bwMode="auto">
            <a:xfrm>
              <a:off x="177800" y="5446713"/>
              <a:ext cx="162083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r>
                <a:rPr lang="zh-CN" altLang="en-US" sz="1400" dirty="0">
                  <a:latin typeface="Calibri" panose="020F0502020204030204" pitchFamily="34" charset="0"/>
                  <a:ea typeface="楷体" panose="02010609060101010101" pitchFamily="49" charset="-122"/>
                  <a:cs typeface="Calibri" panose="020F0502020204030204" pitchFamily="34" charset="0"/>
                </a:rPr>
                <a:t>依靠他人发展</a:t>
              </a:r>
              <a:endParaRPr lang="en-US" altLang="zh-CN" sz="1400" dirty="0">
                <a:latin typeface="Calibri" panose="020F0502020204030204" pitchFamily="34" charset="0"/>
                <a:ea typeface="楷体" panose="02010609060101010101" pitchFamily="49" charset="-122"/>
                <a:cs typeface="Calibri" panose="020F0502020204030204" pitchFamily="34" charset="0"/>
              </a:endParaRPr>
            </a:p>
            <a:p>
              <a:r>
                <a:rPr lang="en-US" altLang="zh-CN" sz="1400" dirty="0">
                  <a:latin typeface="Calibri" panose="020F0502020204030204" pitchFamily="34" charset="0"/>
                  <a:ea typeface="楷体" panose="02010609060101010101" pitchFamily="49" charset="-122"/>
                  <a:cs typeface="Calibri" panose="020F0502020204030204" pitchFamily="34" charset="0"/>
                </a:rPr>
                <a:t>Learning with Others</a:t>
              </a:r>
              <a:endParaRPr lang="zh-CN" altLang="en-US" sz="1400" dirty="0">
                <a:latin typeface="Calibri" panose="020F0502020204030204" pitchFamily="34" charset="0"/>
                <a:ea typeface="楷体" panose="02010609060101010101" pitchFamily="49" charset="-122"/>
                <a:cs typeface="Calibri" panose="020F0502020204030204" pitchFamily="34" charset="0"/>
              </a:endParaRPr>
            </a:p>
          </p:txBody>
        </p:sp>
        <p:sp>
          <p:nvSpPr>
            <p:cNvPr id="18" name="TextBox 29"/>
            <p:cNvSpPr txBox="1">
              <a:spLocks noChangeArrowheads="1"/>
            </p:cNvSpPr>
            <p:nvPr/>
          </p:nvSpPr>
          <p:spPr bwMode="auto">
            <a:xfrm>
              <a:off x="1662113" y="2743200"/>
              <a:ext cx="235902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基于探索性评价，</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了解自己</a:t>
              </a:r>
              <a:r>
                <a:rPr lang="zh-CN" altLang="en-US" sz="1200" dirty="0">
                  <a:latin typeface="Calibri" panose="020F0502020204030204" pitchFamily="34" charset="0"/>
                  <a:ea typeface="楷体" panose="02010609060101010101" pitchFamily="49" charset="-122"/>
                  <a:cs typeface="Calibri" panose="020F0502020204030204" pitchFamily="34" charset="0"/>
                </a:rPr>
                <a:t>的动机、价值观，结合组织的战略、文化要求，清晰的认知角色对应的行为要求</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该层级</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基本业务技能</a:t>
              </a:r>
              <a:r>
                <a:rPr lang="zh-CN" altLang="en-US" sz="1200" dirty="0">
                  <a:latin typeface="Calibri" panose="020F0502020204030204" pitchFamily="34" charset="0"/>
                  <a:ea typeface="楷体" panose="02010609060101010101" pitchFamily="49" charset="-122"/>
                  <a:cs typeface="Calibri" panose="020F0502020204030204" pitchFamily="34" charset="0"/>
                </a:rPr>
                <a:t>的学习</a:t>
              </a:r>
            </a:p>
          </p:txBody>
        </p:sp>
        <p:sp>
          <p:nvSpPr>
            <p:cNvPr id="19" name="TextBox 30"/>
            <p:cNvSpPr txBox="1">
              <a:spLocks noChangeArrowheads="1"/>
            </p:cNvSpPr>
            <p:nvPr/>
          </p:nvSpPr>
          <p:spPr bwMode="auto">
            <a:xfrm>
              <a:off x="1662113" y="5259388"/>
              <a:ext cx="24531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通过与新的利益相关方沟通，</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了解他人对自己的角色期望</a:t>
              </a:r>
              <a:endPar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向成功转型的同事请教</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与指导共同协作制定</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转型计划</a:t>
              </a:r>
              <a:endPar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建立导师关系，为未来在岗期的辅导做准备</a:t>
              </a:r>
            </a:p>
          </p:txBody>
        </p:sp>
        <p:sp>
          <p:nvSpPr>
            <p:cNvPr id="20" name="TextBox 31"/>
            <p:cNvSpPr txBox="1">
              <a:spLocks noChangeArrowheads="1"/>
            </p:cNvSpPr>
            <p:nvPr/>
          </p:nvSpPr>
          <p:spPr bwMode="auto">
            <a:xfrm>
              <a:off x="1662113" y="3856038"/>
              <a:ext cx="2359026"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在对角色初步认知的基础上进行专业实践，</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达成合格</a:t>
              </a:r>
              <a:r>
                <a:rPr lang="zh-CN" altLang="en-US" sz="1200" dirty="0">
                  <a:latin typeface="Calibri" panose="020F0502020204030204" pitchFamily="34" charset="0"/>
                  <a:ea typeface="楷体" panose="02010609060101010101" pitchFamily="49" charset="-122"/>
                  <a:cs typeface="Calibri" panose="020F0502020204030204" pitchFamily="34" charset="0"/>
                </a:rPr>
                <a:t>水平的业绩目标，积累初步的角色经验</a:t>
              </a:r>
            </a:p>
          </p:txBody>
        </p:sp>
        <p:sp>
          <p:nvSpPr>
            <p:cNvPr id="21" name="TextBox 36"/>
            <p:cNvSpPr txBox="1">
              <a:spLocks noChangeArrowheads="1"/>
            </p:cNvSpPr>
            <p:nvPr/>
          </p:nvSpPr>
          <p:spPr bwMode="auto">
            <a:xfrm>
              <a:off x="4030662" y="2743200"/>
              <a:ext cx="27447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该层级</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关键业务知识、专业技能</a:t>
              </a:r>
              <a:r>
                <a:rPr lang="zh-CN" altLang="en-US" sz="1200" dirty="0">
                  <a:latin typeface="Calibri" panose="020F0502020204030204" pitchFamily="34" charset="0"/>
                  <a:ea typeface="楷体" panose="02010609060101010101" pitchFamily="49" charset="-122"/>
                  <a:cs typeface="Calibri" panose="020F0502020204030204" pitchFamily="34" charset="0"/>
                </a:rPr>
                <a:t>的系统学习，可以采用面授、在线、阅读等方式</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深入</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思考</a:t>
              </a:r>
              <a:r>
                <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rPr>
                <a:t>/</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反思</a:t>
              </a:r>
              <a:r>
                <a:rPr lang="zh-CN" altLang="en-US" sz="1200" dirty="0">
                  <a:latin typeface="Calibri" panose="020F0502020204030204" pitchFamily="34" charset="0"/>
                  <a:ea typeface="楷体" panose="02010609060101010101" pitchFamily="49" charset="-122"/>
                  <a:cs typeface="Calibri" panose="020F0502020204030204" pitchFamily="34" charset="0"/>
                </a:rPr>
                <a:t>角色要求</a:t>
              </a:r>
            </a:p>
          </p:txBody>
        </p:sp>
        <p:sp>
          <p:nvSpPr>
            <p:cNvPr id="22" name="TextBox 37"/>
            <p:cNvSpPr txBox="1">
              <a:spLocks noChangeArrowheads="1"/>
            </p:cNvSpPr>
            <p:nvPr/>
          </p:nvSpPr>
          <p:spPr bwMode="auto">
            <a:xfrm>
              <a:off x="4030662" y="5259388"/>
              <a:ext cx="274478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采用</a:t>
              </a:r>
              <a:r>
                <a:rPr lang="en-US" altLang="zh-CN" sz="1200" dirty="0">
                  <a:latin typeface="Calibri" panose="020F0502020204030204" pitchFamily="34" charset="0"/>
                  <a:ea typeface="楷体" panose="02010609060101010101" pitchFamily="49" charset="-122"/>
                  <a:cs typeface="Calibri" panose="020F0502020204030204" pitchFamily="34" charset="0"/>
                </a:rPr>
                <a:t>360</a:t>
              </a:r>
              <a:r>
                <a:rPr lang="zh-CN" altLang="en-US" sz="1200" dirty="0">
                  <a:latin typeface="Calibri" panose="020F0502020204030204" pitchFamily="34" charset="0"/>
                  <a:ea typeface="楷体" panose="02010609060101010101" pitchFamily="49" charset="-122"/>
                  <a:cs typeface="Calibri" panose="020F0502020204030204" pitchFamily="34" charset="0"/>
                </a:rPr>
                <a:t>度、个性、组织氛围等测评工具，对其业务行为和</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专业能力进行反馈</a:t>
              </a:r>
              <a:endPar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接受导师辅导和他人反馈，充分了解自己的行为和期望结果之间的</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偏差和原因</a:t>
              </a:r>
              <a:endPar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典型成功</a:t>
              </a:r>
              <a:r>
                <a:rPr lang="en-US" altLang="zh-CN" sz="1200" dirty="0">
                  <a:latin typeface="Calibri" panose="020F0502020204030204" pitchFamily="34" charset="0"/>
                  <a:ea typeface="楷体" panose="02010609060101010101" pitchFamily="49" charset="-122"/>
                  <a:cs typeface="Calibri" panose="020F0502020204030204" pitchFamily="34" charset="0"/>
                </a:rPr>
                <a:t>/</a:t>
              </a:r>
              <a:r>
                <a:rPr lang="zh-CN" altLang="en-US" sz="1200" dirty="0">
                  <a:latin typeface="Calibri" panose="020F0502020204030204" pitchFamily="34" charset="0"/>
                  <a:ea typeface="楷体" panose="02010609060101010101" pitchFamily="49" charset="-122"/>
                  <a:cs typeface="Calibri" panose="020F0502020204030204" pitchFamily="34" charset="0"/>
                </a:rPr>
                <a:t>失败案例的开发与分享</a:t>
              </a:r>
            </a:p>
          </p:txBody>
        </p:sp>
        <p:sp>
          <p:nvSpPr>
            <p:cNvPr id="23" name="TextBox 38"/>
            <p:cNvSpPr txBox="1">
              <a:spLocks noChangeArrowheads="1"/>
            </p:cNvSpPr>
            <p:nvPr/>
          </p:nvSpPr>
          <p:spPr bwMode="auto">
            <a:xfrm>
              <a:off x="4030662" y="3856038"/>
              <a:ext cx="274478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在充分的业务实践中积累经验，找到工作能力与业务结果的关系，以正确的工作行为做出</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出色业绩</a:t>
              </a:r>
              <a:endPar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指导老师有针对性地提供其尝试这个阶段所需要经历的</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关键经验</a:t>
              </a:r>
              <a:endPar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endParaRPr>
            </a:p>
          </p:txBody>
        </p:sp>
        <p:sp>
          <p:nvSpPr>
            <p:cNvPr id="24" name="TextBox 39"/>
            <p:cNvSpPr txBox="1">
              <a:spLocks noChangeArrowheads="1"/>
            </p:cNvSpPr>
            <p:nvPr/>
          </p:nvSpPr>
          <p:spPr bwMode="auto">
            <a:xfrm>
              <a:off x="6775447" y="2743200"/>
              <a:ext cx="2471741"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对</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未来职级</a:t>
              </a:r>
              <a:r>
                <a:rPr lang="zh-CN" altLang="en-US" sz="1200" dirty="0">
                  <a:latin typeface="Calibri" panose="020F0502020204030204" pitchFamily="34" charset="0"/>
                  <a:ea typeface="楷体" panose="02010609060101010101" pitchFamily="49" charset="-122"/>
                  <a:cs typeface="Calibri" panose="020F0502020204030204" pitchFamily="34" charset="0"/>
                </a:rPr>
                <a:t>所需要的业务知识、专业技能的学习</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拓宽视野、提升格局</a:t>
              </a:r>
              <a:r>
                <a:rPr lang="zh-CN" altLang="en-US" sz="1200" dirty="0">
                  <a:latin typeface="Calibri" panose="020F0502020204030204" pitchFamily="34" charset="0"/>
                  <a:ea typeface="楷体" panose="02010609060101010101" pitchFamily="49" charset="-122"/>
                  <a:cs typeface="Calibri" panose="020F0502020204030204" pitchFamily="34" charset="0"/>
                </a:rPr>
                <a:t>和看问题的角度</a:t>
              </a:r>
            </a:p>
          </p:txBody>
        </p:sp>
        <p:sp>
          <p:nvSpPr>
            <p:cNvPr id="25" name="TextBox 40"/>
            <p:cNvSpPr txBox="1">
              <a:spLocks noChangeArrowheads="1"/>
            </p:cNvSpPr>
            <p:nvPr/>
          </p:nvSpPr>
          <p:spPr bwMode="auto">
            <a:xfrm>
              <a:off x="6775447" y="5259388"/>
              <a:ext cx="247174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成为</a:t>
              </a:r>
              <a:r>
                <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rPr>
                <a:t>Trainer</a:t>
              </a:r>
              <a:r>
                <a:rPr lang="zh-CN" altLang="en-US" sz="1200" dirty="0">
                  <a:latin typeface="Calibri" panose="020F0502020204030204" pitchFamily="34" charset="0"/>
                  <a:ea typeface="楷体" panose="02010609060101010101" pitchFamily="49" charset="-122"/>
                  <a:cs typeface="Calibri" panose="020F0502020204030204" pitchFamily="34" charset="0"/>
                </a:rPr>
                <a:t>，培训初级客户经理的业务知识和专业能力</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成为</a:t>
              </a:r>
              <a:r>
                <a:rPr lang="en-US" altLang="zh-CN" sz="1200" dirty="0">
                  <a:solidFill>
                    <a:srgbClr val="FF0000"/>
                  </a:solidFill>
                  <a:latin typeface="Calibri" panose="020F0502020204030204" pitchFamily="34" charset="0"/>
                  <a:ea typeface="楷体" panose="02010609060101010101" pitchFamily="49" charset="-122"/>
                  <a:cs typeface="Calibri" panose="020F0502020204030204" pitchFamily="34" charset="0"/>
                </a:rPr>
                <a:t>coach</a:t>
              </a:r>
              <a:r>
                <a:rPr lang="zh-CN" altLang="en-US" sz="1200" dirty="0">
                  <a:latin typeface="Calibri" panose="020F0502020204030204" pitchFamily="34" charset="0"/>
                  <a:ea typeface="楷体" panose="02010609060101010101" pitchFamily="49" charset="-122"/>
                  <a:cs typeface="Calibri" panose="020F0502020204030204" pitchFamily="34" charset="0"/>
                </a:rPr>
                <a:t>，辅导初级客户经理的成长教练</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接受</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评价中心测评</a:t>
              </a:r>
              <a:r>
                <a:rPr lang="zh-CN" altLang="en-US" sz="1200" dirty="0">
                  <a:latin typeface="Calibri" panose="020F0502020204030204" pitchFamily="34" charset="0"/>
                  <a:ea typeface="楷体" panose="02010609060101010101" pitchFamily="49" charset="-122"/>
                  <a:cs typeface="Calibri" panose="020F0502020204030204" pitchFamily="34" charset="0"/>
                </a:rPr>
                <a:t>，从全面诊断和反馈中了解自我，找到能力的提升方向</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p:txBody>
        </p:sp>
        <p:sp>
          <p:nvSpPr>
            <p:cNvPr id="26" name="TextBox 41"/>
            <p:cNvSpPr txBox="1">
              <a:spLocks noChangeArrowheads="1"/>
            </p:cNvSpPr>
            <p:nvPr/>
          </p:nvSpPr>
          <p:spPr bwMode="auto">
            <a:xfrm>
              <a:off x="6775447" y="3856038"/>
              <a:ext cx="247174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基于未来职级要求，有针对性的</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积累所缺失的岗位经验</a:t>
              </a:r>
              <a:r>
                <a:rPr lang="zh-CN" altLang="en-US" sz="1200" dirty="0">
                  <a:latin typeface="Calibri" panose="020F0502020204030204" pitchFamily="34" charset="0"/>
                  <a:ea typeface="楷体" panose="02010609060101010101" pitchFamily="49" charset="-122"/>
                  <a:cs typeface="Calibri" panose="020F0502020204030204" pitchFamily="34" charset="0"/>
                </a:rPr>
                <a:t>，如高端客户、行业发展、新客户群体等</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a:p>
              <a:pPr>
                <a:buFont typeface="Arial" panose="020B0604020202020204" pitchFamily="34" charset="0"/>
                <a:buChar char="•"/>
              </a:pPr>
              <a:r>
                <a:rPr lang="zh-CN" altLang="en-US" sz="1200" dirty="0">
                  <a:latin typeface="Calibri" panose="020F0502020204030204" pitchFamily="34" charset="0"/>
                  <a:ea typeface="楷体" panose="02010609060101010101" pitchFamily="49" charset="-122"/>
                  <a:cs typeface="Calibri" panose="020F0502020204030204" pitchFamily="34" charset="0"/>
                </a:rPr>
                <a:t>基于</a:t>
              </a:r>
              <a:r>
                <a:rPr lang="zh-CN" altLang="en-US" sz="1200" dirty="0">
                  <a:solidFill>
                    <a:srgbClr val="FF0000"/>
                  </a:solidFill>
                  <a:latin typeface="Calibri" panose="020F0502020204030204" pitchFamily="34" charset="0"/>
                  <a:ea typeface="楷体" panose="02010609060101010101" pitchFamily="49" charset="-122"/>
                  <a:cs typeface="Calibri" panose="020F0502020204030204" pitchFamily="34" charset="0"/>
                </a:rPr>
                <a:t>案例研讨、角色扮演</a:t>
              </a:r>
              <a:r>
                <a:rPr lang="zh-CN" altLang="en-US" sz="1200" dirty="0">
                  <a:latin typeface="Calibri" panose="020F0502020204030204" pitchFamily="34" charset="0"/>
                  <a:ea typeface="楷体" panose="02010609060101010101" pitchFamily="49" charset="-122"/>
                  <a:cs typeface="Calibri" panose="020F0502020204030204" pitchFamily="34" charset="0"/>
                </a:rPr>
                <a:t>，模拟未来角色所需要面对的问题</a:t>
              </a:r>
              <a:endParaRPr lang="en-US" altLang="zh-CN" sz="1200" dirty="0">
                <a:latin typeface="Calibri" panose="020F0502020204030204" pitchFamily="34" charset="0"/>
                <a:ea typeface="楷体" panose="02010609060101010101" pitchFamily="49" charset="-122"/>
                <a:cs typeface="Calibri" panose="020F0502020204030204" pitchFamily="34" charset="0"/>
              </a:endParaRPr>
            </a:p>
          </p:txBody>
        </p:sp>
      </p:grpSp>
      <p:sp>
        <p:nvSpPr>
          <p:cNvPr id="27" name="矩形 26"/>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14</a:t>
            </a:fld>
            <a:endParaRPr lang="zh-CN" altLang="en-US"/>
          </a:p>
        </p:txBody>
      </p:sp>
      <p:sp>
        <p:nvSpPr>
          <p:cNvPr id="3" name="标题 3"/>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sz="2400" kern="0" dirty="0"/>
              <a:t>考虑到培养项目和当前培训资源的衔接，建议将在岗期和提升期两个阶段合并， 每层级设计两个培养项目</a:t>
            </a:r>
            <a:endParaRPr lang="zh-CN" altLang="en-US" kern="0" dirty="0"/>
          </a:p>
        </p:txBody>
      </p:sp>
      <p:grpSp>
        <p:nvGrpSpPr>
          <p:cNvPr id="4" name="组合 3"/>
          <p:cNvGrpSpPr/>
          <p:nvPr/>
        </p:nvGrpSpPr>
        <p:grpSpPr>
          <a:xfrm>
            <a:off x="523875" y="2997843"/>
            <a:ext cx="2034130" cy="3683949"/>
            <a:chOff x="1703507" y="1604963"/>
            <a:chExt cx="2274768" cy="3938585"/>
          </a:xfrm>
        </p:grpSpPr>
        <p:sp>
          <p:nvSpPr>
            <p:cNvPr id="5" name="右箭头 1"/>
            <p:cNvSpPr>
              <a:spLocks noChangeArrowheads="1"/>
            </p:cNvSpPr>
            <p:nvPr/>
          </p:nvSpPr>
          <p:spPr bwMode="auto">
            <a:xfrm>
              <a:off x="1709738" y="1604963"/>
              <a:ext cx="2268537" cy="1138237"/>
            </a:xfrm>
            <a:prstGeom prst="rightArrow">
              <a:avLst>
                <a:gd name="adj1" fmla="val 78750"/>
                <a:gd name="adj2" fmla="val 50010"/>
              </a:avLst>
            </a:prstGeom>
            <a:solidFill>
              <a:srgbClr val="00B0F0"/>
            </a:solidFill>
            <a:ln w="9525" algn="ctr">
              <a:solidFill>
                <a:schemeClr val="bg1"/>
              </a:solidFill>
              <a:round/>
            </a:ln>
          </p:spPr>
          <p:txBody>
            <a:bodyPr lIns="0" tIns="0" rIns="0" bIns="0"/>
            <a:lstStyle/>
            <a:p>
              <a:endParaRPr lang="zh-CN" altLang="en-US">
                <a:latin typeface="楷体" panose="02010609060101010101" pitchFamily="49" charset="-122"/>
                <a:ea typeface="楷体" panose="02010609060101010101" pitchFamily="49" charset="-122"/>
              </a:endParaRPr>
            </a:p>
          </p:txBody>
        </p:sp>
        <p:sp>
          <p:nvSpPr>
            <p:cNvPr id="6" name="右箭头 5"/>
            <p:cNvSpPr>
              <a:spLocks noChangeArrowheads="1"/>
            </p:cNvSpPr>
            <p:nvPr/>
          </p:nvSpPr>
          <p:spPr bwMode="auto">
            <a:xfrm>
              <a:off x="1709737" y="3005137"/>
              <a:ext cx="2268538" cy="1138237"/>
            </a:xfrm>
            <a:prstGeom prst="rightArrow">
              <a:avLst>
                <a:gd name="adj1" fmla="val 77444"/>
                <a:gd name="adj2" fmla="val 50010"/>
              </a:avLst>
            </a:prstGeom>
            <a:solidFill>
              <a:srgbClr val="00B0F0"/>
            </a:solidFill>
            <a:ln w="9525" algn="ctr">
              <a:solidFill>
                <a:schemeClr val="bg1"/>
              </a:solidFill>
              <a:round/>
            </a:ln>
          </p:spPr>
          <p:txBody>
            <a:bodyPr lIns="0" tIns="0" rIns="0" bIns="0"/>
            <a:lstStyle/>
            <a:p>
              <a:endParaRPr lang="zh-CN" altLang="en-US">
                <a:latin typeface="楷体" panose="02010609060101010101" pitchFamily="49" charset="-122"/>
                <a:ea typeface="楷体" panose="02010609060101010101" pitchFamily="49" charset="-122"/>
              </a:endParaRPr>
            </a:p>
          </p:txBody>
        </p:sp>
        <p:sp>
          <p:nvSpPr>
            <p:cNvPr id="7" name="右箭头 6"/>
            <p:cNvSpPr>
              <a:spLocks noChangeArrowheads="1"/>
            </p:cNvSpPr>
            <p:nvPr/>
          </p:nvSpPr>
          <p:spPr bwMode="auto">
            <a:xfrm>
              <a:off x="1703507" y="4405311"/>
              <a:ext cx="2268538" cy="1138237"/>
            </a:xfrm>
            <a:prstGeom prst="rightArrow">
              <a:avLst>
                <a:gd name="adj1" fmla="val 74824"/>
                <a:gd name="adj2" fmla="val 50010"/>
              </a:avLst>
            </a:prstGeom>
            <a:solidFill>
              <a:srgbClr val="00B0F0"/>
            </a:solidFill>
            <a:ln w="9525" algn="ctr">
              <a:solidFill>
                <a:schemeClr val="bg1"/>
              </a:solidFill>
              <a:round/>
            </a:ln>
          </p:spPr>
          <p:txBody>
            <a:bodyPr lIns="0" tIns="0" rIns="0" bIns="0"/>
            <a:lstStyle/>
            <a:p>
              <a:endParaRPr lang="zh-CN" altLang="en-US">
                <a:latin typeface="楷体" panose="02010609060101010101" pitchFamily="49" charset="-122"/>
                <a:ea typeface="楷体" panose="02010609060101010101" pitchFamily="49" charset="-122"/>
              </a:endParaRPr>
            </a:p>
          </p:txBody>
        </p:sp>
        <p:sp>
          <p:nvSpPr>
            <p:cNvPr id="8" name="TextBox 2"/>
            <p:cNvSpPr txBox="1">
              <a:spLocks noChangeArrowheads="1"/>
            </p:cNvSpPr>
            <p:nvPr/>
          </p:nvSpPr>
          <p:spPr bwMode="auto">
            <a:xfrm>
              <a:off x="2262188" y="1866900"/>
              <a:ext cx="8826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lgn="ct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新任期</a:t>
              </a:r>
              <a:endPar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endParaRPr>
            </a:p>
            <a:p>
              <a:pPr algn="ctr"/>
              <a:r>
                <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rPr>
                <a:t>12</a:t>
              </a: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个月</a:t>
              </a:r>
            </a:p>
          </p:txBody>
        </p:sp>
        <p:sp>
          <p:nvSpPr>
            <p:cNvPr id="9" name="TextBox 46"/>
            <p:cNvSpPr txBox="1">
              <a:spLocks noChangeArrowheads="1"/>
            </p:cNvSpPr>
            <p:nvPr/>
          </p:nvSpPr>
          <p:spPr bwMode="auto">
            <a:xfrm>
              <a:off x="1903473" y="3267074"/>
              <a:ext cx="143180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lgn="ct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在岗期</a:t>
              </a:r>
              <a:endPar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endParaRPr>
            </a:p>
            <a:p>
              <a:pPr algn="ctr"/>
              <a:r>
                <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rPr>
                <a:t>1-2</a:t>
              </a: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年或更长</a:t>
              </a:r>
            </a:p>
          </p:txBody>
        </p:sp>
        <p:sp>
          <p:nvSpPr>
            <p:cNvPr id="10" name="TextBox 47"/>
            <p:cNvSpPr txBox="1">
              <a:spLocks noChangeArrowheads="1"/>
            </p:cNvSpPr>
            <p:nvPr/>
          </p:nvSpPr>
          <p:spPr bwMode="auto">
            <a:xfrm>
              <a:off x="2110428" y="4678361"/>
              <a:ext cx="100860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b="1">
                  <a:solidFill>
                    <a:srgbClr val="000000"/>
                  </a:solidFill>
                  <a:latin typeface="Arial" panose="020B0604020202020204" pitchFamily="34" charset="0"/>
                  <a:ea typeface="微软雅黑" panose="020B0503020204020204" pitchFamily="34" charset="-122"/>
                </a:defRPr>
              </a:lvl1pPr>
              <a:lvl2pPr marL="742950" indent="-285750">
                <a:defRPr sz="1300" b="1">
                  <a:solidFill>
                    <a:srgbClr val="000000"/>
                  </a:solidFill>
                  <a:latin typeface="Arial" panose="020B0604020202020204" pitchFamily="34" charset="0"/>
                  <a:ea typeface="微软雅黑" panose="020B0503020204020204" pitchFamily="34" charset="-122"/>
                </a:defRPr>
              </a:lvl2pPr>
              <a:lvl3pPr marL="1143000" indent="-228600">
                <a:defRPr sz="1300" b="1">
                  <a:solidFill>
                    <a:srgbClr val="000000"/>
                  </a:solidFill>
                  <a:latin typeface="Arial" panose="020B0604020202020204" pitchFamily="34" charset="0"/>
                  <a:ea typeface="微软雅黑" panose="020B0503020204020204" pitchFamily="34" charset="-122"/>
                </a:defRPr>
              </a:lvl3pPr>
              <a:lvl4pPr marL="1600200" indent="-228600">
                <a:defRPr sz="1300" b="1">
                  <a:solidFill>
                    <a:srgbClr val="000000"/>
                  </a:solidFill>
                  <a:latin typeface="Arial" panose="020B0604020202020204" pitchFamily="34" charset="0"/>
                  <a:ea typeface="微软雅黑" panose="020B0503020204020204" pitchFamily="34" charset="-122"/>
                </a:defRPr>
              </a:lvl4pPr>
              <a:lvl5pPr marL="2057400" indent="-228600">
                <a:defRPr sz="1300" b="1">
                  <a:solidFill>
                    <a:srgbClr val="000000"/>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300" b="1">
                  <a:solidFill>
                    <a:srgbClr val="000000"/>
                  </a:solidFill>
                  <a:latin typeface="Arial" panose="020B0604020202020204" pitchFamily="34" charset="0"/>
                  <a:ea typeface="微软雅黑" panose="020B0503020204020204" pitchFamily="34" charset="-122"/>
                </a:defRPr>
              </a:lvl9pPr>
            </a:lstStyle>
            <a:p>
              <a:pPr algn="ct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提升期</a:t>
              </a:r>
              <a:endPar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endParaRPr>
            </a:p>
            <a:p>
              <a:pPr algn="ctr"/>
              <a:r>
                <a:rPr lang="en-US" altLang="zh-CN" sz="1800" dirty="0">
                  <a:solidFill>
                    <a:schemeClr val="bg1"/>
                  </a:solidFill>
                  <a:latin typeface="Calibri" panose="020F0502020204030204" pitchFamily="34" charset="0"/>
                  <a:ea typeface="楷体" panose="02010609060101010101" pitchFamily="49" charset="-122"/>
                  <a:cs typeface="Calibri" panose="020F0502020204030204" pitchFamily="34" charset="0"/>
                </a:rPr>
                <a:t>3</a:t>
              </a:r>
              <a:r>
                <a:rPr lang="zh-CN" altLang="en-US" sz="1800" dirty="0">
                  <a:solidFill>
                    <a:schemeClr val="bg1"/>
                  </a:solidFill>
                  <a:latin typeface="Calibri" panose="020F0502020204030204" pitchFamily="34" charset="0"/>
                  <a:ea typeface="楷体" panose="02010609060101010101" pitchFamily="49" charset="-122"/>
                  <a:cs typeface="Calibri" panose="020F0502020204030204" pitchFamily="34" charset="0"/>
                </a:rPr>
                <a:t>年以上</a:t>
              </a:r>
            </a:p>
          </p:txBody>
        </p:sp>
      </p:grpSp>
      <p:sp>
        <p:nvSpPr>
          <p:cNvPr id="27" name="矩形 26"/>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
        <p:nvSpPr>
          <p:cNvPr id="28" name="矩形 49"/>
          <p:cNvSpPr>
            <a:spLocks noChangeArrowheads="1"/>
          </p:cNvSpPr>
          <p:nvPr/>
        </p:nvSpPr>
        <p:spPr bwMode="auto">
          <a:xfrm>
            <a:off x="7417007" y="1981922"/>
            <a:ext cx="1965118" cy="694524"/>
          </a:xfrm>
          <a:prstGeom prst="rect">
            <a:avLst/>
          </a:prstGeom>
          <a:solidFill>
            <a:srgbClr val="B2D2DE">
              <a:lumMod val="60000"/>
              <a:lumOff val="40000"/>
            </a:srgbClr>
          </a:solidFill>
          <a:ln w="9525">
            <a:noFill/>
            <a:miter lim="800000"/>
          </a:ln>
        </p:spPr>
        <p:txBody>
          <a:bodyPr anchor="ctr">
            <a:noAutofit/>
          </a:bodyPr>
          <a:lstStyle/>
          <a:p>
            <a:pPr marL="0" marR="0" lvl="0" indent="0" algn="ctr" defTabSz="914400" eaLnBrk="1" fontAlgn="ctr"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高级客户经理</a:t>
            </a:r>
          </a:p>
        </p:txBody>
      </p:sp>
      <p:sp>
        <p:nvSpPr>
          <p:cNvPr id="29" name="矩形 50"/>
          <p:cNvSpPr>
            <a:spLocks noChangeArrowheads="1"/>
          </p:cNvSpPr>
          <p:nvPr/>
        </p:nvSpPr>
        <p:spPr bwMode="auto">
          <a:xfrm>
            <a:off x="5142317" y="1981922"/>
            <a:ext cx="1965118" cy="694524"/>
          </a:xfrm>
          <a:prstGeom prst="rect">
            <a:avLst/>
          </a:prstGeom>
          <a:solidFill>
            <a:srgbClr val="B2D2DE">
              <a:lumMod val="60000"/>
              <a:lumOff val="40000"/>
            </a:srgbClr>
          </a:solidFill>
          <a:ln w="9525">
            <a:noFill/>
            <a:miter lim="800000"/>
          </a:ln>
        </p:spPr>
        <p:txBody>
          <a:bodyPr wrap="square" anchor="ctr">
            <a:noAutofit/>
          </a:bodyPr>
          <a:lstStyle/>
          <a:p>
            <a:pPr marL="0" marR="0" lvl="0" indent="0" algn="ctr" defTabSz="914400" eaLnBrk="1" fontAlgn="ctr"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中级客户经理</a:t>
            </a:r>
          </a:p>
        </p:txBody>
      </p:sp>
      <p:sp>
        <p:nvSpPr>
          <p:cNvPr id="30" name="矩形 50"/>
          <p:cNvSpPr>
            <a:spLocks noChangeArrowheads="1"/>
          </p:cNvSpPr>
          <p:nvPr/>
        </p:nvSpPr>
        <p:spPr bwMode="auto">
          <a:xfrm>
            <a:off x="2738180" y="1981922"/>
            <a:ext cx="1965118" cy="694524"/>
          </a:xfrm>
          <a:prstGeom prst="rect">
            <a:avLst/>
          </a:prstGeom>
          <a:solidFill>
            <a:srgbClr val="B2D2DE">
              <a:lumMod val="60000"/>
              <a:lumOff val="40000"/>
            </a:srgbClr>
          </a:solidFill>
          <a:ln w="9525">
            <a:noFill/>
            <a:miter lim="800000"/>
          </a:ln>
        </p:spPr>
        <p:txBody>
          <a:bodyPr anchor="ctr">
            <a:noAutofit/>
          </a:bodyPr>
          <a:lstStyle/>
          <a:p>
            <a:pPr marL="0" marR="0" lvl="0" indent="0" algn="ctr" defTabSz="914400" eaLnBrk="1" fontAlgn="ctr"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rPr>
              <a:t>初级客户经理</a:t>
            </a:r>
          </a:p>
        </p:txBody>
      </p:sp>
      <p:sp>
        <p:nvSpPr>
          <p:cNvPr id="31" name="TextBox 50"/>
          <p:cNvSpPr txBox="1"/>
          <p:nvPr/>
        </p:nvSpPr>
        <p:spPr bwMode="auto">
          <a:xfrm>
            <a:off x="2891746" y="3189363"/>
            <a:ext cx="1657985" cy="701504"/>
          </a:xfrm>
          <a:prstGeom prst="rect">
            <a:avLst/>
          </a:prstGeom>
          <a:solidFill>
            <a:schemeClr val="tx2">
              <a:lumMod val="40000"/>
              <a:lumOff val="60000"/>
            </a:schemeClr>
          </a:solidFill>
          <a:ln>
            <a:solidFill>
              <a:srgbClr val="7030A0"/>
            </a:solidFill>
            <a:prstDash val="dash"/>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spcBef>
                <a:spcPct val="50000"/>
              </a:spcBef>
              <a:defRPr/>
            </a:pPr>
            <a:r>
              <a:rPr lang="en-US" altLang="en-US" sz="1200" kern="0" dirty="0" err="1">
                <a:latin typeface="楷体" panose="02010609060101010101" pitchFamily="49" charset="-122"/>
                <a:ea typeface="楷体" panose="02010609060101010101" pitchFamily="49" charset="-122"/>
                <a:cs typeface="楷体" panose="02010609060101010101" pitchFamily="49" charset="-122"/>
              </a:rPr>
              <a:t>新晋</a:t>
            </a:r>
            <a:r>
              <a:rPr lang="en-US" altLang="zh-CN" sz="1200" kern="0" dirty="0">
                <a:latin typeface="楷体" panose="02010609060101010101" pitchFamily="49" charset="-122"/>
                <a:ea typeface="楷体" panose="02010609060101010101" pitchFamily="49" charset="-122"/>
                <a:cs typeface="楷体" panose="02010609060101010101" pitchFamily="49" charset="-122"/>
              </a:rPr>
              <a:t>/</a:t>
            </a:r>
            <a:r>
              <a:rPr lang="zh-CN" altLang="en-US" sz="1200" kern="0" dirty="0">
                <a:latin typeface="楷体" panose="02010609060101010101" pitchFamily="49" charset="-122"/>
                <a:ea typeface="楷体" panose="02010609060101010101" pitchFamily="49" charset="-122"/>
                <a:cs typeface="楷体" panose="02010609060101010101" pitchFamily="49" charset="-122"/>
              </a:rPr>
              <a:t>转岗</a:t>
            </a:r>
            <a:endParaRPr lang="en-US" altLang="zh-CN" sz="1200" kern="0" dirty="0">
              <a:latin typeface="楷体" panose="02010609060101010101" pitchFamily="49" charset="-122"/>
              <a:ea typeface="楷体" panose="02010609060101010101" pitchFamily="49" charset="-122"/>
              <a:cs typeface="楷体" panose="02010609060101010101" pitchFamily="49" charset="-122"/>
            </a:endParaRPr>
          </a:p>
          <a:p>
            <a:pPr algn="ctr">
              <a:spcBef>
                <a:spcPct val="50000"/>
              </a:spcBef>
              <a:defRPr/>
            </a:pPr>
            <a:r>
              <a:rPr lang="en-US" altLang="en-US" sz="1200" b="1" kern="0" dirty="0" err="1">
                <a:latin typeface="楷体" panose="02010609060101010101" pitchFamily="49" charset="-122"/>
                <a:ea typeface="楷体" panose="02010609060101010101" pitchFamily="49" charset="-122"/>
                <a:cs typeface="楷体" panose="02010609060101010101" pitchFamily="49" charset="-122"/>
              </a:rPr>
              <a:t>培养项目</a:t>
            </a:r>
            <a:endParaRPr lang="en-US" altLang="en-US" sz="1200" b="1" kern="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TextBox 50"/>
          <p:cNvSpPr txBox="1"/>
          <p:nvPr/>
        </p:nvSpPr>
        <p:spPr bwMode="auto">
          <a:xfrm>
            <a:off x="2859285" y="4663576"/>
            <a:ext cx="1657985" cy="1702499"/>
          </a:xfrm>
          <a:prstGeom prst="rect">
            <a:avLst/>
          </a:prstGeom>
          <a:solidFill>
            <a:schemeClr val="accent3"/>
          </a:solidFill>
          <a:ln>
            <a:solidFill>
              <a:srgbClr val="7030A0"/>
            </a:solidFill>
            <a:prstDash val="dash"/>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lnSpc>
                <a:spcPts val="1050"/>
              </a:lnSpc>
              <a:spcBef>
                <a:spcPct val="50000"/>
              </a:spcBef>
              <a:defRPr/>
            </a:pPr>
            <a:r>
              <a:rPr lang="en-US" altLang="en-US" sz="1400" b="1" kern="0" dirty="0" err="1">
                <a:latin typeface="楷体" panose="02010609060101010101" pitchFamily="49" charset="-122"/>
                <a:ea typeface="楷体" panose="02010609060101010101" pitchFamily="49" charset="-122"/>
                <a:cs typeface="楷体" panose="02010609060101010101" pitchFamily="49" charset="-122"/>
              </a:rPr>
              <a:t>进阶培养项目</a:t>
            </a:r>
            <a:endParaRPr lang="en-US" altLang="en-US" sz="1400" b="1" kern="0" dirty="0">
              <a:latin typeface="楷体" panose="02010609060101010101" pitchFamily="49" charset="-122"/>
              <a:ea typeface="楷体" panose="02010609060101010101" pitchFamily="49" charset="-122"/>
              <a:cs typeface="楷体" panose="02010609060101010101" pitchFamily="49" charset="-122"/>
            </a:endParaRPr>
          </a:p>
        </p:txBody>
      </p:sp>
      <p:sp>
        <p:nvSpPr>
          <p:cNvPr id="33" name="TextBox 50"/>
          <p:cNvSpPr txBox="1"/>
          <p:nvPr/>
        </p:nvSpPr>
        <p:spPr bwMode="auto">
          <a:xfrm>
            <a:off x="5295883" y="3189363"/>
            <a:ext cx="1657985" cy="701504"/>
          </a:xfrm>
          <a:prstGeom prst="rect">
            <a:avLst/>
          </a:prstGeom>
          <a:solidFill>
            <a:schemeClr val="tx2">
              <a:lumMod val="40000"/>
              <a:lumOff val="60000"/>
            </a:schemeClr>
          </a:solidFill>
          <a:ln>
            <a:solidFill>
              <a:srgbClr val="7030A0"/>
            </a:solidFill>
            <a:prstDash val="dash"/>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spcBef>
                <a:spcPct val="50000"/>
              </a:spcBef>
              <a:defRPr/>
            </a:pPr>
            <a:r>
              <a:rPr lang="en-US" altLang="en-US" sz="1200" kern="0" dirty="0" err="1">
                <a:latin typeface="楷体" panose="02010609060101010101" pitchFamily="49" charset="-122"/>
                <a:ea typeface="楷体" panose="02010609060101010101" pitchFamily="49" charset="-122"/>
                <a:cs typeface="楷体" panose="02010609060101010101" pitchFamily="49" charset="-122"/>
              </a:rPr>
              <a:t>新晋</a:t>
            </a:r>
            <a:r>
              <a:rPr lang="en-US" altLang="zh-CN" sz="1200" kern="0" dirty="0">
                <a:latin typeface="楷体" panose="02010609060101010101" pitchFamily="49" charset="-122"/>
                <a:ea typeface="楷体" panose="02010609060101010101" pitchFamily="49" charset="-122"/>
                <a:cs typeface="楷体" panose="02010609060101010101" pitchFamily="49" charset="-122"/>
              </a:rPr>
              <a:t>/</a:t>
            </a:r>
            <a:r>
              <a:rPr lang="zh-CN" altLang="en-US" sz="1200" kern="0" dirty="0">
                <a:latin typeface="楷体" panose="02010609060101010101" pitchFamily="49" charset="-122"/>
                <a:ea typeface="楷体" panose="02010609060101010101" pitchFamily="49" charset="-122"/>
                <a:cs typeface="楷体" panose="02010609060101010101" pitchFamily="49" charset="-122"/>
              </a:rPr>
              <a:t>转岗</a:t>
            </a:r>
            <a:endParaRPr lang="en-US" altLang="zh-CN" sz="1200" kern="0" dirty="0">
              <a:latin typeface="楷体" panose="02010609060101010101" pitchFamily="49" charset="-122"/>
              <a:ea typeface="楷体" panose="02010609060101010101" pitchFamily="49" charset="-122"/>
              <a:cs typeface="楷体" panose="02010609060101010101" pitchFamily="49" charset="-122"/>
            </a:endParaRPr>
          </a:p>
          <a:p>
            <a:pPr algn="ctr">
              <a:spcBef>
                <a:spcPct val="50000"/>
              </a:spcBef>
              <a:defRPr/>
            </a:pPr>
            <a:r>
              <a:rPr lang="en-US" altLang="en-US" sz="1200" b="1" kern="0" dirty="0" err="1">
                <a:latin typeface="楷体" panose="02010609060101010101" pitchFamily="49" charset="-122"/>
                <a:ea typeface="楷体" panose="02010609060101010101" pitchFamily="49" charset="-122"/>
                <a:cs typeface="楷体" panose="02010609060101010101" pitchFamily="49" charset="-122"/>
              </a:rPr>
              <a:t>培养项目</a:t>
            </a:r>
            <a:endParaRPr lang="en-US" altLang="en-US" sz="1200" b="1" kern="0" dirty="0">
              <a:latin typeface="楷体" panose="02010609060101010101" pitchFamily="49" charset="-122"/>
              <a:ea typeface="楷体" panose="02010609060101010101" pitchFamily="49" charset="-122"/>
              <a:cs typeface="楷体" panose="02010609060101010101" pitchFamily="49" charset="-122"/>
            </a:endParaRPr>
          </a:p>
        </p:txBody>
      </p:sp>
      <p:sp>
        <p:nvSpPr>
          <p:cNvPr id="34" name="TextBox 50"/>
          <p:cNvSpPr txBox="1"/>
          <p:nvPr/>
        </p:nvSpPr>
        <p:spPr bwMode="auto">
          <a:xfrm>
            <a:off x="7570573" y="3189363"/>
            <a:ext cx="1657985" cy="701504"/>
          </a:xfrm>
          <a:prstGeom prst="rect">
            <a:avLst/>
          </a:prstGeom>
          <a:solidFill>
            <a:schemeClr val="tx2">
              <a:lumMod val="40000"/>
              <a:lumOff val="60000"/>
            </a:schemeClr>
          </a:solidFill>
          <a:ln>
            <a:solidFill>
              <a:srgbClr val="7030A0"/>
            </a:solidFill>
            <a:prstDash val="dash"/>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spcBef>
                <a:spcPct val="50000"/>
              </a:spcBef>
              <a:defRPr/>
            </a:pPr>
            <a:r>
              <a:rPr lang="en-US" altLang="en-US" sz="1200" kern="0" dirty="0" err="1">
                <a:latin typeface="楷体" panose="02010609060101010101" pitchFamily="49" charset="-122"/>
                <a:ea typeface="楷体" panose="02010609060101010101" pitchFamily="49" charset="-122"/>
                <a:cs typeface="楷体" panose="02010609060101010101" pitchFamily="49" charset="-122"/>
              </a:rPr>
              <a:t>新晋</a:t>
            </a:r>
            <a:r>
              <a:rPr lang="en-US" altLang="zh-CN" sz="1200" kern="0" dirty="0">
                <a:latin typeface="楷体" panose="02010609060101010101" pitchFamily="49" charset="-122"/>
                <a:ea typeface="楷体" panose="02010609060101010101" pitchFamily="49" charset="-122"/>
                <a:cs typeface="楷体" panose="02010609060101010101" pitchFamily="49" charset="-122"/>
              </a:rPr>
              <a:t>/</a:t>
            </a:r>
            <a:r>
              <a:rPr lang="zh-CN" altLang="en-US" sz="1200" kern="0" dirty="0">
                <a:latin typeface="楷体" panose="02010609060101010101" pitchFamily="49" charset="-122"/>
                <a:ea typeface="楷体" panose="02010609060101010101" pitchFamily="49" charset="-122"/>
                <a:cs typeface="楷体" panose="02010609060101010101" pitchFamily="49" charset="-122"/>
              </a:rPr>
              <a:t>转岗</a:t>
            </a:r>
            <a:endParaRPr lang="en-US" altLang="zh-CN" sz="1200" kern="0" dirty="0">
              <a:latin typeface="楷体" panose="02010609060101010101" pitchFamily="49" charset="-122"/>
              <a:ea typeface="楷体" panose="02010609060101010101" pitchFamily="49" charset="-122"/>
              <a:cs typeface="楷体" panose="02010609060101010101" pitchFamily="49" charset="-122"/>
            </a:endParaRPr>
          </a:p>
          <a:p>
            <a:pPr algn="ctr">
              <a:spcBef>
                <a:spcPct val="50000"/>
              </a:spcBef>
              <a:defRPr/>
            </a:pPr>
            <a:r>
              <a:rPr lang="en-US" altLang="en-US" sz="1200" b="1" kern="0" dirty="0" err="1">
                <a:latin typeface="楷体" panose="02010609060101010101" pitchFamily="49" charset="-122"/>
                <a:ea typeface="楷体" panose="02010609060101010101" pitchFamily="49" charset="-122"/>
                <a:cs typeface="楷体" panose="02010609060101010101" pitchFamily="49" charset="-122"/>
              </a:rPr>
              <a:t>培养项目</a:t>
            </a:r>
            <a:endParaRPr lang="en-US" altLang="en-US" sz="1200" b="1" kern="0" dirty="0">
              <a:latin typeface="楷体" panose="02010609060101010101" pitchFamily="49" charset="-122"/>
              <a:ea typeface="楷体" panose="02010609060101010101" pitchFamily="49" charset="-122"/>
              <a:cs typeface="楷体" panose="02010609060101010101" pitchFamily="49" charset="-122"/>
            </a:endParaRPr>
          </a:p>
        </p:txBody>
      </p:sp>
      <p:sp>
        <p:nvSpPr>
          <p:cNvPr id="35" name="TextBox 50"/>
          <p:cNvSpPr txBox="1"/>
          <p:nvPr/>
        </p:nvSpPr>
        <p:spPr bwMode="auto">
          <a:xfrm>
            <a:off x="5295882" y="4663576"/>
            <a:ext cx="1657985" cy="1702499"/>
          </a:xfrm>
          <a:prstGeom prst="rect">
            <a:avLst/>
          </a:prstGeom>
          <a:solidFill>
            <a:schemeClr val="accent3"/>
          </a:solidFill>
          <a:ln>
            <a:solidFill>
              <a:srgbClr val="7030A0"/>
            </a:solidFill>
            <a:prstDash val="dash"/>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lnSpc>
                <a:spcPts val="1050"/>
              </a:lnSpc>
              <a:spcBef>
                <a:spcPct val="50000"/>
              </a:spcBef>
              <a:defRPr/>
            </a:pPr>
            <a:r>
              <a:rPr lang="en-US" altLang="en-US" sz="1400" b="1" kern="0" dirty="0" err="1">
                <a:latin typeface="楷体" panose="02010609060101010101" pitchFamily="49" charset="-122"/>
                <a:ea typeface="楷体" panose="02010609060101010101" pitchFamily="49" charset="-122"/>
                <a:cs typeface="楷体" panose="02010609060101010101" pitchFamily="49" charset="-122"/>
              </a:rPr>
              <a:t>进阶培养项目</a:t>
            </a:r>
            <a:endParaRPr lang="en-US" altLang="en-US" sz="1400" b="1" kern="0" dirty="0">
              <a:latin typeface="楷体" panose="02010609060101010101" pitchFamily="49" charset="-122"/>
              <a:ea typeface="楷体" panose="02010609060101010101" pitchFamily="49" charset="-122"/>
              <a:cs typeface="楷体" panose="02010609060101010101" pitchFamily="49" charset="-122"/>
            </a:endParaRPr>
          </a:p>
        </p:txBody>
      </p:sp>
      <p:sp>
        <p:nvSpPr>
          <p:cNvPr id="36" name="TextBox 50"/>
          <p:cNvSpPr txBox="1"/>
          <p:nvPr/>
        </p:nvSpPr>
        <p:spPr bwMode="auto">
          <a:xfrm>
            <a:off x="7732479" y="4663576"/>
            <a:ext cx="1657985" cy="1702499"/>
          </a:xfrm>
          <a:prstGeom prst="rect">
            <a:avLst/>
          </a:prstGeom>
          <a:solidFill>
            <a:schemeClr val="accent3"/>
          </a:solidFill>
          <a:ln>
            <a:solidFill>
              <a:srgbClr val="7030A0"/>
            </a:solidFill>
            <a:prstDash val="dash"/>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lnSpc>
                <a:spcPts val="1050"/>
              </a:lnSpc>
              <a:spcBef>
                <a:spcPct val="50000"/>
              </a:spcBef>
              <a:defRPr/>
            </a:pPr>
            <a:r>
              <a:rPr lang="en-US" altLang="en-US" sz="1400" b="1" kern="0" dirty="0" err="1">
                <a:latin typeface="楷体" panose="02010609060101010101" pitchFamily="49" charset="-122"/>
                <a:ea typeface="楷体" panose="02010609060101010101" pitchFamily="49" charset="-122"/>
                <a:cs typeface="楷体" panose="02010609060101010101" pitchFamily="49" charset="-122"/>
              </a:rPr>
              <a:t>进阶培养项目</a:t>
            </a:r>
            <a:endParaRPr lang="en-US" altLang="en-US" sz="1400" b="1" kern="0" dirty="0">
              <a:latin typeface="楷体" panose="02010609060101010101" pitchFamily="49" charset="-122"/>
              <a:ea typeface="楷体" panose="02010609060101010101" pitchFamily="49" charset="-122"/>
              <a:cs typeface="楷体" panose="02010609060101010101" pitchFamily="49" charset="-122"/>
            </a:endParaRPr>
          </a:p>
        </p:txBody>
      </p:sp>
      <p:cxnSp>
        <p:nvCxnSpPr>
          <p:cNvPr id="37" name="直接连接符 16"/>
          <p:cNvCxnSpPr>
            <a:cxnSpLocks noChangeShapeType="1"/>
          </p:cNvCxnSpPr>
          <p:nvPr/>
        </p:nvCxnSpPr>
        <p:spPr bwMode="auto">
          <a:xfrm>
            <a:off x="2552434" y="4212602"/>
            <a:ext cx="6936056" cy="0"/>
          </a:xfrm>
          <a:prstGeom prst="line">
            <a:avLst/>
          </a:prstGeom>
          <a:noFill/>
          <a:ln w="9525"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19"/>
          <p:cNvCxnSpPr>
            <a:cxnSpLocks noChangeShapeType="1"/>
          </p:cNvCxnSpPr>
          <p:nvPr/>
        </p:nvCxnSpPr>
        <p:spPr bwMode="auto">
          <a:xfrm>
            <a:off x="4958526" y="2766513"/>
            <a:ext cx="0" cy="3794125"/>
          </a:xfrm>
          <a:prstGeom prst="line">
            <a:avLst/>
          </a:prstGeom>
          <a:noFill/>
          <a:ln w="9525"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19"/>
          <p:cNvCxnSpPr>
            <a:cxnSpLocks noChangeShapeType="1"/>
          </p:cNvCxnSpPr>
          <p:nvPr/>
        </p:nvCxnSpPr>
        <p:spPr bwMode="auto">
          <a:xfrm>
            <a:off x="7321690" y="2828026"/>
            <a:ext cx="0" cy="3794125"/>
          </a:xfrm>
          <a:prstGeom prst="line">
            <a:avLst/>
          </a:prstGeom>
          <a:noFill/>
          <a:ln w="9525"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15</a:t>
            </a:fld>
            <a:endParaRPr lang="zh-CN" altLang="en-US"/>
          </a:p>
        </p:txBody>
      </p:sp>
      <p:sp>
        <p:nvSpPr>
          <p:cNvPr id="3"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初级客户经理培养项目设计</a:t>
            </a:r>
          </a:p>
        </p:txBody>
      </p:sp>
      <p:grpSp>
        <p:nvGrpSpPr>
          <p:cNvPr id="15" name="组合 14"/>
          <p:cNvGrpSpPr/>
          <p:nvPr/>
        </p:nvGrpSpPr>
        <p:grpSpPr>
          <a:xfrm>
            <a:off x="795020" y="1520229"/>
            <a:ext cx="7736676" cy="5185247"/>
            <a:chOff x="795020" y="1520229"/>
            <a:chExt cx="7736676" cy="5185247"/>
          </a:xfrm>
        </p:grpSpPr>
        <p:sp>
          <p:nvSpPr>
            <p:cNvPr id="4" name="矩形 3"/>
            <p:cNvSpPr/>
            <p:nvPr/>
          </p:nvSpPr>
          <p:spPr>
            <a:xfrm>
              <a:off x="2000672" y="3663214"/>
              <a:ext cx="6531024" cy="960000"/>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培养重点</a:t>
              </a:r>
              <a:endParaRPr lang="en-US" altLang="zh-CN" sz="1500" b="1" kern="0" dirty="0">
                <a:solidFill>
                  <a:sysClr val="windowText" lastClr="000000"/>
                </a:solidFill>
                <a:latin typeface="Times New Roman" panose="02020603050405020304" pitchFamily="18" charset="0"/>
                <a:ea typeface="楷体" panose="02010609060101010101" pitchFamily="49" charset="-122"/>
              </a:endParaRPr>
            </a:p>
            <a:p>
              <a:pPr lvl="1">
                <a:lnSpc>
                  <a:spcPts val="1900"/>
                </a:lnSpc>
                <a:buFont typeface="Arial" panose="020B0604020202020204" pitchFamily="34" charset="0"/>
                <a:buChar char="•"/>
              </a:pPr>
              <a:r>
                <a:rPr lang="zh-CN" altLang="en-US" sz="1400" kern="0" dirty="0">
                  <a:latin typeface="楷体" panose="02010609060101010101" pitchFamily="49" charset="-122"/>
                  <a:ea typeface="楷体" panose="02010609060101010101" pitchFamily="49" charset="-122"/>
                </a:rPr>
                <a:t> 夯实产品基本功</a:t>
              </a:r>
              <a:endParaRPr lang="en-US" altLang="zh-CN" sz="1400" kern="0" dirty="0">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sz="1400" kern="0" dirty="0">
                  <a:solidFill>
                    <a:sysClr val="windowText" lastClr="000000"/>
                  </a:solidFill>
                  <a:latin typeface="楷体" panose="02010609060101010101" pitchFamily="49" charset="-122"/>
                  <a:ea typeface="楷体" panose="02010609060101010101" pitchFamily="49" charset="-122"/>
                </a:rPr>
                <a:t> 提升客户服务和电话营销基本方法和实战技巧</a:t>
              </a:r>
              <a:endParaRPr lang="zh-CN" altLang="en-US" sz="1300" kern="0" dirty="0">
                <a:solidFill>
                  <a:sysClr val="windowText" lastClr="000000"/>
                </a:solidFill>
                <a:latin typeface="楷体" panose="02010609060101010101" pitchFamily="49" charset="-122"/>
                <a:ea typeface="楷体" panose="02010609060101010101" pitchFamily="49" charset="-122"/>
              </a:endParaRPr>
            </a:p>
          </p:txBody>
        </p:sp>
        <p:sp>
          <p:nvSpPr>
            <p:cNvPr id="5" name="矩形 4"/>
            <p:cNvSpPr/>
            <p:nvPr/>
          </p:nvSpPr>
          <p:spPr>
            <a:xfrm>
              <a:off x="2000672" y="4772818"/>
              <a:ext cx="6531024" cy="891528"/>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参训时间与实施周期</a:t>
              </a:r>
            </a:p>
            <a:p>
              <a:pPr lvl="1">
                <a:lnSpc>
                  <a:spcPts val="19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 共分为两个阶段，每阶段需要在</a:t>
              </a:r>
              <a:r>
                <a:rPr kumimoji="0" lang="en-US" altLang="zh-CN" sz="1400" dirty="0">
                  <a:solidFill>
                    <a:srgbClr val="000000"/>
                  </a:solidFill>
                  <a:latin typeface="楷体" panose="02010609060101010101" pitchFamily="49" charset="-122"/>
                  <a:ea typeface="楷体" panose="02010609060101010101" pitchFamily="49" charset="-122"/>
                </a:rPr>
                <a:t>30</a:t>
              </a:r>
              <a:r>
                <a:rPr kumimoji="0" lang="zh-CN" altLang="en-US" sz="1400" dirty="0">
                  <a:solidFill>
                    <a:srgbClr val="000000"/>
                  </a:solidFill>
                  <a:latin typeface="楷体" panose="02010609060101010101" pitchFamily="49" charset="-122"/>
                  <a:ea typeface="楷体" panose="02010609060101010101" pitchFamily="49" charset="-122"/>
                </a:rPr>
                <a:t>天内完成（含在线自主学习和在岗实践任务完成）</a:t>
              </a:r>
              <a:endParaRPr kumimoji="0" lang="en-US" altLang="zh-CN" sz="1400" dirty="0">
                <a:solidFill>
                  <a:srgbClr val="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kumimoji="0" lang="zh-CN" altLang="en-US" sz="1400" dirty="0">
                  <a:latin typeface="楷体" panose="02010609060101010101" pitchFamily="49" charset="-122"/>
                  <a:ea typeface="楷体" panose="02010609060101010101" pitchFamily="49" charset="-122"/>
                </a:rPr>
                <a:t> 集中学习为脱产培训（总培训时长不少于</a:t>
              </a:r>
              <a:r>
                <a:rPr kumimoji="0" lang="en-US" altLang="zh-CN" sz="1400" dirty="0">
                  <a:latin typeface="楷体" panose="02010609060101010101" pitchFamily="49" charset="-122"/>
                  <a:ea typeface="楷体" panose="02010609060101010101" pitchFamily="49" charset="-122"/>
                </a:rPr>
                <a:t>3</a:t>
              </a:r>
              <a:r>
                <a:rPr kumimoji="0" lang="zh-CN" altLang="en-US" sz="1400" dirty="0">
                  <a:latin typeface="楷体" panose="02010609060101010101" pitchFamily="49" charset="-122"/>
                  <a:ea typeface="楷体" panose="02010609060101010101" pitchFamily="49" charset="-122"/>
                </a:rPr>
                <a:t>天，可分阶段进行）</a:t>
              </a:r>
              <a:endParaRPr kumimoji="0" lang="zh-CN" altLang="en-US" sz="140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2000672" y="5813948"/>
              <a:ext cx="6531024" cy="891528"/>
            </a:xfrm>
            <a:prstGeom prst="rect">
              <a:avLst/>
            </a:prstGeom>
            <a:solidFill>
              <a:srgbClr val="B2D2DE">
                <a:lumMod val="20000"/>
                <a:lumOff val="80000"/>
              </a:srgbClr>
            </a:solidFill>
          </p:spPr>
          <p:txBody>
            <a:bodyPr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培养方式</a:t>
              </a:r>
            </a:p>
            <a:p>
              <a:pPr defTabSz="846455">
                <a:defRPr/>
              </a:pPr>
              <a:r>
                <a:rPr lang="zh-CN" altLang="en-US" sz="1300" dirty="0">
                  <a:latin typeface="Times New Roman" panose="02020603050405020304" pitchFamily="18" charset="0"/>
                  <a:ea typeface="楷体" panose="02010609060101010101" pitchFamily="49" charset="-122"/>
                </a:rPr>
                <a:t>以自主学习、集中面授、在岗实践为主要学习方式</a:t>
              </a:r>
            </a:p>
          </p:txBody>
        </p:sp>
        <p:sp>
          <p:nvSpPr>
            <p:cNvPr id="7" name="矩形 6"/>
            <p:cNvSpPr/>
            <p:nvPr/>
          </p:nvSpPr>
          <p:spPr>
            <a:xfrm>
              <a:off x="2000672" y="2351388"/>
              <a:ext cx="6531024" cy="1194654"/>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培养目标</a:t>
              </a:r>
            </a:p>
            <a:p>
              <a:pPr lvl="1">
                <a:lnSpc>
                  <a:spcPts val="1900"/>
                </a:lnSpc>
                <a:buFont typeface="Arial" panose="020B0604020202020204" pitchFamily="34" charset="0"/>
                <a:buChar char="•"/>
              </a:pPr>
              <a:r>
                <a:rPr kumimoji="0" lang="zh-CN" altLang="en-US" sz="1400" dirty="0">
                  <a:solidFill>
                    <a:srgbClr val="000000"/>
                  </a:solidFill>
                  <a:latin typeface="楷体" panose="02010609060101010101" pitchFamily="49" charset="-122"/>
                  <a:ea typeface="楷体" panose="02010609060101010101" pitchFamily="49" charset="-122"/>
                </a:rPr>
                <a:t> 了解建行主要对私金融产品</a:t>
              </a:r>
              <a:endParaRPr kumimoji="0" lang="en-US" altLang="zh-CN" sz="1400" dirty="0">
                <a:solidFill>
                  <a:srgbClr val="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sz="1300" kern="0" dirty="0">
                  <a:solidFill>
                    <a:sysClr val="windowText" lastClr="000000"/>
                  </a:solidFill>
                  <a:latin typeface="楷体" panose="02010609060101010101" pitchFamily="49" charset="-122"/>
                  <a:ea typeface="楷体" panose="02010609060101010101" pitchFamily="49" charset="-122"/>
                </a:rPr>
                <a:t> 掌握存量客户的盘活和维护方法</a:t>
              </a:r>
              <a:endParaRPr lang="en-US" altLang="zh-CN" sz="1300" kern="0" dirty="0">
                <a:solidFill>
                  <a:sysClr val="windowText" lastClr="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kern="0" dirty="0">
                  <a:solidFill>
                    <a:sysClr val="windowText" lastClr="000000"/>
                  </a:solidFill>
                  <a:latin typeface="楷体" panose="02010609060101010101" pitchFamily="49" charset="-122"/>
                  <a:ea typeface="楷体" panose="02010609060101010101" pitchFamily="49" charset="-122"/>
                </a:rPr>
                <a:t> 了解产品和综合营销的基本方法</a:t>
              </a:r>
              <a:endParaRPr lang="zh-CN" altLang="zh-CN" sz="1300" kern="0" dirty="0">
                <a:solidFill>
                  <a:sysClr val="windowText" lastClr="000000"/>
                </a:solidFill>
                <a:latin typeface="楷体" panose="02010609060101010101" pitchFamily="49" charset="-122"/>
                <a:ea typeface="楷体" panose="02010609060101010101" pitchFamily="49" charset="-122"/>
              </a:endParaRPr>
            </a:p>
          </p:txBody>
        </p:sp>
        <p:sp>
          <p:nvSpPr>
            <p:cNvPr id="8" name="矩形 7"/>
            <p:cNvSpPr/>
            <p:nvPr/>
          </p:nvSpPr>
          <p:spPr>
            <a:xfrm>
              <a:off x="2000672" y="1628922"/>
              <a:ext cx="6531024" cy="605295"/>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pPr>
              <a:r>
                <a:rPr lang="zh-CN" altLang="en-US" sz="1500" b="1" kern="0" dirty="0">
                  <a:solidFill>
                    <a:sysClr val="windowText" lastClr="000000"/>
                  </a:solidFill>
                  <a:latin typeface="楷体" panose="02010609060101010101" pitchFamily="49" charset="-122"/>
                  <a:ea typeface="楷体" panose="02010609060101010101" pitchFamily="49" charset="-122"/>
                  <a:cs typeface="Kai"/>
                </a:rPr>
                <a:t>培养对象</a:t>
              </a:r>
            </a:p>
            <a:p>
              <a:r>
                <a:rPr lang="zh-CN" altLang="en-US" sz="1400" kern="0" dirty="0">
                  <a:latin typeface="楷体" panose="02010609060101010101" pitchFamily="49" charset="-122"/>
                  <a:ea typeface="楷体" panose="02010609060101010101" pitchFamily="49" charset="-122"/>
                  <a:cs typeface="Kai"/>
                </a:rPr>
                <a:t>柜面、大堂、产品经理等人员转岗客户经理，</a:t>
              </a:r>
              <a:r>
                <a:rPr lang="en-US" altLang="zh-CN" sz="1400" kern="0" dirty="0">
                  <a:latin typeface="楷体" panose="02010609060101010101" pitchFamily="49" charset="-122"/>
                  <a:ea typeface="楷体" panose="02010609060101010101" pitchFamily="49" charset="-122"/>
                  <a:cs typeface="Kai"/>
                </a:rPr>
                <a:t>12</a:t>
              </a:r>
              <a:r>
                <a:rPr lang="zh-CN" altLang="en-US" sz="1400" kern="0" dirty="0">
                  <a:latin typeface="楷体" panose="02010609060101010101" pitchFamily="49" charset="-122"/>
                  <a:ea typeface="楷体" panose="02010609060101010101" pitchFamily="49" charset="-122"/>
                  <a:cs typeface="Kai"/>
                </a:rPr>
                <a:t>个月内</a:t>
              </a:r>
              <a:endParaRPr lang="zh-CN" altLang="en-US" sz="1400" kern="0" dirty="0">
                <a:solidFill>
                  <a:sysClr val="windowText" lastClr="000000"/>
                </a:solidFill>
                <a:latin typeface="楷体" panose="02010609060101010101" pitchFamily="49" charset="-122"/>
                <a:ea typeface="楷体" panose="02010609060101010101" pitchFamily="49" charset="-122"/>
                <a:cs typeface="Kai"/>
              </a:endParaRPr>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6280" y="1520229"/>
              <a:ext cx="970449" cy="960106"/>
            </a:xfrm>
            <a:prstGeom prst="rect">
              <a:avLst/>
            </a:prstGeom>
            <a:noFill/>
            <a:ln>
              <a:noFill/>
            </a:ln>
          </p:spPr>
        </p:pic>
        <p:pic>
          <p:nvPicPr>
            <p:cNvPr id="10" name="图片 9"/>
            <p:cNvPicPr>
              <a:picLocks noChangeAspect="1"/>
            </p:cNvPicPr>
            <p:nvPr/>
          </p:nvPicPr>
          <p:blipFill>
            <a:blip r:embed="rId3" cstate="print"/>
            <a:stretch>
              <a:fillRect/>
            </a:stretch>
          </p:blipFill>
          <p:spPr>
            <a:xfrm>
              <a:off x="795020" y="2554675"/>
              <a:ext cx="1256347" cy="891528"/>
            </a:xfrm>
            <a:prstGeom prst="rect">
              <a:avLst/>
            </a:prstGeom>
          </p:spPr>
        </p:pic>
        <p:pic>
          <p:nvPicPr>
            <p:cNvPr id="11" name="图片 10"/>
            <p:cNvPicPr>
              <a:picLocks noChangeAspect="1"/>
            </p:cNvPicPr>
            <p:nvPr/>
          </p:nvPicPr>
          <p:blipFill>
            <a:blip r:embed="rId4" cstate="print"/>
            <a:stretch>
              <a:fillRect/>
            </a:stretch>
          </p:blipFill>
          <p:spPr>
            <a:xfrm>
              <a:off x="946280" y="4772818"/>
              <a:ext cx="979762" cy="891528"/>
            </a:xfrm>
            <a:prstGeom prst="rect">
              <a:avLst/>
            </a:prstGeom>
          </p:spPr>
        </p:pic>
        <p:pic>
          <p:nvPicPr>
            <p:cNvPr id="12" name="图片 11"/>
            <p:cNvPicPr>
              <a:picLocks noChangeAspect="1"/>
            </p:cNvPicPr>
            <p:nvPr/>
          </p:nvPicPr>
          <p:blipFill>
            <a:blip r:embed="rId5" cstate="print"/>
            <a:stretch>
              <a:fillRect/>
            </a:stretch>
          </p:blipFill>
          <p:spPr>
            <a:xfrm>
              <a:off x="946280" y="5813948"/>
              <a:ext cx="979762" cy="891528"/>
            </a:xfrm>
            <a:prstGeom prst="rect">
              <a:avLst/>
            </a:prstGeom>
          </p:spPr>
        </p:pic>
        <p:pic>
          <p:nvPicPr>
            <p:cNvPr id="13" name="图片 12"/>
            <p:cNvPicPr>
              <a:picLocks noChangeAspect="1"/>
            </p:cNvPicPr>
            <p:nvPr/>
          </p:nvPicPr>
          <p:blipFill rotWithShape="1">
            <a:blip r:embed="rId6" cstate="print"/>
            <a:srcRect t="15433" b="26888"/>
            <a:stretch>
              <a:fillRect/>
            </a:stretch>
          </p:blipFill>
          <p:spPr>
            <a:xfrm>
              <a:off x="946280" y="3671071"/>
              <a:ext cx="979762" cy="952143"/>
            </a:xfrm>
            <a:prstGeom prst="rect">
              <a:avLst/>
            </a:prstGeom>
          </p:spPr>
        </p:pic>
      </p:grpSp>
      <p:sp>
        <p:nvSpPr>
          <p:cNvPr id="14" name="矩形 13"/>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 name="对象 116"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64" imgW="12700" imgH="12700" progId="TCLayout.ActiveDocument.1">
                  <p:embed/>
                </p:oleObj>
              </mc:Choice>
              <mc:Fallback>
                <p:oleObj name="think-cell Slide" r:id="rId64" imgW="12700" imgH="12700" progId="TCLayout.ActiveDocument.1">
                  <p:embed/>
                  <p:pic>
                    <p:nvPicPr>
                      <p:cNvPr id="117" name="对象 116" hidden="1"/>
                      <p:cNvPicPr/>
                      <p:nvPr/>
                    </p:nvPicPr>
                    <p:blipFill>
                      <a:blip r:embed="rId65"/>
                      <a:stretch>
                        <a:fillRect/>
                      </a:stretch>
                    </p:blipFill>
                    <p:spPr>
                      <a:xfrm>
                        <a:off x="0" y="0"/>
                        <a:ext cx="158750" cy="158750"/>
                      </a:xfrm>
                      <a:prstGeom prst="rect">
                        <a:avLst/>
                      </a:prstGeom>
                    </p:spPr>
                  </p:pic>
                </p:oleObj>
              </mc:Fallback>
            </mc:AlternateContent>
          </a:graphicData>
        </a:graphic>
      </p:graphicFrame>
      <p:sp>
        <p:nvSpPr>
          <p:cNvPr id="116" name="AutoShape 63"/>
          <p:cNvSpPr>
            <a:spLocks noChangeArrowheads="1"/>
          </p:cNvSpPr>
          <p:nvPr>
            <p:custDataLst>
              <p:tags r:id="rId2"/>
            </p:custDataLst>
          </p:nvPr>
        </p:nvSpPr>
        <p:spPr bwMode="auto">
          <a:xfrm>
            <a:off x="7961658" y="1255593"/>
            <a:ext cx="1327151" cy="4728978"/>
          </a:xfrm>
          <a:prstGeom prst="roundRect">
            <a:avLst>
              <a:gd name="adj" fmla="val 4247"/>
            </a:avLst>
          </a:prstGeom>
          <a:solidFill>
            <a:schemeClr val="accent6">
              <a:lumMod val="50000"/>
            </a:schemeClr>
          </a:solidFill>
          <a:ln w="9525">
            <a:noFill/>
            <a:round/>
          </a:ln>
        </p:spPr>
        <p:txBody>
          <a:bodyPr/>
          <a:lstStyle/>
          <a:p>
            <a:pPr algn="just">
              <a:defRPr/>
            </a:pPr>
            <a:endParaRPr lang="zh-CN" altLang="zh-CN" sz="1200" kern="0">
              <a:solidFill>
                <a:srgbClr val="FFFFFF"/>
              </a:solidFill>
              <a:latin typeface="微软雅黑" panose="020B0503020204020204" pitchFamily="34" charset="-122"/>
              <a:ea typeface="微软雅黑" panose="020B0503020204020204" pitchFamily="34" charset="-122"/>
            </a:endParaRPr>
          </a:p>
        </p:txBody>
      </p:sp>
      <p:sp>
        <p:nvSpPr>
          <p:cNvPr id="4" name="Rectangle 58"/>
          <p:cNvSpPr>
            <a:spLocks noChangeArrowheads="1"/>
          </p:cNvSpPr>
          <p:nvPr>
            <p:custDataLst>
              <p:tags r:id="rId3"/>
            </p:custDataLst>
          </p:nvPr>
        </p:nvSpPr>
        <p:spPr bwMode="auto">
          <a:xfrm>
            <a:off x="2049924" y="1815359"/>
            <a:ext cx="5791881" cy="1416506"/>
          </a:xfrm>
          <a:prstGeom prst="rect">
            <a:avLst/>
          </a:prstGeom>
          <a:solidFill>
            <a:schemeClr val="accent6">
              <a:lumMod val="20000"/>
              <a:lumOff val="80000"/>
              <a:alpha val="87842"/>
            </a:schemeClr>
          </a:solidFill>
          <a:ln w="9525">
            <a:noFill/>
            <a:miter lim="800000"/>
          </a:ln>
        </p:spPr>
        <p:txBody>
          <a:bodyPr wrap="none" lIns="0" tIns="0" rIns="0" bIns="0" anchor="ctr"/>
          <a:lstStyle/>
          <a:p>
            <a:pPr algn="ctr"/>
            <a:endParaRPr kumimoji="1" lang="zh-CN" altLang="en-US" sz="1200">
              <a:solidFill>
                <a:srgbClr val="FFFFFF"/>
              </a:solidFill>
              <a:ea typeface="微软雅黑" panose="020B0503020204020204" pitchFamily="34" charset="-122"/>
            </a:endParaRPr>
          </a:p>
        </p:txBody>
      </p:sp>
      <p:grpSp>
        <p:nvGrpSpPr>
          <p:cNvPr id="138" name="组合 137"/>
          <p:cNvGrpSpPr/>
          <p:nvPr>
            <p:custDataLst>
              <p:tags r:id="rId4"/>
            </p:custDataLst>
          </p:nvPr>
        </p:nvGrpSpPr>
        <p:grpSpPr>
          <a:xfrm>
            <a:off x="581035" y="882162"/>
            <a:ext cx="8730085" cy="307975"/>
            <a:chOff x="602807" y="1370096"/>
            <a:chExt cx="8730085" cy="307975"/>
          </a:xfrm>
        </p:grpSpPr>
        <p:grpSp>
          <p:nvGrpSpPr>
            <p:cNvPr id="137" name="组合 136"/>
            <p:cNvGrpSpPr/>
            <p:nvPr/>
          </p:nvGrpSpPr>
          <p:grpSpPr>
            <a:xfrm>
              <a:off x="917129" y="1370096"/>
              <a:ext cx="8353412" cy="307975"/>
              <a:chOff x="917129" y="1370096"/>
              <a:chExt cx="8353412" cy="307975"/>
            </a:xfrm>
          </p:grpSpPr>
          <p:sp>
            <p:nvSpPr>
              <p:cNvPr id="6" name="Text Box 12"/>
              <p:cNvSpPr txBox="1">
                <a:spLocks noChangeArrowheads="1"/>
              </p:cNvSpPr>
              <p:nvPr>
                <p:custDataLst>
                  <p:tags r:id="rId59"/>
                </p:custDataLst>
              </p:nvPr>
            </p:nvSpPr>
            <p:spPr bwMode="auto">
              <a:xfrm>
                <a:off x="8154541" y="1370096"/>
                <a:ext cx="1116000" cy="307975"/>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训后延展</a:t>
                </a:r>
              </a:p>
            </p:txBody>
          </p:sp>
          <p:sp>
            <p:nvSpPr>
              <p:cNvPr id="8" name="Text Box 6"/>
              <p:cNvSpPr txBox="1">
                <a:spLocks noChangeArrowheads="1"/>
              </p:cNvSpPr>
              <p:nvPr>
                <p:custDataLst>
                  <p:tags r:id="rId60"/>
                </p:custDataLst>
              </p:nvPr>
            </p:nvSpPr>
            <p:spPr bwMode="auto">
              <a:xfrm>
                <a:off x="917129" y="1370096"/>
                <a:ext cx="1149350" cy="307777"/>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训前准备</a:t>
                </a:r>
              </a:p>
            </p:txBody>
          </p:sp>
          <p:sp>
            <p:nvSpPr>
              <p:cNvPr id="10" name="Text Box 9"/>
              <p:cNvSpPr txBox="1">
                <a:spLocks noChangeArrowheads="1"/>
              </p:cNvSpPr>
              <p:nvPr>
                <p:custDataLst>
                  <p:tags r:id="rId61"/>
                </p:custDataLst>
              </p:nvPr>
            </p:nvSpPr>
            <p:spPr bwMode="auto">
              <a:xfrm>
                <a:off x="2369691" y="1370096"/>
                <a:ext cx="5005388" cy="304800"/>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培训中</a:t>
                </a:r>
              </a:p>
            </p:txBody>
          </p:sp>
        </p:grpSp>
        <p:grpSp>
          <p:nvGrpSpPr>
            <p:cNvPr id="107" name="组合 106"/>
            <p:cNvGrpSpPr/>
            <p:nvPr>
              <p:custDataLst>
                <p:tags r:id="rId56"/>
              </p:custDataLst>
            </p:nvPr>
          </p:nvGrpSpPr>
          <p:grpSpPr>
            <a:xfrm>
              <a:off x="602807" y="1413412"/>
              <a:ext cx="1368000" cy="260350"/>
              <a:chOff x="602807" y="1369868"/>
              <a:chExt cx="1368000" cy="260350"/>
            </a:xfrm>
          </p:grpSpPr>
          <p:sp>
            <p:nvSpPr>
              <p:cNvPr id="7" name="Line 5"/>
              <p:cNvSpPr>
                <a:spLocks noChangeShapeType="1"/>
              </p:cNvSpPr>
              <p:nvPr/>
            </p:nvSpPr>
            <p:spPr bwMode="auto">
              <a:xfrm>
                <a:off x="602807" y="1630218"/>
                <a:ext cx="1368000" cy="0"/>
              </a:xfrm>
              <a:prstGeom prst="line">
                <a:avLst/>
              </a:prstGeom>
              <a:noFill/>
              <a:ln w="19050">
                <a:solidFill>
                  <a:schemeClr val="hlink"/>
                </a:solidFill>
                <a:round/>
              </a:ln>
            </p:spPr>
            <p:txBody>
              <a:bodyPr/>
              <a:lstStyle/>
              <a:p>
                <a:endParaRPr lang="zh-CN" altLang="en-US"/>
              </a:p>
            </p:txBody>
          </p:sp>
          <p:sp>
            <p:nvSpPr>
              <p:cNvPr id="13" name="Rectangle 84"/>
              <p:cNvSpPr>
                <a:spLocks noChangeArrowheads="1"/>
              </p:cNvSpPr>
              <p:nvPr/>
            </p:nvSpPr>
            <p:spPr bwMode="auto">
              <a:xfrm>
                <a:off x="602807" y="1369868"/>
                <a:ext cx="311150" cy="215900"/>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1</a:t>
                </a:r>
              </a:p>
            </p:txBody>
          </p:sp>
        </p:grpSp>
        <p:grpSp>
          <p:nvGrpSpPr>
            <p:cNvPr id="108" name="组合 107"/>
            <p:cNvGrpSpPr/>
            <p:nvPr>
              <p:custDataLst>
                <p:tags r:id="rId57"/>
              </p:custDataLst>
            </p:nvPr>
          </p:nvGrpSpPr>
          <p:grpSpPr>
            <a:xfrm>
              <a:off x="2049924" y="1399134"/>
              <a:ext cx="5796000" cy="274628"/>
              <a:chOff x="2049924" y="1399134"/>
              <a:chExt cx="5796000" cy="274628"/>
            </a:xfrm>
          </p:grpSpPr>
          <p:sp>
            <p:nvSpPr>
              <p:cNvPr id="9" name="Line 8"/>
              <p:cNvSpPr>
                <a:spLocks noChangeShapeType="1"/>
              </p:cNvSpPr>
              <p:nvPr/>
            </p:nvSpPr>
            <p:spPr bwMode="auto">
              <a:xfrm>
                <a:off x="2049924" y="1673762"/>
                <a:ext cx="5796000" cy="0"/>
              </a:xfrm>
              <a:prstGeom prst="line">
                <a:avLst/>
              </a:prstGeom>
              <a:noFill/>
              <a:ln w="19050">
                <a:solidFill>
                  <a:schemeClr val="hlink"/>
                </a:solidFill>
                <a:round/>
              </a:ln>
            </p:spPr>
            <p:txBody>
              <a:bodyPr/>
              <a:lstStyle/>
              <a:p>
                <a:endParaRPr lang="zh-CN" altLang="en-US"/>
              </a:p>
            </p:txBody>
          </p:sp>
          <p:sp>
            <p:nvSpPr>
              <p:cNvPr id="14" name="Rectangle 85"/>
              <p:cNvSpPr>
                <a:spLocks noChangeArrowheads="1"/>
              </p:cNvSpPr>
              <p:nvPr/>
            </p:nvSpPr>
            <p:spPr bwMode="auto">
              <a:xfrm>
                <a:off x="2049924" y="1399134"/>
                <a:ext cx="288925" cy="239713"/>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2</a:t>
                </a:r>
              </a:p>
            </p:txBody>
          </p:sp>
        </p:grpSp>
        <p:grpSp>
          <p:nvGrpSpPr>
            <p:cNvPr id="109" name="组合 108"/>
            <p:cNvGrpSpPr/>
            <p:nvPr>
              <p:custDataLst>
                <p:tags r:id="rId58"/>
              </p:custDataLst>
            </p:nvPr>
          </p:nvGrpSpPr>
          <p:grpSpPr>
            <a:xfrm>
              <a:off x="7928892" y="1399134"/>
              <a:ext cx="1404000" cy="274628"/>
              <a:chOff x="7928892" y="1399134"/>
              <a:chExt cx="1404000" cy="274628"/>
            </a:xfrm>
          </p:grpSpPr>
          <p:sp>
            <p:nvSpPr>
              <p:cNvPr id="11" name="Line 11"/>
              <p:cNvSpPr>
                <a:spLocks noChangeShapeType="1"/>
              </p:cNvSpPr>
              <p:nvPr/>
            </p:nvSpPr>
            <p:spPr bwMode="auto">
              <a:xfrm>
                <a:off x="7928892" y="1673762"/>
                <a:ext cx="1404000" cy="0"/>
              </a:xfrm>
              <a:prstGeom prst="line">
                <a:avLst/>
              </a:prstGeom>
              <a:noFill/>
              <a:ln w="19050">
                <a:solidFill>
                  <a:schemeClr val="hlink"/>
                </a:solidFill>
                <a:round/>
              </a:ln>
            </p:spPr>
            <p:txBody>
              <a:bodyPr/>
              <a:lstStyle/>
              <a:p>
                <a:endParaRPr lang="zh-CN" altLang="en-US"/>
              </a:p>
            </p:txBody>
          </p:sp>
          <p:sp>
            <p:nvSpPr>
              <p:cNvPr id="15" name="Rectangle 86"/>
              <p:cNvSpPr>
                <a:spLocks noChangeArrowheads="1"/>
              </p:cNvSpPr>
              <p:nvPr/>
            </p:nvSpPr>
            <p:spPr bwMode="auto">
              <a:xfrm>
                <a:off x="7928892" y="1399134"/>
                <a:ext cx="290512" cy="239713"/>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3</a:t>
                </a:r>
              </a:p>
            </p:txBody>
          </p:sp>
        </p:grpSp>
      </p:grpSp>
      <p:sp>
        <p:nvSpPr>
          <p:cNvPr id="18" name="Rectangle 32"/>
          <p:cNvSpPr>
            <a:spLocks noChangeArrowheads="1"/>
          </p:cNvSpPr>
          <p:nvPr>
            <p:custDataLst>
              <p:tags r:id="rId5"/>
            </p:custDataLst>
          </p:nvPr>
        </p:nvSpPr>
        <p:spPr bwMode="auto">
          <a:xfrm>
            <a:off x="2049924" y="1255593"/>
            <a:ext cx="2844000" cy="534988"/>
          </a:xfrm>
          <a:prstGeom prst="rect">
            <a:avLst/>
          </a:prstGeom>
          <a:solidFill>
            <a:srgbClr val="366B7E"/>
          </a:solidFill>
          <a:ln w="19050">
            <a:noFill/>
            <a:miter lim="800000"/>
          </a:ln>
        </p:spPr>
        <p:txBody>
          <a:bodyPr wrap="none" anchor="ctr"/>
          <a:lstStyle/>
          <a:p>
            <a:pPr algn="ctr">
              <a:defRPr/>
            </a:pPr>
            <a:r>
              <a:rPr kumimoji="1" lang="zh-CN" altLang="en-US" sz="1400" dirty="0">
                <a:solidFill>
                  <a:srgbClr val="FFFFFF"/>
                </a:solidFill>
                <a:latin typeface="微软雅黑" panose="020B0503020204020204" pitchFamily="34" charset="-122"/>
                <a:ea typeface="微软雅黑" panose="020B0503020204020204" pitchFamily="34" charset="-122"/>
              </a:rPr>
              <a:t>第一阶段</a:t>
            </a:r>
            <a:r>
              <a:rPr kumimoji="1" lang="en-US" altLang="zh-CN" sz="1100" dirty="0">
                <a:solidFill>
                  <a:srgbClr val="FFFFFF"/>
                </a:solidFill>
                <a:latin typeface="微软雅黑" panose="020B0503020204020204" pitchFamily="34" charset="-122"/>
                <a:ea typeface="微软雅黑" panose="020B0503020204020204" pitchFamily="34" charset="-122"/>
              </a:rPr>
              <a:t>(</a:t>
            </a:r>
            <a:r>
              <a:rPr kumimoji="1" lang="zh-CN" altLang="en-US" sz="1100" dirty="0">
                <a:solidFill>
                  <a:srgbClr val="FFFFFF"/>
                </a:solidFill>
                <a:latin typeface="微软雅黑" panose="020B0503020204020204" pitchFamily="34" charset="-122"/>
                <a:ea typeface="微软雅黑" panose="020B0503020204020204" pitchFamily="34" charset="-122"/>
              </a:rPr>
              <a:t>新晋</a:t>
            </a:r>
            <a:r>
              <a:rPr kumimoji="1" lang="en-US" altLang="zh-CN" sz="1100" dirty="0">
                <a:solidFill>
                  <a:srgbClr val="FFFFFF"/>
                </a:solidFill>
                <a:latin typeface="微软雅黑" panose="020B0503020204020204" pitchFamily="34" charset="-122"/>
                <a:ea typeface="微软雅黑" panose="020B0503020204020204" pitchFamily="34" charset="-122"/>
              </a:rPr>
              <a:t>/</a:t>
            </a:r>
            <a:r>
              <a:rPr kumimoji="1" lang="zh-CN" altLang="en-US" sz="1100" dirty="0">
                <a:solidFill>
                  <a:srgbClr val="FFFFFF"/>
                </a:solidFill>
                <a:latin typeface="微软雅黑" panose="020B0503020204020204" pitchFamily="34" charset="-122"/>
                <a:ea typeface="微软雅黑" panose="020B0503020204020204" pitchFamily="34" charset="-122"/>
              </a:rPr>
              <a:t>转岗培训</a:t>
            </a:r>
            <a:r>
              <a:rPr kumimoji="1" lang="en-US" altLang="zh-CN" sz="1100" dirty="0">
                <a:solidFill>
                  <a:srgbClr val="FFFFFF"/>
                </a:solidFill>
                <a:latin typeface="微软雅黑" panose="020B0503020204020204" pitchFamily="34" charset="-122"/>
                <a:ea typeface="微软雅黑" panose="020B0503020204020204" pitchFamily="34" charset="-122"/>
              </a:rPr>
              <a:t>)</a:t>
            </a:r>
          </a:p>
        </p:txBody>
      </p:sp>
      <p:sp>
        <p:nvSpPr>
          <p:cNvPr id="19" name="Rectangle 32"/>
          <p:cNvSpPr>
            <a:spLocks noChangeArrowheads="1"/>
          </p:cNvSpPr>
          <p:nvPr>
            <p:custDataLst>
              <p:tags r:id="rId6"/>
            </p:custDataLst>
          </p:nvPr>
        </p:nvSpPr>
        <p:spPr bwMode="auto">
          <a:xfrm>
            <a:off x="4997805" y="1255593"/>
            <a:ext cx="2844000" cy="536575"/>
          </a:xfrm>
          <a:prstGeom prst="rect">
            <a:avLst/>
          </a:prstGeom>
          <a:solidFill>
            <a:srgbClr val="366B7E"/>
          </a:solidFill>
          <a:ln w="19050">
            <a:noFill/>
            <a:miter lim="800000"/>
          </a:ln>
        </p:spPr>
        <p:txBody>
          <a:bodyPr wrap="none" anchor="ctr"/>
          <a:lstStyle/>
          <a:p>
            <a:pPr algn="ctr"/>
            <a:r>
              <a:rPr kumimoji="1" lang="en-US" altLang="zh-CN" sz="1400" dirty="0">
                <a:solidFill>
                  <a:srgbClr val="FFFFFF"/>
                </a:solidFill>
                <a:latin typeface="微软雅黑" panose="020B0503020204020204" pitchFamily="34" charset="-122"/>
                <a:ea typeface="微软雅黑" panose="020B0503020204020204" pitchFamily="34" charset="-122"/>
              </a:rPr>
              <a:t>   </a:t>
            </a:r>
            <a:r>
              <a:rPr kumimoji="1" lang="zh-CN" altLang="en-US" sz="1400" dirty="0">
                <a:solidFill>
                  <a:srgbClr val="FFFFFF"/>
                </a:solidFill>
                <a:latin typeface="微软雅黑" panose="020B0503020204020204" pitchFamily="34" charset="-122"/>
                <a:ea typeface="微软雅黑" panose="020B0503020204020204" pitchFamily="34" charset="-122"/>
              </a:rPr>
              <a:t>第二阶段</a:t>
            </a:r>
            <a:r>
              <a:rPr kumimoji="1" lang="zh-CN" altLang="en-US" sz="1100" dirty="0">
                <a:solidFill>
                  <a:srgbClr val="FFFFFF"/>
                </a:solidFill>
                <a:latin typeface="微软雅黑" panose="020B0503020204020204" pitchFamily="34" charset="-122"/>
                <a:ea typeface="微软雅黑" panose="020B0503020204020204" pitchFamily="34" charset="-122"/>
              </a:rPr>
              <a:t>（进阶培训）</a:t>
            </a:r>
          </a:p>
        </p:txBody>
      </p:sp>
      <p:sp>
        <p:nvSpPr>
          <p:cNvPr id="20" name="AutoShape 59"/>
          <p:cNvSpPr>
            <a:spLocks noChangeArrowheads="1"/>
          </p:cNvSpPr>
          <p:nvPr>
            <p:custDataLst>
              <p:tags r:id="rId7"/>
            </p:custDataLst>
          </p:nvPr>
        </p:nvSpPr>
        <p:spPr bwMode="auto">
          <a:xfrm>
            <a:off x="4751081" y="1343992"/>
            <a:ext cx="385880" cy="377825"/>
          </a:xfrm>
          <a:prstGeom prst="rightArrow">
            <a:avLst>
              <a:gd name="adj1" fmla="val 50000"/>
              <a:gd name="adj2" fmla="val 26549"/>
            </a:avLst>
          </a:prstGeom>
          <a:solidFill>
            <a:srgbClr val="FFAA00"/>
          </a:solidFill>
          <a:ln w="9525">
            <a:noFill/>
            <a:miter lim="800000"/>
          </a:ln>
        </p:spPr>
        <p:txBody>
          <a:bodyPr wrap="none" lIns="0" tIns="0" rIns="0" bIns="0" anchor="ctr"/>
          <a:lstStyle/>
          <a:p>
            <a:endParaRPr kumimoji="1" lang="zh-CN" altLang="zh-CN" sz="1200"/>
          </a:p>
        </p:txBody>
      </p:sp>
      <p:sp>
        <p:nvSpPr>
          <p:cNvPr id="27" name="Line 11"/>
          <p:cNvSpPr>
            <a:spLocks noChangeShapeType="1"/>
          </p:cNvSpPr>
          <p:nvPr>
            <p:custDataLst>
              <p:tags r:id="rId8"/>
            </p:custDataLst>
          </p:nvPr>
        </p:nvSpPr>
        <p:spPr bwMode="auto">
          <a:xfrm>
            <a:off x="490094" y="6100899"/>
            <a:ext cx="8928100" cy="0"/>
          </a:xfrm>
          <a:prstGeom prst="line">
            <a:avLst/>
          </a:prstGeom>
          <a:noFill/>
          <a:ln w="38100">
            <a:solidFill>
              <a:schemeClr val="folHlink"/>
            </a:solidFill>
            <a:round/>
            <a:tailEnd type="triangle" w="med" len="med"/>
          </a:ln>
        </p:spPr>
        <p:txBody>
          <a:bodyPr lIns="0" tIns="0" rIns="0" bIns="0"/>
          <a:lstStyle/>
          <a:p>
            <a:endParaRPr lang="zh-CN" altLang="en-US"/>
          </a:p>
        </p:txBody>
      </p:sp>
      <p:sp>
        <p:nvSpPr>
          <p:cNvPr id="28" name="Oval 18"/>
          <p:cNvSpPr>
            <a:spLocks noChangeArrowheads="1"/>
          </p:cNvSpPr>
          <p:nvPr>
            <p:custDataLst>
              <p:tags r:id="rId9"/>
            </p:custDataLst>
          </p:nvPr>
        </p:nvSpPr>
        <p:spPr bwMode="auto">
          <a:xfrm>
            <a:off x="488509" y="6013597"/>
            <a:ext cx="142875"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30" name="Oval 25"/>
          <p:cNvSpPr>
            <a:spLocks noChangeArrowheads="1"/>
          </p:cNvSpPr>
          <p:nvPr>
            <p:custDataLst>
              <p:tags r:id="rId10"/>
            </p:custDataLst>
          </p:nvPr>
        </p:nvSpPr>
        <p:spPr bwMode="auto">
          <a:xfrm>
            <a:off x="9135616" y="6008834"/>
            <a:ext cx="139700"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31" name="Text Box 26"/>
          <p:cNvSpPr txBox="1">
            <a:spLocks noChangeArrowheads="1"/>
          </p:cNvSpPr>
          <p:nvPr>
            <p:custDataLst>
              <p:tags r:id="rId11"/>
            </p:custDataLst>
          </p:nvPr>
        </p:nvSpPr>
        <p:spPr bwMode="auto">
          <a:xfrm>
            <a:off x="8490274" y="6172337"/>
            <a:ext cx="248466"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2</a:t>
            </a:r>
            <a:r>
              <a:rPr kumimoji="1" lang="zh-CN" altLang="en-US" sz="1200" b="0" dirty="0">
                <a:latin typeface="微软雅黑" panose="020B0503020204020204" pitchFamily="34" charset="-122"/>
                <a:ea typeface="微软雅黑" panose="020B0503020204020204" pitchFamily="34" charset="-122"/>
              </a:rPr>
              <a:t>周</a:t>
            </a:r>
          </a:p>
        </p:txBody>
      </p:sp>
      <p:sp>
        <p:nvSpPr>
          <p:cNvPr id="32" name="Text Box 21"/>
          <p:cNvSpPr txBox="1">
            <a:spLocks noChangeArrowheads="1"/>
          </p:cNvSpPr>
          <p:nvPr>
            <p:custDataLst>
              <p:tags r:id="rId12"/>
            </p:custDataLst>
          </p:nvPr>
        </p:nvSpPr>
        <p:spPr bwMode="auto">
          <a:xfrm>
            <a:off x="3133221" y="6172337"/>
            <a:ext cx="795089"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30</a:t>
            </a:r>
            <a:r>
              <a:rPr kumimoji="1" lang="zh-CN" altLang="en-US" sz="1200" b="0" dirty="0">
                <a:latin typeface="微软雅黑" panose="020B0503020204020204" pitchFamily="34" charset="-122"/>
                <a:ea typeface="微软雅黑" panose="020B0503020204020204" pitchFamily="34" charset="-122"/>
              </a:rPr>
              <a:t>天内完成</a:t>
            </a:r>
          </a:p>
        </p:txBody>
      </p:sp>
      <p:sp>
        <p:nvSpPr>
          <p:cNvPr id="33" name="Text Box 21"/>
          <p:cNvSpPr txBox="1">
            <a:spLocks noChangeArrowheads="1"/>
          </p:cNvSpPr>
          <p:nvPr>
            <p:custDataLst>
              <p:tags r:id="rId13"/>
            </p:custDataLst>
          </p:nvPr>
        </p:nvSpPr>
        <p:spPr bwMode="auto">
          <a:xfrm>
            <a:off x="6012874" y="6186624"/>
            <a:ext cx="795089"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30</a:t>
            </a:r>
            <a:r>
              <a:rPr kumimoji="1" lang="zh-CN" altLang="en-US" sz="1200" b="0" dirty="0">
                <a:latin typeface="微软雅黑" panose="020B0503020204020204" pitchFamily="34" charset="-122"/>
                <a:ea typeface="微软雅黑" panose="020B0503020204020204" pitchFamily="34" charset="-122"/>
              </a:rPr>
              <a:t>天内完成</a:t>
            </a:r>
          </a:p>
        </p:txBody>
      </p:sp>
      <p:sp>
        <p:nvSpPr>
          <p:cNvPr id="34" name="等腰三角形 90"/>
          <p:cNvSpPr>
            <a:spLocks noChangeArrowheads="1"/>
          </p:cNvSpPr>
          <p:nvPr>
            <p:custDataLst>
              <p:tags r:id="rId14"/>
            </p:custDataLst>
          </p:nvPr>
        </p:nvSpPr>
        <p:spPr bwMode="auto">
          <a:xfrm>
            <a:off x="1929959" y="5984571"/>
            <a:ext cx="152400" cy="249237"/>
          </a:xfrm>
          <a:prstGeom prst="triangle">
            <a:avLst>
              <a:gd name="adj" fmla="val 50000"/>
            </a:avLst>
          </a:prstGeom>
          <a:solidFill>
            <a:srgbClr val="366B7E"/>
          </a:solidFill>
          <a:ln w="22225" algn="ctr">
            <a:solidFill>
              <a:schemeClr val="bg1"/>
            </a:solidFill>
            <a:round/>
          </a:ln>
        </p:spPr>
        <p:txBody>
          <a:bodyPr lIns="0" tIns="0" rIns="0" bIns="0"/>
          <a:lstStyle/>
          <a:p>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5" name="等腰三角形 96"/>
          <p:cNvSpPr>
            <a:spLocks noChangeArrowheads="1"/>
          </p:cNvSpPr>
          <p:nvPr>
            <p:custDataLst>
              <p:tags r:id="rId15"/>
            </p:custDataLst>
          </p:nvPr>
        </p:nvSpPr>
        <p:spPr bwMode="auto">
          <a:xfrm>
            <a:off x="7859271" y="5984571"/>
            <a:ext cx="152400" cy="249238"/>
          </a:xfrm>
          <a:prstGeom prst="triangle">
            <a:avLst>
              <a:gd name="adj" fmla="val 50000"/>
            </a:avLst>
          </a:prstGeom>
          <a:solidFill>
            <a:srgbClr val="366B7E"/>
          </a:solidFill>
          <a:ln w="22225" algn="ctr">
            <a:solidFill>
              <a:schemeClr val="bg1"/>
            </a:solidFill>
            <a:round/>
          </a:ln>
        </p:spPr>
        <p:txBody>
          <a:bodyPr lIns="0" tIns="0" rIns="0" bIns="0"/>
          <a:lstStyle/>
          <a:p>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6" name="Oval 18"/>
          <p:cNvSpPr>
            <a:spLocks noChangeArrowheads="1"/>
          </p:cNvSpPr>
          <p:nvPr>
            <p:custDataLst>
              <p:tags r:id="rId16"/>
            </p:custDataLst>
          </p:nvPr>
        </p:nvSpPr>
        <p:spPr bwMode="auto">
          <a:xfrm>
            <a:off x="4923985" y="6013597"/>
            <a:ext cx="142875"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58" name="AutoShape 63"/>
          <p:cNvSpPr>
            <a:spLocks noChangeArrowheads="1"/>
          </p:cNvSpPr>
          <p:nvPr>
            <p:custDataLst>
              <p:tags r:id="rId17"/>
            </p:custDataLst>
          </p:nvPr>
        </p:nvSpPr>
        <p:spPr bwMode="auto">
          <a:xfrm>
            <a:off x="601513" y="1275659"/>
            <a:ext cx="1368000" cy="4707634"/>
          </a:xfrm>
          <a:prstGeom prst="roundRect">
            <a:avLst>
              <a:gd name="adj" fmla="val 4247"/>
            </a:avLst>
          </a:prstGeom>
          <a:solidFill>
            <a:schemeClr val="accent6">
              <a:lumMod val="50000"/>
            </a:schemeClr>
          </a:solidFill>
          <a:ln w="9525">
            <a:noFill/>
            <a:round/>
          </a:ln>
        </p:spPr>
        <p:txBody>
          <a:bodyPr/>
          <a:lstStyle/>
          <a:p>
            <a:pPr algn="just">
              <a:defRPr/>
            </a:pPr>
            <a:endParaRPr lang="zh-CN" altLang="zh-CN" sz="1200" kern="0">
              <a:solidFill>
                <a:srgbClr val="FFFFFF"/>
              </a:solidFill>
              <a:latin typeface="微软雅黑" panose="020B0503020204020204" pitchFamily="34" charset="-122"/>
              <a:ea typeface="微软雅黑" panose="020B0503020204020204" pitchFamily="34" charset="-122"/>
            </a:endParaRPr>
          </a:p>
        </p:txBody>
      </p:sp>
      <p:sp>
        <p:nvSpPr>
          <p:cNvPr id="97" name="Text Box 21"/>
          <p:cNvSpPr txBox="1">
            <a:spLocks noChangeArrowheads="1"/>
          </p:cNvSpPr>
          <p:nvPr>
            <p:custDataLst>
              <p:tags r:id="rId18"/>
            </p:custDataLst>
          </p:nvPr>
        </p:nvSpPr>
        <p:spPr bwMode="auto">
          <a:xfrm>
            <a:off x="272486" y="6180938"/>
            <a:ext cx="556370"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Kick-off</a:t>
            </a:r>
            <a:endParaRPr kumimoji="1" lang="zh-CN" altLang="en-US" sz="1200" b="0" dirty="0">
              <a:latin typeface="微软雅黑" panose="020B0503020204020204" pitchFamily="34" charset="-122"/>
              <a:ea typeface="微软雅黑" panose="020B0503020204020204" pitchFamily="34" charset="-122"/>
            </a:endParaRPr>
          </a:p>
        </p:txBody>
      </p:sp>
      <p:sp>
        <p:nvSpPr>
          <p:cNvPr id="115" name="Rectangle 58"/>
          <p:cNvSpPr>
            <a:spLocks noChangeArrowheads="1"/>
          </p:cNvSpPr>
          <p:nvPr>
            <p:custDataLst>
              <p:tags r:id="rId19"/>
            </p:custDataLst>
          </p:nvPr>
        </p:nvSpPr>
        <p:spPr bwMode="auto">
          <a:xfrm>
            <a:off x="2049436" y="1834976"/>
            <a:ext cx="5762337" cy="274295"/>
          </a:xfrm>
          <a:prstGeom prst="rect">
            <a:avLst/>
          </a:prstGeom>
          <a:solidFill>
            <a:schemeClr val="tx1">
              <a:lumMod val="65000"/>
              <a:lumOff val="35000"/>
              <a:alpha val="87842"/>
            </a:schemeClr>
          </a:solidFill>
          <a:ln w="9525">
            <a:noFill/>
            <a:miter lim="800000"/>
          </a:ln>
        </p:spPr>
        <p:txBody>
          <a:bodyPr wrap="none" lIns="0" tIns="0" rIns="0" bIns="0" anchor="ctr"/>
          <a:lstStyle/>
          <a:p>
            <a:pPr algn="ctr"/>
            <a:r>
              <a:rPr kumimoji="1" lang="zh-CN" altLang="en-US" sz="1200" dirty="0">
                <a:solidFill>
                  <a:srgbClr val="FFFFFF"/>
                </a:solidFill>
                <a:ea typeface="微软雅黑" panose="020B0503020204020204" pitchFamily="34" charset="-122"/>
              </a:rPr>
              <a:t>完成训前指定自主学习任务</a:t>
            </a:r>
          </a:p>
        </p:txBody>
      </p:sp>
      <p:sp>
        <p:nvSpPr>
          <p:cNvPr id="123" name="Rectangle 58"/>
          <p:cNvSpPr>
            <a:spLocks noChangeArrowheads="1"/>
          </p:cNvSpPr>
          <p:nvPr/>
        </p:nvSpPr>
        <p:spPr bwMode="auto">
          <a:xfrm>
            <a:off x="2028150" y="5459644"/>
            <a:ext cx="5796000" cy="478895"/>
          </a:xfrm>
          <a:prstGeom prst="rect">
            <a:avLst/>
          </a:prstGeom>
          <a:solidFill>
            <a:schemeClr val="accent1">
              <a:lumMod val="75000"/>
              <a:alpha val="87842"/>
            </a:schemeClr>
          </a:solidFill>
          <a:ln w="9525">
            <a:noFill/>
            <a:miter lim="800000"/>
          </a:ln>
        </p:spPr>
        <p:txBody>
          <a:bodyPr wrap="none" lIns="0" tIns="0" rIns="0" bIns="0" anchor="ctr"/>
          <a:lstStyle/>
          <a:p>
            <a:pPr algn="ctr"/>
            <a:r>
              <a:rPr kumimoji="1" lang="zh-CN" altLang="en-US" sz="1200" dirty="0">
                <a:ea typeface="微软雅黑" panose="020B0503020204020204" pitchFamily="34" charset="-122"/>
              </a:rPr>
              <a:t>完成面授课程中安排的在岗实践任务（含在岗辅导内容，匹配相应工具表格）</a:t>
            </a:r>
          </a:p>
        </p:txBody>
      </p:sp>
      <p:grpSp>
        <p:nvGrpSpPr>
          <p:cNvPr id="41" name="组合 40"/>
          <p:cNvGrpSpPr/>
          <p:nvPr>
            <p:custDataLst>
              <p:tags r:id="rId20"/>
            </p:custDataLst>
          </p:nvPr>
        </p:nvGrpSpPr>
        <p:grpSpPr>
          <a:xfrm>
            <a:off x="691357" y="1372725"/>
            <a:ext cx="1214437" cy="4165940"/>
            <a:chOff x="691357" y="1847594"/>
            <a:chExt cx="1214437" cy="4165940"/>
          </a:xfrm>
        </p:grpSpPr>
        <p:grpSp>
          <p:nvGrpSpPr>
            <p:cNvPr id="59" name="组合 1"/>
            <p:cNvGrpSpPr/>
            <p:nvPr>
              <p:custDataLst>
                <p:tags r:id="rId52"/>
              </p:custDataLst>
            </p:nvPr>
          </p:nvGrpSpPr>
          <p:grpSpPr bwMode="auto">
            <a:xfrm>
              <a:off x="691357" y="1847594"/>
              <a:ext cx="1214437" cy="792000"/>
              <a:chOff x="-1480519" y="1985527"/>
              <a:chExt cx="1215681" cy="803508"/>
            </a:xfrm>
          </p:grpSpPr>
          <p:sp>
            <p:nvSpPr>
              <p:cNvPr id="60"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61"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管理者访谈</a:t>
                </a:r>
              </a:p>
            </p:txBody>
          </p:sp>
          <p:sp>
            <p:nvSpPr>
              <p:cNvPr id="62"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学员调研</a:t>
                </a:r>
              </a:p>
            </p:txBody>
          </p:sp>
          <p:sp>
            <p:nvSpPr>
              <p:cNvPr id="63"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项目调研</a:t>
                </a:r>
              </a:p>
            </p:txBody>
          </p:sp>
        </p:grpSp>
        <p:grpSp>
          <p:nvGrpSpPr>
            <p:cNvPr id="64" name="组合 113"/>
            <p:cNvGrpSpPr/>
            <p:nvPr>
              <p:custDataLst>
                <p:tags r:id="rId53"/>
              </p:custDataLst>
            </p:nvPr>
          </p:nvGrpSpPr>
          <p:grpSpPr bwMode="auto">
            <a:xfrm>
              <a:off x="691357" y="2763641"/>
              <a:ext cx="1214437" cy="1104900"/>
              <a:chOff x="-1663032" y="3047203"/>
              <a:chExt cx="1215681" cy="1120955"/>
            </a:xfrm>
          </p:grpSpPr>
          <p:sp>
            <p:nvSpPr>
              <p:cNvPr id="65" name="AutoShape 52"/>
              <p:cNvSpPr>
                <a:spLocks noChangeArrowheads="1"/>
              </p:cNvSpPr>
              <p:nvPr/>
            </p:nvSpPr>
            <p:spPr bwMode="auto">
              <a:xfrm>
                <a:off x="-1663032" y="3047203"/>
                <a:ext cx="1215681" cy="1120955"/>
              </a:xfrm>
              <a:prstGeom prst="roundRect">
                <a:avLst>
                  <a:gd name="adj" fmla="val 8067"/>
                </a:avLst>
              </a:prstGeom>
              <a:solidFill>
                <a:srgbClr val="FFCC00"/>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66" name="TextBox 52"/>
              <p:cNvSpPr txBox="1">
                <a:spLocks noChangeArrowheads="1"/>
              </p:cNvSpPr>
              <p:nvPr/>
            </p:nvSpPr>
            <p:spPr bwMode="auto">
              <a:xfrm>
                <a:off x="-1632839" y="3223378"/>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资源建设</a:t>
                </a:r>
              </a:p>
            </p:txBody>
          </p:sp>
          <p:grpSp>
            <p:nvGrpSpPr>
              <p:cNvPr id="67" name="组合 112"/>
              <p:cNvGrpSpPr/>
              <p:nvPr/>
            </p:nvGrpSpPr>
            <p:grpSpPr bwMode="auto">
              <a:xfrm>
                <a:off x="-1367454" y="3126120"/>
                <a:ext cx="848593" cy="963120"/>
                <a:chOff x="-1367454" y="3137903"/>
                <a:chExt cx="848593" cy="963120"/>
              </a:xfrm>
            </p:grpSpPr>
            <p:sp>
              <p:nvSpPr>
                <p:cNvPr id="68" name="AutoShape 64"/>
                <p:cNvSpPr>
                  <a:spLocks noChangeArrowheads="1"/>
                </p:cNvSpPr>
                <p:nvPr/>
              </p:nvSpPr>
              <p:spPr bwMode="auto">
                <a:xfrm>
                  <a:off x="-1367454" y="3137903"/>
                  <a:ext cx="848593" cy="26896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课程开发</a:t>
                  </a:r>
                </a:p>
              </p:txBody>
            </p:sp>
            <p:sp>
              <p:nvSpPr>
                <p:cNvPr id="69" name="AutoShape 98"/>
                <p:cNvSpPr>
                  <a:spLocks noChangeArrowheads="1"/>
                </p:cNvSpPr>
                <p:nvPr/>
              </p:nvSpPr>
              <p:spPr bwMode="auto">
                <a:xfrm>
                  <a:off x="-1367454" y="3482565"/>
                  <a:ext cx="848593" cy="272186"/>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讲师培养</a:t>
                  </a:r>
                </a:p>
              </p:txBody>
            </p:sp>
            <p:sp>
              <p:nvSpPr>
                <p:cNvPr id="70" name="AutoShape 98"/>
                <p:cNvSpPr>
                  <a:spLocks noChangeArrowheads="1"/>
                </p:cNvSpPr>
                <p:nvPr/>
              </p:nvSpPr>
              <p:spPr bwMode="auto">
                <a:xfrm>
                  <a:off x="-1367454" y="3830448"/>
                  <a:ext cx="848593" cy="27057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讲师认证</a:t>
                  </a:r>
                </a:p>
              </p:txBody>
            </p:sp>
          </p:grpSp>
        </p:grpSp>
        <p:grpSp>
          <p:nvGrpSpPr>
            <p:cNvPr id="76" name="组合 119"/>
            <p:cNvGrpSpPr/>
            <p:nvPr>
              <p:custDataLst>
                <p:tags r:id="rId54"/>
              </p:custDataLst>
            </p:nvPr>
          </p:nvGrpSpPr>
          <p:grpSpPr bwMode="auto">
            <a:xfrm>
              <a:off x="691357" y="4908634"/>
              <a:ext cx="1214437" cy="1104900"/>
              <a:chOff x="-1663032" y="3047876"/>
              <a:chExt cx="1215681" cy="1120955"/>
            </a:xfrm>
          </p:grpSpPr>
          <p:sp>
            <p:nvSpPr>
              <p:cNvPr id="77" name="AutoShape 52"/>
              <p:cNvSpPr>
                <a:spLocks noChangeArrowheads="1"/>
              </p:cNvSpPr>
              <p:nvPr/>
            </p:nvSpPr>
            <p:spPr bwMode="auto">
              <a:xfrm>
                <a:off x="-1663032" y="3047876"/>
                <a:ext cx="1215681" cy="1120955"/>
              </a:xfrm>
              <a:prstGeom prst="roundRect">
                <a:avLst>
                  <a:gd name="adj" fmla="val 8067"/>
                </a:avLst>
              </a:prstGeom>
              <a:solidFill>
                <a:srgbClr val="FFFFFF"/>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78" name="TextBox 52"/>
              <p:cNvSpPr txBox="1">
                <a:spLocks noChangeArrowheads="1"/>
              </p:cNvSpPr>
              <p:nvPr/>
            </p:nvSpPr>
            <p:spPr bwMode="auto">
              <a:xfrm>
                <a:off x="-1632839" y="3140228"/>
                <a:ext cx="247904" cy="952359"/>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项目启动会</a:t>
                </a:r>
              </a:p>
            </p:txBody>
          </p:sp>
          <p:grpSp>
            <p:nvGrpSpPr>
              <p:cNvPr id="79" name="组合 122"/>
              <p:cNvGrpSpPr/>
              <p:nvPr/>
            </p:nvGrpSpPr>
            <p:grpSpPr bwMode="auto">
              <a:xfrm>
                <a:off x="-1367454" y="3146121"/>
                <a:ext cx="848593" cy="943792"/>
                <a:chOff x="-1367454" y="3157904"/>
                <a:chExt cx="848593" cy="943792"/>
              </a:xfrm>
            </p:grpSpPr>
            <p:sp>
              <p:nvSpPr>
                <p:cNvPr id="80" name="AutoShape 64"/>
                <p:cNvSpPr>
                  <a:spLocks noChangeArrowheads="1"/>
                </p:cNvSpPr>
                <p:nvPr/>
              </p:nvSpPr>
              <p:spPr bwMode="auto">
                <a:xfrm>
                  <a:off x="-1367454" y="3157904"/>
                  <a:ext cx="848593" cy="27379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启动仪式</a:t>
                  </a:r>
                </a:p>
              </p:txBody>
            </p:sp>
            <p:sp>
              <p:nvSpPr>
                <p:cNvPr id="81" name="AutoShape 98"/>
                <p:cNvSpPr>
                  <a:spLocks noChangeArrowheads="1"/>
                </p:cNvSpPr>
                <p:nvPr/>
              </p:nvSpPr>
              <p:spPr bwMode="auto">
                <a:xfrm>
                  <a:off x="-1367454" y="3507397"/>
                  <a:ext cx="848593" cy="24802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在线学习要求</a:t>
                  </a:r>
                </a:p>
              </p:txBody>
            </p:sp>
            <p:sp>
              <p:nvSpPr>
                <p:cNvPr id="82" name="AutoShape 98"/>
                <p:cNvSpPr>
                  <a:spLocks noChangeArrowheads="1"/>
                </p:cNvSpPr>
                <p:nvPr/>
              </p:nvSpPr>
              <p:spPr bwMode="auto">
                <a:xfrm>
                  <a:off x="-1367454" y="3831121"/>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项目介绍</a:t>
                  </a:r>
                </a:p>
              </p:txBody>
            </p:sp>
          </p:grpSp>
        </p:grpSp>
        <p:grpSp>
          <p:nvGrpSpPr>
            <p:cNvPr id="141" name="组合 1"/>
            <p:cNvGrpSpPr/>
            <p:nvPr>
              <p:custDataLst>
                <p:tags r:id="rId55"/>
              </p:custDataLst>
            </p:nvPr>
          </p:nvGrpSpPr>
          <p:grpSpPr bwMode="auto">
            <a:xfrm>
              <a:off x="691357" y="3992588"/>
              <a:ext cx="1214437" cy="792000"/>
              <a:chOff x="-1480519" y="1985527"/>
              <a:chExt cx="1215681" cy="803508"/>
            </a:xfrm>
          </p:grpSpPr>
          <p:sp>
            <p:nvSpPr>
              <p:cNvPr id="142"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43"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能力评估</a:t>
                </a:r>
              </a:p>
            </p:txBody>
          </p:sp>
          <p:sp>
            <p:nvSpPr>
              <p:cNvPr id="144"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需求分析</a:t>
                </a:r>
              </a:p>
            </p:txBody>
          </p:sp>
          <p:sp>
            <p:nvSpPr>
              <p:cNvPr id="145"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前期测评</a:t>
                </a:r>
              </a:p>
            </p:txBody>
          </p:sp>
        </p:grpSp>
      </p:grpSp>
      <p:grpSp>
        <p:nvGrpSpPr>
          <p:cNvPr id="146" name="组合 145"/>
          <p:cNvGrpSpPr/>
          <p:nvPr>
            <p:custDataLst>
              <p:tags r:id="rId21"/>
            </p:custDataLst>
          </p:nvPr>
        </p:nvGrpSpPr>
        <p:grpSpPr>
          <a:xfrm>
            <a:off x="8026503" y="1372725"/>
            <a:ext cx="1214437" cy="4165940"/>
            <a:chOff x="691357" y="1847594"/>
            <a:chExt cx="1214437" cy="4165940"/>
          </a:xfrm>
        </p:grpSpPr>
        <p:grpSp>
          <p:nvGrpSpPr>
            <p:cNvPr id="147" name="组合 1"/>
            <p:cNvGrpSpPr/>
            <p:nvPr>
              <p:custDataLst>
                <p:tags r:id="rId48"/>
              </p:custDataLst>
            </p:nvPr>
          </p:nvGrpSpPr>
          <p:grpSpPr bwMode="auto">
            <a:xfrm>
              <a:off x="691357" y="1847594"/>
              <a:ext cx="1214437" cy="792000"/>
              <a:chOff x="-1480519" y="1985527"/>
              <a:chExt cx="1215681" cy="803508"/>
            </a:xfrm>
          </p:grpSpPr>
          <p:sp>
            <p:nvSpPr>
              <p:cNvPr id="167"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68"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项目总结</a:t>
                </a:r>
              </a:p>
            </p:txBody>
          </p:sp>
          <p:sp>
            <p:nvSpPr>
              <p:cNvPr id="169"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tIns="0" bIns="0"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行动学习</a:t>
                </a:r>
                <a:endParaRPr lang="en-US" altLang="zh-CN" sz="1000" kern="0" dirty="0">
                  <a:solidFill>
                    <a:sysClr val="windowText" lastClr="000000"/>
                  </a:solidFill>
                  <a:latin typeface="微软雅黑" panose="020B0503020204020204" pitchFamily="34" charset="-122"/>
                  <a:ea typeface="微软雅黑" panose="020B0503020204020204" pitchFamily="34" charset="-122"/>
                </a:endParaRPr>
              </a:p>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成果汇报</a:t>
                </a:r>
              </a:p>
            </p:txBody>
          </p:sp>
          <p:sp>
            <p:nvSpPr>
              <p:cNvPr id="170" name="TextBox 52"/>
              <p:cNvSpPr txBox="1">
                <a:spLocks noChangeArrowheads="1"/>
              </p:cNvSpPr>
              <p:nvPr/>
            </p:nvSpPr>
            <p:spPr bwMode="auto">
              <a:xfrm>
                <a:off x="-1463402" y="1987873"/>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项目汇报</a:t>
                </a:r>
              </a:p>
            </p:txBody>
          </p:sp>
        </p:grpSp>
        <p:grpSp>
          <p:nvGrpSpPr>
            <p:cNvPr id="148" name="组合 113"/>
            <p:cNvGrpSpPr/>
            <p:nvPr>
              <p:custDataLst>
                <p:tags r:id="rId49"/>
              </p:custDataLst>
            </p:nvPr>
          </p:nvGrpSpPr>
          <p:grpSpPr bwMode="auto">
            <a:xfrm>
              <a:off x="691357" y="2763641"/>
              <a:ext cx="1214437" cy="1104900"/>
              <a:chOff x="-1663032" y="3047203"/>
              <a:chExt cx="1215681" cy="1120955"/>
            </a:xfrm>
          </p:grpSpPr>
          <p:sp>
            <p:nvSpPr>
              <p:cNvPr id="161" name="AutoShape 52"/>
              <p:cNvSpPr>
                <a:spLocks noChangeArrowheads="1"/>
              </p:cNvSpPr>
              <p:nvPr/>
            </p:nvSpPr>
            <p:spPr bwMode="auto">
              <a:xfrm>
                <a:off x="-1663032" y="3047203"/>
                <a:ext cx="1215681" cy="1120955"/>
              </a:xfrm>
              <a:prstGeom prst="roundRect">
                <a:avLst>
                  <a:gd name="adj" fmla="val 8067"/>
                </a:avLst>
              </a:prstGeom>
              <a:solidFill>
                <a:srgbClr val="FFCC00"/>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162" name="TextBox 52"/>
              <p:cNvSpPr txBox="1">
                <a:spLocks noChangeArrowheads="1"/>
              </p:cNvSpPr>
              <p:nvPr/>
            </p:nvSpPr>
            <p:spPr bwMode="auto">
              <a:xfrm>
                <a:off x="-1632839" y="3223378"/>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资源完善</a:t>
                </a:r>
              </a:p>
            </p:txBody>
          </p:sp>
          <p:grpSp>
            <p:nvGrpSpPr>
              <p:cNvPr id="163" name="组合 112"/>
              <p:cNvGrpSpPr/>
              <p:nvPr/>
            </p:nvGrpSpPr>
            <p:grpSpPr bwMode="auto">
              <a:xfrm>
                <a:off x="-1367454" y="3126120"/>
                <a:ext cx="848593" cy="963120"/>
                <a:chOff x="-1367454" y="3137903"/>
                <a:chExt cx="848593" cy="963120"/>
              </a:xfrm>
            </p:grpSpPr>
            <p:sp>
              <p:nvSpPr>
                <p:cNvPr id="164" name="AutoShape 64"/>
                <p:cNvSpPr>
                  <a:spLocks noChangeArrowheads="1"/>
                </p:cNvSpPr>
                <p:nvPr/>
              </p:nvSpPr>
              <p:spPr bwMode="auto">
                <a:xfrm>
                  <a:off x="-1367454" y="3137903"/>
                  <a:ext cx="848593" cy="26896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内容优化</a:t>
                  </a:r>
                </a:p>
              </p:txBody>
            </p:sp>
            <p:sp>
              <p:nvSpPr>
                <p:cNvPr id="165" name="AutoShape 98"/>
                <p:cNvSpPr>
                  <a:spLocks noChangeArrowheads="1"/>
                </p:cNvSpPr>
                <p:nvPr/>
              </p:nvSpPr>
              <p:spPr bwMode="auto">
                <a:xfrm>
                  <a:off x="-1367454" y="3482565"/>
                  <a:ext cx="848593" cy="272186"/>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讲师答疑</a:t>
                  </a:r>
                </a:p>
              </p:txBody>
            </p:sp>
            <p:sp>
              <p:nvSpPr>
                <p:cNvPr id="166" name="AutoShape 98"/>
                <p:cNvSpPr>
                  <a:spLocks noChangeArrowheads="1"/>
                </p:cNvSpPr>
                <p:nvPr/>
              </p:nvSpPr>
              <p:spPr bwMode="auto">
                <a:xfrm>
                  <a:off x="-1367454" y="3830448"/>
                  <a:ext cx="848593" cy="27057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教辅优化</a:t>
                  </a:r>
                </a:p>
              </p:txBody>
            </p:sp>
          </p:grpSp>
        </p:grpSp>
        <p:grpSp>
          <p:nvGrpSpPr>
            <p:cNvPr id="149" name="组合 119"/>
            <p:cNvGrpSpPr/>
            <p:nvPr>
              <p:custDataLst>
                <p:tags r:id="rId50"/>
              </p:custDataLst>
            </p:nvPr>
          </p:nvGrpSpPr>
          <p:grpSpPr bwMode="auto">
            <a:xfrm>
              <a:off x="691357" y="4908634"/>
              <a:ext cx="1214437" cy="1104900"/>
              <a:chOff x="-1663032" y="3047876"/>
              <a:chExt cx="1215681" cy="1120955"/>
            </a:xfrm>
          </p:grpSpPr>
          <p:sp>
            <p:nvSpPr>
              <p:cNvPr id="155" name="AutoShape 52"/>
              <p:cNvSpPr>
                <a:spLocks noChangeArrowheads="1"/>
              </p:cNvSpPr>
              <p:nvPr/>
            </p:nvSpPr>
            <p:spPr bwMode="auto">
              <a:xfrm>
                <a:off x="-1663032" y="3047876"/>
                <a:ext cx="1215681" cy="1120955"/>
              </a:xfrm>
              <a:prstGeom prst="roundRect">
                <a:avLst>
                  <a:gd name="adj" fmla="val 8067"/>
                </a:avLst>
              </a:prstGeom>
              <a:solidFill>
                <a:srgbClr val="FFFFFF"/>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156" name="TextBox 52"/>
              <p:cNvSpPr txBox="1">
                <a:spLocks noChangeArrowheads="1"/>
              </p:cNvSpPr>
              <p:nvPr/>
            </p:nvSpPr>
            <p:spPr bwMode="auto">
              <a:xfrm>
                <a:off x="-1632839" y="3226096"/>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学员评奖</a:t>
                </a:r>
              </a:p>
            </p:txBody>
          </p:sp>
          <p:grpSp>
            <p:nvGrpSpPr>
              <p:cNvPr id="157" name="组合 122"/>
              <p:cNvGrpSpPr/>
              <p:nvPr/>
            </p:nvGrpSpPr>
            <p:grpSpPr bwMode="auto">
              <a:xfrm>
                <a:off x="-1367454" y="3146121"/>
                <a:ext cx="848593" cy="943792"/>
                <a:chOff x="-1367454" y="3157904"/>
                <a:chExt cx="848593" cy="943792"/>
              </a:xfrm>
            </p:grpSpPr>
            <p:sp>
              <p:nvSpPr>
                <p:cNvPr id="158" name="AutoShape 64"/>
                <p:cNvSpPr>
                  <a:spLocks noChangeArrowheads="1"/>
                </p:cNvSpPr>
                <p:nvPr/>
              </p:nvSpPr>
              <p:spPr bwMode="auto">
                <a:xfrm>
                  <a:off x="-1367454" y="3157904"/>
                  <a:ext cx="848593" cy="27379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在线成绩</a:t>
                  </a:r>
                </a:p>
              </p:txBody>
            </p:sp>
            <p:sp>
              <p:nvSpPr>
                <p:cNvPr id="159" name="AutoShape 98"/>
                <p:cNvSpPr>
                  <a:spLocks noChangeArrowheads="1"/>
                </p:cNvSpPr>
                <p:nvPr/>
              </p:nvSpPr>
              <p:spPr bwMode="auto">
                <a:xfrm>
                  <a:off x="-1367454" y="3507397"/>
                  <a:ext cx="848593" cy="24802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个人课后任务</a:t>
                  </a:r>
                </a:p>
              </p:txBody>
            </p:sp>
            <p:sp>
              <p:nvSpPr>
                <p:cNvPr id="160" name="AutoShape 98"/>
                <p:cNvSpPr>
                  <a:spLocks noChangeArrowheads="1"/>
                </p:cNvSpPr>
                <p:nvPr/>
              </p:nvSpPr>
              <p:spPr bwMode="auto">
                <a:xfrm>
                  <a:off x="-1367454" y="3831121"/>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优秀学员</a:t>
                  </a:r>
                </a:p>
              </p:txBody>
            </p:sp>
          </p:grpSp>
        </p:grpSp>
        <p:grpSp>
          <p:nvGrpSpPr>
            <p:cNvPr id="150" name="组合 1"/>
            <p:cNvGrpSpPr/>
            <p:nvPr>
              <p:custDataLst>
                <p:tags r:id="rId51"/>
              </p:custDataLst>
            </p:nvPr>
          </p:nvGrpSpPr>
          <p:grpSpPr bwMode="auto">
            <a:xfrm>
              <a:off x="691357" y="3992588"/>
              <a:ext cx="1214437" cy="792000"/>
              <a:chOff x="-1480519" y="1985527"/>
              <a:chExt cx="1215681" cy="803508"/>
            </a:xfrm>
          </p:grpSpPr>
          <p:sp>
            <p:nvSpPr>
              <p:cNvPr id="151"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52"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报告解读</a:t>
                </a:r>
              </a:p>
            </p:txBody>
          </p:sp>
          <p:sp>
            <p:nvSpPr>
              <p:cNvPr id="153"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效果评估</a:t>
                </a:r>
              </a:p>
            </p:txBody>
          </p:sp>
          <p:sp>
            <p:nvSpPr>
              <p:cNvPr id="154"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训后测评</a:t>
                </a:r>
              </a:p>
            </p:txBody>
          </p:sp>
        </p:grpSp>
      </p:grpSp>
      <p:sp>
        <p:nvSpPr>
          <p:cNvPr id="45" name="下箭头 44"/>
          <p:cNvSpPr/>
          <p:nvPr>
            <p:custDataLst>
              <p:tags r:id="rId22"/>
            </p:custDataLst>
          </p:nvPr>
        </p:nvSpPr>
        <p:spPr bwMode="auto">
          <a:xfrm>
            <a:off x="8637641" y="5093438"/>
            <a:ext cx="216000" cy="180000"/>
          </a:xfrm>
          <a:prstGeom prst="downArrow">
            <a:avLst/>
          </a:prstGeom>
          <a:solidFill>
            <a:srgbClr val="FFC000"/>
          </a:solidFill>
          <a:ln w="9525"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dirty="0"/>
          </a:p>
        </p:txBody>
      </p:sp>
      <p:grpSp>
        <p:nvGrpSpPr>
          <p:cNvPr id="22" name="组合 21"/>
          <p:cNvGrpSpPr/>
          <p:nvPr/>
        </p:nvGrpSpPr>
        <p:grpSpPr>
          <a:xfrm>
            <a:off x="550671" y="6528135"/>
            <a:ext cx="2284673" cy="216000"/>
            <a:chOff x="203175" y="312638"/>
            <a:chExt cx="2284673" cy="216000"/>
          </a:xfrm>
        </p:grpSpPr>
        <p:sp>
          <p:nvSpPr>
            <p:cNvPr id="173" name="AutoShape 64"/>
            <p:cNvSpPr>
              <a:spLocks noChangeArrowheads="1"/>
            </p:cNvSpPr>
            <p:nvPr>
              <p:custDataLst>
                <p:tags r:id="rId45"/>
              </p:custDataLst>
            </p:nvPr>
          </p:nvSpPr>
          <p:spPr bwMode="auto">
            <a:xfrm>
              <a:off x="203175" y="312638"/>
              <a:ext cx="720000" cy="216000"/>
            </a:xfrm>
            <a:prstGeom prst="roundRect">
              <a:avLst>
                <a:gd name="adj" fmla="val 16667"/>
              </a:avLst>
            </a:prstGeom>
            <a:solidFill>
              <a:srgbClr val="002060"/>
            </a:solidFill>
            <a:ln w="9525">
              <a:noFill/>
              <a:round/>
            </a:ln>
          </p:spPr>
          <p:txBody>
            <a:bodyPr wrap="none" anchor="ctr" anchorCtr="1"/>
            <a:lstStyle/>
            <a:p>
              <a:pPr algn="ctr"/>
              <a:r>
                <a:rPr kumimoji="1" lang="zh-CN" altLang="en-US" sz="1000">
                  <a:solidFill>
                    <a:srgbClr val="FFFFFF"/>
                  </a:solidFill>
                  <a:latin typeface="微软雅黑" panose="020B0503020204020204" pitchFamily="34" charset="-122"/>
                  <a:ea typeface="微软雅黑" panose="020B0503020204020204" pitchFamily="34" charset="-122"/>
                </a:rPr>
                <a:t>面授学习</a:t>
              </a:r>
            </a:p>
          </p:txBody>
        </p:sp>
        <p:sp>
          <p:nvSpPr>
            <p:cNvPr id="175" name="AutoShape 64"/>
            <p:cNvSpPr>
              <a:spLocks noChangeArrowheads="1"/>
            </p:cNvSpPr>
            <p:nvPr>
              <p:custDataLst>
                <p:tags r:id="rId46"/>
              </p:custDataLst>
            </p:nvPr>
          </p:nvSpPr>
          <p:spPr bwMode="auto">
            <a:xfrm>
              <a:off x="972522" y="312638"/>
              <a:ext cx="720000" cy="216000"/>
            </a:xfrm>
            <a:prstGeom prst="roundRect">
              <a:avLst>
                <a:gd name="adj" fmla="val 16667"/>
              </a:avLst>
            </a:prstGeom>
            <a:solidFill>
              <a:schemeClr val="tx1">
                <a:lumMod val="50000"/>
                <a:lumOff val="50000"/>
              </a:schemeClr>
            </a:solidFill>
            <a:ln w="9525">
              <a:noFill/>
              <a:round/>
            </a:ln>
          </p:spPr>
          <p:txBody>
            <a:bodyPr wrap="none" anchor="ctr" anchorCtr="1"/>
            <a:lstStyle/>
            <a:p>
              <a:pPr algn="ctr"/>
              <a:r>
                <a:rPr kumimoji="1" lang="zh-CN" altLang="en-US" sz="1000" dirty="0">
                  <a:solidFill>
                    <a:srgbClr val="FFFFFF"/>
                  </a:solidFill>
                  <a:latin typeface="微软雅黑" panose="020B0503020204020204" pitchFamily="34" charset="-122"/>
                  <a:ea typeface="微软雅黑" panose="020B0503020204020204" pitchFamily="34" charset="-122"/>
                </a:rPr>
                <a:t>自主学习</a:t>
              </a:r>
            </a:p>
          </p:txBody>
        </p:sp>
        <p:sp>
          <p:nvSpPr>
            <p:cNvPr id="177" name="AutoShape 64"/>
            <p:cNvSpPr>
              <a:spLocks noChangeArrowheads="1"/>
            </p:cNvSpPr>
            <p:nvPr>
              <p:custDataLst>
                <p:tags r:id="rId47"/>
              </p:custDataLst>
            </p:nvPr>
          </p:nvSpPr>
          <p:spPr bwMode="auto">
            <a:xfrm>
              <a:off x="1767848" y="312638"/>
              <a:ext cx="720000" cy="216000"/>
            </a:xfrm>
            <a:prstGeom prst="roundRect">
              <a:avLst>
                <a:gd name="adj" fmla="val 16667"/>
              </a:avLst>
            </a:prstGeom>
            <a:solidFill>
              <a:schemeClr val="bg1">
                <a:lumMod val="75000"/>
              </a:schemeClr>
            </a:solidFill>
            <a:ln w="9525">
              <a:noFill/>
              <a:round/>
            </a:ln>
          </p:spPr>
          <p:txBody>
            <a:bodyPr wrap="none" anchor="ctr" anchorCtr="1"/>
            <a:lstStyle/>
            <a:p>
              <a:pPr algn="ctr"/>
              <a:r>
                <a:rPr kumimoji="1" lang="zh-CN" altLang="en-US" sz="1000" dirty="0">
                  <a:solidFill>
                    <a:srgbClr val="FFFFFF"/>
                  </a:solidFill>
                  <a:latin typeface="微软雅黑" panose="020B0503020204020204" pitchFamily="34" charset="-122"/>
                  <a:ea typeface="微软雅黑" panose="020B0503020204020204" pitchFamily="34" charset="-122"/>
                </a:rPr>
                <a:t>在岗实践</a:t>
              </a:r>
            </a:p>
          </p:txBody>
        </p:sp>
      </p:grpSp>
      <p:graphicFrame>
        <p:nvGraphicFramePr>
          <p:cNvPr id="21" name="表格 20"/>
          <p:cNvGraphicFramePr>
            <a:graphicFrameLocks noGrp="1"/>
          </p:cNvGraphicFramePr>
          <p:nvPr>
            <p:custDataLst>
              <p:tags r:id="rId23"/>
            </p:custDataLst>
          </p:nvPr>
        </p:nvGraphicFramePr>
        <p:xfrm>
          <a:off x="2066535" y="3699396"/>
          <a:ext cx="5745246" cy="1635174"/>
        </p:xfrm>
        <a:graphic>
          <a:graphicData uri="http://schemas.openxmlformats.org/drawingml/2006/table">
            <a:tbl>
              <a:tblPr firstRow="1" bandRow="1">
                <a:tableStyleId>{5C22544A-7EE6-4342-B048-85BDC9FD1C3A}</a:tableStyleId>
              </a:tblPr>
              <a:tblGrid>
                <a:gridCol w="957541">
                  <a:extLst>
                    <a:ext uri="{9D8B030D-6E8A-4147-A177-3AD203B41FA5}">
                      <a16:colId xmlns:a16="http://schemas.microsoft.com/office/drawing/2014/main" val="20000"/>
                    </a:ext>
                  </a:extLst>
                </a:gridCol>
                <a:gridCol w="957541">
                  <a:extLst>
                    <a:ext uri="{9D8B030D-6E8A-4147-A177-3AD203B41FA5}">
                      <a16:colId xmlns:a16="http://schemas.microsoft.com/office/drawing/2014/main" val="20001"/>
                    </a:ext>
                  </a:extLst>
                </a:gridCol>
                <a:gridCol w="957541">
                  <a:extLst>
                    <a:ext uri="{9D8B030D-6E8A-4147-A177-3AD203B41FA5}">
                      <a16:colId xmlns:a16="http://schemas.microsoft.com/office/drawing/2014/main" val="20002"/>
                    </a:ext>
                  </a:extLst>
                </a:gridCol>
                <a:gridCol w="957541">
                  <a:extLst>
                    <a:ext uri="{9D8B030D-6E8A-4147-A177-3AD203B41FA5}">
                      <a16:colId xmlns:a16="http://schemas.microsoft.com/office/drawing/2014/main" val="20003"/>
                    </a:ext>
                  </a:extLst>
                </a:gridCol>
                <a:gridCol w="957541">
                  <a:extLst>
                    <a:ext uri="{9D8B030D-6E8A-4147-A177-3AD203B41FA5}">
                      <a16:colId xmlns:a16="http://schemas.microsoft.com/office/drawing/2014/main" val="20004"/>
                    </a:ext>
                  </a:extLst>
                </a:gridCol>
                <a:gridCol w="957541">
                  <a:extLst>
                    <a:ext uri="{9D8B030D-6E8A-4147-A177-3AD203B41FA5}">
                      <a16:colId xmlns:a16="http://schemas.microsoft.com/office/drawing/2014/main" val="20005"/>
                    </a:ext>
                  </a:extLst>
                </a:gridCol>
              </a:tblGrid>
              <a:tr h="81758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cs typeface="+mn-cs"/>
                        </a:rPr>
                        <a:t>《</a:t>
                      </a:r>
                      <a:r>
                        <a:rPr lang="zh-CN" altLang="en-US" sz="1050" b="0" kern="0" dirty="0">
                          <a:solidFill>
                            <a:schemeClr val="bg1"/>
                          </a:solidFill>
                          <a:latin typeface="微软雅黑" panose="020B0503020204020204" pitchFamily="34" charset="-122"/>
                          <a:ea typeface="微软雅黑" panose="020B0503020204020204" pitchFamily="34" charset="-122"/>
                          <a:cs typeface="+mn-cs"/>
                        </a:rPr>
                        <a:t>建行客户经营之道</a:t>
                      </a:r>
                      <a:r>
                        <a:rPr lang="en-US" altLang="zh-CN" sz="1050" b="0" kern="0" dirty="0">
                          <a:solidFill>
                            <a:schemeClr val="bg1"/>
                          </a:solidFill>
                          <a:latin typeface="微软雅黑" panose="020B0503020204020204" pitchFamily="34" charset="-122"/>
                          <a:ea typeface="微软雅黑" panose="020B0503020204020204" pitchFamily="34" charset="-122"/>
                          <a:cs typeface="+mn-cs"/>
                        </a:rPr>
                        <a:t>》</a:t>
                      </a:r>
                    </a:p>
                  </a:txBody>
                  <a:tcPr anchor="c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社群运营基础与工具应用</a:t>
                      </a: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endParaRPr kumimoji="0" lang="en-US" altLang="zh-CN" sz="1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kumimoji="0" lang="zh-CN" altLang="en-US"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客户异议处理与销售促成</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全周期客户</a:t>
                      </a:r>
                      <a:r>
                        <a:rPr lang="en-GB" altLang="zh-CN" sz="1050" b="0" kern="0" dirty="0">
                          <a:solidFill>
                            <a:schemeClr val="bg1"/>
                          </a:solidFill>
                          <a:latin typeface="微软雅黑" panose="020B0503020204020204" pitchFamily="34" charset="-122"/>
                          <a:ea typeface="微软雅黑" panose="020B0503020204020204" pitchFamily="34" charset="-122"/>
                        </a:rPr>
                        <a:t>AUM</a:t>
                      </a:r>
                      <a:r>
                        <a:rPr lang="zh-CN" altLang="en-US" sz="1050" b="0" kern="0" dirty="0">
                          <a:solidFill>
                            <a:schemeClr val="bg1"/>
                          </a:solidFill>
                          <a:latin typeface="微软雅黑" panose="020B0503020204020204" pitchFamily="34" charset="-122"/>
                          <a:ea typeface="微软雅黑" panose="020B0503020204020204" pitchFamily="34" charset="-122"/>
                        </a:rPr>
                        <a:t>管理与营销方法</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中收业务产品营销技巧</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资产配置与理财规划</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extLst>
                  <a:ext uri="{0D108BD9-81ED-4DB2-BD59-A6C34878D82A}">
                    <a16:rowId xmlns:a16="http://schemas.microsoft.com/office/drawing/2014/main" val="10000"/>
                  </a:ext>
                </a:extLst>
              </a:tr>
              <a:tr h="81758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kumimoji="0" lang="zh-CN" altLang="en-US"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客户</a:t>
                      </a: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KYC</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管户客户盘点与维护计划</a:t>
                      </a: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endParaRPr kumimoji="0" lang="en-US" altLang="zh-CN" sz="1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客户关系维护与产能提升</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网点营销商机捕捉</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网点联动营销</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extLst>
                  <a:ext uri="{0D108BD9-81ED-4DB2-BD59-A6C34878D82A}">
                    <a16:rowId xmlns:a16="http://schemas.microsoft.com/office/drawing/2014/main" val="10001"/>
                  </a:ext>
                </a:extLst>
              </a:tr>
            </a:tbl>
          </a:graphicData>
        </a:graphic>
      </p:graphicFrame>
      <p:cxnSp>
        <p:nvCxnSpPr>
          <p:cNvPr id="5" name="直接连接符 93"/>
          <p:cNvCxnSpPr>
            <a:cxnSpLocks noChangeShapeType="1"/>
          </p:cNvCxnSpPr>
          <p:nvPr>
            <p:custDataLst>
              <p:tags r:id="rId24"/>
            </p:custDataLst>
          </p:nvPr>
        </p:nvCxnSpPr>
        <p:spPr bwMode="auto">
          <a:xfrm rot="16200000" flipH="1">
            <a:off x="3949158" y="3159755"/>
            <a:ext cx="1980000" cy="0"/>
          </a:xfrm>
          <a:prstGeom prst="line">
            <a:avLst/>
          </a:prstGeom>
          <a:noFill/>
          <a:ln w="12700" algn="ctr">
            <a:solidFill>
              <a:srgbClr val="FF0000"/>
            </a:solidFill>
            <a:prstDash val="sysDash"/>
            <a:round/>
          </a:ln>
        </p:spPr>
      </p:cxnSp>
      <p:sp>
        <p:nvSpPr>
          <p:cNvPr id="188" name="标题 1"/>
          <p:cNvSpPr txBox="1"/>
          <p:nvPr>
            <p:custDataLst>
              <p:tags r:id="rId25"/>
            </p:custDataLst>
          </p:nvPr>
        </p:nvSpPr>
        <p:spPr>
          <a:xfrm>
            <a:off x="680583" y="249590"/>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sz="2000" b="0" kern="0" dirty="0">
                <a:latin typeface="Arial" panose="020B0604020202020204"/>
              </a:rPr>
              <a:t>初级对私客户经理（理财）培养项目设计方案</a:t>
            </a:r>
          </a:p>
        </p:txBody>
      </p:sp>
      <p:sp>
        <p:nvSpPr>
          <p:cNvPr id="2" name="Rectangle 58"/>
          <p:cNvSpPr>
            <a:spLocks noChangeArrowheads="1"/>
          </p:cNvSpPr>
          <p:nvPr>
            <p:custDataLst>
              <p:tags r:id="rId26"/>
            </p:custDataLst>
          </p:nvPr>
        </p:nvSpPr>
        <p:spPr bwMode="auto">
          <a:xfrm>
            <a:off x="2059519" y="2160006"/>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自我角色与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成长方向</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 name="Rectangle 58"/>
          <p:cNvSpPr>
            <a:spLocks noChangeArrowheads="1"/>
          </p:cNvSpPr>
          <p:nvPr>
            <p:custDataLst>
              <p:tags r:id="rId27"/>
            </p:custDataLst>
          </p:nvPr>
        </p:nvSpPr>
        <p:spPr bwMode="auto">
          <a:xfrm>
            <a:off x="3015665" y="2160006"/>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建行中收业务</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产品知识</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12" name="Rectangle 58"/>
          <p:cNvSpPr>
            <a:spLocks noChangeArrowheads="1"/>
          </p:cNvSpPr>
          <p:nvPr>
            <p:custDataLst>
              <p:tags r:id="rId28"/>
            </p:custDataLst>
          </p:nvPr>
        </p:nvSpPr>
        <p:spPr bwMode="auto">
          <a:xfrm>
            <a:off x="3971811" y="2160006"/>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战略性指标相关</a:t>
            </a:r>
            <a:endParaRPr lang="en-US" altLang="zh-CN" sz="105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政策背景与知识</a:t>
            </a:r>
            <a:endParaRPr lang="en-US" altLang="zh-CN" sz="1050" b="0" kern="0" dirty="0">
              <a:solidFill>
                <a:srgbClr val="FFFFFF"/>
              </a:solidFill>
              <a:latin typeface="微软雅黑" panose="020B0503020204020204" pitchFamily="34" charset="-122"/>
              <a:ea typeface="微软雅黑" panose="020B0503020204020204" pitchFamily="34" charset="-122"/>
            </a:endParaRPr>
          </a:p>
        </p:txBody>
      </p:sp>
      <p:sp>
        <p:nvSpPr>
          <p:cNvPr id="129" name="Rectangle 58"/>
          <p:cNvSpPr>
            <a:spLocks noChangeArrowheads="1"/>
          </p:cNvSpPr>
          <p:nvPr>
            <p:custDataLst>
              <p:tags r:id="rId29"/>
            </p:custDataLst>
          </p:nvPr>
        </p:nvSpPr>
        <p:spPr bwMode="auto">
          <a:xfrm>
            <a:off x="2450392" y="4412734"/>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D1</a:t>
            </a:r>
          </a:p>
        </p:txBody>
      </p:sp>
      <p:sp>
        <p:nvSpPr>
          <p:cNvPr id="16" name="Rectangle 58"/>
          <p:cNvSpPr>
            <a:spLocks noChangeArrowheads="1"/>
          </p:cNvSpPr>
          <p:nvPr>
            <p:custDataLst>
              <p:tags r:id="rId30"/>
            </p:custDataLst>
          </p:nvPr>
        </p:nvSpPr>
        <p:spPr bwMode="auto">
          <a:xfrm>
            <a:off x="2066358" y="3386480"/>
            <a:ext cx="5757792" cy="288000"/>
          </a:xfrm>
          <a:prstGeom prst="rect">
            <a:avLst/>
          </a:prstGeom>
          <a:solidFill>
            <a:srgbClr val="002060">
              <a:alpha val="87842"/>
            </a:srgbClr>
          </a:solidFill>
          <a:ln w="9525">
            <a:noFill/>
            <a:miter lim="800000"/>
          </a:ln>
        </p:spPr>
        <p:txBody>
          <a:bodyPr wrap="none" lIns="0" tIns="0" rIns="0" bIns="0" anchor="ctr"/>
          <a:lstStyle/>
          <a:p>
            <a:pPr algn="ctr"/>
            <a:r>
              <a:rPr kumimoji="1" lang="zh-CN" altLang="en-US" sz="1200" dirty="0">
                <a:solidFill>
                  <a:srgbClr val="FFFFFF"/>
                </a:solidFill>
                <a:ea typeface="微软雅黑" panose="020B0503020204020204" pitchFamily="34" charset="-122"/>
              </a:rPr>
              <a:t>开展集中面授</a:t>
            </a:r>
          </a:p>
        </p:txBody>
      </p:sp>
      <p:sp>
        <p:nvSpPr>
          <p:cNvPr id="17" name="Rectangle 58"/>
          <p:cNvSpPr>
            <a:spLocks noChangeArrowheads="1"/>
          </p:cNvSpPr>
          <p:nvPr>
            <p:custDataLst>
              <p:tags r:id="rId31"/>
            </p:custDataLst>
          </p:nvPr>
        </p:nvSpPr>
        <p:spPr bwMode="auto">
          <a:xfrm>
            <a:off x="3413438" y="4406728"/>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D2</a:t>
            </a:r>
          </a:p>
        </p:txBody>
      </p:sp>
      <p:sp>
        <p:nvSpPr>
          <p:cNvPr id="23" name="Rectangle 58"/>
          <p:cNvSpPr>
            <a:spLocks noChangeArrowheads="1"/>
          </p:cNvSpPr>
          <p:nvPr>
            <p:custDataLst>
              <p:tags r:id="rId32"/>
            </p:custDataLst>
          </p:nvPr>
        </p:nvSpPr>
        <p:spPr bwMode="auto">
          <a:xfrm>
            <a:off x="4353906" y="4400722"/>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D3</a:t>
            </a:r>
          </a:p>
        </p:txBody>
      </p:sp>
      <p:sp>
        <p:nvSpPr>
          <p:cNvPr id="24" name="Rectangle 58"/>
          <p:cNvSpPr>
            <a:spLocks noChangeArrowheads="1"/>
          </p:cNvSpPr>
          <p:nvPr>
            <p:custDataLst>
              <p:tags r:id="rId33"/>
            </p:custDataLst>
          </p:nvPr>
        </p:nvSpPr>
        <p:spPr bwMode="auto">
          <a:xfrm>
            <a:off x="5305663" y="4394716"/>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D1</a:t>
            </a:r>
          </a:p>
        </p:txBody>
      </p:sp>
      <p:sp>
        <p:nvSpPr>
          <p:cNvPr id="25" name="Rectangle 58"/>
          <p:cNvSpPr>
            <a:spLocks noChangeArrowheads="1"/>
          </p:cNvSpPr>
          <p:nvPr>
            <p:custDataLst>
              <p:tags r:id="rId34"/>
            </p:custDataLst>
          </p:nvPr>
        </p:nvSpPr>
        <p:spPr bwMode="auto">
          <a:xfrm>
            <a:off x="6268709" y="4388710"/>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D2</a:t>
            </a:r>
          </a:p>
        </p:txBody>
      </p:sp>
      <p:sp>
        <p:nvSpPr>
          <p:cNvPr id="26" name="Rectangle 58"/>
          <p:cNvSpPr>
            <a:spLocks noChangeArrowheads="1"/>
          </p:cNvSpPr>
          <p:nvPr>
            <p:custDataLst>
              <p:tags r:id="rId35"/>
            </p:custDataLst>
          </p:nvPr>
        </p:nvSpPr>
        <p:spPr bwMode="auto">
          <a:xfrm>
            <a:off x="7220466" y="4382704"/>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D3</a:t>
            </a:r>
          </a:p>
        </p:txBody>
      </p:sp>
      <p:sp>
        <p:nvSpPr>
          <p:cNvPr id="37" name="Rectangle 58"/>
          <p:cNvSpPr>
            <a:spLocks noChangeArrowheads="1"/>
          </p:cNvSpPr>
          <p:nvPr>
            <p:custDataLst>
              <p:tags r:id="rId36"/>
            </p:custDataLst>
          </p:nvPr>
        </p:nvSpPr>
        <p:spPr bwMode="auto">
          <a:xfrm>
            <a:off x="2065695" y="2774121"/>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新一代系统</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操作基础</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8" name="Rectangle 58"/>
          <p:cNvSpPr>
            <a:spLocks noChangeArrowheads="1"/>
          </p:cNvSpPr>
          <p:nvPr>
            <p:custDataLst>
              <p:tags r:id="rId37"/>
            </p:custDataLst>
          </p:nvPr>
        </p:nvSpPr>
        <p:spPr bwMode="auto">
          <a:xfrm>
            <a:off x="3021841" y="2774121"/>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客户服务</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营销基础</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9" name="Rectangle 58"/>
          <p:cNvSpPr>
            <a:spLocks noChangeArrowheads="1"/>
          </p:cNvSpPr>
          <p:nvPr>
            <p:custDataLst>
              <p:tags r:id="rId38"/>
            </p:custDataLst>
          </p:nvPr>
        </p:nvSpPr>
        <p:spPr bwMode="auto">
          <a:xfrm>
            <a:off x="3977987" y="2774121"/>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合规与操作</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风险知识</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0" name="Rectangle 58"/>
          <p:cNvSpPr>
            <a:spLocks noChangeArrowheads="1"/>
          </p:cNvSpPr>
          <p:nvPr>
            <p:custDataLst>
              <p:tags r:id="rId39"/>
            </p:custDataLst>
          </p:nvPr>
        </p:nvSpPr>
        <p:spPr bwMode="auto">
          <a:xfrm>
            <a:off x="4967265" y="2153025"/>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宏观经济与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投资市场分析</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2" name="Rectangle 58"/>
          <p:cNvSpPr>
            <a:spLocks noChangeArrowheads="1"/>
          </p:cNvSpPr>
          <p:nvPr>
            <p:custDataLst>
              <p:tags r:id="rId40"/>
            </p:custDataLst>
          </p:nvPr>
        </p:nvSpPr>
        <p:spPr bwMode="auto">
          <a:xfrm>
            <a:off x="5923411" y="2153025"/>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反洗钱、反诈骗</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等业务知识</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3" name="Rectangle 58"/>
          <p:cNvSpPr>
            <a:spLocks noChangeArrowheads="1"/>
          </p:cNvSpPr>
          <p:nvPr>
            <p:custDataLst>
              <p:tags r:id="rId41"/>
            </p:custDataLst>
          </p:nvPr>
        </p:nvSpPr>
        <p:spPr bwMode="auto">
          <a:xfrm>
            <a:off x="6879557" y="2153025"/>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战略性</a:t>
            </a:r>
            <a:endParaRPr lang="en-US" altLang="zh-CN" sz="105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指标知识</a:t>
            </a:r>
            <a:endParaRPr lang="en-US" altLang="zh-CN" sz="1050" b="0" kern="0" dirty="0">
              <a:solidFill>
                <a:srgbClr val="FFFFFF"/>
              </a:solidFill>
              <a:latin typeface="微软雅黑" panose="020B0503020204020204" pitchFamily="34" charset="-122"/>
              <a:ea typeface="微软雅黑" panose="020B0503020204020204" pitchFamily="34" charset="-122"/>
            </a:endParaRPr>
          </a:p>
        </p:txBody>
      </p:sp>
      <p:sp>
        <p:nvSpPr>
          <p:cNvPr id="44" name="Rectangle 58"/>
          <p:cNvSpPr>
            <a:spLocks noChangeArrowheads="1"/>
          </p:cNvSpPr>
          <p:nvPr>
            <p:custDataLst>
              <p:tags r:id="rId42"/>
            </p:custDataLst>
          </p:nvPr>
        </p:nvSpPr>
        <p:spPr bwMode="auto">
          <a:xfrm>
            <a:off x="4973441" y="2767140"/>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初级法律</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财税知识</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6" name="Rectangle 58"/>
          <p:cNvSpPr>
            <a:spLocks noChangeArrowheads="1"/>
          </p:cNvSpPr>
          <p:nvPr>
            <p:custDataLst>
              <p:tags r:id="rId43"/>
            </p:custDataLst>
          </p:nvPr>
        </p:nvSpPr>
        <p:spPr bwMode="auto">
          <a:xfrm>
            <a:off x="5929587" y="2767140"/>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财富管理</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产品基础知识</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55" name="Rectangle 58"/>
          <p:cNvSpPr>
            <a:spLocks noChangeArrowheads="1"/>
          </p:cNvSpPr>
          <p:nvPr>
            <p:custDataLst>
              <p:tags r:id="rId44"/>
            </p:custDataLst>
          </p:nvPr>
        </p:nvSpPr>
        <p:spPr bwMode="auto">
          <a:xfrm>
            <a:off x="6885733" y="2767140"/>
            <a:ext cx="950400" cy="540805"/>
          </a:xfrm>
          <a:prstGeom prst="rect">
            <a:avLst/>
          </a:prstGeom>
          <a:solidFill>
            <a:schemeClr val="bg1">
              <a:lumMod val="50000"/>
            </a:schemeClr>
          </a:solidFill>
          <a:ln>
            <a:noFill/>
          </a:ln>
        </p:spPr>
        <p:txBody>
          <a:bodyPr wrap="none" lIns="0" tIns="0" rIns="0" bIns="0" anchor="ctr"/>
          <a:lstStyle/>
          <a:p>
            <a:pPr algn="ctr">
              <a:defRPr/>
            </a:pP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17</a:t>
            </a:fld>
            <a:endParaRPr lang="zh-CN" altLang="en-US"/>
          </a:p>
        </p:txBody>
      </p:sp>
      <p:sp>
        <p:nvSpPr>
          <p:cNvPr id="3"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中级客户经理培养项目设计</a:t>
            </a:r>
          </a:p>
        </p:txBody>
      </p:sp>
      <p:grpSp>
        <p:nvGrpSpPr>
          <p:cNvPr id="15" name="组合 14"/>
          <p:cNvGrpSpPr/>
          <p:nvPr/>
        </p:nvGrpSpPr>
        <p:grpSpPr>
          <a:xfrm>
            <a:off x="795020" y="1520229"/>
            <a:ext cx="7736676" cy="5185247"/>
            <a:chOff x="795020" y="1520229"/>
            <a:chExt cx="7736676" cy="5185247"/>
          </a:xfrm>
        </p:grpSpPr>
        <p:sp>
          <p:nvSpPr>
            <p:cNvPr id="4" name="矩形 3"/>
            <p:cNvSpPr/>
            <p:nvPr/>
          </p:nvSpPr>
          <p:spPr>
            <a:xfrm>
              <a:off x="2000672" y="3663214"/>
              <a:ext cx="6531024" cy="960000"/>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培养重点</a:t>
              </a:r>
              <a:endParaRPr lang="en-US" altLang="zh-CN" sz="1500" b="1" kern="0" dirty="0">
                <a:solidFill>
                  <a:sysClr val="windowText" lastClr="000000"/>
                </a:solidFill>
                <a:latin typeface="Times New Roman" panose="02020603050405020304" pitchFamily="18" charset="0"/>
                <a:ea typeface="楷体" panose="02010609060101010101" pitchFamily="49" charset="-122"/>
              </a:endParaRPr>
            </a:p>
            <a:p>
              <a:pPr lvl="1">
                <a:lnSpc>
                  <a:spcPts val="1900"/>
                </a:lnSpc>
                <a:buFont typeface="Arial" panose="020B0604020202020204" pitchFamily="34" charset="0"/>
                <a:buChar char="•"/>
              </a:pPr>
              <a:r>
                <a:rPr lang="zh-CN" altLang="en-US" sz="1400" kern="0" dirty="0">
                  <a:latin typeface="楷体" panose="02010609060101010101" pitchFamily="49" charset="-122"/>
                  <a:ea typeface="楷体" panose="02010609060101010101" pitchFamily="49" charset="-122"/>
                </a:rPr>
                <a:t> 重点理财产品营销技巧</a:t>
              </a:r>
              <a:endParaRPr lang="en-US" altLang="zh-CN" sz="1400" kern="0" dirty="0">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sz="1400" kern="0" dirty="0">
                  <a:solidFill>
                    <a:sysClr val="windowText" lastClr="000000"/>
                  </a:solidFill>
                  <a:latin typeface="楷体" panose="02010609060101010101" pitchFamily="49" charset="-122"/>
                  <a:ea typeface="楷体" panose="02010609060101010101" pitchFamily="49" charset="-122"/>
                </a:rPr>
                <a:t> 向客户展现专业度</a:t>
              </a:r>
              <a:endParaRPr lang="en-US" altLang="zh-CN" sz="1400" kern="0" dirty="0">
                <a:solidFill>
                  <a:sysClr val="windowText" lastClr="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sz="1400" kern="0" dirty="0">
                  <a:solidFill>
                    <a:sysClr val="windowText" lastClr="000000"/>
                  </a:solidFill>
                  <a:latin typeface="楷体" panose="02010609060101010101" pitchFamily="49" charset="-122"/>
                  <a:ea typeface="楷体" panose="02010609060101010101" pitchFamily="49" charset="-122"/>
                </a:rPr>
                <a:t> 深度客户经营</a:t>
              </a:r>
              <a:endParaRPr lang="zh-CN" altLang="en-US" sz="1300" kern="0" dirty="0">
                <a:solidFill>
                  <a:sysClr val="windowText" lastClr="000000"/>
                </a:solidFill>
                <a:latin typeface="楷体" panose="02010609060101010101" pitchFamily="49" charset="-122"/>
                <a:ea typeface="楷体" panose="02010609060101010101" pitchFamily="49" charset="-122"/>
              </a:endParaRPr>
            </a:p>
          </p:txBody>
        </p:sp>
        <p:sp>
          <p:nvSpPr>
            <p:cNvPr id="5" name="矩形 4"/>
            <p:cNvSpPr/>
            <p:nvPr/>
          </p:nvSpPr>
          <p:spPr>
            <a:xfrm>
              <a:off x="2000672" y="4728242"/>
              <a:ext cx="6531024" cy="980681"/>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参训时间与实施周期</a:t>
              </a:r>
            </a:p>
            <a:p>
              <a:pPr lvl="1">
                <a:lnSpc>
                  <a:spcPts val="19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 共分为两个阶段，每阶段需要在</a:t>
              </a:r>
              <a:r>
                <a:rPr kumimoji="0" lang="en-US" altLang="zh-CN" sz="1400" dirty="0">
                  <a:solidFill>
                    <a:srgbClr val="000000"/>
                  </a:solidFill>
                  <a:latin typeface="楷体" panose="02010609060101010101" pitchFamily="49" charset="-122"/>
                  <a:ea typeface="楷体" panose="02010609060101010101" pitchFamily="49" charset="-122"/>
                </a:rPr>
                <a:t>60</a:t>
              </a:r>
              <a:r>
                <a:rPr kumimoji="0" lang="zh-CN" altLang="en-US" sz="1400" dirty="0">
                  <a:solidFill>
                    <a:srgbClr val="000000"/>
                  </a:solidFill>
                  <a:latin typeface="楷体" panose="02010609060101010101" pitchFamily="49" charset="-122"/>
                  <a:ea typeface="楷体" panose="02010609060101010101" pitchFamily="49" charset="-122"/>
                </a:rPr>
                <a:t>天内完成（含在线自主学习、行动学习和在岗实践任务完成）</a:t>
              </a:r>
              <a:endParaRPr kumimoji="0" lang="en-US" altLang="zh-CN" sz="1400" dirty="0">
                <a:solidFill>
                  <a:srgbClr val="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kumimoji="0" lang="zh-CN" altLang="en-US" sz="1400" dirty="0">
                  <a:latin typeface="楷体" panose="02010609060101010101" pitchFamily="49" charset="-122"/>
                  <a:ea typeface="楷体" panose="02010609060101010101" pitchFamily="49" charset="-122"/>
                </a:rPr>
                <a:t> 行动学习结合面授学习主题单独设计</a:t>
              </a:r>
              <a:endParaRPr kumimoji="0" lang="zh-CN" altLang="en-US" sz="140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2000672" y="5813948"/>
              <a:ext cx="6531024" cy="891528"/>
            </a:xfrm>
            <a:prstGeom prst="rect">
              <a:avLst/>
            </a:prstGeom>
            <a:solidFill>
              <a:srgbClr val="B2D2DE">
                <a:lumMod val="20000"/>
                <a:lumOff val="80000"/>
              </a:srgbClr>
            </a:solidFill>
          </p:spPr>
          <p:txBody>
            <a:bodyPr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培养方式</a:t>
              </a:r>
            </a:p>
            <a:p>
              <a:pPr defTabSz="846455">
                <a:defRPr/>
              </a:pPr>
              <a:r>
                <a:rPr lang="zh-CN" altLang="en-US" sz="1300" dirty="0">
                  <a:latin typeface="Times New Roman" panose="02020603050405020304" pitchFamily="18" charset="0"/>
                  <a:ea typeface="楷体" panose="02010609060101010101" pitchFamily="49" charset="-122"/>
                </a:rPr>
                <a:t>以自主学习、集中面授、行动学习、在岗实践为主要学习方式</a:t>
              </a:r>
            </a:p>
          </p:txBody>
        </p:sp>
        <p:sp>
          <p:nvSpPr>
            <p:cNvPr id="7" name="矩形 6"/>
            <p:cNvSpPr/>
            <p:nvPr/>
          </p:nvSpPr>
          <p:spPr>
            <a:xfrm>
              <a:off x="2000672" y="2351388"/>
              <a:ext cx="6531024" cy="1194654"/>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培养目标</a:t>
              </a:r>
            </a:p>
            <a:p>
              <a:pPr lvl="1">
                <a:lnSpc>
                  <a:spcPts val="1900"/>
                </a:lnSpc>
                <a:buFont typeface="Arial" panose="020B0604020202020204" pitchFamily="34" charset="0"/>
                <a:buChar char="•"/>
              </a:pPr>
              <a:r>
                <a:rPr lang="zh-CN" altLang="en-US" sz="1400" kern="0" dirty="0">
                  <a:solidFill>
                    <a:sysClr val="windowText" lastClr="000000"/>
                  </a:solidFill>
                  <a:latin typeface="楷体" panose="02010609060101010101" pitchFamily="49" charset="-122"/>
                  <a:ea typeface="楷体" panose="02010609060101010101" pitchFamily="49" charset="-122"/>
                </a:rPr>
                <a:t> 学习通过多种方法获取商机，快速洞察客户需求</a:t>
              </a:r>
              <a:endParaRPr lang="en-US" altLang="zh-CN" sz="1400" kern="0" dirty="0">
                <a:solidFill>
                  <a:sysClr val="windowText" lastClr="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kumimoji="0" lang="zh-CN" altLang="en-US" sz="1400" dirty="0">
                  <a:solidFill>
                    <a:srgbClr val="000000"/>
                  </a:solidFill>
                  <a:latin typeface="楷体" panose="02010609060101010101" pitchFamily="49" charset="-122"/>
                  <a:ea typeface="楷体" panose="02010609060101010101" pitchFamily="49" charset="-122"/>
                </a:rPr>
                <a:t> </a:t>
              </a:r>
              <a:r>
                <a:rPr lang="zh-CN" altLang="en-US" sz="1400" dirty="0">
                  <a:latin typeface="楷体" panose="02010609060101010101" pitchFamily="49" charset="-122"/>
                  <a:ea typeface="楷体" panose="02010609060101010101" pitchFamily="49" charset="-122"/>
                </a:rPr>
                <a:t>深入理解</a:t>
              </a:r>
              <a:r>
                <a:rPr kumimoji="0" lang="zh-CN" altLang="en-US" sz="1400" dirty="0">
                  <a:solidFill>
                    <a:srgbClr val="000000"/>
                  </a:solidFill>
                  <a:latin typeface="楷体" panose="02010609060101010101" pitchFamily="49" charset="-122"/>
                  <a:ea typeface="楷体" panose="02010609060101010101" pitchFamily="49" charset="-122"/>
                </a:rPr>
                <a:t>建行主要对私金融产品，制定专业的配置方案</a:t>
              </a:r>
              <a:endParaRPr kumimoji="0" lang="en-US" altLang="zh-CN" sz="1400" dirty="0">
                <a:solidFill>
                  <a:srgbClr val="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kern="0" dirty="0">
                  <a:solidFill>
                    <a:sysClr val="windowText" lastClr="000000"/>
                  </a:solidFill>
                  <a:latin typeface="楷体" panose="02010609060101010101" pitchFamily="49" charset="-122"/>
                  <a:ea typeface="楷体" panose="02010609060101010101" pitchFamily="49" charset="-122"/>
                </a:rPr>
                <a:t> 学习基于深度客户客户关系，通过掌控销售节奏和顾问式服务提升绩效</a:t>
              </a:r>
              <a:endParaRPr lang="zh-CN" altLang="zh-CN" sz="1300" kern="0" dirty="0">
                <a:solidFill>
                  <a:sysClr val="windowText" lastClr="000000"/>
                </a:solidFill>
                <a:latin typeface="楷体" panose="02010609060101010101" pitchFamily="49" charset="-122"/>
                <a:ea typeface="楷体" panose="02010609060101010101" pitchFamily="49" charset="-122"/>
              </a:endParaRPr>
            </a:p>
          </p:txBody>
        </p:sp>
        <p:sp>
          <p:nvSpPr>
            <p:cNvPr id="8" name="矩形 7"/>
            <p:cNvSpPr/>
            <p:nvPr/>
          </p:nvSpPr>
          <p:spPr>
            <a:xfrm>
              <a:off x="2000672" y="1628922"/>
              <a:ext cx="6531024" cy="605295"/>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pPr>
              <a:r>
                <a:rPr lang="zh-CN" altLang="en-US" sz="1500" b="1" kern="0" dirty="0">
                  <a:solidFill>
                    <a:sysClr val="windowText" lastClr="000000"/>
                  </a:solidFill>
                  <a:latin typeface="楷体" panose="02010609060101010101" pitchFamily="49" charset="-122"/>
                  <a:ea typeface="楷体" panose="02010609060101010101" pitchFamily="49" charset="-122"/>
                  <a:cs typeface="Kai"/>
                </a:rPr>
                <a:t>培养对象</a:t>
              </a:r>
            </a:p>
            <a:p>
              <a:r>
                <a:rPr lang="zh-CN" altLang="en-US" sz="1400" kern="0" dirty="0">
                  <a:latin typeface="楷体" panose="02010609060101010101" pitchFamily="49" charset="-122"/>
                  <a:ea typeface="楷体" panose="02010609060101010101" pitchFamily="49" charset="-122"/>
                  <a:cs typeface="Kai"/>
                </a:rPr>
                <a:t>新晋中级客户经理，</a:t>
              </a:r>
              <a:r>
                <a:rPr lang="en-US" altLang="zh-CN" sz="1400" kern="0" dirty="0">
                  <a:latin typeface="楷体" panose="02010609060101010101" pitchFamily="49" charset="-122"/>
                  <a:ea typeface="楷体" panose="02010609060101010101" pitchFamily="49" charset="-122"/>
                  <a:cs typeface="Kai"/>
                </a:rPr>
                <a:t>12</a:t>
              </a:r>
              <a:r>
                <a:rPr lang="zh-CN" altLang="en-US" sz="1400" kern="0" dirty="0">
                  <a:latin typeface="楷体" panose="02010609060101010101" pitchFamily="49" charset="-122"/>
                  <a:ea typeface="楷体" panose="02010609060101010101" pitchFamily="49" charset="-122"/>
                  <a:cs typeface="Kai"/>
                </a:rPr>
                <a:t>个月内</a:t>
              </a:r>
              <a:endParaRPr lang="zh-CN" altLang="en-US" sz="1400" kern="0" dirty="0">
                <a:solidFill>
                  <a:sysClr val="windowText" lastClr="000000"/>
                </a:solidFill>
                <a:latin typeface="楷体" panose="02010609060101010101" pitchFamily="49" charset="-122"/>
                <a:ea typeface="楷体" panose="02010609060101010101" pitchFamily="49" charset="-122"/>
                <a:cs typeface="Kai"/>
              </a:endParaRPr>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6280" y="1520229"/>
              <a:ext cx="970449" cy="960106"/>
            </a:xfrm>
            <a:prstGeom prst="rect">
              <a:avLst/>
            </a:prstGeom>
            <a:noFill/>
            <a:ln>
              <a:noFill/>
            </a:ln>
          </p:spPr>
        </p:pic>
        <p:pic>
          <p:nvPicPr>
            <p:cNvPr id="10" name="图片 9"/>
            <p:cNvPicPr>
              <a:picLocks noChangeAspect="1"/>
            </p:cNvPicPr>
            <p:nvPr/>
          </p:nvPicPr>
          <p:blipFill>
            <a:blip r:embed="rId3" cstate="print"/>
            <a:stretch>
              <a:fillRect/>
            </a:stretch>
          </p:blipFill>
          <p:spPr>
            <a:xfrm>
              <a:off x="795020" y="2554675"/>
              <a:ext cx="1256347" cy="891528"/>
            </a:xfrm>
            <a:prstGeom prst="rect">
              <a:avLst/>
            </a:prstGeom>
          </p:spPr>
        </p:pic>
        <p:pic>
          <p:nvPicPr>
            <p:cNvPr id="11" name="图片 10"/>
            <p:cNvPicPr>
              <a:picLocks noChangeAspect="1"/>
            </p:cNvPicPr>
            <p:nvPr/>
          </p:nvPicPr>
          <p:blipFill>
            <a:blip r:embed="rId4" cstate="print"/>
            <a:stretch>
              <a:fillRect/>
            </a:stretch>
          </p:blipFill>
          <p:spPr>
            <a:xfrm>
              <a:off x="946280" y="4772818"/>
              <a:ext cx="979762" cy="891528"/>
            </a:xfrm>
            <a:prstGeom prst="rect">
              <a:avLst/>
            </a:prstGeom>
          </p:spPr>
        </p:pic>
        <p:pic>
          <p:nvPicPr>
            <p:cNvPr id="12" name="图片 11"/>
            <p:cNvPicPr>
              <a:picLocks noChangeAspect="1"/>
            </p:cNvPicPr>
            <p:nvPr/>
          </p:nvPicPr>
          <p:blipFill>
            <a:blip r:embed="rId5" cstate="print"/>
            <a:stretch>
              <a:fillRect/>
            </a:stretch>
          </p:blipFill>
          <p:spPr>
            <a:xfrm>
              <a:off x="946280" y="5813948"/>
              <a:ext cx="979762" cy="891528"/>
            </a:xfrm>
            <a:prstGeom prst="rect">
              <a:avLst/>
            </a:prstGeom>
          </p:spPr>
        </p:pic>
        <p:pic>
          <p:nvPicPr>
            <p:cNvPr id="13" name="图片 12"/>
            <p:cNvPicPr>
              <a:picLocks noChangeAspect="1"/>
            </p:cNvPicPr>
            <p:nvPr/>
          </p:nvPicPr>
          <p:blipFill rotWithShape="1">
            <a:blip r:embed="rId6" cstate="print"/>
            <a:srcRect t="15433" b="26888"/>
            <a:stretch>
              <a:fillRect/>
            </a:stretch>
          </p:blipFill>
          <p:spPr>
            <a:xfrm>
              <a:off x="946280" y="3671071"/>
              <a:ext cx="979762" cy="952143"/>
            </a:xfrm>
            <a:prstGeom prst="rect">
              <a:avLst/>
            </a:prstGeom>
          </p:spPr>
        </p:pic>
      </p:grpSp>
      <p:sp>
        <p:nvSpPr>
          <p:cNvPr id="14" name="矩形 13"/>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 name="对象 116"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76" imgW="12700" imgH="12700" progId="TCLayout.ActiveDocument.1">
                  <p:embed/>
                </p:oleObj>
              </mc:Choice>
              <mc:Fallback>
                <p:oleObj name="think-cell Slide" r:id="rId76" imgW="12700" imgH="12700" progId="TCLayout.ActiveDocument.1">
                  <p:embed/>
                  <p:pic>
                    <p:nvPicPr>
                      <p:cNvPr id="117" name="对象 116" hidden="1"/>
                      <p:cNvPicPr/>
                      <p:nvPr/>
                    </p:nvPicPr>
                    <p:blipFill>
                      <a:blip r:embed="rId77"/>
                      <a:stretch>
                        <a:fillRect/>
                      </a:stretch>
                    </p:blipFill>
                    <p:spPr>
                      <a:xfrm>
                        <a:off x="0" y="0"/>
                        <a:ext cx="158750" cy="158750"/>
                      </a:xfrm>
                      <a:prstGeom prst="rect">
                        <a:avLst/>
                      </a:prstGeom>
                    </p:spPr>
                  </p:pic>
                </p:oleObj>
              </mc:Fallback>
            </mc:AlternateContent>
          </a:graphicData>
        </a:graphic>
      </p:graphicFrame>
      <p:sp>
        <p:nvSpPr>
          <p:cNvPr id="116" name="AutoShape 63"/>
          <p:cNvSpPr>
            <a:spLocks noChangeArrowheads="1"/>
          </p:cNvSpPr>
          <p:nvPr>
            <p:custDataLst>
              <p:tags r:id="rId2"/>
            </p:custDataLst>
          </p:nvPr>
        </p:nvSpPr>
        <p:spPr bwMode="auto">
          <a:xfrm>
            <a:off x="7961658" y="1255593"/>
            <a:ext cx="1327151" cy="4728978"/>
          </a:xfrm>
          <a:prstGeom prst="roundRect">
            <a:avLst>
              <a:gd name="adj" fmla="val 4247"/>
            </a:avLst>
          </a:prstGeom>
          <a:solidFill>
            <a:schemeClr val="accent6">
              <a:lumMod val="50000"/>
            </a:schemeClr>
          </a:solidFill>
          <a:ln w="9525">
            <a:noFill/>
            <a:round/>
          </a:ln>
        </p:spPr>
        <p:txBody>
          <a:bodyPr/>
          <a:lstStyle/>
          <a:p>
            <a:pPr algn="just">
              <a:defRPr/>
            </a:pPr>
            <a:endParaRPr lang="zh-CN" altLang="zh-CN" sz="1200" kern="0">
              <a:solidFill>
                <a:srgbClr val="FFFFFF"/>
              </a:solidFill>
              <a:latin typeface="微软雅黑" panose="020B0503020204020204" pitchFamily="34" charset="-122"/>
              <a:ea typeface="微软雅黑" panose="020B0503020204020204" pitchFamily="34" charset="-122"/>
            </a:endParaRPr>
          </a:p>
        </p:txBody>
      </p:sp>
      <p:sp>
        <p:nvSpPr>
          <p:cNvPr id="4" name="Rectangle 58"/>
          <p:cNvSpPr>
            <a:spLocks noChangeArrowheads="1"/>
          </p:cNvSpPr>
          <p:nvPr>
            <p:custDataLst>
              <p:tags r:id="rId3"/>
            </p:custDataLst>
          </p:nvPr>
        </p:nvSpPr>
        <p:spPr bwMode="auto">
          <a:xfrm>
            <a:off x="2049924" y="1815359"/>
            <a:ext cx="5791881" cy="1416506"/>
          </a:xfrm>
          <a:prstGeom prst="rect">
            <a:avLst/>
          </a:prstGeom>
          <a:solidFill>
            <a:schemeClr val="accent6">
              <a:lumMod val="20000"/>
              <a:lumOff val="80000"/>
              <a:alpha val="87842"/>
            </a:schemeClr>
          </a:solidFill>
          <a:ln w="9525">
            <a:noFill/>
            <a:miter lim="800000"/>
          </a:ln>
        </p:spPr>
        <p:txBody>
          <a:bodyPr wrap="none" lIns="0" tIns="0" rIns="0" bIns="0" anchor="ctr"/>
          <a:lstStyle/>
          <a:p>
            <a:pPr algn="ctr"/>
            <a:endParaRPr kumimoji="1" lang="zh-CN" altLang="en-US" sz="1200">
              <a:solidFill>
                <a:srgbClr val="FFFFFF"/>
              </a:solidFill>
              <a:ea typeface="微软雅黑" panose="020B0503020204020204" pitchFamily="34" charset="-122"/>
            </a:endParaRPr>
          </a:p>
        </p:txBody>
      </p:sp>
      <p:grpSp>
        <p:nvGrpSpPr>
          <p:cNvPr id="138" name="组合 137"/>
          <p:cNvGrpSpPr/>
          <p:nvPr>
            <p:custDataLst>
              <p:tags r:id="rId4"/>
            </p:custDataLst>
          </p:nvPr>
        </p:nvGrpSpPr>
        <p:grpSpPr>
          <a:xfrm>
            <a:off x="581035" y="882162"/>
            <a:ext cx="8730085" cy="307975"/>
            <a:chOff x="602807" y="1370096"/>
            <a:chExt cx="8730085" cy="307975"/>
          </a:xfrm>
        </p:grpSpPr>
        <p:grpSp>
          <p:nvGrpSpPr>
            <p:cNvPr id="137" name="组合 136"/>
            <p:cNvGrpSpPr/>
            <p:nvPr/>
          </p:nvGrpSpPr>
          <p:grpSpPr>
            <a:xfrm>
              <a:off x="917129" y="1370096"/>
              <a:ext cx="8353412" cy="307975"/>
              <a:chOff x="917129" y="1370096"/>
              <a:chExt cx="8353412" cy="307975"/>
            </a:xfrm>
          </p:grpSpPr>
          <p:sp>
            <p:nvSpPr>
              <p:cNvPr id="6" name="Text Box 12"/>
              <p:cNvSpPr txBox="1">
                <a:spLocks noChangeArrowheads="1"/>
              </p:cNvSpPr>
              <p:nvPr>
                <p:custDataLst>
                  <p:tags r:id="rId71"/>
                </p:custDataLst>
              </p:nvPr>
            </p:nvSpPr>
            <p:spPr bwMode="auto">
              <a:xfrm>
                <a:off x="8154541" y="1370096"/>
                <a:ext cx="1116000" cy="307975"/>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训后延展</a:t>
                </a:r>
              </a:p>
            </p:txBody>
          </p:sp>
          <p:sp>
            <p:nvSpPr>
              <p:cNvPr id="8" name="Text Box 6"/>
              <p:cNvSpPr txBox="1">
                <a:spLocks noChangeArrowheads="1"/>
              </p:cNvSpPr>
              <p:nvPr>
                <p:custDataLst>
                  <p:tags r:id="rId72"/>
                </p:custDataLst>
              </p:nvPr>
            </p:nvSpPr>
            <p:spPr bwMode="auto">
              <a:xfrm>
                <a:off x="917129" y="1370096"/>
                <a:ext cx="1149350" cy="307777"/>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训前准备</a:t>
                </a:r>
              </a:p>
            </p:txBody>
          </p:sp>
          <p:sp>
            <p:nvSpPr>
              <p:cNvPr id="10" name="Text Box 9"/>
              <p:cNvSpPr txBox="1">
                <a:spLocks noChangeArrowheads="1"/>
              </p:cNvSpPr>
              <p:nvPr>
                <p:custDataLst>
                  <p:tags r:id="rId73"/>
                </p:custDataLst>
              </p:nvPr>
            </p:nvSpPr>
            <p:spPr bwMode="auto">
              <a:xfrm>
                <a:off x="2369691" y="1370096"/>
                <a:ext cx="5005388" cy="304800"/>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培训中</a:t>
                </a:r>
              </a:p>
            </p:txBody>
          </p:sp>
        </p:grpSp>
        <p:grpSp>
          <p:nvGrpSpPr>
            <p:cNvPr id="107" name="组合 106"/>
            <p:cNvGrpSpPr/>
            <p:nvPr>
              <p:custDataLst>
                <p:tags r:id="rId68"/>
              </p:custDataLst>
            </p:nvPr>
          </p:nvGrpSpPr>
          <p:grpSpPr>
            <a:xfrm>
              <a:off x="602807" y="1413412"/>
              <a:ext cx="1368000" cy="260350"/>
              <a:chOff x="602807" y="1369868"/>
              <a:chExt cx="1368000" cy="260350"/>
            </a:xfrm>
          </p:grpSpPr>
          <p:sp>
            <p:nvSpPr>
              <p:cNvPr id="7" name="Line 5"/>
              <p:cNvSpPr>
                <a:spLocks noChangeShapeType="1"/>
              </p:cNvSpPr>
              <p:nvPr/>
            </p:nvSpPr>
            <p:spPr bwMode="auto">
              <a:xfrm>
                <a:off x="602807" y="1630218"/>
                <a:ext cx="1368000" cy="0"/>
              </a:xfrm>
              <a:prstGeom prst="line">
                <a:avLst/>
              </a:prstGeom>
              <a:noFill/>
              <a:ln w="19050">
                <a:solidFill>
                  <a:schemeClr val="hlink"/>
                </a:solidFill>
                <a:round/>
              </a:ln>
            </p:spPr>
            <p:txBody>
              <a:bodyPr/>
              <a:lstStyle/>
              <a:p>
                <a:endParaRPr lang="zh-CN" altLang="en-US"/>
              </a:p>
            </p:txBody>
          </p:sp>
          <p:sp>
            <p:nvSpPr>
              <p:cNvPr id="13" name="Rectangle 84"/>
              <p:cNvSpPr>
                <a:spLocks noChangeArrowheads="1"/>
              </p:cNvSpPr>
              <p:nvPr/>
            </p:nvSpPr>
            <p:spPr bwMode="auto">
              <a:xfrm>
                <a:off x="602807" y="1369868"/>
                <a:ext cx="311150" cy="215900"/>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1</a:t>
                </a:r>
              </a:p>
            </p:txBody>
          </p:sp>
        </p:grpSp>
        <p:grpSp>
          <p:nvGrpSpPr>
            <p:cNvPr id="108" name="组合 107"/>
            <p:cNvGrpSpPr/>
            <p:nvPr>
              <p:custDataLst>
                <p:tags r:id="rId69"/>
              </p:custDataLst>
            </p:nvPr>
          </p:nvGrpSpPr>
          <p:grpSpPr>
            <a:xfrm>
              <a:off x="2049924" y="1399134"/>
              <a:ext cx="5796000" cy="274628"/>
              <a:chOff x="2049924" y="1399134"/>
              <a:chExt cx="5796000" cy="274628"/>
            </a:xfrm>
          </p:grpSpPr>
          <p:sp>
            <p:nvSpPr>
              <p:cNvPr id="9" name="Line 8"/>
              <p:cNvSpPr>
                <a:spLocks noChangeShapeType="1"/>
              </p:cNvSpPr>
              <p:nvPr/>
            </p:nvSpPr>
            <p:spPr bwMode="auto">
              <a:xfrm>
                <a:off x="2049924" y="1673762"/>
                <a:ext cx="5796000" cy="0"/>
              </a:xfrm>
              <a:prstGeom prst="line">
                <a:avLst/>
              </a:prstGeom>
              <a:noFill/>
              <a:ln w="19050">
                <a:solidFill>
                  <a:schemeClr val="hlink"/>
                </a:solidFill>
                <a:round/>
              </a:ln>
            </p:spPr>
            <p:txBody>
              <a:bodyPr/>
              <a:lstStyle/>
              <a:p>
                <a:endParaRPr lang="zh-CN" altLang="en-US"/>
              </a:p>
            </p:txBody>
          </p:sp>
          <p:sp>
            <p:nvSpPr>
              <p:cNvPr id="14" name="Rectangle 85"/>
              <p:cNvSpPr>
                <a:spLocks noChangeArrowheads="1"/>
              </p:cNvSpPr>
              <p:nvPr/>
            </p:nvSpPr>
            <p:spPr bwMode="auto">
              <a:xfrm>
                <a:off x="2049924" y="1399134"/>
                <a:ext cx="288925" cy="239713"/>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2</a:t>
                </a:r>
              </a:p>
            </p:txBody>
          </p:sp>
        </p:grpSp>
        <p:grpSp>
          <p:nvGrpSpPr>
            <p:cNvPr id="109" name="组合 108"/>
            <p:cNvGrpSpPr/>
            <p:nvPr>
              <p:custDataLst>
                <p:tags r:id="rId70"/>
              </p:custDataLst>
            </p:nvPr>
          </p:nvGrpSpPr>
          <p:grpSpPr>
            <a:xfrm>
              <a:off x="7928892" y="1399134"/>
              <a:ext cx="1404000" cy="274628"/>
              <a:chOff x="7928892" y="1399134"/>
              <a:chExt cx="1404000" cy="274628"/>
            </a:xfrm>
          </p:grpSpPr>
          <p:sp>
            <p:nvSpPr>
              <p:cNvPr id="11" name="Line 11"/>
              <p:cNvSpPr>
                <a:spLocks noChangeShapeType="1"/>
              </p:cNvSpPr>
              <p:nvPr/>
            </p:nvSpPr>
            <p:spPr bwMode="auto">
              <a:xfrm>
                <a:off x="7928892" y="1673762"/>
                <a:ext cx="1404000" cy="0"/>
              </a:xfrm>
              <a:prstGeom prst="line">
                <a:avLst/>
              </a:prstGeom>
              <a:noFill/>
              <a:ln w="19050">
                <a:solidFill>
                  <a:schemeClr val="hlink"/>
                </a:solidFill>
                <a:round/>
              </a:ln>
            </p:spPr>
            <p:txBody>
              <a:bodyPr/>
              <a:lstStyle/>
              <a:p>
                <a:endParaRPr lang="zh-CN" altLang="en-US"/>
              </a:p>
            </p:txBody>
          </p:sp>
          <p:sp>
            <p:nvSpPr>
              <p:cNvPr id="15" name="Rectangle 86"/>
              <p:cNvSpPr>
                <a:spLocks noChangeArrowheads="1"/>
              </p:cNvSpPr>
              <p:nvPr/>
            </p:nvSpPr>
            <p:spPr bwMode="auto">
              <a:xfrm>
                <a:off x="7928892" y="1399134"/>
                <a:ext cx="290512" cy="239713"/>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3</a:t>
                </a:r>
              </a:p>
            </p:txBody>
          </p:sp>
        </p:grpSp>
      </p:grpSp>
      <p:sp>
        <p:nvSpPr>
          <p:cNvPr id="18" name="Rectangle 32"/>
          <p:cNvSpPr>
            <a:spLocks noChangeArrowheads="1"/>
          </p:cNvSpPr>
          <p:nvPr>
            <p:custDataLst>
              <p:tags r:id="rId5"/>
            </p:custDataLst>
          </p:nvPr>
        </p:nvSpPr>
        <p:spPr bwMode="auto">
          <a:xfrm>
            <a:off x="2049924" y="1255593"/>
            <a:ext cx="2844000" cy="534988"/>
          </a:xfrm>
          <a:prstGeom prst="rect">
            <a:avLst/>
          </a:prstGeom>
          <a:solidFill>
            <a:srgbClr val="366B7E"/>
          </a:solidFill>
          <a:ln w="19050">
            <a:noFill/>
            <a:miter lim="800000"/>
          </a:ln>
        </p:spPr>
        <p:txBody>
          <a:bodyPr wrap="none" anchor="ctr"/>
          <a:lstStyle/>
          <a:p>
            <a:pPr algn="ctr">
              <a:defRPr/>
            </a:pPr>
            <a:r>
              <a:rPr kumimoji="1" lang="zh-CN" altLang="en-US" sz="1400" dirty="0">
                <a:solidFill>
                  <a:srgbClr val="FFFFFF"/>
                </a:solidFill>
                <a:latin typeface="微软雅黑" panose="020B0503020204020204" pitchFamily="34" charset="-122"/>
                <a:ea typeface="微软雅黑" panose="020B0503020204020204" pitchFamily="34" charset="-122"/>
              </a:rPr>
              <a:t>第一阶段</a:t>
            </a:r>
            <a:r>
              <a:rPr kumimoji="1" lang="en-US" altLang="zh-CN" sz="1100" dirty="0">
                <a:solidFill>
                  <a:srgbClr val="FFFFFF"/>
                </a:solidFill>
                <a:latin typeface="微软雅黑" panose="020B0503020204020204" pitchFamily="34" charset="-122"/>
                <a:ea typeface="微软雅黑" panose="020B0503020204020204" pitchFamily="34" charset="-122"/>
              </a:rPr>
              <a:t>(</a:t>
            </a:r>
            <a:r>
              <a:rPr kumimoji="1" lang="zh-CN" altLang="en-US" sz="1100" dirty="0">
                <a:solidFill>
                  <a:srgbClr val="FFFFFF"/>
                </a:solidFill>
                <a:latin typeface="微软雅黑" panose="020B0503020204020204" pitchFamily="34" charset="-122"/>
                <a:ea typeface="微软雅黑" panose="020B0503020204020204" pitchFamily="34" charset="-122"/>
              </a:rPr>
              <a:t>新晋</a:t>
            </a:r>
            <a:r>
              <a:rPr kumimoji="1" lang="en-US" altLang="zh-CN" sz="1100" dirty="0">
                <a:solidFill>
                  <a:srgbClr val="FFFFFF"/>
                </a:solidFill>
                <a:latin typeface="微软雅黑" panose="020B0503020204020204" pitchFamily="34" charset="-122"/>
                <a:ea typeface="微软雅黑" panose="020B0503020204020204" pitchFamily="34" charset="-122"/>
              </a:rPr>
              <a:t>/</a:t>
            </a:r>
            <a:r>
              <a:rPr kumimoji="1" lang="zh-CN" altLang="en-US" sz="1100" dirty="0">
                <a:solidFill>
                  <a:srgbClr val="FFFFFF"/>
                </a:solidFill>
                <a:latin typeface="微软雅黑" panose="020B0503020204020204" pitchFamily="34" charset="-122"/>
                <a:ea typeface="微软雅黑" panose="020B0503020204020204" pitchFamily="34" charset="-122"/>
              </a:rPr>
              <a:t>转岗培训</a:t>
            </a:r>
            <a:r>
              <a:rPr kumimoji="1" lang="en-US" altLang="zh-CN" sz="1100" dirty="0">
                <a:solidFill>
                  <a:srgbClr val="FFFFFF"/>
                </a:solidFill>
                <a:latin typeface="微软雅黑" panose="020B0503020204020204" pitchFamily="34" charset="-122"/>
                <a:ea typeface="微软雅黑" panose="020B0503020204020204" pitchFamily="34" charset="-122"/>
              </a:rPr>
              <a:t>)</a:t>
            </a:r>
          </a:p>
        </p:txBody>
      </p:sp>
      <p:sp>
        <p:nvSpPr>
          <p:cNvPr id="19" name="Rectangle 32"/>
          <p:cNvSpPr>
            <a:spLocks noChangeArrowheads="1"/>
          </p:cNvSpPr>
          <p:nvPr>
            <p:custDataLst>
              <p:tags r:id="rId6"/>
            </p:custDataLst>
          </p:nvPr>
        </p:nvSpPr>
        <p:spPr bwMode="auto">
          <a:xfrm>
            <a:off x="4997805" y="1255593"/>
            <a:ext cx="2844000" cy="536575"/>
          </a:xfrm>
          <a:prstGeom prst="rect">
            <a:avLst/>
          </a:prstGeom>
          <a:solidFill>
            <a:srgbClr val="366B7E"/>
          </a:solidFill>
          <a:ln w="19050">
            <a:noFill/>
            <a:miter lim="800000"/>
          </a:ln>
        </p:spPr>
        <p:txBody>
          <a:bodyPr wrap="none" anchor="ctr"/>
          <a:lstStyle/>
          <a:p>
            <a:pPr algn="ctr"/>
            <a:r>
              <a:rPr kumimoji="1" lang="en-US" altLang="zh-CN" sz="1400" dirty="0">
                <a:solidFill>
                  <a:srgbClr val="FFFFFF"/>
                </a:solidFill>
                <a:latin typeface="微软雅黑" panose="020B0503020204020204" pitchFamily="34" charset="-122"/>
                <a:ea typeface="微软雅黑" panose="020B0503020204020204" pitchFamily="34" charset="-122"/>
              </a:rPr>
              <a:t>   </a:t>
            </a:r>
            <a:r>
              <a:rPr kumimoji="1" lang="zh-CN" altLang="en-US" sz="1400" dirty="0">
                <a:solidFill>
                  <a:srgbClr val="FFFFFF"/>
                </a:solidFill>
                <a:latin typeface="微软雅黑" panose="020B0503020204020204" pitchFamily="34" charset="-122"/>
                <a:ea typeface="微软雅黑" panose="020B0503020204020204" pitchFamily="34" charset="-122"/>
              </a:rPr>
              <a:t>第二阶段</a:t>
            </a:r>
            <a:r>
              <a:rPr kumimoji="1" lang="zh-CN" altLang="en-US" sz="1100" dirty="0">
                <a:solidFill>
                  <a:srgbClr val="FFFFFF"/>
                </a:solidFill>
                <a:latin typeface="微软雅黑" panose="020B0503020204020204" pitchFamily="34" charset="-122"/>
                <a:ea typeface="微软雅黑" panose="020B0503020204020204" pitchFamily="34" charset="-122"/>
              </a:rPr>
              <a:t>（进阶培训）</a:t>
            </a:r>
          </a:p>
        </p:txBody>
      </p:sp>
      <p:sp>
        <p:nvSpPr>
          <p:cNvPr id="20" name="AutoShape 59"/>
          <p:cNvSpPr>
            <a:spLocks noChangeArrowheads="1"/>
          </p:cNvSpPr>
          <p:nvPr>
            <p:custDataLst>
              <p:tags r:id="rId7"/>
            </p:custDataLst>
          </p:nvPr>
        </p:nvSpPr>
        <p:spPr bwMode="auto">
          <a:xfrm>
            <a:off x="4751081" y="1343992"/>
            <a:ext cx="385880" cy="377825"/>
          </a:xfrm>
          <a:prstGeom prst="rightArrow">
            <a:avLst>
              <a:gd name="adj1" fmla="val 50000"/>
              <a:gd name="adj2" fmla="val 26549"/>
            </a:avLst>
          </a:prstGeom>
          <a:solidFill>
            <a:srgbClr val="FFAA00"/>
          </a:solidFill>
          <a:ln w="9525">
            <a:noFill/>
            <a:miter lim="800000"/>
          </a:ln>
        </p:spPr>
        <p:txBody>
          <a:bodyPr wrap="none" lIns="0" tIns="0" rIns="0" bIns="0" anchor="ctr"/>
          <a:lstStyle/>
          <a:p>
            <a:endParaRPr kumimoji="1" lang="zh-CN" altLang="zh-CN" sz="1200"/>
          </a:p>
        </p:txBody>
      </p:sp>
      <p:sp>
        <p:nvSpPr>
          <p:cNvPr id="27" name="Line 11"/>
          <p:cNvSpPr>
            <a:spLocks noChangeShapeType="1"/>
          </p:cNvSpPr>
          <p:nvPr>
            <p:custDataLst>
              <p:tags r:id="rId8"/>
            </p:custDataLst>
          </p:nvPr>
        </p:nvSpPr>
        <p:spPr bwMode="auto">
          <a:xfrm>
            <a:off x="490094" y="6100899"/>
            <a:ext cx="8928100" cy="0"/>
          </a:xfrm>
          <a:prstGeom prst="line">
            <a:avLst/>
          </a:prstGeom>
          <a:noFill/>
          <a:ln w="38100">
            <a:solidFill>
              <a:schemeClr val="folHlink"/>
            </a:solidFill>
            <a:round/>
            <a:tailEnd type="triangle" w="med" len="med"/>
          </a:ln>
        </p:spPr>
        <p:txBody>
          <a:bodyPr lIns="0" tIns="0" rIns="0" bIns="0"/>
          <a:lstStyle/>
          <a:p>
            <a:endParaRPr lang="zh-CN" altLang="en-US"/>
          </a:p>
        </p:txBody>
      </p:sp>
      <p:sp>
        <p:nvSpPr>
          <p:cNvPr id="28" name="Oval 18"/>
          <p:cNvSpPr>
            <a:spLocks noChangeArrowheads="1"/>
          </p:cNvSpPr>
          <p:nvPr>
            <p:custDataLst>
              <p:tags r:id="rId9"/>
            </p:custDataLst>
          </p:nvPr>
        </p:nvSpPr>
        <p:spPr bwMode="auto">
          <a:xfrm>
            <a:off x="488509" y="6013597"/>
            <a:ext cx="142875"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30" name="Oval 25"/>
          <p:cNvSpPr>
            <a:spLocks noChangeArrowheads="1"/>
          </p:cNvSpPr>
          <p:nvPr>
            <p:custDataLst>
              <p:tags r:id="rId10"/>
            </p:custDataLst>
          </p:nvPr>
        </p:nvSpPr>
        <p:spPr bwMode="auto">
          <a:xfrm>
            <a:off x="9135616" y="6008834"/>
            <a:ext cx="139700"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31" name="Text Box 26"/>
          <p:cNvSpPr txBox="1">
            <a:spLocks noChangeArrowheads="1"/>
          </p:cNvSpPr>
          <p:nvPr>
            <p:custDataLst>
              <p:tags r:id="rId11"/>
            </p:custDataLst>
          </p:nvPr>
        </p:nvSpPr>
        <p:spPr bwMode="auto">
          <a:xfrm>
            <a:off x="8490274" y="6172337"/>
            <a:ext cx="248466"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2</a:t>
            </a:r>
            <a:r>
              <a:rPr kumimoji="1" lang="zh-CN" altLang="en-US" sz="1200" b="0" dirty="0">
                <a:latin typeface="微软雅黑" panose="020B0503020204020204" pitchFamily="34" charset="-122"/>
                <a:ea typeface="微软雅黑" panose="020B0503020204020204" pitchFamily="34" charset="-122"/>
              </a:rPr>
              <a:t>周</a:t>
            </a:r>
          </a:p>
        </p:txBody>
      </p:sp>
      <p:sp>
        <p:nvSpPr>
          <p:cNvPr id="32" name="Text Box 21"/>
          <p:cNvSpPr txBox="1">
            <a:spLocks noChangeArrowheads="1"/>
          </p:cNvSpPr>
          <p:nvPr>
            <p:custDataLst>
              <p:tags r:id="rId12"/>
            </p:custDataLst>
          </p:nvPr>
        </p:nvSpPr>
        <p:spPr bwMode="auto">
          <a:xfrm>
            <a:off x="3098755" y="6172337"/>
            <a:ext cx="864019"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2</a:t>
            </a:r>
            <a:r>
              <a:rPr kumimoji="1" lang="zh-CN" altLang="en-US" sz="1200" b="0" dirty="0">
                <a:latin typeface="微软雅黑" panose="020B0503020204020204" pitchFamily="34" charset="-122"/>
                <a:ea typeface="微软雅黑" panose="020B0503020204020204" pitchFamily="34" charset="-122"/>
              </a:rPr>
              <a:t>个月内完成</a:t>
            </a:r>
          </a:p>
        </p:txBody>
      </p:sp>
      <p:sp>
        <p:nvSpPr>
          <p:cNvPr id="33" name="Text Box 21"/>
          <p:cNvSpPr txBox="1">
            <a:spLocks noChangeArrowheads="1"/>
          </p:cNvSpPr>
          <p:nvPr>
            <p:custDataLst>
              <p:tags r:id="rId13"/>
            </p:custDataLst>
          </p:nvPr>
        </p:nvSpPr>
        <p:spPr bwMode="auto">
          <a:xfrm>
            <a:off x="5978408" y="6186624"/>
            <a:ext cx="864019"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2</a:t>
            </a:r>
            <a:r>
              <a:rPr kumimoji="1" lang="zh-CN" altLang="en-US" sz="1200" b="0" dirty="0">
                <a:latin typeface="微软雅黑" panose="020B0503020204020204" pitchFamily="34" charset="-122"/>
                <a:ea typeface="微软雅黑" panose="020B0503020204020204" pitchFamily="34" charset="-122"/>
              </a:rPr>
              <a:t>个月内完成</a:t>
            </a:r>
          </a:p>
        </p:txBody>
      </p:sp>
      <p:sp>
        <p:nvSpPr>
          <p:cNvPr id="34" name="等腰三角形 90"/>
          <p:cNvSpPr>
            <a:spLocks noChangeArrowheads="1"/>
          </p:cNvSpPr>
          <p:nvPr>
            <p:custDataLst>
              <p:tags r:id="rId14"/>
            </p:custDataLst>
          </p:nvPr>
        </p:nvSpPr>
        <p:spPr bwMode="auto">
          <a:xfrm>
            <a:off x="1929959" y="5984571"/>
            <a:ext cx="152400" cy="249237"/>
          </a:xfrm>
          <a:prstGeom prst="triangle">
            <a:avLst>
              <a:gd name="adj" fmla="val 50000"/>
            </a:avLst>
          </a:prstGeom>
          <a:solidFill>
            <a:srgbClr val="366B7E"/>
          </a:solidFill>
          <a:ln w="22225" algn="ctr">
            <a:solidFill>
              <a:schemeClr val="bg1"/>
            </a:solidFill>
            <a:round/>
          </a:ln>
        </p:spPr>
        <p:txBody>
          <a:bodyPr lIns="0" tIns="0" rIns="0" bIns="0"/>
          <a:lstStyle/>
          <a:p>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5" name="等腰三角形 96"/>
          <p:cNvSpPr>
            <a:spLocks noChangeArrowheads="1"/>
          </p:cNvSpPr>
          <p:nvPr>
            <p:custDataLst>
              <p:tags r:id="rId15"/>
            </p:custDataLst>
          </p:nvPr>
        </p:nvSpPr>
        <p:spPr bwMode="auto">
          <a:xfrm>
            <a:off x="7859271" y="5984571"/>
            <a:ext cx="152400" cy="249238"/>
          </a:xfrm>
          <a:prstGeom prst="triangle">
            <a:avLst>
              <a:gd name="adj" fmla="val 50000"/>
            </a:avLst>
          </a:prstGeom>
          <a:solidFill>
            <a:srgbClr val="366B7E"/>
          </a:solidFill>
          <a:ln w="22225" algn="ctr">
            <a:solidFill>
              <a:schemeClr val="bg1"/>
            </a:solidFill>
            <a:round/>
          </a:ln>
        </p:spPr>
        <p:txBody>
          <a:bodyPr lIns="0" tIns="0" rIns="0" bIns="0"/>
          <a:lstStyle/>
          <a:p>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6" name="Oval 18"/>
          <p:cNvSpPr>
            <a:spLocks noChangeArrowheads="1"/>
          </p:cNvSpPr>
          <p:nvPr>
            <p:custDataLst>
              <p:tags r:id="rId16"/>
            </p:custDataLst>
          </p:nvPr>
        </p:nvSpPr>
        <p:spPr bwMode="auto">
          <a:xfrm>
            <a:off x="4923985" y="6013597"/>
            <a:ext cx="142875"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58" name="AutoShape 63"/>
          <p:cNvSpPr>
            <a:spLocks noChangeArrowheads="1"/>
          </p:cNvSpPr>
          <p:nvPr>
            <p:custDataLst>
              <p:tags r:id="rId17"/>
            </p:custDataLst>
          </p:nvPr>
        </p:nvSpPr>
        <p:spPr bwMode="auto">
          <a:xfrm>
            <a:off x="601513" y="1275659"/>
            <a:ext cx="1368000" cy="4707634"/>
          </a:xfrm>
          <a:prstGeom prst="roundRect">
            <a:avLst>
              <a:gd name="adj" fmla="val 4247"/>
            </a:avLst>
          </a:prstGeom>
          <a:solidFill>
            <a:schemeClr val="accent6">
              <a:lumMod val="50000"/>
            </a:schemeClr>
          </a:solidFill>
          <a:ln w="9525">
            <a:noFill/>
            <a:round/>
          </a:ln>
        </p:spPr>
        <p:txBody>
          <a:bodyPr/>
          <a:lstStyle/>
          <a:p>
            <a:pPr algn="just">
              <a:defRPr/>
            </a:pPr>
            <a:endParaRPr lang="zh-CN" altLang="zh-CN" sz="1200" kern="0">
              <a:solidFill>
                <a:srgbClr val="FFFFFF"/>
              </a:solidFill>
              <a:latin typeface="微软雅黑" panose="020B0503020204020204" pitchFamily="34" charset="-122"/>
              <a:ea typeface="微软雅黑" panose="020B0503020204020204" pitchFamily="34" charset="-122"/>
            </a:endParaRPr>
          </a:p>
        </p:txBody>
      </p:sp>
      <p:sp>
        <p:nvSpPr>
          <p:cNvPr id="97" name="Text Box 21"/>
          <p:cNvSpPr txBox="1">
            <a:spLocks noChangeArrowheads="1"/>
          </p:cNvSpPr>
          <p:nvPr>
            <p:custDataLst>
              <p:tags r:id="rId18"/>
            </p:custDataLst>
          </p:nvPr>
        </p:nvSpPr>
        <p:spPr bwMode="auto">
          <a:xfrm>
            <a:off x="272486" y="6180938"/>
            <a:ext cx="556370"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Kick-off</a:t>
            </a:r>
            <a:endParaRPr kumimoji="1" lang="zh-CN" altLang="en-US" sz="1200" b="0" dirty="0">
              <a:latin typeface="微软雅黑" panose="020B0503020204020204" pitchFamily="34" charset="-122"/>
              <a:ea typeface="微软雅黑" panose="020B0503020204020204" pitchFamily="34" charset="-122"/>
            </a:endParaRPr>
          </a:p>
        </p:txBody>
      </p:sp>
      <p:sp>
        <p:nvSpPr>
          <p:cNvPr id="115" name="Rectangle 58"/>
          <p:cNvSpPr>
            <a:spLocks noChangeArrowheads="1"/>
          </p:cNvSpPr>
          <p:nvPr>
            <p:custDataLst>
              <p:tags r:id="rId19"/>
            </p:custDataLst>
          </p:nvPr>
        </p:nvSpPr>
        <p:spPr bwMode="auto">
          <a:xfrm>
            <a:off x="2049437" y="1812399"/>
            <a:ext cx="5696988" cy="261818"/>
          </a:xfrm>
          <a:prstGeom prst="rect">
            <a:avLst/>
          </a:prstGeom>
          <a:solidFill>
            <a:schemeClr val="tx1">
              <a:lumMod val="65000"/>
              <a:lumOff val="35000"/>
              <a:alpha val="87842"/>
            </a:schemeClr>
          </a:solidFill>
          <a:ln w="9525">
            <a:noFill/>
            <a:miter lim="800000"/>
          </a:ln>
        </p:spPr>
        <p:txBody>
          <a:bodyPr wrap="none" lIns="0" tIns="0" rIns="0" bIns="0" anchor="ctr"/>
          <a:lstStyle/>
          <a:p>
            <a:pPr algn="ctr"/>
            <a:r>
              <a:rPr kumimoji="1" lang="zh-CN" altLang="en-US" sz="1200" dirty="0">
                <a:solidFill>
                  <a:srgbClr val="FFFFFF"/>
                </a:solidFill>
                <a:ea typeface="微软雅黑" panose="020B0503020204020204" pitchFamily="34" charset="-122"/>
              </a:rPr>
              <a:t>完成训前指定自主学习任务</a:t>
            </a:r>
          </a:p>
        </p:txBody>
      </p:sp>
      <p:grpSp>
        <p:nvGrpSpPr>
          <p:cNvPr id="119" name="组合 118"/>
          <p:cNvGrpSpPr/>
          <p:nvPr>
            <p:custDataLst>
              <p:tags r:id="rId20"/>
            </p:custDataLst>
          </p:nvPr>
        </p:nvGrpSpPr>
        <p:grpSpPr>
          <a:xfrm>
            <a:off x="2006159" y="5407192"/>
            <a:ext cx="5868000" cy="576000"/>
            <a:chOff x="2006159" y="5677315"/>
            <a:chExt cx="7096047" cy="577849"/>
          </a:xfrm>
        </p:grpSpPr>
        <p:sp>
          <p:nvSpPr>
            <p:cNvPr id="118" name="Freeform 3"/>
            <p:cNvSpPr/>
            <p:nvPr>
              <p:custDataLst>
                <p:tags r:id="rId63"/>
              </p:custDataLst>
            </p:nvPr>
          </p:nvSpPr>
          <p:spPr bwMode="auto">
            <a:xfrm>
              <a:off x="7435395" y="5677315"/>
              <a:ext cx="1666811" cy="577849"/>
            </a:xfrm>
            <a:custGeom>
              <a:avLst/>
              <a:gdLst>
                <a:gd name="T0" fmla="*/ 0 w 825"/>
                <a:gd name="T1" fmla="*/ 0 h 1113"/>
                <a:gd name="T2" fmla="*/ 143481 w 825"/>
                <a:gd name="T3" fmla="*/ 0 h 1113"/>
                <a:gd name="T4" fmla="*/ 169625 w 825"/>
                <a:gd name="T5" fmla="*/ 1 h 1113"/>
                <a:gd name="T6" fmla="*/ 143481 w 825"/>
                <a:gd name="T7" fmla="*/ 1 h 1113"/>
                <a:gd name="T8" fmla="*/ 0 w 825"/>
                <a:gd name="T9" fmla="*/ 1 h 1113"/>
                <a:gd name="T10" fmla="*/ 22850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sp>
          <p:nvSpPr>
            <p:cNvPr id="47" name="Freeform 3"/>
            <p:cNvSpPr/>
            <p:nvPr>
              <p:custDataLst>
                <p:tags r:id="rId64"/>
              </p:custDataLst>
            </p:nvPr>
          </p:nvSpPr>
          <p:spPr bwMode="auto">
            <a:xfrm>
              <a:off x="2006159" y="5677315"/>
              <a:ext cx="1666810" cy="577847"/>
            </a:xfrm>
            <a:custGeom>
              <a:avLst/>
              <a:gdLst>
                <a:gd name="T0" fmla="*/ 0 w 825"/>
                <a:gd name="T1" fmla="*/ 0 h 1113"/>
                <a:gd name="T2" fmla="*/ 151115746 w 825"/>
                <a:gd name="T3" fmla="*/ 0 h 1113"/>
                <a:gd name="T4" fmla="*/ 178650513 w 825"/>
                <a:gd name="T5" fmla="*/ 198 h 1113"/>
                <a:gd name="T6" fmla="*/ 151115746 w 825"/>
                <a:gd name="T7" fmla="*/ 396 h 1113"/>
                <a:gd name="T8" fmla="*/ 0 w 825"/>
                <a:gd name="T9" fmla="*/ 396 h 1113"/>
                <a:gd name="T10" fmla="*/ 24065853 w 825"/>
                <a:gd name="T11" fmla="*/ 198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lgn="ctr">
              <a:solidFill>
                <a:srgbClr val="FFFFFF"/>
              </a:solidFill>
              <a:round/>
            </a:ln>
          </p:spPr>
          <p:txBody>
            <a:bodyPr/>
            <a:lstStyle/>
            <a:p>
              <a:pPr>
                <a:defRPr/>
              </a:pPr>
              <a:endParaRPr lang="zh-CN" altLang="en-US" sz="1100" kern="0"/>
            </a:p>
          </p:txBody>
        </p:sp>
        <p:sp>
          <p:nvSpPr>
            <p:cNvPr id="48" name="Freeform 3"/>
            <p:cNvSpPr/>
            <p:nvPr>
              <p:custDataLst>
                <p:tags r:id="rId65"/>
              </p:custDataLst>
            </p:nvPr>
          </p:nvSpPr>
          <p:spPr bwMode="auto">
            <a:xfrm>
              <a:off x="3363468" y="5677315"/>
              <a:ext cx="1666810" cy="577847"/>
            </a:xfrm>
            <a:custGeom>
              <a:avLst/>
              <a:gdLst>
                <a:gd name="T0" fmla="*/ 0 w 825"/>
                <a:gd name="T1" fmla="*/ 0 h 1113"/>
                <a:gd name="T2" fmla="*/ 147341 w 825"/>
                <a:gd name="T3" fmla="*/ 0 h 1113"/>
                <a:gd name="T4" fmla="*/ 174188 w 825"/>
                <a:gd name="T5" fmla="*/ 1 h 1113"/>
                <a:gd name="T6" fmla="*/ 147341 w 825"/>
                <a:gd name="T7" fmla="*/ 1 h 1113"/>
                <a:gd name="T8" fmla="*/ 0 w 825"/>
                <a:gd name="T9" fmla="*/ 1 h 1113"/>
                <a:gd name="T10" fmla="*/ 23465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sp>
          <p:nvSpPr>
            <p:cNvPr id="49" name="Freeform 3"/>
            <p:cNvSpPr/>
            <p:nvPr>
              <p:custDataLst>
                <p:tags r:id="rId66"/>
              </p:custDataLst>
            </p:nvPr>
          </p:nvSpPr>
          <p:spPr bwMode="auto">
            <a:xfrm>
              <a:off x="4720777" y="5677315"/>
              <a:ext cx="1666810" cy="577847"/>
            </a:xfrm>
            <a:custGeom>
              <a:avLst/>
              <a:gdLst>
                <a:gd name="T0" fmla="*/ 0 w 825"/>
                <a:gd name="T1" fmla="*/ 0 h 1113"/>
                <a:gd name="T2" fmla="*/ 143481 w 825"/>
                <a:gd name="T3" fmla="*/ 0 h 1113"/>
                <a:gd name="T4" fmla="*/ 169625 w 825"/>
                <a:gd name="T5" fmla="*/ 1 h 1113"/>
                <a:gd name="T6" fmla="*/ 143481 w 825"/>
                <a:gd name="T7" fmla="*/ 1 h 1113"/>
                <a:gd name="T8" fmla="*/ 0 w 825"/>
                <a:gd name="T9" fmla="*/ 1 h 1113"/>
                <a:gd name="T10" fmla="*/ 22850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sp>
          <p:nvSpPr>
            <p:cNvPr id="50" name="Freeform 3"/>
            <p:cNvSpPr/>
            <p:nvPr>
              <p:custDataLst>
                <p:tags r:id="rId67"/>
              </p:custDataLst>
            </p:nvPr>
          </p:nvSpPr>
          <p:spPr bwMode="auto">
            <a:xfrm>
              <a:off x="6078086" y="5677315"/>
              <a:ext cx="1666811" cy="577849"/>
            </a:xfrm>
            <a:custGeom>
              <a:avLst/>
              <a:gdLst>
                <a:gd name="T0" fmla="*/ 0 w 825"/>
                <a:gd name="T1" fmla="*/ 0 h 1113"/>
                <a:gd name="T2" fmla="*/ 143481 w 825"/>
                <a:gd name="T3" fmla="*/ 0 h 1113"/>
                <a:gd name="T4" fmla="*/ 169625 w 825"/>
                <a:gd name="T5" fmla="*/ 1 h 1113"/>
                <a:gd name="T6" fmla="*/ 143481 w 825"/>
                <a:gd name="T7" fmla="*/ 1 h 1113"/>
                <a:gd name="T8" fmla="*/ 0 w 825"/>
                <a:gd name="T9" fmla="*/ 1 h 1113"/>
                <a:gd name="T10" fmla="*/ 22850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grpSp>
      <p:sp>
        <p:nvSpPr>
          <p:cNvPr id="51" name="Rectangle 5"/>
          <p:cNvSpPr>
            <a:spLocks noChangeArrowheads="1"/>
          </p:cNvSpPr>
          <p:nvPr>
            <p:custDataLst>
              <p:tags r:id="rId21"/>
            </p:custDataLst>
          </p:nvPr>
        </p:nvSpPr>
        <p:spPr bwMode="auto">
          <a:xfrm>
            <a:off x="5768240" y="5606867"/>
            <a:ext cx="615554" cy="184666"/>
          </a:xfrm>
          <a:prstGeom prst="rect">
            <a:avLst/>
          </a:prstGeom>
          <a:noFill/>
          <a:ln>
            <a:noFill/>
          </a:ln>
        </p:spPr>
        <p:txBody>
          <a:bodyPr wrap="none" lIns="0" tIns="0" rIns="0" bIns="0" anchor="ctr">
            <a:spAutoFit/>
          </a:bodyPr>
          <a:lstStyle/>
          <a:p>
            <a:pPr algn="ctr">
              <a:defRPr/>
            </a:pPr>
            <a:r>
              <a:rPr lang="zh-CN" altLang="en-US" sz="1200" kern="0" dirty="0">
                <a:latin typeface="微软雅黑" panose="020B0503020204020204" pitchFamily="34" charset="-122"/>
                <a:ea typeface="微软雅黑" panose="020B0503020204020204" pitchFamily="34" charset="-122"/>
                <a:cs typeface="黑体" panose="02010609060101010101" pitchFamily="49" charset="-122"/>
              </a:rPr>
              <a:t>在岗实践</a:t>
            </a:r>
          </a:p>
        </p:txBody>
      </p:sp>
      <p:sp>
        <p:nvSpPr>
          <p:cNvPr id="52" name="Rectangle 5"/>
          <p:cNvSpPr>
            <a:spLocks noChangeArrowheads="1"/>
          </p:cNvSpPr>
          <p:nvPr>
            <p:custDataLst>
              <p:tags r:id="rId22"/>
            </p:custDataLst>
          </p:nvPr>
        </p:nvSpPr>
        <p:spPr bwMode="auto">
          <a:xfrm>
            <a:off x="2254382" y="5529922"/>
            <a:ext cx="864000" cy="338554"/>
          </a:xfrm>
          <a:prstGeom prst="rect">
            <a:avLst/>
          </a:prstGeom>
          <a:noFill/>
          <a:ln>
            <a:noFill/>
          </a:ln>
        </p:spPr>
        <p:txBody>
          <a:bodyPr wrap="square" lIns="0" tIns="0" rIns="0" bIns="0" anchor="ctr">
            <a:no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结合培养内容与工作选题</a:t>
            </a:r>
          </a:p>
        </p:txBody>
      </p:sp>
      <p:sp>
        <p:nvSpPr>
          <p:cNvPr id="53" name="Rectangle 5"/>
          <p:cNvSpPr>
            <a:spLocks noChangeArrowheads="1"/>
          </p:cNvSpPr>
          <p:nvPr>
            <p:custDataLst>
              <p:tags r:id="rId23"/>
            </p:custDataLst>
          </p:nvPr>
        </p:nvSpPr>
        <p:spPr bwMode="auto">
          <a:xfrm>
            <a:off x="3403746" y="5614561"/>
            <a:ext cx="828000" cy="169277"/>
          </a:xfrm>
          <a:prstGeom prst="rect">
            <a:avLst/>
          </a:prstGeom>
          <a:noFill/>
          <a:ln>
            <a:noFill/>
          </a:ln>
        </p:spPr>
        <p:txBody>
          <a:bodyPr wrap="square" lIns="0" tIns="0" rIns="0" bIns="0" anchor="ctr">
            <a:no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运用所学进行研讨分析</a:t>
            </a:r>
          </a:p>
        </p:txBody>
      </p:sp>
      <p:sp>
        <p:nvSpPr>
          <p:cNvPr id="54" name="Rectangle 5"/>
          <p:cNvSpPr>
            <a:spLocks noChangeArrowheads="1"/>
          </p:cNvSpPr>
          <p:nvPr>
            <p:custDataLst>
              <p:tags r:id="rId24"/>
            </p:custDataLst>
          </p:nvPr>
        </p:nvSpPr>
        <p:spPr bwMode="auto">
          <a:xfrm>
            <a:off x="4514239" y="5530464"/>
            <a:ext cx="846386" cy="337471"/>
          </a:xfrm>
          <a:prstGeom prst="rect">
            <a:avLst/>
          </a:prstGeom>
          <a:noFill/>
          <a:ln>
            <a:noFill/>
          </a:ln>
        </p:spPr>
        <p:txBody>
          <a:bodyPr wrap="none" lIns="0" tIns="0" rIns="0" bIns="0" anchor="ctr">
            <a:sp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研讨解决方案</a:t>
            </a:r>
            <a:endParaRPr lang="en-US" altLang="zh-CN" sz="1100" kern="0" dirty="0">
              <a:latin typeface="微软雅黑" panose="020B0503020204020204" pitchFamily="34" charset="-122"/>
              <a:ea typeface="微软雅黑" panose="020B0503020204020204" pitchFamily="34" charset="-122"/>
              <a:cs typeface="黑体" panose="02010609060101010101" pitchFamily="49" charset="-122"/>
            </a:endParaRPr>
          </a:p>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指定行动计划</a:t>
            </a:r>
          </a:p>
        </p:txBody>
      </p:sp>
      <p:sp>
        <p:nvSpPr>
          <p:cNvPr id="120" name="Rectangle 5"/>
          <p:cNvSpPr>
            <a:spLocks noChangeArrowheads="1"/>
          </p:cNvSpPr>
          <p:nvPr>
            <p:custDataLst>
              <p:tags r:id="rId25"/>
            </p:custDataLst>
          </p:nvPr>
        </p:nvSpPr>
        <p:spPr bwMode="auto">
          <a:xfrm>
            <a:off x="6997538" y="5529922"/>
            <a:ext cx="564257" cy="338554"/>
          </a:xfrm>
          <a:prstGeom prst="rect">
            <a:avLst/>
          </a:prstGeom>
          <a:noFill/>
          <a:ln>
            <a:noFill/>
          </a:ln>
        </p:spPr>
        <p:txBody>
          <a:bodyPr wrap="none" lIns="0" tIns="0" rIns="0" bIns="0" anchor="ctr">
            <a:sp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评估效果</a:t>
            </a:r>
            <a:endParaRPr lang="en-US" altLang="zh-CN" sz="1100" kern="0" dirty="0">
              <a:latin typeface="微软雅黑" panose="020B0503020204020204" pitchFamily="34" charset="-122"/>
              <a:ea typeface="微软雅黑" panose="020B0503020204020204" pitchFamily="34" charset="-122"/>
              <a:cs typeface="黑体" panose="02010609060101010101" pitchFamily="49" charset="-122"/>
            </a:endParaRPr>
          </a:p>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总结经验</a:t>
            </a:r>
            <a:endParaRPr lang="en-US" altLang="zh-CN" sz="1100" kern="0" dirty="0">
              <a:latin typeface="微软雅黑" panose="020B0503020204020204" pitchFamily="34" charset="-122"/>
              <a:ea typeface="微软雅黑" panose="020B0503020204020204" pitchFamily="34" charset="-122"/>
              <a:cs typeface="黑体" panose="02010609060101010101" pitchFamily="49" charset="-122"/>
            </a:endParaRPr>
          </a:p>
        </p:txBody>
      </p:sp>
      <p:sp>
        <p:nvSpPr>
          <p:cNvPr id="123" name="Rectangle 58"/>
          <p:cNvSpPr>
            <a:spLocks noChangeArrowheads="1"/>
          </p:cNvSpPr>
          <p:nvPr/>
        </p:nvSpPr>
        <p:spPr bwMode="auto">
          <a:xfrm>
            <a:off x="2049925" y="5024674"/>
            <a:ext cx="5796000" cy="360000"/>
          </a:xfrm>
          <a:prstGeom prst="rect">
            <a:avLst/>
          </a:prstGeom>
          <a:solidFill>
            <a:schemeClr val="accent1">
              <a:lumMod val="75000"/>
              <a:alpha val="87842"/>
            </a:schemeClr>
          </a:solidFill>
          <a:ln w="9525">
            <a:noFill/>
            <a:miter lim="800000"/>
          </a:ln>
        </p:spPr>
        <p:txBody>
          <a:bodyPr wrap="none" lIns="0" tIns="0" rIns="0" bIns="0" anchor="ctr"/>
          <a:lstStyle/>
          <a:p>
            <a:pPr algn="ctr"/>
            <a:r>
              <a:rPr kumimoji="1" lang="zh-CN" altLang="en-US" sz="1200" dirty="0">
                <a:ea typeface="微软雅黑" panose="020B0503020204020204" pitchFamily="34" charset="-122"/>
              </a:rPr>
              <a:t>完成面授课程中安排的在岗实践任务（含在岗辅导内容，匹配相应工具表格）</a:t>
            </a:r>
          </a:p>
        </p:txBody>
      </p:sp>
      <p:grpSp>
        <p:nvGrpSpPr>
          <p:cNvPr id="41" name="组合 40"/>
          <p:cNvGrpSpPr/>
          <p:nvPr>
            <p:custDataLst>
              <p:tags r:id="rId26"/>
            </p:custDataLst>
          </p:nvPr>
        </p:nvGrpSpPr>
        <p:grpSpPr>
          <a:xfrm>
            <a:off x="691357" y="1372725"/>
            <a:ext cx="1214437" cy="4165940"/>
            <a:chOff x="691357" y="1847594"/>
            <a:chExt cx="1214437" cy="4165940"/>
          </a:xfrm>
        </p:grpSpPr>
        <p:grpSp>
          <p:nvGrpSpPr>
            <p:cNvPr id="59" name="组合 1"/>
            <p:cNvGrpSpPr/>
            <p:nvPr>
              <p:custDataLst>
                <p:tags r:id="rId59"/>
              </p:custDataLst>
            </p:nvPr>
          </p:nvGrpSpPr>
          <p:grpSpPr bwMode="auto">
            <a:xfrm>
              <a:off x="691357" y="1847594"/>
              <a:ext cx="1214437" cy="792000"/>
              <a:chOff x="-1480519" y="1985527"/>
              <a:chExt cx="1215681" cy="803508"/>
            </a:xfrm>
          </p:grpSpPr>
          <p:sp>
            <p:nvSpPr>
              <p:cNvPr id="60"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61"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管理者访谈</a:t>
                </a:r>
              </a:p>
            </p:txBody>
          </p:sp>
          <p:sp>
            <p:nvSpPr>
              <p:cNvPr id="62"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学员调研</a:t>
                </a:r>
              </a:p>
            </p:txBody>
          </p:sp>
          <p:sp>
            <p:nvSpPr>
              <p:cNvPr id="63"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项目调研</a:t>
                </a:r>
              </a:p>
            </p:txBody>
          </p:sp>
        </p:grpSp>
        <p:grpSp>
          <p:nvGrpSpPr>
            <p:cNvPr id="64" name="组合 113"/>
            <p:cNvGrpSpPr/>
            <p:nvPr>
              <p:custDataLst>
                <p:tags r:id="rId60"/>
              </p:custDataLst>
            </p:nvPr>
          </p:nvGrpSpPr>
          <p:grpSpPr bwMode="auto">
            <a:xfrm>
              <a:off x="691357" y="2763641"/>
              <a:ext cx="1214437" cy="1104900"/>
              <a:chOff x="-1663032" y="3047203"/>
              <a:chExt cx="1215681" cy="1120955"/>
            </a:xfrm>
          </p:grpSpPr>
          <p:sp>
            <p:nvSpPr>
              <p:cNvPr id="65" name="AutoShape 52"/>
              <p:cNvSpPr>
                <a:spLocks noChangeArrowheads="1"/>
              </p:cNvSpPr>
              <p:nvPr/>
            </p:nvSpPr>
            <p:spPr bwMode="auto">
              <a:xfrm>
                <a:off x="-1663032" y="3047203"/>
                <a:ext cx="1215681" cy="1120955"/>
              </a:xfrm>
              <a:prstGeom prst="roundRect">
                <a:avLst>
                  <a:gd name="adj" fmla="val 8067"/>
                </a:avLst>
              </a:prstGeom>
              <a:solidFill>
                <a:srgbClr val="FFCC00"/>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66" name="TextBox 52"/>
              <p:cNvSpPr txBox="1">
                <a:spLocks noChangeArrowheads="1"/>
              </p:cNvSpPr>
              <p:nvPr/>
            </p:nvSpPr>
            <p:spPr bwMode="auto">
              <a:xfrm>
                <a:off x="-1632839" y="3223378"/>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资源建设</a:t>
                </a:r>
              </a:p>
            </p:txBody>
          </p:sp>
          <p:grpSp>
            <p:nvGrpSpPr>
              <p:cNvPr id="67" name="组合 112"/>
              <p:cNvGrpSpPr/>
              <p:nvPr/>
            </p:nvGrpSpPr>
            <p:grpSpPr bwMode="auto">
              <a:xfrm>
                <a:off x="-1367454" y="3126120"/>
                <a:ext cx="848593" cy="963120"/>
                <a:chOff x="-1367454" y="3137903"/>
                <a:chExt cx="848593" cy="963120"/>
              </a:xfrm>
            </p:grpSpPr>
            <p:sp>
              <p:nvSpPr>
                <p:cNvPr id="68" name="AutoShape 64"/>
                <p:cNvSpPr>
                  <a:spLocks noChangeArrowheads="1"/>
                </p:cNvSpPr>
                <p:nvPr/>
              </p:nvSpPr>
              <p:spPr bwMode="auto">
                <a:xfrm>
                  <a:off x="-1367454" y="3137903"/>
                  <a:ext cx="848593" cy="26896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课程开发</a:t>
                  </a:r>
                </a:p>
              </p:txBody>
            </p:sp>
            <p:sp>
              <p:nvSpPr>
                <p:cNvPr id="69" name="AutoShape 98"/>
                <p:cNvSpPr>
                  <a:spLocks noChangeArrowheads="1"/>
                </p:cNvSpPr>
                <p:nvPr/>
              </p:nvSpPr>
              <p:spPr bwMode="auto">
                <a:xfrm>
                  <a:off x="-1367454" y="3482565"/>
                  <a:ext cx="848593" cy="272186"/>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讲师培养</a:t>
                  </a:r>
                </a:p>
              </p:txBody>
            </p:sp>
            <p:sp>
              <p:nvSpPr>
                <p:cNvPr id="70" name="AutoShape 98"/>
                <p:cNvSpPr>
                  <a:spLocks noChangeArrowheads="1"/>
                </p:cNvSpPr>
                <p:nvPr/>
              </p:nvSpPr>
              <p:spPr bwMode="auto">
                <a:xfrm>
                  <a:off x="-1367454" y="3830448"/>
                  <a:ext cx="848593" cy="27057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讲师认证</a:t>
                  </a:r>
                </a:p>
              </p:txBody>
            </p:sp>
          </p:grpSp>
        </p:grpSp>
        <p:grpSp>
          <p:nvGrpSpPr>
            <p:cNvPr id="76" name="组合 119"/>
            <p:cNvGrpSpPr/>
            <p:nvPr>
              <p:custDataLst>
                <p:tags r:id="rId61"/>
              </p:custDataLst>
            </p:nvPr>
          </p:nvGrpSpPr>
          <p:grpSpPr bwMode="auto">
            <a:xfrm>
              <a:off x="691357" y="4908634"/>
              <a:ext cx="1214437" cy="1104900"/>
              <a:chOff x="-1663032" y="3047876"/>
              <a:chExt cx="1215681" cy="1120955"/>
            </a:xfrm>
          </p:grpSpPr>
          <p:sp>
            <p:nvSpPr>
              <p:cNvPr id="77" name="AutoShape 52"/>
              <p:cNvSpPr>
                <a:spLocks noChangeArrowheads="1"/>
              </p:cNvSpPr>
              <p:nvPr/>
            </p:nvSpPr>
            <p:spPr bwMode="auto">
              <a:xfrm>
                <a:off x="-1663032" y="3047876"/>
                <a:ext cx="1215681" cy="1120955"/>
              </a:xfrm>
              <a:prstGeom prst="roundRect">
                <a:avLst>
                  <a:gd name="adj" fmla="val 8067"/>
                </a:avLst>
              </a:prstGeom>
              <a:solidFill>
                <a:srgbClr val="FFFFFF"/>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78" name="TextBox 52"/>
              <p:cNvSpPr txBox="1">
                <a:spLocks noChangeArrowheads="1"/>
              </p:cNvSpPr>
              <p:nvPr/>
            </p:nvSpPr>
            <p:spPr bwMode="auto">
              <a:xfrm>
                <a:off x="-1632839" y="3140228"/>
                <a:ext cx="247904" cy="952359"/>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项目启动会</a:t>
                </a:r>
              </a:p>
            </p:txBody>
          </p:sp>
          <p:grpSp>
            <p:nvGrpSpPr>
              <p:cNvPr id="79" name="组合 122"/>
              <p:cNvGrpSpPr/>
              <p:nvPr/>
            </p:nvGrpSpPr>
            <p:grpSpPr bwMode="auto">
              <a:xfrm>
                <a:off x="-1367454" y="3146121"/>
                <a:ext cx="848593" cy="943792"/>
                <a:chOff x="-1367454" y="3157904"/>
                <a:chExt cx="848593" cy="943792"/>
              </a:xfrm>
            </p:grpSpPr>
            <p:sp>
              <p:nvSpPr>
                <p:cNvPr id="80" name="AutoShape 64"/>
                <p:cNvSpPr>
                  <a:spLocks noChangeArrowheads="1"/>
                </p:cNvSpPr>
                <p:nvPr/>
              </p:nvSpPr>
              <p:spPr bwMode="auto">
                <a:xfrm>
                  <a:off x="-1367454" y="3157904"/>
                  <a:ext cx="848593" cy="27379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启动仪式</a:t>
                  </a:r>
                </a:p>
              </p:txBody>
            </p:sp>
            <p:sp>
              <p:nvSpPr>
                <p:cNvPr id="81" name="AutoShape 98"/>
                <p:cNvSpPr>
                  <a:spLocks noChangeArrowheads="1"/>
                </p:cNvSpPr>
                <p:nvPr/>
              </p:nvSpPr>
              <p:spPr bwMode="auto">
                <a:xfrm>
                  <a:off x="-1367454" y="3507397"/>
                  <a:ext cx="848593" cy="24802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在线学习要求</a:t>
                  </a:r>
                </a:p>
              </p:txBody>
            </p:sp>
            <p:sp>
              <p:nvSpPr>
                <p:cNvPr id="82" name="AutoShape 98"/>
                <p:cNvSpPr>
                  <a:spLocks noChangeArrowheads="1"/>
                </p:cNvSpPr>
                <p:nvPr/>
              </p:nvSpPr>
              <p:spPr bwMode="auto">
                <a:xfrm>
                  <a:off x="-1367454" y="3831121"/>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项目介绍</a:t>
                  </a:r>
                </a:p>
              </p:txBody>
            </p:sp>
          </p:grpSp>
        </p:grpSp>
        <p:grpSp>
          <p:nvGrpSpPr>
            <p:cNvPr id="141" name="组合 1"/>
            <p:cNvGrpSpPr/>
            <p:nvPr>
              <p:custDataLst>
                <p:tags r:id="rId62"/>
              </p:custDataLst>
            </p:nvPr>
          </p:nvGrpSpPr>
          <p:grpSpPr bwMode="auto">
            <a:xfrm>
              <a:off x="691357" y="3992588"/>
              <a:ext cx="1214437" cy="792000"/>
              <a:chOff x="-1480519" y="1985527"/>
              <a:chExt cx="1215681" cy="803508"/>
            </a:xfrm>
          </p:grpSpPr>
          <p:sp>
            <p:nvSpPr>
              <p:cNvPr id="142"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43"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能力评估</a:t>
                </a:r>
              </a:p>
            </p:txBody>
          </p:sp>
          <p:sp>
            <p:nvSpPr>
              <p:cNvPr id="144"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需求分析</a:t>
                </a:r>
              </a:p>
            </p:txBody>
          </p:sp>
          <p:sp>
            <p:nvSpPr>
              <p:cNvPr id="145"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前期测评</a:t>
                </a:r>
              </a:p>
            </p:txBody>
          </p:sp>
        </p:grpSp>
      </p:grpSp>
      <p:grpSp>
        <p:nvGrpSpPr>
          <p:cNvPr id="146" name="组合 145"/>
          <p:cNvGrpSpPr/>
          <p:nvPr>
            <p:custDataLst>
              <p:tags r:id="rId27"/>
            </p:custDataLst>
          </p:nvPr>
        </p:nvGrpSpPr>
        <p:grpSpPr>
          <a:xfrm>
            <a:off x="8026503" y="1372725"/>
            <a:ext cx="1214437" cy="4165940"/>
            <a:chOff x="691357" y="1847594"/>
            <a:chExt cx="1214437" cy="4165940"/>
          </a:xfrm>
        </p:grpSpPr>
        <p:grpSp>
          <p:nvGrpSpPr>
            <p:cNvPr id="147" name="组合 1"/>
            <p:cNvGrpSpPr/>
            <p:nvPr>
              <p:custDataLst>
                <p:tags r:id="rId55"/>
              </p:custDataLst>
            </p:nvPr>
          </p:nvGrpSpPr>
          <p:grpSpPr bwMode="auto">
            <a:xfrm>
              <a:off x="691357" y="1847594"/>
              <a:ext cx="1214437" cy="792000"/>
              <a:chOff x="-1480519" y="1985527"/>
              <a:chExt cx="1215681" cy="803508"/>
            </a:xfrm>
          </p:grpSpPr>
          <p:sp>
            <p:nvSpPr>
              <p:cNvPr id="167"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68"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项目总结</a:t>
                </a:r>
              </a:p>
            </p:txBody>
          </p:sp>
          <p:sp>
            <p:nvSpPr>
              <p:cNvPr id="169"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tIns="0" bIns="0"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行动学习</a:t>
                </a:r>
                <a:endParaRPr lang="en-US" altLang="zh-CN" sz="1000" kern="0" dirty="0">
                  <a:solidFill>
                    <a:sysClr val="windowText" lastClr="000000"/>
                  </a:solidFill>
                  <a:latin typeface="微软雅黑" panose="020B0503020204020204" pitchFamily="34" charset="-122"/>
                  <a:ea typeface="微软雅黑" panose="020B0503020204020204" pitchFamily="34" charset="-122"/>
                </a:endParaRPr>
              </a:p>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成果汇报</a:t>
                </a:r>
              </a:p>
            </p:txBody>
          </p:sp>
          <p:sp>
            <p:nvSpPr>
              <p:cNvPr id="170" name="TextBox 52"/>
              <p:cNvSpPr txBox="1">
                <a:spLocks noChangeArrowheads="1"/>
              </p:cNvSpPr>
              <p:nvPr/>
            </p:nvSpPr>
            <p:spPr bwMode="auto">
              <a:xfrm>
                <a:off x="-1463402" y="1987873"/>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项目汇报</a:t>
                </a:r>
              </a:p>
            </p:txBody>
          </p:sp>
        </p:grpSp>
        <p:grpSp>
          <p:nvGrpSpPr>
            <p:cNvPr id="148" name="组合 113"/>
            <p:cNvGrpSpPr/>
            <p:nvPr>
              <p:custDataLst>
                <p:tags r:id="rId56"/>
              </p:custDataLst>
            </p:nvPr>
          </p:nvGrpSpPr>
          <p:grpSpPr bwMode="auto">
            <a:xfrm>
              <a:off x="691357" y="2763641"/>
              <a:ext cx="1214437" cy="1104900"/>
              <a:chOff x="-1663032" y="3047203"/>
              <a:chExt cx="1215681" cy="1120955"/>
            </a:xfrm>
          </p:grpSpPr>
          <p:sp>
            <p:nvSpPr>
              <p:cNvPr id="161" name="AutoShape 52"/>
              <p:cNvSpPr>
                <a:spLocks noChangeArrowheads="1"/>
              </p:cNvSpPr>
              <p:nvPr/>
            </p:nvSpPr>
            <p:spPr bwMode="auto">
              <a:xfrm>
                <a:off x="-1663032" y="3047203"/>
                <a:ext cx="1215681" cy="1120955"/>
              </a:xfrm>
              <a:prstGeom prst="roundRect">
                <a:avLst>
                  <a:gd name="adj" fmla="val 8067"/>
                </a:avLst>
              </a:prstGeom>
              <a:solidFill>
                <a:srgbClr val="FFCC00"/>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162" name="TextBox 52"/>
              <p:cNvSpPr txBox="1">
                <a:spLocks noChangeArrowheads="1"/>
              </p:cNvSpPr>
              <p:nvPr/>
            </p:nvSpPr>
            <p:spPr bwMode="auto">
              <a:xfrm>
                <a:off x="-1632839" y="3223378"/>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资源完善</a:t>
                </a:r>
              </a:p>
            </p:txBody>
          </p:sp>
          <p:grpSp>
            <p:nvGrpSpPr>
              <p:cNvPr id="163" name="组合 112"/>
              <p:cNvGrpSpPr/>
              <p:nvPr/>
            </p:nvGrpSpPr>
            <p:grpSpPr bwMode="auto">
              <a:xfrm>
                <a:off x="-1367454" y="3126120"/>
                <a:ext cx="848593" cy="963120"/>
                <a:chOff x="-1367454" y="3137903"/>
                <a:chExt cx="848593" cy="963120"/>
              </a:xfrm>
            </p:grpSpPr>
            <p:sp>
              <p:nvSpPr>
                <p:cNvPr id="164" name="AutoShape 64"/>
                <p:cNvSpPr>
                  <a:spLocks noChangeArrowheads="1"/>
                </p:cNvSpPr>
                <p:nvPr/>
              </p:nvSpPr>
              <p:spPr bwMode="auto">
                <a:xfrm>
                  <a:off x="-1367454" y="3137903"/>
                  <a:ext cx="848593" cy="26896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内容优化</a:t>
                  </a:r>
                </a:p>
              </p:txBody>
            </p:sp>
            <p:sp>
              <p:nvSpPr>
                <p:cNvPr id="165" name="AutoShape 98"/>
                <p:cNvSpPr>
                  <a:spLocks noChangeArrowheads="1"/>
                </p:cNvSpPr>
                <p:nvPr/>
              </p:nvSpPr>
              <p:spPr bwMode="auto">
                <a:xfrm>
                  <a:off x="-1367454" y="3482565"/>
                  <a:ext cx="848593" cy="272186"/>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讲师答疑</a:t>
                  </a:r>
                </a:p>
              </p:txBody>
            </p:sp>
            <p:sp>
              <p:nvSpPr>
                <p:cNvPr id="166" name="AutoShape 98"/>
                <p:cNvSpPr>
                  <a:spLocks noChangeArrowheads="1"/>
                </p:cNvSpPr>
                <p:nvPr/>
              </p:nvSpPr>
              <p:spPr bwMode="auto">
                <a:xfrm>
                  <a:off x="-1367454" y="3830448"/>
                  <a:ext cx="848593" cy="27057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教辅优化</a:t>
                  </a:r>
                </a:p>
              </p:txBody>
            </p:sp>
          </p:grpSp>
        </p:grpSp>
        <p:grpSp>
          <p:nvGrpSpPr>
            <p:cNvPr id="149" name="组合 119"/>
            <p:cNvGrpSpPr/>
            <p:nvPr>
              <p:custDataLst>
                <p:tags r:id="rId57"/>
              </p:custDataLst>
            </p:nvPr>
          </p:nvGrpSpPr>
          <p:grpSpPr bwMode="auto">
            <a:xfrm>
              <a:off x="691357" y="4908634"/>
              <a:ext cx="1214437" cy="1104900"/>
              <a:chOff x="-1663032" y="3047876"/>
              <a:chExt cx="1215681" cy="1120955"/>
            </a:xfrm>
          </p:grpSpPr>
          <p:sp>
            <p:nvSpPr>
              <p:cNvPr id="155" name="AutoShape 52"/>
              <p:cNvSpPr>
                <a:spLocks noChangeArrowheads="1"/>
              </p:cNvSpPr>
              <p:nvPr/>
            </p:nvSpPr>
            <p:spPr bwMode="auto">
              <a:xfrm>
                <a:off x="-1663032" y="3047876"/>
                <a:ext cx="1215681" cy="1120955"/>
              </a:xfrm>
              <a:prstGeom prst="roundRect">
                <a:avLst>
                  <a:gd name="adj" fmla="val 8067"/>
                </a:avLst>
              </a:prstGeom>
              <a:solidFill>
                <a:srgbClr val="FFFFFF"/>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156" name="TextBox 52"/>
              <p:cNvSpPr txBox="1">
                <a:spLocks noChangeArrowheads="1"/>
              </p:cNvSpPr>
              <p:nvPr/>
            </p:nvSpPr>
            <p:spPr bwMode="auto">
              <a:xfrm>
                <a:off x="-1632839" y="3226096"/>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学员评奖</a:t>
                </a:r>
              </a:p>
            </p:txBody>
          </p:sp>
          <p:grpSp>
            <p:nvGrpSpPr>
              <p:cNvPr id="157" name="组合 122"/>
              <p:cNvGrpSpPr/>
              <p:nvPr/>
            </p:nvGrpSpPr>
            <p:grpSpPr bwMode="auto">
              <a:xfrm>
                <a:off x="-1367454" y="3146121"/>
                <a:ext cx="848593" cy="943792"/>
                <a:chOff x="-1367454" y="3157904"/>
                <a:chExt cx="848593" cy="943792"/>
              </a:xfrm>
            </p:grpSpPr>
            <p:sp>
              <p:nvSpPr>
                <p:cNvPr id="158" name="AutoShape 64"/>
                <p:cNvSpPr>
                  <a:spLocks noChangeArrowheads="1"/>
                </p:cNvSpPr>
                <p:nvPr/>
              </p:nvSpPr>
              <p:spPr bwMode="auto">
                <a:xfrm>
                  <a:off x="-1367454" y="3157904"/>
                  <a:ext cx="848593" cy="27379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在线成绩</a:t>
                  </a:r>
                </a:p>
              </p:txBody>
            </p:sp>
            <p:sp>
              <p:nvSpPr>
                <p:cNvPr id="159" name="AutoShape 98"/>
                <p:cNvSpPr>
                  <a:spLocks noChangeArrowheads="1"/>
                </p:cNvSpPr>
                <p:nvPr/>
              </p:nvSpPr>
              <p:spPr bwMode="auto">
                <a:xfrm>
                  <a:off x="-1367454" y="3507397"/>
                  <a:ext cx="848593" cy="24802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个人课后任务</a:t>
                  </a:r>
                </a:p>
              </p:txBody>
            </p:sp>
            <p:sp>
              <p:nvSpPr>
                <p:cNvPr id="160" name="AutoShape 98"/>
                <p:cNvSpPr>
                  <a:spLocks noChangeArrowheads="1"/>
                </p:cNvSpPr>
                <p:nvPr/>
              </p:nvSpPr>
              <p:spPr bwMode="auto">
                <a:xfrm>
                  <a:off x="-1367454" y="3831121"/>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优秀学员</a:t>
                  </a:r>
                </a:p>
              </p:txBody>
            </p:sp>
          </p:grpSp>
        </p:grpSp>
        <p:grpSp>
          <p:nvGrpSpPr>
            <p:cNvPr id="150" name="组合 1"/>
            <p:cNvGrpSpPr/>
            <p:nvPr>
              <p:custDataLst>
                <p:tags r:id="rId58"/>
              </p:custDataLst>
            </p:nvPr>
          </p:nvGrpSpPr>
          <p:grpSpPr bwMode="auto">
            <a:xfrm>
              <a:off x="691357" y="3992588"/>
              <a:ext cx="1214437" cy="792000"/>
              <a:chOff x="-1480519" y="1985527"/>
              <a:chExt cx="1215681" cy="803508"/>
            </a:xfrm>
          </p:grpSpPr>
          <p:sp>
            <p:nvSpPr>
              <p:cNvPr id="151"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52"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报告解读</a:t>
                </a:r>
              </a:p>
            </p:txBody>
          </p:sp>
          <p:sp>
            <p:nvSpPr>
              <p:cNvPr id="153"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效果评估</a:t>
                </a:r>
              </a:p>
            </p:txBody>
          </p:sp>
          <p:sp>
            <p:nvSpPr>
              <p:cNvPr id="154"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训后测评</a:t>
                </a:r>
              </a:p>
            </p:txBody>
          </p:sp>
        </p:grpSp>
      </p:grpSp>
      <p:sp>
        <p:nvSpPr>
          <p:cNvPr id="45" name="下箭头 44"/>
          <p:cNvSpPr/>
          <p:nvPr>
            <p:custDataLst>
              <p:tags r:id="rId28"/>
            </p:custDataLst>
          </p:nvPr>
        </p:nvSpPr>
        <p:spPr bwMode="auto">
          <a:xfrm>
            <a:off x="8637641" y="5093438"/>
            <a:ext cx="216000" cy="180000"/>
          </a:xfrm>
          <a:prstGeom prst="downArrow">
            <a:avLst/>
          </a:prstGeom>
          <a:solidFill>
            <a:srgbClr val="FFC000"/>
          </a:solidFill>
          <a:ln w="9525"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dirty="0"/>
          </a:p>
        </p:txBody>
      </p:sp>
      <p:grpSp>
        <p:nvGrpSpPr>
          <p:cNvPr id="22" name="组合 21"/>
          <p:cNvGrpSpPr/>
          <p:nvPr/>
        </p:nvGrpSpPr>
        <p:grpSpPr>
          <a:xfrm>
            <a:off x="550671" y="6528135"/>
            <a:ext cx="3052319" cy="216000"/>
            <a:chOff x="203175" y="312638"/>
            <a:chExt cx="3052319" cy="216000"/>
          </a:xfrm>
        </p:grpSpPr>
        <p:sp>
          <p:nvSpPr>
            <p:cNvPr id="173" name="AutoShape 64"/>
            <p:cNvSpPr>
              <a:spLocks noChangeArrowheads="1"/>
            </p:cNvSpPr>
            <p:nvPr>
              <p:custDataLst>
                <p:tags r:id="rId51"/>
              </p:custDataLst>
            </p:nvPr>
          </p:nvSpPr>
          <p:spPr bwMode="auto">
            <a:xfrm>
              <a:off x="203175" y="312638"/>
              <a:ext cx="720000" cy="216000"/>
            </a:xfrm>
            <a:prstGeom prst="roundRect">
              <a:avLst>
                <a:gd name="adj" fmla="val 16667"/>
              </a:avLst>
            </a:prstGeom>
            <a:solidFill>
              <a:srgbClr val="002060"/>
            </a:solidFill>
            <a:ln w="9525">
              <a:noFill/>
              <a:round/>
            </a:ln>
          </p:spPr>
          <p:txBody>
            <a:bodyPr wrap="none" anchor="ctr" anchorCtr="1"/>
            <a:lstStyle/>
            <a:p>
              <a:pPr algn="ctr"/>
              <a:r>
                <a:rPr kumimoji="1" lang="zh-CN" altLang="en-US" sz="1000">
                  <a:solidFill>
                    <a:srgbClr val="FFFFFF"/>
                  </a:solidFill>
                  <a:latin typeface="微软雅黑" panose="020B0503020204020204" pitchFamily="34" charset="-122"/>
                  <a:ea typeface="微软雅黑" panose="020B0503020204020204" pitchFamily="34" charset="-122"/>
                </a:rPr>
                <a:t>面授学习</a:t>
              </a:r>
            </a:p>
          </p:txBody>
        </p:sp>
        <p:sp>
          <p:nvSpPr>
            <p:cNvPr id="174" name="AutoShape 64"/>
            <p:cNvSpPr>
              <a:spLocks noChangeArrowheads="1"/>
            </p:cNvSpPr>
            <p:nvPr>
              <p:custDataLst>
                <p:tags r:id="rId52"/>
              </p:custDataLst>
            </p:nvPr>
          </p:nvSpPr>
          <p:spPr bwMode="auto">
            <a:xfrm>
              <a:off x="1741869" y="312638"/>
              <a:ext cx="720000" cy="216000"/>
            </a:xfrm>
            <a:prstGeom prst="roundRect">
              <a:avLst>
                <a:gd name="adj" fmla="val 16667"/>
              </a:avLst>
            </a:prstGeom>
            <a:solidFill>
              <a:srgbClr val="92D050"/>
            </a:solidFill>
            <a:ln w="9525">
              <a:noFill/>
              <a:round/>
            </a:ln>
          </p:spPr>
          <p:txBody>
            <a:bodyPr wrap="none" anchor="ctr" anchorCtr="1"/>
            <a:lstStyle/>
            <a:p>
              <a:pPr algn="ctr"/>
              <a:r>
                <a:rPr kumimoji="1" lang="zh-CN" altLang="en-US" sz="1000">
                  <a:solidFill>
                    <a:srgbClr val="FFFFFF"/>
                  </a:solidFill>
                  <a:latin typeface="微软雅黑" panose="020B0503020204020204" pitchFamily="34" charset="-122"/>
                  <a:ea typeface="微软雅黑" panose="020B0503020204020204" pitchFamily="34" charset="-122"/>
                </a:rPr>
                <a:t>行动学习</a:t>
              </a:r>
            </a:p>
          </p:txBody>
        </p:sp>
        <p:sp>
          <p:nvSpPr>
            <p:cNvPr id="175" name="AutoShape 64"/>
            <p:cNvSpPr>
              <a:spLocks noChangeArrowheads="1"/>
            </p:cNvSpPr>
            <p:nvPr>
              <p:custDataLst>
                <p:tags r:id="rId53"/>
              </p:custDataLst>
            </p:nvPr>
          </p:nvSpPr>
          <p:spPr bwMode="auto">
            <a:xfrm>
              <a:off x="972522" y="312638"/>
              <a:ext cx="720000" cy="216000"/>
            </a:xfrm>
            <a:prstGeom prst="roundRect">
              <a:avLst>
                <a:gd name="adj" fmla="val 16667"/>
              </a:avLst>
            </a:prstGeom>
            <a:solidFill>
              <a:schemeClr val="tx1">
                <a:lumMod val="50000"/>
                <a:lumOff val="50000"/>
              </a:schemeClr>
            </a:solidFill>
            <a:ln w="9525">
              <a:noFill/>
              <a:round/>
            </a:ln>
          </p:spPr>
          <p:txBody>
            <a:bodyPr wrap="none" anchor="ctr" anchorCtr="1"/>
            <a:lstStyle/>
            <a:p>
              <a:pPr algn="ctr"/>
              <a:r>
                <a:rPr kumimoji="1" lang="zh-CN" altLang="en-US" sz="1000" dirty="0">
                  <a:solidFill>
                    <a:srgbClr val="FFFFFF"/>
                  </a:solidFill>
                  <a:latin typeface="微软雅黑" panose="020B0503020204020204" pitchFamily="34" charset="-122"/>
                  <a:ea typeface="微软雅黑" panose="020B0503020204020204" pitchFamily="34" charset="-122"/>
                </a:rPr>
                <a:t>自主学习</a:t>
              </a:r>
            </a:p>
          </p:txBody>
        </p:sp>
        <p:sp>
          <p:nvSpPr>
            <p:cNvPr id="177" name="AutoShape 64"/>
            <p:cNvSpPr>
              <a:spLocks noChangeArrowheads="1"/>
            </p:cNvSpPr>
            <p:nvPr>
              <p:custDataLst>
                <p:tags r:id="rId54"/>
              </p:custDataLst>
            </p:nvPr>
          </p:nvSpPr>
          <p:spPr bwMode="auto">
            <a:xfrm>
              <a:off x="2535494" y="312638"/>
              <a:ext cx="720000" cy="216000"/>
            </a:xfrm>
            <a:prstGeom prst="roundRect">
              <a:avLst>
                <a:gd name="adj" fmla="val 16667"/>
              </a:avLst>
            </a:prstGeom>
            <a:solidFill>
              <a:schemeClr val="bg1">
                <a:lumMod val="75000"/>
              </a:schemeClr>
            </a:solidFill>
            <a:ln w="9525">
              <a:noFill/>
              <a:round/>
            </a:ln>
          </p:spPr>
          <p:txBody>
            <a:bodyPr wrap="none" anchor="ctr" anchorCtr="1"/>
            <a:lstStyle/>
            <a:p>
              <a:pPr algn="ctr"/>
              <a:r>
                <a:rPr kumimoji="1" lang="zh-CN" altLang="en-US" sz="1000" dirty="0">
                  <a:solidFill>
                    <a:srgbClr val="FFFFFF"/>
                  </a:solidFill>
                  <a:latin typeface="微软雅黑" panose="020B0503020204020204" pitchFamily="34" charset="-122"/>
                  <a:ea typeface="微软雅黑" panose="020B0503020204020204" pitchFamily="34" charset="-122"/>
                </a:rPr>
                <a:t>在岗实践</a:t>
              </a:r>
            </a:p>
          </p:txBody>
        </p:sp>
      </p:grpSp>
      <p:graphicFrame>
        <p:nvGraphicFramePr>
          <p:cNvPr id="21" name="表格 20"/>
          <p:cNvGraphicFramePr>
            <a:graphicFrameLocks noGrp="1"/>
          </p:cNvGraphicFramePr>
          <p:nvPr>
            <p:custDataLst>
              <p:tags r:id="rId29"/>
            </p:custDataLst>
            <p:extLst>
              <p:ext uri="{D42A27DB-BD31-4B8C-83A1-F6EECF244321}">
                <p14:modId xmlns:p14="http://schemas.microsoft.com/office/powerpoint/2010/main" val="1128103914"/>
              </p:ext>
            </p:extLst>
          </p:nvPr>
        </p:nvGraphicFramePr>
        <p:xfrm>
          <a:off x="2078904" y="3484390"/>
          <a:ext cx="5745246" cy="1484252"/>
        </p:xfrm>
        <a:graphic>
          <a:graphicData uri="http://schemas.openxmlformats.org/drawingml/2006/table">
            <a:tbl>
              <a:tblPr firstRow="1" bandRow="1">
                <a:tableStyleId>{5C22544A-7EE6-4342-B048-85BDC9FD1C3A}</a:tableStyleId>
              </a:tblPr>
              <a:tblGrid>
                <a:gridCol w="957541">
                  <a:extLst>
                    <a:ext uri="{9D8B030D-6E8A-4147-A177-3AD203B41FA5}">
                      <a16:colId xmlns:a16="http://schemas.microsoft.com/office/drawing/2014/main" val="20000"/>
                    </a:ext>
                  </a:extLst>
                </a:gridCol>
                <a:gridCol w="957541">
                  <a:extLst>
                    <a:ext uri="{9D8B030D-6E8A-4147-A177-3AD203B41FA5}">
                      <a16:colId xmlns:a16="http://schemas.microsoft.com/office/drawing/2014/main" val="20001"/>
                    </a:ext>
                  </a:extLst>
                </a:gridCol>
                <a:gridCol w="957541">
                  <a:extLst>
                    <a:ext uri="{9D8B030D-6E8A-4147-A177-3AD203B41FA5}">
                      <a16:colId xmlns:a16="http://schemas.microsoft.com/office/drawing/2014/main" val="20002"/>
                    </a:ext>
                  </a:extLst>
                </a:gridCol>
                <a:gridCol w="957541">
                  <a:extLst>
                    <a:ext uri="{9D8B030D-6E8A-4147-A177-3AD203B41FA5}">
                      <a16:colId xmlns:a16="http://schemas.microsoft.com/office/drawing/2014/main" val="20003"/>
                    </a:ext>
                  </a:extLst>
                </a:gridCol>
                <a:gridCol w="957541">
                  <a:extLst>
                    <a:ext uri="{9D8B030D-6E8A-4147-A177-3AD203B41FA5}">
                      <a16:colId xmlns:a16="http://schemas.microsoft.com/office/drawing/2014/main" val="20004"/>
                    </a:ext>
                  </a:extLst>
                </a:gridCol>
                <a:gridCol w="957541">
                  <a:extLst>
                    <a:ext uri="{9D8B030D-6E8A-4147-A177-3AD203B41FA5}">
                      <a16:colId xmlns:a16="http://schemas.microsoft.com/office/drawing/2014/main" val="20005"/>
                    </a:ext>
                  </a:extLst>
                </a:gridCol>
              </a:tblGrid>
              <a:tr h="74212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cs typeface="+mn-cs"/>
                        </a:rPr>
                        <a:t>《</a:t>
                      </a:r>
                      <a:r>
                        <a:rPr kumimoji="0" lang="zh-CN" altLang="en-US"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客户拜访与商机把握</a:t>
                      </a:r>
                      <a:r>
                        <a:rPr lang="en-US" altLang="zh-CN" sz="1050" b="0" kern="0" dirty="0">
                          <a:solidFill>
                            <a:schemeClr val="bg1"/>
                          </a:solidFill>
                          <a:latin typeface="微软雅黑" panose="020B0503020204020204" pitchFamily="34" charset="-122"/>
                          <a:ea typeface="微软雅黑" panose="020B0503020204020204" pitchFamily="34" charset="-122"/>
                          <a:cs typeface="+mn-cs"/>
                        </a:rPr>
                        <a:t>》</a:t>
                      </a:r>
                    </a:p>
                  </a:txBody>
                  <a:tcPr anchor="c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cs typeface="+mn-cs"/>
                        </a:rPr>
                        <a:t>社群建设与私域运营</a:t>
                      </a: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endParaRPr kumimoji="0" lang="en-US" altLang="zh-CN" sz="1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顾问式销售</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客户服务营销技巧</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重点产品营销抢单案例分析</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内部复盘会</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extLst>
                  <a:ext uri="{0D108BD9-81ED-4DB2-BD59-A6C34878D82A}">
                    <a16:rowId xmlns:a16="http://schemas.microsoft.com/office/drawing/2014/main" val="10000"/>
                  </a:ext>
                </a:extLst>
              </a:tr>
              <a:tr h="74212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基于系统的客户数据分析</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资产保值与投资分析</a:t>
                      </a:r>
                      <a:r>
                        <a:rPr kumimoji="0" lang="en-US" altLang="zh-CN"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a:t>
                      </a:r>
                      <a:endParaRPr kumimoji="0" lang="en-US" altLang="zh-CN" sz="16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kumimoji="0" lang="zh-CN" altLang="en-US" sz="105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营销活动组织与实施</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营销心理学与客户需求分析</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extLst>
                  <a:ext uri="{0D108BD9-81ED-4DB2-BD59-A6C34878D82A}">
                    <a16:rowId xmlns:a16="http://schemas.microsoft.com/office/drawing/2014/main" val="10001"/>
                  </a:ext>
                </a:extLst>
              </a:tr>
            </a:tbl>
          </a:graphicData>
        </a:graphic>
      </p:graphicFrame>
      <p:cxnSp>
        <p:nvCxnSpPr>
          <p:cNvPr id="5" name="直接连接符 93"/>
          <p:cNvCxnSpPr>
            <a:cxnSpLocks noChangeShapeType="1"/>
          </p:cNvCxnSpPr>
          <p:nvPr>
            <p:custDataLst>
              <p:tags r:id="rId30"/>
            </p:custDataLst>
          </p:nvPr>
        </p:nvCxnSpPr>
        <p:spPr bwMode="auto">
          <a:xfrm rot="16200000" flipH="1">
            <a:off x="3949158" y="3159755"/>
            <a:ext cx="1980000" cy="0"/>
          </a:xfrm>
          <a:prstGeom prst="line">
            <a:avLst/>
          </a:prstGeom>
          <a:noFill/>
          <a:ln w="12700" algn="ctr">
            <a:solidFill>
              <a:srgbClr val="FF0000"/>
            </a:solidFill>
            <a:prstDash val="sysDash"/>
            <a:round/>
          </a:ln>
        </p:spPr>
      </p:cxnSp>
      <p:sp>
        <p:nvSpPr>
          <p:cNvPr id="188" name="标题 1"/>
          <p:cNvSpPr txBox="1"/>
          <p:nvPr>
            <p:custDataLst>
              <p:tags r:id="rId31"/>
            </p:custDataLst>
          </p:nvPr>
        </p:nvSpPr>
        <p:spPr>
          <a:xfrm>
            <a:off x="680583" y="249590"/>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sz="2000" b="0" kern="0" dirty="0">
                <a:latin typeface="Arial" panose="020B0604020202020204"/>
              </a:rPr>
              <a:t>中级对私客户经理（理财）培养项目设计方案</a:t>
            </a:r>
          </a:p>
        </p:txBody>
      </p:sp>
      <p:sp>
        <p:nvSpPr>
          <p:cNvPr id="2" name="Rectangle 58"/>
          <p:cNvSpPr>
            <a:spLocks noChangeArrowheads="1"/>
          </p:cNvSpPr>
          <p:nvPr>
            <p:custDataLst>
              <p:tags r:id="rId32"/>
            </p:custDataLst>
          </p:nvPr>
        </p:nvSpPr>
        <p:spPr bwMode="auto">
          <a:xfrm>
            <a:off x="2059519" y="20922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自我角色与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成长方向</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 name="Rectangle 58"/>
          <p:cNvSpPr>
            <a:spLocks noChangeArrowheads="1"/>
          </p:cNvSpPr>
          <p:nvPr>
            <p:custDataLst>
              <p:tags r:id="rId33"/>
            </p:custDataLst>
          </p:nvPr>
        </p:nvSpPr>
        <p:spPr bwMode="auto">
          <a:xfrm>
            <a:off x="3015665" y="20922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建行财富管理与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私行业务介绍</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12" name="Rectangle 58"/>
          <p:cNvSpPr>
            <a:spLocks noChangeArrowheads="1"/>
          </p:cNvSpPr>
          <p:nvPr>
            <p:custDataLst>
              <p:tags r:id="rId34"/>
            </p:custDataLst>
          </p:nvPr>
        </p:nvSpPr>
        <p:spPr bwMode="auto">
          <a:xfrm>
            <a:off x="3971811" y="20922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员工案防</a:t>
            </a:r>
            <a:endParaRPr lang="en-US" altLang="zh-CN" sz="105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警示教育</a:t>
            </a:r>
            <a:endParaRPr lang="en-US" altLang="zh-CN" sz="1050" b="0" kern="0" dirty="0">
              <a:solidFill>
                <a:srgbClr val="FFFFFF"/>
              </a:solidFill>
              <a:latin typeface="微软雅黑" panose="020B0503020204020204" pitchFamily="34" charset="-122"/>
              <a:ea typeface="微软雅黑" panose="020B0503020204020204" pitchFamily="34" charset="-122"/>
            </a:endParaRPr>
          </a:p>
        </p:txBody>
      </p:sp>
      <p:sp>
        <p:nvSpPr>
          <p:cNvPr id="129" name="Rectangle 58"/>
          <p:cNvSpPr>
            <a:spLocks noChangeArrowheads="1"/>
          </p:cNvSpPr>
          <p:nvPr>
            <p:custDataLst>
              <p:tags r:id="rId35"/>
            </p:custDataLst>
          </p:nvPr>
        </p:nvSpPr>
        <p:spPr bwMode="auto">
          <a:xfrm>
            <a:off x="2450392" y="4107931"/>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D1</a:t>
            </a:r>
          </a:p>
        </p:txBody>
      </p:sp>
      <p:sp>
        <p:nvSpPr>
          <p:cNvPr id="16" name="Rectangle 58"/>
          <p:cNvSpPr>
            <a:spLocks noChangeArrowheads="1"/>
          </p:cNvSpPr>
          <p:nvPr>
            <p:custDataLst>
              <p:tags r:id="rId36"/>
            </p:custDataLst>
          </p:nvPr>
        </p:nvSpPr>
        <p:spPr bwMode="auto">
          <a:xfrm>
            <a:off x="2066360" y="3182535"/>
            <a:ext cx="5757792" cy="288000"/>
          </a:xfrm>
          <a:prstGeom prst="rect">
            <a:avLst/>
          </a:prstGeom>
          <a:solidFill>
            <a:srgbClr val="002060">
              <a:alpha val="87842"/>
            </a:srgbClr>
          </a:solidFill>
          <a:ln w="9525">
            <a:noFill/>
            <a:miter lim="800000"/>
          </a:ln>
        </p:spPr>
        <p:txBody>
          <a:bodyPr wrap="none" lIns="0" tIns="0" rIns="0" bIns="0" anchor="ctr"/>
          <a:lstStyle/>
          <a:p>
            <a:pPr algn="ctr"/>
            <a:r>
              <a:rPr kumimoji="1" lang="zh-CN" altLang="en-US" sz="1200" dirty="0">
                <a:solidFill>
                  <a:srgbClr val="FFFFFF"/>
                </a:solidFill>
                <a:ea typeface="微软雅黑" panose="020B0503020204020204" pitchFamily="34" charset="-122"/>
              </a:rPr>
              <a:t>开展集中面授</a:t>
            </a:r>
          </a:p>
        </p:txBody>
      </p:sp>
      <p:sp>
        <p:nvSpPr>
          <p:cNvPr id="17" name="Rectangle 58"/>
          <p:cNvSpPr>
            <a:spLocks noChangeArrowheads="1"/>
          </p:cNvSpPr>
          <p:nvPr>
            <p:custDataLst>
              <p:tags r:id="rId37"/>
            </p:custDataLst>
          </p:nvPr>
        </p:nvSpPr>
        <p:spPr bwMode="auto">
          <a:xfrm>
            <a:off x="3413438" y="4101925"/>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D2</a:t>
            </a:r>
          </a:p>
        </p:txBody>
      </p:sp>
      <p:sp>
        <p:nvSpPr>
          <p:cNvPr id="23" name="Rectangle 58"/>
          <p:cNvSpPr>
            <a:spLocks noChangeArrowheads="1"/>
          </p:cNvSpPr>
          <p:nvPr>
            <p:custDataLst>
              <p:tags r:id="rId38"/>
            </p:custDataLst>
          </p:nvPr>
        </p:nvSpPr>
        <p:spPr bwMode="auto">
          <a:xfrm>
            <a:off x="4353906" y="4095919"/>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D3</a:t>
            </a:r>
          </a:p>
        </p:txBody>
      </p:sp>
      <p:sp>
        <p:nvSpPr>
          <p:cNvPr id="24" name="Rectangle 58"/>
          <p:cNvSpPr>
            <a:spLocks noChangeArrowheads="1"/>
          </p:cNvSpPr>
          <p:nvPr>
            <p:custDataLst>
              <p:tags r:id="rId39"/>
            </p:custDataLst>
          </p:nvPr>
        </p:nvSpPr>
        <p:spPr bwMode="auto">
          <a:xfrm>
            <a:off x="5305663" y="4089913"/>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D1</a:t>
            </a:r>
          </a:p>
        </p:txBody>
      </p:sp>
      <p:sp>
        <p:nvSpPr>
          <p:cNvPr id="25" name="Rectangle 58"/>
          <p:cNvSpPr>
            <a:spLocks noChangeArrowheads="1"/>
          </p:cNvSpPr>
          <p:nvPr>
            <p:custDataLst>
              <p:tags r:id="rId40"/>
            </p:custDataLst>
          </p:nvPr>
        </p:nvSpPr>
        <p:spPr bwMode="auto">
          <a:xfrm>
            <a:off x="6268709" y="3553326"/>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D2</a:t>
            </a:r>
          </a:p>
        </p:txBody>
      </p:sp>
      <p:sp>
        <p:nvSpPr>
          <p:cNvPr id="26" name="Rectangle 58"/>
          <p:cNvSpPr>
            <a:spLocks noChangeArrowheads="1"/>
          </p:cNvSpPr>
          <p:nvPr>
            <p:custDataLst>
              <p:tags r:id="rId41"/>
            </p:custDataLst>
          </p:nvPr>
        </p:nvSpPr>
        <p:spPr bwMode="auto">
          <a:xfrm>
            <a:off x="7220466" y="3547320"/>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D3</a:t>
            </a:r>
          </a:p>
        </p:txBody>
      </p:sp>
      <p:sp>
        <p:nvSpPr>
          <p:cNvPr id="37" name="Rectangle 58"/>
          <p:cNvSpPr>
            <a:spLocks noChangeArrowheads="1"/>
          </p:cNvSpPr>
          <p:nvPr>
            <p:custDataLst>
              <p:tags r:id="rId42"/>
            </p:custDataLst>
          </p:nvPr>
        </p:nvSpPr>
        <p:spPr bwMode="auto">
          <a:xfrm>
            <a:off x="2065695" y="2638653"/>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新一代系统</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操作进阶</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8" name="Rectangle 58"/>
          <p:cNvSpPr>
            <a:spLocks noChangeArrowheads="1"/>
          </p:cNvSpPr>
          <p:nvPr>
            <p:custDataLst>
              <p:tags r:id="rId43"/>
            </p:custDataLst>
          </p:nvPr>
        </p:nvSpPr>
        <p:spPr bwMode="auto">
          <a:xfrm>
            <a:off x="3021841" y="2638653"/>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基金投资分析</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9" name="Rectangle 58"/>
          <p:cNvSpPr>
            <a:spLocks noChangeArrowheads="1"/>
          </p:cNvSpPr>
          <p:nvPr>
            <p:custDataLst>
              <p:tags r:id="rId44"/>
            </p:custDataLst>
          </p:nvPr>
        </p:nvSpPr>
        <p:spPr bwMode="auto">
          <a:xfrm>
            <a:off x="3977987" y="2638653"/>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演讲与表达</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0" name="Rectangle 58"/>
          <p:cNvSpPr>
            <a:spLocks noChangeArrowheads="1"/>
          </p:cNvSpPr>
          <p:nvPr>
            <p:custDataLst>
              <p:tags r:id="rId45"/>
            </p:custDataLst>
          </p:nvPr>
        </p:nvSpPr>
        <p:spPr bwMode="auto">
          <a:xfrm>
            <a:off x="4967265" y="2085291"/>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宏观经济与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投资市场分析</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2" name="Rectangle 58"/>
          <p:cNvSpPr>
            <a:spLocks noChangeArrowheads="1"/>
          </p:cNvSpPr>
          <p:nvPr>
            <p:custDataLst>
              <p:tags r:id="rId46"/>
            </p:custDataLst>
          </p:nvPr>
        </p:nvSpPr>
        <p:spPr bwMode="auto">
          <a:xfrm>
            <a:off x="5923411" y="2085291"/>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服务品质提升</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3" name="Rectangle 58"/>
          <p:cNvSpPr>
            <a:spLocks noChangeArrowheads="1"/>
          </p:cNvSpPr>
          <p:nvPr>
            <p:custDataLst>
              <p:tags r:id="rId47"/>
            </p:custDataLst>
          </p:nvPr>
        </p:nvSpPr>
        <p:spPr bwMode="auto">
          <a:xfrm>
            <a:off x="6879557" y="2085291"/>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复盘技术</a:t>
            </a:r>
            <a:endParaRPr lang="en-US" altLang="zh-CN" sz="1050" b="0" kern="0" dirty="0">
              <a:solidFill>
                <a:srgbClr val="FFFFFF"/>
              </a:solidFill>
              <a:latin typeface="微软雅黑" panose="020B0503020204020204" pitchFamily="34" charset="-122"/>
              <a:ea typeface="微软雅黑" panose="020B0503020204020204" pitchFamily="34" charset="-122"/>
            </a:endParaRPr>
          </a:p>
        </p:txBody>
      </p:sp>
      <p:sp>
        <p:nvSpPr>
          <p:cNvPr id="44" name="Rectangle 58"/>
          <p:cNvSpPr>
            <a:spLocks noChangeArrowheads="1"/>
          </p:cNvSpPr>
          <p:nvPr>
            <p:custDataLst>
              <p:tags r:id="rId48"/>
            </p:custDataLst>
          </p:nvPr>
        </p:nvSpPr>
        <p:spPr bwMode="auto">
          <a:xfrm>
            <a:off x="4973441" y="26316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建行个金业务</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战略与发展重点</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6" name="Rectangle 58"/>
          <p:cNvSpPr>
            <a:spLocks noChangeArrowheads="1"/>
          </p:cNvSpPr>
          <p:nvPr>
            <p:custDataLst>
              <p:tags r:id="rId49"/>
            </p:custDataLst>
          </p:nvPr>
        </p:nvSpPr>
        <p:spPr bwMode="auto">
          <a:xfrm>
            <a:off x="5929587" y="26316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法律财税知识</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55" name="Rectangle 58"/>
          <p:cNvSpPr>
            <a:spLocks noChangeArrowheads="1"/>
          </p:cNvSpPr>
          <p:nvPr>
            <p:custDataLst>
              <p:tags r:id="rId50"/>
            </p:custDataLst>
          </p:nvPr>
        </p:nvSpPr>
        <p:spPr bwMode="auto">
          <a:xfrm>
            <a:off x="6885733" y="2631672"/>
            <a:ext cx="950400" cy="540805"/>
          </a:xfrm>
          <a:prstGeom prst="rect">
            <a:avLst/>
          </a:prstGeom>
          <a:solidFill>
            <a:schemeClr val="bg1">
              <a:lumMod val="50000"/>
            </a:schemeClr>
          </a:solidFill>
          <a:ln>
            <a:noFill/>
          </a:ln>
        </p:spPr>
        <p:txBody>
          <a:bodyPr wrap="none" lIns="0" tIns="0" rIns="0" bIns="0" anchor="ctr"/>
          <a:lstStyle/>
          <a:p>
            <a:pPr algn="ctr">
              <a:defRPr/>
            </a:pP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19</a:t>
            </a:fld>
            <a:endParaRPr lang="zh-CN" altLang="en-US"/>
          </a:p>
        </p:txBody>
      </p:sp>
      <p:sp>
        <p:nvSpPr>
          <p:cNvPr id="3"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高级客户经理培养项目设计</a:t>
            </a:r>
          </a:p>
        </p:txBody>
      </p:sp>
      <p:grpSp>
        <p:nvGrpSpPr>
          <p:cNvPr id="15" name="组合 14"/>
          <p:cNvGrpSpPr/>
          <p:nvPr/>
        </p:nvGrpSpPr>
        <p:grpSpPr>
          <a:xfrm>
            <a:off x="795020" y="1520229"/>
            <a:ext cx="7736676" cy="5185247"/>
            <a:chOff x="795020" y="1520229"/>
            <a:chExt cx="7736676" cy="5185247"/>
          </a:xfrm>
        </p:grpSpPr>
        <p:sp>
          <p:nvSpPr>
            <p:cNvPr id="4" name="矩形 3"/>
            <p:cNvSpPr/>
            <p:nvPr/>
          </p:nvSpPr>
          <p:spPr>
            <a:xfrm>
              <a:off x="2000672" y="3663214"/>
              <a:ext cx="6531024" cy="960000"/>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培养重点</a:t>
              </a:r>
              <a:endParaRPr lang="en-US" altLang="zh-CN" sz="1500" b="1" kern="0" dirty="0">
                <a:solidFill>
                  <a:sysClr val="windowText" lastClr="000000"/>
                </a:solidFill>
                <a:latin typeface="Times New Roman" panose="02020603050405020304" pitchFamily="18" charset="0"/>
                <a:ea typeface="楷体" panose="02010609060101010101" pitchFamily="49" charset="-122"/>
              </a:endParaRPr>
            </a:p>
            <a:p>
              <a:pPr lvl="1">
                <a:lnSpc>
                  <a:spcPts val="1900"/>
                </a:lnSpc>
                <a:buFont typeface="Arial" panose="020B0604020202020204" pitchFamily="34" charset="0"/>
                <a:buChar char="•"/>
              </a:pPr>
              <a:r>
                <a:rPr lang="zh-CN" altLang="en-US" sz="1400" kern="0" dirty="0">
                  <a:latin typeface="楷体" panose="02010609060101010101" pitchFamily="49" charset="-122"/>
                  <a:ea typeface="楷体" panose="02010609060101010101" pitchFamily="49" charset="-122"/>
                </a:rPr>
                <a:t> 行业大类资产趋势分析研判</a:t>
              </a:r>
              <a:endParaRPr lang="en-US" altLang="zh-CN" sz="1400" kern="0" dirty="0">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sz="1400" kern="0" dirty="0">
                  <a:solidFill>
                    <a:sysClr val="windowText" lastClr="000000"/>
                  </a:solidFill>
                  <a:latin typeface="楷体" panose="02010609060101010101" pitchFamily="49" charset="-122"/>
                  <a:ea typeface="楷体" panose="02010609060101010101" pitchFamily="49" charset="-122"/>
                </a:rPr>
                <a:t> 高端客户服务营销</a:t>
              </a:r>
              <a:endParaRPr lang="en-US" altLang="zh-CN" sz="1400" kern="0" dirty="0">
                <a:solidFill>
                  <a:sysClr val="windowText" lastClr="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sz="1400" kern="0" dirty="0">
                  <a:solidFill>
                    <a:sysClr val="windowText" lastClr="000000"/>
                  </a:solidFill>
                  <a:latin typeface="楷体" panose="02010609060101010101" pitchFamily="49" charset="-122"/>
                  <a:ea typeface="楷体" panose="02010609060101010101" pitchFamily="49" charset="-122"/>
                </a:rPr>
                <a:t> 辅导他人</a:t>
              </a:r>
              <a:endParaRPr lang="zh-CN" altLang="en-US" sz="1300" kern="0" dirty="0">
                <a:solidFill>
                  <a:sysClr val="windowText" lastClr="000000"/>
                </a:solidFill>
                <a:latin typeface="楷体" panose="02010609060101010101" pitchFamily="49" charset="-122"/>
                <a:ea typeface="楷体" panose="02010609060101010101" pitchFamily="49" charset="-122"/>
              </a:endParaRPr>
            </a:p>
          </p:txBody>
        </p:sp>
        <p:sp>
          <p:nvSpPr>
            <p:cNvPr id="5" name="矩形 4"/>
            <p:cNvSpPr/>
            <p:nvPr/>
          </p:nvSpPr>
          <p:spPr>
            <a:xfrm>
              <a:off x="2000672" y="4728242"/>
              <a:ext cx="6531024" cy="980681"/>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参训时间与实施周期</a:t>
              </a:r>
            </a:p>
            <a:p>
              <a:pPr lvl="1">
                <a:lnSpc>
                  <a:spcPts val="19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 共分为两个阶段，每阶段需要在</a:t>
              </a:r>
              <a:r>
                <a:rPr kumimoji="0" lang="en-US" altLang="zh-CN" sz="1400" dirty="0">
                  <a:solidFill>
                    <a:srgbClr val="000000"/>
                  </a:solidFill>
                  <a:latin typeface="楷体" panose="02010609060101010101" pitchFamily="49" charset="-122"/>
                  <a:ea typeface="楷体" panose="02010609060101010101" pitchFamily="49" charset="-122"/>
                </a:rPr>
                <a:t>60</a:t>
              </a:r>
              <a:r>
                <a:rPr kumimoji="0" lang="zh-CN" altLang="en-US" sz="1400" dirty="0">
                  <a:solidFill>
                    <a:srgbClr val="000000"/>
                  </a:solidFill>
                  <a:latin typeface="楷体" panose="02010609060101010101" pitchFamily="49" charset="-122"/>
                  <a:ea typeface="楷体" panose="02010609060101010101" pitchFamily="49" charset="-122"/>
                </a:rPr>
                <a:t>天内完成（含在线自主学习、行动学习和在岗实践任务完成）</a:t>
              </a:r>
              <a:endParaRPr kumimoji="0" lang="en-US" altLang="zh-CN" sz="1400" dirty="0">
                <a:solidFill>
                  <a:srgbClr val="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kumimoji="0" lang="zh-CN" altLang="en-US" sz="1400" dirty="0">
                  <a:latin typeface="楷体" panose="02010609060101010101" pitchFamily="49" charset="-122"/>
                  <a:ea typeface="楷体" panose="02010609060101010101" pitchFamily="49" charset="-122"/>
                </a:rPr>
                <a:t> 行动学习结合面授学习主题单独设计</a:t>
              </a:r>
              <a:endParaRPr kumimoji="0" lang="zh-CN" altLang="en-US" sz="1400" dirty="0">
                <a:solidFill>
                  <a:srgbClr val="000000"/>
                </a:solidFill>
                <a:latin typeface="楷体" panose="02010609060101010101" pitchFamily="49" charset="-122"/>
                <a:ea typeface="楷体" panose="02010609060101010101" pitchFamily="49" charset="-122"/>
              </a:endParaRPr>
            </a:p>
          </p:txBody>
        </p:sp>
        <p:sp>
          <p:nvSpPr>
            <p:cNvPr id="6" name="矩形 5"/>
            <p:cNvSpPr/>
            <p:nvPr/>
          </p:nvSpPr>
          <p:spPr>
            <a:xfrm>
              <a:off x="2000672" y="5813948"/>
              <a:ext cx="6531024" cy="891528"/>
            </a:xfrm>
            <a:prstGeom prst="rect">
              <a:avLst/>
            </a:prstGeom>
            <a:solidFill>
              <a:srgbClr val="B2D2DE">
                <a:lumMod val="20000"/>
                <a:lumOff val="80000"/>
              </a:srgbClr>
            </a:solidFill>
          </p:spPr>
          <p:txBody>
            <a:bodyPr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培养方式</a:t>
              </a:r>
            </a:p>
            <a:p>
              <a:pPr defTabSz="846455">
                <a:defRPr/>
              </a:pPr>
              <a:r>
                <a:rPr lang="zh-CN" altLang="en-US" sz="1300" dirty="0">
                  <a:latin typeface="Times New Roman" panose="02020603050405020304" pitchFamily="18" charset="0"/>
                  <a:ea typeface="楷体" panose="02010609060101010101" pitchFamily="49" charset="-122"/>
                </a:rPr>
                <a:t>以自主学习、集中面授、行动学习、在岗实践为主要学习方式</a:t>
              </a:r>
            </a:p>
          </p:txBody>
        </p:sp>
        <p:sp>
          <p:nvSpPr>
            <p:cNvPr id="7" name="矩形 6"/>
            <p:cNvSpPr/>
            <p:nvPr/>
          </p:nvSpPr>
          <p:spPr>
            <a:xfrm>
              <a:off x="2000672" y="2351388"/>
              <a:ext cx="6531024" cy="1194654"/>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defRPr/>
              </a:pPr>
              <a:r>
                <a:rPr lang="zh-CN" altLang="en-US" sz="1500" b="1" kern="0" dirty="0">
                  <a:solidFill>
                    <a:sysClr val="windowText" lastClr="000000"/>
                  </a:solidFill>
                  <a:latin typeface="Times New Roman" panose="02020603050405020304" pitchFamily="18" charset="0"/>
                  <a:ea typeface="楷体" panose="02010609060101010101" pitchFamily="49" charset="-122"/>
                </a:rPr>
                <a:t>培养目标</a:t>
              </a:r>
            </a:p>
            <a:p>
              <a:pPr lvl="1">
                <a:lnSpc>
                  <a:spcPts val="1900"/>
                </a:lnSpc>
                <a:buFont typeface="Arial" panose="020B0604020202020204" pitchFamily="34" charset="0"/>
                <a:buChar char="•"/>
              </a:pPr>
              <a:r>
                <a:rPr lang="zh-CN" altLang="en-US" sz="1400" kern="0" dirty="0">
                  <a:solidFill>
                    <a:sysClr val="windowText" lastClr="000000"/>
                  </a:solidFill>
                  <a:latin typeface="楷体" panose="02010609060101010101" pitchFamily="49" charset="-122"/>
                  <a:ea typeface="楷体" panose="02010609060101010101" pitchFamily="49" charset="-122"/>
                </a:rPr>
                <a:t> 深入学习宏观经济和金融产业发展趋势，提升大类资产分析研判能力</a:t>
              </a:r>
              <a:endParaRPr lang="en-US" altLang="zh-CN" sz="1400" kern="0" dirty="0">
                <a:solidFill>
                  <a:sysClr val="windowText" lastClr="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kumimoji="0" lang="zh-CN" altLang="en-US" sz="1400" dirty="0">
                  <a:solidFill>
                    <a:srgbClr val="000000"/>
                  </a:solidFill>
                  <a:latin typeface="楷体" panose="02010609060101010101" pitchFamily="49" charset="-122"/>
                  <a:ea typeface="楷体" panose="02010609060101010101" pitchFamily="49" charset="-122"/>
                </a:rPr>
                <a:t> 掌握</a:t>
              </a:r>
              <a:r>
                <a:rPr lang="zh-CN" altLang="en-US" sz="1400" dirty="0">
                  <a:latin typeface="楷体" panose="02010609060101010101" pitchFamily="49" charset="-122"/>
                  <a:ea typeface="楷体" panose="02010609060101010101" pitchFamily="49" charset="-122"/>
                </a:rPr>
                <a:t>高端客户和重点客群心理和理财需求</a:t>
              </a:r>
              <a:r>
                <a:rPr kumimoji="0" lang="zh-CN" altLang="en-US" sz="1400" dirty="0">
                  <a:solidFill>
                    <a:srgbClr val="000000"/>
                  </a:solidFill>
                  <a:latin typeface="楷体" panose="02010609060101010101" pitchFamily="49" charset="-122"/>
                  <a:ea typeface="楷体" panose="02010609060101010101" pitchFamily="49" charset="-122"/>
                </a:rPr>
                <a:t>，进一步提升财富管理能力</a:t>
              </a:r>
              <a:endParaRPr kumimoji="0" lang="en-US" altLang="zh-CN" sz="1400" dirty="0">
                <a:solidFill>
                  <a:srgbClr val="000000"/>
                </a:solidFill>
                <a:latin typeface="楷体" panose="02010609060101010101" pitchFamily="49" charset="-122"/>
                <a:ea typeface="楷体" panose="02010609060101010101" pitchFamily="49" charset="-122"/>
              </a:endParaRPr>
            </a:p>
            <a:p>
              <a:pPr lvl="1">
                <a:lnSpc>
                  <a:spcPts val="1900"/>
                </a:lnSpc>
                <a:buFont typeface="Arial" panose="020B0604020202020204" pitchFamily="34" charset="0"/>
                <a:buChar char="•"/>
              </a:pPr>
              <a:r>
                <a:rPr lang="zh-CN" altLang="en-US" kern="0" dirty="0">
                  <a:solidFill>
                    <a:sysClr val="windowText" lastClr="000000"/>
                  </a:solidFill>
                  <a:latin typeface="楷体" panose="02010609060101010101" pitchFamily="49" charset="-122"/>
                  <a:ea typeface="楷体" panose="02010609060101010101" pitchFamily="49" charset="-122"/>
                </a:rPr>
                <a:t> 掌握辅导和激励他人方法，提升团队作战能力</a:t>
              </a:r>
              <a:endParaRPr lang="zh-CN" altLang="zh-CN" sz="1300" kern="0" dirty="0">
                <a:solidFill>
                  <a:sysClr val="windowText" lastClr="000000"/>
                </a:solidFill>
                <a:latin typeface="楷体" panose="02010609060101010101" pitchFamily="49" charset="-122"/>
                <a:ea typeface="楷体" panose="02010609060101010101" pitchFamily="49" charset="-122"/>
              </a:endParaRPr>
            </a:p>
          </p:txBody>
        </p:sp>
        <p:sp>
          <p:nvSpPr>
            <p:cNvPr id="8" name="矩形 7"/>
            <p:cNvSpPr/>
            <p:nvPr/>
          </p:nvSpPr>
          <p:spPr>
            <a:xfrm>
              <a:off x="2000672" y="1628922"/>
              <a:ext cx="6531024" cy="605295"/>
            </a:xfrm>
            <a:prstGeom prst="rect">
              <a:avLst/>
            </a:prstGeom>
            <a:solidFill>
              <a:srgbClr val="B2D2DE">
                <a:lumMod val="20000"/>
                <a:lumOff val="80000"/>
              </a:srgbClr>
            </a:solidFill>
          </p:spPr>
          <p:txBody>
            <a:bodyPr wrap="square" lIns="84664" tIns="42332" rIns="84664" bIns="42332" anchor="ctr">
              <a:noAutofit/>
            </a:bodyPr>
            <a:lstStyle/>
            <a:p>
              <a:pPr defTabSz="846455">
                <a:buClr>
                  <a:srgbClr val="6CAAC0"/>
                </a:buClr>
                <a:buSzPct val="80000"/>
                <a:buFont typeface="Wingdings" panose="05000000000000000000" pitchFamily="2" charset="2"/>
                <a:buChar char="n"/>
              </a:pPr>
              <a:r>
                <a:rPr lang="zh-CN" altLang="en-US" sz="1500" b="1" kern="0" dirty="0">
                  <a:solidFill>
                    <a:sysClr val="windowText" lastClr="000000"/>
                  </a:solidFill>
                  <a:latin typeface="楷体" panose="02010609060101010101" pitchFamily="49" charset="-122"/>
                  <a:ea typeface="楷体" panose="02010609060101010101" pitchFamily="49" charset="-122"/>
                  <a:cs typeface="Kai"/>
                </a:rPr>
                <a:t>培养对象</a:t>
              </a:r>
            </a:p>
            <a:p>
              <a:r>
                <a:rPr lang="zh-CN" altLang="en-US" sz="1400" kern="0" dirty="0">
                  <a:latin typeface="楷体" panose="02010609060101010101" pitchFamily="49" charset="-122"/>
                  <a:ea typeface="楷体" panose="02010609060101010101" pitchFamily="49" charset="-122"/>
                  <a:cs typeface="Kai"/>
                </a:rPr>
                <a:t>新晋高级客户经理，</a:t>
              </a:r>
              <a:r>
                <a:rPr lang="en-US" altLang="zh-CN" sz="1400" kern="0" dirty="0">
                  <a:latin typeface="楷体" panose="02010609060101010101" pitchFamily="49" charset="-122"/>
                  <a:ea typeface="楷体" panose="02010609060101010101" pitchFamily="49" charset="-122"/>
                  <a:cs typeface="Kai"/>
                </a:rPr>
                <a:t>12</a:t>
              </a:r>
              <a:r>
                <a:rPr lang="zh-CN" altLang="en-US" sz="1400" kern="0" dirty="0">
                  <a:latin typeface="楷体" panose="02010609060101010101" pitchFamily="49" charset="-122"/>
                  <a:ea typeface="楷体" panose="02010609060101010101" pitchFamily="49" charset="-122"/>
                  <a:cs typeface="Kai"/>
                </a:rPr>
                <a:t>个月内</a:t>
              </a:r>
              <a:endParaRPr lang="zh-CN" altLang="en-US" sz="1400" kern="0" dirty="0">
                <a:solidFill>
                  <a:sysClr val="windowText" lastClr="000000"/>
                </a:solidFill>
                <a:latin typeface="楷体" panose="02010609060101010101" pitchFamily="49" charset="-122"/>
                <a:ea typeface="楷体" panose="02010609060101010101" pitchFamily="49" charset="-122"/>
                <a:cs typeface="Kai"/>
              </a:endParaRPr>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6280" y="1520229"/>
              <a:ext cx="970449" cy="960106"/>
            </a:xfrm>
            <a:prstGeom prst="rect">
              <a:avLst/>
            </a:prstGeom>
            <a:noFill/>
            <a:ln>
              <a:noFill/>
            </a:ln>
          </p:spPr>
        </p:pic>
        <p:pic>
          <p:nvPicPr>
            <p:cNvPr id="10" name="图片 9"/>
            <p:cNvPicPr>
              <a:picLocks noChangeAspect="1"/>
            </p:cNvPicPr>
            <p:nvPr/>
          </p:nvPicPr>
          <p:blipFill>
            <a:blip r:embed="rId3" cstate="print"/>
            <a:stretch>
              <a:fillRect/>
            </a:stretch>
          </p:blipFill>
          <p:spPr>
            <a:xfrm>
              <a:off x="795020" y="2554675"/>
              <a:ext cx="1256347" cy="891528"/>
            </a:xfrm>
            <a:prstGeom prst="rect">
              <a:avLst/>
            </a:prstGeom>
          </p:spPr>
        </p:pic>
        <p:pic>
          <p:nvPicPr>
            <p:cNvPr id="11" name="图片 10"/>
            <p:cNvPicPr>
              <a:picLocks noChangeAspect="1"/>
            </p:cNvPicPr>
            <p:nvPr/>
          </p:nvPicPr>
          <p:blipFill>
            <a:blip r:embed="rId4" cstate="print"/>
            <a:stretch>
              <a:fillRect/>
            </a:stretch>
          </p:blipFill>
          <p:spPr>
            <a:xfrm>
              <a:off x="946280" y="4772818"/>
              <a:ext cx="979762" cy="891528"/>
            </a:xfrm>
            <a:prstGeom prst="rect">
              <a:avLst/>
            </a:prstGeom>
          </p:spPr>
        </p:pic>
        <p:pic>
          <p:nvPicPr>
            <p:cNvPr id="12" name="图片 11"/>
            <p:cNvPicPr>
              <a:picLocks noChangeAspect="1"/>
            </p:cNvPicPr>
            <p:nvPr/>
          </p:nvPicPr>
          <p:blipFill>
            <a:blip r:embed="rId5" cstate="print"/>
            <a:stretch>
              <a:fillRect/>
            </a:stretch>
          </p:blipFill>
          <p:spPr>
            <a:xfrm>
              <a:off x="946280" y="5813948"/>
              <a:ext cx="979762" cy="891528"/>
            </a:xfrm>
            <a:prstGeom prst="rect">
              <a:avLst/>
            </a:prstGeom>
          </p:spPr>
        </p:pic>
        <p:pic>
          <p:nvPicPr>
            <p:cNvPr id="13" name="图片 12"/>
            <p:cNvPicPr>
              <a:picLocks noChangeAspect="1"/>
            </p:cNvPicPr>
            <p:nvPr/>
          </p:nvPicPr>
          <p:blipFill rotWithShape="1">
            <a:blip r:embed="rId6" cstate="print"/>
            <a:srcRect t="15433" b="26888"/>
            <a:stretch>
              <a:fillRect/>
            </a:stretch>
          </p:blipFill>
          <p:spPr>
            <a:xfrm>
              <a:off x="946280" y="3671071"/>
              <a:ext cx="979762" cy="952143"/>
            </a:xfrm>
            <a:prstGeom prst="rect">
              <a:avLst/>
            </a:prstGeom>
          </p:spPr>
        </p:pic>
      </p:grpSp>
      <p:sp>
        <p:nvSpPr>
          <p:cNvPr id="14" name="矩形 13"/>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 name="对象 116"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Slide" r:id="rId74" imgW="12700" imgH="12700" progId="TCLayout.ActiveDocument.1">
                  <p:embed/>
                </p:oleObj>
              </mc:Choice>
              <mc:Fallback>
                <p:oleObj name="think-cell Slide" r:id="rId74" imgW="12700" imgH="12700" progId="TCLayout.ActiveDocument.1">
                  <p:embed/>
                  <p:pic>
                    <p:nvPicPr>
                      <p:cNvPr id="117" name="对象 116" hidden="1"/>
                      <p:cNvPicPr/>
                      <p:nvPr/>
                    </p:nvPicPr>
                    <p:blipFill>
                      <a:blip r:embed="rId75"/>
                      <a:stretch>
                        <a:fillRect/>
                      </a:stretch>
                    </p:blipFill>
                    <p:spPr>
                      <a:xfrm>
                        <a:off x="0" y="0"/>
                        <a:ext cx="158750" cy="158750"/>
                      </a:xfrm>
                      <a:prstGeom prst="rect">
                        <a:avLst/>
                      </a:prstGeom>
                    </p:spPr>
                  </p:pic>
                </p:oleObj>
              </mc:Fallback>
            </mc:AlternateContent>
          </a:graphicData>
        </a:graphic>
      </p:graphicFrame>
      <p:sp>
        <p:nvSpPr>
          <p:cNvPr id="116" name="AutoShape 63"/>
          <p:cNvSpPr>
            <a:spLocks noChangeArrowheads="1"/>
          </p:cNvSpPr>
          <p:nvPr>
            <p:custDataLst>
              <p:tags r:id="rId2"/>
            </p:custDataLst>
          </p:nvPr>
        </p:nvSpPr>
        <p:spPr bwMode="auto">
          <a:xfrm>
            <a:off x="7961658" y="1255593"/>
            <a:ext cx="1327151" cy="4728978"/>
          </a:xfrm>
          <a:prstGeom prst="roundRect">
            <a:avLst>
              <a:gd name="adj" fmla="val 4247"/>
            </a:avLst>
          </a:prstGeom>
          <a:solidFill>
            <a:schemeClr val="accent6">
              <a:lumMod val="50000"/>
            </a:schemeClr>
          </a:solidFill>
          <a:ln w="9525">
            <a:noFill/>
            <a:round/>
          </a:ln>
        </p:spPr>
        <p:txBody>
          <a:bodyPr/>
          <a:lstStyle/>
          <a:p>
            <a:pPr algn="just">
              <a:defRPr/>
            </a:pPr>
            <a:endParaRPr lang="zh-CN" altLang="zh-CN" sz="1200" kern="0">
              <a:solidFill>
                <a:srgbClr val="FFFFFF"/>
              </a:solidFill>
              <a:latin typeface="微软雅黑" panose="020B0503020204020204" pitchFamily="34" charset="-122"/>
              <a:ea typeface="微软雅黑" panose="020B0503020204020204" pitchFamily="34" charset="-122"/>
            </a:endParaRPr>
          </a:p>
        </p:txBody>
      </p:sp>
      <p:sp>
        <p:nvSpPr>
          <p:cNvPr id="4" name="Rectangle 58"/>
          <p:cNvSpPr>
            <a:spLocks noChangeArrowheads="1"/>
          </p:cNvSpPr>
          <p:nvPr>
            <p:custDataLst>
              <p:tags r:id="rId3"/>
            </p:custDataLst>
          </p:nvPr>
        </p:nvSpPr>
        <p:spPr bwMode="auto">
          <a:xfrm>
            <a:off x="2049924" y="1815359"/>
            <a:ext cx="5791881" cy="1416506"/>
          </a:xfrm>
          <a:prstGeom prst="rect">
            <a:avLst/>
          </a:prstGeom>
          <a:solidFill>
            <a:schemeClr val="accent6">
              <a:lumMod val="20000"/>
              <a:lumOff val="80000"/>
              <a:alpha val="87842"/>
            </a:schemeClr>
          </a:solidFill>
          <a:ln w="9525">
            <a:noFill/>
            <a:miter lim="800000"/>
          </a:ln>
        </p:spPr>
        <p:txBody>
          <a:bodyPr wrap="none" lIns="0" tIns="0" rIns="0" bIns="0" anchor="ctr"/>
          <a:lstStyle/>
          <a:p>
            <a:pPr algn="ctr"/>
            <a:endParaRPr kumimoji="1" lang="zh-CN" altLang="en-US" sz="1200">
              <a:solidFill>
                <a:srgbClr val="FFFFFF"/>
              </a:solidFill>
              <a:ea typeface="微软雅黑" panose="020B0503020204020204" pitchFamily="34" charset="-122"/>
            </a:endParaRPr>
          </a:p>
        </p:txBody>
      </p:sp>
      <p:grpSp>
        <p:nvGrpSpPr>
          <p:cNvPr id="138" name="组合 137"/>
          <p:cNvGrpSpPr/>
          <p:nvPr>
            <p:custDataLst>
              <p:tags r:id="rId4"/>
            </p:custDataLst>
          </p:nvPr>
        </p:nvGrpSpPr>
        <p:grpSpPr>
          <a:xfrm>
            <a:off x="581035" y="882162"/>
            <a:ext cx="8730085" cy="307975"/>
            <a:chOff x="602807" y="1370096"/>
            <a:chExt cx="8730085" cy="307975"/>
          </a:xfrm>
        </p:grpSpPr>
        <p:grpSp>
          <p:nvGrpSpPr>
            <p:cNvPr id="137" name="组合 136"/>
            <p:cNvGrpSpPr/>
            <p:nvPr/>
          </p:nvGrpSpPr>
          <p:grpSpPr>
            <a:xfrm>
              <a:off x="917129" y="1370096"/>
              <a:ext cx="8353412" cy="307975"/>
              <a:chOff x="917129" y="1370096"/>
              <a:chExt cx="8353412" cy="307975"/>
            </a:xfrm>
          </p:grpSpPr>
          <p:sp>
            <p:nvSpPr>
              <p:cNvPr id="6" name="Text Box 12"/>
              <p:cNvSpPr txBox="1">
                <a:spLocks noChangeArrowheads="1"/>
              </p:cNvSpPr>
              <p:nvPr>
                <p:custDataLst>
                  <p:tags r:id="rId69"/>
                </p:custDataLst>
              </p:nvPr>
            </p:nvSpPr>
            <p:spPr bwMode="auto">
              <a:xfrm>
                <a:off x="8154541" y="1370096"/>
                <a:ext cx="1116000" cy="307975"/>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训后延展</a:t>
                </a:r>
              </a:p>
            </p:txBody>
          </p:sp>
          <p:sp>
            <p:nvSpPr>
              <p:cNvPr id="8" name="Text Box 6"/>
              <p:cNvSpPr txBox="1">
                <a:spLocks noChangeArrowheads="1"/>
              </p:cNvSpPr>
              <p:nvPr>
                <p:custDataLst>
                  <p:tags r:id="rId70"/>
                </p:custDataLst>
              </p:nvPr>
            </p:nvSpPr>
            <p:spPr bwMode="auto">
              <a:xfrm>
                <a:off x="917129" y="1370096"/>
                <a:ext cx="1149350" cy="307777"/>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训前准备</a:t>
                </a:r>
              </a:p>
            </p:txBody>
          </p:sp>
          <p:sp>
            <p:nvSpPr>
              <p:cNvPr id="10" name="Text Box 9"/>
              <p:cNvSpPr txBox="1">
                <a:spLocks noChangeArrowheads="1"/>
              </p:cNvSpPr>
              <p:nvPr>
                <p:custDataLst>
                  <p:tags r:id="rId71"/>
                </p:custDataLst>
              </p:nvPr>
            </p:nvSpPr>
            <p:spPr bwMode="auto">
              <a:xfrm>
                <a:off x="2369691" y="1370096"/>
                <a:ext cx="5005388" cy="304800"/>
              </a:xfrm>
              <a:prstGeom prst="rect">
                <a:avLst/>
              </a:prstGeom>
              <a:noFill/>
              <a:ln w="9525">
                <a:noFill/>
                <a:miter lim="800000"/>
              </a:ln>
            </p:spPr>
            <p:txBody>
              <a:bodyPr>
                <a:spAutoFit/>
              </a:bodyPr>
              <a:lstStyle/>
              <a:p>
                <a:pPr>
                  <a:spcBef>
                    <a:spcPct val="50000"/>
                  </a:spcBef>
                </a:pPr>
                <a:r>
                  <a:rPr kumimoji="1" lang="zh-CN" altLang="en-US" sz="1400" dirty="0">
                    <a:latin typeface="微软雅黑" panose="020B0503020204020204" pitchFamily="34" charset="-122"/>
                    <a:ea typeface="微软雅黑" panose="020B0503020204020204" pitchFamily="34" charset="-122"/>
                  </a:rPr>
                  <a:t>培训中</a:t>
                </a:r>
              </a:p>
            </p:txBody>
          </p:sp>
        </p:grpSp>
        <p:grpSp>
          <p:nvGrpSpPr>
            <p:cNvPr id="107" name="组合 106"/>
            <p:cNvGrpSpPr/>
            <p:nvPr>
              <p:custDataLst>
                <p:tags r:id="rId66"/>
              </p:custDataLst>
            </p:nvPr>
          </p:nvGrpSpPr>
          <p:grpSpPr>
            <a:xfrm>
              <a:off x="602807" y="1413412"/>
              <a:ext cx="1368000" cy="260350"/>
              <a:chOff x="602807" y="1369868"/>
              <a:chExt cx="1368000" cy="260350"/>
            </a:xfrm>
          </p:grpSpPr>
          <p:sp>
            <p:nvSpPr>
              <p:cNvPr id="7" name="Line 5"/>
              <p:cNvSpPr>
                <a:spLocks noChangeShapeType="1"/>
              </p:cNvSpPr>
              <p:nvPr/>
            </p:nvSpPr>
            <p:spPr bwMode="auto">
              <a:xfrm>
                <a:off x="602807" y="1630218"/>
                <a:ext cx="1368000" cy="0"/>
              </a:xfrm>
              <a:prstGeom prst="line">
                <a:avLst/>
              </a:prstGeom>
              <a:noFill/>
              <a:ln w="19050">
                <a:solidFill>
                  <a:schemeClr val="hlink"/>
                </a:solidFill>
                <a:round/>
              </a:ln>
            </p:spPr>
            <p:txBody>
              <a:bodyPr/>
              <a:lstStyle/>
              <a:p>
                <a:endParaRPr lang="zh-CN" altLang="en-US"/>
              </a:p>
            </p:txBody>
          </p:sp>
          <p:sp>
            <p:nvSpPr>
              <p:cNvPr id="13" name="Rectangle 84"/>
              <p:cNvSpPr>
                <a:spLocks noChangeArrowheads="1"/>
              </p:cNvSpPr>
              <p:nvPr/>
            </p:nvSpPr>
            <p:spPr bwMode="auto">
              <a:xfrm>
                <a:off x="602807" y="1369868"/>
                <a:ext cx="311150" cy="215900"/>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1</a:t>
                </a:r>
              </a:p>
            </p:txBody>
          </p:sp>
        </p:grpSp>
        <p:grpSp>
          <p:nvGrpSpPr>
            <p:cNvPr id="108" name="组合 107"/>
            <p:cNvGrpSpPr/>
            <p:nvPr>
              <p:custDataLst>
                <p:tags r:id="rId67"/>
              </p:custDataLst>
            </p:nvPr>
          </p:nvGrpSpPr>
          <p:grpSpPr>
            <a:xfrm>
              <a:off x="2049924" y="1399134"/>
              <a:ext cx="5796000" cy="274628"/>
              <a:chOff x="2049924" y="1399134"/>
              <a:chExt cx="5796000" cy="274628"/>
            </a:xfrm>
          </p:grpSpPr>
          <p:sp>
            <p:nvSpPr>
              <p:cNvPr id="9" name="Line 8"/>
              <p:cNvSpPr>
                <a:spLocks noChangeShapeType="1"/>
              </p:cNvSpPr>
              <p:nvPr/>
            </p:nvSpPr>
            <p:spPr bwMode="auto">
              <a:xfrm>
                <a:off x="2049924" y="1673762"/>
                <a:ext cx="5796000" cy="0"/>
              </a:xfrm>
              <a:prstGeom prst="line">
                <a:avLst/>
              </a:prstGeom>
              <a:noFill/>
              <a:ln w="19050">
                <a:solidFill>
                  <a:schemeClr val="hlink"/>
                </a:solidFill>
                <a:round/>
              </a:ln>
            </p:spPr>
            <p:txBody>
              <a:bodyPr/>
              <a:lstStyle/>
              <a:p>
                <a:endParaRPr lang="zh-CN" altLang="en-US"/>
              </a:p>
            </p:txBody>
          </p:sp>
          <p:sp>
            <p:nvSpPr>
              <p:cNvPr id="14" name="Rectangle 85"/>
              <p:cNvSpPr>
                <a:spLocks noChangeArrowheads="1"/>
              </p:cNvSpPr>
              <p:nvPr/>
            </p:nvSpPr>
            <p:spPr bwMode="auto">
              <a:xfrm>
                <a:off x="2049924" y="1399134"/>
                <a:ext cx="288925" cy="239713"/>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2</a:t>
                </a:r>
              </a:p>
            </p:txBody>
          </p:sp>
        </p:grpSp>
        <p:grpSp>
          <p:nvGrpSpPr>
            <p:cNvPr id="109" name="组合 108"/>
            <p:cNvGrpSpPr/>
            <p:nvPr>
              <p:custDataLst>
                <p:tags r:id="rId68"/>
              </p:custDataLst>
            </p:nvPr>
          </p:nvGrpSpPr>
          <p:grpSpPr>
            <a:xfrm>
              <a:off x="7928892" y="1399134"/>
              <a:ext cx="1404000" cy="274628"/>
              <a:chOff x="7928892" y="1399134"/>
              <a:chExt cx="1404000" cy="274628"/>
            </a:xfrm>
          </p:grpSpPr>
          <p:sp>
            <p:nvSpPr>
              <p:cNvPr id="11" name="Line 11"/>
              <p:cNvSpPr>
                <a:spLocks noChangeShapeType="1"/>
              </p:cNvSpPr>
              <p:nvPr/>
            </p:nvSpPr>
            <p:spPr bwMode="auto">
              <a:xfrm>
                <a:off x="7928892" y="1673762"/>
                <a:ext cx="1404000" cy="0"/>
              </a:xfrm>
              <a:prstGeom prst="line">
                <a:avLst/>
              </a:prstGeom>
              <a:noFill/>
              <a:ln w="19050">
                <a:solidFill>
                  <a:schemeClr val="hlink"/>
                </a:solidFill>
                <a:round/>
              </a:ln>
            </p:spPr>
            <p:txBody>
              <a:bodyPr/>
              <a:lstStyle/>
              <a:p>
                <a:endParaRPr lang="zh-CN" altLang="en-US"/>
              </a:p>
            </p:txBody>
          </p:sp>
          <p:sp>
            <p:nvSpPr>
              <p:cNvPr id="15" name="Rectangle 86"/>
              <p:cNvSpPr>
                <a:spLocks noChangeArrowheads="1"/>
              </p:cNvSpPr>
              <p:nvPr/>
            </p:nvSpPr>
            <p:spPr bwMode="auto">
              <a:xfrm>
                <a:off x="7928892" y="1399134"/>
                <a:ext cx="290512" cy="239713"/>
              </a:xfrm>
              <a:prstGeom prst="rect">
                <a:avLst/>
              </a:prstGeom>
              <a:solidFill>
                <a:srgbClr val="FFC000"/>
              </a:solidFill>
              <a:ln w="9525">
                <a:noFill/>
                <a:miter lim="800000"/>
              </a:ln>
            </p:spPr>
            <p:txBody>
              <a:bodyPr wrap="none" anchor="ctr"/>
              <a:lstStyle/>
              <a:p>
                <a:r>
                  <a:rPr kumimoji="1" lang="en-US" altLang="zh-CN">
                    <a:solidFill>
                      <a:srgbClr val="FFFFFF"/>
                    </a:solidFill>
                    <a:latin typeface="微软雅黑" panose="020B0503020204020204" pitchFamily="34" charset="-122"/>
                    <a:ea typeface="微软雅黑" panose="020B0503020204020204" pitchFamily="34" charset="-122"/>
                  </a:rPr>
                  <a:t>3</a:t>
                </a:r>
              </a:p>
            </p:txBody>
          </p:sp>
        </p:grpSp>
      </p:grpSp>
      <p:sp>
        <p:nvSpPr>
          <p:cNvPr id="18" name="Rectangle 32"/>
          <p:cNvSpPr>
            <a:spLocks noChangeArrowheads="1"/>
          </p:cNvSpPr>
          <p:nvPr>
            <p:custDataLst>
              <p:tags r:id="rId5"/>
            </p:custDataLst>
          </p:nvPr>
        </p:nvSpPr>
        <p:spPr bwMode="auto">
          <a:xfrm>
            <a:off x="2049924" y="1255593"/>
            <a:ext cx="2844000" cy="534988"/>
          </a:xfrm>
          <a:prstGeom prst="rect">
            <a:avLst/>
          </a:prstGeom>
          <a:solidFill>
            <a:srgbClr val="366B7E"/>
          </a:solidFill>
          <a:ln w="19050">
            <a:noFill/>
            <a:miter lim="800000"/>
          </a:ln>
        </p:spPr>
        <p:txBody>
          <a:bodyPr wrap="none" anchor="ctr"/>
          <a:lstStyle/>
          <a:p>
            <a:pPr algn="ctr">
              <a:defRPr/>
            </a:pPr>
            <a:r>
              <a:rPr kumimoji="1" lang="zh-CN" altLang="en-US" sz="1400" dirty="0">
                <a:solidFill>
                  <a:srgbClr val="FFFFFF"/>
                </a:solidFill>
                <a:latin typeface="微软雅黑" panose="020B0503020204020204" pitchFamily="34" charset="-122"/>
                <a:ea typeface="微软雅黑" panose="020B0503020204020204" pitchFamily="34" charset="-122"/>
              </a:rPr>
              <a:t>第一阶段</a:t>
            </a:r>
            <a:r>
              <a:rPr kumimoji="1" lang="en-US" altLang="zh-CN" sz="1100" dirty="0">
                <a:solidFill>
                  <a:srgbClr val="FFFFFF"/>
                </a:solidFill>
                <a:latin typeface="微软雅黑" panose="020B0503020204020204" pitchFamily="34" charset="-122"/>
                <a:ea typeface="微软雅黑" panose="020B0503020204020204" pitchFamily="34" charset="-122"/>
              </a:rPr>
              <a:t>(</a:t>
            </a:r>
            <a:r>
              <a:rPr kumimoji="1" lang="zh-CN" altLang="en-US" sz="1100" dirty="0">
                <a:solidFill>
                  <a:srgbClr val="FFFFFF"/>
                </a:solidFill>
                <a:latin typeface="微软雅黑" panose="020B0503020204020204" pitchFamily="34" charset="-122"/>
                <a:ea typeface="微软雅黑" panose="020B0503020204020204" pitchFamily="34" charset="-122"/>
              </a:rPr>
              <a:t>新晋</a:t>
            </a:r>
            <a:r>
              <a:rPr kumimoji="1" lang="en-US" altLang="zh-CN" sz="1100" dirty="0">
                <a:solidFill>
                  <a:srgbClr val="FFFFFF"/>
                </a:solidFill>
                <a:latin typeface="微软雅黑" panose="020B0503020204020204" pitchFamily="34" charset="-122"/>
                <a:ea typeface="微软雅黑" panose="020B0503020204020204" pitchFamily="34" charset="-122"/>
              </a:rPr>
              <a:t>/</a:t>
            </a:r>
            <a:r>
              <a:rPr kumimoji="1" lang="zh-CN" altLang="en-US" sz="1100" dirty="0">
                <a:solidFill>
                  <a:srgbClr val="FFFFFF"/>
                </a:solidFill>
                <a:latin typeface="微软雅黑" panose="020B0503020204020204" pitchFamily="34" charset="-122"/>
                <a:ea typeface="微软雅黑" panose="020B0503020204020204" pitchFamily="34" charset="-122"/>
              </a:rPr>
              <a:t>转岗培训</a:t>
            </a:r>
            <a:r>
              <a:rPr kumimoji="1" lang="en-US" altLang="zh-CN" sz="1100" dirty="0">
                <a:solidFill>
                  <a:srgbClr val="FFFFFF"/>
                </a:solidFill>
                <a:latin typeface="微软雅黑" panose="020B0503020204020204" pitchFamily="34" charset="-122"/>
                <a:ea typeface="微软雅黑" panose="020B0503020204020204" pitchFamily="34" charset="-122"/>
              </a:rPr>
              <a:t>)</a:t>
            </a:r>
          </a:p>
        </p:txBody>
      </p:sp>
      <p:sp>
        <p:nvSpPr>
          <p:cNvPr id="19" name="Rectangle 32"/>
          <p:cNvSpPr>
            <a:spLocks noChangeArrowheads="1"/>
          </p:cNvSpPr>
          <p:nvPr>
            <p:custDataLst>
              <p:tags r:id="rId6"/>
            </p:custDataLst>
          </p:nvPr>
        </p:nvSpPr>
        <p:spPr bwMode="auto">
          <a:xfrm>
            <a:off x="4997805" y="1255593"/>
            <a:ext cx="2844000" cy="536575"/>
          </a:xfrm>
          <a:prstGeom prst="rect">
            <a:avLst/>
          </a:prstGeom>
          <a:solidFill>
            <a:srgbClr val="366B7E"/>
          </a:solidFill>
          <a:ln w="19050">
            <a:noFill/>
            <a:miter lim="800000"/>
          </a:ln>
        </p:spPr>
        <p:txBody>
          <a:bodyPr wrap="none" anchor="ctr"/>
          <a:lstStyle/>
          <a:p>
            <a:pPr algn="ctr"/>
            <a:r>
              <a:rPr kumimoji="1" lang="en-US" altLang="zh-CN" sz="1400" dirty="0">
                <a:solidFill>
                  <a:srgbClr val="FFFFFF"/>
                </a:solidFill>
                <a:latin typeface="微软雅黑" panose="020B0503020204020204" pitchFamily="34" charset="-122"/>
                <a:ea typeface="微软雅黑" panose="020B0503020204020204" pitchFamily="34" charset="-122"/>
              </a:rPr>
              <a:t>   </a:t>
            </a:r>
            <a:r>
              <a:rPr kumimoji="1" lang="zh-CN" altLang="en-US" sz="1400" dirty="0">
                <a:solidFill>
                  <a:srgbClr val="FFFFFF"/>
                </a:solidFill>
                <a:latin typeface="微软雅黑" panose="020B0503020204020204" pitchFamily="34" charset="-122"/>
                <a:ea typeface="微软雅黑" panose="020B0503020204020204" pitchFamily="34" charset="-122"/>
              </a:rPr>
              <a:t>第二阶段</a:t>
            </a:r>
            <a:r>
              <a:rPr kumimoji="1" lang="zh-CN" altLang="en-US" sz="1100" dirty="0">
                <a:solidFill>
                  <a:srgbClr val="FFFFFF"/>
                </a:solidFill>
                <a:latin typeface="微软雅黑" panose="020B0503020204020204" pitchFamily="34" charset="-122"/>
                <a:ea typeface="微软雅黑" panose="020B0503020204020204" pitchFamily="34" charset="-122"/>
              </a:rPr>
              <a:t>（进阶培训）</a:t>
            </a:r>
          </a:p>
        </p:txBody>
      </p:sp>
      <p:sp>
        <p:nvSpPr>
          <p:cNvPr id="20" name="AutoShape 59"/>
          <p:cNvSpPr>
            <a:spLocks noChangeArrowheads="1"/>
          </p:cNvSpPr>
          <p:nvPr>
            <p:custDataLst>
              <p:tags r:id="rId7"/>
            </p:custDataLst>
          </p:nvPr>
        </p:nvSpPr>
        <p:spPr bwMode="auto">
          <a:xfrm>
            <a:off x="4751081" y="1343992"/>
            <a:ext cx="385880" cy="377825"/>
          </a:xfrm>
          <a:prstGeom prst="rightArrow">
            <a:avLst>
              <a:gd name="adj1" fmla="val 50000"/>
              <a:gd name="adj2" fmla="val 26549"/>
            </a:avLst>
          </a:prstGeom>
          <a:solidFill>
            <a:srgbClr val="FFAA00"/>
          </a:solidFill>
          <a:ln w="9525">
            <a:noFill/>
            <a:miter lim="800000"/>
          </a:ln>
        </p:spPr>
        <p:txBody>
          <a:bodyPr wrap="none" lIns="0" tIns="0" rIns="0" bIns="0" anchor="ctr"/>
          <a:lstStyle/>
          <a:p>
            <a:endParaRPr kumimoji="1" lang="zh-CN" altLang="zh-CN" sz="1200"/>
          </a:p>
        </p:txBody>
      </p:sp>
      <p:sp>
        <p:nvSpPr>
          <p:cNvPr id="27" name="Line 11"/>
          <p:cNvSpPr>
            <a:spLocks noChangeShapeType="1"/>
          </p:cNvSpPr>
          <p:nvPr>
            <p:custDataLst>
              <p:tags r:id="rId8"/>
            </p:custDataLst>
          </p:nvPr>
        </p:nvSpPr>
        <p:spPr bwMode="auto">
          <a:xfrm>
            <a:off x="490094" y="6100899"/>
            <a:ext cx="8928100" cy="0"/>
          </a:xfrm>
          <a:prstGeom prst="line">
            <a:avLst/>
          </a:prstGeom>
          <a:noFill/>
          <a:ln w="38100">
            <a:solidFill>
              <a:schemeClr val="folHlink"/>
            </a:solidFill>
            <a:round/>
            <a:tailEnd type="triangle" w="med" len="med"/>
          </a:ln>
        </p:spPr>
        <p:txBody>
          <a:bodyPr lIns="0" tIns="0" rIns="0" bIns="0"/>
          <a:lstStyle/>
          <a:p>
            <a:endParaRPr lang="zh-CN" altLang="en-US"/>
          </a:p>
        </p:txBody>
      </p:sp>
      <p:sp>
        <p:nvSpPr>
          <p:cNvPr id="28" name="Oval 18"/>
          <p:cNvSpPr>
            <a:spLocks noChangeArrowheads="1"/>
          </p:cNvSpPr>
          <p:nvPr>
            <p:custDataLst>
              <p:tags r:id="rId9"/>
            </p:custDataLst>
          </p:nvPr>
        </p:nvSpPr>
        <p:spPr bwMode="auto">
          <a:xfrm>
            <a:off x="488509" y="6013597"/>
            <a:ext cx="142875"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30" name="Oval 25"/>
          <p:cNvSpPr>
            <a:spLocks noChangeArrowheads="1"/>
          </p:cNvSpPr>
          <p:nvPr>
            <p:custDataLst>
              <p:tags r:id="rId10"/>
            </p:custDataLst>
          </p:nvPr>
        </p:nvSpPr>
        <p:spPr bwMode="auto">
          <a:xfrm>
            <a:off x="9135616" y="6008834"/>
            <a:ext cx="139700"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31" name="Text Box 26"/>
          <p:cNvSpPr txBox="1">
            <a:spLocks noChangeArrowheads="1"/>
          </p:cNvSpPr>
          <p:nvPr>
            <p:custDataLst>
              <p:tags r:id="rId11"/>
            </p:custDataLst>
          </p:nvPr>
        </p:nvSpPr>
        <p:spPr bwMode="auto">
          <a:xfrm>
            <a:off x="8490274" y="6172337"/>
            <a:ext cx="248466"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2</a:t>
            </a:r>
            <a:r>
              <a:rPr kumimoji="1" lang="zh-CN" altLang="en-US" sz="1200" b="0" dirty="0">
                <a:latin typeface="微软雅黑" panose="020B0503020204020204" pitchFamily="34" charset="-122"/>
                <a:ea typeface="微软雅黑" panose="020B0503020204020204" pitchFamily="34" charset="-122"/>
              </a:rPr>
              <a:t>周</a:t>
            </a:r>
          </a:p>
        </p:txBody>
      </p:sp>
      <p:sp>
        <p:nvSpPr>
          <p:cNvPr id="32" name="Text Box 21"/>
          <p:cNvSpPr txBox="1">
            <a:spLocks noChangeArrowheads="1"/>
          </p:cNvSpPr>
          <p:nvPr>
            <p:custDataLst>
              <p:tags r:id="rId12"/>
            </p:custDataLst>
          </p:nvPr>
        </p:nvSpPr>
        <p:spPr bwMode="auto">
          <a:xfrm>
            <a:off x="3098755" y="6172337"/>
            <a:ext cx="864019"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2</a:t>
            </a:r>
            <a:r>
              <a:rPr kumimoji="1" lang="zh-CN" altLang="en-US" sz="1200" b="0" dirty="0">
                <a:latin typeface="微软雅黑" panose="020B0503020204020204" pitchFamily="34" charset="-122"/>
                <a:ea typeface="微软雅黑" panose="020B0503020204020204" pitchFamily="34" charset="-122"/>
              </a:rPr>
              <a:t>个月内完成</a:t>
            </a:r>
          </a:p>
        </p:txBody>
      </p:sp>
      <p:sp>
        <p:nvSpPr>
          <p:cNvPr id="33" name="Text Box 21"/>
          <p:cNvSpPr txBox="1">
            <a:spLocks noChangeArrowheads="1"/>
          </p:cNvSpPr>
          <p:nvPr>
            <p:custDataLst>
              <p:tags r:id="rId13"/>
            </p:custDataLst>
          </p:nvPr>
        </p:nvSpPr>
        <p:spPr bwMode="auto">
          <a:xfrm>
            <a:off x="5978408" y="6186624"/>
            <a:ext cx="864019"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2</a:t>
            </a:r>
            <a:r>
              <a:rPr kumimoji="1" lang="zh-CN" altLang="en-US" sz="1200" b="0" dirty="0">
                <a:latin typeface="微软雅黑" panose="020B0503020204020204" pitchFamily="34" charset="-122"/>
                <a:ea typeface="微软雅黑" panose="020B0503020204020204" pitchFamily="34" charset="-122"/>
              </a:rPr>
              <a:t>个月内完成</a:t>
            </a:r>
          </a:p>
        </p:txBody>
      </p:sp>
      <p:sp>
        <p:nvSpPr>
          <p:cNvPr id="34" name="等腰三角形 90"/>
          <p:cNvSpPr>
            <a:spLocks noChangeArrowheads="1"/>
          </p:cNvSpPr>
          <p:nvPr>
            <p:custDataLst>
              <p:tags r:id="rId14"/>
            </p:custDataLst>
          </p:nvPr>
        </p:nvSpPr>
        <p:spPr bwMode="auto">
          <a:xfrm>
            <a:off x="1929959" y="5984571"/>
            <a:ext cx="152400" cy="249237"/>
          </a:xfrm>
          <a:prstGeom prst="triangle">
            <a:avLst>
              <a:gd name="adj" fmla="val 50000"/>
            </a:avLst>
          </a:prstGeom>
          <a:solidFill>
            <a:srgbClr val="366B7E"/>
          </a:solidFill>
          <a:ln w="22225" algn="ctr">
            <a:solidFill>
              <a:schemeClr val="bg1"/>
            </a:solidFill>
            <a:round/>
          </a:ln>
        </p:spPr>
        <p:txBody>
          <a:bodyPr lIns="0" tIns="0" rIns="0" bIns="0"/>
          <a:lstStyle/>
          <a:p>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5" name="等腰三角形 96"/>
          <p:cNvSpPr>
            <a:spLocks noChangeArrowheads="1"/>
          </p:cNvSpPr>
          <p:nvPr>
            <p:custDataLst>
              <p:tags r:id="rId15"/>
            </p:custDataLst>
          </p:nvPr>
        </p:nvSpPr>
        <p:spPr bwMode="auto">
          <a:xfrm>
            <a:off x="7859271" y="5984571"/>
            <a:ext cx="152400" cy="249238"/>
          </a:xfrm>
          <a:prstGeom prst="triangle">
            <a:avLst>
              <a:gd name="adj" fmla="val 50000"/>
            </a:avLst>
          </a:prstGeom>
          <a:solidFill>
            <a:srgbClr val="366B7E"/>
          </a:solidFill>
          <a:ln w="22225" algn="ctr">
            <a:solidFill>
              <a:schemeClr val="bg1"/>
            </a:solidFill>
            <a:round/>
          </a:ln>
        </p:spPr>
        <p:txBody>
          <a:bodyPr lIns="0" tIns="0" rIns="0" bIns="0"/>
          <a:lstStyle/>
          <a:p>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6" name="Oval 18"/>
          <p:cNvSpPr>
            <a:spLocks noChangeArrowheads="1"/>
          </p:cNvSpPr>
          <p:nvPr>
            <p:custDataLst>
              <p:tags r:id="rId16"/>
            </p:custDataLst>
          </p:nvPr>
        </p:nvSpPr>
        <p:spPr bwMode="auto">
          <a:xfrm>
            <a:off x="4923985" y="6013597"/>
            <a:ext cx="142875" cy="136525"/>
          </a:xfrm>
          <a:prstGeom prst="ellipse">
            <a:avLst/>
          </a:prstGeom>
          <a:solidFill>
            <a:srgbClr val="FFC000"/>
          </a:solidFill>
          <a:ln w="22225">
            <a:solidFill>
              <a:schemeClr val="bg1"/>
            </a:solidFill>
            <a:round/>
          </a:ln>
        </p:spPr>
        <p:txBody>
          <a:bodyPr wrap="none" lIns="0" tIns="0" rIns="0" bIns="0" anchor="ctr"/>
          <a:lstStyle/>
          <a:p>
            <a:pPr algn="ctr">
              <a:spcAft>
                <a:spcPts val="300"/>
              </a:spcAft>
              <a:buFont typeface="Wingdings" panose="05000000000000000000" pitchFamily="2" charset="2"/>
              <a:buNone/>
            </a:pPr>
            <a:endParaRPr kumimoji="1" lang="zh-CN" altLang="zh-CN" sz="1200">
              <a:latin typeface="微软雅黑" panose="020B0503020204020204" pitchFamily="34" charset="-122"/>
              <a:ea typeface="微软雅黑" panose="020B0503020204020204" pitchFamily="34" charset="-122"/>
            </a:endParaRPr>
          </a:p>
        </p:txBody>
      </p:sp>
      <p:sp>
        <p:nvSpPr>
          <p:cNvPr id="58" name="AutoShape 63"/>
          <p:cNvSpPr>
            <a:spLocks noChangeArrowheads="1"/>
          </p:cNvSpPr>
          <p:nvPr>
            <p:custDataLst>
              <p:tags r:id="rId17"/>
            </p:custDataLst>
          </p:nvPr>
        </p:nvSpPr>
        <p:spPr bwMode="auto">
          <a:xfrm>
            <a:off x="601513" y="1275659"/>
            <a:ext cx="1368000" cy="4707634"/>
          </a:xfrm>
          <a:prstGeom prst="roundRect">
            <a:avLst>
              <a:gd name="adj" fmla="val 4247"/>
            </a:avLst>
          </a:prstGeom>
          <a:solidFill>
            <a:schemeClr val="accent6">
              <a:lumMod val="50000"/>
            </a:schemeClr>
          </a:solidFill>
          <a:ln w="9525">
            <a:noFill/>
            <a:round/>
          </a:ln>
        </p:spPr>
        <p:txBody>
          <a:bodyPr/>
          <a:lstStyle/>
          <a:p>
            <a:pPr algn="just">
              <a:defRPr/>
            </a:pPr>
            <a:endParaRPr lang="zh-CN" altLang="zh-CN" sz="1200" kern="0">
              <a:solidFill>
                <a:srgbClr val="FFFFFF"/>
              </a:solidFill>
              <a:latin typeface="微软雅黑" panose="020B0503020204020204" pitchFamily="34" charset="-122"/>
              <a:ea typeface="微软雅黑" panose="020B0503020204020204" pitchFamily="34" charset="-122"/>
            </a:endParaRPr>
          </a:p>
        </p:txBody>
      </p:sp>
      <p:sp>
        <p:nvSpPr>
          <p:cNvPr id="97" name="Text Box 21"/>
          <p:cNvSpPr txBox="1">
            <a:spLocks noChangeArrowheads="1"/>
          </p:cNvSpPr>
          <p:nvPr>
            <p:custDataLst>
              <p:tags r:id="rId18"/>
            </p:custDataLst>
          </p:nvPr>
        </p:nvSpPr>
        <p:spPr bwMode="auto">
          <a:xfrm>
            <a:off x="272486" y="6180938"/>
            <a:ext cx="556370" cy="184666"/>
          </a:xfrm>
          <a:prstGeom prst="rect">
            <a:avLst/>
          </a:prstGeom>
          <a:noFill/>
          <a:ln w="9525">
            <a:noFill/>
            <a:miter lim="800000"/>
          </a:ln>
        </p:spPr>
        <p:txBody>
          <a:bodyPr wrap="none" lIns="0" tIns="0" rIns="0" bIns="0">
            <a:spAutoFit/>
          </a:bodyPr>
          <a:lstStyle/>
          <a:p>
            <a:pPr algn="ctr">
              <a:spcAft>
                <a:spcPts val="300"/>
              </a:spcAft>
              <a:buFont typeface="Wingdings" panose="05000000000000000000" pitchFamily="2" charset="2"/>
              <a:buNone/>
            </a:pPr>
            <a:r>
              <a:rPr kumimoji="1" lang="en-US" altLang="zh-CN" sz="1200" b="0" dirty="0">
                <a:latin typeface="微软雅黑" panose="020B0503020204020204" pitchFamily="34" charset="-122"/>
                <a:ea typeface="微软雅黑" panose="020B0503020204020204" pitchFamily="34" charset="-122"/>
              </a:rPr>
              <a:t>Kick-off</a:t>
            </a:r>
            <a:endParaRPr kumimoji="1" lang="zh-CN" altLang="en-US" sz="1200" b="0" dirty="0">
              <a:latin typeface="微软雅黑" panose="020B0503020204020204" pitchFamily="34" charset="-122"/>
              <a:ea typeface="微软雅黑" panose="020B0503020204020204" pitchFamily="34" charset="-122"/>
            </a:endParaRPr>
          </a:p>
        </p:txBody>
      </p:sp>
      <p:sp>
        <p:nvSpPr>
          <p:cNvPr id="115" name="Rectangle 58"/>
          <p:cNvSpPr>
            <a:spLocks noChangeArrowheads="1"/>
          </p:cNvSpPr>
          <p:nvPr>
            <p:custDataLst>
              <p:tags r:id="rId19"/>
            </p:custDataLst>
          </p:nvPr>
        </p:nvSpPr>
        <p:spPr bwMode="auto">
          <a:xfrm>
            <a:off x="2049437" y="1812399"/>
            <a:ext cx="5696988" cy="261818"/>
          </a:xfrm>
          <a:prstGeom prst="rect">
            <a:avLst/>
          </a:prstGeom>
          <a:solidFill>
            <a:schemeClr val="tx1">
              <a:lumMod val="65000"/>
              <a:lumOff val="35000"/>
              <a:alpha val="87842"/>
            </a:schemeClr>
          </a:solidFill>
          <a:ln w="9525">
            <a:noFill/>
            <a:miter lim="800000"/>
          </a:ln>
        </p:spPr>
        <p:txBody>
          <a:bodyPr wrap="none" lIns="0" tIns="0" rIns="0" bIns="0" anchor="ctr"/>
          <a:lstStyle/>
          <a:p>
            <a:pPr algn="ctr"/>
            <a:r>
              <a:rPr kumimoji="1" lang="zh-CN" altLang="en-US" sz="1200" dirty="0">
                <a:solidFill>
                  <a:srgbClr val="FFFFFF"/>
                </a:solidFill>
                <a:ea typeface="微软雅黑" panose="020B0503020204020204" pitchFamily="34" charset="-122"/>
              </a:rPr>
              <a:t>完成训前指定自主学习任务</a:t>
            </a:r>
          </a:p>
        </p:txBody>
      </p:sp>
      <p:grpSp>
        <p:nvGrpSpPr>
          <p:cNvPr id="119" name="组合 118"/>
          <p:cNvGrpSpPr/>
          <p:nvPr>
            <p:custDataLst>
              <p:tags r:id="rId20"/>
            </p:custDataLst>
          </p:nvPr>
        </p:nvGrpSpPr>
        <p:grpSpPr>
          <a:xfrm>
            <a:off x="2006159" y="5407192"/>
            <a:ext cx="5868000" cy="576000"/>
            <a:chOff x="2006159" y="5677315"/>
            <a:chExt cx="7096047" cy="577849"/>
          </a:xfrm>
        </p:grpSpPr>
        <p:sp>
          <p:nvSpPr>
            <p:cNvPr id="118" name="Freeform 3"/>
            <p:cNvSpPr/>
            <p:nvPr>
              <p:custDataLst>
                <p:tags r:id="rId61"/>
              </p:custDataLst>
            </p:nvPr>
          </p:nvSpPr>
          <p:spPr bwMode="auto">
            <a:xfrm>
              <a:off x="7435395" y="5677315"/>
              <a:ext cx="1666811" cy="577849"/>
            </a:xfrm>
            <a:custGeom>
              <a:avLst/>
              <a:gdLst>
                <a:gd name="T0" fmla="*/ 0 w 825"/>
                <a:gd name="T1" fmla="*/ 0 h 1113"/>
                <a:gd name="T2" fmla="*/ 143481 w 825"/>
                <a:gd name="T3" fmla="*/ 0 h 1113"/>
                <a:gd name="T4" fmla="*/ 169625 w 825"/>
                <a:gd name="T5" fmla="*/ 1 h 1113"/>
                <a:gd name="T6" fmla="*/ 143481 w 825"/>
                <a:gd name="T7" fmla="*/ 1 h 1113"/>
                <a:gd name="T8" fmla="*/ 0 w 825"/>
                <a:gd name="T9" fmla="*/ 1 h 1113"/>
                <a:gd name="T10" fmla="*/ 22850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sp>
          <p:nvSpPr>
            <p:cNvPr id="47" name="Freeform 3"/>
            <p:cNvSpPr/>
            <p:nvPr>
              <p:custDataLst>
                <p:tags r:id="rId62"/>
              </p:custDataLst>
            </p:nvPr>
          </p:nvSpPr>
          <p:spPr bwMode="auto">
            <a:xfrm>
              <a:off x="2006159" y="5677315"/>
              <a:ext cx="1666810" cy="577847"/>
            </a:xfrm>
            <a:custGeom>
              <a:avLst/>
              <a:gdLst>
                <a:gd name="T0" fmla="*/ 0 w 825"/>
                <a:gd name="T1" fmla="*/ 0 h 1113"/>
                <a:gd name="T2" fmla="*/ 151115746 w 825"/>
                <a:gd name="T3" fmla="*/ 0 h 1113"/>
                <a:gd name="T4" fmla="*/ 178650513 w 825"/>
                <a:gd name="T5" fmla="*/ 198 h 1113"/>
                <a:gd name="T6" fmla="*/ 151115746 w 825"/>
                <a:gd name="T7" fmla="*/ 396 h 1113"/>
                <a:gd name="T8" fmla="*/ 0 w 825"/>
                <a:gd name="T9" fmla="*/ 396 h 1113"/>
                <a:gd name="T10" fmla="*/ 24065853 w 825"/>
                <a:gd name="T11" fmla="*/ 198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lgn="ctr">
              <a:solidFill>
                <a:srgbClr val="FFFFFF"/>
              </a:solidFill>
              <a:round/>
            </a:ln>
          </p:spPr>
          <p:txBody>
            <a:bodyPr/>
            <a:lstStyle/>
            <a:p>
              <a:pPr>
                <a:defRPr/>
              </a:pPr>
              <a:endParaRPr lang="zh-CN" altLang="en-US" sz="1100" kern="0"/>
            </a:p>
          </p:txBody>
        </p:sp>
        <p:sp>
          <p:nvSpPr>
            <p:cNvPr id="48" name="Freeform 3"/>
            <p:cNvSpPr/>
            <p:nvPr>
              <p:custDataLst>
                <p:tags r:id="rId63"/>
              </p:custDataLst>
            </p:nvPr>
          </p:nvSpPr>
          <p:spPr bwMode="auto">
            <a:xfrm>
              <a:off x="3363468" y="5677315"/>
              <a:ext cx="1666810" cy="577847"/>
            </a:xfrm>
            <a:custGeom>
              <a:avLst/>
              <a:gdLst>
                <a:gd name="T0" fmla="*/ 0 w 825"/>
                <a:gd name="T1" fmla="*/ 0 h 1113"/>
                <a:gd name="T2" fmla="*/ 147341 w 825"/>
                <a:gd name="T3" fmla="*/ 0 h 1113"/>
                <a:gd name="T4" fmla="*/ 174188 w 825"/>
                <a:gd name="T5" fmla="*/ 1 h 1113"/>
                <a:gd name="T6" fmla="*/ 147341 w 825"/>
                <a:gd name="T7" fmla="*/ 1 h 1113"/>
                <a:gd name="T8" fmla="*/ 0 w 825"/>
                <a:gd name="T9" fmla="*/ 1 h 1113"/>
                <a:gd name="T10" fmla="*/ 23465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sp>
          <p:nvSpPr>
            <p:cNvPr id="49" name="Freeform 3"/>
            <p:cNvSpPr/>
            <p:nvPr>
              <p:custDataLst>
                <p:tags r:id="rId64"/>
              </p:custDataLst>
            </p:nvPr>
          </p:nvSpPr>
          <p:spPr bwMode="auto">
            <a:xfrm>
              <a:off x="4720777" y="5677315"/>
              <a:ext cx="1666810" cy="577847"/>
            </a:xfrm>
            <a:custGeom>
              <a:avLst/>
              <a:gdLst>
                <a:gd name="T0" fmla="*/ 0 w 825"/>
                <a:gd name="T1" fmla="*/ 0 h 1113"/>
                <a:gd name="T2" fmla="*/ 143481 w 825"/>
                <a:gd name="T3" fmla="*/ 0 h 1113"/>
                <a:gd name="T4" fmla="*/ 169625 w 825"/>
                <a:gd name="T5" fmla="*/ 1 h 1113"/>
                <a:gd name="T6" fmla="*/ 143481 w 825"/>
                <a:gd name="T7" fmla="*/ 1 h 1113"/>
                <a:gd name="T8" fmla="*/ 0 w 825"/>
                <a:gd name="T9" fmla="*/ 1 h 1113"/>
                <a:gd name="T10" fmla="*/ 22850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sp>
          <p:nvSpPr>
            <p:cNvPr id="50" name="Freeform 3"/>
            <p:cNvSpPr/>
            <p:nvPr>
              <p:custDataLst>
                <p:tags r:id="rId65"/>
              </p:custDataLst>
            </p:nvPr>
          </p:nvSpPr>
          <p:spPr bwMode="auto">
            <a:xfrm>
              <a:off x="6078086" y="5677315"/>
              <a:ext cx="1666811" cy="577849"/>
            </a:xfrm>
            <a:custGeom>
              <a:avLst/>
              <a:gdLst>
                <a:gd name="T0" fmla="*/ 0 w 825"/>
                <a:gd name="T1" fmla="*/ 0 h 1113"/>
                <a:gd name="T2" fmla="*/ 143481 w 825"/>
                <a:gd name="T3" fmla="*/ 0 h 1113"/>
                <a:gd name="T4" fmla="*/ 169625 w 825"/>
                <a:gd name="T5" fmla="*/ 1 h 1113"/>
                <a:gd name="T6" fmla="*/ 143481 w 825"/>
                <a:gd name="T7" fmla="*/ 1 h 1113"/>
                <a:gd name="T8" fmla="*/ 0 w 825"/>
                <a:gd name="T9" fmla="*/ 1 h 1113"/>
                <a:gd name="T10" fmla="*/ 22850 w 825"/>
                <a:gd name="T11" fmla="*/ 1 h 1113"/>
                <a:gd name="T12" fmla="*/ 0 w 825"/>
                <a:gd name="T13" fmla="*/ 0 h 1113"/>
                <a:gd name="T14" fmla="*/ 0 60000 65536"/>
                <a:gd name="T15" fmla="*/ 0 60000 65536"/>
                <a:gd name="T16" fmla="*/ 0 60000 65536"/>
                <a:gd name="T17" fmla="*/ 0 60000 65536"/>
                <a:gd name="T18" fmla="*/ 0 60000 65536"/>
                <a:gd name="T19" fmla="*/ 0 60000 65536"/>
                <a:gd name="T20" fmla="*/ 0 60000 65536"/>
                <a:gd name="T21" fmla="*/ 0 w 825"/>
                <a:gd name="T22" fmla="*/ 0 h 1113"/>
                <a:gd name="T23" fmla="*/ 825 w 825"/>
                <a:gd name="T24" fmla="*/ 1113 h 11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5" h="1113">
                  <a:moveTo>
                    <a:pt x="0" y="0"/>
                  </a:moveTo>
                  <a:lnTo>
                    <a:pt x="697" y="0"/>
                  </a:lnTo>
                  <a:lnTo>
                    <a:pt x="824" y="556"/>
                  </a:lnTo>
                  <a:lnTo>
                    <a:pt x="697" y="1112"/>
                  </a:lnTo>
                  <a:lnTo>
                    <a:pt x="0" y="1112"/>
                  </a:lnTo>
                  <a:lnTo>
                    <a:pt x="111" y="556"/>
                  </a:lnTo>
                  <a:lnTo>
                    <a:pt x="0" y="0"/>
                  </a:lnTo>
                </a:path>
              </a:pathLst>
            </a:custGeom>
            <a:solidFill>
              <a:srgbClr val="92D050"/>
            </a:solidFill>
            <a:ln w="28575" cap="rnd">
              <a:solidFill>
                <a:srgbClr val="FFFFFF"/>
              </a:solidFill>
              <a:round/>
            </a:ln>
          </p:spPr>
          <p:txBody>
            <a:bodyPr/>
            <a:lstStyle/>
            <a:p>
              <a:pPr>
                <a:defRPr/>
              </a:pPr>
              <a:endParaRPr lang="zh-CN" altLang="en-US" sz="1100" kern="0"/>
            </a:p>
          </p:txBody>
        </p:sp>
      </p:grpSp>
      <p:sp>
        <p:nvSpPr>
          <p:cNvPr id="51" name="Rectangle 5"/>
          <p:cNvSpPr>
            <a:spLocks noChangeArrowheads="1"/>
          </p:cNvSpPr>
          <p:nvPr>
            <p:custDataLst>
              <p:tags r:id="rId21"/>
            </p:custDataLst>
          </p:nvPr>
        </p:nvSpPr>
        <p:spPr bwMode="auto">
          <a:xfrm>
            <a:off x="5768240" y="5606867"/>
            <a:ext cx="615554" cy="184666"/>
          </a:xfrm>
          <a:prstGeom prst="rect">
            <a:avLst/>
          </a:prstGeom>
          <a:noFill/>
          <a:ln>
            <a:noFill/>
          </a:ln>
        </p:spPr>
        <p:txBody>
          <a:bodyPr wrap="none" lIns="0" tIns="0" rIns="0" bIns="0" anchor="ctr">
            <a:spAutoFit/>
          </a:bodyPr>
          <a:lstStyle/>
          <a:p>
            <a:pPr algn="ctr">
              <a:defRPr/>
            </a:pPr>
            <a:r>
              <a:rPr lang="zh-CN" altLang="en-US" sz="1200" kern="0" dirty="0">
                <a:latin typeface="微软雅黑" panose="020B0503020204020204" pitchFamily="34" charset="-122"/>
                <a:ea typeface="微软雅黑" panose="020B0503020204020204" pitchFamily="34" charset="-122"/>
                <a:cs typeface="黑体" panose="02010609060101010101" pitchFamily="49" charset="-122"/>
              </a:rPr>
              <a:t>在岗实践</a:t>
            </a:r>
          </a:p>
        </p:txBody>
      </p:sp>
      <p:sp>
        <p:nvSpPr>
          <p:cNvPr id="52" name="Rectangle 5"/>
          <p:cNvSpPr>
            <a:spLocks noChangeArrowheads="1"/>
          </p:cNvSpPr>
          <p:nvPr>
            <p:custDataLst>
              <p:tags r:id="rId22"/>
            </p:custDataLst>
          </p:nvPr>
        </p:nvSpPr>
        <p:spPr bwMode="auto">
          <a:xfrm>
            <a:off x="2254382" y="5529922"/>
            <a:ext cx="864000" cy="338554"/>
          </a:xfrm>
          <a:prstGeom prst="rect">
            <a:avLst/>
          </a:prstGeom>
          <a:noFill/>
          <a:ln>
            <a:noFill/>
          </a:ln>
        </p:spPr>
        <p:txBody>
          <a:bodyPr wrap="square" lIns="0" tIns="0" rIns="0" bIns="0" anchor="ctr">
            <a:no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结合培养内容与工作选题</a:t>
            </a:r>
          </a:p>
        </p:txBody>
      </p:sp>
      <p:sp>
        <p:nvSpPr>
          <p:cNvPr id="53" name="Rectangle 5"/>
          <p:cNvSpPr>
            <a:spLocks noChangeArrowheads="1"/>
          </p:cNvSpPr>
          <p:nvPr>
            <p:custDataLst>
              <p:tags r:id="rId23"/>
            </p:custDataLst>
          </p:nvPr>
        </p:nvSpPr>
        <p:spPr bwMode="auto">
          <a:xfrm>
            <a:off x="3403746" y="5614561"/>
            <a:ext cx="828000" cy="169277"/>
          </a:xfrm>
          <a:prstGeom prst="rect">
            <a:avLst/>
          </a:prstGeom>
          <a:noFill/>
          <a:ln>
            <a:noFill/>
          </a:ln>
        </p:spPr>
        <p:txBody>
          <a:bodyPr wrap="square" lIns="0" tIns="0" rIns="0" bIns="0" anchor="ctr">
            <a:no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运用所学进行研讨分析</a:t>
            </a:r>
          </a:p>
        </p:txBody>
      </p:sp>
      <p:sp>
        <p:nvSpPr>
          <p:cNvPr id="54" name="Rectangle 5"/>
          <p:cNvSpPr>
            <a:spLocks noChangeArrowheads="1"/>
          </p:cNvSpPr>
          <p:nvPr>
            <p:custDataLst>
              <p:tags r:id="rId24"/>
            </p:custDataLst>
          </p:nvPr>
        </p:nvSpPr>
        <p:spPr bwMode="auto">
          <a:xfrm>
            <a:off x="4514239" y="5530464"/>
            <a:ext cx="846386" cy="337471"/>
          </a:xfrm>
          <a:prstGeom prst="rect">
            <a:avLst/>
          </a:prstGeom>
          <a:noFill/>
          <a:ln>
            <a:noFill/>
          </a:ln>
        </p:spPr>
        <p:txBody>
          <a:bodyPr wrap="none" lIns="0" tIns="0" rIns="0" bIns="0" anchor="ctr">
            <a:sp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研讨解决方案</a:t>
            </a:r>
            <a:endParaRPr lang="en-US" altLang="zh-CN" sz="1100" kern="0" dirty="0">
              <a:latin typeface="微软雅黑" panose="020B0503020204020204" pitchFamily="34" charset="-122"/>
              <a:ea typeface="微软雅黑" panose="020B0503020204020204" pitchFamily="34" charset="-122"/>
              <a:cs typeface="黑体" panose="02010609060101010101" pitchFamily="49" charset="-122"/>
            </a:endParaRPr>
          </a:p>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指定行动计划</a:t>
            </a:r>
          </a:p>
        </p:txBody>
      </p:sp>
      <p:sp>
        <p:nvSpPr>
          <p:cNvPr id="120" name="Rectangle 5"/>
          <p:cNvSpPr>
            <a:spLocks noChangeArrowheads="1"/>
          </p:cNvSpPr>
          <p:nvPr>
            <p:custDataLst>
              <p:tags r:id="rId25"/>
            </p:custDataLst>
          </p:nvPr>
        </p:nvSpPr>
        <p:spPr bwMode="auto">
          <a:xfrm>
            <a:off x="6997538" y="5529922"/>
            <a:ext cx="564257" cy="338554"/>
          </a:xfrm>
          <a:prstGeom prst="rect">
            <a:avLst/>
          </a:prstGeom>
          <a:noFill/>
          <a:ln>
            <a:noFill/>
          </a:ln>
        </p:spPr>
        <p:txBody>
          <a:bodyPr wrap="none" lIns="0" tIns="0" rIns="0" bIns="0" anchor="ctr">
            <a:spAutoFit/>
          </a:bodyPr>
          <a:lstStyle/>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评估效果</a:t>
            </a:r>
            <a:endParaRPr lang="en-US" altLang="zh-CN" sz="1100" kern="0" dirty="0">
              <a:latin typeface="微软雅黑" panose="020B0503020204020204" pitchFamily="34" charset="-122"/>
              <a:ea typeface="微软雅黑" panose="020B0503020204020204" pitchFamily="34" charset="-122"/>
              <a:cs typeface="黑体" panose="02010609060101010101" pitchFamily="49" charset="-122"/>
            </a:endParaRPr>
          </a:p>
          <a:p>
            <a:pPr algn="ctr">
              <a:defRPr/>
            </a:pPr>
            <a:r>
              <a:rPr lang="zh-CN" altLang="en-US" sz="1100" kern="0" dirty="0">
                <a:latin typeface="微软雅黑" panose="020B0503020204020204" pitchFamily="34" charset="-122"/>
                <a:ea typeface="微软雅黑" panose="020B0503020204020204" pitchFamily="34" charset="-122"/>
                <a:cs typeface="黑体" panose="02010609060101010101" pitchFamily="49" charset="-122"/>
              </a:rPr>
              <a:t>总结经验</a:t>
            </a:r>
            <a:endParaRPr lang="en-US" altLang="zh-CN" sz="1100" kern="0" dirty="0">
              <a:latin typeface="微软雅黑" panose="020B0503020204020204" pitchFamily="34" charset="-122"/>
              <a:ea typeface="微软雅黑" panose="020B0503020204020204" pitchFamily="34" charset="-122"/>
              <a:cs typeface="黑体" panose="02010609060101010101" pitchFamily="49" charset="-122"/>
            </a:endParaRPr>
          </a:p>
        </p:txBody>
      </p:sp>
      <p:sp>
        <p:nvSpPr>
          <p:cNvPr id="123" name="Rectangle 58"/>
          <p:cNvSpPr>
            <a:spLocks noChangeArrowheads="1"/>
          </p:cNvSpPr>
          <p:nvPr/>
        </p:nvSpPr>
        <p:spPr bwMode="auto">
          <a:xfrm>
            <a:off x="2049925" y="5024674"/>
            <a:ext cx="5796000" cy="360000"/>
          </a:xfrm>
          <a:prstGeom prst="rect">
            <a:avLst/>
          </a:prstGeom>
          <a:solidFill>
            <a:schemeClr val="accent1">
              <a:lumMod val="75000"/>
              <a:alpha val="87842"/>
            </a:schemeClr>
          </a:solidFill>
          <a:ln w="9525">
            <a:noFill/>
            <a:miter lim="800000"/>
          </a:ln>
        </p:spPr>
        <p:txBody>
          <a:bodyPr wrap="none" lIns="0" tIns="0" rIns="0" bIns="0" anchor="ctr"/>
          <a:lstStyle/>
          <a:p>
            <a:pPr algn="ctr"/>
            <a:r>
              <a:rPr kumimoji="1" lang="zh-CN" altLang="en-US" sz="1200" dirty="0">
                <a:ea typeface="微软雅黑" panose="020B0503020204020204" pitchFamily="34" charset="-122"/>
              </a:rPr>
              <a:t>完成面授课程中安排的在岗实践任务（含在岗辅导内容，匹配相应工具表格）</a:t>
            </a:r>
          </a:p>
        </p:txBody>
      </p:sp>
      <p:grpSp>
        <p:nvGrpSpPr>
          <p:cNvPr id="41" name="组合 40"/>
          <p:cNvGrpSpPr/>
          <p:nvPr>
            <p:custDataLst>
              <p:tags r:id="rId26"/>
            </p:custDataLst>
          </p:nvPr>
        </p:nvGrpSpPr>
        <p:grpSpPr>
          <a:xfrm>
            <a:off x="691357" y="1372725"/>
            <a:ext cx="1214437" cy="4165940"/>
            <a:chOff x="691357" y="1847594"/>
            <a:chExt cx="1214437" cy="4165940"/>
          </a:xfrm>
        </p:grpSpPr>
        <p:grpSp>
          <p:nvGrpSpPr>
            <p:cNvPr id="59" name="组合 1"/>
            <p:cNvGrpSpPr/>
            <p:nvPr>
              <p:custDataLst>
                <p:tags r:id="rId57"/>
              </p:custDataLst>
            </p:nvPr>
          </p:nvGrpSpPr>
          <p:grpSpPr bwMode="auto">
            <a:xfrm>
              <a:off x="691357" y="1847594"/>
              <a:ext cx="1214437" cy="792000"/>
              <a:chOff x="-1480519" y="1985527"/>
              <a:chExt cx="1215681" cy="803508"/>
            </a:xfrm>
          </p:grpSpPr>
          <p:sp>
            <p:nvSpPr>
              <p:cNvPr id="60"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61"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管理者访谈</a:t>
                </a:r>
              </a:p>
            </p:txBody>
          </p:sp>
          <p:sp>
            <p:nvSpPr>
              <p:cNvPr id="62"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学员调研</a:t>
                </a:r>
              </a:p>
            </p:txBody>
          </p:sp>
          <p:sp>
            <p:nvSpPr>
              <p:cNvPr id="63"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项目调研</a:t>
                </a:r>
              </a:p>
            </p:txBody>
          </p:sp>
        </p:grpSp>
        <p:grpSp>
          <p:nvGrpSpPr>
            <p:cNvPr id="64" name="组合 113"/>
            <p:cNvGrpSpPr/>
            <p:nvPr>
              <p:custDataLst>
                <p:tags r:id="rId58"/>
              </p:custDataLst>
            </p:nvPr>
          </p:nvGrpSpPr>
          <p:grpSpPr bwMode="auto">
            <a:xfrm>
              <a:off x="691357" y="2763641"/>
              <a:ext cx="1214437" cy="1104900"/>
              <a:chOff x="-1663032" y="3047203"/>
              <a:chExt cx="1215681" cy="1120955"/>
            </a:xfrm>
          </p:grpSpPr>
          <p:sp>
            <p:nvSpPr>
              <p:cNvPr id="65" name="AutoShape 52"/>
              <p:cNvSpPr>
                <a:spLocks noChangeArrowheads="1"/>
              </p:cNvSpPr>
              <p:nvPr/>
            </p:nvSpPr>
            <p:spPr bwMode="auto">
              <a:xfrm>
                <a:off x="-1663032" y="3047203"/>
                <a:ext cx="1215681" cy="1120955"/>
              </a:xfrm>
              <a:prstGeom prst="roundRect">
                <a:avLst>
                  <a:gd name="adj" fmla="val 8067"/>
                </a:avLst>
              </a:prstGeom>
              <a:solidFill>
                <a:srgbClr val="FFCC00"/>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66" name="TextBox 52"/>
              <p:cNvSpPr txBox="1">
                <a:spLocks noChangeArrowheads="1"/>
              </p:cNvSpPr>
              <p:nvPr/>
            </p:nvSpPr>
            <p:spPr bwMode="auto">
              <a:xfrm>
                <a:off x="-1632839" y="3223378"/>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资源建设</a:t>
                </a:r>
              </a:p>
            </p:txBody>
          </p:sp>
          <p:grpSp>
            <p:nvGrpSpPr>
              <p:cNvPr id="67" name="组合 112"/>
              <p:cNvGrpSpPr/>
              <p:nvPr/>
            </p:nvGrpSpPr>
            <p:grpSpPr bwMode="auto">
              <a:xfrm>
                <a:off x="-1367454" y="3126120"/>
                <a:ext cx="848593" cy="963120"/>
                <a:chOff x="-1367454" y="3137903"/>
                <a:chExt cx="848593" cy="963120"/>
              </a:xfrm>
            </p:grpSpPr>
            <p:sp>
              <p:nvSpPr>
                <p:cNvPr id="68" name="AutoShape 64"/>
                <p:cNvSpPr>
                  <a:spLocks noChangeArrowheads="1"/>
                </p:cNvSpPr>
                <p:nvPr/>
              </p:nvSpPr>
              <p:spPr bwMode="auto">
                <a:xfrm>
                  <a:off x="-1367454" y="3137903"/>
                  <a:ext cx="848593" cy="26896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课程开发</a:t>
                  </a:r>
                </a:p>
              </p:txBody>
            </p:sp>
            <p:sp>
              <p:nvSpPr>
                <p:cNvPr id="69" name="AutoShape 98"/>
                <p:cNvSpPr>
                  <a:spLocks noChangeArrowheads="1"/>
                </p:cNvSpPr>
                <p:nvPr/>
              </p:nvSpPr>
              <p:spPr bwMode="auto">
                <a:xfrm>
                  <a:off x="-1367454" y="3482565"/>
                  <a:ext cx="848593" cy="272186"/>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讲师培养</a:t>
                  </a:r>
                </a:p>
              </p:txBody>
            </p:sp>
            <p:sp>
              <p:nvSpPr>
                <p:cNvPr id="70" name="AutoShape 98"/>
                <p:cNvSpPr>
                  <a:spLocks noChangeArrowheads="1"/>
                </p:cNvSpPr>
                <p:nvPr/>
              </p:nvSpPr>
              <p:spPr bwMode="auto">
                <a:xfrm>
                  <a:off x="-1367454" y="3830448"/>
                  <a:ext cx="848593" cy="27057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讲师认证</a:t>
                  </a:r>
                </a:p>
              </p:txBody>
            </p:sp>
          </p:grpSp>
        </p:grpSp>
        <p:grpSp>
          <p:nvGrpSpPr>
            <p:cNvPr id="76" name="组合 119"/>
            <p:cNvGrpSpPr/>
            <p:nvPr>
              <p:custDataLst>
                <p:tags r:id="rId59"/>
              </p:custDataLst>
            </p:nvPr>
          </p:nvGrpSpPr>
          <p:grpSpPr bwMode="auto">
            <a:xfrm>
              <a:off x="691357" y="4908634"/>
              <a:ext cx="1214437" cy="1104900"/>
              <a:chOff x="-1663032" y="3047876"/>
              <a:chExt cx="1215681" cy="1120955"/>
            </a:xfrm>
          </p:grpSpPr>
          <p:sp>
            <p:nvSpPr>
              <p:cNvPr id="77" name="AutoShape 52"/>
              <p:cNvSpPr>
                <a:spLocks noChangeArrowheads="1"/>
              </p:cNvSpPr>
              <p:nvPr/>
            </p:nvSpPr>
            <p:spPr bwMode="auto">
              <a:xfrm>
                <a:off x="-1663032" y="3047876"/>
                <a:ext cx="1215681" cy="1120955"/>
              </a:xfrm>
              <a:prstGeom prst="roundRect">
                <a:avLst>
                  <a:gd name="adj" fmla="val 8067"/>
                </a:avLst>
              </a:prstGeom>
              <a:solidFill>
                <a:srgbClr val="FFFFFF"/>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78" name="TextBox 52"/>
              <p:cNvSpPr txBox="1">
                <a:spLocks noChangeArrowheads="1"/>
              </p:cNvSpPr>
              <p:nvPr/>
            </p:nvSpPr>
            <p:spPr bwMode="auto">
              <a:xfrm>
                <a:off x="-1632839" y="3140228"/>
                <a:ext cx="247904" cy="952359"/>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项目启动会</a:t>
                </a:r>
              </a:p>
            </p:txBody>
          </p:sp>
          <p:grpSp>
            <p:nvGrpSpPr>
              <p:cNvPr id="79" name="组合 122"/>
              <p:cNvGrpSpPr/>
              <p:nvPr/>
            </p:nvGrpSpPr>
            <p:grpSpPr bwMode="auto">
              <a:xfrm>
                <a:off x="-1367454" y="3146121"/>
                <a:ext cx="848593" cy="943792"/>
                <a:chOff x="-1367454" y="3157904"/>
                <a:chExt cx="848593" cy="943792"/>
              </a:xfrm>
            </p:grpSpPr>
            <p:sp>
              <p:nvSpPr>
                <p:cNvPr id="80" name="AutoShape 64"/>
                <p:cNvSpPr>
                  <a:spLocks noChangeArrowheads="1"/>
                </p:cNvSpPr>
                <p:nvPr/>
              </p:nvSpPr>
              <p:spPr bwMode="auto">
                <a:xfrm>
                  <a:off x="-1367454" y="3157904"/>
                  <a:ext cx="848593" cy="27379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启动仪式</a:t>
                  </a:r>
                </a:p>
              </p:txBody>
            </p:sp>
            <p:sp>
              <p:nvSpPr>
                <p:cNvPr id="81" name="AutoShape 98"/>
                <p:cNvSpPr>
                  <a:spLocks noChangeArrowheads="1"/>
                </p:cNvSpPr>
                <p:nvPr/>
              </p:nvSpPr>
              <p:spPr bwMode="auto">
                <a:xfrm>
                  <a:off x="-1367454" y="3507397"/>
                  <a:ext cx="848593" cy="24802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在线学习要求</a:t>
                  </a:r>
                </a:p>
              </p:txBody>
            </p:sp>
            <p:sp>
              <p:nvSpPr>
                <p:cNvPr id="82" name="AutoShape 98"/>
                <p:cNvSpPr>
                  <a:spLocks noChangeArrowheads="1"/>
                </p:cNvSpPr>
                <p:nvPr/>
              </p:nvSpPr>
              <p:spPr bwMode="auto">
                <a:xfrm>
                  <a:off x="-1367454" y="3831121"/>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项目介绍</a:t>
                  </a:r>
                </a:p>
              </p:txBody>
            </p:sp>
          </p:grpSp>
        </p:grpSp>
        <p:grpSp>
          <p:nvGrpSpPr>
            <p:cNvPr id="141" name="组合 1"/>
            <p:cNvGrpSpPr/>
            <p:nvPr>
              <p:custDataLst>
                <p:tags r:id="rId60"/>
              </p:custDataLst>
            </p:nvPr>
          </p:nvGrpSpPr>
          <p:grpSpPr bwMode="auto">
            <a:xfrm>
              <a:off x="691357" y="3992588"/>
              <a:ext cx="1214437" cy="792000"/>
              <a:chOff x="-1480519" y="1985527"/>
              <a:chExt cx="1215681" cy="803508"/>
            </a:xfrm>
          </p:grpSpPr>
          <p:sp>
            <p:nvSpPr>
              <p:cNvPr id="142"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43"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能力评估</a:t>
                </a:r>
              </a:p>
            </p:txBody>
          </p:sp>
          <p:sp>
            <p:nvSpPr>
              <p:cNvPr id="144"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需求分析</a:t>
                </a:r>
              </a:p>
            </p:txBody>
          </p:sp>
          <p:sp>
            <p:nvSpPr>
              <p:cNvPr id="145"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前期测评</a:t>
                </a:r>
              </a:p>
            </p:txBody>
          </p:sp>
        </p:grpSp>
      </p:grpSp>
      <p:grpSp>
        <p:nvGrpSpPr>
          <p:cNvPr id="146" name="组合 145"/>
          <p:cNvGrpSpPr/>
          <p:nvPr>
            <p:custDataLst>
              <p:tags r:id="rId27"/>
            </p:custDataLst>
          </p:nvPr>
        </p:nvGrpSpPr>
        <p:grpSpPr>
          <a:xfrm>
            <a:off x="8026503" y="1372725"/>
            <a:ext cx="1214437" cy="4165940"/>
            <a:chOff x="691357" y="1847594"/>
            <a:chExt cx="1214437" cy="4165940"/>
          </a:xfrm>
        </p:grpSpPr>
        <p:grpSp>
          <p:nvGrpSpPr>
            <p:cNvPr id="147" name="组合 1"/>
            <p:cNvGrpSpPr/>
            <p:nvPr>
              <p:custDataLst>
                <p:tags r:id="rId53"/>
              </p:custDataLst>
            </p:nvPr>
          </p:nvGrpSpPr>
          <p:grpSpPr bwMode="auto">
            <a:xfrm>
              <a:off x="691357" y="1847594"/>
              <a:ext cx="1214437" cy="792000"/>
              <a:chOff x="-1480519" y="1985527"/>
              <a:chExt cx="1215681" cy="803508"/>
            </a:xfrm>
          </p:grpSpPr>
          <p:sp>
            <p:nvSpPr>
              <p:cNvPr id="167"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68"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项目总结</a:t>
                </a:r>
              </a:p>
            </p:txBody>
          </p:sp>
          <p:sp>
            <p:nvSpPr>
              <p:cNvPr id="169"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tIns="0" bIns="0"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行动学习</a:t>
                </a:r>
                <a:endParaRPr lang="en-US" altLang="zh-CN" sz="1000" kern="0" dirty="0">
                  <a:solidFill>
                    <a:sysClr val="windowText" lastClr="000000"/>
                  </a:solidFill>
                  <a:latin typeface="微软雅黑" panose="020B0503020204020204" pitchFamily="34" charset="-122"/>
                  <a:ea typeface="微软雅黑" panose="020B0503020204020204" pitchFamily="34" charset="-122"/>
                </a:endParaRPr>
              </a:p>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成果汇报</a:t>
                </a:r>
              </a:p>
            </p:txBody>
          </p:sp>
          <p:sp>
            <p:nvSpPr>
              <p:cNvPr id="170" name="TextBox 52"/>
              <p:cNvSpPr txBox="1">
                <a:spLocks noChangeArrowheads="1"/>
              </p:cNvSpPr>
              <p:nvPr/>
            </p:nvSpPr>
            <p:spPr bwMode="auto">
              <a:xfrm>
                <a:off x="-1463402" y="1987873"/>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项目汇报</a:t>
                </a:r>
              </a:p>
            </p:txBody>
          </p:sp>
        </p:grpSp>
        <p:grpSp>
          <p:nvGrpSpPr>
            <p:cNvPr id="148" name="组合 113"/>
            <p:cNvGrpSpPr/>
            <p:nvPr>
              <p:custDataLst>
                <p:tags r:id="rId54"/>
              </p:custDataLst>
            </p:nvPr>
          </p:nvGrpSpPr>
          <p:grpSpPr bwMode="auto">
            <a:xfrm>
              <a:off x="691357" y="2763641"/>
              <a:ext cx="1214437" cy="1104900"/>
              <a:chOff x="-1663032" y="3047203"/>
              <a:chExt cx="1215681" cy="1120955"/>
            </a:xfrm>
          </p:grpSpPr>
          <p:sp>
            <p:nvSpPr>
              <p:cNvPr id="161" name="AutoShape 52"/>
              <p:cNvSpPr>
                <a:spLocks noChangeArrowheads="1"/>
              </p:cNvSpPr>
              <p:nvPr/>
            </p:nvSpPr>
            <p:spPr bwMode="auto">
              <a:xfrm>
                <a:off x="-1663032" y="3047203"/>
                <a:ext cx="1215681" cy="1120955"/>
              </a:xfrm>
              <a:prstGeom prst="roundRect">
                <a:avLst>
                  <a:gd name="adj" fmla="val 8067"/>
                </a:avLst>
              </a:prstGeom>
              <a:solidFill>
                <a:srgbClr val="FFCC00"/>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162" name="TextBox 52"/>
              <p:cNvSpPr txBox="1">
                <a:spLocks noChangeArrowheads="1"/>
              </p:cNvSpPr>
              <p:nvPr/>
            </p:nvSpPr>
            <p:spPr bwMode="auto">
              <a:xfrm>
                <a:off x="-1632839" y="3223378"/>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资源完善</a:t>
                </a:r>
              </a:p>
            </p:txBody>
          </p:sp>
          <p:grpSp>
            <p:nvGrpSpPr>
              <p:cNvPr id="163" name="组合 112"/>
              <p:cNvGrpSpPr/>
              <p:nvPr/>
            </p:nvGrpSpPr>
            <p:grpSpPr bwMode="auto">
              <a:xfrm>
                <a:off x="-1367454" y="3126120"/>
                <a:ext cx="848593" cy="963120"/>
                <a:chOff x="-1367454" y="3137903"/>
                <a:chExt cx="848593" cy="963120"/>
              </a:xfrm>
            </p:grpSpPr>
            <p:sp>
              <p:nvSpPr>
                <p:cNvPr id="164" name="AutoShape 64"/>
                <p:cNvSpPr>
                  <a:spLocks noChangeArrowheads="1"/>
                </p:cNvSpPr>
                <p:nvPr/>
              </p:nvSpPr>
              <p:spPr bwMode="auto">
                <a:xfrm>
                  <a:off x="-1367454" y="3137903"/>
                  <a:ext cx="848593" cy="26896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内容优化</a:t>
                  </a:r>
                </a:p>
              </p:txBody>
            </p:sp>
            <p:sp>
              <p:nvSpPr>
                <p:cNvPr id="165" name="AutoShape 98"/>
                <p:cNvSpPr>
                  <a:spLocks noChangeArrowheads="1"/>
                </p:cNvSpPr>
                <p:nvPr/>
              </p:nvSpPr>
              <p:spPr bwMode="auto">
                <a:xfrm>
                  <a:off x="-1367454" y="3482565"/>
                  <a:ext cx="848593" cy="272186"/>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讲师答疑</a:t>
                  </a:r>
                </a:p>
              </p:txBody>
            </p:sp>
            <p:sp>
              <p:nvSpPr>
                <p:cNvPr id="166" name="AutoShape 98"/>
                <p:cNvSpPr>
                  <a:spLocks noChangeArrowheads="1"/>
                </p:cNvSpPr>
                <p:nvPr/>
              </p:nvSpPr>
              <p:spPr bwMode="auto">
                <a:xfrm>
                  <a:off x="-1367454" y="3830448"/>
                  <a:ext cx="848593" cy="270575"/>
                </a:xfrm>
                <a:prstGeom prst="roundRect">
                  <a:avLst>
                    <a:gd name="adj" fmla="val 16667"/>
                  </a:avLst>
                </a:prstGeom>
                <a:solidFill>
                  <a:srgbClr val="FFFFFF"/>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教辅优化</a:t>
                  </a:r>
                </a:p>
              </p:txBody>
            </p:sp>
          </p:grpSp>
        </p:grpSp>
        <p:grpSp>
          <p:nvGrpSpPr>
            <p:cNvPr id="149" name="组合 119"/>
            <p:cNvGrpSpPr/>
            <p:nvPr>
              <p:custDataLst>
                <p:tags r:id="rId55"/>
              </p:custDataLst>
            </p:nvPr>
          </p:nvGrpSpPr>
          <p:grpSpPr bwMode="auto">
            <a:xfrm>
              <a:off x="691357" y="4908634"/>
              <a:ext cx="1214437" cy="1104900"/>
              <a:chOff x="-1663032" y="3047876"/>
              <a:chExt cx="1215681" cy="1120955"/>
            </a:xfrm>
          </p:grpSpPr>
          <p:sp>
            <p:nvSpPr>
              <p:cNvPr id="155" name="AutoShape 52"/>
              <p:cNvSpPr>
                <a:spLocks noChangeArrowheads="1"/>
              </p:cNvSpPr>
              <p:nvPr/>
            </p:nvSpPr>
            <p:spPr bwMode="auto">
              <a:xfrm>
                <a:off x="-1663032" y="3047876"/>
                <a:ext cx="1215681" cy="1120955"/>
              </a:xfrm>
              <a:prstGeom prst="roundRect">
                <a:avLst>
                  <a:gd name="adj" fmla="val 8067"/>
                </a:avLst>
              </a:prstGeom>
              <a:solidFill>
                <a:srgbClr val="FFFFFF"/>
              </a:solidFill>
              <a:ln w="9525">
                <a:noFill/>
                <a:round/>
              </a:ln>
            </p:spPr>
            <p:txBody>
              <a:bodyPr wrap="none" anchor="ctr"/>
              <a:lstStyle/>
              <a:p>
                <a:pPr algn="ctr">
                  <a:defRPr/>
                </a:pPr>
                <a:endParaRPr lang="zh-CN" altLang="zh-CN" kern="0">
                  <a:solidFill>
                    <a:sysClr val="windowText" lastClr="000000"/>
                  </a:solidFill>
                  <a:latin typeface="微软雅黑" panose="020B0503020204020204" pitchFamily="34" charset="-122"/>
                  <a:ea typeface="微软雅黑" panose="020B0503020204020204" pitchFamily="34" charset="-122"/>
                </a:endParaRPr>
              </a:p>
            </p:txBody>
          </p:sp>
          <p:sp>
            <p:nvSpPr>
              <p:cNvPr id="156" name="TextBox 52"/>
              <p:cNvSpPr txBox="1">
                <a:spLocks noChangeArrowheads="1"/>
              </p:cNvSpPr>
              <p:nvPr/>
            </p:nvSpPr>
            <p:spPr bwMode="auto">
              <a:xfrm>
                <a:off x="-1632839" y="3226096"/>
                <a:ext cx="247904" cy="780622"/>
              </a:xfrm>
              <a:prstGeom prst="rect">
                <a:avLst/>
              </a:prstGeom>
              <a:noFill/>
              <a:ln w="9525">
                <a:noFill/>
                <a:miter lim="800000"/>
              </a:ln>
            </p:spPr>
            <p:txBody>
              <a:bodyPr anchor="ctr">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学员评奖</a:t>
                </a:r>
              </a:p>
            </p:txBody>
          </p:sp>
          <p:grpSp>
            <p:nvGrpSpPr>
              <p:cNvPr id="157" name="组合 122"/>
              <p:cNvGrpSpPr/>
              <p:nvPr/>
            </p:nvGrpSpPr>
            <p:grpSpPr bwMode="auto">
              <a:xfrm>
                <a:off x="-1367454" y="3146121"/>
                <a:ext cx="848593" cy="943792"/>
                <a:chOff x="-1367454" y="3157904"/>
                <a:chExt cx="848593" cy="943792"/>
              </a:xfrm>
            </p:grpSpPr>
            <p:sp>
              <p:nvSpPr>
                <p:cNvPr id="158" name="AutoShape 64"/>
                <p:cNvSpPr>
                  <a:spLocks noChangeArrowheads="1"/>
                </p:cNvSpPr>
                <p:nvPr/>
              </p:nvSpPr>
              <p:spPr bwMode="auto">
                <a:xfrm>
                  <a:off x="-1367454" y="3157904"/>
                  <a:ext cx="848593" cy="27379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在线成绩</a:t>
                  </a:r>
                </a:p>
              </p:txBody>
            </p:sp>
            <p:sp>
              <p:nvSpPr>
                <p:cNvPr id="159" name="AutoShape 98"/>
                <p:cNvSpPr>
                  <a:spLocks noChangeArrowheads="1"/>
                </p:cNvSpPr>
                <p:nvPr/>
              </p:nvSpPr>
              <p:spPr bwMode="auto">
                <a:xfrm>
                  <a:off x="-1367454" y="3507397"/>
                  <a:ext cx="848593" cy="248027"/>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个人课后任务</a:t>
                  </a:r>
                </a:p>
              </p:txBody>
            </p:sp>
            <p:sp>
              <p:nvSpPr>
                <p:cNvPr id="160" name="AutoShape 98"/>
                <p:cNvSpPr>
                  <a:spLocks noChangeArrowheads="1"/>
                </p:cNvSpPr>
                <p:nvPr/>
              </p:nvSpPr>
              <p:spPr bwMode="auto">
                <a:xfrm>
                  <a:off x="-1367454" y="3831121"/>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优秀学员</a:t>
                  </a:r>
                </a:p>
              </p:txBody>
            </p:sp>
          </p:grpSp>
        </p:grpSp>
        <p:grpSp>
          <p:nvGrpSpPr>
            <p:cNvPr id="150" name="组合 1"/>
            <p:cNvGrpSpPr/>
            <p:nvPr>
              <p:custDataLst>
                <p:tags r:id="rId56"/>
              </p:custDataLst>
            </p:nvPr>
          </p:nvGrpSpPr>
          <p:grpSpPr bwMode="auto">
            <a:xfrm>
              <a:off x="691357" y="3992588"/>
              <a:ext cx="1214437" cy="792000"/>
              <a:chOff x="-1480519" y="1985527"/>
              <a:chExt cx="1215681" cy="803508"/>
            </a:xfrm>
          </p:grpSpPr>
          <p:sp>
            <p:nvSpPr>
              <p:cNvPr id="151" name="AutoShape 52"/>
              <p:cNvSpPr>
                <a:spLocks noChangeArrowheads="1"/>
              </p:cNvSpPr>
              <p:nvPr/>
            </p:nvSpPr>
            <p:spPr bwMode="auto">
              <a:xfrm>
                <a:off x="-1480519" y="1985527"/>
                <a:ext cx="1215681" cy="803508"/>
              </a:xfrm>
              <a:prstGeom prst="roundRect">
                <a:avLst>
                  <a:gd name="adj" fmla="val 11174"/>
                </a:avLst>
              </a:prstGeom>
              <a:solidFill>
                <a:srgbClr val="FFFFFF"/>
              </a:solidFill>
              <a:ln w="9525">
                <a:noFill/>
                <a:round/>
              </a:ln>
            </p:spPr>
            <p:txBody>
              <a:bodyPr wrap="none"/>
              <a:lstStyle/>
              <a:p>
                <a:pPr algn="ctr">
                  <a:defRPr/>
                </a:pPr>
                <a:endParaRPr lang="zh-CN" altLang="zh-CN" sz="1000" kern="0">
                  <a:solidFill>
                    <a:sysClr val="windowText" lastClr="000000"/>
                  </a:solidFill>
                  <a:latin typeface="微软雅黑" panose="020B0503020204020204" pitchFamily="34" charset="-122"/>
                  <a:ea typeface="微软雅黑" panose="020B0503020204020204" pitchFamily="34" charset="-122"/>
                </a:endParaRPr>
              </a:p>
            </p:txBody>
          </p:sp>
          <p:sp>
            <p:nvSpPr>
              <p:cNvPr id="152" name="AutoShape 64"/>
              <p:cNvSpPr>
                <a:spLocks noChangeArrowheads="1"/>
              </p:cNvSpPr>
              <p:nvPr/>
            </p:nvSpPr>
            <p:spPr bwMode="auto">
              <a:xfrm>
                <a:off x="-1184942" y="2059613"/>
                <a:ext cx="848593" cy="270575"/>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报告解读</a:t>
                </a:r>
              </a:p>
            </p:txBody>
          </p:sp>
          <p:sp>
            <p:nvSpPr>
              <p:cNvPr id="153" name="AutoShape 98"/>
              <p:cNvSpPr>
                <a:spLocks noChangeArrowheads="1"/>
              </p:cNvSpPr>
              <p:nvPr/>
            </p:nvSpPr>
            <p:spPr bwMode="auto">
              <a:xfrm>
                <a:off x="-1184942" y="2432391"/>
                <a:ext cx="848593" cy="272186"/>
              </a:xfrm>
              <a:prstGeom prst="roundRect">
                <a:avLst>
                  <a:gd name="adj" fmla="val 16667"/>
                </a:avLst>
              </a:prstGeom>
              <a:solidFill>
                <a:srgbClr val="4BACC6">
                  <a:lumMod val="40000"/>
                  <a:lumOff val="60000"/>
                </a:srgbClr>
              </a:solidFill>
              <a:ln w="9525">
                <a:noFill/>
                <a:round/>
              </a:ln>
            </p:spPr>
            <p:txBody>
              <a:bodyPr wrap="none" anchor="ctr"/>
              <a:lstStyle/>
              <a:p>
                <a:pPr algn="ctr">
                  <a:defRPr/>
                </a:pPr>
                <a:r>
                  <a:rPr lang="zh-CN" altLang="en-US" sz="1000" kern="0" dirty="0">
                    <a:solidFill>
                      <a:sysClr val="windowText" lastClr="000000"/>
                    </a:solidFill>
                    <a:latin typeface="微软雅黑" panose="020B0503020204020204" pitchFamily="34" charset="-122"/>
                    <a:ea typeface="微软雅黑" panose="020B0503020204020204" pitchFamily="34" charset="-122"/>
                  </a:rPr>
                  <a:t>效果评估</a:t>
                </a:r>
              </a:p>
            </p:txBody>
          </p:sp>
          <p:sp>
            <p:nvSpPr>
              <p:cNvPr id="154" name="TextBox 52"/>
              <p:cNvSpPr txBox="1">
                <a:spLocks noChangeArrowheads="1"/>
              </p:cNvSpPr>
              <p:nvPr/>
            </p:nvSpPr>
            <p:spPr bwMode="auto">
              <a:xfrm>
                <a:off x="-1463402" y="1987874"/>
                <a:ext cx="247904" cy="780621"/>
              </a:xfrm>
              <a:prstGeom prst="rect">
                <a:avLst/>
              </a:prstGeom>
              <a:noFill/>
              <a:ln w="9525">
                <a:noFill/>
                <a:miter lim="800000"/>
              </a:ln>
            </p:spPr>
            <p:txBody>
              <a:bodyPr anchor="ctr" anchorCtr="1">
                <a:spAutoFit/>
              </a:bodyPr>
              <a:lstStyle/>
              <a:p>
                <a:pPr algn="ctr">
                  <a:defRPr/>
                </a:pPr>
                <a:r>
                  <a:rPr lang="zh-CN" altLang="en-US" sz="1100" kern="0" dirty="0">
                    <a:solidFill>
                      <a:sysClr val="windowText" lastClr="000000"/>
                    </a:solidFill>
                    <a:latin typeface="微软雅黑" panose="020B0503020204020204" pitchFamily="34" charset="-122"/>
                    <a:ea typeface="微软雅黑" panose="020B0503020204020204" pitchFamily="34" charset="-122"/>
                  </a:rPr>
                  <a:t>训后测评</a:t>
                </a:r>
              </a:p>
            </p:txBody>
          </p:sp>
        </p:grpSp>
      </p:grpSp>
      <p:sp>
        <p:nvSpPr>
          <p:cNvPr id="45" name="下箭头 44"/>
          <p:cNvSpPr/>
          <p:nvPr>
            <p:custDataLst>
              <p:tags r:id="rId28"/>
            </p:custDataLst>
          </p:nvPr>
        </p:nvSpPr>
        <p:spPr bwMode="auto">
          <a:xfrm>
            <a:off x="8637641" y="5093438"/>
            <a:ext cx="216000" cy="180000"/>
          </a:xfrm>
          <a:prstGeom prst="downArrow">
            <a:avLst/>
          </a:prstGeom>
          <a:solidFill>
            <a:srgbClr val="FFC000"/>
          </a:solidFill>
          <a:ln w="9525"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dirty="0"/>
          </a:p>
        </p:txBody>
      </p:sp>
      <p:grpSp>
        <p:nvGrpSpPr>
          <p:cNvPr id="22" name="组合 21"/>
          <p:cNvGrpSpPr/>
          <p:nvPr/>
        </p:nvGrpSpPr>
        <p:grpSpPr>
          <a:xfrm>
            <a:off x="550671" y="6528135"/>
            <a:ext cx="3052319" cy="216000"/>
            <a:chOff x="203175" y="312638"/>
            <a:chExt cx="3052319" cy="216000"/>
          </a:xfrm>
        </p:grpSpPr>
        <p:sp>
          <p:nvSpPr>
            <p:cNvPr id="173" name="AutoShape 64"/>
            <p:cNvSpPr>
              <a:spLocks noChangeArrowheads="1"/>
            </p:cNvSpPr>
            <p:nvPr>
              <p:custDataLst>
                <p:tags r:id="rId49"/>
              </p:custDataLst>
            </p:nvPr>
          </p:nvSpPr>
          <p:spPr bwMode="auto">
            <a:xfrm>
              <a:off x="203175" y="312638"/>
              <a:ext cx="720000" cy="216000"/>
            </a:xfrm>
            <a:prstGeom prst="roundRect">
              <a:avLst>
                <a:gd name="adj" fmla="val 16667"/>
              </a:avLst>
            </a:prstGeom>
            <a:solidFill>
              <a:srgbClr val="002060"/>
            </a:solidFill>
            <a:ln w="9525">
              <a:noFill/>
              <a:round/>
            </a:ln>
          </p:spPr>
          <p:txBody>
            <a:bodyPr wrap="none" anchor="ctr" anchorCtr="1"/>
            <a:lstStyle/>
            <a:p>
              <a:pPr algn="ctr"/>
              <a:r>
                <a:rPr kumimoji="1" lang="zh-CN" altLang="en-US" sz="1000">
                  <a:solidFill>
                    <a:srgbClr val="FFFFFF"/>
                  </a:solidFill>
                  <a:latin typeface="微软雅黑" panose="020B0503020204020204" pitchFamily="34" charset="-122"/>
                  <a:ea typeface="微软雅黑" panose="020B0503020204020204" pitchFamily="34" charset="-122"/>
                </a:rPr>
                <a:t>面授学习</a:t>
              </a:r>
            </a:p>
          </p:txBody>
        </p:sp>
        <p:sp>
          <p:nvSpPr>
            <p:cNvPr id="174" name="AutoShape 64"/>
            <p:cNvSpPr>
              <a:spLocks noChangeArrowheads="1"/>
            </p:cNvSpPr>
            <p:nvPr>
              <p:custDataLst>
                <p:tags r:id="rId50"/>
              </p:custDataLst>
            </p:nvPr>
          </p:nvSpPr>
          <p:spPr bwMode="auto">
            <a:xfrm>
              <a:off x="1741869" y="312638"/>
              <a:ext cx="720000" cy="216000"/>
            </a:xfrm>
            <a:prstGeom prst="roundRect">
              <a:avLst>
                <a:gd name="adj" fmla="val 16667"/>
              </a:avLst>
            </a:prstGeom>
            <a:solidFill>
              <a:srgbClr val="92D050"/>
            </a:solidFill>
            <a:ln w="9525">
              <a:noFill/>
              <a:round/>
            </a:ln>
          </p:spPr>
          <p:txBody>
            <a:bodyPr wrap="none" anchor="ctr" anchorCtr="1"/>
            <a:lstStyle/>
            <a:p>
              <a:pPr algn="ctr"/>
              <a:r>
                <a:rPr kumimoji="1" lang="zh-CN" altLang="en-US" sz="1000">
                  <a:solidFill>
                    <a:srgbClr val="FFFFFF"/>
                  </a:solidFill>
                  <a:latin typeface="微软雅黑" panose="020B0503020204020204" pitchFamily="34" charset="-122"/>
                  <a:ea typeface="微软雅黑" panose="020B0503020204020204" pitchFamily="34" charset="-122"/>
                </a:rPr>
                <a:t>行动学习</a:t>
              </a:r>
            </a:p>
          </p:txBody>
        </p:sp>
        <p:sp>
          <p:nvSpPr>
            <p:cNvPr id="175" name="AutoShape 64"/>
            <p:cNvSpPr>
              <a:spLocks noChangeArrowheads="1"/>
            </p:cNvSpPr>
            <p:nvPr>
              <p:custDataLst>
                <p:tags r:id="rId51"/>
              </p:custDataLst>
            </p:nvPr>
          </p:nvSpPr>
          <p:spPr bwMode="auto">
            <a:xfrm>
              <a:off x="972522" y="312638"/>
              <a:ext cx="720000" cy="216000"/>
            </a:xfrm>
            <a:prstGeom prst="roundRect">
              <a:avLst>
                <a:gd name="adj" fmla="val 16667"/>
              </a:avLst>
            </a:prstGeom>
            <a:solidFill>
              <a:schemeClr val="tx1">
                <a:lumMod val="50000"/>
                <a:lumOff val="50000"/>
              </a:schemeClr>
            </a:solidFill>
            <a:ln w="9525">
              <a:noFill/>
              <a:round/>
            </a:ln>
          </p:spPr>
          <p:txBody>
            <a:bodyPr wrap="none" anchor="ctr" anchorCtr="1"/>
            <a:lstStyle/>
            <a:p>
              <a:pPr algn="ctr"/>
              <a:r>
                <a:rPr kumimoji="1" lang="zh-CN" altLang="en-US" sz="1000" dirty="0">
                  <a:solidFill>
                    <a:srgbClr val="FFFFFF"/>
                  </a:solidFill>
                  <a:latin typeface="微软雅黑" panose="020B0503020204020204" pitchFamily="34" charset="-122"/>
                  <a:ea typeface="微软雅黑" panose="020B0503020204020204" pitchFamily="34" charset="-122"/>
                </a:rPr>
                <a:t>自主学习</a:t>
              </a:r>
            </a:p>
          </p:txBody>
        </p:sp>
        <p:sp>
          <p:nvSpPr>
            <p:cNvPr id="177" name="AutoShape 64"/>
            <p:cNvSpPr>
              <a:spLocks noChangeArrowheads="1"/>
            </p:cNvSpPr>
            <p:nvPr>
              <p:custDataLst>
                <p:tags r:id="rId52"/>
              </p:custDataLst>
            </p:nvPr>
          </p:nvSpPr>
          <p:spPr bwMode="auto">
            <a:xfrm>
              <a:off x="2535494" y="312638"/>
              <a:ext cx="720000" cy="216000"/>
            </a:xfrm>
            <a:prstGeom prst="roundRect">
              <a:avLst>
                <a:gd name="adj" fmla="val 16667"/>
              </a:avLst>
            </a:prstGeom>
            <a:solidFill>
              <a:schemeClr val="bg1">
                <a:lumMod val="75000"/>
              </a:schemeClr>
            </a:solidFill>
            <a:ln w="9525">
              <a:noFill/>
              <a:round/>
            </a:ln>
          </p:spPr>
          <p:txBody>
            <a:bodyPr wrap="none" anchor="ctr" anchorCtr="1"/>
            <a:lstStyle/>
            <a:p>
              <a:pPr algn="ctr"/>
              <a:r>
                <a:rPr kumimoji="1" lang="zh-CN" altLang="en-US" sz="1000" dirty="0">
                  <a:solidFill>
                    <a:srgbClr val="FFFFFF"/>
                  </a:solidFill>
                  <a:latin typeface="微软雅黑" panose="020B0503020204020204" pitchFamily="34" charset="-122"/>
                  <a:ea typeface="微软雅黑" panose="020B0503020204020204" pitchFamily="34" charset="-122"/>
                </a:rPr>
                <a:t>在岗任务</a:t>
              </a:r>
            </a:p>
          </p:txBody>
        </p:sp>
      </p:grpSp>
      <p:graphicFrame>
        <p:nvGraphicFramePr>
          <p:cNvPr id="21" name="表格 20"/>
          <p:cNvGraphicFramePr>
            <a:graphicFrameLocks noGrp="1"/>
          </p:cNvGraphicFramePr>
          <p:nvPr>
            <p:custDataLst>
              <p:tags r:id="rId29"/>
            </p:custDataLst>
          </p:nvPr>
        </p:nvGraphicFramePr>
        <p:xfrm>
          <a:off x="2078904" y="3484390"/>
          <a:ext cx="5745246" cy="1484252"/>
        </p:xfrm>
        <a:graphic>
          <a:graphicData uri="http://schemas.openxmlformats.org/drawingml/2006/table">
            <a:tbl>
              <a:tblPr firstRow="1" bandRow="1">
                <a:tableStyleId>{5C22544A-7EE6-4342-B048-85BDC9FD1C3A}</a:tableStyleId>
              </a:tblPr>
              <a:tblGrid>
                <a:gridCol w="957541">
                  <a:extLst>
                    <a:ext uri="{9D8B030D-6E8A-4147-A177-3AD203B41FA5}">
                      <a16:colId xmlns:a16="http://schemas.microsoft.com/office/drawing/2014/main" val="20000"/>
                    </a:ext>
                  </a:extLst>
                </a:gridCol>
                <a:gridCol w="957541">
                  <a:extLst>
                    <a:ext uri="{9D8B030D-6E8A-4147-A177-3AD203B41FA5}">
                      <a16:colId xmlns:a16="http://schemas.microsoft.com/office/drawing/2014/main" val="20001"/>
                    </a:ext>
                  </a:extLst>
                </a:gridCol>
                <a:gridCol w="957541">
                  <a:extLst>
                    <a:ext uri="{9D8B030D-6E8A-4147-A177-3AD203B41FA5}">
                      <a16:colId xmlns:a16="http://schemas.microsoft.com/office/drawing/2014/main" val="20002"/>
                    </a:ext>
                  </a:extLst>
                </a:gridCol>
                <a:gridCol w="957541">
                  <a:extLst>
                    <a:ext uri="{9D8B030D-6E8A-4147-A177-3AD203B41FA5}">
                      <a16:colId xmlns:a16="http://schemas.microsoft.com/office/drawing/2014/main" val="20003"/>
                    </a:ext>
                  </a:extLst>
                </a:gridCol>
                <a:gridCol w="957541">
                  <a:extLst>
                    <a:ext uri="{9D8B030D-6E8A-4147-A177-3AD203B41FA5}">
                      <a16:colId xmlns:a16="http://schemas.microsoft.com/office/drawing/2014/main" val="20004"/>
                    </a:ext>
                  </a:extLst>
                </a:gridCol>
                <a:gridCol w="957541">
                  <a:extLst>
                    <a:ext uri="{9D8B030D-6E8A-4147-A177-3AD203B41FA5}">
                      <a16:colId xmlns:a16="http://schemas.microsoft.com/office/drawing/2014/main" val="20005"/>
                    </a:ext>
                  </a:extLst>
                </a:gridCol>
              </a:tblGrid>
              <a:tr h="74212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高端客户服务体系与品质服务</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双赢谈判</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高净值客户心理分析与期望管理</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高端客户资产分析与配置</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教练式辅导技术</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团队管理基础</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extLst>
                  <a:ext uri="{0D108BD9-81ED-4DB2-BD59-A6C34878D82A}">
                    <a16:rowId xmlns:a16="http://schemas.microsoft.com/office/drawing/2014/main" val="10000"/>
                  </a:ext>
                </a:extLst>
              </a:tr>
              <a:tr h="74212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050" b="0" kern="0" dirty="0">
                          <a:solidFill>
                            <a:schemeClr val="bg1"/>
                          </a:solidFill>
                          <a:latin typeface="微软雅黑" panose="020B0503020204020204" pitchFamily="34" charset="-122"/>
                          <a:ea typeface="微软雅黑" panose="020B0503020204020204" pitchFamily="34" charset="-122"/>
                        </a:rPr>
                        <a:t>《</a:t>
                      </a:r>
                      <a:r>
                        <a:rPr lang="zh-CN" altLang="en-US" sz="1050" b="0" kern="0" dirty="0">
                          <a:solidFill>
                            <a:schemeClr val="bg1"/>
                          </a:solidFill>
                          <a:latin typeface="微软雅黑" panose="020B0503020204020204" pitchFamily="34" charset="-122"/>
                          <a:ea typeface="微软雅黑" panose="020B0503020204020204" pitchFamily="34" charset="-122"/>
                        </a:rPr>
                        <a:t>重点客户群经营策略与营销</a:t>
                      </a:r>
                      <a:r>
                        <a:rPr lang="en-US" altLang="zh-CN" sz="1050" b="0" kern="0" dirty="0">
                          <a:solidFill>
                            <a:schemeClr val="bg1"/>
                          </a:solidFill>
                          <a:latin typeface="微软雅黑" panose="020B0503020204020204" pitchFamily="34" charset="-122"/>
                          <a:ea typeface="微软雅黑" panose="020B0503020204020204" pitchFamily="34" charset="-122"/>
                        </a:rPr>
                        <a:t>》</a:t>
                      </a:r>
                      <a:endParaRPr lang="en-US" altLang="zh-CN" sz="1600" b="0" kern="0" dirty="0">
                        <a:solidFill>
                          <a:schemeClr val="bg1"/>
                        </a:solidFill>
                        <a:latin typeface="微软雅黑" panose="020B0503020204020204" pitchFamily="34" charset="-122"/>
                        <a:ea typeface="微软雅黑" panose="020B0503020204020204" pitchFamily="34" charset="-122"/>
                      </a:endParaRPr>
                    </a:p>
                  </a:txBody>
                  <a:tcPr anchor="ctr">
                    <a:solidFill>
                      <a:srgbClr val="002060"/>
                    </a:solidFill>
                  </a:tcPr>
                </a:tc>
                <a:tc vMerge="1">
                  <a:txBody>
                    <a:bodyPr/>
                    <a:lstStyle/>
                    <a:p>
                      <a:endParaRPr lang="zh-CN"/>
                    </a:p>
                  </a:txBody>
                  <a:tcPr anchor="ctr">
                    <a:solidFill>
                      <a:srgbClr val="002060"/>
                    </a:solidFill>
                  </a:tcPr>
                </a:tc>
                <a:tc vMerge="1">
                  <a:txBody>
                    <a:bodyPr/>
                    <a:lstStyle/>
                    <a:p>
                      <a:endParaRPr lang="zh-CN"/>
                    </a:p>
                  </a:txBody>
                  <a:tcPr anchor="ctr">
                    <a:solidFill>
                      <a:srgbClr val="002060"/>
                    </a:solidFill>
                  </a:tcPr>
                </a:tc>
                <a:tc vMerge="1">
                  <a:txBody>
                    <a:bodyPr/>
                    <a:lstStyle/>
                    <a:p>
                      <a:endParaRPr lang="zh-CN"/>
                    </a:p>
                  </a:txBody>
                  <a:tcPr anchor="ctr">
                    <a:solidFill>
                      <a:srgbClr val="002060"/>
                    </a:solidFill>
                  </a:tcPr>
                </a:tc>
                <a:tc vMerge="1">
                  <a:txBody>
                    <a:bodyPr/>
                    <a:lstStyle/>
                    <a:p>
                      <a:endParaRPr lang="zh-CN"/>
                    </a:p>
                  </a:txBody>
                  <a:tcPr anchor="ctr">
                    <a:solidFill>
                      <a:srgbClr val="002060"/>
                    </a:solidFill>
                  </a:tcPr>
                </a:tc>
                <a:tc vMerge="1">
                  <a:txBody>
                    <a:bodyPr/>
                    <a:lstStyle/>
                    <a:p>
                      <a:endParaRPr lang="zh-CN"/>
                    </a:p>
                  </a:txBody>
                  <a:tcPr anchor="ctr">
                    <a:solidFill>
                      <a:srgbClr val="002060"/>
                    </a:solidFill>
                  </a:tcPr>
                </a:tc>
                <a:extLst>
                  <a:ext uri="{0D108BD9-81ED-4DB2-BD59-A6C34878D82A}">
                    <a16:rowId xmlns:a16="http://schemas.microsoft.com/office/drawing/2014/main" val="10001"/>
                  </a:ext>
                </a:extLst>
              </a:tr>
            </a:tbl>
          </a:graphicData>
        </a:graphic>
      </p:graphicFrame>
      <p:cxnSp>
        <p:nvCxnSpPr>
          <p:cNvPr id="5" name="直接连接符 93"/>
          <p:cNvCxnSpPr>
            <a:cxnSpLocks noChangeShapeType="1"/>
          </p:cNvCxnSpPr>
          <p:nvPr>
            <p:custDataLst>
              <p:tags r:id="rId30"/>
            </p:custDataLst>
          </p:nvPr>
        </p:nvCxnSpPr>
        <p:spPr bwMode="auto">
          <a:xfrm rot="16200000" flipH="1">
            <a:off x="3949158" y="3159755"/>
            <a:ext cx="1980000" cy="0"/>
          </a:xfrm>
          <a:prstGeom prst="line">
            <a:avLst/>
          </a:prstGeom>
          <a:noFill/>
          <a:ln w="12700" algn="ctr">
            <a:solidFill>
              <a:srgbClr val="FF0000"/>
            </a:solidFill>
            <a:prstDash val="sysDash"/>
            <a:round/>
          </a:ln>
        </p:spPr>
      </p:cxnSp>
      <p:sp>
        <p:nvSpPr>
          <p:cNvPr id="188" name="标题 1"/>
          <p:cNvSpPr txBox="1"/>
          <p:nvPr>
            <p:custDataLst>
              <p:tags r:id="rId31"/>
            </p:custDataLst>
          </p:nvPr>
        </p:nvSpPr>
        <p:spPr>
          <a:xfrm>
            <a:off x="680583" y="249590"/>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sz="2000" b="0" kern="0" dirty="0">
                <a:latin typeface="Arial" panose="020B0604020202020204"/>
              </a:rPr>
              <a:t>高级对私客户经理（理财）培养项目设计方案</a:t>
            </a:r>
          </a:p>
        </p:txBody>
      </p:sp>
      <p:sp>
        <p:nvSpPr>
          <p:cNvPr id="2" name="Rectangle 58"/>
          <p:cNvSpPr>
            <a:spLocks noChangeArrowheads="1"/>
          </p:cNvSpPr>
          <p:nvPr>
            <p:custDataLst>
              <p:tags r:id="rId32"/>
            </p:custDataLst>
          </p:nvPr>
        </p:nvSpPr>
        <p:spPr bwMode="auto">
          <a:xfrm>
            <a:off x="2059519" y="20922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自我角色与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成长方向</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 name="Rectangle 58"/>
          <p:cNvSpPr>
            <a:spLocks noChangeArrowheads="1"/>
          </p:cNvSpPr>
          <p:nvPr>
            <p:custDataLst>
              <p:tags r:id="rId33"/>
            </p:custDataLst>
          </p:nvPr>
        </p:nvSpPr>
        <p:spPr bwMode="auto">
          <a:xfrm>
            <a:off x="3015665" y="20922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高端客户</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品质服务</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12" name="Rectangle 58"/>
          <p:cNvSpPr>
            <a:spLocks noChangeArrowheads="1"/>
          </p:cNvSpPr>
          <p:nvPr>
            <p:custDataLst>
              <p:tags r:id="rId34"/>
            </p:custDataLst>
          </p:nvPr>
        </p:nvSpPr>
        <p:spPr bwMode="auto">
          <a:xfrm>
            <a:off x="3971811" y="2092272"/>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反赌反诈等</a:t>
            </a:r>
            <a:endParaRPr lang="en-US" altLang="zh-CN" sz="105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050" b="0" kern="0" dirty="0">
                <a:solidFill>
                  <a:srgbClr val="FFFFFF"/>
                </a:solidFill>
                <a:latin typeface="微软雅黑" panose="020B0503020204020204" pitchFamily="34" charset="-122"/>
                <a:ea typeface="微软雅黑" panose="020B0503020204020204" pitchFamily="34" charset="-122"/>
              </a:rPr>
              <a:t>案例分析</a:t>
            </a:r>
            <a:endParaRPr lang="en-US" altLang="zh-CN" sz="1050" b="0" kern="0" dirty="0">
              <a:solidFill>
                <a:srgbClr val="FFFFFF"/>
              </a:solidFill>
              <a:latin typeface="微软雅黑" panose="020B0503020204020204" pitchFamily="34" charset="-122"/>
              <a:ea typeface="微软雅黑" panose="020B0503020204020204" pitchFamily="34" charset="-122"/>
            </a:endParaRPr>
          </a:p>
        </p:txBody>
      </p:sp>
      <p:sp>
        <p:nvSpPr>
          <p:cNvPr id="129" name="Rectangle 58"/>
          <p:cNvSpPr>
            <a:spLocks noChangeArrowheads="1"/>
          </p:cNvSpPr>
          <p:nvPr>
            <p:custDataLst>
              <p:tags r:id="rId35"/>
            </p:custDataLst>
          </p:nvPr>
        </p:nvSpPr>
        <p:spPr bwMode="auto">
          <a:xfrm>
            <a:off x="2450392" y="4107931"/>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D1</a:t>
            </a:r>
          </a:p>
        </p:txBody>
      </p:sp>
      <p:sp>
        <p:nvSpPr>
          <p:cNvPr id="16" name="Rectangle 58"/>
          <p:cNvSpPr>
            <a:spLocks noChangeArrowheads="1"/>
          </p:cNvSpPr>
          <p:nvPr>
            <p:custDataLst>
              <p:tags r:id="rId36"/>
            </p:custDataLst>
          </p:nvPr>
        </p:nvSpPr>
        <p:spPr bwMode="auto">
          <a:xfrm>
            <a:off x="2066360" y="3182535"/>
            <a:ext cx="5757792" cy="288000"/>
          </a:xfrm>
          <a:prstGeom prst="rect">
            <a:avLst/>
          </a:prstGeom>
          <a:solidFill>
            <a:srgbClr val="002060">
              <a:alpha val="87842"/>
            </a:srgbClr>
          </a:solidFill>
          <a:ln w="9525">
            <a:noFill/>
            <a:miter lim="800000"/>
          </a:ln>
        </p:spPr>
        <p:txBody>
          <a:bodyPr wrap="none" lIns="0" tIns="0" rIns="0" bIns="0" anchor="ctr"/>
          <a:lstStyle/>
          <a:p>
            <a:pPr algn="ctr"/>
            <a:r>
              <a:rPr kumimoji="1" lang="zh-CN" altLang="en-US" sz="1200" dirty="0">
                <a:solidFill>
                  <a:srgbClr val="FFFFFF"/>
                </a:solidFill>
                <a:ea typeface="微软雅黑" panose="020B0503020204020204" pitchFamily="34" charset="-122"/>
              </a:rPr>
              <a:t>开展集中面授</a:t>
            </a:r>
          </a:p>
        </p:txBody>
      </p:sp>
      <p:sp>
        <p:nvSpPr>
          <p:cNvPr id="17" name="Rectangle 58"/>
          <p:cNvSpPr>
            <a:spLocks noChangeArrowheads="1"/>
          </p:cNvSpPr>
          <p:nvPr>
            <p:custDataLst>
              <p:tags r:id="rId37"/>
            </p:custDataLst>
          </p:nvPr>
        </p:nvSpPr>
        <p:spPr bwMode="auto">
          <a:xfrm>
            <a:off x="3413438" y="3560054"/>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D2</a:t>
            </a:r>
          </a:p>
        </p:txBody>
      </p:sp>
      <p:sp>
        <p:nvSpPr>
          <p:cNvPr id="23" name="Rectangle 58"/>
          <p:cNvSpPr>
            <a:spLocks noChangeArrowheads="1"/>
          </p:cNvSpPr>
          <p:nvPr>
            <p:custDataLst>
              <p:tags r:id="rId38"/>
            </p:custDataLst>
          </p:nvPr>
        </p:nvSpPr>
        <p:spPr bwMode="auto">
          <a:xfrm>
            <a:off x="4353906" y="3554048"/>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D3</a:t>
            </a:r>
          </a:p>
        </p:txBody>
      </p:sp>
      <p:sp>
        <p:nvSpPr>
          <p:cNvPr id="24" name="Rectangle 58"/>
          <p:cNvSpPr>
            <a:spLocks noChangeArrowheads="1"/>
          </p:cNvSpPr>
          <p:nvPr>
            <p:custDataLst>
              <p:tags r:id="rId39"/>
            </p:custDataLst>
          </p:nvPr>
        </p:nvSpPr>
        <p:spPr bwMode="auto">
          <a:xfrm>
            <a:off x="5305663" y="3548042"/>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D1</a:t>
            </a:r>
          </a:p>
        </p:txBody>
      </p:sp>
      <p:sp>
        <p:nvSpPr>
          <p:cNvPr id="25" name="Rectangle 58"/>
          <p:cNvSpPr>
            <a:spLocks noChangeArrowheads="1"/>
          </p:cNvSpPr>
          <p:nvPr>
            <p:custDataLst>
              <p:tags r:id="rId40"/>
            </p:custDataLst>
          </p:nvPr>
        </p:nvSpPr>
        <p:spPr bwMode="auto">
          <a:xfrm>
            <a:off x="6268709" y="3553327"/>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D2</a:t>
            </a:r>
          </a:p>
        </p:txBody>
      </p:sp>
      <p:sp>
        <p:nvSpPr>
          <p:cNvPr id="26" name="Rectangle 58"/>
          <p:cNvSpPr>
            <a:spLocks noChangeArrowheads="1"/>
          </p:cNvSpPr>
          <p:nvPr>
            <p:custDataLst>
              <p:tags r:id="rId41"/>
            </p:custDataLst>
          </p:nvPr>
        </p:nvSpPr>
        <p:spPr bwMode="auto">
          <a:xfrm>
            <a:off x="7220466" y="3547321"/>
            <a:ext cx="202199" cy="205157"/>
          </a:xfrm>
          <a:prstGeom prst="rect">
            <a:avLst/>
          </a:prstGeom>
          <a:solidFill>
            <a:schemeClr val="bg1"/>
          </a:solidFill>
          <a:ln>
            <a:noFill/>
          </a:ln>
        </p:spPr>
        <p:txBody>
          <a:bodyPr wrap="none" lIns="0" tIns="0" rIns="0" bIns="0" anchor="ctr"/>
          <a:lstStyle/>
          <a:p>
            <a:pPr algn="ctr">
              <a:defRPr/>
            </a:pPr>
            <a:r>
              <a:rPr lang="en-US" altLang="zh-CN" sz="1050" kern="0" dirty="0">
                <a:solidFill>
                  <a:schemeClr val="tx1"/>
                </a:solidFill>
                <a:latin typeface="微软雅黑" panose="020B0503020204020204" pitchFamily="34" charset="-122"/>
                <a:ea typeface="微软雅黑" panose="020B0503020204020204" pitchFamily="34" charset="-122"/>
              </a:rPr>
              <a:t>D3</a:t>
            </a:r>
          </a:p>
        </p:txBody>
      </p:sp>
      <p:sp>
        <p:nvSpPr>
          <p:cNvPr id="37" name="Rectangle 58"/>
          <p:cNvSpPr>
            <a:spLocks noChangeArrowheads="1"/>
          </p:cNvSpPr>
          <p:nvPr>
            <p:custDataLst>
              <p:tags r:id="rId42"/>
            </p:custDataLst>
          </p:nvPr>
        </p:nvSpPr>
        <p:spPr bwMode="auto">
          <a:xfrm>
            <a:off x="2065695" y="2638653"/>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宏观经济与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投资市场分析</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8" name="Rectangle 58"/>
          <p:cNvSpPr>
            <a:spLocks noChangeArrowheads="1"/>
          </p:cNvSpPr>
          <p:nvPr>
            <p:custDataLst>
              <p:tags r:id="rId43"/>
            </p:custDataLst>
          </p:nvPr>
        </p:nvSpPr>
        <p:spPr bwMode="auto">
          <a:xfrm>
            <a:off x="3021841" y="2638653"/>
            <a:ext cx="95040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个人外汇</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营销技巧</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39" name="Rectangle 58"/>
          <p:cNvSpPr>
            <a:spLocks noChangeArrowheads="1"/>
          </p:cNvSpPr>
          <p:nvPr>
            <p:custDataLst>
              <p:tags r:id="rId44"/>
            </p:custDataLst>
          </p:nvPr>
        </p:nvSpPr>
        <p:spPr bwMode="auto">
          <a:xfrm>
            <a:off x="3977987" y="2638653"/>
            <a:ext cx="950400" cy="540805"/>
          </a:xfrm>
          <a:prstGeom prst="rect">
            <a:avLst/>
          </a:prstGeom>
          <a:solidFill>
            <a:schemeClr val="bg1">
              <a:lumMod val="50000"/>
            </a:schemeClr>
          </a:solidFill>
          <a:ln>
            <a:noFill/>
          </a:ln>
        </p:spPr>
        <p:txBody>
          <a:bodyPr wrap="none" lIns="0" tIns="0" rIns="0" bIns="0" anchor="ctr"/>
          <a:lstStyle/>
          <a:p>
            <a:pPr algn="ctr">
              <a:defRPr/>
            </a:pP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0" name="Rectangle 58"/>
          <p:cNvSpPr>
            <a:spLocks noChangeArrowheads="1"/>
          </p:cNvSpPr>
          <p:nvPr>
            <p:custDataLst>
              <p:tags r:id="rId45"/>
            </p:custDataLst>
          </p:nvPr>
        </p:nvSpPr>
        <p:spPr bwMode="auto">
          <a:xfrm>
            <a:off x="4995083" y="2085291"/>
            <a:ext cx="139148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高级法律</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财税专题</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2" name="Rectangle 58"/>
          <p:cNvSpPr>
            <a:spLocks noChangeArrowheads="1"/>
          </p:cNvSpPr>
          <p:nvPr>
            <p:custDataLst>
              <p:tags r:id="rId46"/>
            </p:custDataLst>
          </p:nvPr>
        </p:nvSpPr>
        <p:spPr bwMode="auto">
          <a:xfrm>
            <a:off x="6414078" y="2085291"/>
            <a:ext cx="139148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国际财富管理</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趋势</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4" name="Rectangle 58"/>
          <p:cNvSpPr>
            <a:spLocks noChangeArrowheads="1"/>
          </p:cNvSpPr>
          <p:nvPr>
            <p:custDataLst>
              <p:tags r:id="rId47"/>
            </p:custDataLst>
          </p:nvPr>
        </p:nvSpPr>
        <p:spPr bwMode="auto">
          <a:xfrm>
            <a:off x="4989970" y="2631672"/>
            <a:ext cx="139148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国际经济形势与</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资产走势分析研判</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
        <p:nvSpPr>
          <p:cNvPr id="46" name="Rectangle 58"/>
          <p:cNvSpPr>
            <a:spLocks noChangeArrowheads="1"/>
          </p:cNvSpPr>
          <p:nvPr>
            <p:custDataLst>
              <p:tags r:id="rId48"/>
            </p:custDataLst>
          </p:nvPr>
        </p:nvSpPr>
        <p:spPr bwMode="auto">
          <a:xfrm>
            <a:off x="6420254" y="2631672"/>
            <a:ext cx="1391480" cy="540805"/>
          </a:xfrm>
          <a:prstGeom prst="rect">
            <a:avLst/>
          </a:prstGeom>
          <a:solidFill>
            <a:schemeClr val="bg1">
              <a:lumMod val="50000"/>
            </a:schemeClr>
          </a:solidFill>
          <a:ln>
            <a:noFill/>
          </a:ln>
        </p:spPr>
        <p:txBody>
          <a:bodyPr wrap="none" lIns="0" tIns="0" rIns="0" bIns="0" anchor="ctr"/>
          <a:lstStyle/>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家族信托</a:t>
            </a:r>
            <a:endParaRPr lang="en-US" altLang="zh-CN" sz="1100" b="0" kern="0" dirty="0">
              <a:solidFill>
                <a:srgbClr val="FFFFFF"/>
              </a:solidFill>
              <a:latin typeface="微软雅黑" panose="020B0503020204020204" pitchFamily="34" charset="-122"/>
              <a:ea typeface="微软雅黑" panose="020B0503020204020204" pitchFamily="34" charset="-122"/>
            </a:endParaRPr>
          </a:p>
          <a:p>
            <a:pPr algn="ctr">
              <a:defRPr/>
            </a:pPr>
            <a:r>
              <a:rPr lang="zh-CN" altLang="en-US" sz="1100" b="0" kern="0" dirty="0">
                <a:solidFill>
                  <a:srgbClr val="FFFFFF"/>
                </a:solidFill>
                <a:latin typeface="微软雅黑" panose="020B0503020204020204" pitchFamily="34" charset="-122"/>
                <a:ea typeface="微软雅黑" panose="020B0503020204020204" pitchFamily="34" charset="-122"/>
              </a:rPr>
              <a:t>顾问服务基础</a:t>
            </a:r>
            <a:endParaRPr lang="en-US" altLang="zh-CN" sz="1100" b="0" kern="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21</a:t>
            </a:fld>
            <a:endParaRPr lang="zh-CN" altLang="en-US"/>
          </a:p>
        </p:txBody>
      </p:sp>
      <p:sp>
        <p:nvSpPr>
          <p:cNvPr id="4" name="标题 1"/>
          <p:cNvSpPr txBox="1"/>
          <p:nvPr/>
        </p:nvSpPr>
        <p:spPr>
          <a:xfrm>
            <a:off x="665738" y="1008063"/>
            <a:ext cx="8559800"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pPr eaLnBrk="1" hangingPunct="1"/>
            <a:r>
              <a:rPr lang="zh-CN" altLang="en-US" sz="2800" kern="0" dirty="0"/>
              <a:t>目录</a:t>
            </a:r>
          </a:p>
        </p:txBody>
      </p:sp>
      <p:sp>
        <p:nvSpPr>
          <p:cNvPr id="5" name="矩形 4"/>
          <p:cNvSpPr/>
          <p:nvPr/>
        </p:nvSpPr>
        <p:spPr>
          <a:xfrm>
            <a:off x="813905" y="3199005"/>
            <a:ext cx="7494717" cy="574675"/>
          </a:xfrm>
          <a:prstGeom prst="rect">
            <a:avLst/>
          </a:prstGeom>
          <a:solidFill>
            <a:srgbClr val="B2D2DE">
              <a:lumMod val="60000"/>
              <a:lumOff val="40000"/>
            </a:srgbClr>
          </a:solidFill>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宋体" panose="02010600030101010101" pitchFamily="2" charset="-122"/>
              <a:ea typeface="宋体" panose="02010600030101010101" pitchFamily="2" charset="-122"/>
            </a:endParaRPr>
          </a:p>
        </p:txBody>
      </p:sp>
      <p:sp>
        <p:nvSpPr>
          <p:cNvPr id="6" name="内容占位符 6"/>
          <p:cNvSpPr txBox="1"/>
          <p:nvPr/>
        </p:nvSpPr>
        <p:spPr bwMode="auto">
          <a:xfrm>
            <a:off x="1057852" y="1944048"/>
            <a:ext cx="6257347"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marL="273050" indent="-273050" algn="l" defTabSz="330200" rtl="0" eaLnBrk="0" fontAlgn="base" hangingPunct="0">
              <a:spcBef>
                <a:spcPct val="0"/>
              </a:spcBef>
              <a:spcAft>
                <a:spcPct val="0"/>
              </a:spcAft>
              <a:buChar char="•"/>
              <a:defRPr kumimoji="1" sz="1700" b="1">
                <a:solidFill>
                  <a:srgbClr val="000000"/>
                </a:solidFill>
                <a:latin typeface="+mn-lt"/>
                <a:ea typeface="+mn-ea"/>
                <a:cs typeface="+mn-cs"/>
              </a:defRPr>
            </a:lvl1pPr>
            <a:lvl2pPr marL="843280" indent="-390525" algn="l" defTabSz="330200" rtl="0" eaLnBrk="0" fontAlgn="base" hangingPunct="0">
              <a:spcBef>
                <a:spcPct val="0"/>
              </a:spcBef>
              <a:spcAft>
                <a:spcPct val="0"/>
              </a:spcAft>
              <a:buChar char="•"/>
              <a:defRPr kumimoji="1" sz="1700">
                <a:solidFill>
                  <a:srgbClr val="000000"/>
                </a:solidFill>
                <a:latin typeface="+mn-lt"/>
                <a:ea typeface="+mn-ea"/>
              </a:defRPr>
            </a:lvl2pPr>
            <a:lvl3pPr marL="1463675" indent="-441325" algn="l" defTabSz="330200" rtl="0" eaLnBrk="0" fontAlgn="base" hangingPunct="0">
              <a:spcBef>
                <a:spcPct val="0"/>
              </a:spcBef>
              <a:spcAft>
                <a:spcPct val="0"/>
              </a:spcAft>
              <a:buChar char="–"/>
              <a:defRPr kumimoji="1" sz="1700">
                <a:solidFill>
                  <a:srgbClr val="000000"/>
                </a:solidFill>
                <a:latin typeface="+mn-lt"/>
                <a:ea typeface="+mn-ea"/>
              </a:defRPr>
            </a:lvl3pPr>
            <a:lvl4pPr marL="2046605" indent="-403225" algn="l" defTabSz="330200" rtl="0" eaLnBrk="0" fontAlgn="base" hangingPunct="0">
              <a:spcBef>
                <a:spcPct val="0"/>
              </a:spcBef>
              <a:spcAft>
                <a:spcPct val="0"/>
              </a:spcAft>
              <a:buChar char="-"/>
              <a:defRPr kumimoji="1" sz="1700">
                <a:solidFill>
                  <a:srgbClr val="000000"/>
                </a:solidFill>
                <a:latin typeface="+mn-lt"/>
                <a:ea typeface="+mn-ea"/>
              </a:defRPr>
            </a:lvl4pPr>
            <a:lvl5pPr marL="2624455" indent="5080" algn="ctr" defTabSz="330200" rtl="0" eaLnBrk="0" fontAlgn="base" hangingPunct="0">
              <a:lnSpc>
                <a:spcPts val="1600"/>
              </a:lnSpc>
              <a:spcBef>
                <a:spcPct val="0"/>
              </a:spcBef>
              <a:spcAft>
                <a:spcPct val="0"/>
              </a:spcAft>
              <a:buChar char="»"/>
              <a:defRPr kumimoji="1" sz="1400" b="1">
                <a:solidFill>
                  <a:srgbClr val="000000"/>
                </a:solidFill>
                <a:latin typeface="+mn-lt"/>
                <a:ea typeface="+mn-ea"/>
              </a:defRPr>
            </a:lvl5pPr>
            <a:lvl6pPr marL="30816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6pPr>
            <a:lvl7pPr marL="35388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7pPr>
            <a:lvl8pPr marL="39960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8pPr>
            <a:lvl9pPr marL="4453255" indent="5080" algn="ctr" defTabSz="330200" rtl="0" eaLnBrk="1" fontAlgn="base" hangingPunct="1">
              <a:lnSpc>
                <a:spcPts val="1600"/>
              </a:lnSpc>
              <a:spcBef>
                <a:spcPct val="0"/>
              </a:spcBef>
              <a:spcAft>
                <a:spcPct val="0"/>
              </a:spcAft>
              <a:defRPr kumimoji="1" sz="1400" b="1">
                <a:solidFill>
                  <a:srgbClr val="000000"/>
                </a:solidFill>
                <a:latin typeface="+mn-lt"/>
                <a:ea typeface="+mn-ea"/>
              </a:defRPr>
            </a:lvl9pPr>
          </a:lstStyle>
          <a:p>
            <a:pPr marL="431800" indent="-431800" defTabSz="914400" eaLnBrk="1" hangingPunct="1">
              <a:spcBef>
                <a:spcPct val="100000"/>
              </a:spcBef>
              <a:buFontTx/>
              <a:buAutoNum type="romanUcPeriod"/>
              <a:tabLst>
                <a:tab pos="8402320" algn="r"/>
              </a:tabLst>
              <a:defRPr/>
            </a:pPr>
            <a:r>
              <a:rPr kumimoji="1" lang="zh-CN" altLang="en-US"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对私客户经理学习地图绘制基本思路</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a:p>
            <a:pPr marL="431800" indent="-431800" defTabSz="914400" eaLnBrk="1" hangingPunct="1">
              <a:spcBef>
                <a:spcPct val="100000"/>
              </a:spcBef>
              <a:buFontTx/>
              <a:buAutoNum type="romanUcPeriod"/>
              <a:tabLst>
                <a:tab pos="8402320" algn="r"/>
              </a:tabLst>
              <a:defRPr/>
            </a:pPr>
            <a:r>
              <a:rPr kumimoji="1" lang="zh-CN" altLang="en-US"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对私客户经理分层培养项目设计</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a:p>
            <a:pPr marL="431800" indent="-431800" defTabSz="914400" eaLnBrk="1" hangingPunct="1">
              <a:spcBef>
                <a:spcPct val="100000"/>
              </a:spcBef>
              <a:buFontTx/>
              <a:buAutoNum type="romanUcPeriod"/>
              <a:tabLst>
                <a:tab pos="8402320" algn="r"/>
              </a:tabLst>
              <a:defRPr/>
            </a:pPr>
            <a:r>
              <a:rPr lang="zh-CN" altLang="en-US" sz="2200" kern="0" noProof="0" dirty="0">
                <a:latin typeface="华文中宋" panose="02010600040101010101" charset="-122"/>
                <a:ea typeface="华文中宋" panose="02010600040101010101" charset="-122"/>
              </a:rPr>
              <a:t>对私客户经理培养项目落地建议</a:t>
            </a:r>
            <a:endParaRPr kumimoji="1" lang="en-US" altLang="zh-CN" sz="22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22</a:t>
            </a:fld>
            <a:endParaRPr lang="zh-CN" altLang="en-US"/>
          </a:p>
        </p:txBody>
      </p:sp>
      <p:sp>
        <p:nvSpPr>
          <p:cNvPr id="5" name="圆角矩形 4"/>
          <p:cNvSpPr/>
          <p:nvPr/>
        </p:nvSpPr>
        <p:spPr bwMode="auto">
          <a:xfrm>
            <a:off x="648181" y="2089228"/>
            <a:ext cx="2314936" cy="625033"/>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6" name="文本框 5"/>
          <p:cNvSpPr txBox="1"/>
          <p:nvPr/>
        </p:nvSpPr>
        <p:spPr>
          <a:xfrm>
            <a:off x="1024358" y="2155524"/>
            <a:ext cx="1562583" cy="492443"/>
          </a:xfrm>
          <a:prstGeom prst="rect">
            <a:avLst/>
          </a:prstGeom>
          <a:noFill/>
        </p:spPr>
        <p:txBody>
          <a:bodyPr wrap="square" rtlCol="0">
            <a:spAutoFit/>
          </a:bodyPr>
          <a:lstStyle/>
          <a:p>
            <a:pPr algn="ctr"/>
            <a:r>
              <a:rPr lang="zh-CN" altLang="en-US" dirty="0"/>
              <a:t>培养方案执行流程与学习资源分类</a:t>
            </a:r>
            <a:endParaRPr kumimoji="1" lang="zh-CN" altLang="en-US" dirty="0"/>
          </a:p>
        </p:txBody>
      </p:sp>
      <p:sp>
        <p:nvSpPr>
          <p:cNvPr id="7" name="圆角矩形 6"/>
          <p:cNvSpPr/>
          <p:nvPr/>
        </p:nvSpPr>
        <p:spPr bwMode="auto">
          <a:xfrm>
            <a:off x="648181" y="2986271"/>
            <a:ext cx="2314936" cy="625033"/>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8" name="文本框 7"/>
          <p:cNvSpPr txBox="1"/>
          <p:nvPr/>
        </p:nvSpPr>
        <p:spPr>
          <a:xfrm>
            <a:off x="1024358" y="3052567"/>
            <a:ext cx="1562583" cy="492443"/>
          </a:xfrm>
          <a:prstGeom prst="rect">
            <a:avLst/>
          </a:prstGeom>
          <a:noFill/>
        </p:spPr>
        <p:txBody>
          <a:bodyPr wrap="square" rtlCol="0">
            <a:spAutoFit/>
          </a:bodyPr>
          <a:lstStyle/>
          <a:p>
            <a:pPr algn="ctr"/>
            <a:r>
              <a:rPr lang="zh-CN" altLang="en-US" dirty="0">
                <a:solidFill>
                  <a:srgbClr val="FF0000"/>
                </a:solidFill>
              </a:rPr>
              <a:t>面授课程类</a:t>
            </a:r>
            <a:r>
              <a:rPr lang="zh-CN" altLang="en-US" dirty="0"/>
              <a:t>资源开发</a:t>
            </a:r>
            <a:endParaRPr kumimoji="1" lang="zh-CN" altLang="en-US" dirty="0"/>
          </a:p>
        </p:txBody>
      </p:sp>
      <p:sp>
        <p:nvSpPr>
          <p:cNvPr id="9" name="圆角矩形 8"/>
          <p:cNvSpPr/>
          <p:nvPr/>
        </p:nvSpPr>
        <p:spPr bwMode="auto">
          <a:xfrm>
            <a:off x="648181" y="3883314"/>
            <a:ext cx="2314936" cy="625033"/>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10" name="文本框 9"/>
          <p:cNvSpPr txBox="1"/>
          <p:nvPr/>
        </p:nvSpPr>
        <p:spPr>
          <a:xfrm>
            <a:off x="1024358" y="3949610"/>
            <a:ext cx="1562583" cy="492443"/>
          </a:xfrm>
          <a:prstGeom prst="rect">
            <a:avLst/>
          </a:prstGeom>
          <a:noFill/>
        </p:spPr>
        <p:txBody>
          <a:bodyPr wrap="square" rtlCol="0">
            <a:spAutoFit/>
          </a:bodyPr>
          <a:lstStyle/>
          <a:p>
            <a:pPr algn="ctr"/>
            <a:r>
              <a:rPr lang="zh-CN" altLang="en-US" dirty="0">
                <a:solidFill>
                  <a:srgbClr val="FF0000"/>
                </a:solidFill>
              </a:rPr>
              <a:t>在岗实践</a:t>
            </a:r>
            <a:r>
              <a:rPr lang="zh-CN" altLang="en-US" dirty="0"/>
              <a:t>培养类资源开发</a:t>
            </a:r>
            <a:endParaRPr kumimoji="1" lang="zh-CN" altLang="en-US" dirty="0"/>
          </a:p>
        </p:txBody>
      </p:sp>
      <p:sp>
        <p:nvSpPr>
          <p:cNvPr id="11" name="圆角矩形 10"/>
          <p:cNvSpPr/>
          <p:nvPr/>
        </p:nvSpPr>
        <p:spPr bwMode="auto">
          <a:xfrm>
            <a:off x="648181" y="4780357"/>
            <a:ext cx="2314936" cy="625033"/>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12" name="文本框 11"/>
          <p:cNvSpPr txBox="1"/>
          <p:nvPr/>
        </p:nvSpPr>
        <p:spPr>
          <a:xfrm>
            <a:off x="1024358" y="4846653"/>
            <a:ext cx="1562583" cy="492443"/>
          </a:xfrm>
          <a:prstGeom prst="rect">
            <a:avLst/>
          </a:prstGeom>
          <a:noFill/>
        </p:spPr>
        <p:txBody>
          <a:bodyPr wrap="square" rtlCol="0">
            <a:spAutoFit/>
          </a:bodyPr>
          <a:lstStyle/>
          <a:p>
            <a:pPr algn="ctr"/>
            <a:r>
              <a:rPr lang="zh-CN" altLang="en-US" dirty="0">
                <a:solidFill>
                  <a:srgbClr val="FF0000"/>
                </a:solidFill>
              </a:rPr>
              <a:t>行动学习</a:t>
            </a:r>
            <a:r>
              <a:rPr lang="zh-CN" altLang="en-US" dirty="0"/>
              <a:t>类资源开发</a:t>
            </a:r>
            <a:endParaRPr kumimoji="1" lang="zh-CN" altLang="en-US" dirty="0"/>
          </a:p>
        </p:txBody>
      </p:sp>
      <p:sp>
        <p:nvSpPr>
          <p:cNvPr id="13" name="圆角矩形 12"/>
          <p:cNvSpPr/>
          <p:nvPr/>
        </p:nvSpPr>
        <p:spPr bwMode="auto">
          <a:xfrm>
            <a:off x="648181" y="5677400"/>
            <a:ext cx="2314936" cy="625033"/>
          </a:xfrm>
          <a:prstGeom prst="roundRect">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noAutofit/>
          </a:bodyPr>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14" name="文本框 13"/>
          <p:cNvSpPr txBox="1"/>
          <p:nvPr/>
        </p:nvSpPr>
        <p:spPr>
          <a:xfrm>
            <a:off x="1024358" y="5743696"/>
            <a:ext cx="1562583" cy="492443"/>
          </a:xfrm>
          <a:prstGeom prst="rect">
            <a:avLst/>
          </a:prstGeom>
          <a:noFill/>
        </p:spPr>
        <p:txBody>
          <a:bodyPr wrap="square" rtlCol="0">
            <a:spAutoFit/>
          </a:bodyPr>
          <a:lstStyle/>
          <a:p>
            <a:pPr algn="ctr"/>
            <a:r>
              <a:rPr lang="zh-CN" altLang="en-US" dirty="0"/>
              <a:t>自主学习类资源开发</a:t>
            </a:r>
            <a:endParaRPr kumimoji="1" lang="zh-CN" altLang="en-US" dirty="0"/>
          </a:p>
        </p:txBody>
      </p:sp>
      <p:sp>
        <p:nvSpPr>
          <p:cNvPr id="15"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sz="2400" b="0" i="0" dirty="0">
                <a:solidFill>
                  <a:srgbClr val="000000"/>
                </a:solidFill>
                <a:latin typeface="+mn-ea"/>
                <a:cs typeface="宋体" panose="02010600030101010101" pitchFamily="2" charset="-122"/>
              </a:rPr>
              <a:t>资源建设方案主要包括五个方面的内容</a:t>
            </a:r>
            <a:endParaRPr lang="zh-CN" altLang="en-US" kern="0" dirty="0"/>
          </a:p>
        </p:txBody>
      </p:sp>
      <p:sp>
        <p:nvSpPr>
          <p:cNvPr id="16" name="文本框 15"/>
          <p:cNvSpPr txBox="1"/>
          <p:nvPr/>
        </p:nvSpPr>
        <p:spPr>
          <a:xfrm>
            <a:off x="3146121" y="2844224"/>
            <a:ext cx="6236004" cy="830997"/>
          </a:xfrm>
          <a:prstGeom prst="rect">
            <a:avLst/>
          </a:prstGeom>
          <a:noFill/>
        </p:spPr>
        <p:txBody>
          <a:bodyPr wrap="square" rtlCol="0">
            <a:spAutoFit/>
          </a:bodyPr>
          <a:lstStyle/>
          <a:p>
            <a:r>
              <a:rPr lang="zh-CN" altLang="en-US" sz="1200" b="0" i="0" dirty="0">
                <a:solidFill>
                  <a:srgbClr val="000000"/>
                </a:solidFill>
                <a:latin typeface="+mn-ea"/>
                <a:cs typeface="宋体" panose="02010600030101010101" pitchFamily="2" charset="-122"/>
              </a:rPr>
              <a:t>主要针对</a:t>
            </a:r>
            <a:r>
              <a:rPr lang="zh-CN" altLang="en-US" sz="1200" b="0" dirty="0">
                <a:latin typeface="+mn-ea"/>
                <a:cs typeface="宋体" panose="02010600030101010101" pitchFamily="2" charset="-122"/>
              </a:rPr>
              <a:t>本</a:t>
            </a:r>
            <a:r>
              <a:rPr lang="zh-CN" altLang="en-US" sz="1200" b="0" i="0" dirty="0">
                <a:solidFill>
                  <a:srgbClr val="000000"/>
                </a:solidFill>
                <a:latin typeface="+mn-ea"/>
                <a:cs typeface="宋体" panose="02010600030101010101" pitchFamily="2" charset="-122"/>
              </a:rPr>
              <a:t>培养方案中所规划的面授内容中，面授课程的类型、来源、教学实施活动建议、讲师要求等具体内容进行维护管理说明。而在方案具体执行之前，需要对其内容进行明确，如采购来源、讲师情况、与行内要求结合情况等。内部课程开发需要提前更长的一段时间进行，并进行相应的课程评审、讲师认证。</a:t>
            </a:r>
            <a:endParaRPr kumimoji="1" lang="zh-CN" altLang="en-US" sz="1200" dirty="0"/>
          </a:p>
        </p:txBody>
      </p:sp>
      <p:sp>
        <p:nvSpPr>
          <p:cNvPr id="19" name="文本框 18"/>
          <p:cNvSpPr txBox="1"/>
          <p:nvPr/>
        </p:nvSpPr>
        <p:spPr>
          <a:xfrm>
            <a:off x="3146121" y="5677400"/>
            <a:ext cx="6236004" cy="646331"/>
          </a:xfrm>
          <a:prstGeom prst="rect">
            <a:avLst/>
          </a:prstGeom>
          <a:noFill/>
        </p:spPr>
        <p:txBody>
          <a:bodyPr wrap="square" rtlCol="0">
            <a:spAutoFit/>
          </a:bodyPr>
          <a:lstStyle/>
          <a:p>
            <a:r>
              <a:rPr lang="zh-CN" altLang="en-US" sz="1200" b="0" i="0" dirty="0">
                <a:solidFill>
                  <a:srgbClr val="000000"/>
                </a:solidFill>
                <a:latin typeface="+mn-ea"/>
                <a:cs typeface="宋体" panose="02010600030101010101" pitchFamily="2" charset="-122"/>
              </a:rPr>
              <a:t>在</a:t>
            </a:r>
            <a:r>
              <a:rPr lang="zh-CN" altLang="en-US" sz="1200" b="0" dirty="0">
                <a:latin typeface="+mn-ea"/>
                <a:cs typeface="宋体" panose="02010600030101010101" pitchFamily="2" charset="-122"/>
              </a:rPr>
              <a:t>本</a:t>
            </a:r>
            <a:r>
              <a:rPr lang="zh-CN" altLang="en-US" sz="1200" b="0" i="0" dirty="0">
                <a:solidFill>
                  <a:srgbClr val="000000"/>
                </a:solidFill>
                <a:latin typeface="+mn-ea"/>
                <a:cs typeface="宋体" panose="02010600030101010101" pitchFamily="2" charset="-122"/>
              </a:rPr>
              <a:t>培养方案中还设置了一些集中培训前的阅读任务，建议在集中培训之前，安排参训学员能自行阅读集中培训相关的书籍、讲义、学习材料等读物，以提前准备集中培训中所需要的部分知识或研讨内容。</a:t>
            </a:r>
            <a:endParaRPr kumimoji="1" lang="zh-CN" altLang="en-US" sz="1200" dirty="0"/>
          </a:p>
        </p:txBody>
      </p:sp>
      <p:sp>
        <p:nvSpPr>
          <p:cNvPr id="20" name="文本框 19"/>
          <p:cNvSpPr txBox="1"/>
          <p:nvPr/>
        </p:nvSpPr>
        <p:spPr>
          <a:xfrm>
            <a:off x="3146121" y="4708805"/>
            <a:ext cx="6236004" cy="830997"/>
          </a:xfrm>
          <a:prstGeom prst="rect">
            <a:avLst/>
          </a:prstGeom>
          <a:noFill/>
        </p:spPr>
        <p:txBody>
          <a:bodyPr wrap="square" rtlCol="0">
            <a:spAutoFit/>
          </a:bodyPr>
          <a:lstStyle/>
          <a:p>
            <a:r>
              <a:rPr lang="zh-CN" altLang="en-US" sz="1200" b="0" i="0" dirty="0">
                <a:solidFill>
                  <a:srgbClr val="000000"/>
                </a:solidFill>
                <a:latin typeface="+mn-ea"/>
                <a:cs typeface="宋体" panose="02010600030101010101" pitchFamily="2" charset="-122"/>
              </a:rPr>
              <a:t>主要针对</a:t>
            </a:r>
            <a:r>
              <a:rPr lang="zh-CN" altLang="en-US" sz="1200" b="0" dirty="0">
                <a:latin typeface="+mn-ea"/>
                <a:cs typeface="宋体" panose="02010600030101010101" pitchFamily="2" charset="-122"/>
              </a:rPr>
              <a:t>本</a:t>
            </a:r>
            <a:r>
              <a:rPr lang="zh-CN" altLang="en-US" sz="1200" b="0" i="0" dirty="0">
                <a:solidFill>
                  <a:srgbClr val="000000"/>
                </a:solidFill>
                <a:latin typeface="+mn-ea"/>
                <a:cs typeface="宋体" panose="02010600030101010101" pitchFamily="2" charset="-122"/>
              </a:rPr>
              <a:t>培养方案中的研讨分享、行动学习等培养活动可细分为两类主题开展。其一，基于业务核心流程的固定主题研讨或分享，如：区域环境中的业务发展策略、目标客户特征、商务谈判议价策略等；其二，以行动学习为主要研讨模式的实时性选题讨论，如：近期行内主推产品的发展策略、结合时政的行业解决方案等。</a:t>
            </a:r>
          </a:p>
        </p:txBody>
      </p:sp>
      <p:cxnSp>
        <p:nvCxnSpPr>
          <p:cNvPr id="22" name="直线连接符 21"/>
          <p:cNvCxnSpPr/>
          <p:nvPr/>
        </p:nvCxnSpPr>
        <p:spPr bwMode="auto">
          <a:xfrm>
            <a:off x="2963117" y="2839029"/>
            <a:ext cx="64190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直线连接符 22"/>
          <p:cNvCxnSpPr/>
          <p:nvPr/>
        </p:nvCxnSpPr>
        <p:spPr bwMode="auto">
          <a:xfrm>
            <a:off x="2963117" y="3773917"/>
            <a:ext cx="64190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4" name="直线连接符 23"/>
          <p:cNvCxnSpPr/>
          <p:nvPr/>
        </p:nvCxnSpPr>
        <p:spPr bwMode="auto">
          <a:xfrm>
            <a:off x="2963117" y="4708805"/>
            <a:ext cx="64190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直线连接符 24"/>
          <p:cNvCxnSpPr/>
          <p:nvPr/>
        </p:nvCxnSpPr>
        <p:spPr bwMode="auto">
          <a:xfrm>
            <a:off x="2963117" y="5586717"/>
            <a:ext cx="64190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6" name="文本框 25"/>
          <p:cNvSpPr txBox="1"/>
          <p:nvPr/>
        </p:nvSpPr>
        <p:spPr>
          <a:xfrm>
            <a:off x="3217762" y="3889094"/>
            <a:ext cx="6164363" cy="646331"/>
          </a:xfrm>
          <a:prstGeom prst="rect">
            <a:avLst/>
          </a:prstGeom>
          <a:noFill/>
        </p:spPr>
        <p:txBody>
          <a:bodyPr wrap="square" rtlCol="0">
            <a:spAutoFit/>
          </a:bodyPr>
          <a:lstStyle/>
          <a:p>
            <a:r>
              <a:rPr lang="zh-CN" altLang="en-US" sz="1200" b="0" i="0" dirty="0">
                <a:solidFill>
                  <a:srgbClr val="000000"/>
                </a:solidFill>
                <a:latin typeface="宋体" panose="02010600030101010101" pitchFamily="2" charset="-122"/>
                <a:ea typeface="宋体" panose="02010600030101010101" pitchFamily="2" charset="-122"/>
                <a:cs typeface="宋体" panose="02010600030101010101" pitchFamily="2" charset="-122"/>
              </a:rPr>
              <a:t>在</a:t>
            </a:r>
            <a:r>
              <a:rPr lang="zh-CN" altLang="en-US" sz="1200" b="0" dirty="0">
                <a:latin typeface="宋体" panose="02010600030101010101" pitchFamily="2" charset="-122"/>
                <a:ea typeface="宋体" panose="02010600030101010101" pitchFamily="2" charset="-122"/>
                <a:cs typeface="宋体" panose="02010600030101010101" pitchFamily="2" charset="-122"/>
              </a:rPr>
              <a:t>本</a:t>
            </a:r>
            <a:r>
              <a:rPr lang="zh-CN" altLang="en-US" sz="1200" b="0" i="0" dirty="0">
                <a:solidFill>
                  <a:srgbClr val="000000"/>
                </a:solidFill>
                <a:latin typeface="宋体" panose="02010600030101010101" pitchFamily="2" charset="-122"/>
                <a:ea typeface="宋体" panose="02010600030101010101" pitchFamily="2" charset="-122"/>
                <a:cs typeface="宋体" panose="02010600030101010101" pitchFamily="2" charset="-122"/>
              </a:rPr>
              <a:t>培养方案中除集中培训外，还规划了在岗期间需要完成的学习活动或实践任务。在方案具体执行过程中，建议参考核心业务流程中各层级人员的能力要求，制定与各阶段任务内容匹配的实践活动，以全面提升各环节中的技能技巧。</a:t>
            </a:r>
            <a:endParaRPr kumimoji="1" lang="zh-CN" altLang="en-US" sz="1200" dirty="0"/>
          </a:p>
        </p:txBody>
      </p:sp>
      <p:sp>
        <p:nvSpPr>
          <p:cNvPr id="27" name="文本框 26"/>
          <p:cNvSpPr txBox="1"/>
          <p:nvPr/>
        </p:nvSpPr>
        <p:spPr>
          <a:xfrm>
            <a:off x="3183038" y="2106592"/>
            <a:ext cx="6199087" cy="477054"/>
          </a:xfrm>
          <a:prstGeom prst="rect">
            <a:avLst/>
          </a:prstGeom>
          <a:noFill/>
        </p:spPr>
        <p:txBody>
          <a:bodyPr wrap="square" rtlCol="0">
            <a:spAutoFit/>
          </a:bodyPr>
          <a:lstStyle/>
          <a:p>
            <a:r>
              <a:rPr kumimoji="1" lang="zh-CN" altLang="en-US" sz="1200" b="0" dirty="0"/>
              <a:t>即以本培养方案中设计的项目实施参考方案为基础，结合培养对象的实际需求目标，细化具体的实施执行方案。</a:t>
            </a:r>
          </a:p>
        </p:txBody>
      </p:sp>
      <p:sp>
        <p:nvSpPr>
          <p:cNvPr id="3" name="矩形 2"/>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23</a:t>
            </a:fld>
            <a:endParaRPr lang="zh-CN" altLang="en-US"/>
          </a:p>
        </p:txBody>
      </p:sp>
      <p:grpSp>
        <p:nvGrpSpPr>
          <p:cNvPr id="4" name="组合 3"/>
          <p:cNvGrpSpPr/>
          <p:nvPr/>
        </p:nvGrpSpPr>
        <p:grpSpPr>
          <a:xfrm>
            <a:off x="293511" y="1665288"/>
            <a:ext cx="9348966" cy="2063045"/>
            <a:chOff x="2912" y="1203325"/>
            <a:chExt cx="9933822" cy="2061798"/>
          </a:xfrm>
        </p:grpSpPr>
        <p:sp>
          <p:nvSpPr>
            <p:cNvPr id="5" name="右箭头 4"/>
            <p:cNvSpPr/>
            <p:nvPr/>
          </p:nvSpPr>
          <p:spPr>
            <a:xfrm>
              <a:off x="745473" y="1203325"/>
              <a:ext cx="8448699" cy="2061798"/>
            </a:xfrm>
            <a:prstGeom prst="rightArrow">
              <a:avLst>
                <a:gd name="adj1" fmla="val 72996"/>
                <a:gd name="adj2" fmla="val 65331"/>
              </a:avLst>
            </a:prstGeom>
            <a:solidFill>
              <a:srgbClr val="00246C"/>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6" name="任意形状 5"/>
            <p:cNvSpPr/>
            <p:nvPr/>
          </p:nvSpPr>
          <p:spPr>
            <a:xfrm>
              <a:off x="2912" y="1821864"/>
              <a:ext cx="1753027" cy="824719"/>
            </a:xfrm>
            <a:custGeom>
              <a:avLst/>
              <a:gdLst>
                <a:gd name="connsiteX0" fmla="*/ 0 w 1753027"/>
                <a:gd name="connsiteY0" fmla="*/ 137456 h 824719"/>
                <a:gd name="connsiteX1" fmla="*/ 137456 w 1753027"/>
                <a:gd name="connsiteY1" fmla="*/ 0 h 824719"/>
                <a:gd name="connsiteX2" fmla="*/ 1615571 w 1753027"/>
                <a:gd name="connsiteY2" fmla="*/ 0 h 824719"/>
                <a:gd name="connsiteX3" fmla="*/ 1753027 w 1753027"/>
                <a:gd name="connsiteY3" fmla="*/ 137456 h 824719"/>
                <a:gd name="connsiteX4" fmla="*/ 1753027 w 1753027"/>
                <a:gd name="connsiteY4" fmla="*/ 687263 h 824719"/>
                <a:gd name="connsiteX5" fmla="*/ 1615571 w 1753027"/>
                <a:gd name="connsiteY5" fmla="*/ 824719 h 824719"/>
                <a:gd name="connsiteX6" fmla="*/ 137456 w 1753027"/>
                <a:gd name="connsiteY6" fmla="*/ 824719 h 824719"/>
                <a:gd name="connsiteX7" fmla="*/ 0 w 1753027"/>
                <a:gd name="connsiteY7" fmla="*/ 687263 h 824719"/>
                <a:gd name="connsiteX8" fmla="*/ 0 w 1753027"/>
                <a:gd name="connsiteY8" fmla="*/ 137456 h 8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3027" h="824719">
                  <a:moveTo>
                    <a:pt x="0" y="137456"/>
                  </a:moveTo>
                  <a:cubicBezTo>
                    <a:pt x="0" y="61541"/>
                    <a:pt x="61541" y="0"/>
                    <a:pt x="137456" y="0"/>
                  </a:cubicBezTo>
                  <a:lnTo>
                    <a:pt x="1615571" y="0"/>
                  </a:lnTo>
                  <a:cubicBezTo>
                    <a:pt x="1691486" y="0"/>
                    <a:pt x="1753027" y="61541"/>
                    <a:pt x="1753027" y="137456"/>
                  </a:cubicBezTo>
                  <a:lnTo>
                    <a:pt x="1753027" y="687263"/>
                  </a:lnTo>
                  <a:cubicBezTo>
                    <a:pt x="1753027" y="763178"/>
                    <a:pt x="1691486" y="824719"/>
                    <a:pt x="1615571" y="824719"/>
                  </a:cubicBezTo>
                  <a:lnTo>
                    <a:pt x="137456" y="824719"/>
                  </a:lnTo>
                  <a:cubicBezTo>
                    <a:pt x="61541" y="824719"/>
                    <a:pt x="0" y="763178"/>
                    <a:pt x="0" y="687263"/>
                  </a:cubicBezTo>
                  <a:lnTo>
                    <a:pt x="0" y="137456"/>
                  </a:lnTo>
                  <a:close/>
                </a:path>
              </a:pathLst>
            </a:custGeom>
            <a:solidFill>
              <a:srgbClr val="00339A"/>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1699" tIns="131699" rIns="131699" bIns="131699" numCol="1" spcCol="1270" anchor="ctr" anchorCtr="0">
              <a:noAutofit/>
            </a:bodyPr>
            <a:lstStyle/>
            <a:p>
              <a:pPr marL="0" lvl="0" indent="0" algn="ctr" defTabSz="1066800">
                <a:lnSpc>
                  <a:spcPct val="90000"/>
                </a:lnSpc>
                <a:spcBef>
                  <a:spcPct val="0"/>
                </a:spcBef>
                <a:spcAft>
                  <a:spcPct val="35000"/>
                </a:spcAft>
                <a:buNone/>
              </a:pPr>
              <a:r>
                <a:rPr lang="en-US" altLang="zh-CN" sz="2000" kern="1200" dirty="0">
                  <a:latin typeface="微软雅黑" panose="020B0503020204020204" pitchFamily="34" charset="-122"/>
                  <a:ea typeface="微软雅黑" panose="020B0503020204020204" pitchFamily="34" charset="-122"/>
                </a:rPr>
                <a:t>1.</a:t>
              </a:r>
              <a:r>
                <a:rPr lang="zh-CN" altLang="en-US" sz="2000" kern="1200" dirty="0">
                  <a:latin typeface="微软雅黑" panose="020B0503020204020204" pitchFamily="34" charset="-122"/>
                  <a:ea typeface="微软雅黑" panose="020B0503020204020204" pitchFamily="34" charset="-122"/>
                </a:rPr>
                <a:t>方案细化</a:t>
              </a:r>
            </a:p>
          </p:txBody>
        </p:sp>
        <p:sp>
          <p:nvSpPr>
            <p:cNvPr id="7" name="任意形状 6"/>
            <p:cNvSpPr/>
            <p:nvPr/>
          </p:nvSpPr>
          <p:spPr>
            <a:xfrm>
              <a:off x="2048110" y="1821864"/>
              <a:ext cx="1753027" cy="824719"/>
            </a:xfrm>
            <a:custGeom>
              <a:avLst/>
              <a:gdLst>
                <a:gd name="connsiteX0" fmla="*/ 0 w 1753027"/>
                <a:gd name="connsiteY0" fmla="*/ 137456 h 824719"/>
                <a:gd name="connsiteX1" fmla="*/ 137456 w 1753027"/>
                <a:gd name="connsiteY1" fmla="*/ 0 h 824719"/>
                <a:gd name="connsiteX2" fmla="*/ 1615571 w 1753027"/>
                <a:gd name="connsiteY2" fmla="*/ 0 h 824719"/>
                <a:gd name="connsiteX3" fmla="*/ 1753027 w 1753027"/>
                <a:gd name="connsiteY3" fmla="*/ 137456 h 824719"/>
                <a:gd name="connsiteX4" fmla="*/ 1753027 w 1753027"/>
                <a:gd name="connsiteY4" fmla="*/ 687263 h 824719"/>
                <a:gd name="connsiteX5" fmla="*/ 1615571 w 1753027"/>
                <a:gd name="connsiteY5" fmla="*/ 824719 h 824719"/>
                <a:gd name="connsiteX6" fmla="*/ 137456 w 1753027"/>
                <a:gd name="connsiteY6" fmla="*/ 824719 h 824719"/>
                <a:gd name="connsiteX7" fmla="*/ 0 w 1753027"/>
                <a:gd name="connsiteY7" fmla="*/ 687263 h 824719"/>
                <a:gd name="connsiteX8" fmla="*/ 0 w 1753027"/>
                <a:gd name="connsiteY8" fmla="*/ 137456 h 8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3027" h="824719">
                  <a:moveTo>
                    <a:pt x="0" y="137456"/>
                  </a:moveTo>
                  <a:cubicBezTo>
                    <a:pt x="0" y="61541"/>
                    <a:pt x="61541" y="0"/>
                    <a:pt x="137456" y="0"/>
                  </a:cubicBezTo>
                  <a:lnTo>
                    <a:pt x="1615571" y="0"/>
                  </a:lnTo>
                  <a:cubicBezTo>
                    <a:pt x="1691486" y="0"/>
                    <a:pt x="1753027" y="61541"/>
                    <a:pt x="1753027" y="137456"/>
                  </a:cubicBezTo>
                  <a:lnTo>
                    <a:pt x="1753027" y="687263"/>
                  </a:lnTo>
                  <a:cubicBezTo>
                    <a:pt x="1753027" y="763178"/>
                    <a:pt x="1691486" y="824719"/>
                    <a:pt x="1615571" y="824719"/>
                  </a:cubicBezTo>
                  <a:lnTo>
                    <a:pt x="137456" y="824719"/>
                  </a:lnTo>
                  <a:cubicBezTo>
                    <a:pt x="61541" y="824719"/>
                    <a:pt x="0" y="763178"/>
                    <a:pt x="0" y="687263"/>
                  </a:cubicBezTo>
                  <a:lnTo>
                    <a:pt x="0" y="137456"/>
                  </a:lnTo>
                  <a:close/>
                </a:path>
              </a:pathLst>
            </a:custGeom>
            <a:solidFill>
              <a:srgbClr val="00339A"/>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1699" tIns="131699" rIns="131699" bIns="131699" numCol="1" spcCol="1270" anchor="ctr" anchorCtr="0">
              <a:noAutofit/>
            </a:bodyPr>
            <a:lstStyle/>
            <a:p>
              <a:pPr marL="0" lvl="0" indent="0" algn="ctr" defTabSz="1066800">
                <a:lnSpc>
                  <a:spcPct val="90000"/>
                </a:lnSpc>
                <a:spcBef>
                  <a:spcPct val="0"/>
                </a:spcBef>
                <a:spcAft>
                  <a:spcPct val="35000"/>
                </a:spcAft>
                <a:buNone/>
              </a:pPr>
              <a:r>
                <a:rPr lang="en-US" altLang="zh-CN" sz="2000" kern="1200" dirty="0">
                  <a:latin typeface="微软雅黑" panose="020B0503020204020204" pitchFamily="34" charset="-122"/>
                  <a:ea typeface="微软雅黑" panose="020B0503020204020204" pitchFamily="34" charset="-122"/>
                </a:rPr>
                <a:t>2.</a:t>
              </a:r>
              <a:r>
                <a:rPr lang="zh-CN" altLang="en-US" sz="2000" kern="1200" dirty="0">
                  <a:latin typeface="微软雅黑" panose="020B0503020204020204" pitchFamily="34" charset="-122"/>
                  <a:ea typeface="微软雅黑" panose="020B0503020204020204" pitchFamily="34" charset="-122"/>
                </a:rPr>
                <a:t>资源开发</a:t>
              </a:r>
            </a:p>
          </p:txBody>
        </p:sp>
        <p:sp>
          <p:nvSpPr>
            <p:cNvPr id="8" name="任意形状 7"/>
            <p:cNvSpPr/>
            <p:nvPr/>
          </p:nvSpPr>
          <p:spPr>
            <a:xfrm>
              <a:off x="4093309" y="1821864"/>
              <a:ext cx="1753027" cy="824719"/>
            </a:xfrm>
            <a:custGeom>
              <a:avLst/>
              <a:gdLst>
                <a:gd name="connsiteX0" fmla="*/ 0 w 1753027"/>
                <a:gd name="connsiteY0" fmla="*/ 137456 h 824719"/>
                <a:gd name="connsiteX1" fmla="*/ 137456 w 1753027"/>
                <a:gd name="connsiteY1" fmla="*/ 0 h 824719"/>
                <a:gd name="connsiteX2" fmla="*/ 1615571 w 1753027"/>
                <a:gd name="connsiteY2" fmla="*/ 0 h 824719"/>
                <a:gd name="connsiteX3" fmla="*/ 1753027 w 1753027"/>
                <a:gd name="connsiteY3" fmla="*/ 137456 h 824719"/>
                <a:gd name="connsiteX4" fmla="*/ 1753027 w 1753027"/>
                <a:gd name="connsiteY4" fmla="*/ 687263 h 824719"/>
                <a:gd name="connsiteX5" fmla="*/ 1615571 w 1753027"/>
                <a:gd name="connsiteY5" fmla="*/ 824719 h 824719"/>
                <a:gd name="connsiteX6" fmla="*/ 137456 w 1753027"/>
                <a:gd name="connsiteY6" fmla="*/ 824719 h 824719"/>
                <a:gd name="connsiteX7" fmla="*/ 0 w 1753027"/>
                <a:gd name="connsiteY7" fmla="*/ 687263 h 824719"/>
                <a:gd name="connsiteX8" fmla="*/ 0 w 1753027"/>
                <a:gd name="connsiteY8" fmla="*/ 137456 h 8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3027" h="824719">
                  <a:moveTo>
                    <a:pt x="0" y="137456"/>
                  </a:moveTo>
                  <a:cubicBezTo>
                    <a:pt x="0" y="61541"/>
                    <a:pt x="61541" y="0"/>
                    <a:pt x="137456" y="0"/>
                  </a:cubicBezTo>
                  <a:lnTo>
                    <a:pt x="1615571" y="0"/>
                  </a:lnTo>
                  <a:cubicBezTo>
                    <a:pt x="1691486" y="0"/>
                    <a:pt x="1753027" y="61541"/>
                    <a:pt x="1753027" y="137456"/>
                  </a:cubicBezTo>
                  <a:lnTo>
                    <a:pt x="1753027" y="687263"/>
                  </a:lnTo>
                  <a:cubicBezTo>
                    <a:pt x="1753027" y="763178"/>
                    <a:pt x="1691486" y="824719"/>
                    <a:pt x="1615571" y="824719"/>
                  </a:cubicBezTo>
                  <a:lnTo>
                    <a:pt x="137456" y="824719"/>
                  </a:lnTo>
                  <a:cubicBezTo>
                    <a:pt x="61541" y="824719"/>
                    <a:pt x="0" y="763178"/>
                    <a:pt x="0" y="687263"/>
                  </a:cubicBezTo>
                  <a:lnTo>
                    <a:pt x="0" y="137456"/>
                  </a:lnTo>
                  <a:close/>
                </a:path>
              </a:pathLst>
            </a:custGeom>
            <a:solidFill>
              <a:srgbClr val="00339A"/>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1699" tIns="131699" rIns="131699" bIns="131699" numCol="1" spcCol="1270" anchor="ctr" anchorCtr="0">
              <a:noAutofit/>
            </a:bodyPr>
            <a:lstStyle/>
            <a:p>
              <a:pPr marL="0" lvl="0" indent="0" algn="ctr" defTabSz="1066800">
                <a:lnSpc>
                  <a:spcPct val="90000"/>
                </a:lnSpc>
                <a:spcBef>
                  <a:spcPct val="0"/>
                </a:spcBef>
                <a:spcAft>
                  <a:spcPct val="35000"/>
                </a:spcAft>
                <a:buNone/>
              </a:pPr>
              <a:r>
                <a:rPr lang="en-US" altLang="zh-CN" sz="2000" kern="1200" dirty="0">
                  <a:latin typeface="微软雅黑" panose="020B0503020204020204" pitchFamily="34" charset="-122"/>
                  <a:ea typeface="微软雅黑" panose="020B0503020204020204" pitchFamily="34" charset="-122"/>
                </a:rPr>
                <a:t>3.</a:t>
              </a:r>
              <a:r>
                <a:rPr lang="zh-CN" altLang="en-US" sz="2000" kern="1200" dirty="0">
                  <a:latin typeface="微软雅黑" panose="020B0503020204020204" pitchFamily="34" charset="-122"/>
                  <a:ea typeface="微软雅黑" panose="020B0503020204020204" pitchFamily="34" charset="-122"/>
                </a:rPr>
                <a:t>前期筹备</a:t>
              </a:r>
            </a:p>
          </p:txBody>
        </p:sp>
        <p:sp>
          <p:nvSpPr>
            <p:cNvPr id="9" name="任意形状 8"/>
            <p:cNvSpPr/>
            <p:nvPr/>
          </p:nvSpPr>
          <p:spPr>
            <a:xfrm>
              <a:off x="6138508" y="1821864"/>
              <a:ext cx="1753027" cy="824719"/>
            </a:xfrm>
            <a:custGeom>
              <a:avLst/>
              <a:gdLst>
                <a:gd name="connsiteX0" fmla="*/ 0 w 1753027"/>
                <a:gd name="connsiteY0" fmla="*/ 137456 h 824719"/>
                <a:gd name="connsiteX1" fmla="*/ 137456 w 1753027"/>
                <a:gd name="connsiteY1" fmla="*/ 0 h 824719"/>
                <a:gd name="connsiteX2" fmla="*/ 1615571 w 1753027"/>
                <a:gd name="connsiteY2" fmla="*/ 0 h 824719"/>
                <a:gd name="connsiteX3" fmla="*/ 1753027 w 1753027"/>
                <a:gd name="connsiteY3" fmla="*/ 137456 h 824719"/>
                <a:gd name="connsiteX4" fmla="*/ 1753027 w 1753027"/>
                <a:gd name="connsiteY4" fmla="*/ 687263 h 824719"/>
                <a:gd name="connsiteX5" fmla="*/ 1615571 w 1753027"/>
                <a:gd name="connsiteY5" fmla="*/ 824719 h 824719"/>
                <a:gd name="connsiteX6" fmla="*/ 137456 w 1753027"/>
                <a:gd name="connsiteY6" fmla="*/ 824719 h 824719"/>
                <a:gd name="connsiteX7" fmla="*/ 0 w 1753027"/>
                <a:gd name="connsiteY7" fmla="*/ 687263 h 824719"/>
                <a:gd name="connsiteX8" fmla="*/ 0 w 1753027"/>
                <a:gd name="connsiteY8" fmla="*/ 137456 h 8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3027" h="824719">
                  <a:moveTo>
                    <a:pt x="0" y="137456"/>
                  </a:moveTo>
                  <a:cubicBezTo>
                    <a:pt x="0" y="61541"/>
                    <a:pt x="61541" y="0"/>
                    <a:pt x="137456" y="0"/>
                  </a:cubicBezTo>
                  <a:lnTo>
                    <a:pt x="1615571" y="0"/>
                  </a:lnTo>
                  <a:cubicBezTo>
                    <a:pt x="1691486" y="0"/>
                    <a:pt x="1753027" y="61541"/>
                    <a:pt x="1753027" y="137456"/>
                  </a:cubicBezTo>
                  <a:lnTo>
                    <a:pt x="1753027" y="687263"/>
                  </a:lnTo>
                  <a:cubicBezTo>
                    <a:pt x="1753027" y="763178"/>
                    <a:pt x="1691486" y="824719"/>
                    <a:pt x="1615571" y="824719"/>
                  </a:cubicBezTo>
                  <a:lnTo>
                    <a:pt x="137456" y="824719"/>
                  </a:lnTo>
                  <a:cubicBezTo>
                    <a:pt x="61541" y="824719"/>
                    <a:pt x="0" y="763178"/>
                    <a:pt x="0" y="687263"/>
                  </a:cubicBezTo>
                  <a:lnTo>
                    <a:pt x="0" y="137456"/>
                  </a:lnTo>
                  <a:close/>
                </a:path>
              </a:pathLst>
            </a:custGeom>
            <a:solidFill>
              <a:srgbClr val="00339A"/>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1699" tIns="131699" rIns="131699" bIns="131699" numCol="1" spcCol="1270" anchor="ctr" anchorCtr="0">
              <a:noAutofit/>
            </a:bodyPr>
            <a:lstStyle/>
            <a:p>
              <a:pPr marL="0" lvl="0" indent="0" algn="ctr" defTabSz="1066800">
                <a:lnSpc>
                  <a:spcPct val="90000"/>
                </a:lnSpc>
                <a:spcBef>
                  <a:spcPct val="0"/>
                </a:spcBef>
                <a:spcAft>
                  <a:spcPct val="35000"/>
                </a:spcAft>
                <a:buNone/>
              </a:pPr>
              <a:r>
                <a:rPr lang="en-US" altLang="zh-CN" sz="2000" kern="1200" dirty="0">
                  <a:latin typeface="微软雅黑" panose="020B0503020204020204" pitchFamily="34" charset="-122"/>
                  <a:ea typeface="微软雅黑" panose="020B0503020204020204" pitchFamily="34" charset="-122"/>
                </a:rPr>
                <a:t>4.</a:t>
              </a:r>
              <a:r>
                <a:rPr lang="zh-CN" altLang="en-US" sz="2000" kern="1200" dirty="0">
                  <a:latin typeface="微软雅黑" panose="020B0503020204020204" pitchFamily="34" charset="-122"/>
                  <a:ea typeface="微软雅黑" panose="020B0503020204020204" pitchFamily="34" charset="-122"/>
                </a:rPr>
                <a:t>培养实施</a:t>
              </a:r>
            </a:p>
          </p:txBody>
        </p:sp>
        <p:sp>
          <p:nvSpPr>
            <p:cNvPr id="10" name="任意形状 9"/>
            <p:cNvSpPr/>
            <p:nvPr/>
          </p:nvSpPr>
          <p:spPr>
            <a:xfrm>
              <a:off x="8183707" y="1821864"/>
              <a:ext cx="1753027" cy="824719"/>
            </a:xfrm>
            <a:custGeom>
              <a:avLst/>
              <a:gdLst>
                <a:gd name="connsiteX0" fmla="*/ 0 w 1753027"/>
                <a:gd name="connsiteY0" fmla="*/ 137456 h 824719"/>
                <a:gd name="connsiteX1" fmla="*/ 137456 w 1753027"/>
                <a:gd name="connsiteY1" fmla="*/ 0 h 824719"/>
                <a:gd name="connsiteX2" fmla="*/ 1615571 w 1753027"/>
                <a:gd name="connsiteY2" fmla="*/ 0 h 824719"/>
                <a:gd name="connsiteX3" fmla="*/ 1753027 w 1753027"/>
                <a:gd name="connsiteY3" fmla="*/ 137456 h 824719"/>
                <a:gd name="connsiteX4" fmla="*/ 1753027 w 1753027"/>
                <a:gd name="connsiteY4" fmla="*/ 687263 h 824719"/>
                <a:gd name="connsiteX5" fmla="*/ 1615571 w 1753027"/>
                <a:gd name="connsiteY5" fmla="*/ 824719 h 824719"/>
                <a:gd name="connsiteX6" fmla="*/ 137456 w 1753027"/>
                <a:gd name="connsiteY6" fmla="*/ 824719 h 824719"/>
                <a:gd name="connsiteX7" fmla="*/ 0 w 1753027"/>
                <a:gd name="connsiteY7" fmla="*/ 687263 h 824719"/>
                <a:gd name="connsiteX8" fmla="*/ 0 w 1753027"/>
                <a:gd name="connsiteY8" fmla="*/ 137456 h 824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3027" h="824719">
                  <a:moveTo>
                    <a:pt x="0" y="137456"/>
                  </a:moveTo>
                  <a:cubicBezTo>
                    <a:pt x="0" y="61541"/>
                    <a:pt x="61541" y="0"/>
                    <a:pt x="137456" y="0"/>
                  </a:cubicBezTo>
                  <a:lnTo>
                    <a:pt x="1615571" y="0"/>
                  </a:lnTo>
                  <a:cubicBezTo>
                    <a:pt x="1691486" y="0"/>
                    <a:pt x="1753027" y="61541"/>
                    <a:pt x="1753027" y="137456"/>
                  </a:cubicBezTo>
                  <a:lnTo>
                    <a:pt x="1753027" y="687263"/>
                  </a:lnTo>
                  <a:cubicBezTo>
                    <a:pt x="1753027" y="763178"/>
                    <a:pt x="1691486" y="824719"/>
                    <a:pt x="1615571" y="824719"/>
                  </a:cubicBezTo>
                  <a:lnTo>
                    <a:pt x="137456" y="824719"/>
                  </a:lnTo>
                  <a:cubicBezTo>
                    <a:pt x="61541" y="824719"/>
                    <a:pt x="0" y="763178"/>
                    <a:pt x="0" y="687263"/>
                  </a:cubicBezTo>
                  <a:lnTo>
                    <a:pt x="0" y="137456"/>
                  </a:lnTo>
                  <a:close/>
                </a:path>
              </a:pathLst>
            </a:custGeom>
            <a:solidFill>
              <a:srgbClr val="00339A"/>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1699" tIns="131699" rIns="131699" bIns="131699" numCol="1" spcCol="1270" anchor="ctr" anchorCtr="0">
              <a:noAutofit/>
            </a:bodyPr>
            <a:lstStyle/>
            <a:p>
              <a:pPr marL="0" lvl="0" indent="0" algn="ctr" defTabSz="1066800">
                <a:lnSpc>
                  <a:spcPct val="90000"/>
                </a:lnSpc>
                <a:spcBef>
                  <a:spcPct val="0"/>
                </a:spcBef>
                <a:spcAft>
                  <a:spcPct val="35000"/>
                </a:spcAft>
                <a:buNone/>
              </a:pPr>
              <a:r>
                <a:rPr lang="en-US" altLang="zh-CN" sz="2000" kern="1200" dirty="0">
                  <a:latin typeface="微软雅黑" panose="020B0503020204020204" pitchFamily="34" charset="-122"/>
                  <a:ea typeface="微软雅黑" panose="020B0503020204020204" pitchFamily="34" charset="-122"/>
                </a:rPr>
                <a:t>5.</a:t>
              </a:r>
              <a:r>
                <a:rPr lang="zh-CN" altLang="en-US" sz="2000" kern="1200" dirty="0">
                  <a:latin typeface="微软雅黑" panose="020B0503020204020204" pitchFamily="34" charset="-122"/>
                  <a:ea typeface="微软雅黑" panose="020B0503020204020204" pitchFamily="34" charset="-122"/>
                </a:rPr>
                <a:t>效果评估</a:t>
              </a:r>
            </a:p>
          </p:txBody>
        </p:sp>
      </p:grpSp>
      <p:sp>
        <p:nvSpPr>
          <p:cNvPr id="11"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培养方案的执行过程可细化为五个步骤</a:t>
            </a:r>
          </a:p>
        </p:txBody>
      </p:sp>
      <p:sp>
        <p:nvSpPr>
          <p:cNvPr id="12" name="文本框 11"/>
          <p:cNvSpPr txBox="1"/>
          <p:nvPr/>
        </p:nvSpPr>
        <p:spPr>
          <a:xfrm>
            <a:off x="374449" y="3553428"/>
            <a:ext cx="1755209" cy="1815882"/>
          </a:xfrm>
          <a:prstGeom prst="rect">
            <a:avLst/>
          </a:prstGeom>
          <a:noFill/>
        </p:spPr>
        <p:txBody>
          <a:bodyPr wrap="square" rtlCol="0">
            <a:spAutoFit/>
          </a:bodyPr>
          <a:lstStyle/>
          <a:p>
            <a:r>
              <a:rPr lang="zh-CN" altLang="en-US" sz="1400" b="0" i="0" dirty="0">
                <a:solidFill>
                  <a:srgbClr val="000000"/>
                </a:solidFill>
                <a:latin typeface="宋体" panose="02010600030101010101" pitchFamily="2" charset="-122"/>
                <a:cs typeface="宋体" panose="02010600030101010101" pitchFamily="2" charset="-122"/>
              </a:rPr>
              <a:t>针对培养对象的人群特点，以</a:t>
            </a:r>
            <a:r>
              <a:rPr lang="en-US" altLang="zh-CN" sz="1400" b="0" i="0" dirty="0">
                <a:solidFill>
                  <a:srgbClr val="000000"/>
                </a:solidFill>
                <a:latin typeface="宋体" panose="02010600030101010101" pitchFamily="2" charset="-122"/>
                <a:cs typeface="宋体" panose="02010600030101010101" pitchFamily="2" charset="-122"/>
              </a:rPr>
              <a:t>《</a:t>
            </a:r>
            <a:r>
              <a:rPr lang="zh-CN" altLang="en-US" sz="1400" b="0" i="0" dirty="0">
                <a:solidFill>
                  <a:srgbClr val="000000"/>
                </a:solidFill>
                <a:latin typeface="宋体" panose="02010600030101010101" pitchFamily="2" charset="-122"/>
                <a:cs typeface="宋体" panose="02010600030101010101" pitchFamily="2" charset="-122"/>
              </a:rPr>
              <a:t>培养方案</a:t>
            </a:r>
            <a:r>
              <a:rPr lang="en-US" altLang="zh-CN" sz="1400" b="0" i="0" dirty="0">
                <a:solidFill>
                  <a:srgbClr val="000000"/>
                </a:solidFill>
                <a:latin typeface="宋体" panose="02010600030101010101" pitchFamily="2" charset="-122"/>
                <a:cs typeface="宋体" panose="02010600030101010101" pitchFamily="2" charset="-122"/>
              </a:rPr>
              <a:t>》</a:t>
            </a:r>
            <a:r>
              <a:rPr lang="zh-CN" altLang="en-US" sz="1400" b="0" i="0" dirty="0">
                <a:solidFill>
                  <a:srgbClr val="000000"/>
                </a:solidFill>
                <a:latin typeface="宋体" panose="02010600030101010101" pitchFamily="2" charset="-122"/>
                <a:cs typeface="宋体" panose="02010600030101010101" pitchFamily="2" charset="-122"/>
              </a:rPr>
              <a:t>中的实施规划内容进行细化分析，明确各培养模块的具体内容、研讨主题、准备要求等</a:t>
            </a:r>
            <a:endParaRPr kumimoji="1" lang="zh-CN" altLang="en-US" dirty="0"/>
          </a:p>
        </p:txBody>
      </p:sp>
      <p:sp>
        <p:nvSpPr>
          <p:cNvPr id="13" name="文本框 12"/>
          <p:cNvSpPr txBox="1"/>
          <p:nvPr/>
        </p:nvSpPr>
        <p:spPr>
          <a:xfrm>
            <a:off x="2165601" y="3553428"/>
            <a:ext cx="1755209" cy="2031325"/>
          </a:xfrm>
          <a:prstGeom prst="rect">
            <a:avLst/>
          </a:prstGeom>
          <a:noFill/>
        </p:spPr>
        <p:txBody>
          <a:bodyPr wrap="square" rtlCol="0">
            <a:spAutoFit/>
          </a:bodyPr>
          <a:lstStyle/>
          <a:p>
            <a:r>
              <a:rPr lang="zh-CN" altLang="en-US" sz="1400" b="0" i="0" dirty="0">
                <a:solidFill>
                  <a:srgbClr val="000000"/>
                </a:solidFill>
                <a:latin typeface="宋体" panose="02010600030101010101" pitchFamily="2" charset="-122"/>
                <a:cs typeface="宋体" panose="02010600030101010101" pitchFamily="2" charset="-122"/>
              </a:rPr>
              <a:t>主要涉及的面授课程与讲师来源、能力评估工具、研讨方案进行规划设计，如明确供应商、开发课程、认证讲师等，资源开发是学习地图落地的重点和难点</a:t>
            </a:r>
            <a:endParaRPr kumimoji="1" lang="zh-CN" altLang="en-US" dirty="0"/>
          </a:p>
        </p:txBody>
      </p:sp>
      <p:sp>
        <p:nvSpPr>
          <p:cNvPr id="14" name="文本框 13"/>
          <p:cNvSpPr txBox="1"/>
          <p:nvPr/>
        </p:nvSpPr>
        <p:spPr>
          <a:xfrm>
            <a:off x="4090388" y="3553428"/>
            <a:ext cx="1755209" cy="1169551"/>
          </a:xfrm>
          <a:prstGeom prst="rect">
            <a:avLst/>
          </a:prstGeom>
          <a:noFill/>
        </p:spPr>
        <p:txBody>
          <a:bodyPr wrap="square" rtlCol="0">
            <a:spAutoFit/>
          </a:bodyPr>
          <a:lstStyle/>
          <a:p>
            <a:r>
              <a:rPr lang="zh-CN" altLang="en-US" sz="1400" b="0" i="0" dirty="0">
                <a:solidFill>
                  <a:srgbClr val="000000"/>
                </a:solidFill>
                <a:latin typeface="宋体" panose="02010600030101010101" pitchFamily="2" charset="-122"/>
                <a:cs typeface="宋体" panose="02010600030101010101" pitchFamily="2" charset="-122"/>
              </a:rPr>
              <a:t>执行方案中集中面授培训前的准备工作，如：需求调研、能力评估、启动会筹备等工作事项</a:t>
            </a:r>
            <a:endParaRPr kumimoji="1" lang="zh-CN" altLang="en-US" dirty="0"/>
          </a:p>
        </p:txBody>
      </p:sp>
      <p:sp>
        <p:nvSpPr>
          <p:cNvPr id="15" name="文本框 14"/>
          <p:cNvSpPr txBox="1"/>
          <p:nvPr/>
        </p:nvSpPr>
        <p:spPr>
          <a:xfrm>
            <a:off x="6015175" y="3553428"/>
            <a:ext cx="1755209" cy="523220"/>
          </a:xfrm>
          <a:prstGeom prst="rect">
            <a:avLst/>
          </a:prstGeom>
          <a:noFill/>
        </p:spPr>
        <p:txBody>
          <a:bodyPr wrap="square" rtlCol="0">
            <a:spAutoFit/>
          </a:bodyPr>
          <a:lstStyle/>
          <a:p>
            <a:r>
              <a:rPr lang="zh-CN" altLang="en-US" sz="1400" b="0" i="0" dirty="0">
                <a:solidFill>
                  <a:srgbClr val="000000"/>
                </a:solidFill>
                <a:latin typeface="宋体" panose="02010600030101010101" pitchFamily="2" charset="-122"/>
                <a:cs typeface="宋体" panose="02010600030101010101" pitchFamily="2" charset="-122"/>
              </a:rPr>
              <a:t>依据执行方案进行培训实施</a:t>
            </a:r>
            <a:endParaRPr kumimoji="1" lang="zh-CN" altLang="en-US" dirty="0"/>
          </a:p>
        </p:txBody>
      </p:sp>
      <p:sp>
        <p:nvSpPr>
          <p:cNvPr id="16" name="文本框 15"/>
          <p:cNvSpPr txBox="1"/>
          <p:nvPr/>
        </p:nvSpPr>
        <p:spPr>
          <a:xfrm>
            <a:off x="7887268" y="3553428"/>
            <a:ext cx="1755209" cy="738664"/>
          </a:xfrm>
          <a:prstGeom prst="rect">
            <a:avLst/>
          </a:prstGeom>
          <a:noFill/>
        </p:spPr>
        <p:txBody>
          <a:bodyPr wrap="square" rtlCol="0">
            <a:spAutoFit/>
          </a:bodyPr>
          <a:lstStyle/>
          <a:p>
            <a:r>
              <a:rPr lang="zh-CN" altLang="en-US" sz="1400" b="0" i="0" dirty="0">
                <a:solidFill>
                  <a:srgbClr val="000000"/>
                </a:solidFill>
                <a:latin typeface="宋体" panose="02010600030101010101" pitchFamily="2" charset="-122"/>
                <a:cs typeface="宋体" panose="02010600030101010101" pitchFamily="2" charset="-122"/>
              </a:rPr>
              <a:t>分阶段进行培养项目实施效果评估与效果跟踪</a:t>
            </a:r>
            <a:endParaRPr kumimoji="1" lang="zh-CN" altLang="en-US" dirty="0"/>
          </a:p>
        </p:txBody>
      </p:sp>
      <p:sp>
        <p:nvSpPr>
          <p:cNvPr id="3" name="矩形 2"/>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
        <p:nvSpPr>
          <p:cNvPr id="17" name="文本框 16"/>
          <p:cNvSpPr txBox="1"/>
          <p:nvPr/>
        </p:nvSpPr>
        <p:spPr>
          <a:xfrm>
            <a:off x="609600" y="6073422"/>
            <a:ext cx="3905236" cy="292388"/>
          </a:xfrm>
          <a:prstGeom prst="rect">
            <a:avLst/>
          </a:prstGeom>
          <a:noFill/>
        </p:spPr>
        <p:txBody>
          <a:bodyPr wrap="none" rtlCol="0">
            <a:spAutoFit/>
          </a:bodyPr>
          <a:lstStyle/>
          <a:p>
            <a:r>
              <a:rPr kumimoji="1" lang="zh-CN" altLang="en-US" dirty="0"/>
              <a:t>附件</a:t>
            </a:r>
            <a:r>
              <a:rPr kumimoji="1" lang="en-US" altLang="zh-CN" dirty="0"/>
              <a:t>2-</a:t>
            </a:r>
            <a:r>
              <a:rPr kumimoji="1" lang="zh-CN" altLang="en-US" dirty="0"/>
              <a:t>对私客户经理（理财）课程资源盘点表</a:t>
            </a:r>
            <a:r>
              <a:rPr kumimoji="1" lang="en-US" altLang="zh-CN" dirty="0"/>
              <a:t>V1.0</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24</a:t>
            </a:fld>
            <a:endParaRPr lang="zh-CN" altLang="en-US"/>
          </a:p>
        </p:txBody>
      </p:sp>
      <p:grpSp>
        <p:nvGrpSpPr>
          <p:cNvPr id="3" name="组合 2"/>
          <p:cNvGrpSpPr/>
          <p:nvPr/>
        </p:nvGrpSpPr>
        <p:grpSpPr>
          <a:xfrm>
            <a:off x="804151" y="2350948"/>
            <a:ext cx="8543049" cy="3203962"/>
            <a:chOff x="1839202" y="2235201"/>
            <a:chExt cx="8543049" cy="3203962"/>
          </a:xfrm>
        </p:grpSpPr>
        <p:sp>
          <p:nvSpPr>
            <p:cNvPr id="4" name="AutoShape 3"/>
            <p:cNvSpPr>
              <a:spLocks noChangeArrowheads="1"/>
            </p:cNvSpPr>
            <p:nvPr/>
          </p:nvSpPr>
          <p:spPr bwMode="auto">
            <a:xfrm>
              <a:off x="5121276" y="3242324"/>
              <a:ext cx="1984375" cy="1738603"/>
            </a:xfrm>
            <a:prstGeom prst="hexagon">
              <a:avLst>
                <a:gd name="adj" fmla="val 29819"/>
                <a:gd name="vf" fmla="val 115470"/>
              </a:avLst>
            </a:prstGeom>
            <a:solidFill>
              <a:srgbClr val="366B7E"/>
            </a:solidFill>
            <a:ln>
              <a:noFill/>
            </a:ln>
            <a:effectLst/>
            <a:extLst>
              <a:ext uri="{91240B29-F687-4F45-9708-019B960494DF}">
                <a14:hiddenLine xmlns:a14="http://schemas.microsoft.com/office/drawing/2010/main" w="254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fontAlgn="auto">
                <a:spcBef>
                  <a:spcPts val="0"/>
                </a:spcBef>
                <a:spcAft>
                  <a:spcPts val="0"/>
                </a:spcAft>
                <a:defRPr/>
              </a:pPr>
              <a:endParaRPr lang="zh-CN" altLang="en-US" kern="0">
                <a:solidFill>
                  <a:sysClr val="windowText" lastClr="000000"/>
                </a:solidFill>
                <a:latin typeface="Arial" panose="020B0604020202020204" pitchFamily="34" charset="0"/>
              </a:endParaRPr>
            </a:p>
          </p:txBody>
        </p:sp>
        <p:sp>
          <p:nvSpPr>
            <p:cNvPr id="5" name="Freeform 4"/>
            <p:cNvSpPr/>
            <p:nvPr/>
          </p:nvSpPr>
          <p:spPr bwMode="auto">
            <a:xfrm>
              <a:off x="6627814" y="2780914"/>
              <a:ext cx="3754437" cy="276999"/>
            </a:xfrm>
            <a:custGeom>
              <a:avLst/>
              <a:gdLst>
                <a:gd name="T0" fmla="*/ 0 w 2365"/>
                <a:gd name="T1" fmla="*/ 448 h 448"/>
                <a:gd name="T2" fmla="*/ 349 w 2365"/>
                <a:gd name="T3" fmla="*/ 0 h 448"/>
                <a:gd name="T4" fmla="*/ 2365 w 2365"/>
                <a:gd name="T5" fmla="*/ 0 h 448"/>
              </a:gdLst>
              <a:ahLst/>
              <a:cxnLst>
                <a:cxn ang="0">
                  <a:pos x="T0" y="T1"/>
                </a:cxn>
                <a:cxn ang="0">
                  <a:pos x="T2" y="T3"/>
                </a:cxn>
                <a:cxn ang="0">
                  <a:pos x="T4" y="T5"/>
                </a:cxn>
              </a:cxnLst>
              <a:rect l="0" t="0" r="r" b="b"/>
              <a:pathLst>
                <a:path w="2365" h="448">
                  <a:moveTo>
                    <a:pt x="0" y="448"/>
                  </a:moveTo>
                  <a:lnTo>
                    <a:pt x="349" y="0"/>
                  </a:lnTo>
                  <a:lnTo>
                    <a:pt x="2365" y="0"/>
                  </a:lnTo>
                </a:path>
              </a:pathLst>
            </a:custGeom>
            <a:noFill/>
            <a:ln w="22225" cap="flat" cmpd="sng">
              <a:solidFill>
                <a:srgbClr val="366B7E"/>
              </a:solidFill>
              <a:prstDash val="solid"/>
              <a:round/>
              <a:headEnd type="triangle" w="med"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fontAlgn="auto">
                <a:spcBef>
                  <a:spcPts val="0"/>
                </a:spcBef>
                <a:spcAft>
                  <a:spcPts val="0"/>
                </a:spcAft>
                <a:defRPr/>
              </a:pPr>
              <a:endParaRPr lang="zh-CN" altLang="en-US" kern="0">
                <a:solidFill>
                  <a:sysClr val="windowText" lastClr="000000"/>
                </a:solidFill>
                <a:latin typeface="Arial" panose="020B0604020202020204" pitchFamily="34" charset="0"/>
              </a:endParaRPr>
            </a:p>
          </p:txBody>
        </p:sp>
        <p:sp>
          <p:nvSpPr>
            <p:cNvPr id="6" name="Line 5"/>
            <p:cNvSpPr>
              <a:spLocks noChangeShapeType="1"/>
            </p:cNvSpPr>
            <p:nvPr/>
          </p:nvSpPr>
          <p:spPr bwMode="auto">
            <a:xfrm flipH="1">
              <a:off x="1839913" y="4113213"/>
              <a:ext cx="3275012" cy="0"/>
            </a:xfrm>
            <a:prstGeom prst="line">
              <a:avLst/>
            </a:prstGeom>
            <a:noFill/>
            <a:ln w="22225">
              <a:solidFill>
                <a:srgbClr val="366B7E"/>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fontAlgn="auto">
                <a:spcBef>
                  <a:spcPts val="0"/>
                </a:spcBef>
                <a:spcAft>
                  <a:spcPts val="0"/>
                </a:spcAft>
                <a:defRPr/>
              </a:pPr>
              <a:endParaRPr lang="zh-CN" altLang="en-US" kern="0">
                <a:solidFill>
                  <a:sysClr val="windowText" lastClr="000000"/>
                </a:solidFill>
                <a:latin typeface="Arial" panose="020B0604020202020204" pitchFamily="34" charset="0"/>
              </a:endParaRPr>
            </a:p>
          </p:txBody>
        </p:sp>
        <p:sp>
          <p:nvSpPr>
            <p:cNvPr id="7" name="Freeform 6"/>
            <p:cNvSpPr/>
            <p:nvPr/>
          </p:nvSpPr>
          <p:spPr bwMode="auto">
            <a:xfrm flipH="1">
              <a:off x="1839914" y="2780914"/>
              <a:ext cx="3754437" cy="276999"/>
            </a:xfrm>
            <a:custGeom>
              <a:avLst/>
              <a:gdLst>
                <a:gd name="T0" fmla="*/ 0 w 2365"/>
                <a:gd name="T1" fmla="*/ 448 h 448"/>
                <a:gd name="T2" fmla="*/ 349 w 2365"/>
                <a:gd name="T3" fmla="*/ 0 h 448"/>
                <a:gd name="T4" fmla="*/ 2365 w 2365"/>
                <a:gd name="T5" fmla="*/ 0 h 448"/>
              </a:gdLst>
              <a:ahLst/>
              <a:cxnLst>
                <a:cxn ang="0">
                  <a:pos x="T0" y="T1"/>
                </a:cxn>
                <a:cxn ang="0">
                  <a:pos x="T2" y="T3"/>
                </a:cxn>
                <a:cxn ang="0">
                  <a:pos x="T4" y="T5"/>
                </a:cxn>
              </a:cxnLst>
              <a:rect l="0" t="0" r="r" b="b"/>
              <a:pathLst>
                <a:path w="2365" h="448">
                  <a:moveTo>
                    <a:pt x="0" y="448"/>
                  </a:moveTo>
                  <a:lnTo>
                    <a:pt x="349" y="0"/>
                  </a:lnTo>
                  <a:lnTo>
                    <a:pt x="2365" y="0"/>
                  </a:lnTo>
                </a:path>
              </a:pathLst>
            </a:custGeom>
            <a:noFill/>
            <a:ln w="22225" cap="flat" cmpd="sng">
              <a:solidFill>
                <a:srgbClr val="366B7E"/>
              </a:solidFill>
              <a:prstDash val="solid"/>
              <a:round/>
              <a:headEnd type="triangle" w="med"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fontAlgn="auto">
                <a:spcBef>
                  <a:spcPts val="0"/>
                </a:spcBef>
                <a:spcAft>
                  <a:spcPts val="0"/>
                </a:spcAft>
                <a:defRPr/>
              </a:pPr>
              <a:endParaRPr lang="zh-CN" altLang="en-US" kern="0">
                <a:solidFill>
                  <a:sysClr val="windowText" lastClr="000000"/>
                </a:solidFill>
                <a:latin typeface="Arial" panose="020B0604020202020204" pitchFamily="34" charset="0"/>
              </a:endParaRPr>
            </a:p>
          </p:txBody>
        </p:sp>
        <p:sp>
          <p:nvSpPr>
            <p:cNvPr id="8" name="Freeform 7"/>
            <p:cNvSpPr/>
            <p:nvPr/>
          </p:nvSpPr>
          <p:spPr bwMode="auto">
            <a:xfrm flipV="1">
              <a:off x="6627814" y="5162164"/>
              <a:ext cx="3754437" cy="276999"/>
            </a:xfrm>
            <a:custGeom>
              <a:avLst/>
              <a:gdLst>
                <a:gd name="T0" fmla="*/ 0 w 2365"/>
                <a:gd name="T1" fmla="*/ 448 h 448"/>
                <a:gd name="T2" fmla="*/ 349 w 2365"/>
                <a:gd name="T3" fmla="*/ 0 h 448"/>
                <a:gd name="T4" fmla="*/ 2365 w 2365"/>
                <a:gd name="T5" fmla="*/ 0 h 448"/>
              </a:gdLst>
              <a:ahLst/>
              <a:cxnLst>
                <a:cxn ang="0">
                  <a:pos x="T0" y="T1"/>
                </a:cxn>
                <a:cxn ang="0">
                  <a:pos x="T2" y="T3"/>
                </a:cxn>
                <a:cxn ang="0">
                  <a:pos x="T4" y="T5"/>
                </a:cxn>
              </a:cxnLst>
              <a:rect l="0" t="0" r="r" b="b"/>
              <a:pathLst>
                <a:path w="2365" h="448">
                  <a:moveTo>
                    <a:pt x="0" y="448"/>
                  </a:moveTo>
                  <a:lnTo>
                    <a:pt x="349" y="0"/>
                  </a:lnTo>
                  <a:lnTo>
                    <a:pt x="2365" y="0"/>
                  </a:lnTo>
                </a:path>
              </a:pathLst>
            </a:custGeom>
            <a:noFill/>
            <a:ln w="22225" cap="flat" cmpd="sng">
              <a:solidFill>
                <a:srgbClr val="366B7E"/>
              </a:solidFill>
              <a:prstDash val="solid"/>
              <a:round/>
              <a:headEnd type="triangle" w="med"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fontAlgn="auto">
                <a:spcBef>
                  <a:spcPts val="0"/>
                </a:spcBef>
                <a:spcAft>
                  <a:spcPts val="0"/>
                </a:spcAft>
                <a:defRPr/>
              </a:pPr>
              <a:endParaRPr lang="zh-CN" altLang="en-US" kern="0">
                <a:solidFill>
                  <a:sysClr val="windowText" lastClr="000000"/>
                </a:solidFill>
                <a:latin typeface="Arial" panose="020B0604020202020204" pitchFamily="34" charset="0"/>
              </a:endParaRPr>
            </a:p>
          </p:txBody>
        </p:sp>
        <p:sp>
          <p:nvSpPr>
            <p:cNvPr id="9" name="Freeform 8"/>
            <p:cNvSpPr/>
            <p:nvPr/>
          </p:nvSpPr>
          <p:spPr bwMode="auto">
            <a:xfrm flipH="1" flipV="1">
              <a:off x="1839914" y="5162164"/>
              <a:ext cx="3754437" cy="276999"/>
            </a:xfrm>
            <a:custGeom>
              <a:avLst/>
              <a:gdLst>
                <a:gd name="T0" fmla="*/ 0 w 2365"/>
                <a:gd name="T1" fmla="*/ 448 h 448"/>
                <a:gd name="T2" fmla="*/ 349 w 2365"/>
                <a:gd name="T3" fmla="*/ 0 h 448"/>
                <a:gd name="T4" fmla="*/ 2365 w 2365"/>
                <a:gd name="T5" fmla="*/ 0 h 448"/>
              </a:gdLst>
              <a:ahLst/>
              <a:cxnLst>
                <a:cxn ang="0">
                  <a:pos x="T0" y="T1"/>
                </a:cxn>
                <a:cxn ang="0">
                  <a:pos x="T2" y="T3"/>
                </a:cxn>
                <a:cxn ang="0">
                  <a:pos x="T4" y="T5"/>
                </a:cxn>
              </a:cxnLst>
              <a:rect l="0" t="0" r="r" b="b"/>
              <a:pathLst>
                <a:path w="2365" h="448">
                  <a:moveTo>
                    <a:pt x="0" y="448"/>
                  </a:moveTo>
                  <a:lnTo>
                    <a:pt x="349" y="0"/>
                  </a:lnTo>
                  <a:lnTo>
                    <a:pt x="2365" y="0"/>
                  </a:lnTo>
                </a:path>
              </a:pathLst>
            </a:custGeom>
            <a:noFill/>
            <a:ln w="22225" cap="flat" cmpd="sng">
              <a:solidFill>
                <a:srgbClr val="366B7E"/>
              </a:solidFill>
              <a:prstDash val="solid"/>
              <a:round/>
              <a:headEnd type="triangle" w="med"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fontAlgn="auto">
                <a:spcBef>
                  <a:spcPts val="0"/>
                </a:spcBef>
                <a:spcAft>
                  <a:spcPts val="0"/>
                </a:spcAft>
                <a:defRPr/>
              </a:pPr>
              <a:endParaRPr lang="zh-CN" altLang="en-US" kern="0">
                <a:solidFill>
                  <a:sysClr val="windowText" lastClr="000000"/>
                </a:solidFill>
                <a:latin typeface="Arial" panose="020B0604020202020204" pitchFamily="34" charset="0"/>
              </a:endParaRPr>
            </a:p>
          </p:txBody>
        </p:sp>
        <p:sp>
          <p:nvSpPr>
            <p:cNvPr id="10" name="Line 9"/>
            <p:cNvSpPr>
              <a:spLocks noChangeShapeType="1"/>
            </p:cNvSpPr>
            <p:nvPr/>
          </p:nvSpPr>
          <p:spPr bwMode="auto">
            <a:xfrm>
              <a:off x="7107238" y="4113213"/>
              <a:ext cx="3275012" cy="0"/>
            </a:xfrm>
            <a:prstGeom prst="line">
              <a:avLst/>
            </a:prstGeom>
            <a:noFill/>
            <a:ln w="22225">
              <a:solidFill>
                <a:srgbClr val="366B7E"/>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fontAlgn="auto">
                <a:spcBef>
                  <a:spcPts val="0"/>
                </a:spcBef>
                <a:spcAft>
                  <a:spcPts val="0"/>
                </a:spcAft>
                <a:defRPr/>
              </a:pPr>
              <a:endParaRPr lang="zh-CN" altLang="en-US" kern="0">
                <a:solidFill>
                  <a:sysClr val="windowText" lastClr="000000"/>
                </a:solidFill>
                <a:latin typeface="Arial" panose="020B0604020202020204" pitchFamily="34" charset="0"/>
              </a:endParaRPr>
            </a:p>
          </p:txBody>
        </p:sp>
        <p:sp>
          <p:nvSpPr>
            <p:cNvPr id="11" name="Rectangle 10"/>
            <p:cNvSpPr>
              <a:spLocks noChangeArrowheads="1"/>
            </p:cNvSpPr>
            <p:nvPr/>
          </p:nvSpPr>
          <p:spPr bwMode="auto">
            <a:xfrm>
              <a:off x="7408863" y="3767139"/>
              <a:ext cx="29638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defTabSz="330200" eaLnBrk="0" hangingPunct="0">
                <a:tabLst>
                  <a:tab pos="8521700" algn="r"/>
                </a:tabLst>
                <a:defRPr>
                  <a:solidFill>
                    <a:schemeClr val="tx1"/>
                  </a:solidFill>
                  <a:latin typeface="Arial" panose="020B0604020202020204" pitchFamily="34" charset="0"/>
                  <a:ea typeface="宋体" panose="02010600030101010101" pitchFamily="2" charset="-122"/>
                </a:defRPr>
              </a:lvl1pPr>
              <a:lvl2pPr marL="742950" indent="-285750" defTabSz="330200" eaLnBrk="0" hangingPunct="0">
                <a:tabLst>
                  <a:tab pos="8521700" algn="r"/>
                </a:tabLst>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de-DE" sz="1600">
                  <a:solidFill>
                    <a:srgbClr val="000000"/>
                  </a:solidFill>
                </a:rPr>
                <a:t>Factor 2</a:t>
              </a:r>
              <a:r>
                <a:rPr kumimoji="1" lang="zh-CN" altLang="en-US" sz="1600">
                  <a:solidFill>
                    <a:srgbClr val="000000"/>
                  </a:solidFill>
                </a:rPr>
                <a:t>：紧迫课程先开发</a:t>
              </a:r>
              <a:endParaRPr kumimoji="1" lang="en-US" altLang="de-DE" sz="1600">
                <a:solidFill>
                  <a:srgbClr val="000000"/>
                </a:solidFill>
              </a:endParaRPr>
            </a:p>
          </p:txBody>
        </p:sp>
        <p:sp>
          <p:nvSpPr>
            <p:cNvPr id="12" name="Rectangle 11"/>
            <p:cNvSpPr>
              <a:spLocks noChangeArrowheads="1"/>
            </p:cNvSpPr>
            <p:nvPr/>
          </p:nvSpPr>
          <p:spPr bwMode="auto">
            <a:xfrm>
              <a:off x="5384801" y="3873501"/>
              <a:ext cx="1458913"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330200" eaLnBrk="0" hangingPunct="0">
                <a:tabLst>
                  <a:tab pos="8521700" algn="r"/>
                </a:tabLst>
                <a:defRPr>
                  <a:solidFill>
                    <a:schemeClr val="tx1"/>
                  </a:solidFill>
                  <a:latin typeface="Arial" panose="020B0604020202020204" pitchFamily="34" charset="0"/>
                  <a:ea typeface="宋体" panose="02010600030101010101" pitchFamily="2" charset="-122"/>
                </a:defRPr>
              </a:lvl1pPr>
              <a:lvl2pPr marL="742950" indent="-285750" defTabSz="330200" eaLnBrk="0" hangingPunct="0">
                <a:tabLst>
                  <a:tab pos="8521700" algn="r"/>
                </a:tabLst>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dirty="0">
                  <a:solidFill>
                    <a:srgbClr val="FFFFFF"/>
                  </a:solidFill>
                </a:rPr>
                <a:t>课程开发</a:t>
              </a:r>
              <a:r>
                <a:rPr kumimoji="1" lang="en-US" altLang="zh-CN" sz="1600" dirty="0">
                  <a:solidFill>
                    <a:srgbClr val="FFFFFF"/>
                  </a:solidFill>
                </a:rPr>
                <a:t>6</a:t>
              </a:r>
              <a:r>
                <a:rPr kumimoji="1" lang="zh-CN" altLang="en-US" sz="1600" dirty="0">
                  <a:solidFill>
                    <a:srgbClr val="FFFFFF"/>
                  </a:solidFill>
                </a:rPr>
                <a:t>项原则</a:t>
              </a:r>
              <a:endParaRPr kumimoji="1" lang="en-US" altLang="de-DE" sz="1600" dirty="0">
                <a:solidFill>
                  <a:srgbClr val="FFFFFF"/>
                </a:solidFill>
              </a:endParaRPr>
            </a:p>
          </p:txBody>
        </p:sp>
        <p:sp>
          <p:nvSpPr>
            <p:cNvPr id="13" name="Rectangle 12"/>
            <p:cNvSpPr>
              <a:spLocks noChangeArrowheads="1"/>
            </p:cNvSpPr>
            <p:nvPr/>
          </p:nvSpPr>
          <p:spPr bwMode="auto">
            <a:xfrm>
              <a:off x="7388224" y="5033576"/>
              <a:ext cx="29638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defTabSz="330200" eaLnBrk="0" hangingPunct="0">
                <a:tabLst>
                  <a:tab pos="8521700" algn="r"/>
                </a:tabLst>
                <a:defRPr>
                  <a:solidFill>
                    <a:schemeClr val="tx1"/>
                  </a:solidFill>
                  <a:latin typeface="Arial" panose="020B0604020202020204" pitchFamily="34" charset="0"/>
                  <a:ea typeface="宋体" panose="02010600030101010101" pitchFamily="2" charset="-122"/>
                </a:defRPr>
              </a:lvl1pPr>
              <a:lvl2pPr marL="742950" indent="-285750" defTabSz="330200" eaLnBrk="0" hangingPunct="0">
                <a:tabLst>
                  <a:tab pos="8521700" algn="r"/>
                </a:tabLst>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de-DE" sz="1600" dirty="0">
                  <a:solidFill>
                    <a:srgbClr val="000000"/>
                  </a:solidFill>
                </a:rPr>
                <a:t>Factor 3</a:t>
              </a:r>
              <a:r>
                <a:rPr kumimoji="1" lang="zh-CN" altLang="en-US" sz="1600" dirty="0">
                  <a:solidFill>
                    <a:srgbClr val="000000"/>
                  </a:solidFill>
                </a:rPr>
                <a:t>：核心课程靠研发</a:t>
              </a:r>
              <a:endParaRPr kumimoji="1" lang="en-US" altLang="de-DE" sz="1600" dirty="0">
                <a:solidFill>
                  <a:srgbClr val="000000"/>
                </a:solidFill>
              </a:endParaRPr>
            </a:p>
          </p:txBody>
        </p:sp>
        <p:sp>
          <p:nvSpPr>
            <p:cNvPr id="14" name="Rectangle 13"/>
            <p:cNvSpPr>
              <a:spLocks noChangeArrowheads="1"/>
            </p:cNvSpPr>
            <p:nvPr/>
          </p:nvSpPr>
          <p:spPr bwMode="auto">
            <a:xfrm>
              <a:off x="7408863" y="2235201"/>
              <a:ext cx="29638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defTabSz="330200" eaLnBrk="0" hangingPunct="0">
                <a:tabLst>
                  <a:tab pos="8521700" algn="r"/>
                </a:tabLst>
                <a:defRPr>
                  <a:solidFill>
                    <a:schemeClr val="tx1"/>
                  </a:solidFill>
                  <a:latin typeface="Arial" panose="020B0604020202020204" pitchFamily="34" charset="0"/>
                  <a:ea typeface="宋体" panose="02010600030101010101" pitchFamily="2" charset="-122"/>
                </a:defRPr>
              </a:lvl1pPr>
              <a:lvl2pPr marL="742950" indent="-285750" defTabSz="330200" eaLnBrk="0" hangingPunct="0">
                <a:tabLst>
                  <a:tab pos="8521700" algn="r"/>
                </a:tabLst>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de-DE" sz="1600">
                  <a:solidFill>
                    <a:srgbClr val="000000"/>
                  </a:solidFill>
                </a:rPr>
                <a:t>Factor 1</a:t>
              </a:r>
              <a:r>
                <a:rPr kumimoji="1" lang="zh-CN" altLang="en-US" sz="1600">
                  <a:solidFill>
                    <a:srgbClr val="000000"/>
                  </a:solidFill>
                </a:rPr>
                <a:t>：课程开发阶段化</a:t>
              </a:r>
              <a:endParaRPr kumimoji="1" lang="en-US" altLang="de-DE" sz="1600">
                <a:solidFill>
                  <a:srgbClr val="000000"/>
                </a:solidFill>
              </a:endParaRPr>
            </a:p>
          </p:txBody>
        </p:sp>
        <p:sp>
          <p:nvSpPr>
            <p:cNvPr id="15" name="Rectangle 14"/>
            <p:cNvSpPr>
              <a:spLocks noChangeArrowheads="1"/>
            </p:cNvSpPr>
            <p:nvPr/>
          </p:nvSpPr>
          <p:spPr bwMode="auto">
            <a:xfrm>
              <a:off x="1855788" y="3767139"/>
              <a:ext cx="29638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defTabSz="330200" eaLnBrk="0" hangingPunct="0">
                <a:tabLst>
                  <a:tab pos="8521700" algn="r"/>
                </a:tabLst>
                <a:defRPr>
                  <a:solidFill>
                    <a:schemeClr val="tx1"/>
                  </a:solidFill>
                  <a:latin typeface="Arial" panose="020B0604020202020204" pitchFamily="34" charset="0"/>
                  <a:ea typeface="宋体" panose="02010600030101010101" pitchFamily="2" charset="-122"/>
                </a:defRPr>
              </a:lvl1pPr>
              <a:lvl2pPr marL="742950" indent="-285750" defTabSz="330200" eaLnBrk="0" hangingPunct="0">
                <a:tabLst>
                  <a:tab pos="8521700" algn="r"/>
                </a:tabLst>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de-DE" sz="1600">
                  <a:solidFill>
                    <a:srgbClr val="000000"/>
                  </a:solidFill>
                </a:rPr>
                <a:t>Factor 5</a:t>
              </a:r>
              <a:r>
                <a:rPr kumimoji="1" lang="zh-CN" altLang="en-US" sz="1600">
                  <a:solidFill>
                    <a:srgbClr val="000000"/>
                  </a:solidFill>
                </a:rPr>
                <a:t>：既有课程需优化</a:t>
              </a:r>
              <a:endParaRPr kumimoji="1" lang="en-US" altLang="de-DE" sz="1600">
                <a:solidFill>
                  <a:srgbClr val="000000"/>
                </a:solidFill>
              </a:endParaRPr>
            </a:p>
          </p:txBody>
        </p:sp>
        <p:sp>
          <p:nvSpPr>
            <p:cNvPr id="16" name="Rectangle 15"/>
            <p:cNvSpPr>
              <a:spLocks noChangeArrowheads="1"/>
            </p:cNvSpPr>
            <p:nvPr/>
          </p:nvSpPr>
          <p:spPr bwMode="auto">
            <a:xfrm>
              <a:off x="1839202" y="5039926"/>
              <a:ext cx="29638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defTabSz="330200" eaLnBrk="0" hangingPunct="0">
                <a:tabLst>
                  <a:tab pos="8521700" algn="r"/>
                </a:tabLst>
                <a:defRPr>
                  <a:solidFill>
                    <a:schemeClr val="tx1"/>
                  </a:solidFill>
                  <a:latin typeface="Arial" panose="020B0604020202020204" pitchFamily="34" charset="0"/>
                  <a:ea typeface="宋体" panose="02010600030101010101" pitchFamily="2" charset="-122"/>
                </a:defRPr>
              </a:lvl1pPr>
              <a:lvl2pPr marL="742950" indent="-285750" defTabSz="330200" eaLnBrk="0" hangingPunct="0">
                <a:tabLst>
                  <a:tab pos="8521700" algn="r"/>
                </a:tabLst>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de-DE" sz="1600">
                  <a:solidFill>
                    <a:srgbClr val="000000"/>
                  </a:solidFill>
                </a:rPr>
                <a:t>Factor 4</a:t>
              </a:r>
              <a:r>
                <a:rPr kumimoji="1" lang="zh-CN" altLang="en-US" sz="1600">
                  <a:solidFill>
                    <a:srgbClr val="000000"/>
                  </a:solidFill>
                </a:rPr>
                <a:t>：采购课程重内化</a:t>
              </a:r>
              <a:endParaRPr kumimoji="1" lang="en-US" altLang="de-DE" sz="1600">
                <a:solidFill>
                  <a:srgbClr val="000000"/>
                </a:solidFill>
              </a:endParaRPr>
            </a:p>
          </p:txBody>
        </p:sp>
        <p:sp>
          <p:nvSpPr>
            <p:cNvPr id="17" name="Rectangle 16"/>
            <p:cNvSpPr>
              <a:spLocks noChangeArrowheads="1"/>
            </p:cNvSpPr>
            <p:nvPr/>
          </p:nvSpPr>
          <p:spPr bwMode="auto">
            <a:xfrm>
              <a:off x="1855788" y="2235201"/>
              <a:ext cx="29638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defTabSz="330200" eaLnBrk="0" hangingPunct="0">
                <a:tabLst>
                  <a:tab pos="8521700" algn="r"/>
                </a:tabLst>
                <a:defRPr>
                  <a:solidFill>
                    <a:schemeClr val="tx1"/>
                  </a:solidFill>
                  <a:latin typeface="Arial" panose="020B0604020202020204" pitchFamily="34" charset="0"/>
                  <a:ea typeface="宋体" panose="02010600030101010101" pitchFamily="2" charset="-122"/>
                </a:defRPr>
              </a:lvl1pPr>
              <a:lvl2pPr marL="742950" indent="-285750" defTabSz="330200" eaLnBrk="0" hangingPunct="0">
                <a:tabLst>
                  <a:tab pos="8521700" algn="r"/>
                </a:tabLst>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tabLst>
                  <a:tab pos="8521700" algn="r"/>
                </a:tabLst>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tabLst>
                  <a:tab pos="8521700" algn="r"/>
                </a:tabLs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de-DE" sz="1600">
                  <a:solidFill>
                    <a:srgbClr val="000000"/>
                  </a:solidFill>
                </a:rPr>
                <a:t>Factor 6</a:t>
              </a:r>
              <a:r>
                <a:rPr kumimoji="1" lang="zh-CN" altLang="en-US" sz="1600">
                  <a:solidFill>
                    <a:srgbClr val="000000"/>
                  </a:solidFill>
                </a:rPr>
                <a:t>：复杂课程合作化</a:t>
              </a:r>
              <a:endParaRPr kumimoji="1" lang="en-US" altLang="de-DE" sz="1600">
                <a:solidFill>
                  <a:srgbClr val="000000"/>
                </a:solidFill>
              </a:endParaRPr>
            </a:p>
          </p:txBody>
        </p:sp>
      </p:grpSp>
      <p:sp>
        <p:nvSpPr>
          <p:cNvPr id="18" name="标题 1"/>
          <p:cNvSpPr txBox="1"/>
          <p:nvPr/>
        </p:nvSpPr>
        <p:spPr bwMode="auto">
          <a:xfrm>
            <a:off x="755648" y="981322"/>
            <a:ext cx="8561387"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3000"/>
              </a:lnSpc>
            </a:pPr>
            <a:r>
              <a:rPr kumimoji="1" lang="zh-CN" altLang="en-US" sz="2300" b="1" dirty="0">
                <a:solidFill>
                  <a:srgbClr val="000000"/>
                </a:solidFill>
                <a:latin typeface="华文中宋" panose="02010600040101010101" charset="-122"/>
                <a:ea typeface="华文中宋" panose="02010600040101010101" charset="-122"/>
              </a:rPr>
              <a:t>面授课程开发需要确定的</a:t>
            </a:r>
            <a:r>
              <a:rPr kumimoji="1" lang="en-US" altLang="zh-CN" sz="2300" b="1" dirty="0">
                <a:solidFill>
                  <a:srgbClr val="000000"/>
                </a:solidFill>
                <a:latin typeface="华文中宋" panose="02010600040101010101" charset="-122"/>
                <a:ea typeface="华文中宋" panose="02010600040101010101" charset="-122"/>
              </a:rPr>
              <a:t>6</a:t>
            </a:r>
            <a:r>
              <a:rPr kumimoji="1" lang="zh-CN" altLang="en-US" sz="2300" b="1" dirty="0">
                <a:solidFill>
                  <a:srgbClr val="000000"/>
                </a:solidFill>
                <a:latin typeface="华文中宋" panose="02010600040101010101" charset="-122"/>
                <a:ea typeface="华文中宋" panose="02010600040101010101" charset="-122"/>
              </a:rPr>
              <a:t>项原则</a:t>
            </a:r>
          </a:p>
        </p:txBody>
      </p:sp>
      <p:sp>
        <p:nvSpPr>
          <p:cNvPr id="19" name="矩形 18"/>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25</a:t>
            </a:fld>
            <a:endParaRPr lang="zh-CN" altLang="en-US"/>
          </a:p>
        </p:txBody>
      </p:sp>
      <p:sp>
        <p:nvSpPr>
          <p:cNvPr id="3" name="Rectangle 4"/>
          <p:cNvSpPr>
            <a:spLocks noChangeArrowheads="1"/>
          </p:cNvSpPr>
          <p:nvPr/>
        </p:nvSpPr>
        <p:spPr bwMode="auto">
          <a:xfrm>
            <a:off x="760411" y="1049720"/>
            <a:ext cx="8377238"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3000"/>
              </a:lnSpc>
            </a:pPr>
            <a:r>
              <a:rPr kumimoji="1" lang="zh-CN" altLang="en-US" sz="2100" b="1" dirty="0">
                <a:solidFill>
                  <a:srgbClr val="000000"/>
                </a:solidFill>
                <a:latin typeface="华文中宋" panose="02010600040101010101" charset="-122"/>
                <a:ea typeface="华文中宋" panose="02010600040101010101" charset="-122"/>
              </a:rPr>
              <a:t>建议按照课程需求紧迫程度，划定近期、中期和长期开发课程</a:t>
            </a:r>
            <a:endParaRPr kumimoji="1" lang="en-US" altLang="zh-CN" sz="2100" b="1" dirty="0">
              <a:solidFill>
                <a:srgbClr val="000000"/>
              </a:solidFill>
              <a:latin typeface="华文中宋" panose="02010600040101010101" charset="-122"/>
              <a:ea typeface="华文中宋" panose="02010600040101010101" charset="-122"/>
            </a:endParaRPr>
          </a:p>
        </p:txBody>
      </p:sp>
      <p:sp>
        <p:nvSpPr>
          <p:cNvPr id="4" name="Rectangle 44"/>
          <p:cNvSpPr>
            <a:spLocks noChangeArrowheads="1"/>
          </p:cNvSpPr>
          <p:nvPr/>
        </p:nvSpPr>
        <p:spPr bwMode="auto">
          <a:xfrm>
            <a:off x="760412" y="5809045"/>
            <a:ext cx="8569325" cy="421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defTabSz="330200" eaLnBrk="0" hangingPunct="0">
              <a:defRPr>
                <a:solidFill>
                  <a:schemeClr val="tx1"/>
                </a:solidFill>
                <a:latin typeface="Arial" panose="020B0604020202020204" pitchFamily="34" charset="0"/>
                <a:ea typeface="宋体" panose="02010600030101010101" pitchFamily="2" charset="-122"/>
              </a:defRPr>
            </a:lvl1pPr>
            <a:lvl2pPr marL="742950" indent="-285750" defTabSz="330200" eaLnBrk="0" hangingPunct="0">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FontTx/>
              <a:buChar char="•"/>
            </a:pPr>
            <a:r>
              <a:rPr kumimoji="1" lang="zh-CN" altLang="en-US" sz="1200" dirty="0">
                <a:solidFill>
                  <a:srgbClr val="000000"/>
                </a:solidFill>
              </a:rPr>
              <a:t>对两个维度评估结果都为“高”的学习内容建议近期开发，仅一项评估结果为“高”的学习内容建议中期开发，两个维度评估都为“低”的学习内容建议长期开发</a:t>
            </a:r>
            <a:endParaRPr kumimoji="1" lang="en-US" altLang="zh-CN" sz="1200" dirty="0">
              <a:solidFill>
                <a:srgbClr val="000000"/>
              </a:solidFill>
            </a:endParaRPr>
          </a:p>
        </p:txBody>
      </p:sp>
      <p:grpSp>
        <p:nvGrpSpPr>
          <p:cNvPr id="5" name="组合 4"/>
          <p:cNvGrpSpPr/>
          <p:nvPr/>
        </p:nvGrpSpPr>
        <p:grpSpPr>
          <a:xfrm>
            <a:off x="2847975" y="2135570"/>
            <a:ext cx="4210049" cy="3481389"/>
            <a:chOff x="3935414" y="1927225"/>
            <a:chExt cx="4210049" cy="3481389"/>
          </a:xfrm>
        </p:grpSpPr>
        <p:sp>
          <p:nvSpPr>
            <p:cNvPr id="6" name="Line 34"/>
            <p:cNvSpPr>
              <a:spLocks noChangeShapeType="1"/>
            </p:cNvSpPr>
            <p:nvPr/>
          </p:nvSpPr>
          <p:spPr bwMode="auto">
            <a:xfrm>
              <a:off x="4427538" y="4991100"/>
              <a:ext cx="3238500" cy="0"/>
            </a:xfrm>
            <a:prstGeom prst="line">
              <a:avLst/>
            </a:prstGeom>
            <a:noFill/>
            <a:ln w="1905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7" name="Line 35"/>
            <p:cNvSpPr>
              <a:spLocks noChangeShapeType="1"/>
            </p:cNvSpPr>
            <p:nvPr/>
          </p:nvSpPr>
          <p:spPr bwMode="auto">
            <a:xfrm flipV="1">
              <a:off x="4427538" y="2476501"/>
              <a:ext cx="0" cy="2519363"/>
            </a:xfrm>
            <a:prstGeom prst="line">
              <a:avLst/>
            </a:prstGeom>
            <a:noFill/>
            <a:ln w="1905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8" name="Line 36"/>
            <p:cNvSpPr>
              <a:spLocks noChangeShapeType="1"/>
            </p:cNvSpPr>
            <p:nvPr/>
          </p:nvSpPr>
          <p:spPr bwMode="auto">
            <a:xfrm>
              <a:off x="4435475" y="3683000"/>
              <a:ext cx="3130550" cy="0"/>
            </a:xfrm>
            <a:prstGeom prst="line">
              <a:avLst/>
            </a:prstGeom>
            <a:noFill/>
            <a:ln w="190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9" name="Line 37"/>
            <p:cNvSpPr>
              <a:spLocks noChangeShapeType="1"/>
            </p:cNvSpPr>
            <p:nvPr/>
          </p:nvSpPr>
          <p:spPr bwMode="auto">
            <a:xfrm>
              <a:off x="6096000" y="2514600"/>
              <a:ext cx="0" cy="2482850"/>
            </a:xfrm>
            <a:prstGeom prst="line">
              <a:avLst/>
            </a:prstGeom>
            <a:noFill/>
            <a:ln w="190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zh-CN" altLang="en-US"/>
            </a:p>
          </p:txBody>
        </p:sp>
        <p:sp>
          <p:nvSpPr>
            <p:cNvPr id="10" name="Text Box 38"/>
            <p:cNvSpPr txBox="1">
              <a:spLocks noChangeArrowheads="1"/>
            </p:cNvSpPr>
            <p:nvPr/>
          </p:nvSpPr>
          <p:spPr bwMode="auto">
            <a:xfrm>
              <a:off x="5614988" y="5208589"/>
              <a:ext cx="1333500" cy="20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300" b="1">
                  <a:solidFill>
                    <a:srgbClr val="000000"/>
                  </a:solidFill>
                </a:rPr>
                <a:t>业绩提升需求程度</a:t>
              </a:r>
            </a:p>
          </p:txBody>
        </p:sp>
        <p:sp>
          <p:nvSpPr>
            <p:cNvPr id="11" name="Text Box 39"/>
            <p:cNvSpPr txBox="1">
              <a:spLocks noChangeArrowheads="1"/>
            </p:cNvSpPr>
            <p:nvPr/>
          </p:nvSpPr>
          <p:spPr bwMode="auto">
            <a:xfrm>
              <a:off x="4168775" y="5087939"/>
              <a:ext cx="1651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300" b="1">
                  <a:solidFill>
                    <a:srgbClr val="000000"/>
                  </a:solidFill>
                </a:rPr>
                <a:t>低</a:t>
              </a:r>
            </a:p>
          </p:txBody>
        </p:sp>
        <p:sp>
          <p:nvSpPr>
            <p:cNvPr id="12" name="Text Box 40"/>
            <p:cNvSpPr txBox="1">
              <a:spLocks noChangeArrowheads="1"/>
            </p:cNvSpPr>
            <p:nvPr/>
          </p:nvSpPr>
          <p:spPr bwMode="auto">
            <a:xfrm>
              <a:off x="7445375" y="5087939"/>
              <a:ext cx="1651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300" b="1">
                  <a:solidFill>
                    <a:srgbClr val="000000"/>
                  </a:solidFill>
                </a:rPr>
                <a:t>高</a:t>
              </a:r>
            </a:p>
          </p:txBody>
        </p:sp>
        <p:sp>
          <p:nvSpPr>
            <p:cNvPr id="13" name="Text Box 41"/>
            <p:cNvSpPr txBox="1">
              <a:spLocks noChangeArrowheads="1"/>
            </p:cNvSpPr>
            <p:nvPr/>
          </p:nvSpPr>
          <p:spPr bwMode="auto">
            <a:xfrm>
              <a:off x="4156075" y="2547939"/>
              <a:ext cx="165100"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300" b="1">
                  <a:solidFill>
                    <a:srgbClr val="000000"/>
                  </a:solidFill>
                </a:rPr>
                <a:t>高</a:t>
              </a:r>
            </a:p>
          </p:txBody>
        </p:sp>
        <p:sp>
          <p:nvSpPr>
            <p:cNvPr id="14" name="Text Box 42"/>
            <p:cNvSpPr txBox="1">
              <a:spLocks noChangeArrowheads="1"/>
            </p:cNvSpPr>
            <p:nvPr/>
          </p:nvSpPr>
          <p:spPr bwMode="auto">
            <a:xfrm>
              <a:off x="3992534" y="3394075"/>
              <a:ext cx="200055" cy="1333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300" b="1">
                  <a:solidFill>
                    <a:srgbClr val="000000"/>
                  </a:solidFill>
                </a:rPr>
                <a:t>能力发展缺失程度</a:t>
              </a:r>
            </a:p>
          </p:txBody>
        </p:sp>
        <p:sp>
          <p:nvSpPr>
            <p:cNvPr id="15" name="Line 43"/>
            <p:cNvSpPr>
              <a:spLocks noChangeShapeType="1"/>
            </p:cNvSpPr>
            <p:nvPr/>
          </p:nvSpPr>
          <p:spPr bwMode="auto">
            <a:xfrm>
              <a:off x="3935414" y="2209800"/>
              <a:ext cx="3959225" cy="0"/>
            </a:xfrm>
            <a:prstGeom prst="line">
              <a:avLst/>
            </a:prstGeom>
            <a:noFill/>
            <a:ln w="2222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16" name="Rectangle 45"/>
            <p:cNvSpPr>
              <a:spLocks noChangeArrowheads="1"/>
            </p:cNvSpPr>
            <p:nvPr/>
          </p:nvSpPr>
          <p:spPr bwMode="auto">
            <a:xfrm>
              <a:off x="4017963" y="1927225"/>
              <a:ext cx="41275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330200" eaLnBrk="0" hangingPunct="0">
                <a:defRPr>
                  <a:solidFill>
                    <a:schemeClr val="tx1"/>
                  </a:solidFill>
                  <a:latin typeface="Arial" panose="020B0604020202020204" pitchFamily="34" charset="0"/>
                  <a:ea typeface="宋体" panose="02010600030101010101" pitchFamily="2" charset="-122"/>
                </a:defRPr>
              </a:lvl1pPr>
              <a:lvl2pPr marL="742950" indent="-285750" defTabSz="330200" eaLnBrk="0" hangingPunct="0">
                <a:defRPr>
                  <a:solidFill>
                    <a:schemeClr val="tx1"/>
                  </a:solidFill>
                  <a:latin typeface="Arial" panose="020B0604020202020204" pitchFamily="34" charset="0"/>
                  <a:ea typeface="宋体" panose="02010600030101010101" pitchFamily="2" charset="-122"/>
                </a:defRPr>
              </a:lvl2pPr>
              <a:lvl3pPr marL="1143000" indent="-228600" defTabSz="330200" eaLnBrk="0" hangingPunct="0">
                <a:defRPr>
                  <a:solidFill>
                    <a:schemeClr val="tx1"/>
                  </a:solidFill>
                  <a:latin typeface="Arial" panose="020B0604020202020204" pitchFamily="34" charset="0"/>
                  <a:ea typeface="宋体" panose="02010600030101010101" pitchFamily="2" charset="-122"/>
                </a:defRPr>
              </a:lvl3pPr>
              <a:lvl4pPr marL="1600200" indent="-228600" defTabSz="330200" eaLnBrk="0" hangingPunct="0">
                <a:defRPr>
                  <a:solidFill>
                    <a:schemeClr val="tx1"/>
                  </a:solidFill>
                  <a:latin typeface="Arial" panose="020B0604020202020204" pitchFamily="34" charset="0"/>
                  <a:ea typeface="宋体" panose="02010600030101010101" pitchFamily="2" charset="-122"/>
                </a:defRPr>
              </a:lvl4pPr>
              <a:lvl5pPr marL="2057400" indent="-228600" defTabSz="330200" eaLnBrk="0" hangingPunct="0">
                <a:defRPr>
                  <a:solidFill>
                    <a:schemeClr val="tx1"/>
                  </a:solidFill>
                  <a:latin typeface="Arial" panose="020B0604020202020204" pitchFamily="34" charset="0"/>
                  <a:ea typeface="宋体" panose="02010600030101010101" pitchFamily="2" charset="-122"/>
                </a:defRPr>
              </a:lvl5pPr>
              <a:lvl6pPr marL="25146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330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400" b="1">
                  <a:solidFill>
                    <a:srgbClr val="000000"/>
                  </a:solidFill>
                </a:rPr>
                <a:t>课程需求紧迫程度的入选标准</a:t>
              </a:r>
            </a:p>
          </p:txBody>
        </p:sp>
        <p:sp>
          <p:nvSpPr>
            <p:cNvPr id="17" name="椭圆 16"/>
            <p:cNvSpPr/>
            <p:nvPr/>
          </p:nvSpPr>
          <p:spPr bwMode="auto">
            <a:xfrm>
              <a:off x="6342063" y="2830514"/>
              <a:ext cx="1268412" cy="466725"/>
            </a:xfrm>
            <a:prstGeom prst="ellipse">
              <a:avLst/>
            </a:prstGeom>
            <a:solidFill>
              <a:schemeClr val="accent1"/>
            </a:solidFill>
            <a:ln w="9525" cap="flat" cmpd="sng" algn="ctr">
              <a:solidFill>
                <a:schemeClr val="bg2">
                  <a:lumMod val="75000"/>
                </a:schemeClr>
              </a:solidFill>
              <a:prstDash val="dash"/>
              <a:round/>
              <a:headEnd type="none" w="med" len="med"/>
              <a:tailEnd type="none" w="med" len="med"/>
            </a:ln>
            <a:effec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solidFill>
                    <a:srgbClr val="000000"/>
                  </a:solidFill>
                </a:rPr>
                <a:t>近期开发</a:t>
              </a:r>
            </a:p>
          </p:txBody>
        </p:sp>
        <p:sp>
          <p:nvSpPr>
            <p:cNvPr id="18" name="椭圆 17"/>
            <p:cNvSpPr/>
            <p:nvPr/>
          </p:nvSpPr>
          <p:spPr bwMode="auto">
            <a:xfrm>
              <a:off x="4659313" y="2860676"/>
              <a:ext cx="1268412" cy="466725"/>
            </a:xfrm>
            <a:prstGeom prst="ellipse">
              <a:avLst/>
            </a:prstGeom>
            <a:solidFill>
              <a:schemeClr val="accent1"/>
            </a:solidFill>
            <a:ln w="9525" cap="flat" cmpd="sng" algn="ctr">
              <a:solidFill>
                <a:schemeClr val="bg2">
                  <a:lumMod val="75000"/>
                </a:schemeClr>
              </a:solidFill>
              <a:prstDash val="dash"/>
              <a:round/>
              <a:headEnd type="none" w="med" len="med"/>
              <a:tailEnd type="none" w="med" len="med"/>
            </a:ln>
            <a:effec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solidFill>
                    <a:srgbClr val="000000"/>
                  </a:solidFill>
                </a:rPr>
                <a:t>中期开发</a:t>
              </a:r>
            </a:p>
          </p:txBody>
        </p:sp>
        <p:sp>
          <p:nvSpPr>
            <p:cNvPr id="19" name="椭圆 18"/>
            <p:cNvSpPr/>
            <p:nvPr/>
          </p:nvSpPr>
          <p:spPr bwMode="auto">
            <a:xfrm>
              <a:off x="6342063" y="3995739"/>
              <a:ext cx="1268412" cy="466725"/>
            </a:xfrm>
            <a:prstGeom prst="ellipse">
              <a:avLst/>
            </a:prstGeom>
            <a:solidFill>
              <a:schemeClr val="accent1"/>
            </a:solidFill>
            <a:ln w="9525" cap="flat" cmpd="sng" algn="ctr">
              <a:solidFill>
                <a:schemeClr val="bg2">
                  <a:lumMod val="75000"/>
                </a:schemeClr>
              </a:solidFill>
              <a:prstDash val="dash"/>
              <a:round/>
              <a:headEnd type="none" w="med" len="med"/>
              <a:tailEnd type="none" w="med" len="med"/>
            </a:ln>
            <a:effec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solidFill>
                    <a:srgbClr val="000000"/>
                  </a:solidFill>
                </a:rPr>
                <a:t>中期开发</a:t>
              </a:r>
            </a:p>
          </p:txBody>
        </p:sp>
        <p:sp>
          <p:nvSpPr>
            <p:cNvPr id="20" name="椭圆 19"/>
            <p:cNvSpPr/>
            <p:nvPr/>
          </p:nvSpPr>
          <p:spPr bwMode="auto">
            <a:xfrm>
              <a:off x="4659313" y="4025901"/>
              <a:ext cx="1268412" cy="466725"/>
            </a:xfrm>
            <a:prstGeom prst="ellipse">
              <a:avLst/>
            </a:prstGeom>
            <a:solidFill>
              <a:schemeClr val="accent1"/>
            </a:solidFill>
            <a:ln w="9525" cap="flat" cmpd="sng" algn="ctr">
              <a:solidFill>
                <a:schemeClr val="bg2">
                  <a:lumMod val="75000"/>
                </a:schemeClr>
              </a:solidFill>
              <a:prstDash val="dash"/>
              <a:round/>
              <a:headEnd type="none" w="med" len="med"/>
              <a:tailEnd type="none" w="med" len="med"/>
            </a:ln>
            <a:effec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solidFill>
                    <a:srgbClr val="000000"/>
                  </a:solidFill>
                </a:rPr>
                <a:t>长期开发</a:t>
              </a:r>
            </a:p>
          </p:txBody>
        </p:sp>
      </p:grpSp>
      <p:sp>
        <p:nvSpPr>
          <p:cNvPr id="21" name="矩形 20"/>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26</a:t>
            </a:fld>
            <a:endParaRPr lang="zh-CN" altLang="en-US"/>
          </a:p>
        </p:txBody>
      </p:sp>
      <p:sp>
        <p:nvSpPr>
          <p:cNvPr id="3" name="标题 1"/>
          <p:cNvSpPr/>
          <p:nvPr/>
        </p:nvSpPr>
        <p:spPr bwMode="auto">
          <a:xfrm>
            <a:off x="651196" y="1046424"/>
            <a:ext cx="8730929"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3000"/>
              </a:lnSpc>
            </a:pPr>
            <a:r>
              <a:rPr kumimoji="1" lang="zh-CN" altLang="en-US" sz="2100" b="1" dirty="0">
                <a:solidFill>
                  <a:srgbClr val="000000"/>
                </a:solidFill>
                <a:latin typeface="华文中宋" panose="02010600040101010101" charset="-122"/>
                <a:ea typeface="华文中宋" panose="02010600040101010101" charset="-122"/>
              </a:rPr>
              <a:t>综合考虑课程开发的难易、相应资源的支撑程度，确定课程来源及课程开发计划</a:t>
            </a:r>
          </a:p>
        </p:txBody>
      </p:sp>
      <p:grpSp>
        <p:nvGrpSpPr>
          <p:cNvPr id="4" name="组合 3"/>
          <p:cNvGrpSpPr/>
          <p:nvPr/>
        </p:nvGrpSpPr>
        <p:grpSpPr>
          <a:xfrm>
            <a:off x="815340" y="2043958"/>
            <a:ext cx="8402639" cy="4197349"/>
            <a:chOff x="2019300" y="1824039"/>
            <a:chExt cx="8402639" cy="4197349"/>
          </a:xfrm>
        </p:grpSpPr>
        <p:sp>
          <p:nvSpPr>
            <p:cNvPr id="5" name="Rectangle 5"/>
            <p:cNvSpPr>
              <a:spLocks noChangeArrowheads="1"/>
            </p:cNvSpPr>
            <p:nvPr/>
          </p:nvSpPr>
          <p:spPr bwMode="auto">
            <a:xfrm>
              <a:off x="2071688" y="3894139"/>
              <a:ext cx="842962" cy="585787"/>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lIns="0" tIns="0" rIns="0" bIns="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300" b="1">
                  <a:solidFill>
                    <a:srgbClr val="000000"/>
                  </a:solidFill>
                </a:rPr>
                <a:t>待开发</a:t>
              </a:r>
            </a:p>
            <a:p>
              <a:pPr algn="ctr"/>
              <a:r>
                <a:rPr lang="zh-CN" altLang="en-US" sz="1300" b="1">
                  <a:solidFill>
                    <a:srgbClr val="000000"/>
                  </a:solidFill>
                </a:rPr>
                <a:t>课程</a:t>
              </a:r>
            </a:p>
          </p:txBody>
        </p:sp>
        <p:sp>
          <p:nvSpPr>
            <p:cNvPr id="6" name="Rectangle 6"/>
            <p:cNvSpPr>
              <a:spLocks noChangeArrowheads="1"/>
            </p:cNvSpPr>
            <p:nvPr/>
          </p:nvSpPr>
          <p:spPr bwMode="auto">
            <a:xfrm>
              <a:off x="2019300" y="1838325"/>
              <a:ext cx="7699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a:latin typeface="宋体" panose="02010600030101010101" pitchFamily="2" charset="-122"/>
                </a:rPr>
                <a:t>选择标准：</a:t>
              </a:r>
              <a:endParaRPr lang="zh-CN" altLang="en-US" sz="1300" b="1"/>
            </a:p>
          </p:txBody>
        </p:sp>
        <p:sp>
          <p:nvSpPr>
            <p:cNvPr id="7" name="Rectangle 7"/>
            <p:cNvSpPr>
              <a:spLocks noChangeArrowheads="1"/>
            </p:cNvSpPr>
            <p:nvPr/>
          </p:nvSpPr>
          <p:spPr bwMode="auto">
            <a:xfrm>
              <a:off x="4732338" y="1838325"/>
              <a:ext cx="12319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a:latin typeface="宋体" panose="02010600030101010101" pitchFamily="2" charset="-122"/>
                </a:rPr>
                <a:t>内容开发复杂程度</a:t>
              </a:r>
              <a:endParaRPr lang="zh-CN" altLang="en-US" sz="1300" b="1"/>
            </a:p>
          </p:txBody>
        </p:sp>
        <p:sp>
          <p:nvSpPr>
            <p:cNvPr id="8" name="Rectangle 8"/>
            <p:cNvSpPr>
              <a:spLocks noChangeArrowheads="1"/>
            </p:cNvSpPr>
            <p:nvPr/>
          </p:nvSpPr>
          <p:spPr bwMode="auto">
            <a:xfrm>
              <a:off x="6024563" y="1838325"/>
              <a:ext cx="13081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a:latin typeface="宋体" panose="02010600030101010101" pitchFamily="2" charset="-122"/>
                </a:rPr>
                <a:t> 外部资源支持程度</a:t>
              </a:r>
              <a:endParaRPr lang="zh-CN" altLang="en-US" sz="1300" b="1"/>
            </a:p>
          </p:txBody>
        </p:sp>
        <p:sp>
          <p:nvSpPr>
            <p:cNvPr id="9" name="Rectangle 9"/>
            <p:cNvSpPr>
              <a:spLocks noChangeArrowheads="1"/>
            </p:cNvSpPr>
            <p:nvPr/>
          </p:nvSpPr>
          <p:spPr bwMode="auto">
            <a:xfrm>
              <a:off x="3249613" y="1838325"/>
              <a:ext cx="13843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a:latin typeface="宋体" panose="02010600030101010101" pitchFamily="2" charset="-122"/>
                </a:rPr>
                <a:t>课程需求急迫程度：</a:t>
              </a:r>
              <a:endParaRPr lang="zh-CN" altLang="en-US" sz="1300" b="1"/>
            </a:p>
          </p:txBody>
        </p:sp>
        <p:sp>
          <p:nvSpPr>
            <p:cNvPr id="10" name="Rectangle 10"/>
            <p:cNvSpPr>
              <a:spLocks noChangeArrowheads="1"/>
            </p:cNvSpPr>
            <p:nvPr/>
          </p:nvSpPr>
          <p:spPr bwMode="auto">
            <a:xfrm>
              <a:off x="3516313" y="2995614"/>
              <a:ext cx="842962" cy="414337"/>
            </a:xfrm>
            <a:prstGeom prst="rect">
              <a:avLst/>
            </a:prstGeom>
            <a:solidFill>
              <a:schemeClr val="hlink"/>
            </a:solidFill>
            <a:ln w="9525">
              <a:solidFill>
                <a:schemeClr val="hlink"/>
              </a:solidFill>
              <a:miter lim="800000"/>
            </a:ln>
            <a:effectLst>
              <a:prstShdw prst="shdw17" dist="17961" dir="2700000">
                <a:schemeClr val="hlink">
                  <a:gamma/>
                  <a:shade val="60000"/>
                  <a:invGamma/>
                </a:schemeClr>
              </a:prstShdw>
            </a:effectLst>
          </p:spPr>
          <p:txBody>
            <a:bodyPr wrap="none" lIns="0" tIns="0" rIns="0" bIns="0" anchor="ctr"/>
            <a:lstStyle/>
            <a:p>
              <a:pPr algn="ctr" eaLnBrk="0" hangingPunct="0">
                <a:defRPr/>
              </a:pPr>
              <a:r>
                <a:rPr lang="zh-CN" altLang="en-US" sz="1300" b="1">
                  <a:solidFill>
                    <a:srgbClr val="FFFFFF"/>
                  </a:solidFill>
                  <a:latin typeface="Arial" panose="020B0604020202020204" pitchFamily="34" charset="0"/>
                </a:rPr>
                <a:t>高</a:t>
              </a:r>
            </a:p>
          </p:txBody>
        </p:sp>
        <p:sp>
          <p:nvSpPr>
            <p:cNvPr id="11" name="Rectangle 11"/>
            <p:cNvSpPr>
              <a:spLocks noChangeArrowheads="1"/>
            </p:cNvSpPr>
            <p:nvPr/>
          </p:nvSpPr>
          <p:spPr bwMode="auto">
            <a:xfrm>
              <a:off x="3559176" y="4968875"/>
              <a:ext cx="842963" cy="414338"/>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hlink"/>
                  </a:solidFill>
                </a14:hiddenFill>
              </a:ext>
            </a:extLst>
          </p:spPr>
          <p:txBody>
            <a:bodyPr wrap="none" lIns="0" tIns="0" rIns="0" bIns="0" anchor="ctr"/>
            <a:lstStyle/>
            <a:p>
              <a:pPr algn="ctr" eaLnBrk="0" hangingPunct="0">
                <a:defRPr/>
              </a:pPr>
              <a:r>
                <a:rPr lang="zh-CN" altLang="en-US" sz="1300" b="1">
                  <a:solidFill>
                    <a:srgbClr val="000000"/>
                  </a:solidFill>
                  <a:latin typeface="Arial" panose="020B0604020202020204" pitchFamily="34" charset="0"/>
                </a:rPr>
                <a:t>低</a:t>
              </a:r>
            </a:p>
          </p:txBody>
        </p:sp>
        <p:sp>
          <p:nvSpPr>
            <p:cNvPr id="12" name="Rectangle 12"/>
            <p:cNvSpPr>
              <a:spLocks noChangeArrowheads="1"/>
            </p:cNvSpPr>
            <p:nvPr/>
          </p:nvSpPr>
          <p:spPr bwMode="auto">
            <a:xfrm>
              <a:off x="4775201" y="2397126"/>
              <a:ext cx="842963" cy="371475"/>
            </a:xfrm>
            <a:prstGeom prst="rect">
              <a:avLst/>
            </a:prstGeom>
            <a:solidFill>
              <a:schemeClr val="hlink"/>
            </a:solidFill>
            <a:ln w="9525">
              <a:solidFill>
                <a:schemeClr val="hlink"/>
              </a:solidFill>
              <a:miter lim="800000"/>
            </a:ln>
            <a:effectLst>
              <a:prstShdw prst="shdw17" dist="17961" dir="2700000">
                <a:schemeClr val="hlink">
                  <a:gamma/>
                  <a:shade val="60000"/>
                  <a:invGamma/>
                </a:schemeClr>
              </a:prstShdw>
            </a:effectLst>
          </p:spPr>
          <p:txBody>
            <a:bodyPr wrap="none" lIns="0" tIns="0" rIns="0" bIns="0" anchor="ctr"/>
            <a:lstStyle/>
            <a:p>
              <a:pPr algn="ctr" eaLnBrk="0" hangingPunct="0">
                <a:defRPr/>
              </a:pPr>
              <a:r>
                <a:rPr lang="zh-CN" altLang="en-US" sz="1300" b="1">
                  <a:solidFill>
                    <a:srgbClr val="FFFFFF"/>
                  </a:solidFill>
                  <a:latin typeface="Arial" panose="020B0604020202020204" pitchFamily="34" charset="0"/>
                </a:rPr>
                <a:t>高</a:t>
              </a:r>
            </a:p>
          </p:txBody>
        </p:sp>
        <p:sp>
          <p:nvSpPr>
            <p:cNvPr id="13" name="Rectangle 13"/>
            <p:cNvSpPr>
              <a:spLocks noChangeArrowheads="1"/>
            </p:cNvSpPr>
            <p:nvPr/>
          </p:nvSpPr>
          <p:spPr bwMode="auto">
            <a:xfrm>
              <a:off x="4775201" y="4368800"/>
              <a:ext cx="842963" cy="414338"/>
            </a:xfrm>
            <a:prstGeom prst="rect">
              <a:avLst/>
            </a:prstGeom>
            <a:solidFill>
              <a:schemeClr val="hlink"/>
            </a:solidFill>
            <a:ln w="9525">
              <a:solidFill>
                <a:schemeClr val="hlink"/>
              </a:solidFill>
              <a:miter lim="800000"/>
            </a:ln>
            <a:effectLst>
              <a:prstShdw prst="shdw17" dist="17961" dir="2700000">
                <a:schemeClr val="hlink">
                  <a:gamma/>
                  <a:shade val="60000"/>
                  <a:invGamma/>
                </a:schemeClr>
              </a:prstShdw>
            </a:effectLst>
          </p:spPr>
          <p:txBody>
            <a:bodyPr wrap="none" lIns="0" tIns="0" rIns="0" bIns="0" anchor="ctr"/>
            <a:lstStyle/>
            <a:p>
              <a:pPr algn="ctr" eaLnBrk="0" hangingPunct="0">
                <a:defRPr/>
              </a:pPr>
              <a:r>
                <a:rPr lang="zh-CN" altLang="en-US" sz="1300" b="1">
                  <a:solidFill>
                    <a:srgbClr val="FFFFFF"/>
                  </a:solidFill>
                  <a:latin typeface="Arial" panose="020B0604020202020204" pitchFamily="34" charset="0"/>
                </a:rPr>
                <a:t>高</a:t>
              </a:r>
            </a:p>
          </p:txBody>
        </p:sp>
        <p:sp>
          <p:nvSpPr>
            <p:cNvPr id="14" name="Rectangle 14"/>
            <p:cNvSpPr>
              <a:spLocks noChangeArrowheads="1"/>
            </p:cNvSpPr>
            <p:nvPr/>
          </p:nvSpPr>
          <p:spPr bwMode="auto">
            <a:xfrm>
              <a:off x="6319838" y="2227264"/>
              <a:ext cx="842962" cy="314325"/>
            </a:xfrm>
            <a:prstGeom prst="rect">
              <a:avLst/>
            </a:prstGeom>
            <a:solidFill>
              <a:schemeClr val="hlink"/>
            </a:solidFill>
            <a:ln w="9525">
              <a:solidFill>
                <a:schemeClr val="hlink"/>
              </a:solidFill>
              <a:miter lim="800000"/>
            </a:ln>
            <a:effectLst>
              <a:prstShdw prst="shdw17" dist="17961" dir="2700000">
                <a:schemeClr val="hlink">
                  <a:gamma/>
                  <a:shade val="60000"/>
                  <a:invGamma/>
                </a:schemeClr>
              </a:prstShdw>
            </a:effectLst>
          </p:spPr>
          <p:txBody>
            <a:bodyPr wrap="none" lIns="0" tIns="0" rIns="0" bIns="0" anchor="ctr"/>
            <a:lstStyle/>
            <a:p>
              <a:pPr algn="ctr" eaLnBrk="0" hangingPunct="0">
                <a:defRPr/>
              </a:pPr>
              <a:r>
                <a:rPr lang="zh-CN" altLang="en-US" sz="1300" b="1">
                  <a:solidFill>
                    <a:srgbClr val="FFFFFF"/>
                  </a:solidFill>
                  <a:latin typeface="Arial" panose="020B0604020202020204" pitchFamily="34" charset="0"/>
                </a:rPr>
                <a:t>高</a:t>
              </a:r>
            </a:p>
          </p:txBody>
        </p:sp>
        <p:sp>
          <p:nvSpPr>
            <p:cNvPr id="15" name="Rectangle 15"/>
            <p:cNvSpPr>
              <a:spLocks noChangeArrowheads="1"/>
            </p:cNvSpPr>
            <p:nvPr/>
          </p:nvSpPr>
          <p:spPr bwMode="auto">
            <a:xfrm>
              <a:off x="7854950" y="1838325"/>
              <a:ext cx="61595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a:latin typeface="宋体" panose="02010600030101010101" pitchFamily="2" charset="-122"/>
                </a:rPr>
                <a:t>课程来源</a:t>
              </a:r>
              <a:endParaRPr lang="zh-CN" altLang="en-US" sz="1300" b="1"/>
            </a:p>
          </p:txBody>
        </p:sp>
        <p:sp>
          <p:nvSpPr>
            <p:cNvPr id="16" name="Rectangle 16"/>
            <p:cNvSpPr>
              <a:spLocks noChangeArrowheads="1"/>
            </p:cNvSpPr>
            <p:nvPr/>
          </p:nvSpPr>
          <p:spPr bwMode="auto">
            <a:xfrm>
              <a:off x="9356726" y="1824039"/>
              <a:ext cx="923925"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200" b="1">
                  <a:latin typeface="宋体" panose="02010600030101010101" pitchFamily="2" charset="-122"/>
                </a:rPr>
                <a:t>课程开发计划</a:t>
              </a:r>
              <a:endParaRPr lang="zh-CN" altLang="en-US" sz="1300" b="1"/>
            </a:p>
          </p:txBody>
        </p:sp>
        <p:sp>
          <p:nvSpPr>
            <p:cNvPr id="17" name="Rectangle 17"/>
            <p:cNvSpPr>
              <a:spLocks noChangeArrowheads="1"/>
            </p:cNvSpPr>
            <p:nvPr/>
          </p:nvSpPr>
          <p:spPr bwMode="auto">
            <a:xfrm>
              <a:off x="6319838" y="2684464"/>
              <a:ext cx="842962" cy="314325"/>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hlink"/>
                  </a:solidFill>
                </a14:hiddenFill>
              </a:ext>
            </a:extLst>
          </p:spPr>
          <p:txBody>
            <a:bodyPr wrap="none" lIns="0" tIns="0" rIns="0" bIns="0" anchor="ctr"/>
            <a:lstStyle/>
            <a:p>
              <a:pPr algn="ctr" eaLnBrk="0" hangingPunct="0">
                <a:defRPr/>
              </a:pPr>
              <a:r>
                <a:rPr lang="zh-CN" altLang="en-US" sz="1300" b="1">
                  <a:solidFill>
                    <a:srgbClr val="000000"/>
                  </a:solidFill>
                  <a:latin typeface="Arial" panose="020B0604020202020204" pitchFamily="34" charset="0"/>
                </a:rPr>
                <a:t>低</a:t>
              </a:r>
            </a:p>
          </p:txBody>
        </p:sp>
        <p:sp>
          <p:nvSpPr>
            <p:cNvPr id="18" name="Rectangle 18"/>
            <p:cNvSpPr>
              <a:spLocks noChangeArrowheads="1"/>
            </p:cNvSpPr>
            <p:nvPr/>
          </p:nvSpPr>
          <p:spPr bwMode="auto">
            <a:xfrm>
              <a:off x="6307138" y="3228976"/>
              <a:ext cx="842962" cy="314325"/>
            </a:xfrm>
            <a:prstGeom prst="rect">
              <a:avLst/>
            </a:prstGeom>
            <a:solidFill>
              <a:schemeClr val="hlink"/>
            </a:solidFill>
            <a:ln w="9525">
              <a:solidFill>
                <a:schemeClr val="hlink"/>
              </a:solidFill>
              <a:miter lim="800000"/>
            </a:ln>
            <a:effectLst>
              <a:prstShdw prst="shdw17" dist="17961" dir="2700000">
                <a:schemeClr val="hlink">
                  <a:gamma/>
                  <a:shade val="60000"/>
                  <a:invGamma/>
                </a:schemeClr>
              </a:prstShdw>
            </a:effectLst>
          </p:spPr>
          <p:txBody>
            <a:bodyPr wrap="none" lIns="0" tIns="0" rIns="0" bIns="0" anchor="ctr"/>
            <a:lstStyle/>
            <a:p>
              <a:pPr algn="ctr" eaLnBrk="0" hangingPunct="0">
                <a:defRPr/>
              </a:pPr>
              <a:r>
                <a:rPr lang="zh-CN" altLang="en-US" sz="1300" b="1">
                  <a:solidFill>
                    <a:srgbClr val="FFFFFF"/>
                  </a:solidFill>
                  <a:latin typeface="Arial" panose="020B0604020202020204" pitchFamily="34" charset="0"/>
                </a:rPr>
                <a:t>高</a:t>
              </a:r>
            </a:p>
          </p:txBody>
        </p:sp>
        <p:sp>
          <p:nvSpPr>
            <p:cNvPr id="19" name="Rectangle 19"/>
            <p:cNvSpPr>
              <a:spLocks noChangeArrowheads="1"/>
            </p:cNvSpPr>
            <p:nvPr/>
          </p:nvSpPr>
          <p:spPr bwMode="auto">
            <a:xfrm>
              <a:off x="6307138" y="3729039"/>
              <a:ext cx="842962" cy="314325"/>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hlink"/>
                  </a:solidFill>
                </a14:hiddenFill>
              </a:ext>
            </a:extLst>
          </p:spPr>
          <p:txBody>
            <a:bodyPr wrap="none" lIns="0" tIns="0" rIns="0" bIns="0" anchor="ctr"/>
            <a:lstStyle/>
            <a:p>
              <a:pPr algn="ctr" eaLnBrk="0" hangingPunct="0">
                <a:defRPr/>
              </a:pPr>
              <a:r>
                <a:rPr lang="zh-CN" altLang="en-US" sz="1300" b="1">
                  <a:solidFill>
                    <a:srgbClr val="000000"/>
                  </a:solidFill>
                  <a:latin typeface="Arial" panose="020B0604020202020204" pitchFamily="34" charset="0"/>
                </a:rPr>
                <a:t>低</a:t>
              </a:r>
            </a:p>
          </p:txBody>
        </p:sp>
        <p:sp>
          <p:nvSpPr>
            <p:cNvPr id="20" name="Rectangle 20"/>
            <p:cNvSpPr>
              <a:spLocks noChangeArrowheads="1"/>
            </p:cNvSpPr>
            <p:nvPr/>
          </p:nvSpPr>
          <p:spPr bwMode="auto">
            <a:xfrm>
              <a:off x="4775201" y="3484564"/>
              <a:ext cx="842963" cy="414337"/>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hlink"/>
                  </a:solidFill>
                </a14:hiddenFill>
              </a:ext>
            </a:extLst>
          </p:spPr>
          <p:txBody>
            <a:bodyPr wrap="none" lIns="0" tIns="0" rIns="0" bIns="0" anchor="ctr"/>
            <a:lstStyle/>
            <a:p>
              <a:pPr algn="ctr" eaLnBrk="0" hangingPunct="0">
                <a:defRPr/>
              </a:pPr>
              <a:r>
                <a:rPr lang="zh-CN" altLang="en-US" sz="1300" b="1">
                  <a:solidFill>
                    <a:srgbClr val="000000"/>
                  </a:solidFill>
                  <a:latin typeface="Arial" panose="020B0604020202020204" pitchFamily="34" charset="0"/>
                </a:rPr>
                <a:t>低</a:t>
              </a:r>
            </a:p>
          </p:txBody>
        </p:sp>
        <p:sp>
          <p:nvSpPr>
            <p:cNvPr id="21" name="Rectangle 21"/>
            <p:cNvSpPr>
              <a:spLocks noChangeArrowheads="1"/>
            </p:cNvSpPr>
            <p:nvPr/>
          </p:nvSpPr>
          <p:spPr bwMode="auto">
            <a:xfrm>
              <a:off x="4775201" y="5413375"/>
              <a:ext cx="842963" cy="414338"/>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hlink"/>
                  </a:solidFill>
                </a14:hiddenFill>
              </a:ext>
            </a:extLst>
          </p:spPr>
          <p:txBody>
            <a:bodyPr wrap="none" lIns="0" tIns="0" rIns="0" bIns="0" anchor="ctr"/>
            <a:lstStyle/>
            <a:p>
              <a:pPr algn="ctr" eaLnBrk="0" hangingPunct="0">
                <a:defRPr/>
              </a:pPr>
              <a:r>
                <a:rPr lang="zh-CN" altLang="en-US" sz="1300" b="1">
                  <a:solidFill>
                    <a:srgbClr val="000000"/>
                  </a:solidFill>
                  <a:latin typeface="Arial" panose="020B0604020202020204" pitchFamily="34" charset="0"/>
                </a:rPr>
                <a:t>低</a:t>
              </a:r>
            </a:p>
          </p:txBody>
        </p:sp>
        <p:cxnSp>
          <p:nvCxnSpPr>
            <p:cNvPr id="22" name="AutoShape 22"/>
            <p:cNvCxnSpPr>
              <a:cxnSpLocks noChangeShapeType="1"/>
              <a:stCxn id="5" idx="3"/>
              <a:endCxn id="10" idx="1"/>
            </p:cNvCxnSpPr>
            <p:nvPr/>
          </p:nvCxnSpPr>
          <p:spPr bwMode="auto">
            <a:xfrm flipV="1">
              <a:off x="2914651" y="3203575"/>
              <a:ext cx="601663" cy="984250"/>
            </a:xfrm>
            <a:prstGeom prst="bentConnector3">
              <a:avLst>
                <a:gd name="adj1" fmla="val 49870"/>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3" name="AutoShape 23"/>
            <p:cNvCxnSpPr>
              <a:cxnSpLocks noChangeShapeType="1"/>
            </p:cNvCxnSpPr>
            <p:nvPr/>
          </p:nvCxnSpPr>
          <p:spPr bwMode="auto">
            <a:xfrm>
              <a:off x="2886076" y="4187826"/>
              <a:ext cx="644525" cy="989013"/>
            </a:xfrm>
            <a:prstGeom prst="bentConnector3">
              <a:avLst>
                <a:gd name="adj1" fmla="val 49755"/>
              </a:avLst>
            </a:prstGeom>
            <a:noFill/>
            <a:ln w="635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4" name="AutoShape 24"/>
            <p:cNvCxnSpPr>
              <a:cxnSpLocks noChangeShapeType="1"/>
              <a:stCxn id="10" idx="3"/>
              <a:endCxn id="12" idx="1"/>
            </p:cNvCxnSpPr>
            <p:nvPr/>
          </p:nvCxnSpPr>
          <p:spPr bwMode="auto">
            <a:xfrm flipV="1">
              <a:off x="4359276" y="2582863"/>
              <a:ext cx="415925" cy="620712"/>
            </a:xfrm>
            <a:prstGeom prst="bentConnector3">
              <a:avLst>
                <a:gd name="adj1" fmla="val 49620"/>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5" name="AutoShape 25"/>
            <p:cNvCxnSpPr>
              <a:cxnSpLocks noChangeShapeType="1"/>
              <a:stCxn id="10" idx="3"/>
              <a:endCxn id="20" idx="1"/>
            </p:cNvCxnSpPr>
            <p:nvPr/>
          </p:nvCxnSpPr>
          <p:spPr bwMode="auto">
            <a:xfrm>
              <a:off x="4359276" y="3203575"/>
              <a:ext cx="415925" cy="488950"/>
            </a:xfrm>
            <a:prstGeom prst="bentConnector3">
              <a:avLst>
                <a:gd name="adj1" fmla="val 49620"/>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6" name="AutoShape 26"/>
            <p:cNvCxnSpPr>
              <a:cxnSpLocks noChangeShapeType="1"/>
              <a:stCxn id="11" idx="3"/>
              <a:endCxn id="13" idx="1"/>
            </p:cNvCxnSpPr>
            <p:nvPr/>
          </p:nvCxnSpPr>
          <p:spPr bwMode="auto">
            <a:xfrm flipV="1">
              <a:off x="4402138" y="4576764"/>
              <a:ext cx="373062" cy="600075"/>
            </a:xfrm>
            <a:prstGeom prst="bentConnector3">
              <a:avLst>
                <a:gd name="adj1" fmla="val 49787"/>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7" name="AutoShape 27"/>
            <p:cNvCxnSpPr>
              <a:cxnSpLocks noChangeShapeType="1"/>
              <a:stCxn id="11" idx="3"/>
              <a:endCxn id="21" idx="1"/>
            </p:cNvCxnSpPr>
            <p:nvPr/>
          </p:nvCxnSpPr>
          <p:spPr bwMode="auto">
            <a:xfrm>
              <a:off x="4402138" y="5176838"/>
              <a:ext cx="373062" cy="444500"/>
            </a:xfrm>
            <a:prstGeom prst="bentConnector3">
              <a:avLst>
                <a:gd name="adj1" fmla="val 49787"/>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28" name="Rectangle 28"/>
            <p:cNvSpPr>
              <a:spLocks noChangeArrowheads="1"/>
            </p:cNvSpPr>
            <p:nvPr/>
          </p:nvSpPr>
          <p:spPr bwMode="auto">
            <a:xfrm>
              <a:off x="6321426" y="4186239"/>
              <a:ext cx="842963" cy="314325"/>
            </a:xfrm>
            <a:prstGeom prst="rect">
              <a:avLst/>
            </a:prstGeom>
            <a:solidFill>
              <a:schemeClr val="hlink"/>
            </a:solidFill>
            <a:ln w="9525">
              <a:solidFill>
                <a:schemeClr val="hlink"/>
              </a:solidFill>
              <a:miter lim="800000"/>
            </a:ln>
            <a:effectLst>
              <a:prstShdw prst="shdw17" dist="17961" dir="2700000">
                <a:schemeClr val="hlink">
                  <a:gamma/>
                  <a:shade val="60000"/>
                  <a:invGamma/>
                </a:schemeClr>
              </a:prstShdw>
            </a:effectLst>
          </p:spPr>
          <p:txBody>
            <a:bodyPr wrap="none" lIns="0" tIns="0" rIns="0" bIns="0" anchor="ctr"/>
            <a:lstStyle/>
            <a:p>
              <a:pPr algn="ctr" eaLnBrk="0" hangingPunct="0">
                <a:defRPr/>
              </a:pPr>
              <a:r>
                <a:rPr lang="zh-CN" altLang="en-US" sz="1300" b="1">
                  <a:solidFill>
                    <a:srgbClr val="FFFFFF"/>
                  </a:solidFill>
                  <a:latin typeface="Arial" panose="020B0604020202020204" pitchFamily="34" charset="0"/>
                </a:rPr>
                <a:t>高</a:t>
              </a:r>
            </a:p>
          </p:txBody>
        </p:sp>
        <p:sp>
          <p:nvSpPr>
            <p:cNvPr id="29" name="Rectangle 29"/>
            <p:cNvSpPr>
              <a:spLocks noChangeArrowheads="1"/>
            </p:cNvSpPr>
            <p:nvPr/>
          </p:nvSpPr>
          <p:spPr bwMode="auto">
            <a:xfrm>
              <a:off x="6321426" y="4743451"/>
              <a:ext cx="842963" cy="314325"/>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hlink"/>
                  </a:solidFill>
                </a14:hiddenFill>
              </a:ext>
            </a:extLst>
          </p:spPr>
          <p:txBody>
            <a:bodyPr wrap="none" lIns="0" tIns="0" rIns="0" bIns="0" anchor="ctr"/>
            <a:lstStyle/>
            <a:p>
              <a:pPr algn="ctr" eaLnBrk="0" hangingPunct="0">
                <a:defRPr/>
              </a:pPr>
              <a:r>
                <a:rPr lang="zh-CN" altLang="en-US" sz="1300" b="1">
                  <a:solidFill>
                    <a:srgbClr val="000000"/>
                  </a:solidFill>
                  <a:latin typeface="Arial" panose="020B0604020202020204" pitchFamily="34" charset="0"/>
                </a:rPr>
                <a:t>低</a:t>
              </a:r>
            </a:p>
          </p:txBody>
        </p:sp>
        <p:sp>
          <p:nvSpPr>
            <p:cNvPr id="30" name="Rectangle 30"/>
            <p:cNvSpPr>
              <a:spLocks noChangeArrowheads="1"/>
            </p:cNvSpPr>
            <p:nvPr/>
          </p:nvSpPr>
          <p:spPr bwMode="auto">
            <a:xfrm>
              <a:off x="6308726" y="5216526"/>
              <a:ext cx="842963" cy="314325"/>
            </a:xfrm>
            <a:prstGeom prst="rect">
              <a:avLst/>
            </a:prstGeom>
            <a:solidFill>
              <a:schemeClr val="hlink"/>
            </a:solidFill>
            <a:ln w="9525">
              <a:solidFill>
                <a:schemeClr val="hlink"/>
              </a:solidFill>
              <a:miter lim="800000"/>
            </a:ln>
            <a:effectLst>
              <a:prstShdw prst="shdw17" dist="17961" dir="2700000">
                <a:schemeClr val="hlink">
                  <a:gamma/>
                  <a:shade val="60000"/>
                  <a:invGamma/>
                </a:schemeClr>
              </a:prstShdw>
            </a:effectLst>
          </p:spPr>
          <p:txBody>
            <a:bodyPr wrap="none" lIns="0" tIns="0" rIns="0" bIns="0" anchor="ctr"/>
            <a:lstStyle/>
            <a:p>
              <a:pPr algn="ctr" eaLnBrk="0" hangingPunct="0">
                <a:defRPr/>
              </a:pPr>
              <a:r>
                <a:rPr lang="zh-CN" altLang="en-US" sz="1300" b="1">
                  <a:solidFill>
                    <a:srgbClr val="FFFFFF"/>
                  </a:solidFill>
                  <a:latin typeface="Arial" panose="020B0604020202020204" pitchFamily="34" charset="0"/>
                </a:rPr>
                <a:t>高</a:t>
              </a:r>
            </a:p>
          </p:txBody>
        </p:sp>
        <p:sp>
          <p:nvSpPr>
            <p:cNvPr id="31" name="Rectangle 31"/>
            <p:cNvSpPr>
              <a:spLocks noChangeArrowheads="1"/>
            </p:cNvSpPr>
            <p:nvPr/>
          </p:nvSpPr>
          <p:spPr bwMode="auto">
            <a:xfrm>
              <a:off x="6308726" y="5702301"/>
              <a:ext cx="842963" cy="314325"/>
            </a:xfrm>
            <a:prstGeom prst="rect">
              <a:avLst/>
            </a:prstGeom>
            <a:noFill/>
            <a:ln w="9525">
              <a:solidFill>
                <a:schemeClr val="hlink"/>
              </a:solidFill>
              <a:miter lim="800000"/>
            </a:ln>
            <a:effectLst>
              <a:prstShdw prst="shdw17" dist="17961" dir="2700000">
                <a:schemeClr val="hlink">
                  <a:gamma/>
                  <a:shade val="60000"/>
                  <a:invGamma/>
                </a:schemeClr>
              </a:prstShdw>
            </a:effectLst>
            <a:extLst>
              <a:ext uri="{909E8E84-426E-40DD-AFC4-6F175D3DCCD1}">
                <a14:hiddenFill xmlns:a14="http://schemas.microsoft.com/office/drawing/2010/main">
                  <a:solidFill>
                    <a:schemeClr val="hlink"/>
                  </a:solidFill>
                </a14:hiddenFill>
              </a:ext>
            </a:extLst>
          </p:spPr>
          <p:txBody>
            <a:bodyPr wrap="none" lIns="0" tIns="0" rIns="0" bIns="0" anchor="ctr"/>
            <a:lstStyle/>
            <a:p>
              <a:pPr algn="ctr" eaLnBrk="0" hangingPunct="0">
                <a:defRPr/>
              </a:pPr>
              <a:r>
                <a:rPr lang="zh-CN" altLang="en-US" sz="1300" b="1">
                  <a:solidFill>
                    <a:srgbClr val="000000"/>
                  </a:solidFill>
                  <a:latin typeface="Arial" panose="020B0604020202020204" pitchFamily="34" charset="0"/>
                </a:rPr>
                <a:t>低</a:t>
              </a:r>
            </a:p>
          </p:txBody>
        </p:sp>
        <p:cxnSp>
          <p:nvCxnSpPr>
            <p:cNvPr id="32" name="AutoShape 32"/>
            <p:cNvCxnSpPr>
              <a:cxnSpLocks noChangeShapeType="1"/>
              <a:stCxn id="12" idx="3"/>
              <a:endCxn id="14" idx="1"/>
            </p:cNvCxnSpPr>
            <p:nvPr/>
          </p:nvCxnSpPr>
          <p:spPr bwMode="auto">
            <a:xfrm flipV="1">
              <a:off x="5618164" y="2384425"/>
              <a:ext cx="701675" cy="198438"/>
            </a:xfrm>
            <a:prstGeom prst="bentConnector3">
              <a:avLst>
                <a:gd name="adj1" fmla="val 49773"/>
              </a:avLst>
            </a:prstGeom>
            <a:noFill/>
            <a:ln w="1270">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3" name="AutoShape 33"/>
            <p:cNvCxnSpPr>
              <a:cxnSpLocks noChangeShapeType="1"/>
              <a:stCxn id="12" idx="3"/>
              <a:endCxn id="17" idx="1"/>
            </p:cNvCxnSpPr>
            <p:nvPr/>
          </p:nvCxnSpPr>
          <p:spPr bwMode="auto">
            <a:xfrm>
              <a:off x="5618164" y="2582863"/>
              <a:ext cx="701675" cy="258762"/>
            </a:xfrm>
            <a:prstGeom prst="bentConnector3">
              <a:avLst>
                <a:gd name="adj1" fmla="val 49773"/>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4" name="AutoShape 34"/>
            <p:cNvCxnSpPr>
              <a:cxnSpLocks noChangeShapeType="1"/>
              <a:stCxn id="20" idx="3"/>
              <a:endCxn id="18" idx="1"/>
            </p:cNvCxnSpPr>
            <p:nvPr/>
          </p:nvCxnSpPr>
          <p:spPr bwMode="auto">
            <a:xfrm flipV="1">
              <a:off x="5618164" y="3386139"/>
              <a:ext cx="688975" cy="306387"/>
            </a:xfrm>
            <a:prstGeom prst="bentConnector3">
              <a:avLst>
                <a:gd name="adj1" fmla="val 49769"/>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5" name="AutoShape 35"/>
            <p:cNvCxnSpPr>
              <a:cxnSpLocks noChangeShapeType="1"/>
              <a:stCxn id="20" idx="3"/>
              <a:endCxn id="19" idx="1"/>
            </p:cNvCxnSpPr>
            <p:nvPr/>
          </p:nvCxnSpPr>
          <p:spPr bwMode="auto">
            <a:xfrm>
              <a:off x="5618164" y="3692526"/>
              <a:ext cx="688975" cy="193675"/>
            </a:xfrm>
            <a:prstGeom prst="bentConnector3">
              <a:avLst>
                <a:gd name="adj1" fmla="val 49769"/>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6" name="AutoShape 36"/>
            <p:cNvCxnSpPr>
              <a:cxnSpLocks noChangeShapeType="1"/>
              <a:stCxn id="13" idx="3"/>
              <a:endCxn id="28" idx="1"/>
            </p:cNvCxnSpPr>
            <p:nvPr/>
          </p:nvCxnSpPr>
          <p:spPr bwMode="auto">
            <a:xfrm flipV="1">
              <a:off x="5618163" y="4343401"/>
              <a:ext cx="703262" cy="233363"/>
            </a:xfrm>
            <a:prstGeom prst="bentConnector3">
              <a:avLst>
                <a:gd name="adj1" fmla="val 49889"/>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7" name="AutoShape 37"/>
            <p:cNvCxnSpPr>
              <a:cxnSpLocks noChangeShapeType="1"/>
              <a:stCxn id="13" idx="3"/>
              <a:endCxn id="29" idx="1"/>
            </p:cNvCxnSpPr>
            <p:nvPr/>
          </p:nvCxnSpPr>
          <p:spPr bwMode="auto">
            <a:xfrm>
              <a:off x="5618163" y="4576763"/>
              <a:ext cx="703262" cy="323850"/>
            </a:xfrm>
            <a:prstGeom prst="bentConnector3">
              <a:avLst>
                <a:gd name="adj1" fmla="val 49889"/>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8" name="AutoShape 38"/>
            <p:cNvCxnSpPr>
              <a:cxnSpLocks noChangeShapeType="1"/>
              <a:stCxn id="21" idx="3"/>
              <a:endCxn id="30" idx="1"/>
            </p:cNvCxnSpPr>
            <p:nvPr/>
          </p:nvCxnSpPr>
          <p:spPr bwMode="auto">
            <a:xfrm flipV="1">
              <a:off x="5618163" y="5373688"/>
              <a:ext cx="690562" cy="247650"/>
            </a:xfrm>
            <a:prstGeom prst="bentConnector3">
              <a:avLst>
                <a:gd name="adj1" fmla="val 49884"/>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9" name="AutoShape 39"/>
            <p:cNvCxnSpPr>
              <a:cxnSpLocks noChangeShapeType="1"/>
              <a:stCxn id="21" idx="3"/>
              <a:endCxn id="31" idx="1"/>
            </p:cNvCxnSpPr>
            <p:nvPr/>
          </p:nvCxnSpPr>
          <p:spPr bwMode="auto">
            <a:xfrm>
              <a:off x="5618163" y="5621339"/>
              <a:ext cx="690562" cy="238125"/>
            </a:xfrm>
            <a:prstGeom prst="bentConnector3">
              <a:avLst>
                <a:gd name="adj1" fmla="val 49884"/>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40" name="Line 40"/>
            <p:cNvSpPr>
              <a:spLocks noChangeShapeType="1"/>
            </p:cNvSpPr>
            <p:nvPr/>
          </p:nvSpPr>
          <p:spPr bwMode="auto">
            <a:xfrm>
              <a:off x="7629526" y="2636838"/>
              <a:ext cx="2771775" cy="0"/>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20404C"/>
                    </a:outerShdw>
                  </a:effectLst>
                </a14:hiddenEffects>
              </a:ext>
            </a:extLst>
          </p:spPr>
          <p:txBody>
            <a:bodyPr lIns="0" tIns="0" rIns="0" bIns="0"/>
            <a:lstStyle/>
            <a:p>
              <a:endParaRPr lang="zh-CN" altLang="en-US"/>
            </a:p>
          </p:txBody>
        </p:sp>
        <p:sp>
          <p:nvSpPr>
            <p:cNvPr id="41" name="Line 41"/>
            <p:cNvSpPr>
              <a:spLocks noChangeShapeType="1"/>
            </p:cNvSpPr>
            <p:nvPr/>
          </p:nvSpPr>
          <p:spPr bwMode="auto">
            <a:xfrm>
              <a:off x="7586664" y="3122613"/>
              <a:ext cx="2771775" cy="0"/>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20404C"/>
                    </a:outerShdw>
                  </a:effectLst>
                </a14:hiddenEffects>
              </a:ext>
            </a:extLst>
          </p:spPr>
          <p:txBody>
            <a:bodyPr lIns="0" tIns="0" rIns="0" bIns="0"/>
            <a:lstStyle/>
            <a:p>
              <a:endParaRPr lang="zh-CN" altLang="en-US"/>
            </a:p>
          </p:txBody>
        </p:sp>
        <p:sp>
          <p:nvSpPr>
            <p:cNvPr id="42" name="Text Box 43"/>
            <p:cNvSpPr txBox="1">
              <a:spLocks noChangeArrowheads="1"/>
            </p:cNvSpPr>
            <p:nvPr/>
          </p:nvSpPr>
          <p:spPr bwMode="auto">
            <a:xfrm>
              <a:off x="9461500" y="2252663"/>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近期计划</a:t>
              </a:r>
            </a:p>
          </p:txBody>
        </p:sp>
        <p:sp>
          <p:nvSpPr>
            <p:cNvPr id="43" name="Text Box 44"/>
            <p:cNvSpPr txBox="1">
              <a:spLocks noChangeArrowheads="1"/>
            </p:cNvSpPr>
            <p:nvPr/>
          </p:nvSpPr>
          <p:spPr bwMode="auto">
            <a:xfrm>
              <a:off x="7718425" y="2767014"/>
              <a:ext cx="1600200" cy="350837"/>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70000"/>
                </a:lnSpc>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外部课程内化</a:t>
              </a:r>
              <a:endParaRPr lang="en-US" altLang="zh-CN" sz="1200">
                <a:solidFill>
                  <a:srgbClr val="000000"/>
                </a:solidFill>
                <a:latin typeface="宋体" panose="02010600030101010101" pitchFamily="2" charset="-122"/>
              </a:endParaRPr>
            </a:p>
            <a:p>
              <a:pPr>
                <a:lnSpc>
                  <a:spcPct val="70000"/>
                </a:lnSpc>
                <a:spcBef>
                  <a:spcPct val="50000"/>
                </a:spcBef>
                <a:buClr>
                  <a:srgbClr val="366B7E"/>
                </a:buClr>
                <a:buSzPct val="60000"/>
                <a:buFont typeface="Wingdings" panose="05000000000000000000" pitchFamily="2" charset="2"/>
                <a:buChar char="l"/>
              </a:pPr>
              <a:endParaRPr lang="en-US" altLang="zh-CN" sz="1200">
                <a:solidFill>
                  <a:srgbClr val="000000"/>
                </a:solidFill>
                <a:latin typeface="宋体" panose="02010600030101010101" pitchFamily="2" charset="-122"/>
              </a:endParaRPr>
            </a:p>
          </p:txBody>
        </p:sp>
        <p:sp>
          <p:nvSpPr>
            <p:cNvPr id="44" name="Text Box 45"/>
            <p:cNvSpPr txBox="1">
              <a:spLocks noChangeArrowheads="1"/>
            </p:cNvSpPr>
            <p:nvPr/>
          </p:nvSpPr>
          <p:spPr bwMode="auto">
            <a:xfrm>
              <a:off x="9461500" y="2711450"/>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中期计划</a:t>
              </a:r>
            </a:p>
          </p:txBody>
        </p:sp>
        <p:sp>
          <p:nvSpPr>
            <p:cNvPr id="45" name="Text Box 46"/>
            <p:cNvSpPr txBox="1">
              <a:spLocks noChangeArrowheads="1"/>
            </p:cNvSpPr>
            <p:nvPr/>
          </p:nvSpPr>
          <p:spPr bwMode="auto">
            <a:xfrm>
              <a:off x="7718425" y="3068638"/>
              <a:ext cx="1600200" cy="38735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spcBef>
                  <a:spcPct val="50000"/>
                </a:spcBef>
                <a:buClr>
                  <a:srgbClr val="366B7E"/>
                </a:buClr>
                <a:buSzPct val="60000"/>
              </a:pPr>
              <a:endParaRPr lang="en-US" altLang="zh-CN" sz="1200">
                <a:solidFill>
                  <a:srgbClr val="000000"/>
                </a:solidFill>
                <a:latin typeface="宋体" panose="02010600030101010101" pitchFamily="2" charset="-122"/>
              </a:endParaRPr>
            </a:p>
            <a:p>
              <a:pPr>
                <a:lnSpc>
                  <a:spcPct val="80000"/>
                </a:lnSpc>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合作开发课程</a:t>
              </a:r>
            </a:p>
          </p:txBody>
        </p:sp>
        <p:sp>
          <p:nvSpPr>
            <p:cNvPr id="46" name="Text Box 47"/>
            <p:cNvSpPr txBox="1">
              <a:spLocks noChangeArrowheads="1"/>
            </p:cNvSpPr>
            <p:nvPr/>
          </p:nvSpPr>
          <p:spPr bwMode="auto">
            <a:xfrm>
              <a:off x="9461500" y="3282950"/>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近期计划</a:t>
              </a:r>
            </a:p>
          </p:txBody>
        </p:sp>
        <p:sp>
          <p:nvSpPr>
            <p:cNvPr id="47" name="Line 48"/>
            <p:cNvSpPr>
              <a:spLocks noChangeShapeType="1"/>
            </p:cNvSpPr>
            <p:nvPr/>
          </p:nvSpPr>
          <p:spPr bwMode="auto">
            <a:xfrm>
              <a:off x="7631114" y="3681413"/>
              <a:ext cx="2771775" cy="0"/>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20404C"/>
                    </a:outerShdw>
                  </a:effectLst>
                </a14:hiddenEffects>
              </a:ext>
            </a:extLst>
          </p:spPr>
          <p:txBody>
            <a:bodyPr lIns="0" tIns="0" rIns="0" bIns="0"/>
            <a:lstStyle/>
            <a:p>
              <a:endParaRPr lang="zh-CN" altLang="en-US"/>
            </a:p>
          </p:txBody>
        </p:sp>
        <p:sp>
          <p:nvSpPr>
            <p:cNvPr id="48" name="Line 49"/>
            <p:cNvSpPr>
              <a:spLocks noChangeShapeType="1"/>
            </p:cNvSpPr>
            <p:nvPr/>
          </p:nvSpPr>
          <p:spPr bwMode="auto">
            <a:xfrm>
              <a:off x="7618414" y="4168775"/>
              <a:ext cx="2771775" cy="0"/>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20404C"/>
                    </a:outerShdw>
                  </a:effectLst>
                </a14:hiddenEffects>
              </a:ext>
            </a:extLst>
          </p:spPr>
          <p:txBody>
            <a:bodyPr lIns="0" tIns="0" rIns="0" bIns="0"/>
            <a:lstStyle/>
            <a:p>
              <a:endParaRPr lang="zh-CN" altLang="en-US"/>
            </a:p>
          </p:txBody>
        </p:sp>
        <p:sp>
          <p:nvSpPr>
            <p:cNvPr id="49" name="Text Box 50"/>
            <p:cNvSpPr txBox="1">
              <a:spLocks noChangeArrowheads="1"/>
            </p:cNvSpPr>
            <p:nvPr/>
          </p:nvSpPr>
          <p:spPr bwMode="auto">
            <a:xfrm>
              <a:off x="9461500" y="3827463"/>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中期计划</a:t>
              </a:r>
            </a:p>
          </p:txBody>
        </p:sp>
        <p:sp>
          <p:nvSpPr>
            <p:cNvPr id="50" name="Line 51"/>
            <p:cNvSpPr>
              <a:spLocks noChangeShapeType="1"/>
            </p:cNvSpPr>
            <p:nvPr/>
          </p:nvSpPr>
          <p:spPr bwMode="auto">
            <a:xfrm>
              <a:off x="7648576" y="4641850"/>
              <a:ext cx="2771775" cy="0"/>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20404C"/>
                    </a:outerShdw>
                  </a:effectLst>
                </a14:hiddenEffects>
              </a:ext>
            </a:extLst>
          </p:spPr>
          <p:txBody>
            <a:bodyPr lIns="0" tIns="0" rIns="0" bIns="0"/>
            <a:lstStyle/>
            <a:p>
              <a:endParaRPr lang="zh-CN" altLang="en-US"/>
            </a:p>
          </p:txBody>
        </p:sp>
        <p:sp>
          <p:nvSpPr>
            <p:cNvPr id="51" name="Text Box 52"/>
            <p:cNvSpPr txBox="1">
              <a:spLocks noChangeArrowheads="1"/>
            </p:cNvSpPr>
            <p:nvPr/>
          </p:nvSpPr>
          <p:spPr bwMode="auto">
            <a:xfrm>
              <a:off x="7718425" y="4365625"/>
              <a:ext cx="1600200" cy="14763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外部课程内化</a:t>
              </a:r>
            </a:p>
          </p:txBody>
        </p:sp>
        <p:sp>
          <p:nvSpPr>
            <p:cNvPr id="52" name="Text Box 53"/>
            <p:cNvSpPr txBox="1">
              <a:spLocks noChangeArrowheads="1"/>
            </p:cNvSpPr>
            <p:nvPr/>
          </p:nvSpPr>
          <p:spPr bwMode="auto">
            <a:xfrm>
              <a:off x="9461500" y="4357688"/>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长期计划</a:t>
              </a:r>
            </a:p>
          </p:txBody>
        </p:sp>
        <p:sp>
          <p:nvSpPr>
            <p:cNvPr id="53" name="Line 54"/>
            <p:cNvSpPr>
              <a:spLocks noChangeShapeType="1"/>
            </p:cNvSpPr>
            <p:nvPr/>
          </p:nvSpPr>
          <p:spPr bwMode="auto">
            <a:xfrm>
              <a:off x="7650164" y="5129213"/>
              <a:ext cx="2771775" cy="0"/>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20404C"/>
                    </a:outerShdw>
                  </a:effectLst>
                </a14:hiddenEffects>
              </a:ext>
            </a:extLst>
          </p:spPr>
          <p:txBody>
            <a:bodyPr lIns="0" tIns="0" rIns="0" bIns="0"/>
            <a:lstStyle/>
            <a:p>
              <a:endParaRPr lang="zh-CN" altLang="en-US"/>
            </a:p>
          </p:txBody>
        </p:sp>
        <p:sp>
          <p:nvSpPr>
            <p:cNvPr id="54" name="Text Box 55"/>
            <p:cNvSpPr txBox="1">
              <a:spLocks noChangeArrowheads="1"/>
            </p:cNvSpPr>
            <p:nvPr/>
          </p:nvSpPr>
          <p:spPr bwMode="auto">
            <a:xfrm>
              <a:off x="7718425" y="4768850"/>
              <a:ext cx="1600200" cy="18573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完全自主开发</a:t>
              </a:r>
            </a:p>
          </p:txBody>
        </p:sp>
        <p:sp>
          <p:nvSpPr>
            <p:cNvPr id="55" name="Text Box 56"/>
            <p:cNvSpPr txBox="1">
              <a:spLocks noChangeArrowheads="1"/>
            </p:cNvSpPr>
            <p:nvPr/>
          </p:nvSpPr>
          <p:spPr bwMode="auto">
            <a:xfrm>
              <a:off x="9461500" y="4756150"/>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长期计划</a:t>
              </a:r>
            </a:p>
          </p:txBody>
        </p:sp>
        <p:sp>
          <p:nvSpPr>
            <p:cNvPr id="56" name="Line 57"/>
            <p:cNvSpPr>
              <a:spLocks noChangeShapeType="1"/>
            </p:cNvSpPr>
            <p:nvPr/>
          </p:nvSpPr>
          <p:spPr bwMode="auto">
            <a:xfrm>
              <a:off x="7623176" y="5630863"/>
              <a:ext cx="2771775" cy="0"/>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20404C"/>
                    </a:outerShdw>
                  </a:effectLst>
                </a14:hiddenEffects>
              </a:ext>
            </a:extLst>
          </p:spPr>
          <p:txBody>
            <a:bodyPr lIns="0" tIns="0" rIns="0" bIns="0"/>
            <a:lstStyle/>
            <a:p>
              <a:endParaRPr lang="zh-CN" altLang="en-US"/>
            </a:p>
          </p:txBody>
        </p:sp>
        <p:sp>
          <p:nvSpPr>
            <p:cNvPr id="57" name="Text Box 58"/>
            <p:cNvSpPr txBox="1">
              <a:spLocks noChangeArrowheads="1"/>
            </p:cNvSpPr>
            <p:nvPr/>
          </p:nvSpPr>
          <p:spPr bwMode="auto">
            <a:xfrm>
              <a:off x="7718425" y="5300664"/>
              <a:ext cx="1600200" cy="147637"/>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合作开发课程</a:t>
              </a:r>
            </a:p>
          </p:txBody>
        </p:sp>
        <p:sp>
          <p:nvSpPr>
            <p:cNvPr id="58" name="Text Box 59"/>
            <p:cNvSpPr txBox="1">
              <a:spLocks noChangeArrowheads="1"/>
            </p:cNvSpPr>
            <p:nvPr/>
          </p:nvSpPr>
          <p:spPr bwMode="auto">
            <a:xfrm>
              <a:off x="9461500" y="5257800"/>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中期计划</a:t>
              </a:r>
            </a:p>
          </p:txBody>
        </p:sp>
        <p:sp>
          <p:nvSpPr>
            <p:cNvPr id="59" name="Text Box 60"/>
            <p:cNvSpPr txBox="1">
              <a:spLocks noChangeArrowheads="1"/>
            </p:cNvSpPr>
            <p:nvPr/>
          </p:nvSpPr>
          <p:spPr bwMode="auto">
            <a:xfrm>
              <a:off x="7718425" y="5892800"/>
              <a:ext cx="1600200" cy="12858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70000"/>
                </a:lnSpc>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完全自主开发</a:t>
              </a:r>
            </a:p>
          </p:txBody>
        </p:sp>
        <p:sp>
          <p:nvSpPr>
            <p:cNvPr id="60" name="Text Box 61"/>
            <p:cNvSpPr txBox="1">
              <a:spLocks noChangeArrowheads="1"/>
            </p:cNvSpPr>
            <p:nvPr/>
          </p:nvSpPr>
          <p:spPr bwMode="auto">
            <a:xfrm>
              <a:off x="9461500" y="5816600"/>
              <a:ext cx="838200" cy="18466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中期计划</a:t>
              </a:r>
            </a:p>
          </p:txBody>
        </p:sp>
        <p:sp>
          <p:nvSpPr>
            <p:cNvPr id="61" name="Text Box 62"/>
            <p:cNvSpPr txBox="1">
              <a:spLocks noChangeArrowheads="1"/>
            </p:cNvSpPr>
            <p:nvPr/>
          </p:nvSpPr>
          <p:spPr bwMode="auto">
            <a:xfrm>
              <a:off x="7734300" y="3857625"/>
              <a:ext cx="1600200" cy="14763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0000"/>
                </a:lnSpc>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完全自主开发</a:t>
              </a:r>
            </a:p>
          </p:txBody>
        </p:sp>
        <p:sp>
          <p:nvSpPr>
            <p:cNvPr id="62" name="Text Box 44"/>
            <p:cNvSpPr txBox="1">
              <a:spLocks noChangeArrowheads="1"/>
            </p:cNvSpPr>
            <p:nvPr/>
          </p:nvSpPr>
          <p:spPr bwMode="auto">
            <a:xfrm>
              <a:off x="7718425" y="2292350"/>
              <a:ext cx="1600200" cy="12858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70000"/>
                </a:lnSpc>
                <a:spcBef>
                  <a:spcPct val="50000"/>
                </a:spcBef>
                <a:buClr>
                  <a:srgbClr val="366B7E"/>
                </a:buClr>
                <a:buSzPct val="60000"/>
                <a:buFont typeface="Wingdings" panose="05000000000000000000" pitchFamily="2" charset="2"/>
                <a:buChar char="l"/>
              </a:pPr>
              <a:r>
                <a:rPr lang="zh-CN" altLang="en-US" sz="1200">
                  <a:solidFill>
                    <a:srgbClr val="000000"/>
                  </a:solidFill>
                  <a:latin typeface="宋体" panose="02010600030101010101" pitchFamily="2" charset="-122"/>
                </a:rPr>
                <a:t> 采购外部课程</a:t>
              </a:r>
              <a:endParaRPr lang="en-US" altLang="zh-CN" sz="1200">
                <a:solidFill>
                  <a:srgbClr val="000000"/>
                </a:solidFill>
                <a:latin typeface="宋体" panose="02010600030101010101" pitchFamily="2" charset="-122"/>
              </a:endParaRPr>
            </a:p>
          </p:txBody>
        </p:sp>
      </p:grpSp>
      <p:sp>
        <p:nvSpPr>
          <p:cNvPr id="63" name="矩形 62"/>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27</a:t>
            </a:fld>
            <a:endParaRPr lang="zh-CN" altLang="en-US"/>
          </a:p>
        </p:txBody>
      </p:sp>
      <p:sp>
        <p:nvSpPr>
          <p:cNvPr id="3" name="标题 1"/>
          <p:cNvSpPr/>
          <p:nvPr/>
        </p:nvSpPr>
        <p:spPr bwMode="auto">
          <a:xfrm>
            <a:off x="651196" y="1046424"/>
            <a:ext cx="8730929"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3000"/>
              </a:lnSpc>
            </a:pPr>
            <a:r>
              <a:rPr kumimoji="1" lang="zh-CN" altLang="en-US" sz="2100" b="1" dirty="0">
                <a:solidFill>
                  <a:srgbClr val="000000"/>
                </a:solidFill>
                <a:latin typeface="华文中宋" panose="02010600040101010101" charset="-122"/>
                <a:ea typeface="华文中宋" panose="02010600040101010101" charset="-122"/>
              </a:rPr>
              <a:t>请协助完成课程资源盘点，包括师资、课程现有素材和开发计划</a:t>
            </a:r>
          </a:p>
        </p:txBody>
      </p:sp>
      <p:sp>
        <p:nvSpPr>
          <p:cNvPr id="63" name="矩形 62"/>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pic>
        <p:nvPicPr>
          <p:cNvPr id="64" name="图片 63">
            <a:extLst>
              <a:ext uri="{FF2B5EF4-FFF2-40B4-BE49-F238E27FC236}">
                <a16:creationId xmlns:a16="http://schemas.microsoft.com/office/drawing/2014/main" id="{C9CED08B-751E-F481-3017-70FA201FF01F}"/>
              </a:ext>
            </a:extLst>
          </p:cNvPr>
          <p:cNvPicPr>
            <a:picLocks noChangeAspect="1"/>
          </p:cNvPicPr>
          <p:nvPr/>
        </p:nvPicPr>
        <p:blipFill>
          <a:blip r:embed="rId2"/>
          <a:stretch>
            <a:fillRect/>
          </a:stretch>
        </p:blipFill>
        <p:spPr>
          <a:xfrm>
            <a:off x="348546" y="2088033"/>
            <a:ext cx="9208908" cy="2210420"/>
          </a:xfrm>
          <a:prstGeom prst="rect">
            <a:avLst/>
          </a:prstGeom>
        </p:spPr>
      </p:pic>
      <p:pic>
        <p:nvPicPr>
          <p:cNvPr id="65" name="图片 64">
            <a:extLst>
              <a:ext uri="{FF2B5EF4-FFF2-40B4-BE49-F238E27FC236}">
                <a16:creationId xmlns:a16="http://schemas.microsoft.com/office/drawing/2014/main" id="{277023F1-75B2-B79D-3560-12B7320CBAFA}"/>
              </a:ext>
            </a:extLst>
          </p:cNvPr>
          <p:cNvPicPr>
            <a:picLocks noChangeAspect="1"/>
          </p:cNvPicPr>
          <p:nvPr/>
        </p:nvPicPr>
        <p:blipFill>
          <a:blip r:embed="rId3"/>
          <a:stretch>
            <a:fillRect/>
          </a:stretch>
        </p:blipFill>
        <p:spPr>
          <a:xfrm>
            <a:off x="961694" y="4350718"/>
            <a:ext cx="8944306" cy="2210420"/>
          </a:xfrm>
          <a:prstGeom prst="rect">
            <a:avLst/>
          </a:prstGeom>
        </p:spPr>
      </p:pic>
      <p:sp>
        <p:nvSpPr>
          <p:cNvPr id="66" name="文本框 65">
            <a:extLst>
              <a:ext uri="{FF2B5EF4-FFF2-40B4-BE49-F238E27FC236}">
                <a16:creationId xmlns:a16="http://schemas.microsoft.com/office/drawing/2014/main" id="{AF1AB052-868A-705F-2C46-59AAD61D2C05}"/>
              </a:ext>
            </a:extLst>
          </p:cNvPr>
          <p:cNvSpPr txBox="1"/>
          <p:nvPr/>
        </p:nvSpPr>
        <p:spPr>
          <a:xfrm>
            <a:off x="620709" y="1687648"/>
            <a:ext cx="8634095" cy="292388"/>
          </a:xfrm>
          <a:prstGeom prst="rect">
            <a:avLst/>
          </a:prstGeom>
          <a:noFill/>
        </p:spPr>
        <p:txBody>
          <a:bodyPr wrap="none" rtlCol="0">
            <a:spAutoFit/>
          </a:bodyPr>
          <a:lstStyle/>
          <a:p>
            <a:r>
              <a:rPr kumimoji="1" lang="zh-CN" altLang="en-US" dirty="0"/>
              <a:t>当前进行了在线课程的盘点，还需对面授课程进行资源盘点，了解师资和其他资源现状，为课程开发做好准备。</a:t>
            </a:r>
          </a:p>
        </p:txBody>
      </p:sp>
    </p:spTree>
    <p:extLst>
      <p:ext uri="{BB962C8B-B14F-4D97-AF65-F5344CB8AC3E}">
        <p14:creationId xmlns:p14="http://schemas.microsoft.com/office/powerpoint/2010/main" val="2434556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28</a:t>
            </a:fld>
            <a:endParaRPr lang="zh-CN" altLang="en-US"/>
          </a:p>
        </p:txBody>
      </p:sp>
      <p:pic>
        <p:nvPicPr>
          <p:cNvPr id="3" name="Picture 3"/>
          <p:cNvPicPr/>
          <p:nvPr/>
        </p:nvPicPr>
        <p:blipFill>
          <a:blip r:embed="rId2" cstate="print"/>
          <a:srcRect/>
          <a:stretch>
            <a:fillRect/>
          </a:stretch>
        </p:blipFill>
        <p:spPr bwMode="auto">
          <a:xfrm>
            <a:off x="1360758" y="1665288"/>
            <a:ext cx="7286083" cy="4465061"/>
          </a:xfrm>
          <a:prstGeom prst="rect">
            <a:avLst/>
          </a:prstGeom>
          <a:noFill/>
        </p:spPr>
      </p:pic>
      <p:sp>
        <p:nvSpPr>
          <p:cNvPr id="5"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在岗实践与辅导一般需要建立辅导机制，选拔和培养导师，建议在培养项目方案前将面授和辅导内容统筹考虑</a:t>
            </a:r>
          </a:p>
        </p:txBody>
      </p:sp>
      <p:sp>
        <p:nvSpPr>
          <p:cNvPr id="6" name="文本框 5"/>
          <p:cNvSpPr txBox="1"/>
          <p:nvPr/>
        </p:nvSpPr>
        <p:spPr>
          <a:xfrm>
            <a:off x="1632583" y="6130349"/>
            <a:ext cx="7014258" cy="461665"/>
          </a:xfrm>
          <a:prstGeom prst="rect">
            <a:avLst/>
          </a:prstGeom>
          <a:noFill/>
        </p:spPr>
        <p:txBody>
          <a:bodyPr wrap="square" rtlCol="0">
            <a:spAutoFit/>
          </a:bodyPr>
          <a:lstStyle/>
          <a:p>
            <a:r>
              <a:rPr lang="zh-CN" altLang="en-US" sz="1200" b="0" i="0" dirty="0">
                <a:solidFill>
                  <a:srgbClr val="000000"/>
                </a:solidFill>
                <a:latin typeface="宋体" panose="02010600030101010101" pitchFamily="2" charset="-122"/>
                <a:cs typeface="宋体" panose="02010600030101010101" pitchFamily="2" charset="-122"/>
              </a:rPr>
              <a:t>如上图所示，参考结构化在岗辅导模式有助于高级与资深客户经理向他人提供有效的辅导反馈，在帮助他人能力提升的同时，完善自身的能力短板</a:t>
            </a:r>
            <a:endParaRPr kumimoji="1" lang="zh-CN" altLang="en-US" sz="1200" dirty="0"/>
          </a:p>
        </p:txBody>
      </p:sp>
      <p:sp>
        <p:nvSpPr>
          <p:cNvPr id="4" name="矩形 3"/>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29</a:t>
            </a:fld>
            <a:endParaRPr lang="zh-CN" altLang="en-US"/>
          </a:p>
        </p:txBody>
      </p:sp>
      <p:sp>
        <p:nvSpPr>
          <p:cNvPr id="5" name="标题 1"/>
          <p:cNvSpPr txBox="1"/>
          <p:nvPr/>
        </p:nvSpPr>
        <p:spPr>
          <a:xfrm>
            <a:off x="684212" y="936550"/>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在岗辅导实践相关表单</a:t>
            </a:r>
          </a:p>
        </p:txBody>
      </p:sp>
      <p:sp>
        <p:nvSpPr>
          <p:cNvPr id="4" name="矩形 3"/>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pic>
        <p:nvPicPr>
          <p:cNvPr id="7" name="图片 6">
            <a:extLst>
              <a:ext uri="{FF2B5EF4-FFF2-40B4-BE49-F238E27FC236}">
                <a16:creationId xmlns:a16="http://schemas.microsoft.com/office/drawing/2014/main" id="{A62DAF1B-37F3-B51A-DF37-F8060058B76E}"/>
              </a:ext>
            </a:extLst>
          </p:cNvPr>
          <p:cNvPicPr>
            <a:picLocks noChangeAspect="1"/>
          </p:cNvPicPr>
          <p:nvPr/>
        </p:nvPicPr>
        <p:blipFill>
          <a:blip r:embed="rId2"/>
          <a:stretch>
            <a:fillRect/>
          </a:stretch>
        </p:blipFill>
        <p:spPr>
          <a:xfrm>
            <a:off x="972079" y="1596950"/>
            <a:ext cx="7772400" cy="1948472"/>
          </a:xfrm>
          <a:prstGeom prst="rect">
            <a:avLst/>
          </a:prstGeom>
        </p:spPr>
      </p:pic>
      <p:pic>
        <p:nvPicPr>
          <p:cNvPr id="8" name="图片 7">
            <a:extLst>
              <a:ext uri="{FF2B5EF4-FFF2-40B4-BE49-F238E27FC236}">
                <a16:creationId xmlns:a16="http://schemas.microsoft.com/office/drawing/2014/main" id="{88A0846A-7ADA-E50A-1226-46CD4394BAA3}"/>
              </a:ext>
            </a:extLst>
          </p:cNvPr>
          <p:cNvPicPr>
            <a:picLocks noChangeAspect="1"/>
          </p:cNvPicPr>
          <p:nvPr/>
        </p:nvPicPr>
        <p:blipFill>
          <a:blip r:embed="rId3"/>
          <a:stretch>
            <a:fillRect/>
          </a:stretch>
        </p:blipFill>
        <p:spPr>
          <a:xfrm>
            <a:off x="972079" y="3545422"/>
            <a:ext cx="7772400" cy="1591764"/>
          </a:xfrm>
          <a:prstGeom prst="rect">
            <a:avLst/>
          </a:prstGeom>
        </p:spPr>
      </p:pic>
      <p:pic>
        <p:nvPicPr>
          <p:cNvPr id="9" name="图片 8">
            <a:extLst>
              <a:ext uri="{FF2B5EF4-FFF2-40B4-BE49-F238E27FC236}">
                <a16:creationId xmlns:a16="http://schemas.microsoft.com/office/drawing/2014/main" id="{9FE06DF3-FC30-07F8-ACC8-6ECC9B1E9A9C}"/>
              </a:ext>
            </a:extLst>
          </p:cNvPr>
          <p:cNvPicPr>
            <a:picLocks noChangeAspect="1"/>
          </p:cNvPicPr>
          <p:nvPr/>
        </p:nvPicPr>
        <p:blipFill>
          <a:blip r:embed="rId4"/>
          <a:stretch>
            <a:fillRect/>
          </a:stretch>
        </p:blipFill>
        <p:spPr>
          <a:xfrm>
            <a:off x="972079" y="5200076"/>
            <a:ext cx="7772400" cy="1610303"/>
          </a:xfrm>
          <a:prstGeom prst="rect">
            <a:avLst/>
          </a:prstGeom>
        </p:spPr>
      </p:pic>
    </p:spTree>
    <p:extLst>
      <p:ext uri="{BB962C8B-B14F-4D97-AF65-F5344CB8AC3E}">
        <p14:creationId xmlns:p14="http://schemas.microsoft.com/office/powerpoint/2010/main" val="723630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E12325B5-FEAD-4FF7-889F-BE918B0BF804}" type="slidenum">
              <a:rPr lang="zh-CN" altLang="en-US" smtClean="0"/>
              <a:t>30</a:t>
            </a:fld>
            <a:endParaRPr lang="zh-CN" altLang="en-US"/>
          </a:p>
        </p:txBody>
      </p:sp>
      <p:grpSp>
        <p:nvGrpSpPr>
          <p:cNvPr id="66" name="组合 65"/>
          <p:cNvGrpSpPr/>
          <p:nvPr/>
        </p:nvGrpSpPr>
        <p:grpSpPr>
          <a:xfrm>
            <a:off x="705610" y="1733029"/>
            <a:ext cx="8494780" cy="4655661"/>
            <a:chOff x="714536" y="1530759"/>
            <a:chExt cx="8494780" cy="4655661"/>
          </a:xfrm>
        </p:grpSpPr>
        <p:grpSp>
          <p:nvGrpSpPr>
            <p:cNvPr id="31" name="组合 30"/>
            <p:cNvGrpSpPr/>
            <p:nvPr/>
          </p:nvGrpSpPr>
          <p:grpSpPr>
            <a:xfrm>
              <a:off x="1290427" y="3188889"/>
              <a:ext cx="7536972" cy="1343903"/>
              <a:chOff x="1172860" y="2607973"/>
              <a:chExt cx="7536972" cy="1343903"/>
            </a:xfrm>
          </p:grpSpPr>
          <p:grpSp>
            <p:nvGrpSpPr>
              <p:cNvPr id="32" name="组合 31"/>
              <p:cNvGrpSpPr/>
              <p:nvPr/>
            </p:nvGrpSpPr>
            <p:grpSpPr>
              <a:xfrm>
                <a:off x="1172860" y="2607973"/>
                <a:ext cx="7534953" cy="428684"/>
                <a:chOff x="1172860" y="2607973"/>
                <a:chExt cx="7534953" cy="428684"/>
              </a:xfrm>
            </p:grpSpPr>
            <p:sp>
              <p:nvSpPr>
                <p:cNvPr id="42" name="矩形 41"/>
                <p:cNvSpPr/>
                <p:nvPr/>
              </p:nvSpPr>
              <p:spPr bwMode="auto">
                <a:xfrm>
                  <a:off x="1172860" y="2607973"/>
                  <a:ext cx="1965040" cy="428684"/>
                </a:xfrm>
                <a:prstGeom prst="rect">
                  <a:avLst/>
                </a:prstGeom>
                <a:solidFill>
                  <a:srgbClr val="00339A"/>
                </a:solidFill>
                <a:ln w="9525" cap="flat" cmpd="sng" algn="ctr">
                  <a:noFill/>
                  <a:prstDash val="solid"/>
                  <a:round/>
                  <a:headEnd type="none" w="med" len="med"/>
                  <a:tailEnd type="none" w="med" len="med"/>
                </a:ln>
                <a:effectLst/>
              </p:spPr>
              <p:txBody>
                <a:bodyPr vert="horz" wrap="square" lIns="0" tIns="0" rIns="0" bIns="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r>
                    <a:rPr lang="zh-CN" altLang="en-US" dirty="0">
                      <a:solidFill>
                        <a:schemeClr val="bg1"/>
                      </a:solidFill>
                      <a:latin typeface="Arial" panose="020B0604020202020204" pitchFamily="34" charset="0"/>
                    </a:rPr>
                    <a:t>确定行动学习主题</a:t>
                  </a:r>
                  <a:endParaRPr kumimoji="0" lang="zh-CN" altLang="en-US" sz="1300" b="1" i="0" u="none" strike="noStrike" cap="none" normalizeH="0" baseline="0" dirty="0">
                    <a:ln>
                      <a:noFill/>
                    </a:ln>
                    <a:solidFill>
                      <a:schemeClr val="bg1"/>
                    </a:solidFill>
                    <a:effectLst/>
                    <a:latin typeface="Arial" panose="020B0604020202020204" pitchFamily="34" charset="0"/>
                  </a:endParaRPr>
                </a:p>
              </p:txBody>
            </p:sp>
            <p:sp>
              <p:nvSpPr>
                <p:cNvPr id="43" name="矩形 42"/>
                <p:cNvSpPr/>
                <p:nvPr/>
              </p:nvSpPr>
              <p:spPr bwMode="auto">
                <a:xfrm>
                  <a:off x="6742773" y="2607973"/>
                  <a:ext cx="1965040" cy="428684"/>
                </a:xfrm>
                <a:prstGeom prst="rect">
                  <a:avLst/>
                </a:prstGeom>
                <a:solidFill>
                  <a:srgbClr val="00339A"/>
                </a:solidFill>
                <a:ln w="9525" cap="flat" cmpd="sng" algn="ctr">
                  <a:noFill/>
                  <a:prstDash val="solid"/>
                  <a:round/>
                  <a:headEnd type="none" w="med" len="med"/>
                  <a:tailEnd type="none" w="med" len="med"/>
                </a:ln>
                <a:effectLst/>
              </p:spPr>
              <p:txBody>
                <a:bodyPr vert="horz" wrap="square" lIns="0" tIns="0" rIns="0" bIns="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13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制定行动计划</a:t>
                  </a:r>
                </a:p>
              </p:txBody>
            </p:sp>
            <p:sp>
              <p:nvSpPr>
                <p:cNvPr id="44" name="矩形 43"/>
                <p:cNvSpPr/>
                <p:nvPr/>
              </p:nvSpPr>
              <p:spPr bwMode="auto">
                <a:xfrm>
                  <a:off x="3957816" y="2607973"/>
                  <a:ext cx="1965040" cy="428684"/>
                </a:xfrm>
                <a:prstGeom prst="rect">
                  <a:avLst/>
                </a:prstGeom>
                <a:solidFill>
                  <a:srgbClr val="00339A"/>
                </a:solidFill>
                <a:ln w="9525" cap="flat" cmpd="sng" algn="ctr">
                  <a:noFill/>
                  <a:prstDash val="solid"/>
                  <a:round/>
                  <a:headEnd type="none" w="med" len="med"/>
                  <a:tailEnd type="none" w="med" len="med"/>
                </a:ln>
                <a:effectLst/>
              </p:spPr>
              <p:txBody>
                <a:bodyPr vert="horz" wrap="square" lIns="0" tIns="0" rIns="0" bIns="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13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组织现场讨论</a:t>
                  </a:r>
                </a:p>
              </p:txBody>
            </p:sp>
          </p:grpSp>
          <p:grpSp>
            <p:nvGrpSpPr>
              <p:cNvPr id="33" name="组合 32"/>
              <p:cNvGrpSpPr/>
              <p:nvPr/>
            </p:nvGrpSpPr>
            <p:grpSpPr>
              <a:xfrm>
                <a:off x="1174879" y="3523192"/>
                <a:ext cx="7534953" cy="428684"/>
                <a:chOff x="1172860" y="2607973"/>
                <a:chExt cx="7534953" cy="428684"/>
              </a:xfrm>
            </p:grpSpPr>
            <p:sp>
              <p:nvSpPr>
                <p:cNvPr id="39" name="矩形 38"/>
                <p:cNvSpPr/>
                <p:nvPr/>
              </p:nvSpPr>
              <p:spPr bwMode="auto">
                <a:xfrm>
                  <a:off x="1172860" y="2607973"/>
                  <a:ext cx="1965040" cy="428684"/>
                </a:xfrm>
                <a:prstGeom prst="rect">
                  <a:avLst/>
                </a:prstGeom>
                <a:solidFill>
                  <a:srgbClr val="92D050"/>
                </a:solidFill>
                <a:ln w="9525" cap="flat" cmpd="sng" algn="ctr">
                  <a:noFill/>
                  <a:prstDash val="solid"/>
                  <a:round/>
                  <a:headEnd type="none" w="med" len="med"/>
                  <a:tailEnd type="none" w="med" len="med"/>
                </a:ln>
                <a:effectLst/>
              </p:spPr>
              <p:txBody>
                <a:bodyPr vert="horz" wrap="square" lIns="0" tIns="0" rIns="0" bIns="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r>
                    <a:rPr lang="zh-CN" altLang="en-US" dirty="0">
                      <a:solidFill>
                        <a:schemeClr val="bg1"/>
                      </a:solidFill>
                      <a:latin typeface="Arial" panose="020B0604020202020204" pitchFamily="34" charset="0"/>
                    </a:rPr>
                    <a:t>总结沉淀汇报</a:t>
                  </a:r>
                  <a:endParaRPr kumimoji="0" lang="zh-CN" altLang="en-US" sz="13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p:txBody>
            </p:sp>
            <p:sp>
              <p:nvSpPr>
                <p:cNvPr id="40" name="矩形 39"/>
                <p:cNvSpPr/>
                <p:nvPr/>
              </p:nvSpPr>
              <p:spPr bwMode="auto">
                <a:xfrm>
                  <a:off x="6742773" y="2607973"/>
                  <a:ext cx="1965040" cy="428684"/>
                </a:xfrm>
                <a:prstGeom prst="rect">
                  <a:avLst/>
                </a:prstGeom>
                <a:solidFill>
                  <a:srgbClr val="92D050"/>
                </a:solidFill>
                <a:ln w="9525" cap="flat" cmpd="sng" algn="ctr">
                  <a:noFill/>
                  <a:prstDash val="solid"/>
                  <a:round/>
                  <a:headEnd type="none" w="med" len="med"/>
                  <a:tailEnd type="none" w="med" len="med"/>
                </a:ln>
                <a:effectLst/>
              </p:spPr>
              <p:txBody>
                <a:bodyPr vert="horz" wrap="square" lIns="0" tIns="0" rIns="0" bIns="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r>
                    <a:rPr lang="zh-CN" altLang="en-US" dirty="0">
                      <a:solidFill>
                        <a:schemeClr val="bg1"/>
                      </a:solidFill>
                      <a:latin typeface="Arial" panose="020B0604020202020204" pitchFamily="34" charset="0"/>
                    </a:rPr>
                    <a:t>监督</a:t>
                  </a:r>
                  <a:r>
                    <a:rPr kumimoji="0" lang="zh-CN" altLang="en-US" sz="13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方案实施</a:t>
                  </a:r>
                </a:p>
              </p:txBody>
            </p:sp>
            <p:sp>
              <p:nvSpPr>
                <p:cNvPr id="41" name="矩形 40"/>
                <p:cNvSpPr/>
                <p:nvPr/>
              </p:nvSpPr>
              <p:spPr bwMode="auto">
                <a:xfrm>
                  <a:off x="3957816" y="2607973"/>
                  <a:ext cx="1965040" cy="428684"/>
                </a:xfrm>
                <a:prstGeom prst="rect">
                  <a:avLst/>
                </a:prstGeom>
                <a:solidFill>
                  <a:srgbClr val="92D050"/>
                </a:solidFill>
                <a:ln w="9525" cap="flat" cmpd="sng" algn="ctr">
                  <a:noFill/>
                  <a:prstDash val="solid"/>
                  <a:round/>
                  <a:headEnd type="none" w="med" len="med"/>
                  <a:tailEnd type="none" w="med" len="med"/>
                </a:ln>
                <a:effectLst/>
              </p:spPr>
              <p:txBody>
                <a:bodyPr vert="horz" wrap="square" lIns="0" tIns="0" rIns="0" bIns="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13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评估行动效果</a:t>
                  </a:r>
                </a:p>
              </p:txBody>
            </p:sp>
          </p:grpSp>
          <p:cxnSp>
            <p:nvCxnSpPr>
              <p:cNvPr id="34" name="直接箭头连接符 33"/>
              <p:cNvCxnSpPr>
                <a:stCxn id="42" idx="3"/>
                <a:endCxn id="44" idx="1"/>
              </p:cNvCxnSpPr>
              <p:nvPr/>
            </p:nvCxnSpPr>
            <p:spPr bwMode="auto">
              <a:xfrm>
                <a:off x="3137900" y="2822315"/>
                <a:ext cx="819916"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5" name="直接箭头连接符 34"/>
              <p:cNvCxnSpPr>
                <a:stCxn id="44" idx="3"/>
                <a:endCxn id="43" idx="1"/>
              </p:cNvCxnSpPr>
              <p:nvPr/>
            </p:nvCxnSpPr>
            <p:spPr bwMode="auto">
              <a:xfrm>
                <a:off x="5922856" y="2822315"/>
                <a:ext cx="819917"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6" name="直接箭头连接符 35"/>
              <p:cNvCxnSpPr>
                <a:stCxn id="43" idx="2"/>
                <a:endCxn id="40" idx="0"/>
              </p:cNvCxnSpPr>
              <p:nvPr/>
            </p:nvCxnSpPr>
            <p:spPr bwMode="auto">
              <a:xfrm>
                <a:off x="7725293" y="3036657"/>
                <a:ext cx="2019" cy="486535"/>
              </a:xfrm>
              <a:prstGeom prst="straightConnector1">
                <a:avLst/>
              </a:prstGeom>
              <a:solidFill>
                <a:schemeClr val="accent1"/>
              </a:solidFill>
              <a:ln w="9525" cap="flat" cmpd="sng" algn="ctr">
                <a:solidFill>
                  <a:schemeClr val="tx1"/>
                </a:solidFill>
                <a:prstDash val="lgDash"/>
                <a:round/>
                <a:headEnd type="none" w="med" len="med"/>
                <a:tailEnd type="arrow"/>
              </a:ln>
              <a:effectLst/>
            </p:spPr>
          </p:cxnSp>
          <p:cxnSp>
            <p:nvCxnSpPr>
              <p:cNvPr id="37" name="直接箭头连接符 36"/>
              <p:cNvCxnSpPr>
                <a:stCxn id="40" idx="1"/>
                <a:endCxn id="41" idx="3"/>
              </p:cNvCxnSpPr>
              <p:nvPr/>
            </p:nvCxnSpPr>
            <p:spPr bwMode="auto">
              <a:xfrm flipH="1">
                <a:off x="5924875" y="3737534"/>
                <a:ext cx="819917"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8" name="直接箭头连接符 37"/>
              <p:cNvCxnSpPr>
                <a:stCxn id="41" idx="1"/>
                <a:endCxn id="39" idx="3"/>
              </p:cNvCxnSpPr>
              <p:nvPr/>
            </p:nvCxnSpPr>
            <p:spPr bwMode="auto">
              <a:xfrm flipH="1">
                <a:off x="3139919" y="3737534"/>
                <a:ext cx="819916"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
          <p:nvSpPr>
            <p:cNvPr id="51" name="下箭头 50"/>
            <p:cNvSpPr/>
            <p:nvPr/>
          </p:nvSpPr>
          <p:spPr bwMode="auto">
            <a:xfrm>
              <a:off x="2081251" y="2861056"/>
              <a:ext cx="383391" cy="274320"/>
            </a:xfrm>
            <a:prstGeom prst="downArrow">
              <a:avLst/>
            </a:prstGeom>
            <a:no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52" name="下箭头 51"/>
            <p:cNvSpPr/>
            <p:nvPr/>
          </p:nvSpPr>
          <p:spPr bwMode="auto">
            <a:xfrm>
              <a:off x="4866206" y="2861056"/>
              <a:ext cx="383391" cy="274320"/>
            </a:xfrm>
            <a:prstGeom prst="downArrow">
              <a:avLst/>
            </a:prstGeom>
            <a:no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53" name="下箭头 52"/>
            <p:cNvSpPr/>
            <p:nvPr/>
          </p:nvSpPr>
          <p:spPr bwMode="auto">
            <a:xfrm>
              <a:off x="7651162" y="2861056"/>
              <a:ext cx="383391" cy="274320"/>
            </a:xfrm>
            <a:prstGeom prst="downArrow">
              <a:avLst/>
            </a:prstGeom>
            <a:no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54" name="下箭头 53"/>
            <p:cNvSpPr/>
            <p:nvPr/>
          </p:nvSpPr>
          <p:spPr bwMode="auto">
            <a:xfrm rot="10800000">
              <a:off x="7653183" y="4612231"/>
              <a:ext cx="383391" cy="274320"/>
            </a:xfrm>
            <a:prstGeom prst="downArrow">
              <a:avLst/>
            </a:prstGeom>
            <a:no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55" name="下箭头 54"/>
            <p:cNvSpPr/>
            <p:nvPr/>
          </p:nvSpPr>
          <p:spPr bwMode="auto">
            <a:xfrm rot="10800000">
              <a:off x="4866205" y="4612231"/>
              <a:ext cx="383391" cy="274320"/>
            </a:xfrm>
            <a:prstGeom prst="downArrow">
              <a:avLst/>
            </a:prstGeom>
            <a:no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56" name="下箭头 55"/>
            <p:cNvSpPr/>
            <p:nvPr/>
          </p:nvSpPr>
          <p:spPr bwMode="auto">
            <a:xfrm rot="10800000">
              <a:off x="2081251" y="4612232"/>
              <a:ext cx="383391" cy="274320"/>
            </a:xfrm>
            <a:prstGeom prst="downArrow">
              <a:avLst/>
            </a:prstGeom>
            <a:noFill/>
            <a:ln w="9525" cap="flat" cmpd="sng" algn="ctr">
              <a:solidFill>
                <a:schemeClr val="bg2"/>
              </a:solidFill>
              <a:prstDash val="solid"/>
              <a:round/>
              <a:headEnd type="none" w="med" len="med"/>
              <a:tailEnd type="none" w="med" len="med"/>
            </a:ln>
            <a:effectLst/>
          </p:spPr>
          <p:txBody>
            <a:bodyPr vert="horz" wrap="square" lIns="0" tIns="0" rIns="0" bIns="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sp>
          <p:nvSpPr>
            <p:cNvPr id="57" name="TextBox 56"/>
            <p:cNvSpPr txBox="1"/>
            <p:nvPr/>
          </p:nvSpPr>
          <p:spPr>
            <a:xfrm>
              <a:off x="714536" y="3339688"/>
              <a:ext cx="630868" cy="1092607"/>
            </a:xfrm>
            <a:prstGeom prst="rect">
              <a:avLst/>
            </a:prstGeom>
            <a:noFill/>
          </p:spPr>
          <p:txBody>
            <a:bodyPr wrap="square" rtlCol="0">
              <a:spAutoFit/>
            </a:bodyPr>
            <a:lstStyle/>
            <a:p>
              <a:pPr algn="ctr"/>
              <a:r>
                <a:rPr lang="zh-CN" altLang="en-US" dirty="0"/>
                <a:t>方案研讨</a:t>
              </a:r>
              <a:endParaRPr lang="en-US" altLang="zh-CN" dirty="0"/>
            </a:p>
            <a:p>
              <a:pPr algn="ctr"/>
              <a:r>
                <a:rPr lang="en-US" altLang="zh-CN" dirty="0"/>
                <a:t>+</a:t>
              </a:r>
            </a:p>
            <a:p>
              <a:pPr algn="ctr"/>
              <a:r>
                <a:rPr lang="zh-CN" altLang="en-US" dirty="0"/>
                <a:t>在岗实践</a:t>
              </a:r>
            </a:p>
          </p:txBody>
        </p:sp>
        <p:sp>
          <p:nvSpPr>
            <p:cNvPr id="58" name="圆角矩形 57"/>
            <p:cNvSpPr/>
            <p:nvPr/>
          </p:nvSpPr>
          <p:spPr bwMode="auto">
            <a:xfrm>
              <a:off x="727599" y="3135376"/>
              <a:ext cx="8481717" cy="1444098"/>
            </a:xfrm>
            <a:prstGeom prst="roundRect">
              <a:avLst>
                <a:gd name="adj" fmla="val 10335"/>
              </a:avLst>
            </a:prstGeom>
            <a:noFill/>
            <a:ln w="9525" cap="flat" cmpd="sng" algn="ctr">
              <a:solidFill>
                <a:srgbClr val="0070C0"/>
              </a:solidFill>
              <a:prstDash val="solid"/>
              <a:round/>
              <a:headEnd type="none" w="med" len="med"/>
              <a:tailEnd type="none" w="med" len="med"/>
            </a:ln>
            <a:effectLst/>
          </p:spPr>
          <p:txBody>
            <a:bodyPr vert="horz" wrap="square" lIns="0" tIns="0" rIns="0" bIns="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p:txBody>
        </p:sp>
        <p:grpSp>
          <p:nvGrpSpPr>
            <p:cNvPr id="61" name="组合 60"/>
            <p:cNvGrpSpPr/>
            <p:nvPr/>
          </p:nvGrpSpPr>
          <p:grpSpPr>
            <a:xfrm>
              <a:off x="1001507" y="1530759"/>
              <a:ext cx="8136000" cy="1461939"/>
              <a:chOff x="1292445" y="1376384"/>
              <a:chExt cx="7534954" cy="1461939"/>
            </a:xfrm>
          </p:grpSpPr>
          <p:sp>
            <p:nvSpPr>
              <p:cNvPr id="45" name="TextBox 44"/>
              <p:cNvSpPr txBox="1"/>
              <p:nvPr/>
            </p:nvSpPr>
            <p:spPr>
              <a:xfrm>
                <a:off x="1292445" y="1376384"/>
                <a:ext cx="1963021" cy="1461939"/>
              </a:xfrm>
              <a:prstGeom prst="rect">
                <a:avLst/>
              </a:prstGeom>
              <a:noFill/>
            </p:spPr>
            <p:txBody>
              <a:bodyPr wrap="square" rtlCol="0">
                <a:spAutoFit/>
              </a:bodyPr>
              <a:lstStyle/>
              <a:p>
                <a:pPr marL="177800" indent="-177800">
                  <a:spcAft>
                    <a:spcPts val="600"/>
                  </a:spcAft>
                  <a:buFont typeface="Wingdings" panose="05000000000000000000" pitchFamily="2" charset="2"/>
                  <a:buChar char="l"/>
                </a:pPr>
                <a:r>
                  <a:rPr lang="zh-CN" altLang="en-US" sz="1200" b="0" dirty="0"/>
                  <a:t>针对行内当前的重点业务内容，选取贴近一线业务内容的研讨选题</a:t>
                </a:r>
                <a:endParaRPr lang="en-US" altLang="zh-CN" sz="1200" b="0" dirty="0"/>
              </a:p>
              <a:p>
                <a:pPr marL="177800" indent="-177800">
                  <a:spcAft>
                    <a:spcPts val="600"/>
                  </a:spcAft>
                  <a:buFont typeface="Wingdings" panose="05000000000000000000" pitchFamily="2" charset="2"/>
                  <a:buChar char="l"/>
                </a:pPr>
                <a:r>
                  <a:rPr lang="zh-CN" altLang="en-US" sz="1200" b="0" dirty="0"/>
                  <a:t>注重选题的实时性，能有效反映当前业务开展过程中所遇到的具体问题</a:t>
                </a:r>
              </a:p>
            </p:txBody>
          </p:sp>
          <p:sp>
            <p:nvSpPr>
              <p:cNvPr id="59" name="TextBox 58"/>
              <p:cNvSpPr txBox="1"/>
              <p:nvPr/>
            </p:nvSpPr>
            <p:spPr>
              <a:xfrm>
                <a:off x="4079421" y="1376384"/>
                <a:ext cx="1963021" cy="1354217"/>
              </a:xfrm>
              <a:prstGeom prst="rect">
                <a:avLst/>
              </a:prstGeom>
              <a:noFill/>
            </p:spPr>
            <p:txBody>
              <a:bodyPr wrap="square" rtlCol="0">
                <a:spAutoFit/>
              </a:bodyPr>
              <a:lstStyle/>
              <a:p>
                <a:pPr marL="177800" indent="-177800">
                  <a:spcAft>
                    <a:spcPts val="600"/>
                  </a:spcAft>
                  <a:buFont typeface="Wingdings" panose="05000000000000000000" pitchFamily="2" charset="2"/>
                  <a:buChar char="l"/>
                </a:pPr>
                <a:r>
                  <a:rPr lang="zh-CN" altLang="en-US" sz="1200" b="0" dirty="0"/>
                  <a:t>有效利用集中培训的时间间隙，组织学员小组进行讨论</a:t>
                </a:r>
                <a:endParaRPr lang="en-US" altLang="zh-CN" sz="1200" b="0" dirty="0"/>
              </a:p>
              <a:p>
                <a:pPr marL="177800" indent="-177800">
                  <a:spcAft>
                    <a:spcPts val="600"/>
                  </a:spcAft>
                  <a:buFont typeface="Wingdings" panose="05000000000000000000" pitchFamily="2" charset="2"/>
                  <a:buChar char="l"/>
                </a:pPr>
                <a:r>
                  <a:rPr lang="zh-CN" altLang="en-US" sz="1200" b="0" dirty="0"/>
                  <a:t>分析选题中所反映的真实问题及导致的原因</a:t>
                </a:r>
                <a:endParaRPr lang="en-US" altLang="zh-CN" sz="1200" b="0" dirty="0"/>
              </a:p>
              <a:p>
                <a:pPr marL="177800" indent="-177800">
                  <a:spcAft>
                    <a:spcPts val="600"/>
                  </a:spcAft>
                  <a:buFont typeface="Wingdings" panose="05000000000000000000" pitchFamily="2" charset="2"/>
                  <a:buChar char="l"/>
                </a:pPr>
                <a:r>
                  <a:rPr lang="zh-CN" altLang="en-US" sz="1200" b="0" dirty="0"/>
                  <a:t>制定应对策略与方案</a:t>
                </a:r>
              </a:p>
            </p:txBody>
          </p:sp>
          <p:sp>
            <p:nvSpPr>
              <p:cNvPr id="60" name="TextBox 59"/>
              <p:cNvSpPr txBox="1"/>
              <p:nvPr/>
            </p:nvSpPr>
            <p:spPr>
              <a:xfrm>
                <a:off x="6864378" y="1376384"/>
                <a:ext cx="1963021" cy="723275"/>
              </a:xfrm>
              <a:prstGeom prst="rect">
                <a:avLst/>
              </a:prstGeom>
              <a:noFill/>
            </p:spPr>
            <p:txBody>
              <a:bodyPr wrap="square" rtlCol="0">
                <a:spAutoFit/>
              </a:bodyPr>
              <a:lstStyle/>
              <a:p>
                <a:pPr marL="177800" indent="-177800">
                  <a:spcAft>
                    <a:spcPts val="600"/>
                  </a:spcAft>
                  <a:buFont typeface="Wingdings" panose="05000000000000000000" pitchFamily="2" charset="2"/>
                  <a:buChar char="l"/>
                </a:pPr>
                <a:r>
                  <a:rPr lang="zh-CN" altLang="en-US" sz="1200" b="0" dirty="0"/>
                  <a:t>基于解决方案制定个人行动计划</a:t>
                </a:r>
                <a:endParaRPr lang="en-US" altLang="zh-CN" sz="1200" b="0" dirty="0"/>
              </a:p>
              <a:p>
                <a:pPr marL="177800" indent="-177800">
                  <a:spcAft>
                    <a:spcPts val="600"/>
                  </a:spcAft>
                  <a:buFont typeface="Wingdings" panose="05000000000000000000" pitchFamily="2" charset="2"/>
                  <a:buChar char="l"/>
                </a:pPr>
                <a:r>
                  <a:rPr lang="zh-CN" altLang="en-US" sz="1200" b="0" dirty="0"/>
                  <a:t>签订行动承诺</a:t>
                </a:r>
                <a:endParaRPr lang="en-US" altLang="zh-CN" sz="1200" b="0" dirty="0"/>
              </a:p>
            </p:txBody>
          </p:sp>
        </p:grpSp>
        <p:grpSp>
          <p:nvGrpSpPr>
            <p:cNvPr id="62" name="组合 61"/>
            <p:cNvGrpSpPr/>
            <p:nvPr/>
          </p:nvGrpSpPr>
          <p:grpSpPr>
            <a:xfrm>
              <a:off x="1001507" y="4909147"/>
              <a:ext cx="8136000" cy="1277273"/>
              <a:chOff x="1292445" y="1376384"/>
              <a:chExt cx="7534954" cy="1277273"/>
            </a:xfrm>
          </p:grpSpPr>
          <p:sp>
            <p:nvSpPr>
              <p:cNvPr id="63" name="TextBox 62"/>
              <p:cNvSpPr txBox="1"/>
              <p:nvPr/>
            </p:nvSpPr>
            <p:spPr>
              <a:xfrm>
                <a:off x="1292445" y="1376384"/>
                <a:ext cx="1963021" cy="1092607"/>
              </a:xfrm>
              <a:prstGeom prst="rect">
                <a:avLst/>
              </a:prstGeom>
              <a:noFill/>
            </p:spPr>
            <p:txBody>
              <a:bodyPr wrap="square" rtlCol="0">
                <a:spAutoFit/>
              </a:bodyPr>
              <a:lstStyle/>
              <a:p>
                <a:pPr marL="177800" indent="-177800">
                  <a:spcAft>
                    <a:spcPts val="600"/>
                  </a:spcAft>
                  <a:buFont typeface="Wingdings" panose="05000000000000000000" pitchFamily="2" charset="2"/>
                  <a:buChar char="l"/>
                </a:pPr>
                <a:r>
                  <a:rPr lang="zh-CN" altLang="en-US" sz="1200" b="0" dirty="0"/>
                  <a:t>学员个人对行动方案执行情况进行总结</a:t>
                </a:r>
                <a:endParaRPr lang="en-US" altLang="zh-CN" sz="1200" b="0" dirty="0"/>
              </a:p>
              <a:p>
                <a:pPr marL="177800" indent="-177800">
                  <a:spcAft>
                    <a:spcPts val="600"/>
                  </a:spcAft>
                  <a:buFont typeface="Wingdings" panose="05000000000000000000" pitchFamily="2" charset="2"/>
                  <a:buChar char="l"/>
                </a:pPr>
                <a:r>
                  <a:rPr lang="zh-CN" altLang="en-US" sz="1200" b="0" dirty="0"/>
                  <a:t>向培训管理部门提交相应的过程说明材料，进行培训记录存档</a:t>
                </a:r>
              </a:p>
            </p:txBody>
          </p:sp>
          <p:sp>
            <p:nvSpPr>
              <p:cNvPr id="64" name="TextBox 63"/>
              <p:cNvSpPr txBox="1"/>
              <p:nvPr/>
            </p:nvSpPr>
            <p:spPr>
              <a:xfrm>
                <a:off x="4079421" y="1376384"/>
                <a:ext cx="1963021" cy="1277273"/>
              </a:xfrm>
              <a:prstGeom prst="rect">
                <a:avLst/>
              </a:prstGeom>
              <a:noFill/>
            </p:spPr>
            <p:txBody>
              <a:bodyPr wrap="square" rtlCol="0">
                <a:spAutoFit/>
              </a:bodyPr>
              <a:lstStyle/>
              <a:p>
                <a:pPr marL="177800" indent="-177800">
                  <a:spcAft>
                    <a:spcPts val="600"/>
                  </a:spcAft>
                  <a:buFont typeface="Wingdings" panose="05000000000000000000" pitchFamily="2" charset="2"/>
                  <a:buChar char="l"/>
                </a:pPr>
                <a:r>
                  <a:rPr lang="zh-CN" altLang="en-US" sz="1200" b="0" dirty="0"/>
                  <a:t>学员个人对行动方案的执行情况进行个人总结与反思</a:t>
                </a:r>
                <a:endParaRPr lang="en-US" altLang="zh-CN" sz="1200" b="0" dirty="0"/>
              </a:p>
              <a:p>
                <a:pPr marL="177800" indent="-177800">
                  <a:spcAft>
                    <a:spcPts val="600"/>
                  </a:spcAft>
                  <a:buFont typeface="Wingdings" panose="05000000000000000000" pitchFamily="2" charset="2"/>
                  <a:buChar char="l"/>
                </a:pPr>
                <a:r>
                  <a:rPr lang="zh-CN" altLang="en-US" sz="1200" b="0" dirty="0"/>
                  <a:t>由所在单位及直属上级对行动效果进行综合评价</a:t>
                </a:r>
              </a:p>
            </p:txBody>
          </p:sp>
          <p:sp>
            <p:nvSpPr>
              <p:cNvPr id="65" name="TextBox 64"/>
              <p:cNvSpPr txBox="1"/>
              <p:nvPr/>
            </p:nvSpPr>
            <p:spPr>
              <a:xfrm>
                <a:off x="6864378" y="1376384"/>
                <a:ext cx="1963021" cy="1092607"/>
              </a:xfrm>
              <a:prstGeom prst="rect">
                <a:avLst/>
              </a:prstGeom>
              <a:noFill/>
            </p:spPr>
            <p:txBody>
              <a:bodyPr wrap="square" rtlCol="0">
                <a:spAutoFit/>
              </a:bodyPr>
              <a:lstStyle/>
              <a:p>
                <a:pPr marL="177800" indent="-177800">
                  <a:spcAft>
                    <a:spcPts val="600"/>
                  </a:spcAft>
                  <a:buFont typeface="Wingdings" panose="05000000000000000000" pitchFamily="2" charset="2"/>
                  <a:buChar char="l"/>
                </a:pPr>
                <a:r>
                  <a:rPr lang="zh-CN" altLang="en-US" sz="1200" b="0" dirty="0"/>
                  <a:t>由参训学员所在单位及直属上级，进行个人行动计划监督实施</a:t>
                </a:r>
                <a:endParaRPr lang="en-US" altLang="zh-CN" sz="1200" b="0" dirty="0"/>
              </a:p>
              <a:p>
                <a:pPr marL="177800" indent="-177800">
                  <a:spcAft>
                    <a:spcPts val="600"/>
                  </a:spcAft>
                  <a:buFont typeface="Wingdings" panose="05000000000000000000" pitchFamily="2" charset="2"/>
                  <a:buChar char="l"/>
                </a:pPr>
                <a:r>
                  <a:rPr lang="zh-CN" altLang="en-US" sz="1200" b="0" dirty="0"/>
                  <a:t>并在行动计划中填写评价意见</a:t>
                </a:r>
              </a:p>
            </p:txBody>
          </p:sp>
        </p:grpSp>
      </p:grpSp>
      <p:sp>
        <p:nvSpPr>
          <p:cNvPr id="3" name="标题 1"/>
          <p:cNvSpPr txBox="1"/>
          <p:nvPr/>
        </p:nvSpPr>
        <p:spPr>
          <a:xfrm>
            <a:off x="735013" y="1000125"/>
            <a:ext cx="8537575" cy="660400"/>
          </a:xfrm>
          <a:prstGeom prst="rect">
            <a:avLst/>
          </a:prstGeom>
        </p:spPr>
        <p:txBody>
          <a:bodyPr/>
          <a:lstStyle>
            <a:lvl1pPr algn="l" rtl="0" eaLnBrk="0" fontAlgn="base" hangingPunct="0">
              <a:lnSpc>
                <a:spcPct val="93000"/>
              </a:lnSpc>
              <a:spcBef>
                <a:spcPct val="0"/>
              </a:spcBef>
              <a:spcAft>
                <a:spcPct val="0"/>
              </a:spcAft>
              <a:defRPr kumimoji="1" sz="2300" b="1">
                <a:solidFill>
                  <a:srgbClr val="000000"/>
                </a:solidFill>
                <a:latin typeface="华文中宋" panose="02010600040101010101" charset="-122"/>
                <a:ea typeface="华文中宋" panose="02010600040101010101" charset="-122"/>
                <a:cs typeface="华文中宋" panose="02010600040101010101" charset="-122"/>
              </a:defRPr>
            </a:lvl1pPr>
            <a:lvl2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2pPr>
            <a:lvl3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3pPr>
            <a:lvl4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4pPr>
            <a:lvl5pPr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5pPr>
            <a:lvl6pPr marL="4572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6pPr>
            <a:lvl7pPr marL="9144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7pPr>
            <a:lvl8pPr marL="13716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8pPr>
            <a:lvl9pPr marL="1828800" algn="l" rtl="0" eaLnBrk="0" fontAlgn="base" hangingPunct="0">
              <a:lnSpc>
                <a:spcPct val="93000"/>
              </a:lnSpc>
              <a:spcBef>
                <a:spcPct val="0"/>
              </a:spcBef>
              <a:spcAft>
                <a:spcPct val="0"/>
              </a:spcAft>
              <a:defRPr kumimoji="1" sz="2100" b="1">
                <a:solidFill>
                  <a:srgbClr val="000000"/>
                </a:solidFill>
                <a:latin typeface="Arial" panose="020B0604020202020204" pitchFamily="34" charset="0"/>
                <a:ea typeface="宋体" panose="02010600030101010101" pitchFamily="2" charset="-122"/>
              </a:defRPr>
            </a:lvl9pPr>
          </a:lstStyle>
          <a:p>
            <a:r>
              <a:rPr lang="zh-CN" altLang="en-US" kern="0" dirty="0"/>
              <a:t>对于中高级客户经理，建议培养方案中引入行动学习，能进一步提升培训和工作实践的贴合度，助力赋能业务</a:t>
            </a:r>
          </a:p>
        </p:txBody>
      </p:sp>
      <p:sp>
        <p:nvSpPr>
          <p:cNvPr id="4" name="矩形 3"/>
          <p:cNvSpPr/>
          <p:nvPr/>
        </p:nvSpPr>
        <p:spPr>
          <a:xfrm>
            <a:off x="522221" y="385683"/>
            <a:ext cx="2504674" cy="292388"/>
          </a:xfrm>
          <a:prstGeom prst="rect">
            <a:avLst/>
          </a:prstGeom>
        </p:spPr>
        <p:txBody>
          <a:bodyPr wrap="none" anchor="ctr" anchorCtr="0">
            <a:noAutofit/>
          </a:bodyPr>
          <a:lstStyle/>
          <a:p>
            <a:pPr defTabSz="914400" eaLnBrk="1" hangingPunct="1">
              <a:spcBef>
                <a:spcPct val="100000"/>
              </a:spcBef>
              <a:tabLst>
                <a:tab pos="8402320" algn="r"/>
              </a:tabLst>
              <a:defRPr/>
            </a:pPr>
            <a:r>
              <a:rPr kumimoji="1" lang="zh-CN" altLang="en-US"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rPr>
              <a:t>项目落地建议</a:t>
            </a:r>
            <a:endParaRPr kumimoji="1" lang="en-US" altLang="zh-CN" sz="1400" b="1" i="0" u="none" strike="noStrike" kern="0" cap="none" spc="0" normalizeH="0" baseline="0" noProof="0" dirty="0">
              <a:ln>
                <a:noFill/>
              </a:ln>
              <a:solidFill>
                <a:srgbClr val="000000"/>
              </a:solidFill>
              <a:effectLst/>
              <a:uLnTx/>
              <a:uFillTx/>
              <a:latin typeface="华文中宋" panose="02010600040101010101" charset="-122"/>
              <a:ea typeface="华文中宋" panose="0201060004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9EB3A6D-2D7C-E3CE-29F9-170A3F4DF76D}"/>
              </a:ext>
            </a:extLst>
          </p:cNvPr>
          <p:cNvPicPr>
            <a:picLocks noChangeAspect="1"/>
          </p:cNvPicPr>
          <p:nvPr/>
        </p:nvPicPr>
        <p:blipFill rotWithShape="1">
          <a:blip r:embed="rId3"/>
          <a:srcRect b="38102"/>
          <a:stretch/>
        </p:blipFill>
        <p:spPr>
          <a:xfrm>
            <a:off x="9286" y="-36506"/>
            <a:ext cx="9905968" cy="3448179"/>
          </a:xfrm>
          <a:prstGeom prst="rect">
            <a:avLst/>
          </a:prstGeom>
        </p:spPr>
      </p:pic>
      <p:sp>
        <p:nvSpPr>
          <p:cNvPr id="76" name="矩形 75"/>
          <p:cNvSpPr/>
          <p:nvPr/>
        </p:nvSpPr>
        <p:spPr>
          <a:xfrm>
            <a:off x="0" y="3790140"/>
            <a:ext cx="9906000" cy="2424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73295"/>
            <a:endParaRPr lang="zh-CN" altLang="en-US" sz="1056">
              <a:solidFill>
                <a:prstClr val="white"/>
              </a:solidFill>
              <a:latin typeface="Calibri" panose="020F0502020204030204"/>
              <a:ea typeface="宋体" panose="02010600030101010101" pitchFamily="2" charset="-122"/>
            </a:endParaRPr>
          </a:p>
        </p:txBody>
      </p:sp>
      <p:sp>
        <p:nvSpPr>
          <p:cNvPr id="8" name="文本占位符 2"/>
          <p:cNvSpPr txBox="1"/>
          <p:nvPr/>
        </p:nvSpPr>
        <p:spPr>
          <a:xfrm>
            <a:off x="9286" y="2290474"/>
            <a:ext cx="9882528" cy="808143"/>
          </a:xfrm>
          <a:prstGeom prst="rect">
            <a:avLst/>
          </a:prstGeom>
          <a:noFill/>
          <a:ln>
            <a:noFill/>
          </a:ln>
        </p:spPr>
        <p:txBody>
          <a:bodyPr vert="horz" wrap="square" lIns="37134" tIns="37134" rIns="37134" bIns="37134" rtlCol="0">
            <a:spAutoFit/>
          </a:bodyPr>
          <a:lstStyle>
            <a:lvl1pPr marL="0" marR="0" indent="0" algn="ctr" defTabSz="457200" rtl="0" eaLnBrk="1" fontAlgn="auto" latinLnBrk="0" hangingPunct="1">
              <a:lnSpc>
                <a:spcPct val="130000"/>
              </a:lnSpc>
              <a:spcBef>
                <a:spcPts val="0"/>
              </a:spcBef>
              <a:spcAft>
                <a:spcPts val="0"/>
              </a:spcAft>
              <a:buClrTx/>
              <a:buSzTx/>
              <a:buFontTx/>
              <a:buNone/>
              <a:defRPr kumimoji="0" lang="zh-CN" altLang="en-US" sz="6600" b="0" i="0" u="none" strike="noStrike" kern="1200" cap="none" spc="600" normalizeH="0" baseline="0">
                <a:ln>
                  <a:noFill/>
                </a:ln>
                <a:solidFill>
                  <a:prstClr val="white"/>
                </a:solidFill>
                <a:effectLst>
                  <a:outerShdw blurRad="63500" sx="102000" sy="102000" algn="ctr" rotWithShape="0">
                    <a:prstClr val="black">
                      <a:alpha val="20000"/>
                    </a:prstClr>
                  </a:outerShdw>
                </a:effectLst>
                <a:uLnTx/>
                <a:uFillTx/>
                <a:latin typeface="华文中宋" panose="02010600040101010101" pitchFamily="2" charset="-122"/>
                <a:ea typeface="华文中宋" panose="02010600040101010101" pitchFamily="2" charset="-122"/>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8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a:lstStyle>
          <a:p>
            <a:pPr defTabSz="371429"/>
            <a:r>
              <a:rPr lang="en-US" altLang="zh-CN" sz="4062" b="1" dirty="0"/>
              <a:t>Q&amp;A</a:t>
            </a:r>
            <a:endParaRPr lang="zh-CN" altLang="en-US" sz="4062" b="1" dirty="0"/>
          </a:p>
        </p:txBody>
      </p:sp>
      <p:grpSp>
        <p:nvGrpSpPr>
          <p:cNvPr id="9" name="组合 8"/>
          <p:cNvGrpSpPr/>
          <p:nvPr/>
        </p:nvGrpSpPr>
        <p:grpSpPr>
          <a:xfrm>
            <a:off x="2492020" y="5709935"/>
            <a:ext cx="4921961" cy="492443"/>
            <a:chOff x="2251552" y="4413482"/>
            <a:chExt cx="8262546" cy="606302"/>
          </a:xfrm>
        </p:grpSpPr>
        <p:grpSp>
          <p:nvGrpSpPr>
            <p:cNvPr id="10" name="组合 9"/>
            <p:cNvGrpSpPr/>
            <p:nvPr/>
          </p:nvGrpSpPr>
          <p:grpSpPr>
            <a:xfrm>
              <a:off x="2251552" y="4568980"/>
              <a:ext cx="8262546" cy="0"/>
              <a:chOff x="2495035" y="4711855"/>
              <a:chExt cx="7259987" cy="0"/>
            </a:xfrm>
          </p:grpSpPr>
          <p:cxnSp>
            <p:nvCxnSpPr>
              <p:cNvPr id="12" name="直接连接符 68"/>
              <p:cNvCxnSpPr/>
              <p:nvPr/>
            </p:nvCxnSpPr>
            <p:spPr>
              <a:xfrm>
                <a:off x="2495035" y="4711855"/>
                <a:ext cx="136296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69"/>
              <p:cNvCxnSpPr/>
              <p:nvPr/>
            </p:nvCxnSpPr>
            <p:spPr>
              <a:xfrm>
                <a:off x="8392058" y="4711855"/>
                <a:ext cx="136296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1" name="文本框 27"/>
            <p:cNvSpPr txBox="1"/>
            <p:nvPr/>
          </p:nvSpPr>
          <p:spPr>
            <a:xfrm>
              <a:off x="3837863" y="4413482"/>
              <a:ext cx="5105355" cy="606302"/>
            </a:xfrm>
            <a:prstGeom prst="rect">
              <a:avLst/>
            </a:prstGeom>
            <a:noFill/>
          </p:spPr>
          <p:txBody>
            <a:bodyPr wrap="square" rtlCol="0">
              <a:spAutoFit/>
            </a:bodyPr>
            <a:lstStyle/>
            <a:p>
              <a:pPr algn="dist" defTabSz="773295"/>
              <a:r>
                <a:rPr lang="zh-CN" altLang="en-US" dirty="0">
                  <a:solidFill>
                    <a:prstClr val="black"/>
                  </a:solidFill>
                  <a:latin typeface="ITC Avant Garde Std Bk" panose="020B0502020202020204" pitchFamily="34" charset="0"/>
                </a:rPr>
                <a:t>深圳市辰启知本企业管理咨询有限公司</a:t>
              </a:r>
            </a:p>
          </p:txBody>
        </p: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23"/>
  <p:tag name="COMMONDATA" val="eyJoZGlkIjoiMDRiNWM4ZTRkMzMxZWMzM2IxMDc5NzU0Njk3ODNlNzAif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awmn1U4zh0mNshPs5fMvG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VW0FOLo2BE6pbFa46Lco3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VHwBQ4bsBECWYVhYGLEXH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OHLivX6z90iHZ3FhE1pzY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S2JPCLUKk.RkI_YlgWp2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92oNGgPAWUKcZhYyVzWO0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5Lwxf4k7DEWcMjqHwlMBW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kvAIlWlbW0K3wWyunkTOm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QkUH7pL_tE2Bx9UoV92TS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96zYhyz4Zkq4atvv6F29u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ltjsdvAHwkmy4zzyJc.m5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cnoa5lK4Vk2fXzdzHkHHU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N0hQjgdFUUeaHZ.v5iF8A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rE0dByWnk2VevhAdaXyP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RMNrF_J9VE2JWzqE_ME3U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Tbq_ij7RIEGXiVopN6iRa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HwdE6TxD0aRFECcrwiiZ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1h38rvqwPkadLd90JYz8x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5HJhSpRipUW1wPLmfk_j2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ja9GmBOdvka_dLFa3fiH4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FzwYxog0GFuPBNMqu3R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xtSo_9xQzEO7cL_DK2cKY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0a6jF0AGW0ad2SG78_Mxo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54dp2zkj2EijXpEqIYti2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1h38rvqwPkadLd90JYz8x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3EpXHMYQuka69Qb8DOWfT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vGQMBwNgj0.U9wRXn4JBj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ryswFGIi0O1IsJkHJMC7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ZK5r8m_h0WDuXm8CZn_A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AHfPrOq_A06YCaBQcOlpw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eZK5r8m_h0WDuXm8CZn_A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AHfPrOq_A06YCaBQcOlpw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oz_WkesHTkqv6UHpOfdZ0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CaMGGVQ3Kk.Q7pNT1U1p1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MC5MXCiJAUKdi2o38O2WJ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TEy9nuZ46EWg7LH2aK1F.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bpvXAEqpE0yiDJKjR58Ve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jZZOK.wmY0ui5kd7OBhvN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awmn1U4zh0mNshPs5fMvG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VW0FOLo2BE6pbFa46Lco3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VHwBQ4bsBECWYVhYGLEXH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OHLivX6z90iHZ3FhE1pzY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S2JPCLUKk.RkI_YlgWp2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92oNGgPAWUKcZhYyVzWO0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5Lwxf4k7DEWcMjqHwlMBW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kvAIlWlbW0K3wWyunkTOm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QkUH7pL_tE2Bx9UoV92TS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96zYhyz4Zkq4atvv6F29u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ltjsdvAHwkmy4zzyJc.m5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cnoa5lK4Vk2fXzdzHkHHU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N0hQjgdFUUeaHZ.v5iF8A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BrE0dByWnk2VevhAdaXyPQ"/>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RMNrF_J9VE2JWzqE_ME3UQ"/>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Tbq_ij7RIEGXiVopN6iRa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VHwdE6TxD0aRFECcrwiiZ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1h38rvqwPkadLd90JYz8xg"/>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rdeknhYuXk.wm6VvEv_Et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hUEFXLdMREWwNYz.B9SVeQ"/>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pujF2nuRp0GkT92cT1qq0g"/>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9sSf2SWKlU.00vDKjyM2bg"/>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NxBdC1pDzk2xFb_kLMKEZ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WDUu78wXWkyKXR7Xbv2un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5HJhSpRipUW1wPLmfk_j2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ja9GmBOdvka_dLFa3fiH4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FzwYxog0GFuPBNMqu3RQ"/>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xtSo_9xQzEO7cL_DK2cKY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0a6jF0AGW0ad2SG78_Mxo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54dp2zkj2EijXpEqIYti2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1h38rvqwPkadLd90JYz8x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3EpXHMYQuka69Qb8DOWfT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5X.N8W_jVEC9dHLTY3IGj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vGQMBwNgj0.U9wRXn4JBj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eryswFGIi0O1IsJkHJMC7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eZK5r8m_h0WDuXm8CZn_A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AHfPrOq_A06YCaBQcOlpw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eZK5r8m_h0WDuXm8CZn_Aw"/>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AHfPrOq_A06YCaBQcOlpw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uDEFu95f90qGYtqkw6Meuw"/>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XxYjqvXwrkSKreTu8iZIZ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emkF8.rh3UKpdx.TXEuv.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QG7m5ErVNkOdmnzcdgHUTg"/>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rd3ZMbwex06p3F07I62Oq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oz_WkesHTkqv6UHpOfdZ0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CaMGGVQ3Kk.Q7pNT1U1p1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MC5MXCiJAUKdi2o38O2WJ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TEy9nuZ46EWg7LH2aK1F.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bpvXAEqpE0yiDJKjR58VeQ"/>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jZZOK.wmY0ui5kd7OBhvN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awmn1U4zh0mNshPs5fMvGg"/>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VW0FOLo2BE6pbFa46Lco3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VHwBQ4bsBECWYVhYGLEXHg"/>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OHLivX6z90iHZ3FhE1pzY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S2JPCLUKk.RkI_YlgWp2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92oNGgPAWUKcZhYyVzWO0w"/>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5Lwxf4k7DEWcMjqHwlMBW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pkvAIlWlbW0K3wWyunkTOm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QkUH7pL_tE2Bx9UoV92TSg"/>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96zYhyz4Zkq4atvv6F29ug"/>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ltjsdvAHwkmy4zzyJc.m5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cnoa5lK4Vk2fXzdzHkHHU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N0hQjgdFUUeaHZ.v5iF8AQ"/>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BrE0dByWnk2VevhAdaXyP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RMNrF_J9VE2JWzqE_ME3UQ"/>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Tbq_ij7RIEGXiVopN6iRaA"/>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VHwdE6TxD0aRFECcrwiiZ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p1h38rvqwPkadLd90JYz8xg"/>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prdeknhYuXk.wm6VvEv_Etw"/>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phUEFXLdMREWwNYz.B9SVe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ppujF2nuRp0GkT92cT1qq0g"/>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p9sSf2SWKlU.00vDKjyM2bg"/>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pNxBdC1pDzk2xFb_kLMKEZw"/>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pWDUu78wXWkyKXR7Xbv2unQ"/>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p5HJhSpRipUW1wPLmfk_j2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pja9GmBOdvka_dLFa3fiH4w"/>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p..FzwYxog0GFuPBNMqu3RQ"/>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pxtSo_9xQzEO7cL_DK2cKY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p0a6jF0AGW0ad2SG78_Mxog"/>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p54dp2zkj2EijXpEqIYti2w"/>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p1h38rvqwPkadLd90JYz8xg"/>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pMu9kbPz2t0OsEb5BX877Yg"/>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px7FZQTuVKUStY2L1c0aGu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p4jFkFjmDa0CSs20y35pDEw"/>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p3EpXHMYQuka69Qb8DOWfT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p5X.N8W_jVEC9dHLTY3IGjQ"/>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pvGQMBwNgj0.U9wRXn4JBj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peryswFGIi0O1IsJkHJMC7w"/>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peZK5r8m_h0WDuXm8CZn_Aw"/>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pAHfPrOq_A06YCaBQcOlpwA"/>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peZK5r8m_h0WDuXm8CZn_Aw"/>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pAHfPrOq_A06YCaBQcOlpwA"/>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pa_u3hm5ryEOGcIulm7BjV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puDEFu95f90qGYtqkw6Meuw"/>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pXxYjqvXwrkSKreTu8iZIZA"/>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pemkF8.rh3UKpdx.TXEuv.A"/>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pQG7m5ErVNkOdmnzcdgHUTg"/>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prd3ZMbwex06p3F07I62Oq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poz_WkesHTkqv6UHpOfdZ0g"/>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pCaMGGVQ3Kk.Q7pNT1U1p1Q"/>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pMC5MXCiJAUKdi2o38O2WJg"/>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pTEy9nuZ46EWg7LH2aK1F.A"/>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pbpvXAEqpE0yiDJKjR58VeQ"/>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pjZZOK.wmY0ui5kd7OBhvNA"/>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FFAA00"/>
      </a:lt2>
      <a:accent1>
        <a:srgbClr val="FFFFFF"/>
      </a:accent1>
      <a:accent2>
        <a:srgbClr val="B2D2DE"/>
      </a:accent2>
      <a:accent3>
        <a:srgbClr val="FFFFFF"/>
      </a:accent3>
      <a:accent4>
        <a:srgbClr val="000000"/>
      </a:accent4>
      <a:accent5>
        <a:srgbClr val="FFFFFF"/>
      </a:accent5>
      <a:accent6>
        <a:srgbClr val="A1BEC9"/>
      </a:accent6>
      <a:hlink>
        <a:srgbClr val="366B7E"/>
      </a:hlink>
      <a:folHlink>
        <a:srgbClr val="6CAAC0"/>
      </a:folHlink>
    </a:clrScheme>
    <a:fontScheme name="Default Design">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C000"/>
        </a:solidFill>
        <a:ln w="9525" cap="flat" cmpd="sng" algn="ctr">
          <a:solidFill>
            <a:schemeClr val="tx1"/>
          </a:solidFill>
          <a:prstDash val="solid"/>
          <a:round/>
          <a:headEnd type="none" w="med" len="med"/>
          <a:tailEnd type="none" w="med" len="med"/>
        </a:ln>
      </a:spPr>
      <a:bodyPr rot="0" spcFirstLastPara="0" vertOverflow="overflow" horzOverflow="overflow" vert="horz" wrap="square" lIns="0" tIns="0" rIns="0" bIns="0" numCol="1" spcCol="0" rtlCol="0" fromWordArt="0" anchor="ctr" anchorCtr="0" forceAA="0" compatLnSpc="1">
        <a:noAutofit/>
      </a:bodyPr>
      <a:lstStyle>
        <a:defPPr marL="0" marR="0" indent="0" algn="l" defTabSz="914400" rtl="0" eaLnBrk="0" fontAlgn="base" latinLnBrk="0" hangingPunct="0">
          <a:lnSpc>
            <a:spcPct val="100000"/>
          </a:lnSpc>
          <a:spcBef>
            <a:spcPct val="0"/>
          </a:spcBef>
          <a:spcAft>
            <a:spcPct val="0"/>
          </a:spcAft>
          <a:buClrTx/>
          <a:buSzTx/>
          <a:buFontTx/>
          <a:buNone/>
          <a:defRPr kumimoji="0" sz="1300" b="1"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0" tIns="0" rIns="0" bIns="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sz="13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defRPr>
        </a:defPPr>
      </a:lstStyle>
    </a:lnDef>
  </a:objectDefaults>
  <a:extraClrSchemeLst>
    <a:extraClrScheme>
      <a:clrScheme name="Default Design 1">
        <a:dk1>
          <a:srgbClr val="000000"/>
        </a:dk1>
        <a:lt1>
          <a:srgbClr val="FFFFFF"/>
        </a:lt1>
        <a:dk2>
          <a:srgbClr val="6600CC"/>
        </a:dk2>
        <a:lt2>
          <a:srgbClr val="CCECFF"/>
        </a:lt2>
        <a:accent1>
          <a:srgbClr val="00FFCC"/>
        </a:accent1>
        <a:accent2>
          <a:srgbClr val="9933FF"/>
        </a:accent2>
        <a:accent3>
          <a:srgbClr val="B8AAE2"/>
        </a:accent3>
        <a:accent4>
          <a:srgbClr val="DADADA"/>
        </a:accent4>
        <a:accent5>
          <a:srgbClr val="AAFFE2"/>
        </a:accent5>
        <a:accent6>
          <a:srgbClr val="8A2DE7"/>
        </a:accent6>
        <a:hlink>
          <a:srgbClr val="660066"/>
        </a:hlink>
        <a:folHlink>
          <a:srgbClr val="006699"/>
        </a:folHlink>
      </a:clrScheme>
      <a:clrMap bg1="dk2" tx1="lt1" bg2="dk1" tx2="lt2" accent1="accent1" accent2="accent2" accent3="accent3" accent4="accent4" accent5="accent5" accent6="accent6" hlink="hlink" folHlink="folHlink"/>
    </a:extraClrScheme>
    <a:extraClrScheme>
      <a:clrScheme name="Default Design 2">
        <a:dk1>
          <a:srgbClr val="660066"/>
        </a:dk1>
        <a:lt1>
          <a:srgbClr val="FFFFFF"/>
        </a:lt1>
        <a:dk2>
          <a:srgbClr val="FF00FF"/>
        </a:dk2>
        <a:lt2>
          <a:srgbClr val="FFCC99"/>
        </a:lt2>
        <a:accent1>
          <a:srgbClr val="99FF99"/>
        </a:accent1>
        <a:accent2>
          <a:srgbClr val="CC66FF"/>
        </a:accent2>
        <a:accent3>
          <a:srgbClr val="FFFFFF"/>
        </a:accent3>
        <a:accent4>
          <a:srgbClr val="560056"/>
        </a:accent4>
        <a:accent5>
          <a:srgbClr val="CAFFCA"/>
        </a:accent5>
        <a:accent6>
          <a:srgbClr val="B95CE7"/>
        </a:accent6>
        <a:hlink>
          <a:srgbClr val="FF99CC"/>
        </a:hlink>
        <a:folHlink>
          <a:srgbClr val="00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CC0099"/>
        </a:dk2>
        <a:lt2>
          <a:srgbClr val="FFCCFF"/>
        </a:lt2>
        <a:accent1>
          <a:srgbClr val="00FF00"/>
        </a:accent1>
        <a:accent2>
          <a:srgbClr val="9933FF"/>
        </a:accent2>
        <a:accent3>
          <a:srgbClr val="E2AACA"/>
        </a:accent3>
        <a:accent4>
          <a:srgbClr val="DADADA"/>
        </a:accent4>
        <a:accent5>
          <a:srgbClr val="AAFFAA"/>
        </a:accent5>
        <a:accent6>
          <a:srgbClr val="8A2DE7"/>
        </a:accent6>
        <a:hlink>
          <a:srgbClr val="660066"/>
        </a:hlink>
        <a:folHlink>
          <a:srgbClr val="006600"/>
        </a:folHlink>
      </a:clrScheme>
      <a:clrMap bg1="dk2" tx1="lt1" bg2="dk1" tx2="lt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777777"/>
        </a:lt2>
        <a:accent1>
          <a:srgbClr val="FFFFFF"/>
        </a:accent1>
        <a:accent2>
          <a:srgbClr val="DDDDDD"/>
        </a:accent2>
        <a:accent3>
          <a:srgbClr val="FFFFFF"/>
        </a:accent3>
        <a:accent4>
          <a:srgbClr val="000000"/>
        </a:accent4>
        <a:accent5>
          <a:srgbClr val="FFFFFF"/>
        </a:accent5>
        <a:accent6>
          <a:srgbClr val="C8C8C8"/>
        </a:accent6>
        <a:hlink>
          <a:srgbClr val="777777"/>
        </a:hlink>
        <a:folHlink>
          <a:srgbClr val="0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1574</TotalTime>
  <Words>5071</Words>
  <Application>Microsoft Macintosh PowerPoint</Application>
  <PresentationFormat>A4 纸张(210x297 毫米)</PresentationFormat>
  <Paragraphs>767</Paragraphs>
  <Slides>31</Slides>
  <Notes>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2" baseType="lpstr">
      <vt:lpstr>华文中宋</vt:lpstr>
      <vt:lpstr>楷体</vt:lpstr>
      <vt:lpstr>宋体</vt:lpstr>
      <vt:lpstr>微软雅黑</vt:lpstr>
      <vt:lpstr>ITC Avant Garde Std Bk</vt:lpstr>
      <vt:lpstr>Arial</vt:lpstr>
      <vt:lpstr>Calibri</vt:lpstr>
      <vt:lpstr>Times New Roman</vt:lpstr>
      <vt:lpstr>Wingdings</vt:lpstr>
      <vt:lpstr>Default Design</vt:lpstr>
      <vt:lpstr>think-cell Slide</vt:lpstr>
      <vt:lpstr>PowerPoint 演示文稿</vt:lpstr>
      <vt:lpstr>PowerPoint 演示文稿</vt:lpstr>
      <vt:lpstr>PowerPoint 演示文稿</vt:lpstr>
      <vt:lpstr>PowerPoint 演示文稿</vt:lpstr>
      <vt:lpstr>客户经理各层级学习内容主要基于能力模型能力项和关键行为定义</vt:lpstr>
      <vt:lpstr>PowerPoint 演示文稿</vt:lpstr>
      <vt:lpstr>示例：如何对能力进行分层级定义？</vt:lpstr>
      <vt:lpstr>示例：如何对能力进行分层级定义？</vt:lpstr>
      <vt:lpstr>为有效推动业务拓展，各级客户经理都需要了解从宏观至微观四个维度的知识技能</vt:lpstr>
      <vt:lpstr>课程体系示例（详见附件1）</vt:lpstr>
      <vt:lpstr>PowerPoint 演示文稿</vt:lpstr>
      <vt:lpstr>培养项目基于能力模型和课程体系进行设计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Roland Berger &amp; Partner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Vortragstitel (max. zwei Zeilen)</dc:title>
  <dc:creator>Brita Reissner</dc:creator>
  <cp:lastModifiedBy>Fisher Yang</cp:lastModifiedBy>
  <cp:revision>838</cp:revision>
  <cp:lastPrinted>2013-11-18T07:13:00Z</cp:lastPrinted>
  <dcterms:created xsi:type="dcterms:W3CDTF">2001-01-07T18:24:00Z</dcterms:created>
  <dcterms:modified xsi:type="dcterms:W3CDTF">2023-08-22T04:26:38Z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33E3B592B5D64136A41FB8A62B95EFA1_13</vt:lpwstr>
  </property>
  <property fmtid="{D5CDD505-2E9C-101B-9397-08002B2CF9AE}" pid="3" name="KSOProductBuildVer">
    <vt:lpwstr>2052-12.1.0.15120</vt:lpwstr>
  </property>
</Properties>
</file>