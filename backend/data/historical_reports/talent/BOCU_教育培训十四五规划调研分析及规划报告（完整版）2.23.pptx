
<file path=[Content_Types].xml><?xml version="1.0" encoding="utf-8"?>
<Types xmlns="http://schemas.openxmlformats.org/package/2006/content-types">
  <Default Extension="png" ContentType="image/png"/>
  <Default Extension="jpeg" ContentType="image/jpeg"/>
  <Default Extension="JPG" ContentType="image/.jp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showSpecialPlsOnTitleSld="0" strictFirstAndLastChars="0">
  <p:sldMasterIdLst>
    <p:sldMasterId id="2147483648" r:id="rId1"/>
    <p:sldMasterId id="2147483653" r:id="rId3"/>
  </p:sldMasterIdLst>
  <p:notesMasterIdLst>
    <p:notesMasterId r:id="rId7"/>
  </p:notesMasterIdLst>
  <p:handoutMasterIdLst>
    <p:handoutMasterId r:id="rId76"/>
  </p:handoutMasterIdLst>
  <p:sldIdLst>
    <p:sldId id="1089" r:id="rId4"/>
    <p:sldId id="1446" r:id="rId5"/>
    <p:sldId id="1659" r:id="rId6"/>
    <p:sldId id="1660" r:id="rId8"/>
    <p:sldId id="1670" r:id="rId9"/>
    <p:sldId id="1662" r:id="rId10"/>
    <p:sldId id="1664" r:id="rId11"/>
    <p:sldId id="1671" r:id="rId12"/>
    <p:sldId id="1478" r:id="rId13"/>
    <p:sldId id="1476" r:id="rId14"/>
    <p:sldId id="1633" r:id="rId15"/>
    <p:sldId id="1462" r:id="rId16"/>
    <p:sldId id="1463" r:id="rId17"/>
    <p:sldId id="1456" r:id="rId18"/>
    <p:sldId id="1634" r:id="rId19"/>
    <p:sldId id="1459" r:id="rId20"/>
    <p:sldId id="1467" r:id="rId21"/>
    <p:sldId id="1665" r:id="rId22"/>
    <p:sldId id="1666" r:id="rId23"/>
    <p:sldId id="1468" r:id="rId24"/>
    <p:sldId id="1464" r:id="rId25"/>
    <p:sldId id="1632" r:id="rId26"/>
    <p:sldId id="1623" r:id="rId27"/>
    <p:sldId id="1667" r:id="rId28"/>
    <p:sldId id="1638" r:id="rId29"/>
    <p:sldId id="1466" r:id="rId30"/>
    <p:sldId id="1479" r:id="rId31"/>
    <p:sldId id="2350" r:id="rId32"/>
    <p:sldId id="1663" r:id="rId33"/>
    <p:sldId id="1661" r:id="rId34"/>
    <p:sldId id="2252" r:id="rId35"/>
    <p:sldId id="2266" r:id="rId36"/>
    <p:sldId id="2326" r:id="rId37"/>
    <p:sldId id="2307" r:id="rId38"/>
    <p:sldId id="2311" r:id="rId39"/>
    <p:sldId id="2278" r:id="rId40"/>
    <p:sldId id="2325" r:id="rId41"/>
    <p:sldId id="2267" r:id="rId42"/>
    <p:sldId id="2312" r:id="rId43"/>
    <p:sldId id="2327" r:id="rId44"/>
    <p:sldId id="2294" r:id="rId45"/>
    <p:sldId id="2351" r:id="rId46"/>
    <p:sldId id="2289" r:id="rId47"/>
    <p:sldId id="2352" r:id="rId48"/>
    <p:sldId id="2353" r:id="rId49"/>
    <p:sldId id="2354" r:id="rId50"/>
    <p:sldId id="2355" r:id="rId51"/>
    <p:sldId id="2333" r:id="rId52"/>
    <p:sldId id="2324" r:id="rId53"/>
    <p:sldId id="2310" r:id="rId54"/>
    <p:sldId id="2268" r:id="rId55"/>
    <p:sldId id="2284" r:id="rId56"/>
    <p:sldId id="2349" r:id="rId57"/>
    <p:sldId id="2287" r:id="rId58"/>
    <p:sldId id="2331" r:id="rId59"/>
    <p:sldId id="2316" r:id="rId60"/>
    <p:sldId id="2317" r:id="rId61"/>
    <p:sldId id="2319" r:id="rId62"/>
    <p:sldId id="2269" r:id="rId63"/>
    <p:sldId id="2296" r:id="rId64"/>
    <p:sldId id="2297" r:id="rId65"/>
    <p:sldId id="2298" r:id="rId66"/>
    <p:sldId id="2299" r:id="rId67"/>
    <p:sldId id="2270" r:id="rId68"/>
    <p:sldId id="2332" r:id="rId69"/>
    <p:sldId id="2279" r:id="rId70"/>
    <p:sldId id="2280" r:id="rId71"/>
    <p:sldId id="2281" r:id="rId72"/>
    <p:sldId id="2301" r:id="rId73"/>
    <p:sldId id="2300" r:id="rId74"/>
    <p:sldId id="2348" r:id="rId75"/>
  </p:sldIdLst>
  <p:sldSz cx="12192000" cy="6858000"/>
  <p:notesSz cx="10234295" cy="7099300"/>
  <p:defaultTex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p:defaultTextStyle>
  <p:extLst>
    <p:ext uri="{521415D9-36F7-43E2-AB2F-B90AF26B5E84}">
      <p14:sectionLst xmlns:p14="http://schemas.microsoft.com/office/powerpoint/2010/main">
        <p14:section name="第一部分" id="{B66EC5D3-F9D0-4695-9F55-BC140D90F2F3}">
          <p14:sldIdLst>
            <p14:sldId id="1089"/>
            <p14:sldId id="1446"/>
            <p14:sldId id="1659"/>
            <p14:sldId id="1660"/>
            <p14:sldId id="1670"/>
            <p14:sldId id="1662"/>
            <p14:sldId id="1664"/>
            <p14:sldId id="1671"/>
            <p14:sldId id="1478"/>
            <p14:sldId id="1476"/>
            <p14:sldId id="1633"/>
            <p14:sldId id="1462"/>
            <p14:sldId id="1463"/>
            <p14:sldId id="1456"/>
            <p14:sldId id="1634"/>
            <p14:sldId id="1459"/>
            <p14:sldId id="1467"/>
            <p14:sldId id="1665"/>
            <p14:sldId id="1666"/>
            <p14:sldId id="1468"/>
            <p14:sldId id="1464"/>
            <p14:sldId id="1632"/>
            <p14:sldId id="1623"/>
            <p14:sldId id="1667"/>
            <p14:sldId id="1638"/>
            <p14:sldId id="1466"/>
            <p14:sldId id="1479"/>
            <p14:sldId id="2350"/>
            <p14:sldId id="1663"/>
            <p14:sldId id="1661"/>
          </p14:sldIdLst>
        </p14:section>
        <p14:section name="第三部分" id="{A349C9B1-A652-4BDE-8922-C1123C58FCA8}">
          <p14:sldIdLst>
            <p14:sldId id="2252"/>
            <p14:sldId id="2266"/>
            <p14:sldId id="2326"/>
            <p14:sldId id="2307"/>
            <p14:sldId id="2311"/>
            <p14:sldId id="2278"/>
            <p14:sldId id="2325"/>
          </p14:sldIdLst>
        </p14:section>
        <p14:section name="第三部分" id="{96615FF1-7E8F-4C6E-969F-36D4031ED101}">
          <p14:sldIdLst>
            <p14:sldId id="2267"/>
            <p14:sldId id="2312"/>
            <p14:sldId id="2327"/>
            <p14:sldId id="2294"/>
            <p14:sldId id="2351"/>
            <p14:sldId id="2289"/>
            <p14:sldId id="2352"/>
            <p14:sldId id="2353"/>
            <p14:sldId id="2354"/>
            <p14:sldId id="2355"/>
            <p14:sldId id="2333"/>
            <p14:sldId id="2324"/>
            <p14:sldId id="2310"/>
            <p14:sldId id="2268"/>
            <p14:sldId id="2284"/>
            <p14:sldId id="2349"/>
            <p14:sldId id="2287"/>
            <p14:sldId id="2331"/>
            <p14:sldId id="2316"/>
            <p14:sldId id="2317"/>
            <p14:sldId id="2319"/>
            <p14:sldId id="2269"/>
            <p14:sldId id="2296"/>
            <p14:sldId id="2297"/>
            <p14:sldId id="2298"/>
            <p14:sldId id="2299"/>
            <p14:sldId id="2270"/>
            <p14:sldId id="2332"/>
            <p14:sldId id="2279"/>
            <p14:sldId id="2280"/>
            <p14:sldId id="2281"/>
            <p14:sldId id="2301"/>
            <p14:sldId id="2300"/>
            <p14:sldId id="2348"/>
          </p14:sldIdLst>
        </p14:section>
      </p14:sectionLst>
    </p:ext>
    <p:ext uri="{EFAFB233-063F-42B5-8137-9DF3F51BA10A}">
      <p15:sldGuideLst xmlns:p15="http://schemas.microsoft.com/office/powerpoint/2012/main">
        <p15:guide id="1" orient="horz" pos="686" userDrawn="1">
          <p15:clr>
            <a:srgbClr val="A4A3A4"/>
          </p15:clr>
        </p15:guide>
        <p15:guide id="2" orient="horz" pos="4088" userDrawn="1">
          <p15:clr>
            <a:srgbClr val="A4A3A4"/>
          </p15:clr>
        </p15:guide>
        <p15:guide id="3" pos="3812" userDrawn="1">
          <p15:clr>
            <a:srgbClr val="A4A3A4"/>
          </p15:clr>
        </p15:guide>
        <p15:guide id="4" pos="7265" userDrawn="1">
          <p15:clr>
            <a:srgbClr val="A4A3A4"/>
          </p15:clr>
        </p15:guide>
        <p15:guide id="5" pos="461" userDrawn="1">
          <p15:clr>
            <a:srgbClr val="A4A3A4"/>
          </p15:clr>
        </p15:guide>
        <p15:guide id="6" orient="horz" pos="391" userDrawn="1">
          <p15:clr>
            <a:srgbClr val="A4A3A4"/>
          </p15:clr>
        </p15:guide>
        <p15:guide id="8" orient="horz" pos="2069" userDrawn="1">
          <p15:clr>
            <a:srgbClr val="A4A3A4"/>
          </p15:clr>
        </p15:guide>
        <p15:guide id="9" orient="horz" pos="1502" userDrawn="1">
          <p15:clr>
            <a:srgbClr val="A4A3A4"/>
          </p15:clr>
        </p15:guide>
        <p15:guide id="10" orient="horz" pos="2568" userDrawn="1">
          <p15:clr>
            <a:srgbClr val="A4A3A4"/>
          </p15:clr>
        </p15:guide>
        <p15:guide id="11" orient="horz" pos="38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FFFFFF"/>
    <a:srgbClr val="10253F"/>
    <a:srgbClr val="EEF7FD"/>
    <a:srgbClr val="B4A697"/>
    <a:srgbClr val="6CAAC0"/>
    <a:srgbClr val="366B7E"/>
    <a:srgbClr val="FFAA00"/>
    <a:srgbClr val="366BC0"/>
    <a:srgbClr val="FF0000"/>
    <a:srgbClr val="2265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13" autoAdjust="0"/>
    <p:restoredTop sz="92412" autoAdjust="0"/>
  </p:normalViewPr>
  <p:slideViewPr>
    <p:cSldViewPr snapToGrid="0" snapToObjects="1" showGuides="1">
      <p:cViewPr varScale="1">
        <p:scale>
          <a:sx n="99" d="100"/>
          <a:sy n="99" d="100"/>
        </p:scale>
        <p:origin x="440" y="184"/>
      </p:cViewPr>
      <p:guideLst>
        <p:guide orient="horz" pos="686"/>
        <p:guide orient="horz" pos="4088"/>
        <p:guide pos="3812"/>
        <p:guide pos="7265"/>
        <p:guide pos="461"/>
        <p:guide orient="horz" pos="391"/>
        <p:guide orient="horz" pos="2069"/>
        <p:guide orient="horz" pos="1502"/>
        <p:guide orient="horz" pos="2568"/>
        <p:guide orient="horz" pos="3861"/>
      </p:guideLst>
    </p:cSldViewPr>
  </p:slideViewPr>
  <p:outlineViewPr>
    <p:cViewPr>
      <p:scale>
        <a:sx n="33" d="100"/>
        <a:sy n="33" d="100"/>
      </p:scale>
      <p:origin x="0" y="318"/>
    </p:cViewPr>
  </p:outlineViewPr>
  <p:notesTextViewPr>
    <p:cViewPr>
      <p:scale>
        <a:sx n="100" d="100"/>
        <a:sy n="100" d="100"/>
      </p:scale>
      <p:origin x="0" y="0"/>
    </p:cViewPr>
  </p:notesTextViewPr>
  <p:sorterViewPr>
    <p:cViewPr>
      <p:scale>
        <a:sx n="60" d="100"/>
        <a:sy n="60" d="100"/>
      </p:scale>
      <p:origin x="0" y="600"/>
    </p:cViewPr>
  </p:sorterViewPr>
  <p:notesViewPr>
    <p:cSldViewPr snapToGrid="0" snapToObjects="1">
      <p:cViewPr varScale="1">
        <p:scale>
          <a:sx n="101" d="100"/>
          <a:sy n="101" d="100"/>
        </p:scale>
        <p:origin x="1624" y="208"/>
      </p:cViewPr>
      <p:guideLst>
        <p:guide orient="horz" pos="2236"/>
        <p:guide pos="3209"/>
      </p:guideLst>
    </p:cSldViewPr>
  </p:notesViewPr>
  <p:gridSpacing cx="72010" cy="7201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handoutMaster" Target="handoutMasters/handoutMaster1.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notesMaster" Target="notesMasters/notesMaster1.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9026" name="Rectangle 2"/>
          <p:cNvSpPr>
            <a:spLocks noGrp="1" noChangeArrowheads="1"/>
          </p:cNvSpPr>
          <p:nvPr>
            <p:ph type="hdr" sz="quarter"/>
          </p:nvPr>
        </p:nvSpPr>
        <p:spPr bwMode="auto">
          <a:xfrm>
            <a:off x="1" y="1"/>
            <a:ext cx="4408530" cy="317855"/>
          </a:xfrm>
          <a:prstGeom prst="rect">
            <a:avLst/>
          </a:prstGeom>
          <a:noFill/>
          <a:ln w="9525">
            <a:noFill/>
            <a:miter lim="800000"/>
          </a:ln>
          <a:effectLst/>
        </p:spPr>
        <p:txBody>
          <a:bodyPr vert="horz" wrap="square" lIns="95041" tIns="47521" rIns="95041" bIns="47521" numCol="1" anchor="t" anchorCtr="0" compatLnSpc="1"/>
          <a:lstStyle>
            <a:lvl1pPr eaLnBrk="0" hangingPunct="0">
              <a:defRPr kumimoji="1" sz="1200">
                <a:latin typeface="Arial" panose="020B0604020202090204" pitchFamily="34" charset="0"/>
                <a:ea typeface="宋体" pitchFamily="2" charset="-122"/>
              </a:defRPr>
            </a:lvl1pPr>
          </a:lstStyle>
          <a:p>
            <a:pPr>
              <a:defRPr/>
            </a:pPr>
            <a:endParaRPr lang="en-GB"/>
          </a:p>
        </p:txBody>
      </p:sp>
      <p:sp>
        <p:nvSpPr>
          <p:cNvPr id="129027" name="Rectangle 3"/>
          <p:cNvSpPr>
            <a:spLocks noGrp="1" noChangeArrowheads="1"/>
          </p:cNvSpPr>
          <p:nvPr>
            <p:ph type="dt" sz="quarter" idx="1"/>
          </p:nvPr>
        </p:nvSpPr>
        <p:spPr bwMode="auto">
          <a:xfrm>
            <a:off x="5826086" y="1"/>
            <a:ext cx="4408529" cy="317855"/>
          </a:xfrm>
          <a:prstGeom prst="rect">
            <a:avLst/>
          </a:prstGeom>
          <a:noFill/>
          <a:ln w="9525">
            <a:noFill/>
            <a:miter lim="800000"/>
          </a:ln>
          <a:effectLst/>
        </p:spPr>
        <p:txBody>
          <a:bodyPr vert="horz" wrap="square" lIns="95041" tIns="47521" rIns="95041" bIns="47521" numCol="1" anchor="t" anchorCtr="0" compatLnSpc="1"/>
          <a:lstStyle>
            <a:lvl1pPr algn="r" eaLnBrk="0" hangingPunct="0">
              <a:defRPr kumimoji="1" sz="1200">
                <a:latin typeface="Arial" panose="020B0604020202090204" pitchFamily="34" charset="0"/>
                <a:ea typeface="宋体" pitchFamily="2" charset="-122"/>
              </a:defRPr>
            </a:lvl1pPr>
          </a:lstStyle>
          <a:p>
            <a:pPr>
              <a:defRPr/>
            </a:pPr>
            <a:endParaRPr lang="en-GB"/>
          </a:p>
        </p:txBody>
      </p:sp>
      <p:sp>
        <p:nvSpPr>
          <p:cNvPr id="129028" name="Rectangle 4"/>
          <p:cNvSpPr>
            <a:spLocks noGrp="1" noChangeArrowheads="1"/>
          </p:cNvSpPr>
          <p:nvPr>
            <p:ph type="ftr" sz="quarter" idx="2"/>
          </p:nvPr>
        </p:nvSpPr>
        <p:spPr bwMode="auto">
          <a:xfrm>
            <a:off x="1" y="6766469"/>
            <a:ext cx="4408530" cy="317855"/>
          </a:xfrm>
          <a:prstGeom prst="rect">
            <a:avLst/>
          </a:prstGeom>
          <a:noFill/>
          <a:ln w="9525">
            <a:noFill/>
            <a:miter lim="800000"/>
          </a:ln>
          <a:effectLst/>
        </p:spPr>
        <p:txBody>
          <a:bodyPr vert="horz" wrap="square" lIns="95041" tIns="47521" rIns="95041" bIns="47521" numCol="1" anchor="b" anchorCtr="0" compatLnSpc="1"/>
          <a:lstStyle>
            <a:lvl1pPr eaLnBrk="0" hangingPunct="0">
              <a:defRPr kumimoji="1" sz="1200">
                <a:latin typeface="Arial" panose="020B0604020202090204" pitchFamily="34" charset="0"/>
                <a:ea typeface="宋体" pitchFamily="2" charset="-122"/>
              </a:defRPr>
            </a:lvl1pPr>
          </a:lstStyle>
          <a:p>
            <a:pPr>
              <a:defRPr/>
            </a:pPr>
            <a:endParaRPr lang="en-GB"/>
          </a:p>
        </p:txBody>
      </p:sp>
      <p:sp>
        <p:nvSpPr>
          <p:cNvPr id="129029" name="Rectangle 5"/>
          <p:cNvSpPr>
            <a:spLocks noGrp="1" noChangeArrowheads="1"/>
          </p:cNvSpPr>
          <p:nvPr>
            <p:ph type="sldNum" sz="quarter" idx="3"/>
          </p:nvPr>
        </p:nvSpPr>
        <p:spPr bwMode="auto">
          <a:xfrm>
            <a:off x="5826086" y="6766469"/>
            <a:ext cx="4408529" cy="317855"/>
          </a:xfrm>
          <a:prstGeom prst="rect">
            <a:avLst/>
          </a:prstGeom>
          <a:noFill/>
          <a:ln w="9525">
            <a:noFill/>
            <a:miter lim="800000"/>
          </a:ln>
          <a:effectLst/>
        </p:spPr>
        <p:txBody>
          <a:bodyPr vert="horz" wrap="square" lIns="95041" tIns="47521" rIns="95041" bIns="47521" numCol="1" anchor="b" anchorCtr="0" compatLnSpc="1"/>
          <a:lstStyle>
            <a:lvl1pPr algn="r" eaLnBrk="0" hangingPunct="0">
              <a:defRPr kumimoji="1" sz="1200">
                <a:latin typeface="Arial" panose="020B0604020202090204" pitchFamily="34" charset="0"/>
                <a:ea typeface="宋体" pitchFamily="2" charset="-122"/>
              </a:defRPr>
            </a:lvl1pPr>
          </a:lstStyle>
          <a:p>
            <a:pPr>
              <a:defRPr/>
            </a:pPr>
            <a:fld id="{72D10C64-4D1C-4DFE-A90D-EEB24282BC8D}" type="slidenum">
              <a:rPr lang="en-GB"/>
            </a:fld>
            <a:endParaRPr lang="en-GB"/>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4434781" cy="354467"/>
          </a:xfrm>
          <a:prstGeom prst="rect">
            <a:avLst/>
          </a:prstGeom>
          <a:noFill/>
          <a:ln w="9525">
            <a:noFill/>
            <a:miter lim="800000"/>
          </a:ln>
          <a:effectLst/>
        </p:spPr>
        <p:txBody>
          <a:bodyPr vert="horz" wrap="square" lIns="95041" tIns="47521" rIns="95041" bIns="47521" numCol="1" anchor="t" anchorCtr="0" compatLnSpc="1"/>
          <a:lstStyle>
            <a:lvl1pPr eaLnBrk="0" hangingPunct="0">
              <a:defRPr sz="1200" b="0">
                <a:solidFill>
                  <a:schemeClr val="tx1"/>
                </a:solidFill>
                <a:latin typeface="Arial" panose="020B0604020202090204" pitchFamily="34" charset="0"/>
                <a:ea typeface="宋体" pitchFamily="2" charset="-122"/>
              </a:defRPr>
            </a:lvl1pPr>
          </a:lstStyle>
          <a:p>
            <a:pPr>
              <a:defRPr/>
            </a:pPr>
            <a:endParaRPr lang="de-DE" altLang="de-DE"/>
          </a:p>
        </p:txBody>
      </p:sp>
      <p:sp>
        <p:nvSpPr>
          <p:cNvPr id="6147" name="Rectangle 3"/>
          <p:cNvSpPr>
            <a:spLocks noGrp="1" noChangeArrowheads="1"/>
          </p:cNvSpPr>
          <p:nvPr>
            <p:ph type="dt" idx="1"/>
          </p:nvPr>
        </p:nvSpPr>
        <p:spPr bwMode="auto">
          <a:xfrm>
            <a:off x="5799836" y="0"/>
            <a:ext cx="4434779" cy="354467"/>
          </a:xfrm>
          <a:prstGeom prst="rect">
            <a:avLst/>
          </a:prstGeom>
          <a:noFill/>
          <a:ln w="9525">
            <a:noFill/>
            <a:miter lim="800000"/>
          </a:ln>
          <a:effectLst/>
        </p:spPr>
        <p:txBody>
          <a:bodyPr vert="horz" wrap="square" lIns="95041" tIns="47521" rIns="95041" bIns="47521" numCol="1" anchor="t" anchorCtr="0" compatLnSpc="1"/>
          <a:lstStyle>
            <a:lvl1pPr algn="r" eaLnBrk="0" hangingPunct="0">
              <a:defRPr sz="1200" b="0">
                <a:solidFill>
                  <a:schemeClr val="tx1"/>
                </a:solidFill>
                <a:latin typeface="Arial" panose="020B0604020202090204" pitchFamily="34" charset="0"/>
                <a:ea typeface="宋体" pitchFamily="2" charset="-122"/>
              </a:defRPr>
            </a:lvl1pPr>
          </a:lstStyle>
          <a:p>
            <a:pPr>
              <a:defRPr/>
            </a:pPr>
            <a:endParaRPr lang="de-DE" altLang="de-DE"/>
          </a:p>
        </p:txBody>
      </p:sp>
      <p:sp>
        <p:nvSpPr>
          <p:cNvPr id="5124" name="Rectangle 4"/>
          <p:cNvSpPr>
            <a:spLocks noGrp="1" noRot="1" noChangeAspect="1" noChangeArrowheads="1" noTextEdit="1"/>
          </p:cNvSpPr>
          <p:nvPr>
            <p:ph type="sldImg" idx="2"/>
          </p:nvPr>
        </p:nvSpPr>
        <p:spPr bwMode="auto">
          <a:xfrm>
            <a:off x="2752725" y="533400"/>
            <a:ext cx="4729163" cy="2660650"/>
          </a:xfrm>
          <a:prstGeom prst="rect">
            <a:avLst/>
          </a:prstGeom>
          <a:noFill/>
          <a:ln w="9525">
            <a:solidFill>
              <a:srgbClr val="000000"/>
            </a:solidFill>
            <a:miter lim="800000"/>
          </a:ln>
        </p:spPr>
      </p:sp>
      <p:sp>
        <p:nvSpPr>
          <p:cNvPr id="6149" name="Rectangle 5"/>
          <p:cNvSpPr>
            <a:spLocks noGrp="1" noChangeArrowheads="1"/>
          </p:cNvSpPr>
          <p:nvPr>
            <p:ph type="body" sz="quarter" idx="3"/>
          </p:nvPr>
        </p:nvSpPr>
        <p:spPr bwMode="auto">
          <a:xfrm>
            <a:off x="1365054" y="3371584"/>
            <a:ext cx="7504507" cy="3195185"/>
          </a:xfrm>
          <a:prstGeom prst="rect">
            <a:avLst/>
          </a:prstGeom>
          <a:noFill/>
          <a:ln w="9525">
            <a:noFill/>
            <a:miter lim="800000"/>
          </a:ln>
          <a:effectLst/>
        </p:spPr>
        <p:txBody>
          <a:bodyPr vert="horz" wrap="square" lIns="95041" tIns="47521" rIns="95041" bIns="47521" numCol="1" anchor="t" anchorCtr="0" compatLnSpc="1"/>
          <a:lstStyle/>
          <a:p>
            <a:pPr lvl="0"/>
            <a:r>
              <a:rPr lang="en-US" altLang="de-DE" noProof="0"/>
              <a:t>Click to edit Master text styles</a:t>
            </a:r>
            <a:endParaRPr lang="en-US" altLang="de-DE" noProof="0"/>
          </a:p>
          <a:p>
            <a:pPr lvl="1"/>
            <a:r>
              <a:rPr lang="en-US" altLang="de-DE" noProof="0"/>
              <a:t>Second level</a:t>
            </a:r>
            <a:endParaRPr lang="en-US" altLang="de-DE" noProof="0"/>
          </a:p>
          <a:p>
            <a:pPr lvl="2"/>
            <a:r>
              <a:rPr lang="en-US" altLang="de-DE" noProof="0"/>
              <a:t>Third level</a:t>
            </a:r>
            <a:endParaRPr lang="en-US" altLang="de-DE" noProof="0"/>
          </a:p>
          <a:p>
            <a:pPr lvl="3"/>
            <a:r>
              <a:rPr lang="en-US" altLang="de-DE" noProof="0"/>
              <a:t>Fourth level</a:t>
            </a:r>
            <a:endParaRPr lang="en-US" altLang="de-DE" noProof="0"/>
          </a:p>
          <a:p>
            <a:pPr lvl="4"/>
            <a:r>
              <a:rPr lang="en-US" altLang="de-DE" noProof="0"/>
              <a:t>Fifth level</a:t>
            </a:r>
            <a:endParaRPr lang="en-US" altLang="de-DE" noProof="0"/>
          </a:p>
        </p:txBody>
      </p:sp>
      <p:sp>
        <p:nvSpPr>
          <p:cNvPr id="6150" name="Rectangle 6"/>
          <p:cNvSpPr>
            <a:spLocks noGrp="1" noChangeArrowheads="1"/>
          </p:cNvSpPr>
          <p:nvPr>
            <p:ph type="ftr" sz="quarter" idx="4"/>
          </p:nvPr>
        </p:nvSpPr>
        <p:spPr bwMode="auto">
          <a:xfrm>
            <a:off x="0" y="6744836"/>
            <a:ext cx="4434781" cy="354465"/>
          </a:xfrm>
          <a:prstGeom prst="rect">
            <a:avLst/>
          </a:prstGeom>
          <a:noFill/>
          <a:ln w="9525">
            <a:noFill/>
            <a:miter lim="800000"/>
          </a:ln>
          <a:effectLst/>
        </p:spPr>
        <p:txBody>
          <a:bodyPr vert="horz" wrap="square" lIns="95041" tIns="47521" rIns="95041" bIns="47521" numCol="1" anchor="b" anchorCtr="0" compatLnSpc="1"/>
          <a:lstStyle>
            <a:lvl1pPr eaLnBrk="0" hangingPunct="0">
              <a:defRPr sz="1200" b="0">
                <a:solidFill>
                  <a:schemeClr val="tx1"/>
                </a:solidFill>
                <a:latin typeface="Arial" panose="020B0604020202090204" pitchFamily="34" charset="0"/>
                <a:ea typeface="宋体" pitchFamily="2" charset="-122"/>
              </a:defRPr>
            </a:lvl1pPr>
          </a:lstStyle>
          <a:p>
            <a:pPr>
              <a:defRPr/>
            </a:pPr>
            <a:endParaRPr lang="de-DE" altLang="de-DE"/>
          </a:p>
        </p:txBody>
      </p:sp>
      <p:sp>
        <p:nvSpPr>
          <p:cNvPr id="6151" name="Rectangle 7"/>
          <p:cNvSpPr>
            <a:spLocks noGrp="1" noChangeArrowheads="1"/>
          </p:cNvSpPr>
          <p:nvPr>
            <p:ph type="sldNum" sz="quarter" idx="5"/>
          </p:nvPr>
        </p:nvSpPr>
        <p:spPr bwMode="auto">
          <a:xfrm>
            <a:off x="5799836" y="6744836"/>
            <a:ext cx="4434779" cy="354465"/>
          </a:xfrm>
          <a:prstGeom prst="rect">
            <a:avLst/>
          </a:prstGeom>
          <a:noFill/>
          <a:ln w="9525">
            <a:noFill/>
            <a:miter lim="800000"/>
          </a:ln>
          <a:effectLst/>
        </p:spPr>
        <p:txBody>
          <a:bodyPr vert="horz" wrap="square" lIns="95041" tIns="47521" rIns="95041" bIns="47521" numCol="1" anchor="b" anchorCtr="0" compatLnSpc="1"/>
          <a:lstStyle>
            <a:lvl1pPr algn="r" eaLnBrk="0" hangingPunct="0">
              <a:defRPr sz="1200" b="0">
                <a:solidFill>
                  <a:schemeClr val="tx1"/>
                </a:solidFill>
                <a:latin typeface="Arial" panose="020B0604020202090204" pitchFamily="34" charset="0"/>
                <a:ea typeface="宋体" pitchFamily="2" charset="-122"/>
              </a:defRPr>
            </a:lvl1pPr>
          </a:lstStyle>
          <a:p>
            <a:pPr>
              <a:defRPr/>
            </a:pPr>
            <a:fld id="{1C79C6B0-6CA2-4E0C-8ADE-70C33BFB90DD}" type="slidenum">
              <a:rPr lang="de-DE" altLang="de-DE"/>
            </a:fld>
            <a:endParaRPr lang="de-DE" altLang="de-D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752725" y="533400"/>
            <a:ext cx="4729163" cy="2660650"/>
          </a:xfrm>
        </p:spPr>
      </p:sp>
      <p:sp>
        <p:nvSpPr>
          <p:cNvPr id="3" name="备注占位符 2"/>
          <p:cNvSpPr>
            <a:spLocks noGrp="1"/>
          </p:cNvSpPr>
          <p:nvPr>
            <p:ph type="body" idx="1"/>
          </p:nvPr>
        </p:nvSpPr>
        <p:spPr/>
        <p:txBody>
          <a:bodyPr/>
          <a:lstStyle/>
          <a:p>
            <a:endParaRPr kumimoji="1" lang="en-US" altLang="zh-CN" sz="1400" dirty="0">
              <a:latin typeface="宋体" pitchFamily="2" charset="-122"/>
            </a:endParaRPr>
          </a:p>
          <a:p>
            <a:endParaRPr kumimoji="1" lang="en-US" altLang="zh-CN" sz="1400" dirty="0">
              <a:latin typeface="宋体" pitchFamily="2" charset="-122"/>
            </a:endParaRPr>
          </a:p>
          <a:p>
            <a:endParaRPr kumimoji="1" lang="en-US" altLang="zh-CN" sz="1400" dirty="0">
              <a:latin typeface="宋体" pitchFamily="2" charset="-122"/>
            </a:endParaRPr>
          </a:p>
          <a:p>
            <a:endParaRPr kumimoji="1" lang="en-US" altLang="zh-CN" sz="1400" dirty="0">
              <a:latin typeface="宋体" pitchFamily="2" charset="-122"/>
            </a:endParaRPr>
          </a:p>
          <a:p>
            <a:endParaRPr kumimoji="1" lang="en-US" altLang="zh-CN" sz="1400" dirty="0">
              <a:latin typeface="宋体" pitchFamily="2" charset="-122"/>
            </a:endParaRPr>
          </a:p>
          <a:p>
            <a:r>
              <a:rPr kumimoji="1" lang="zh-CN" altLang="en-US" sz="1400" dirty="0">
                <a:latin typeface="宋体" pitchFamily="2" charset="-122"/>
              </a:rPr>
              <a:t>核心参考资料</a:t>
            </a:r>
            <a:endParaRPr kumimoji="1" lang="en-US" altLang="zh-CN" sz="1400" dirty="0">
              <a:latin typeface="宋体" pitchFamily="2" charset="-122"/>
            </a:endParaRPr>
          </a:p>
          <a:p>
            <a:pPr>
              <a:lnSpc>
                <a:spcPct val="150000"/>
              </a:lnSpc>
            </a:pPr>
            <a:r>
              <a:rPr kumimoji="1" lang="en-US" altLang="zh-CN" sz="1200" dirty="0">
                <a:latin typeface="宋体" pitchFamily="2" charset="-122"/>
                <a:ea typeface="宋体" pitchFamily="2" charset="-122"/>
              </a:rPr>
              <a:t>·</a:t>
            </a:r>
            <a:r>
              <a:rPr kumimoji="1" lang="zh-CN" altLang="en-US" sz="1200" dirty="0">
                <a:latin typeface="宋体" pitchFamily="2" charset="-122"/>
                <a:ea typeface="宋体" pitchFamily="2" charset="-122"/>
              </a:rPr>
              <a:t>编制思路</a:t>
            </a:r>
            <a:r>
              <a:rPr kumimoji="1" lang="en-US" altLang="zh-CN" sz="1200" dirty="0">
                <a:latin typeface="宋体" pitchFamily="2" charset="-122"/>
                <a:ea typeface="宋体" pitchFamily="2" charset="-122"/>
              </a:rPr>
              <a:t>ppt</a:t>
            </a:r>
            <a:r>
              <a:rPr kumimoji="1" lang="zh-CN" altLang="en-US" sz="1200" dirty="0">
                <a:latin typeface="宋体" pitchFamily="2" charset="-122"/>
                <a:ea typeface="宋体" pitchFamily="2" charset="-122"/>
              </a:rPr>
              <a:t>（刘永涛）</a:t>
            </a:r>
            <a:endParaRPr kumimoji="1" lang="en-US" altLang="zh-CN" sz="1200" dirty="0">
              <a:latin typeface="宋体" pitchFamily="2" charset="-122"/>
              <a:ea typeface="宋体" pitchFamily="2" charset="-122"/>
            </a:endParaRPr>
          </a:p>
          <a:p>
            <a:pPr>
              <a:lnSpc>
                <a:spcPct val="150000"/>
              </a:lnSpc>
            </a:pPr>
            <a:r>
              <a:rPr kumimoji="1" lang="en-US" altLang="zh-CN" sz="1200" dirty="0">
                <a:latin typeface="宋体" pitchFamily="2" charset="-122"/>
                <a:ea typeface="宋体" pitchFamily="2" charset="-122"/>
              </a:rPr>
              <a:t>·</a:t>
            </a:r>
            <a:r>
              <a:rPr kumimoji="1" lang="zh-CN" altLang="en-US" sz="1200" dirty="0">
                <a:latin typeface="宋体" pitchFamily="2" charset="-122"/>
                <a:ea typeface="宋体" pitchFamily="2" charset="-122"/>
              </a:rPr>
              <a:t>几点思考（章林）</a:t>
            </a:r>
            <a:endParaRPr kumimoji="1" lang="en-US" altLang="zh-CN" sz="1200" dirty="0">
              <a:latin typeface="宋体" pitchFamily="2" charset="-122"/>
              <a:ea typeface="宋体" pitchFamily="2" charset="-122"/>
            </a:endParaRPr>
          </a:p>
          <a:p>
            <a:pPr>
              <a:lnSpc>
                <a:spcPct val="150000"/>
              </a:lnSpc>
            </a:pPr>
            <a:r>
              <a:rPr kumimoji="1" lang="en-US" altLang="zh-CN" dirty="0">
                <a:latin typeface="宋体" pitchFamily="2" charset="-122"/>
                <a:ea typeface="宋体" pitchFamily="2" charset="-122"/>
              </a:rPr>
              <a:t>·</a:t>
            </a:r>
            <a:r>
              <a:rPr kumimoji="1" lang="zh-CN" altLang="en-US" dirty="0">
                <a:latin typeface="宋体" pitchFamily="2" charset="-122"/>
                <a:ea typeface="宋体" pitchFamily="2" charset="-122"/>
              </a:rPr>
              <a:t>十四五规划和</a:t>
            </a:r>
            <a:r>
              <a:rPr kumimoji="1" lang="en-US" altLang="zh-CN" dirty="0">
                <a:latin typeface="宋体" pitchFamily="2" charset="-122"/>
                <a:ea typeface="宋体" pitchFamily="2" charset="-122"/>
              </a:rPr>
              <a:t>2035</a:t>
            </a:r>
            <a:r>
              <a:rPr kumimoji="1" lang="zh-CN" altLang="en-US" dirty="0">
                <a:latin typeface="宋体" pitchFamily="2" charset="-122"/>
                <a:ea typeface="宋体" pitchFamily="2" charset="-122"/>
              </a:rPr>
              <a:t>年远景目标</a:t>
            </a:r>
            <a:endParaRPr kumimoji="1" lang="en-US" altLang="zh-CN" dirty="0">
              <a:latin typeface="宋体" pitchFamily="2" charset="-122"/>
              <a:ea typeface="宋体" pitchFamily="2" charset="-122"/>
            </a:endParaRPr>
          </a:p>
          <a:p>
            <a:pPr>
              <a:lnSpc>
                <a:spcPct val="150000"/>
              </a:lnSpc>
            </a:pPr>
            <a:r>
              <a:rPr kumimoji="1" lang="en-US" altLang="zh-CN" dirty="0">
                <a:latin typeface="宋体" pitchFamily="2" charset="-122"/>
              </a:rPr>
              <a:t>·</a:t>
            </a:r>
            <a:r>
              <a:rPr kumimoji="1" lang="zh-CN" altLang="en-US" dirty="0">
                <a:latin typeface="宋体" pitchFamily="2" charset="-122"/>
              </a:rPr>
              <a:t>工作情况报告（章林审定简洁版）</a:t>
            </a:r>
            <a:endParaRPr kumimoji="1" lang="en-US" altLang="zh-CN" dirty="0">
              <a:latin typeface="宋体" pitchFamily="2" charset="-122"/>
            </a:endParaRPr>
          </a:p>
          <a:p>
            <a:r>
              <a:rPr kumimoji="1" lang="zh-CN" altLang="en-US" dirty="0">
                <a:latin typeface="宋体" pitchFamily="2" charset="-122"/>
                <a:ea typeface="宋体" pitchFamily="2" charset="-122"/>
              </a:rPr>
              <a:t>平台：</a:t>
            </a:r>
            <a:endParaRPr kumimoji="1" lang="en-US" altLang="zh-CN" dirty="0">
              <a:latin typeface="宋体" pitchFamily="2" charset="-122"/>
              <a:ea typeface="宋体" pitchFamily="2" charset="-122"/>
            </a:endParaRPr>
          </a:p>
          <a:p>
            <a:r>
              <a:rPr kumimoji="1" lang="zh-CN" altLang="en-US" dirty="0">
                <a:latin typeface="宋体" pitchFamily="2" charset="-122"/>
                <a:ea typeface="宋体" pitchFamily="2" charset="-122"/>
              </a:rPr>
              <a:t>平台发展思考（</a:t>
            </a:r>
            <a:r>
              <a:rPr kumimoji="1" lang="en-US" altLang="zh-CN" dirty="0">
                <a:latin typeface="宋体" pitchFamily="2" charset="-122"/>
                <a:ea typeface="宋体" pitchFamily="2" charset="-122"/>
              </a:rPr>
              <a:t>word</a:t>
            </a:r>
            <a:r>
              <a:rPr kumimoji="1" lang="zh-CN" altLang="en-US" dirty="0">
                <a:latin typeface="宋体" pitchFamily="2" charset="-122"/>
                <a:ea typeface="宋体" pitchFamily="2" charset="-122"/>
              </a:rPr>
              <a:t>）</a:t>
            </a:r>
            <a:endParaRPr kumimoji="1" lang="zh-CN" altLang="en-US" dirty="0">
              <a:latin typeface="宋体" pitchFamily="2" charset="-122"/>
              <a:ea typeface="宋体" pitchFamily="2" charset="-122"/>
            </a:endParaRPr>
          </a:p>
          <a:p>
            <a:endParaRPr kumimoji="1" lang="zh-CN" altLang="en-US" dirty="0"/>
          </a:p>
        </p:txBody>
      </p:sp>
      <p:sp>
        <p:nvSpPr>
          <p:cNvPr id="4" name="灯片编号占位符 3"/>
          <p:cNvSpPr>
            <a:spLocks noGrp="1"/>
          </p:cNvSpPr>
          <p:nvPr>
            <p:ph type="sldNum" sz="quarter" idx="5"/>
          </p:nvPr>
        </p:nvSpPr>
        <p:spPr/>
        <p:txBody>
          <a:bodyPr/>
          <a:lstStyle/>
          <a:p>
            <a:pPr>
              <a:defRPr/>
            </a:pPr>
            <a:fld id="{1C79C6B0-6CA2-4E0C-8ADE-70C33BFB90DD}" type="slidenum">
              <a:rPr lang="de-DE" altLang="de-DE" smtClean="0"/>
            </a:fld>
            <a:endParaRPr lang="de-DE" alt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752725" y="533400"/>
            <a:ext cx="4729163" cy="266065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1C79C6B0-6CA2-4E0C-8ADE-70C33BFB90DD}" type="slidenum">
              <a:rPr lang="de-DE" altLang="de-DE" smtClean="0"/>
            </a:fld>
            <a:endParaRPr lang="de-DE" altLang="de-D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752725" y="533400"/>
            <a:ext cx="4729163" cy="266065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1C79C6B0-6CA2-4E0C-8ADE-70C33BFB90DD}" type="slidenum">
              <a:rPr lang="de-DE" altLang="de-DE" smtClean="0"/>
            </a:fld>
            <a:endParaRPr lang="de-DE" alt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752725" y="533400"/>
            <a:ext cx="4729163" cy="266065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1C79C6B0-6CA2-4E0C-8ADE-70C33BFB90DD}" type="slidenum">
              <a:rPr lang="de-DE" altLang="de-DE" smtClean="0"/>
            </a:fld>
            <a:endParaRPr lang="de-DE" altLang="de-D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752725" y="533400"/>
            <a:ext cx="4729163" cy="266065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1C79C6B0-6CA2-4E0C-8ADE-70C33BFB90DD}" type="slidenum">
              <a:rPr lang="de-DE" altLang="de-DE" smtClean="0"/>
            </a:fld>
            <a:endParaRPr lang="de-DE" alt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752725" y="533400"/>
            <a:ext cx="4729163" cy="266065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1C79C6B0-6CA2-4E0C-8ADE-70C33BFB90DD}" type="slidenum">
              <a:rPr lang="de-DE" altLang="de-DE" smtClean="0"/>
            </a:fld>
            <a:endParaRPr lang="de-DE" altLang="de-D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752725" y="533400"/>
            <a:ext cx="4729163" cy="266065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1C79C6B0-6CA2-4E0C-8ADE-70C33BFB90DD}" type="slidenum">
              <a:rPr lang="de-DE" altLang="de-DE" smtClean="0"/>
            </a:fld>
            <a:endParaRPr lang="de-DE" altLang="de-D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1C79C6B0-6CA2-4E0C-8ADE-70C33BFB90DD}" type="slidenum">
              <a:rPr lang="de-DE" altLang="de-DE" smtClean="0"/>
            </a:fld>
            <a:endParaRPr lang="de-DE" altLang="de-D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1C79C6B0-6CA2-4E0C-8ADE-70C33BFB90DD}" type="slidenum">
              <a:rPr lang="de-DE" altLang="de-DE" smtClean="0"/>
            </a:fld>
            <a:endParaRPr lang="de-DE" altLang="de-D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1C79C6B0-6CA2-4E0C-8ADE-70C33BFB90DD}" type="slidenum">
              <a:rPr lang="de-DE" altLang="de-DE" smtClean="0"/>
            </a:fld>
            <a:endParaRPr lang="de-DE" altLang="de-D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endParaRPr kumimoji="1" lang="zh-CN" altLang="zh-CN" sz="800" kern="100" dirty="0">
              <a:solidFill>
                <a:schemeClr val="tx1"/>
              </a:solidFill>
              <a:effectLst/>
              <a:latin typeface="Arial" panose="020B0604020202090204" pitchFamily="34" charset="0"/>
              <a:ea typeface="宋体" pitchFamily="2" charset="-122"/>
              <a:cs typeface="+mn-ea"/>
              <a:sym typeface="+mn-lt"/>
            </a:endParaRPr>
          </a:p>
        </p:txBody>
      </p:sp>
      <p:sp>
        <p:nvSpPr>
          <p:cNvPr id="4" name="灯片编号占位符 3"/>
          <p:cNvSpPr>
            <a:spLocks noGrp="1"/>
          </p:cNvSpPr>
          <p:nvPr>
            <p:ph type="sldNum" sz="quarter" idx="10"/>
          </p:nvPr>
        </p:nvSpPr>
        <p:spPr/>
        <p:txBody>
          <a:bodyPr/>
          <a:lstStyle/>
          <a:p>
            <a:pPr>
              <a:defRPr/>
            </a:pPr>
            <a:fld id="{1C79C6B0-6CA2-4E0C-8ADE-70C33BFB90DD}" type="slidenum">
              <a:rPr lang="de-DE" altLang="de-DE" smtClean="0"/>
            </a:fld>
            <a:endParaRPr lang="de-DE" altLang="de-D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endParaRPr kumimoji="1" lang="zh-CN" altLang="zh-CN" sz="800" kern="100" dirty="0">
              <a:solidFill>
                <a:schemeClr val="tx1"/>
              </a:solidFill>
              <a:effectLst/>
              <a:latin typeface="Arial" panose="020B0604020202090204" pitchFamily="34" charset="0"/>
              <a:ea typeface="宋体" pitchFamily="2" charset="-122"/>
              <a:cs typeface="+mn-ea"/>
              <a:sym typeface="+mn-lt"/>
            </a:endParaRPr>
          </a:p>
        </p:txBody>
      </p:sp>
      <p:sp>
        <p:nvSpPr>
          <p:cNvPr id="4" name="灯片编号占位符 3"/>
          <p:cNvSpPr>
            <a:spLocks noGrp="1"/>
          </p:cNvSpPr>
          <p:nvPr>
            <p:ph type="sldNum" sz="quarter" idx="10"/>
          </p:nvPr>
        </p:nvSpPr>
        <p:spPr/>
        <p:txBody>
          <a:bodyPr/>
          <a:lstStyle/>
          <a:p>
            <a:pPr>
              <a:defRPr/>
            </a:pPr>
            <a:fld id="{1C79C6B0-6CA2-4E0C-8ADE-70C33BFB90DD}" type="slidenum">
              <a:rPr lang="de-DE" altLang="de-DE" smtClean="0"/>
            </a:fld>
            <a:endParaRPr lang="de-DE" altLang="de-D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endParaRPr kumimoji="1" lang="zh-CN" altLang="zh-CN" sz="800" kern="100" dirty="0">
              <a:solidFill>
                <a:schemeClr val="tx1"/>
              </a:solidFill>
              <a:effectLst/>
              <a:latin typeface="Arial" panose="020B0604020202090204" pitchFamily="34" charset="0"/>
              <a:ea typeface="宋体" pitchFamily="2" charset="-122"/>
              <a:cs typeface="+mn-ea"/>
              <a:sym typeface="+mn-lt"/>
            </a:endParaRPr>
          </a:p>
        </p:txBody>
      </p:sp>
      <p:sp>
        <p:nvSpPr>
          <p:cNvPr id="4" name="灯片编号占位符 3"/>
          <p:cNvSpPr>
            <a:spLocks noGrp="1"/>
          </p:cNvSpPr>
          <p:nvPr>
            <p:ph type="sldNum" sz="quarter" idx="10"/>
          </p:nvPr>
        </p:nvSpPr>
        <p:spPr/>
        <p:txBody>
          <a:bodyPr/>
          <a:lstStyle/>
          <a:p>
            <a:pPr>
              <a:defRPr/>
            </a:pPr>
            <a:fld id="{1C79C6B0-6CA2-4E0C-8ADE-70C33BFB90DD}" type="slidenum">
              <a:rPr lang="de-DE" altLang="de-DE" smtClean="0"/>
            </a:fld>
            <a:endParaRPr lang="de-DE" altLang="de-D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1C79C6B0-6CA2-4E0C-8ADE-70C33BFB90DD}" type="slidenum">
              <a:rPr lang="de-DE" altLang="de-DE" smtClean="0"/>
            </a:fld>
            <a:endParaRPr lang="de-DE" altLang="de-D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Rectangle 6"/>
          <p:cNvSpPr>
            <a:spLocks noGrp="1" noChangeArrowheads="1"/>
          </p:cNvSpPr>
          <p:nvPr>
            <p:ph type="sldNum" sz="quarter" idx="10"/>
          </p:nvPr>
        </p:nvSpPr>
        <p:spPr/>
        <p:txBody>
          <a:bodyPr/>
          <a:lstStyle>
            <a:lvl1pPr>
              <a:defRPr/>
            </a:lvl1pPr>
          </a:lstStyle>
          <a:p>
            <a:fld id="{54FC1700-FD45-9445-8980-62004CCA2937}" type="slidenum">
              <a:rPr lang="ko-KR" altLang="en-US"/>
            </a:fld>
            <a:endParaRPr lang="en-US" altLang="ko-KR"/>
          </a:p>
        </p:txBody>
      </p:sp>
      <p:sp>
        <p:nvSpPr>
          <p:cNvPr id="5" name="文本框 4"/>
          <p:cNvSpPr txBox="1"/>
          <p:nvPr userDrawn="1"/>
        </p:nvSpPr>
        <p:spPr>
          <a:xfrm>
            <a:off x="654540" y="1031636"/>
            <a:ext cx="10830169" cy="509050"/>
          </a:xfrm>
          <a:prstGeom prst="rect">
            <a:avLst/>
          </a:prstGeom>
          <a:noFill/>
        </p:spPr>
        <p:txBody>
          <a:bodyPr wrap="square" rtlCol="0">
            <a:spAutoFit/>
          </a:bodyPr>
          <a:lstStyle/>
          <a:p>
            <a:endParaRPr kumimoji="1" lang="zh-CN" altLang="en-US" sz="2710" dirty="0">
              <a:latin typeface="华文中宋" panose="02010600040101010101" pitchFamily="2" charset="-122"/>
              <a:ea typeface="华文中宋" panose="02010600040101010101" pitchFamily="2" charset="-122"/>
            </a:endParaRPr>
          </a:p>
        </p:txBody>
      </p:sp>
      <p:sp>
        <p:nvSpPr>
          <p:cNvPr id="3" name="标题 2"/>
          <p:cNvSpPr>
            <a:spLocks noGrp="1"/>
          </p:cNvSpPr>
          <p:nvPr>
            <p:ph type="title"/>
          </p:nvPr>
        </p:nvSpPr>
        <p:spPr/>
        <p:txBody>
          <a:bodyPr/>
          <a:lstStyle/>
          <a:p>
            <a:r>
              <a:rPr kumimoji="1" lang="zh-CN" altLang="en-US" dirty="0"/>
              <a:t>单击此处编辑母版标题样式</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25" name="灯片编号占位符 4"/>
          <p:cNvSpPr>
            <a:spLocks noGrp="1"/>
          </p:cNvSpPr>
          <p:nvPr>
            <p:ph type="sldNum" sz="quarter" idx="12"/>
          </p:nvPr>
        </p:nvSpPr>
        <p:spPr>
          <a:xfrm>
            <a:off x="9009131" y="6426666"/>
            <a:ext cx="2909888" cy="206381"/>
          </a:xfrm>
        </p:spPr>
        <p:txBody>
          <a:bodyPr/>
          <a:lstStyle>
            <a:lvl1pPr>
              <a:defRPr>
                <a:solidFill>
                  <a:schemeClr val="tx1"/>
                </a:solidFill>
              </a:defRPr>
            </a:lvl1pPr>
          </a:lstStyle>
          <a:p>
            <a:endParaRPr lang="zh-CN" altLang="en-US" dirty="0">
              <a:solidFill>
                <a:srgbClr val="000000"/>
              </a:solidFill>
            </a:endParaRPr>
          </a:p>
        </p:txBody>
      </p:sp>
      <p:sp>
        <p:nvSpPr>
          <p:cNvPr id="9" name="Line 8"/>
          <p:cNvSpPr>
            <a:spLocks noChangeShapeType="1"/>
          </p:cNvSpPr>
          <p:nvPr userDrawn="1"/>
        </p:nvSpPr>
        <p:spPr bwMode="auto">
          <a:xfrm>
            <a:off x="0" y="777875"/>
            <a:ext cx="12192000" cy="0"/>
          </a:xfrm>
          <a:prstGeom prst="line">
            <a:avLst/>
          </a:prstGeom>
          <a:noFill/>
          <a:ln w="19050">
            <a:solidFill>
              <a:srgbClr val="C00000"/>
            </a:solidFill>
            <a:round/>
          </a:ln>
          <a:extLst>
            <a:ext uri="{909E8E84-426E-40DD-AFC4-6F175D3DCCD1}">
              <a14:hiddenFill xmlns:a14="http://schemas.microsoft.com/office/drawing/2010/main">
                <a:noFill/>
              </a14:hiddenFill>
            </a:ext>
          </a:extLst>
        </p:spPr>
        <p:txBody>
          <a:bodyPr wrap="none" anchor="ctr"/>
          <a:lstStyle/>
          <a:p>
            <a:endParaRPr lang="zh-CN" altLang="en-US" sz="1300"/>
          </a:p>
        </p:txBody>
      </p:sp>
      <p:pic>
        <p:nvPicPr>
          <p:cNvPr id="10" name="图片 9"/>
          <p:cNvPicPr>
            <a:picLocks noChangeAspect="1"/>
          </p:cNvPicPr>
          <p:nvPr userDrawn="1"/>
        </p:nvPicPr>
        <p:blipFill>
          <a:blip r:embed="rId2" cstate="print"/>
          <a:stretch>
            <a:fillRect/>
          </a:stretch>
        </p:blipFill>
        <p:spPr>
          <a:xfrm>
            <a:off x="11016552" y="216192"/>
            <a:ext cx="397974" cy="465427"/>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
        <p:nvSpPr>
          <p:cNvPr id="4" name="灯片编号占位符 2"/>
          <p:cNvSpPr>
            <a:spLocks noGrp="1"/>
          </p:cNvSpPr>
          <p:nvPr>
            <p:ph type="sldNum" sz="quarter" idx="10"/>
          </p:nvPr>
        </p:nvSpPr>
        <p:spPr/>
        <p:txBody>
          <a:bodyPr/>
          <a:lstStyle>
            <a:lvl1pPr>
              <a:defRPr/>
            </a:lvl1pPr>
          </a:lstStyle>
          <a:p>
            <a:pPr>
              <a:defRPr/>
            </a:pPr>
            <a:fld id="{52DF7D90-B49A-4800-BC0D-FE9A7C3546DE}" type="slidenum">
              <a:rPr lang="zh-CN" altLang="en-US"/>
            </a:fld>
            <a:endParaRPr lang="en-US" altLang="zh-CN"/>
          </a:p>
        </p:txBody>
      </p:sp>
      <p:sp>
        <p:nvSpPr>
          <p:cNvPr id="3" name="标题 2"/>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lstStyle/>
          <a:p>
            <a:fld id="{CF1F136F-B80B-E24D-8271-E8D134EC37FF}" type="slidenum">
              <a:rPr lang="ko-KR" altLang="en-US" smtClean="0"/>
            </a:fld>
            <a:endParaRPr lang="en-US" altLang="ko-K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1.pn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0" name="Rectangle 6"/>
          <p:cNvSpPr>
            <a:spLocks noGrp="1" noChangeArrowheads="1"/>
          </p:cNvSpPr>
          <p:nvPr>
            <p:ph type="sldNum" sz="quarter" idx="4"/>
          </p:nvPr>
        </p:nvSpPr>
        <p:spPr bwMode="auto">
          <a:xfrm>
            <a:off x="9407770" y="6608769"/>
            <a:ext cx="2540000" cy="170496"/>
          </a:xfrm>
          <a:prstGeom prst="rect">
            <a:avLst/>
          </a:prstGeom>
          <a:noFill/>
          <a:ln>
            <a:noFill/>
          </a:ln>
        </p:spPr>
        <p:txBody>
          <a:bodyPr vert="horz" wrap="square" lIns="0" tIns="0" rIns="0" bIns="0" numCol="1" anchor="t" anchorCtr="0" compatLnSpc="1">
            <a:spAutoFit/>
          </a:bodyPr>
          <a:lstStyle>
            <a:lvl1pPr algn="r" eaLnBrk="0" hangingPunct="0">
              <a:defRPr sz="1110">
                <a:solidFill>
                  <a:srgbClr val="333333"/>
                </a:solidFill>
                <a:ea typeface="윤고딕130" charset="0"/>
              </a:defRPr>
            </a:lvl1pPr>
          </a:lstStyle>
          <a:p>
            <a:fld id="{CF1F136F-B80B-E24D-8271-E8D134EC37FF}" type="slidenum">
              <a:rPr lang="ko-KR" altLang="en-US"/>
            </a:fld>
            <a:endParaRPr lang="en-US" altLang="ko-KR"/>
          </a:p>
        </p:txBody>
      </p:sp>
      <p:sp>
        <p:nvSpPr>
          <p:cNvPr id="4" name="标题占位符 3"/>
          <p:cNvSpPr>
            <a:spLocks noGrp="1"/>
          </p:cNvSpPr>
          <p:nvPr>
            <p:ph type="title"/>
          </p:nvPr>
        </p:nvSpPr>
        <p:spPr>
          <a:xfrm>
            <a:off x="969108" y="957928"/>
            <a:ext cx="10515600" cy="685522"/>
          </a:xfrm>
          <a:prstGeom prst="rect">
            <a:avLst/>
          </a:prstGeom>
        </p:spPr>
        <p:txBody>
          <a:bodyPr vert="horz" lIns="91440" tIns="45720" rIns="91440" bIns="45720" rtlCol="0" anchor="ctr">
            <a:normAutofit/>
          </a:bodyPr>
          <a:lstStyle/>
          <a:p>
            <a:r>
              <a:rPr kumimoji="1" lang="zh-CN" altLang="en-US" dirty="0"/>
              <a:t>单击此处编辑母版标题样式</a:t>
            </a:r>
            <a:endParaRPr kumimoji="1" lang="zh-CN" altLang="en-US" dirty="0"/>
          </a:p>
        </p:txBody>
      </p:sp>
      <p:sp>
        <p:nvSpPr>
          <p:cNvPr id="5" name="文本占位符 4"/>
          <p:cNvSpPr>
            <a:spLocks noGrp="1"/>
          </p:cNvSpPr>
          <p:nvPr>
            <p:ph type="body" idx="1"/>
          </p:nvPr>
        </p:nvSpPr>
        <p:spPr>
          <a:xfrm>
            <a:off x="654539" y="418953"/>
            <a:ext cx="5275542" cy="262666"/>
          </a:xfrm>
          <a:prstGeom prst="rect">
            <a:avLst/>
          </a:prstGeom>
        </p:spPr>
        <p:txBody>
          <a:bodyPr vert="horz" lIns="91440" tIns="45720" rIns="91440" bIns="45720" rtlCol="0">
            <a:normAutofit/>
          </a:bodyPr>
          <a:lstStyle/>
          <a:p>
            <a:r>
              <a:rPr kumimoji="1" lang="zh-CN" altLang="en-US" dirty="0"/>
              <a:t>编辑母版文本样式</a:t>
            </a:r>
            <a:endParaRPr kumimoji="1" lang="zh-CN" altLang="en-US" dirty="0"/>
          </a:p>
        </p:txBody>
      </p:sp>
      <p:sp>
        <p:nvSpPr>
          <p:cNvPr id="8" name="Line 8"/>
          <p:cNvSpPr>
            <a:spLocks noChangeShapeType="1"/>
          </p:cNvSpPr>
          <p:nvPr userDrawn="1"/>
        </p:nvSpPr>
        <p:spPr bwMode="auto">
          <a:xfrm>
            <a:off x="0" y="777875"/>
            <a:ext cx="12192000" cy="0"/>
          </a:xfrm>
          <a:prstGeom prst="line">
            <a:avLst/>
          </a:prstGeom>
          <a:noFill/>
          <a:ln w="19050">
            <a:solidFill>
              <a:srgbClr val="C00000"/>
            </a:solidFill>
            <a:round/>
          </a:ln>
          <a:extLst>
            <a:ext uri="{909E8E84-426E-40DD-AFC4-6F175D3DCCD1}">
              <a14:hiddenFill xmlns:a14="http://schemas.microsoft.com/office/drawing/2010/main">
                <a:noFill/>
              </a14:hiddenFill>
            </a:ext>
          </a:extLst>
        </p:spPr>
        <p:txBody>
          <a:bodyPr wrap="none" anchor="ctr"/>
          <a:lstStyle/>
          <a:p>
            <a:endParaRPr lang="zh-CN" altLang="en-US" sz="1300"/>
          </a:p>
        </p:txBody>
      </p:sp>
      <p:pic>
        <p:nvPicPr>
          <p:cNvPr id="9" name="图片 8"/>
          <p:cNvPicPr>
            <a:picLocks noChangeAspect="1"/>
          </p:cNvPicPr>
          <p:nvPr userDrawn="1"/>
        </p:nvPicPr>
        <p:blipFill>
          <a:blip r:embed="rId5" cstate="print"/>
          <a:stretch>
            <a:fillRect/>
          </a:stretch>
        </p:blipFill>
        <p:spPr>
          <a:xfrm>
            <a:off x="11016552" y="216192"/>
            <a:ext cx="397974" cy="4654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rtl="0" eaLnBrk="0" fontAlgn="base" hangingPunct="0">
        <a:spcBef>
          <a:spcPct val="0"/>
        </a:spcBef>
        <a:spcAft>
          <a:spcPct val="0"/>
        </a:spcAft>
        <a:defRPr sz="2200" b="1">
          <a:solidFill>
            <a:srgbClr val="000000"/>
          </a:solidFill>
          <a:latin typeface="STZhongsong" panose="02010600040101010101" pitchFamily="2" charset="-122"/>
          <a:ea typeface="STZhongsong" panose="02010600040101010101" pitchFamily="2" charset="-122"/>
          <a:cs typeface="+mj-cs"/>
        </a:defRPr>
      </a:lvl1pPr>
      <a:lvl2pPr algn="l" rtl="0" eaLnBrk="0" fontAlgn="base" hangingPunct="0">
        <a:spcBef>
          <a:spcPct val="0"/>
        </a:spcBef>
        <a:spcAft>
          <a:spcPct val="0"/>
        </a:spcAft>
        <a:defRPr sz="2340" b="1">
          <a:solidFill>
            <a:srgbClr val="000000"/>
          </a:solidFill>
          <a:latin typeface="Arial" panose="020B0604020202090204" pitchFamily="34" charset="0"/>
          <a:ea typeface="윤고딕130" pitchFamily="18" charset="-127"/>
        </a:defRPr>
      </a:lvl2pPr>
      <a:lvl3pPr algn="l" rtl="0" eaLnBrk="0" fontAlgn="base" hangingPunct="0">
        <a:spcBef>
          <a:spcPct val="0"/>
        </a:spcBef>
        <a:spcAft>
          <a:spcPct val="0"/>
        </a:spcAft>
        <a:defRPr sz="2340" b="1">
          <a:solidFill>
            <a:srgbClr val="000000"/>
          </a:solidFill>
          <a:latin typeface="Arial" panose="020B0604020202090204" pitchFamily="34" charset="0"/>
          <a:ea typeface="윤고딕130" pitchFamily="18" charset="-127"/>
        </a:defRPr>
      </a:lvl3pPr>
      <a:lvl4pPr algn="l" rtl="0" eaLnBrk="0" fontAlgn="base" hangingPunct="0">
        <a:spcBef>
          <a:spcPct val="0"/>
        </a:spcBef>
        <a:spcAft>
          <a:spcPct val="0"/>
        </a:spcAft>
        <a:defRPr sz="2340" b="1">
          <a:solidFill>
            <a:srgbClr val="000000"/>
          </a:solidFill>
          <a:latin typeface="Arial" panose="020B0604020202090204" pitchFamily="34" charset="0"/>
          <a:ea typeface="윤고딕130" pitchFamily="18" charset="-127"/>
        </a:defRPr>
      </a:lvl4pPr>
      <a:lvl5pPr algn="l" rtl="0" eaLnBrk="0" fontAlgn="base" hangingPunct="0">
        <a:spcBef>
          <a:spcPct val="0"/>
        </a:spcBef>
        <a:spcAft>
          <a:spcPct val="0"/>
        </a:spcAft>
        <a:defRPr sz="2340" b="1">
          <a:solidFill>
            <a:srgbClr val="000000"/>
          </a:solidFill>
          <a:latin typeface="Arial" panose="020B0604020202090204" pitchFamily="34" charset="0"/>
          <a:ea typeface="윤고딕130" pitchFamily="18" charset="-127"/>
        </a:defRPr>
      </a:lvl5pPr>
      <a:lvl6pPr marL="562610" algn="l" rtl="0" fontAlgn="base">
        <a:spcBef>
          <a:spcPct val="0"/>
        </a:spcBef>
        <a:spcAft>
          <a:spcPct val="0"/>
        </a:spcAft>
        <a:defRPr sz="2340" b="1">
          <a:solidFill>
            <a:srgbClr val="000000"/>
          </a:solidFill>
          <a:latin typeface="Arial" panose="020B0604020202090204" pitchFamily="34" charset="0"/>
          <a:ea typeface="윤고딕130" pitchFamily="18" charset="-127"/>
        </a:defRPr>
      </a:lvl6pPr>
      <a:lvl7pPr marL="1125220" algn="l" rtl="0" fontAlgn="base">
        <a:spcBef>
          <a:spcPct val="0"/>
        </a:spcBef>
        <a:spcAft>
          <a:spcPct val="0"/>
        </a:spcAft>
        <a:defRPr sz="2340" b="1">
          <a:solidFill>
            <a:srgbClr val="000000"/>
          </a:solidFill>
          <a:latin typeface="Arial" panose="020B0604020202090204" pitchFamily="34" charset="0"/>
          <a:ea typeface="윤고딕130" pitchFamily="18" charset="-127"/>
        </a:defRPr>
      </a:lvl7pPr>
      <a:lvl8pPr marL="1688465" algn="l" rtl="0" fontAlgn="base">
        <a:spcBef>
          <a:spcPct val="0"/>
        </a:spcBef>
        <a:spcAft>
          <a:spcPct val="0"/>
        </a:spcAft>
        <a:defRPr sz="2340" b="1">
          <a:solidFill>
            <a:srgbClr val="000000"/>
          </a:solidFill>
          <a:latin typeface="Arial" panose="020B0604020202090204" pitchFamily="34" charset="0"/>
          <a:ea typeface="윤고딕130" pitchFamily="18" charset="-127"/>
        </a:defRPr>
      </a:lvl8pPr>
      <a:lvl9pPr marL="2251075" algn="l" rtl="0" fontAlgn="base">
        <a:spcBef>
          <a:spcPct val="0"/>
        </a:spcBef>
        <a:spcAft>
          <a:spcPct val="0"/>
        </a:spcAft>
        <a:defRPr sz="2340" b="1">
          <a:solidFill>
            <a:srgbClr val="000000"/>
          </a:solidFill>
          <a:latin typeface="Arial" panose="020B0604020202090204" pitchFamily="34" charset="0"/>
          <a:ea typeface="윤고딕130" pitchFamily="18" charset="-127"/>
        </a:defRPr>
      </a:lvl9pPr>
    </p:titleStyle>
    <p:bodyStyle>
      <a:lvl1pPr marL="0" indent="0" algn="l" defTabSz="1152525" rtl="0" eaLnBrk="0" fontAlgn="base" hangingPunct="0">
        <a:spcBef>
          <a:spcPct val="0"/>
        </a:spcBef>
        <a:spcAft>
          <a:spcPct val="0"/>
        </a:spcAft>
        <a:buFontTx/>
        <a:buNone/>
        <a:defRPr sz="1475" b="1">
          <a:solidFill>
            <a:schemeClr val="tx1"/>
          </a:solidFill>
          <a:latin typeface="宋体" panose="02010600030101010101" pitchFamily="2" charset="-122"/>
          <a:ea typeface="宋体" panose="02010600030101010101" pitchFamily="2" charset="-122"/>
          <a:cs typeface="+mn-cs"/>
        </a:defRPr>
      </a:lvl1pPr>
      <a:lvl2pPr marL="128905" indent="-127635" algn="l" defTabSz="1152525" rtl="0" eaLnBrk="0" fontAlgn="base" hangingPunct="0">
        <a:spcBef>
          <a:spcPct val="0"/>
        </a:spcBef>
        <a:spcAft>
          <a:spcPct val="0"/>
        </a:spcAft>
        <a:buChar char="•"/>
        <a:defRPr sz="1475">
          <a:solidFill>
            <a:schemeClr val="tx1"/>
          </a:solidFill>
          <a:latin typeface="+mn-lt"/>
          <a:ea typeface="+mn-ea"/>
        </a:defRPr>
      </a:lvl2pPr>
      <a:lvl3pPr marL="257810" indent="-127635" algn="l" defTabSz="1152525" rtl="0" eaLnBrk="0" fontAlgn="base" hangingPunct="0">
        <a:spcBef>
          <a:spcPct val="0"/>
        </a:spcBef>
        <a:spcAft>
          <a:spcPct val="0"/>
        </a:spcAft>
        <a:buChar char="–"/>
        <a:defRPr sz="1475">
          <a:solidFill>
            <a:schemeClr val="tx1"/>
          </a:solidFill>
          <a:latin typeface="+mn-lt"/>
          <a:ea typeface="+mn-ea"/>
        </a:defRPr>
      </a:lvl3pPr>
      <a:lvl4pPr marL="386715" indent="-127635" algn="l" defTabSz="1152525" rtl="0" eaLnBrk="0" fontAlgn="base" hangingPunct="0">
        <a:spcBef>
          <a:spcPct val="0"/>
        </a:spcBef>
        <a:spcAft>
          <a:spcPct val="0"/>
        </a:spcAft>
        <a:buChar char="·"/>
        <a:defRPr sz="1475">
          <a:solidFill>
            <a:schemeClr val="tx1"/>
          </a:solidFill>
          <a:latin typeface="+mn-lt"/>
          <a:ea typeface="+mn-ea"/>
        </a:defRPr>
      </a:lvl4pPr>
      <a:lvl5pPr marL="518160" indent="-121285" algn="l" defTabSz="1152525" rtl="0" eaLnBrk="0" fontAlgn="base" hangingPunct="0">
        <a:spcBef>
          <a:spcPct val="0"/>
        </a:spcBef>
        <a:spcAft>
          <a:spcPct val="0"/>
        </a:spcAft>
        <a:buChar char="›"/>
        <a:defRPr sz="1475">
          <a:solidFill>
            <a:schemeClr val="tx1"/>
          </a:solidFill>
          <a:latin typeface="+mn-lt"/>
          <a:ea typeface="+mn-ea"/>
        </a:defRPr>
      </a:lvl5pPr>
      <a:lvl6pPr marL="1080770" indent="-121285" algn="l" defTabSz="1152525" rtl="0" eaLnBrk="0" fontAlgn="base" hangingPunct="0">
        <a:spcBef>
          <a:spcPct val="0"/>
        </a:spcBef>
        <a:spcAft>
          <a:spcPct val="0"/>
        </a:spcAft>
        <a:buChar char="›"/>
        <a:defRPr sz="1475">
          <a:solidFill>
            <a:schemeClr val="tx1"/>
          </a:solidFill>
          <a:latin typeface="+mn-lt"/>
          <a:ea typeface="+mn-ea"/>
        </a:defRPr>
      </a:lvl6pPr>
      <a:lvl7pPr marL="1643380" indent="-121285" algn="l" defTabSz="1152525" rtl="0" eaLnBrk="0" fontAlgn="base" hangingPunct="0">
        <a:spcBef>
          <a:spcPct val="0"/>
        </a:spcBef>
        <a:spcAft>
          <a:spcPct val="0"/>
        </a:spcAft>
        <a:buChar char="›"/>
        <a:defRPr sz="1475">
          <a:solidFill>
            <a:schemeClr val="tx1"/>
          </a:solidFill>
          <a:latin typeface="+mn-lt"/>
          <a:ea typeface="+mn-ea"/>
        </a:defRPr>
      </a:lvl7pPr>
      <a:lvl8pPr marL="2206625" indent="-121285" algn="l" defTabSz="1152525" rtl="0" eaLnBrk="0" fontAlgn="base" hangingPunct="0">
        <a:spcBef>
          <a:spcPct val="0"/>
        </a:spcBef>
        <a:spcAft>
          <a:spcPct val="0"/>
        </a:spcAft>
        <a:buChar char="›"/>
        <a:defRPr sz="1475">
          <a:solidFill>
            <a:schemeClr val="tx1"/>
          </a:solidFill>
          <a:latin typeface="+mn-lt"/>
          <a:ea typeface="+mn-ea"/>
        </a:defRPr>
      </a:lvl8pPr>
      <a:lvl9pPr marL="2769235" indent="-121285" algn="l" defTabSz="1152525" rtl="0" eaLnBrk="0" fontAlgn="base" hangingPunct="0">
        <a:spcBef>
          <a:spcPct val="0"/>
        </a:spcBef>
        <a:spcAft>
          <a:spcPct val="0"/>
        </a:spcAft>
        <a:buChar char="›"/>
        <a:defRPr sz="1475">
          <a:solidFill>
            <a:schemeClr val="tx1"/>
          </a:solidFill>
          <a:latin typeface="+mn-lt"/>
          <a:ea typeface="+mn-ea"/>
        </a:defRPr>
      </a:lvl9pPr>
    </p:bodyStyle>
    <p:otherStyle>
      <a:defPPr>
        <a:defRPr lang="zh-CN"/>
      </a:defPPr>
      <a:lvl1pPr marL="0" algn="l" defTabSz="1125220" rtl="0" eaLnBrk="1" latinLnBrk="0" hangingPunct="1">
        <a:defRPr sz="2215" kern="1200">
          <a:solidFill>
            <a:schemeClr val="tx1"/>
          </a:solidFill>
          <a:latin typeface="+mn-lt"/>
          <a:ea typeface="+mn-ea"/>
          <a:cs typeface="+mn-cs"/>
        </a:defRPr>
      </a:lvl1pPr>
      <a:lvl2pPr marL="562610" algn="l" defTabSz="1125220" rtl="0" eaLnBrk="1" latinLnBrk="0" hangingPunct="1">
        <a:defRPr sz="2215" kern="1200">
          <a:solidFill>
            <a:schemeClr val="tx1"/>
          </a:solidFill>
          <a:latin typeface="+mn-lt"/>
          <a:ea typeface="+mn-ea"/>
          <a:cs typeface="+mn-cs"/>
        </a:defRPr>
      </a:lvl2pPr>
      <a:lvl3pPr marL="1125220" algn="l" defTabSz="1125220" rtl="0" eaLnBrk="1" latinLnBrk="0" hangingPunct="1">
        <a:defRPr sz="2215" kern="1200">
          <a:solidFill>
            <a:schemeClr val="tx1"/>
          </a:solidFill>
          <a:latin typeface="+mn-lt"/>
          <a:ea typeface="+mn-ea"/>
          <a:cs typeface="+mn-cs"/>
        </a:defRPr>
      </a:lvl3pPr>
      <a:lvl4pPr marL="1688465" algn="l" defTabSz="1125220" rtl="0" eaLnBrk="1" latinLnBrk="0" hangingPunct="1">
        <a:defRPr sz="2215" kern="1200">
          <a:solidFill>
            <a:schemeClr val="tx1"/>
          </a:solidFill>
          <a:latin typeface="+mn-lt"/>
          <a:ea typeface="+mn-ea"/>
          <a:cs typeface="+mn-cs"/>
        </a:defRPr>
      </a:lvl4pPr>
      <a:lvl5pPr marL="2251075" algn="l" defTabSz="1125220" rtl="0" eaLnBrk="1" latinLnBrk="0" hangingPunct="1">
        <a:defRPr sz="2215" kern="1200">
          <a:solidFill>
            <a:schemeClr val="tx1"/>
          </a:solidFill>
          <a:latin typeface="+mn-lt"/>
          <a:ea typeface="+mn-ea"/>
          <a:cs typeface="+mn-cs"/>
        </a:defRPr>
      </a:lvl5pPr>
      <a:lvl6pPr marL="2813685" algn="l" defTabSz="1125220" rtl="0" eaLnBrk="1" latinLnBrk="0" hangingPunct="1">
        <a:defRPr sz="2215" kern="1200">
          <a:solidFill>
            <a:schemeClr val="tx1"/>
          </a:solidFill>
          <a:latin typeface="+mn-lt"/>
          <a:ea typeface="+mn-ea"/>
          <a:cs typeface="+mn-cs"/>
        </a:defRPr>
      </a:lvl6pPr>
      <a:lvl7pPr marL="3376295" algn="l" defTabSz="1125220" rtl="0" eaLnBrk="1" latinLnBrk="0" hangingPunct="1">
        <a:defRPr sz="2215" kern="1200">
          <a:solidFill>
            <a:schemeClr val="tx1"/>
          </a:solidFill>
          <a:latin typeface="+mn-lt"/>
          <a:ea typeface="+mn-ea"/>
          <a:cs typeface="+mn-cs"/>
        </a:defRPr>
      </a:lvl7pPr>
      <a:lvl8pPr marL="3938905" algn="l" defTabSz="1125220" rtl="0" eaLnBrk="1" latinLnBrk="0" hangingPunct="1">
        <a:defRPr sz="2215" kern="1200">
          <a:solidFill>
            <a:schemeClr val="tx1"/>
          </a:solidFill>
          <a:latin typeface="+mn-lt"/>
          <a:ea typeface="+mn-ea"/>
          <a:cs typeface="+mn-cs"/>
        </a:defRPr>
      </a:lvl8pPr>
      <a:lvl9pPr marL="4501515" algn="l" defTabSz="1125220" rtl="0" eaLnBrk="1" latinLnBrk="0" hangingPunct="1">
        <a:defRPr sz="2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tiff"/><Relationship Id="rId1" Type="http://schemas.openxmlformats.org/officeDocument/2006/relationships/image" Target="../media/image5.tiff"/></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tif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9" Type="http://schemas.openxmlformats.org/officeDocument/2006/relationships/slideLayout" Target="../slideLayouts/slideLayout2.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0.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灯片编号占位符 2"/>
          <p:cNvSpPr txBox="1">
            <a:spLocks noGrp="1"/>
          </p:cNvSpPr>
          <p:nvPr/>
        </p:nvSpPr>
        <p:spPr bwMode="auto">
          <a:xfrm>
            <a:off x="11795786" y="6605078"/>
            <a:ext cx="189522" cy="158261"/>
          </a:xfrm>
          <a:prstGeom prst="rect">
            <a:avLst/>
          </a:prstGeom>
          <a:noFill/>
          <a:ln w="9525">
            <a:noFill/>
            <a:miter lim="800000"/>
          </a:ln>
        </p:spPr>
        <p:txBody>
          <a:bodyPr lIns="0" tIns="0" rIns="0" bIns="0"/>
          <a:lstStyle/>
          <a:p>
            <a:pPr eaLnBrk="0" hangingPunct="0"/>
            <a:fld id="{A0472C55-6B81-4F06-AC04-AEB2EED94140}" type="slidenum">
              <a:rPr kumimoji="1" lang="zh-CN" altLang="en-US" sz="1110">
                <a:latin typeface="+mn-lt"/>
                <a:ea typeface="+mn-ea"/>
                <a:cs typeface="+mn-ea"/>
                <a:sym typeface="+mn-lt"/>
              </a:rPr>
            </a:fld>
            <a:endParaRPr kumimoji="1" lang="en-US" altLang="zh-CN" sz="1110" dirty="0">
              <a:latin typeface="+mn-lt"/>
              <a:ea typeface="+mn-ea"/>
              <a:cs typeface="+mn-ea"/>
              <a:sym typeface="+mn-lt"/>
            </a:endParaRPr>
          </a:p>
        </p:txBody>
      </p:sp>
      <p:sp>
        <p:nvSpPr>
          <p:cNvPr id="5" name="Rectangle 2"/>
          <p:cNvSpPr txBox="1">
            <a:spLocks noChangeArrowheads="1"/>
          </p:cNvSpPr>
          <p:nvPr/>
        </p:nvSpPr>
        <p:spPr bwMode="auto">
          <a:xfrm>
            <a:off x="1223745" y="2951356"/>
            <a:ext cx="4801314" cy="461665"/>
          </a:xfrm>
          <a:prstGeom prst="rect">
            <a:avLst/>
          </a:prstGeom>
        </p:spPr>
        <p:txBody>
          <a:bodyPr wrap="none">
            <a:spAutoFit/>
          </a:bodyPr>
          <a:lstStyle>
            <a:defPPr>
              <a:defRPr lang="en-US"/>
            </a:defPPr>
            <a:lvl1pPr>
              <a:defRPr sz="2955" kern="0">
                <a:latin typeface="STZhongsong" panose="02010600040101010101" pitchFamily="2" charset="-122"/>
                <a:ea typeface="STZhongsong" panose="02010600040101010101" pitchFamily="2" charset="-122"/>
              </a:defRPr>
            </a:lvl1pPr>
          </a:lstStyle>
          <a:p>
            <a:r>
              <a:rPr lang="zh-CN" altLang="en-US" sz="2400" b="0" dirty="0">
                <a:latin typeface="+mn-lt"/>
                <a:ea typeface="+mn-ea"/>
                <a:cs typeface="+mn-ea"/>
                <a:sym typeface="+mn-lt"/>
              </a:rPr>
              <a:t>中国银行教育培训“十四五”规划</a:t>
            </a:r>
            <a:endParaRPr lang="ko-KR" altLang="en-US" sz="2400" b="0" dirty="0">
              <a:latin typeface="+mn-lt"/>
              <a:ea typeface="+mn-ea"/>
              <a:cs typeface="+mn-ea"/>
              <a:sym typeface="+mn-lt"/>
            </a:endParaRPr>
          </a:p>
        </p:txBody>
      </p:sp>
      <p:sp>
        <p:nvSpPr>
          <p:cNvPr id="6" name="Text Box 7"/>
          <p:cNvSpPr txBox="1">
            <a:spLocks noChangeArrowheads="1"/>
          </p:cNvSpPr>
          <p:nvPr/>
        </p:nvSpPr>
        <p:spPr bwMode="auto">
          <a:xfrm>
            <a:off x="3106108" y="4945440"/>
            <a:ext cx="6059045" cy="303032"/>
          </a:xfrm>
          <a:prstGeom prst="rect">
            <a:avLst/>
          </a:prstGeom>
          <a:noFill/>
          <a:ln>
            <a:noFill/>
          </a:ln>
        </p:spPr>
        <p:txBody>
          <a:bodyPr wrap="square" lIns="0" tIns="0" rIns="0" bIns="0">
            <a:spAutoFit/>
          </a:bodyPr>
          <a:lstStyle>
            <a:lvl1pPr eaLnBrk="0" hangingPunct="0">
              <a:defRPr sz="1200">
                <a:solidFill>
                  <a:srgbClr val="000000"/>
                </a:solidFill>
                <a:latin typeface="Arial" panose="020B0604020202090204" pitchFamily="34" charset="0"/>
                <a:ea typeface="-윤고딕130" pitchFamily="18" charset="-127"/>
              </a:defRPr>
            </a:lvl1pPr>
            <a:lvl2pPr marL="742950" indent="-285750" eaLnBrk="0" hangingPunct="0">
              <a:defRPr sz="1200">
                <a:solidFill>
                  <a:srgbClr val="000000"/>
                </a:solidFill>
                <a:latin typeface="Arial" panose="020B0604020202090204" pitchFamily="34" charset="0"/>
                <a:ea typeface="-윤고딕130" pitchFamily="18" charset="-127"/>
              </a:defRPr>
            </a:lvl2pPr>
            <a:lvl3pPr marL="1143000" indent="-228600" eaLnBrk="0" hangingPunct="0">
              <a:defRPr sz="1200">
                <a:solidFill>
                  <a:srgbClr val="000000"/>
                </a:solidFill>
                <a:latin typeface="Arial" panose="020B0604020202090204" pitchFamily="34" charset="0"/>
                <a:ea typeface="-윤고딕130" pitchFamily="18" charset="-127"/>
              </a:defRPr>
            </a:lvl3pPr>
            <a:lvl4pPr marL="1600200" indent="-228600" eaLnBrk="0" hangingPunct="0">
              <a:defRPr sz="1200">
                <a:solidFill>
                  <a:srgbClr val="000000"/>
                </a:solidFill>
                <a:latin typeface="Arial" panose="020B0604020202090204" pitchFamily="34" charset="0"/>
                <a:ea typeface="-윤고딕130" pitchFamily="18" charset="-127"/>
              </a:defRPr>
            </a:lvl4pPr>
            <a:lvl5pPr marL="2057400" indent="-228600" eaLnBrk="0" hangingPunct="0">
              <a:defRPr sz="1200">
                <a:solidFill>
                  <a:srgbClr val="000000"/>
                </a:solidFill>
                <a:latin typeface="Arial" panose="020B0604020202090204" pitchFamily="34" charset="0"/>
                <a:ea typeface="-윤고딕130" pitchFamily="18" charset="-127"/>
              </a:defRPr>
            </a:lvl5pPr>
            <a:lvl6pPr marL="2514600" indent="-228600" eaLnBrk="0" fontAlgn="base" hangingPunct="0">
              <a:spcBef>
                <a:spcPct val="0"/>
              </a:spcBef>
              <a:spcAft>
                <a:spcPct val="0"/>
              </a:spcAft>
              <a:defRPr sz="1200">
                <a:solidFill>
                  <a:srgbClr val="000000"/>
                </a:solidFill>
                <a:latin typeface="Arial" panose="020B0604020202090204" pitchFamily="34" charset="0"/>
                <a:ea typeface="-윤고딕130" pitchFamily="18" charset="-127"/>
              </a:defRPr>
            </a:lvl6pPr>
            <a:lvl7pPr marL="2971800" indent="-228600" eaLnBrk="0" fontAlgn="base" hangingPunct="0">
              <a:spcBef>
                <a:spcPct val="0"/>
              </a:spcBef>
              <a:spcAft>
                <a:spcPct val="0"/>
              </a:spcAft>
              <a:defRPr sz="1200">
                <a:solidFill>
                  <a:srgbClr val="000000"/>
                </a:solidFill>
                <a:latin typeface="Arial" panose="020B0604020202090204" pitchFamily="34" charset="0"/>
                <a:ea typeface="-윤고딕130" pitchFamily="18" charset="-127"/>
              </a:defRPr>
            </a:lvl7pPr>
            <a:lvl8pPr marL="3429000" indent="-228600" eaLnBrk="0" fontAlgn="base" hangingPunct="0">
              <a:spcBef>
                <a:spcPct val="0"/>
              </a:spcBef>
              <a:spcAft>
                <a:spcPct val="0"/>
              </a:spcAft>
              <a:defRPr sz="1200">
                <a:solidFill>
                  <a:srgbClr val="000000"/>
                </a:solidFill>
                <a:latin typeface="Arial" panose="020B0604020202090204" pitchFamily="34" charset="0"/>
                <a:ea typeface="-윤고딕130" pitchFamily="18" charset="-127"/>
              </a:defRPr>
            </a:lvl8pPr>
            <a:lvl9pPr marL="3886200" indent="-228600" eaLnBrk="0" fontAlgn="base" hangingPunct="0">
              <a:spcBef>
                <a:spcPct val="0"/>
              </a:spcBef>
              <a:spcAft>
                <a:spcPct val="0"/>
              </a:spcAft>
              <a:defRPr sz="1200">
                <a:solidFill>
                  <a:srgbClr val="000000"/>
                </a:solidFill>
                <a:latin typeface="Arial" panose="020B0604020202090204" pitchFamily="34" charset="0"/>
                <a:ea typeface="-윤고딕130" pitchFamily="18" charset="-127"/>
              </a:defRPr>
            </a:lvl9pPr>
          </a:lstStyle>
          <a:p>
            <a:pPr algn="ctr">
              <a:defRPr/>
            </a:pPr>
            <a:r>
              <a:rPr lang="en-US" altLang="ko-KR" sz="1970" dirty="0">
                <a:solidFill>
                  <a:srgbClr val="C00000"/>
                </a:solidFill>
                <a:latin typeface="+mn-lt"/>
                <a:ea typeface="+mn-ea"/>
                <a:cs typeface="+mn-ea"/>
                <a:sym typeface="+mn-lt"/>
              </a:rPr>
              <a:t>202</a:t>
            </a:r>
            <a:r>
              <a:rPr lang="en-US" altLang="zh-CN" sz="1970" dirty="0">
                <a:solidFill>
                  <a:srgbClr val="C00000"/>
                </a:solidFill>
                <a:latin typeface="+mn-lt"/>
                <a:ea typeface="+mn-ea"/>
                <a:cs typeface="+mn-ea"/>
                <a:sym typeface="+mn-lt"/>
              </a:rPr>
              <a:t>1</a:t>
            </a:r>
            <a:r>
              <a:rPr lang="zh-CN" altLang="en-US" sz="1970" dirty="0">
                <a:solidFill>
                  <a:srgbClr val="C00000"/>
                </a:solidFill>
                <a:latin typeface="+mn-lt"/>
                <a:ea typeface="+mn-ea"/>
                <a:cs typeface="+mn-ea"/>
                <a:sym typeface="+mn-lt"/>
              </a:rPr>
              <a:t>年</a:t>
            </a:r>
            <a:r>
              <a:rPr lang="en-US" altLang="zh-CN" sz="1970" dirty="0">
                <a:solidFill>
                  <a:srgbClr val="C00000"/>
                </a:solidFill>
                <a:latin typeface="+mn-lt"/>
                <a:ea typeface="+mn-ea"/>
                <a:cs typeface="+mn-ea"/>
                <a:sym typeface="+mn-lt"/>
              </a:rPr>
              <a:t>2</a:t>
            </a:r>
            <a:r>
              <a:rPr lang="zh-CN" altLang="en-US" sz="1970" dirty="0">
                <a:solidFill>
                  <a:srgbClr val="C00000"/>
                </a:solidFill>
                <a:latin typeface="+mn-lt"/>
                <a:ea typeface="+mn-ea"/>
                <a:cs typeface="+mn-ea"/>
                <a:sym typeface="+mn-lt"/>
              </a:rPr>
              <a:t>月</a:t>
            </a:r>
            <a:endParaRPr lang="en-US" altLang="ko-KR" sz="1970" dirty="0">
              <a:solidFill>
                <a:srgbClr val="C00000"/>
              </a:solidFill>
              <a:latin typeface="+mn-lt"/>
              <a:ea typeface="+mn-ea"/>
              <a:cs typeface="+mn-ea"/>
              <a:sym typeface="+mn-lt"/>
            </a:endParaRPr>
          </a:p>
        </p:txBody>
      </p:sp>
      <p:sp>
        <p:nvSpPr>
          <p:cNvPr id="7" name="McK Confidential"/>
          <p:cNvSpPr txBox="1">
            <a:spLocks noChangeArrowheads="1"/>
          </p:cNvSpPr>
          <p:nvPr>
            <p:custDataLst>
              <p:tags r:id="rId1"/>
            </p:custDataLst>
          </p:nvPr>
        </p:nvSpPr>
        <p:spPr bwMode="auto">
          <a:xfrm>
            <a:off x="1223751" y="1999082"/>
            <a:ext cx="2276004" cy="2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1200">
                <a:solidFill>
                  <a:srgbClr val="000000"/>
                </a:solidFill>
                <a:latin typeface="Arial" panose="020B0604020202090204" pitchFamily="34" charset="0"/>
                <a:ea typeface="-윤고딕130" charset="0"/>
              </a:defRPr>
            </a:lvl1pPr>
            <a:lvl2pPr marL="742950" indent="-285750" eaLnBrk="0" hangingPunct="0">
              <a:defRPr sz="1200">
                <a:solidFill>
                  <a:srgbClr val="000000"/>
                </a:solidFill>
                <a:latin typeface="Arial" panose="020B0604020202090204" pitchFamily="34" charset="0"/>
                <a:ea typeface="-윤고딕130" charset="0"/>
              </a:defRPr>
            </a:lvl2pPr>
            <a:lvl3pPr marL="1143000" indent="-228600" eaLnBrk="0" hangingPunct="0">
              <a:defRPr sz="1200">
                <a:solidFill>
                  <a:srgbClr val="000000"/>
                </a:solidFill>
                <a:latin typeface="Arial" panose="020B0604020202090204" pitchFamily="34" charset="0"/>
                <a:ea typeface="-윤고딕130" charset="0"/>
              </a:defRPr>
            </a:lvl3pPr>
            <a:lvl4pPr marL="1600200" indent="-228600" eaLnBrk="0" hangingPunct="0">
              <a:defRPr sz="1200">
                <a:solidFill>
                  <a:srgbClr val="000000"/>
                </a:solidFill>
                <a:latin typeface="Arial" panose="020B0604020202090204" pitchFamily="34" charset="0"/>
                <a:ea typeface="-윤고딕130" charset="0"/>
              </a:defRPr>
            </a:lvl4pPr>
            <a:lvl5pPr marL="2057400" indent="-228600" eaLnBrk="0" hangingPunct="0">
              <a:defRPr sz="1200">
                <a:solidFill>
                  <a:srgbClr val="000000"/>
                </a:solidFill>
                <a:latin typeface="Arial" panose="020B0604020202090204" pitchFamily="34" charset="0"/>
                <a:ea typeface="-윤고딕130" charset="0"/>
              </a:defRPr>
            </a:lvl5pPr>
            <a:lvl6pPr marL="25146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6pPr>
            <a:lvl7pPr marL="29718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7pPr>
            <a:lvl8pPr marL="34290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8pPr>
            <a:lvl9pPr marL="38862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9pPr>
          </a:lstStyle>
          <a:p>
            <a:pPr eaLnBrk="1" hangingPunct="1"/>
            <a:r>
              <a:rPr lang="en-US" altLang="ko-KR" sz="1725" dirty="0">
                <a:solidFill>
                  <a:srgbClr val="C00000"/>
                </a:solidFill>
                <a:latin typeface="+mn-lt"/>
                <a:ea typeface="+mn-ea"/>
                <a:cs typeface="+mn-ea"/>
                <a:sym typeface="+mn-lt"/>
              </a:rPr>
              <a:t>CONFIDENTIAL</a:t>
            </a:r>
            <a:r>
              <a:rPr lang="en-US" altLang="zh-CN" sz="1725" dirty="0">
                <a:solidFill>
                  <a:srgbClr val="C00000"/>
                </a:solidFill>
                <a:latin typeface="+mn-lt"/>
                <a:ea typeface="+mn-ea"/>
                <a:cs typeface="+mn-ea"/>
                <a:sym typeface="+mn-lt"/>
              </a:rPr>
              <a:t>·</a:t>
            </a:r>
            <a:r>
              <a:rPr lang="zh-CN" altLang="en-US" sz="1725" dirty="0">
                <a:solidFill>
                  <a:srgbClr val="C00000"/>
                </a:solidFill>
                <a:latin typeface="+mn-lt"/>
                <a:ea typeface="+mn-ea"/>
                <a:cs typeface="+mn-ea"/>
                <a:sym typeface="+mn-lt"/>
              </a:rPr>
              <a:t>机密</a:t>
            </a:r>
            <a:endParaRPr lang="en-US" altLang="ko-KR" sz="1725" dirty="0">
              <a:solidFill>
                <a:srgbClr val="C00000"/>
              </a:solidFill>
              <a:latin typeface="+mn-lt"/>
              <a:ea typeface="+mn-ea"/>
              <a:cs typeface="+mn-ea"/>
              <a:sym typeface="+mn-lt"/>
            </a:endParaRPr>
          </a:p>
        </p:txBody>
      </p:sp>
      <p:cxnSp>
        <p:nvCxnSpPr>
          <p:cNvPr id="4" name="直线连接符 3"/>
          <p:cNvCxnSpPr/>
          <p:nvPr/>
        </p:nvCxnSpPr>
        <p:spPr bwMode="auto">
          <a:xfrm>
            <a:off x="695325" y="4774878"/>
            <a:ext cx="10837863" cy="0"/>
          </a:xfrm>
          <a:prstGeom prst="line">
            <a:avLst/>
          </a:prstGeom>
          <a:solidFill>
            <a:schemeClr val="bg1"/>
          </a:solidFill>
          <a:ln w="2857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000000"/>
                  </a:outerShdw>
                </a:effectLst>
              </a14:hiddenEffects>
            </a:ext>
          </a:extLst>
        </p:spPr>
      </p:cxnSp>
      <p:sp>
        <p:nvSpPr>
          <p:cNvPr id="3" name="矩形 2"/>
          <p:cNvSpPr/>
          <p:nvPr/>
        </p:nvSpPr>
        <p:spPr>
          <a:xfrm>
            <a:off x="3885910" y="3909141"/>
            <a:ext cx="4363695" cy="546945"/>
          </a:xfrm>
          <a:prstGeom prst="rect">
            <a:avLst/>
          </a:prstGeom>
        </p:spPr>
        <p:txBody>
          <a:bodyPr wrap="none">
            <a:spAutoFit/>
          </a:bodyPr>
          <a:lstStyle/>
          <a:p>
            <a:r>
              <a:rPr lang="zh-CN" altLang="en-US" sz="2955" kern="0" dirty="0">
                <a:latin typeface="+mn-lt"/>
                <a:ea typeface="+mn-ea"/>
                <a:cs typeface="+mn-ea"/>
                <a:sym typeface="+mn-lt"/>
              </a:rPr>
              <a:t>调研分析及发展规划报告</a:t>
            </a:r>
            <a:endParaRPr lang="zh-CN" altLang="en-US" sz="2955" dirty="0">
              <a:latin typeface="+mn-lt"/>
              <a:ea typeface="+mn-ea"/>
              <a:cs typeface="+mn-ea"/>
              <a:sym typeface="+mn-lt"/>
            </a:endParaRPr>
          </a:p>
        </p:txBody>
      </p:sp>
      <p:sp>
        <p:nvSpPr>
          <p:cNvPr id="9" name="Line 8"/>
          <p:cNvSpPr>
            <a:spLocks noChangeShapeType="1"/>
          </p:cNvSpPr>
          <p:nvPr/>
        </p:nvSpPr>
        <p:spPr bwMode="auto">
          <a:xfrm>
            <a:off x="0" y="777875"/>
            <a:ext cx="12192000" cy="0"/>
          </a:xfrm>
          <a:prstGeom prst="line">
            <a:avLst/>
          </a:prstGeom>
          <a:noFill/>
          <a:ln w="19050">
            <a:solidFill>
              <a:srgbClr val="C00000"/>
            </a:solidFill>
            <a:round/>
          </a:ln>
          <a:extLst>
            <a:ext uri="{909E8E84-426E-40DD-AFC4-6F175D3DCCD1}">
              <a14:hiddenFill xmlns:a14="http://schemas.microsoft.com/office/drawing/2010/main">
                <a:noFill/>
              </a14:hiddenFill>
            </a:ext>
          </a:extLst>
        </p:spPr>
        <p:txBody>
          <a:bodyPr wrap="none" anchor="ctr"/>
          <a:lstStyle/>
          <a:p>
            <a:endParaRPr lang="zh-CN" altLang="en-US" sz="1300">
              <a:latin typeface="+mn-lt"/>
              <a:ea typeface="+mn-ea"/>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3"/>
          <p:cNvCxnSpPr/>
          <p:nvPr/>
        </p:nvCxnSpPr>
        <p:spPr>
          <a:xfrm>
            <a:off x="2661610" y="1445015"/>
            <a:ext cx="0" cy="405324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 name="幻灯片编号占位符 3"/>
          <p:cNvSpPr>
            <a:spLocks noGrp="1"/>
          </p:cNvSpPr>
          <p:nvPr>
            <p:ph type="sldNum" sz="quarter" idx="10"/>
          </p:nvPr>
        </p:nvSpPr>
        <p:spPr/>
        <p:txBody>
          <a:bodyPr/>
          <a:lstStyle/>
          <a:p>
            <a:fld id="{54FC1700-FD45-9445-8980-62004CCA2937}" type="slidenum">
              <a:rPr lang="ko-KR" altLang="en-US" smtClean="0">
                <a:latin typeface="+mn-lt"/>
                <a:ea typeface="+mn-ea"/>
                <a:cs typeface="+mn-ea"/>
                <a:sym typeface="+mn-lt"/>
              </a:rPr>
            </a:fld>
            <a:endParaRPr lang="en-US" altLang="ko-KR" dirty="0">
              <a:latin typeface="+mn-lt"/>
              <a:ea typeface="+mn-ea"/>
              <a:cs typeface="+mn-ea"/>
              <a:sym typeface="+mn-lt"/>
            </a:endParaRPr>
          </a:p>
        </p:txBody>
      </p:sp>
      <p:sp>
        <p:nvSpPr>
          <p:cNvPr id="2" name="标题 1"/>
          <p:cNvSpPr>
            <a:spLocks noGrp="1"/>
          </p:cNvSpPr>
          <p:nvPr>
            <p:ph type="title"/>
          </p:nvPr>
        </p:nvSpPr>
        <p:spPr>
          <a:xfrm>
            <a:off x="688975" y="116350"/>
            <a:ext cx="10515600" cy="685522"/>
          </a:xfrm>
        </p:spPr>
        <p:txBody>
          <a:bodyPr>
            <a:noAutofit/>
          </a:bodyPr>
          <a:lstStyle/>
          <a:p>
            <a:r>
              <a:rPr kumimoji="1" lang="zh-CN" altLang="en-US" sz="2000" dirty="0">
                <a:latin typeface="+mn-lt"/>
                <a:ea typeface="+mn-ea"/>
                <a:cs typeface="+mn-ea"/>
                <a:sym typeface="+mn-lt"/>
              </a:rPr>
              <a:t>目录</a:t>
            </a:r>
            <a:endParaRPr kumimoji="1" lang="zh-CN" altLang="en-US" sz="2000" dirty="0">
              <a:latin typeface="+mn-lt"/>
              <a:ea typeface="+mn-ea"/>
              <a:cs typeface="+mn-ea"/>
              <a:sym typeface="+mn-lt"/>
            </a:endParaRPr>
          </a:p>
        </p:txBody>
      </p:sp>
      <p:sp>
        <p:nvSpPr>
          <p:cNvPr id="5" name="矩形 4"/>
          <p:cNvSpPr/>
          <p:nvPr/>
        </p:nvSpPr>
        <p:spPr>
          <a:xfrm>
            <a:off x="2019761" y="1992092"/>
            <a:ext cx="8105599" cy="50757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cs typeface="+mn-ea"/>
              <a:sym typeface="+mn-lt"/>
            </a:endParaRPr>
          </a:p>
        </p:txBody>
      </p:sp>
      <p:sp>
        <p:nvSpPr>
          <p:cNvPr id="6" name="文本框 5"/>
          <p:cNvSpPr txBox="1"/>
          <p:nvPr/>
        </p:nvSpPr>
        <p:spPr>
          <a:xfrm>
            <a:off x="2908095" y="1818996"/>
            <a:ext cx="7874745" cy="2137508"/>
          </a:xfrm>
          <a:prstGeom prst="rect">
            <a:avLst/>
          </a:prstGeom>
          <a:noFill/>
        </p:spPr>
        <p:txBody>
          <a:bodyPr wrap="square" rtlCol="0">
            <a:spAutoFit/>
          </a:bodyPr>
          <a:lstStyle/>
          <a:p>
            <a:pPr marL="633095" indent="-633095">
              <a:lnSpc>
                <a:spcPct val="200000"/>
              </a:lnSpc>
              <a:buFont typeface="+mj-ea"/>
              <a:buAutoNum type="ea1JpnChsDbPeriod"/>
            </a:pPr>
            <a:r>
              <a:rPr lang="zh-CN" altLang="en-US" sz="2215" dirty="0">
                <a:solidFill>
                  <a:schemeClr val="bg1"/>
                </a:solidFill>
                <a:latin typeface="+mn-lt"/>
                <a:ea typeface="+mn-ea"/>
                <a:cs typeface="+mn-ea"/>
                <a:sym typeface="+mn-lt"/>
              </a:rPr>
              <a:t>调研与现状总结（外部机会挑战与内部优势劣势）</a:t>
            </a:r>
            <a:endParaRPr lang="en-US" altLang="zh-CN" sz="2215" dirty="0">
              <a:solidFill>
                <a:schemeClr val="bg1"/>
              </a:solidFill>
              <a:latin typeface="+mn-lt"/>
              <a:ea typeface="+mn-ea"/>
              <a:cs typeface="+mn-ea"/>
              <a:sym typeface="+mn-lt"/>
            </a:endParaRPr>
          </a:p>
          <a:p>
            <a:pPr marL="562610" indent="-562610">
              <a:lnSpc>
                <a:spcPct val="200000"/>
              </a:lnSpc>
              <a:buFont typeface="+mj-lt"/>
              <a:buAutoNum type="ea1JpnChsDbPeriod"/>
            </a:pPr>
            <a:r>
              <a:rPr lang="zh-CN" altLang="en-US" sz="2215" dirty="0">
                <a:solidFill>
                  <a:schemeClr val="bg1">
                    <a:lumMod val="50000"/>
                  </a:schemeClr>
                </a:solidFill>
                <a:latin typeface="+mn-lt"/>
                <a:ea typeface="+mn-ea"/>
                <a:cs typeface="+mn-ea"/>
                <a:sym typeface="+mn-lt"/>
              </a:rPr>
              <a:t>战略规划（目标愿景、关键举措、重点任务）</a:t>
            </a:r>
            <a:endParaRPr lang="en-US" altLang="zh-CN" sz="2215" dirty="0">
              <a:solidFill>
                <a:schemeClr val="bg1">
                  <a:lumMod val="50000"/>
                </a:schemeClr>
              </a:solidFill>
              <a:latin typeface="+mn-lt"/>
              <a:ea typeface="+mn-ea"/>
              <a:cs typeface="+mn-ea"/>
              <a:sym typeface="+mn-lt"/>
            </a:endParaRPr>
          </a:p>
          <a:p>
            <a:pPr marL="562610" indent="-562610">
              <a:lnSpc>
                <a:spcPct val="200000"/>
              </a:lnSpc>
              <a:buFont typeface="+mj-lt"/>
              <a:buAutoNum type="ea1JpnChsDbPeriod"/>
            </a:pPr>
            <a:r>
              <a:rPr lang="zh-CN" altLang="en-US" sz="2215" dirty="0">
                <a:solidFill>
                  <a:schemeClr val="bg1">
                    <a:lumMod val="50000"/>
                  </a:schemeClr>
                </a:solidFill>
                <a:latin typeface="+mn-lt"/>
                <a:ea typeface="+mn-ea"/>
                <a:cs typeface="+mn-ea"/>
                <a:sym typeface="+mn-lt"/>
              </a:rPr>
              <a:t>十四五规划报告三级内容体系展示</a:t>
            </a:r>
            <a:endParaRPr lang="zh-CN" altLang="en-US" sz="2215" dirty="0">
              <a:solidFill>
                <a:schemeClr val="bg1">
                  <a:lumMod val="50000"/>
                </a:schemeClr>
              </a:solidFill>
              <a:latin typeface="+mn-lt"/>
              <a:ea typeface="+mn-ea"/>
              <a:cs typeface="+mn-ea"/>
              <a:sym typeface="+mn-lt"/>
            </a:endParaRPr>
          </a:p>
        </p:txBody>
      </p:sp>
      <p:sp>
        <p:nvSpPr>
          <p:cNvPr id="8" name="Text Box 4"/>
          <p:cNvSpPr txBox="1">
            <a:spLocks noChangeArrowheads="1"/>
          </p:cNvSpPr>
          <p:nvPr/>
        </p:nvSpPr>
        <p:spPr bwMode="auto">
          <a:xfrm>
            <a:off x="719258" y="811507"/>
            <a:ext cx="10828217" cy="359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1200">
                <a:solidFill>
                  <a:srgbClr val="000000"/>
                </a:solidFill>
                <a:latin typeface="Arial" panose="020B0604020202090204" pitchFamily="34" charset="0"/>
                <a:ea typeface="-윤고딕130" charset="0"/>
              </a:defRPr>
            </a:lvl1pPr>
            <a:lvl2pPr marL="742950" indent="-285750" eaLnBrk="0" hangingPunct="0">
              <a:defRPr sz="1200">
                <a:solidFill>
                  <a:srgbClr val="000000"/>
                </a:solidFill>
                <a:latin typeface="Arial" panose="020B0604020202090204" pitchFamily="34" charset="0"/>
                <a:ea typeface="-윤고딕130" charset="0"/>
              </a:defRPr>
            </a:lvl2pPr>
            <a:lvl3pPr marL="1143000" indent="-228600" eaLnBrk="0" hangingPunct="0">
              <a:defRPr sz="1200">
                <a:solidFill>
                  <a:srgbClr val="000000"/>
                </a:solidFill>
                <a:latin typeface="Arial" panose="020B0604020202090204" pitchFamily="34" charset="0"/>
                <a:ea typeface="-윤고딕130" charset="0"/>
              </a:defRPr>
            </a:lvl3pPr>
            <a:lvl4pPr marL="1600200" indent="-228600" eaLnBrk="0" hangingPunct="0">
              <a:defRPr sz="1200">
                <a:solidFill>
                  <a:srgbClr val="000000"/>
                </a:solidFill>
                <a:latin typeface="Arial" panose="020B0604020202090204" pitchFamily="34" charset="0"/>
                <a:ea typeface="-윤고딕130" charset="0"/>
              </a:defRPr>
            </a:lvl4pPr>
            <a:lvl5pPr marL="2057400" indent="-228600" eaLnBrk="0" hangingPunct="0">
              <a:defRPr sz="1200">
                <a:solidFill>
                  <a:srgbClr val="000000"/>
                </a:solidFill>
                <a:latin typeface="Arial" panose="020B0604020202090204" pitchFamily="34" charset="0"/>
                <a:ea typeface="-윤고딕130" charset="0"/>
              </a:defRPr>
            </a:lvl5pPr>
            <a:lvl6pPr marL="25146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6pPr>
            <a:lvl7pPr marL="29718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7pPr>
            <a:lvl8pPr marL="34290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8pPr>
            <a:lvl9pPr marL="38862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9pPr>
          </a:lstStyle>
          <a:p>
            <a:r>
              <a:rPr lang="en-US" altLang="zh-CN" sz="2340" dirty="0">
                <a:latin typeface="+mn-lt"/>
                <a:ea typeface="+mn-ea"/>
                <a:cs typeface="+mn-ea"/>
                <a:sym typeface="+mn-lt"/>
              </a:rPr>
              <a:t>Agenda </a:t>
            </a:r>
            <a:endParaRPr lang="en-US" altLang="zh-CN" sz="2340" dirty="0">
              <a:latin typeface="+mn-lt"/>
              <a:ea typeface="+mn-ea"/>
              <a:cs typeface="+mn-ea"/>
              <a:sym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52DF7D90-B49A-4800-BC0D-FE9A7C3546DE}" type="slidenum">
              <a:rPr lang="zh-CN" altLang="en-US" smtClean="0">
                <a:latin typeface="+mn-lt"/>
                <a:ea typeface="+mn-ea"/>
                <a:cs typeface="+mn-ea"/>
                <a:sym typeface="+mn-lt"/>
              </a:rPr>
            </a:fld>
            <a:endParaRPr lang="en-US" altLang="zh-CN">
              <a:latin typeface="+mn-lt"/>
              <a:ea typeface="+mn-ea"/>
              <a:cs typeface="+mn-ea"/>
              <a:sym typeface="+mn-lt"/>
            </a:endParaRPr>
          </a:p>
        </p:txBody>
      </p:sp>
      <p:sp>
        <p:nvSpPr>
          <p:cNvPr id="23" name="标题 1"/>
          <p:cNvSpPr txBox="1"/>
          <p:nvPr/>
        </p:nvSpPr>
        <p:spPr>
          <a:xfrm>
            <a:off x="616899" y="277386"/>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zh-CN" altLang="en-US" dirty="0">
                <a:latin typeface="+mn-lt"/>
                <a:ea typeface="+mn-ea"/>
                <a:cs typeface="+mn-ea"/>
                <a:sym typeface="+mn-lt"/>
              </a:rPr>
              <a:t>方法与过程说明</a:t>
            </a:r>
            <a:endParaRPr lang="zh-CN" altLang="en-US" dirty="0">
              <a:latin typeface="+mn-lt"/>
              <a:ea typeface="+mn-ea"/>
              <a:cs typeface="+mn-ea"/>
              <a:sym typeface="+mn-lt"/>
            </a:endParaRPr>
          </a:p>
        </p:txBody>
      </p:sp>
      <p:sp>
        <p:nvSpPr>
          <p:cNvPr id="31" name="标题 2"/>
          <p:cNvSpPr>
            <a:spLocks noGrp="1"/>
          </p:cNvSpPr>
          <p:nvPr>
            <p:ph type="title"/>
          </p:nvPr>
        </p:nvSpPr>
        <p:spPr>
          <a:xfrm>
            <a:off x="688975" y="1032776"/>
            <a:ext cx="10858500" cy="685522"/>
          </a:xfrm>
        </p:spPr>
        <p:txBody>
          <a:bodyPr>
            <a:noAutofit/>
          </a:bodyPr>
          <a:lstStyle/>
          <a:p>
            <a:r>
              <a:rPr kumimoji="1" lang="zh-CN" altLang="en-US" sz="1800" dirty="0">
                <a:latin typeface="+mn-lt"/>
                <a:ea typeface="+mn-ea"/>
                <a:cs typeface="+mn-ea"/>
                <a:sym typeface="+mn-lt"/>
              </a:rPr>
              <a:t>本报告调研分析部分采用</a:t>
            </a:r>
            <a:r>
              <a:rPr kumimoji="1" lang="en-US" altLang="zh-CN" sz="1800" dirty="0">
                <a:latin typeface="+mn-lt"/>
                <a:ea typeface="+mn-ea"/>
                <a:cs typeface="+mn-ea"/>
                <a:sym typeface="+mn-lt"/>
              </a:rPr>
              <a:t>SWOT</a:t>
            </a:r>
            <a:r>
              <a:rPr kumimoji="1" lang="zh-CN" altLang="en-US" sz="1800" dirty="0">
                <a:latin typeface="+mn-lt"/>
                <a:ea typeface="+mn-ea"/>
                <a:cs typeface="+mn-ea"/>
                <a:sym typeface="+mn-lt"/>
              </a:rPr>
              <a:t>分析法，对内外部研究和相关调研进行系统的分析，从中发现问题，找到关键解决办法。</a:t>
            </a:r>
            <a:endParaRPr kumimoji="1" lang="zh-CN" altLang="en-US" sz="1800" dirty="0">
              <a:latin typeface="+mn-lt"/>
              <a:ea typeface="+mn-ea"/>
              <a:cs typeface="+mn-ea"/>
              <a:sym typeface="+mn-lt"/>
            </a:endParaRPr>
          </a:p>
        </p:txBody>
      </p:sp>
      <p:grpSp>
        <p:nvGrpSpPr>
          <p:cNvPr id="32" name="组合 31"/>
          <p:cNvGrpSpPr/>
          <p:nvPr/>
        </p:nvGrpSpPr>
        <p:grpSpPr>
          <a:xfrm>
            <a:off x="726610" y="1910857"/>
            <a:ext cx="4402667" cy="4402667"/>
            <a:chOff x="2751666" y="1227666"/>
            <a:chExt cx="4402667" cy="4402667"/>
          </a:xfrm>
        </p:grpSpPr>
        <p:sp>
          <p:nvSpPr>
            <p:cNvPr id="33" name="十字箭头 7"/>
            <p:cNvSpPr/>
            <p:nvPr/>
          </p:nvSpPr>
          <p:spPr>
            <a:xfrm>
              <a:off x="2751666" y="1227666"/>
              <a:ext cx="4402667" cy="4402667"/>
            </a:xfrm>
            <a:prstGeom prst="quadArrow">
              <a:avLst>
                <a:gd name="adj1" fmla="val 2000"/>
                <a:gd name="adj2" fmla="val 4000"/>
                <a:gd name="adj3" fmla="val 5000"/>
              </a:avLst>
            </a:prstGeom>
          </p:spPr>
          <p:style>
            <a:lnRef idx="0">
              <a:schemeClr val="accent1">
                <a:hueOff val="0"/>
                <a:satOff val="0"/>
                <a:lumOff val="0"/>
                <a:alphaOff val="0"/>
              </a:schemeClr>
            </a:lnRef>
            <a:fillRef idx="1">
              <a:schemeClr val="accent1">
                <a:tint val="40000"/>
                <a:hueOff val="0"/>
                <a:satOff val="0"/>
                <a:lumOff val="0"/>
                <a:alphaOff val="0"/>
              </a:schemeClr>
            </a:fillRef>
            <a:effectRef idx="1">
              <a:schemeClr val="accent1">
                <a:tint val="40000"/>
                <a:hueOff val="0"/>
                <a:satOff val="0"/>
                <a:lumOff val="0"/>
                <a:alphaOff val="0"/>
              </a:schemeClr>
            </a:effectRef>
            <a:fontRef idx="minor">
              <a:schemeClr val="dk1">
                <a:hueOff val="0"/>
                <a:satOff val="0"/>
                <a:lumOff val="0"/>
                <a:alphaOff val="0"/>
              </a:schemeClr>
            </a:fontRef>
          </p:style>
          <p:txBody>
            <a:bodyPr/>
            <a:lstStyle/>
            <a:p>
              <a:endParaRPr lang="zh-CN" altLang="en-US">
                <a:cs typeface="+mn-ea"/>
                <a:sym typeface="+mn-lt"/>
              </a:endParaRPr>
            </a:p>
          </p:txBody>
        </p:sp>
        <p:sp>
          <p:nvSpPr>
            <p:cNvPr id="34" name="任意形状 8"/>
            <p:cNvSpPr/>
            <p:nvPr/>
          </p:nvSpPr>
          <p:spPr>
            <a:xfrm>
              <a:off x="3037839" y="1513839"/>
              <a:ext cx="1761066" cy="1761066"/>
            </a:xfrm>
            <a:custGeom>
              <a:avLst/>
              <a:gdLst>
                <a:gd name="connsiteX0" fmla="*/ 0 w 1761066"/>
                <a:gd name="connsiteY0" fmla="*/ 293517 h 1761066"/>
                <a:gd name="connsiteX1" fmla="*/ 293517 w 1761066"/>
                <a:gd name="connsiteY1" fmla="*/ 0 h 1761066"/>
                <a:gd name="connsiteX2" fmla="*/ 1467549 w 1761066"/>
                <a:gd name="connsiteY2" fmla="*/ 0 h 1761066"/>
                <a:gd name="connsiteX3" fmla="*/ 1761066 w 1761066"/>
                <a:gd name="connsiteY3" fmla="*/ 293517 h 1761066"/>
                <a:gd name="connsiteX4" fmla="*/ 1761066 w 1761066"/>
                <a:gd name="connsiteY4" fmla="*/ 1467549 h 1761066"/>
                <a:gd name="connsiteX5" fmla="*/ 1467549 w 1761066"/>
                <a:gd name="connsiteY5" fmla="*/ 1761066 h 1761066"/>
                <a:gd name="connsiteX6" fmla="*/ 293517 w 1761066"/>
                <a:gd name="connsiteY6" fmla="*/ 1761066 h 1761066"/>
                <a:gd name="connsiteX7" fmla="*/ 0 w 1761066"/>
                <a:gd name="connsiteY7" fmla="*/ 1467549 h 1761066"/>
                <a:gd name="connsiteX8" fmla="*/ 0 w 1761066"/>
                <a:gd name="connsiteY8" fmla="*/ 293517 h 176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1066" h="1761066">
                  <a:moveTo>
                    <a:pt x="0" y="293517"/>
                  </a:moveTo>
                  <a:cubicBezTo>
                    <a:pt x="0" y="131412"/>
                    <a:pt x="131412" y="0"/>
                    <a:pt x="293517" y="0"/>
                  </a:cubicBezTo>
                  <a:lnTo>
                    <a:pt x="1467549" y="0"/>
                  </a:lnTo>
                  <a:cubicBezTo>
                    <a:pt x="1629654" y="0"/>
                    <a:pt x="1761066" y="131412"/>
                    <a:pt x="1761066" y="293517"/>
                  </a:cubicBezTo>
                  <a:lnTo>
                    <a:pt x="1761066" y="1467549"/>
                  </a:lnTo>
                  <a:cubicBezTo>
                    <a:pt x="1761066" y="1629654"/>
                    <a:pt x="1629654" y="1761066"/>
                    <a:pt x="1467549" y="1761066"/>
                  </a:cubicBezTo>
                  <a:lnTo>
                    <a:pt x="293517" y="1761066"/>
                  </a:lnTo>
                  <a:cubicBezTo>
                    <a:pt x="131412" y="1761066"/>
                    <a:pt x="0" y="1629654"/>
                    <a:pt x="0" y="1467549"/>
                  </a:cubicBezTo>
                  <a:lnTo>
                    <a:pt x="0" y="293517"/>
                  </a:lnTo>
                  <a:close/>
                </a:path>
              </a:pathLst>
            </a:custGeom>
            <a:solidFill>
              <a:srgbClr val="B4A697">
                <a:alpha val="34000"/>
              </a:srgbClr>
            </a:solidFill>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249798" tIns="249798" rIns="249798" bIns="249798" numCol="1" spcCol="1270" anchor="ctr" anchorCtr="0">
              <a:noAutofit/>
            </a:bodyPr>
            <a:lstStyle/>
            <a:p>
              <a:pPr algn="ctr" defTabSz="1911350">
                <a:lnSpc>
                  <a:spcPct val="90000"/>
                </a:lnSpc>
                <a:spcAft>
                  <a:spcPct val="35000"/>
                </a:spcAft>
              </a:pPr>
              <a:endParaRPr lang="zh-CN" altLang="en-US" sz="4300">
                <a:cs typeface="+mn-ea"/>
                <a:sym typeface="+mn-lt"/>
              </a:endParaRPr>
            </a:p>
          </p:txBody>
        </p:sp>
        <p:sp>
          <p:nvSpPr>
            <p:cNvPr id="35" name="任意形状 9"/>
            <p:cNvSpPr/>
            <p:nvPr/>
          </p:nvSpPr>
          <p:spPr>
            <a:xfrm>
              <a:off x="5107093" y="1513839"/>
              <a:ext cx="1761066" cy="1761066"/>
            </a:xfrm>
            <a:custGeom>
              <a:avLst/>
              <a:gdLst>
                <a:gd name="connsiteX0" fmla="*/ 0 w 1761066"/>
                <a:gd name="connsiteY0" fmla="*/ 293517 h 1761066"/>
                <a:gd name="connsiteX1" fmla="*/ 293517 w 1761066"/>
                <a:gd name="connsiteY1" fmla="*/ 0 h 1761066"/>
                <a:gd name="connsiteX2" fmla="*/ 1467549 w 1761066"/>
                <a:gd name="connsiteY2" fmla="*/ 0 h 1761066"/>
                <a:gd name="connsiteX3" fmla="*/ 1761066 w 1761066"/>
                <a:gd name="connsiteY3" fmla="*/ 293517 h 1761066"/>
                <a:gd name="connsiteX4" fmla="*/ 1761066 w 1761066"/>
                <a:gd name="connsiteY4" fmla="*/ 1467549 h 1761066"/>
                <a:gd name="connsiteX5" fmla="*/ 1467549 w 1761066"/>
                <a:gd name="connsiteY5" fmla="*/ 1761066 h 1761066"/>
                <a:gd name="connsiteX6" fmla="*/ 293517 w 1761066"/>
                <a:gd name="connsiteY6" fmla="*/ 1761066 h 1761066"/>
                <a:gd name="connsiteX7" fmla="*/ 0 w 1761066"/>
                <a:gd name="connsiteY7" fmla="*/ 1467549 h 1761066"/>
                <a:gd name="connsiteX8" fmla="*/ 0 w 1761066"/>
                <a:gd name="connsiteY8" fmla="*/ 293517 h 176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1066" h="1761066">
                  <a:moveTo>
                    <a:pt x="0" y="293517"/>
                  </a:moveTo>
                  <a:cubicBezTo>
                    <a:pt x="0" y="131412"/>
                    <a:pt x="131412" y="0"/>
                    <a:pt x="293517" y="0"/>
                  </a:cubicBezTo>
                  <a:lnTo>
                    <a:pt x="1467549" y="0"/>
                  </a:lnTo>
                  <a:cubicBezTo>
                    <a:pt x="1629654" y="0"/>
                    <a:pt x="1761066" y="131412"/>
                    <a:pt x="1761066" y="293517"/>
                  </a:cubicBezTo>
                  <a:lnTo>
                    <a:pt x="1761066" y="1467549"/>
                  </a:lnTo>
                  <a:cubicBezTo>
                    <a:pt x="1761066" y="1629654"/>
                    <a:pt x="1629654" y="1761066"/>
                    <a:pt x="1467549" y="1761066"/>
                  </a:cubicBezTo>
                  <a:lnTo>
                    <a:pt x="293517" y="1761066"/>
                  </a:lnTo>
                  <a:cubicBezTo>
                    <a:pt x="131412" y="1761066"/>
                    <a:pt x="0" y="1629654"/>
                    <a:pt x="0" y="1467549"/>
                  </a:cubicBezTo>
                  <a:lnTo>
                    <a:pt x="0" y="293517"/>
                  </a:lnTo>
                  <a:close/>
                </a:path>
              </a:pathLst>
            </a:custGeom>
            <a:solidFill>
              <a:srgbClr val="B4A697">
                <a:alpha val="34000"/>
              </a:srgbClr>
            </a:solidFill>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249798" tIns="249798" rIns="249798" bIns="249798" numCol="1" spcCol="1270" anchor="ctr" anchorCtr="0">
              <a:noAutofit/>
            </a:bodyPr>
            <a:lstStyle/>
            <a:p>
              <a:pPr marL="0" lvl="0" indent="0" algn="ctr" defTabSz="1911350">
                <a:lnSpc>
                  <a:spcPct val="90000"/>
                </a:lnSpc>
                <a:spcBef>
                  <a:spcPct val="0"/>
                </a:spcBef>
                <a:spcAft>
                  <a:spcPct val="35000"/>
                </a:spcAft>
                <a:buNone/>
              </a:pPr>
              <a:endParaRPr lang="zh-CN" altLang="en-US" sz="4300" kern="1200">
                <a:cs typeface="+mn-ea"/>
                <a:sym typeface="+mn-lt"/>
              </a:endParaRPr>
            </a:p>
          </p:txBody>
        </p:sp>
        <p:sp>
          <p:nvSpPr>
            <p:cNvPr id="36" name="任意形状 10"/>
            <p:cNvSpPr/>
            <p:nvPr/>
          </p:nvSpPr>
          <p:spPr>
            <a:xfrm>
              <a:off x="3037839" y="3583092"/>
              <a:ext cx="1761066" cy="1761066"/>
            </a:xfrm>
            <a:custGeom>
              <a:avLst/>
              <a:gdLst>
                <a:gd name="connsiteX0" fmla="*/ 0 w 1761066"/>
                <a:gd name="connsiteY0" fmla="*/ 293517 h 1761066"/>
                <a:gd name="connsiteX1" fmla="*/ 293517 w 1761066"/>
                <a:gd name="connsiteY1" fmla="*/ 0 h 1761066"/>
                <a:gd name="connsiteX2" fmla="*/ 1467549 w 1761066"/>
                <a:gd name="connsiteY2" fmla="*/ 0 h 1761066"/>
                <a:gd name="connsiteX3" fmla="*/ 1761066 w 1761066"/>
                <a:gd name="connsiteY3" fmla="*/ 293517 h 1761066"/>
                <a:gd name="connsiteX4" fmla="*/ 1761066 w 1761066"/>
                <a:gd name="connsiteY4" fmla="*/ 1467549 h 1761066"/>
                <a:gd name="connsiteX5" fmla="*/ 1467549 w 1761066"/>
                <a:gd name="connsiteY5" fmla="*/ 1761066 h 1761066"/>
                <a:gd name="connsiteX6" fmla="*/ 293517 w 1761066"/>
                <a:gd name="connsiteY6" fmla="*/ 1761066 h 1761066"/>
                <a:gd name="connsiteX7" fmla="*/ 0 w 1761066"/>
                <a:gd name="connsiteY7" fmla="*/ 1467549 h 1761066"/>
                <a:gd name="connsiteX8" fmla="*/ 0 w 1761066"/>
                <a:gd name="connsiteY8" fmla="*/ 293517 h 176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1066" h="1761066">
                  <a:moveTo>
                    <a:pt x="0" y="293517"/>
                  </a:moveTo>
                  <a:cubicBezTo>
                    <a:pt x="0" y="131412"/>
                    <a:pt x="131412" y="0"/>
                    <a:pt x="293517" y="0"/>
                  </a:cubicBezTo>
                  <a:lnTo>
                    <a:pt x="1467549" y="0"/>
                  </a:lnTo>
                  <a:cubicBezTo>
                    <a:pt x="1629654" y="0"/>
                    <a:pt x="1761066" y="131412"/>
                    <a:pt x="1761066" y="293517"/>
                  </a:cubicBezTo>
                  <a:lnTo>
                    <a:pt x="1761066" y="1467549"/>
                  </a:lnTo>
                  <a:cubicBezTo>
                    <a:pt x="1761066" y="1629654"/>
                    <a:pt x="1629654" y="1761066"/>
                    <a:pt x="1467549" y="1761066"/>
                  </a:cubicBezTo>
                  <a:lnTo>
                    <a:pt x="293517" y="1761066"/>
                  </a:lnTo>
                  <a:cubicBezTo>
                    <a:pt x="131412" y="1761066"/>
                    <a:pt x="0" y="1629654"/>
                    <a:pt x="0" y="1467549"/>
                  </a:cubicBezTo>
                  <a:lnTo>
                    <a:pt x="0" y="293517"/>
                  </a:lnTo>
                  <a:close/>
                </a:path>
              </a:pathLst>
            </a:custGeom>
            <a:solidFill>
              <a:srgbClr val="B4A697">
                <a:alpha val="34000"/>
              </a:srgbClr>
            </a:solidFill>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249798" tIns="249798" rIns="249798" bIns="249798" numCol="1" spcCol="1270" anchor="ctr" anchorCtr="0">
              <a:noAutofit/>
            </a:bodyPr>
            <a:lstStyle/>
            <a:p>
              <a:pPr algn="ctr" defTabSz="1911350">
                <a:lnSpc>
                  <a:spcPct val="90000"/>
                </a:lnSpc>
                <a:spcAft>
                  <a:spcPct val="35000"/>
                </a:spcAft>
              </a:pPr>
              <a:endParaRPr lang="zh-CN" altLang="en-US" sz="4300">
                <a:cs typeface="+mn-ea"/>
                <a:sym typeface="+mn-lt"/>
              </a:endParaRPr>
            </a:p>
          </p:txBody>
        </p:sp>
        <p:sp>
          <p:nvSpPr>
            <p:cNvPr id="37" name="任意形状 11"/>
            <p:cNvSpPr/>
            <p:nvPr/>
          </p:nvSpPr>
          <p:spPr>
            <a:xfrm>
              <a:off x="5107093" y="3583092"/>
              <a:ext cx="1761066" cy="1761066"/>
            </a:xfrm>
            <a:custGeom>
              <a:avLst/>
              <a:gdLst>
                <a:gd name="connsiteX0" fmla="*/ 0 w 1761066"/>
                <a:gd name="connsiteY0" fmla="*/ 293517 h 1761066"/>
                <a:gd name="connsiteX1" fmla="*/ 293517 w 1761066"/>
                <a:gd name="connsiteY1" fmla="*/ 0 h 1761066"/>
                <a:gd name="connsiteX2" fmla="*/ 1467549 w 1761066"/>
                <a:gd name="connsiteY2" fmla="*/ 0 h 1761066"/>
                <a:gd name="connsiteX3" fmla="*/ 1761066 w 1761066"/>
                <a:gd name="connsiteY3" fmla="*/ 293517 h 1761066"/>
                <a:gd name="connsiteX4" fmla="*/ 1761066 w 1761066"/>
                <a:gd name="connsiteY4" fmla="*/ 1467549 h 1761066"/>
                <a:gd name="connsiteX5" fmla="*/ 1467549 w 1761066"/>
                <a:gd name="connsiteY5" fmla="*/ 1761066 h 1761066"/>
                <a:gd name="connsiteX6" fmla="*/ 293517 w 1761066"/>
                <a:gd name="connsiteY6" fmla="*/ 1761066 h 1761066"/>
                <a:gd name="connsiteX7" fmla="*/ 0 w 1761066"/>
                <a:gd name="connsiteY7" fmla="*/ 1467549 h 1761066"/>
                <a:gd name="connsiteX8" fmla="*/ 0 w 1761066"/>
                <a:gd name="connsiteY8" fmla="*/ 293517 h 176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1066" h="1761066">
                  <a:moveTo>
                    <a:pt x="0" y="293517"/>
                  </a:moveTo>
                  <a:cubicBezTo>
                    <a:pt x="0" y="131412"/>
                    <a:pt x="131412" y="0"/>
                    <a:pt x="293517" y="0"/>
                  </a:cubicBezTo>
                  <a:lnTo>
                    <a:pt x="1467549" y="0"/>
                  </a:lnTo>
                  <a:cubicBezTo>
                    <a:pt x="1629654" y="0"/>
                    <a:pt x="1761066" y="131412"/>
                    <a:pt x="1761066" y="293517"/>
                  </a:cubicBezTo>
                  <a:lnTo>
                    <a:pt x="1761066" y="1467549"/>
                  </a:lnTo>
                  <a:cubicBezTo>
                    <a:pt x="1761066" y="1629654"/>
                    <a:pt x="1629654" y="1761066"/>
                    <a:pt x="1467549" y="1761066"/>
                  </a:cubicBezTo>
                  <a:lnTo>
                    <a:pt x="293517" y="1761066"/>
                  </a:lnTo>
                  <a:cubicBezTo>
                    <a:pt x="131412" y="1761066"/>
                    <a:pt x="0" y="1629654"/>
                    <a:pt x="0" y="1467549"/>
                  </a:cubicBezTo>
                  <a:lnTo>
                    <a:pt x="0" y="293517"/>
                  </a:lnTo>
                  <a:close/>
                </a:path>
              </a:pathLst>
            </a:custGeom>
            <a:solidFill>
              <a:srgbClr val="B4A697">
                <a:alpha val="34000"/>
              </a:srgbClr>
            </a:solidFill>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249798" tIns="249798" rIns="249798" bIns="249798" numCol="1" spcCol="1270" anchor="ctr" anchorCtr="0">
              <a:noAutofit/>
            </a:bodyPr>
            <a:lstStyle/>
            <a:p>
              <a:pPr algn="ctr" defTabSz="1911350">
                <a:lnSpc>
                  <a:spcPct val="90000"/>
                </a:lnSpc>
                <a:spcAft>
                  <a:spcPct val="35000"/>
                </a:spcAft>
              </a:pPr>
              <a:endParaRPr lang="zh-CN" altLang="en-US" sz="4300">
                <a:cs typeface="+mn-ea"/>
                <a:sym typeface="+mn-lt"/>
              </a:endParaRPr>
            </a:p>
          </p:txBody>
        </p:sp>
      </p:grpSp>
      <p:sp>
        <p:nvSpPr>
          <p:cNvPr id="38" name="文本框 37"/>
          <p:cNvSpPr txBox="1"/>
          <p:nvPr/>
        </p:nvSpPr>
        <p:spPr>
          <a:xfrm>
            <a:off x="1386176" y="2785175"/>
            <a:ext cx="1141659" cy="584775"/>
          </a:xfrm>
          <a:prstGeom prst="rect">
            <a:avLst/>
          </a:prstGeom>
          <a:noFill/>
        </p:spPr>
        <p:txBody>
          <a:bodyPr wrap="none" rtlCol="0">
            <a:spAutoFit/>
          </a:bodyPr>
          <a:lstStyle/>
          <a:p>
            <a:r>
              <a:rPr kumimoji="1" lang="en-US" altLang="zh-CN" sz="1600" dirty="0">
                <a:solidFill>
                  <a:schemeClr val="tx1"/>
                </a:solidFill>
                <a:latin typeface="+mn-lt"/>
                <a:ea typeface="+mn-ea"/>
                <a:cs typeface="+mn-ea"/>
                <a:sym typeface="+mn-lt"/>
              </a:rPr>
              <a:t>Strengths</a:t>
            </a:r>
            <a:endParaRPr kumimoji="1" lang="en-US" altLang="zh-CN" sz="1600" dirty="0">
              <a:solidFill>
                <a:schemeClr val="tx1"/>
              </a:solidFill>
              <a:latin typeface="+mn-lt"/>
              <a:ea typeface="+mn-ea"/>
              <a:cs typeface="+mn-ea"/>
              <a:sym typeface="+mn-lt"/>
            </a:endParaRPr>
          </a:p>
          <a:p>
            <a:pPr algn="ctr"/>
            <a:r>
              <a:rPr kumimoji="1" lang="zh-CN" altLang="en-US" sz="1600" dirty="0">
                <a:solidFill>
                  <a:schemeClr val="tx1"/>
                </a:solidFill>
                <a:latin typeface="+mn-lt"/>
                <a:ea typeface="+mn-ea"/>
                <a:cs typeface="+mn-ea"/>
                <a:sym typeface="+mn-lt"/>
              </a:rPr>
              <a:t>优势</a:t>
            </a:r>
            <a:endParaRPr kumimoji="1" lang="zh-CN" altLang="en-US" sz="1600" dirty="0">
              <a:solidFill>
                <a:schemeClr val="tx1"/>
              </a:solidFill>
              <a:latin typeface="+mn-lt"/>
              <a:ea typeface="+mn-ea"/>
              <a:cs typeface="+mn-ea"/>
              <a:sym typeface="+mn-lt"/>
            </a:endParaRPr>
          </a:p>
        </p:txBody>
      </p:sp>
      <p:sp>
        <p:nvSpPr>
          <p:cNvPr id="39" name="文本框 38"/>
          <p:cNvSpPr txBox="1"/>
          <p:nvPr/>
        </p:nvSpPr>
        <p:spPr>
          <a:xfrm>
            <a:off x="3299062" y="2785175"/>
            <a:ext cx="1410451" cy="584775"/>
          </a:xfrm>
          <a:prstGeom prst="rect">
            <a:avLst/>
          </a:prstGeom>
          <a:noFill/>
        </p:spPr>
        <p:txBody>
          <a:bodyPr wrap="none" rtlCol="0">
            <a:spAutoFit/>
          </a:bodyPr>
          <a:lstStyle/>
          <a:p>
            <a:r>
              <a:rPr kumimoji="1" lang="en-US" altLang="zh-CN" sz="1600" dirty="0">
                <a:solidFill>
                  <a:schemeClr val="tx1"/>
                </a:solidFill>
                <a:latin typeface="+mn-lt"/>
                <a:ea typeface="+mn-ea"/>
                <a:cs typeface="+mn-ea"/>
                <a:sym typeface="+mn-lt"/>
              </a:rPr>
              <a:t>Weaknesses</a:t>
            </a:r>
            <a:endParaRPr kumimoji="1" lang="en-US" altLang="zh-CN" sz="1600" dirty="0">
              <a:solidFill>
                <a:schemeClr val="tx1"/>
              </a:solidFill>
              <a:latin typeface="+mn-lt"/>
              <a:ea typeface="+mn-ea"/>
              <a:cs typeface="+mn-ea"/>
              <a:sym typeface="+mn-lt"/>
            </a:endParaRPr>
          </a:p>
          <a:p>
            <a:pPr algn="ctr"/>
            <a:r>
              <a:rPr kumimoji="1" lang="zh-CN" altLang="en-US" sz="1600" dirty="0">
                <a:solidFill>
                  <a:schemeClr val="tx1"/>
                </a:solidFill>
                <a:latin typeface="+mn-lt"/>
                <a:ea typeface="+mn-ea"/>
                <a:cs typeface="+mn-ea"/>
                <a:sym typeface="+mn-lt"/>
              </a:rPr>
              <a:t>劣势</a:t>
            </a:r>
            <a:endParaRPr kumimoji="1" lang="zh-CN" altLang="en-US" sz="1600" dirty="0">
              <a:solidFill>
                <a:schemeClr val="tx1"/>
              </a:solidFill>
              <a:latin typeface="+mn-lt"/>
              <a:ea typeface="+mn-ea"/>
              <a:cs typeface="+mn-ea"/>
              <a:sym typeface="+mn-lt"/>
            </a:endParaRPr>
          </a:p>
        </p:txBody>
      </p:sp>
      <p:sp>
        <p:nvSpPr>
          <p:cNvPr id="40" name="文本框 39"/>
          <p:cNvSpPr txBox="1"/>
          <p:nvPr/>
        </p:nvSpPr>
        <p:spPr>
          <a:xfrm>
            <a:off x="1127722" y="4880675"/>
            <a:ext cx="1580882" cy="584775"/>
          </a:xfrm>
          <a:prstGeom prst="rect">
            <a:avLst/>
          </a:prstGeom>
          <a:noFill/>
        </p:spPr>
        <p:txBody>
          <a:bodyPr wrap="none" rtlCol="0">
            <a:spAutoFit/>
          </a:bodyPr>
          <a:lstStyle/>
          <a:p>
            <a:r>
              <a:rPr kumimoji="1" lang="en-US" altLang="zh-CN" sz="1600" dirty="0">
                <a:solidFill>
                  <a:schemeClr val="tx1"/>
                </a:solidFill>
                <a:latin typeface="+mn-lt"/>
                <a:ea typeface="+mn-ea"/>
                <a:cs typeface="+mn-ea"/>
                <a:sym typeface="+mn-lt"/>
              </a:rPr>
              <a:t>Opportunities</a:t>
            </a:r>
            <a:endParaRPr kumimoji="1" lang="en-US" altLang="zh-CN" sz="1600" dirty="0">
              <a:solidFill>
                <a:schemeClr val="tx1"/>
              </a:solidFill>
              <a:latin typeface="+mn-lt"/>
              <a:ea typeface="+mn-ea"/>
              <a:cs typeface="+mn-ea"/>
              <a:sym typeface="+mn-lt"/>
            </a:endParaRPr>
          </a:p>
          <a:p>
            <a:pPr algn="ctr"/>
            <a:r>
              <a:rPr kumimoji="1" lang="zh-CN" altLang="en-US" sz="1600" dirty="0">
                <a:solidFill>
                  <a:schemeClr val="tx1"/>
                </a:solidFill>
                <a:latin typeface="+mn-lt"/>
                <a:ea typeface="+mn-ea"/>
                <a:cs typeface="+mn-ea"/>
                <a:sym typeface="+mn-lt"/>
              </a:rPr>
              <a:t>机会</a:t>
            </a:r>
            <a:endParaRPr kumimoji="1" lang="zh-CN" altLang="en-US" sz="1600" dirty="0">
              <a:solidFill>
                <a:schemeClr val="tx1"/>
              </a:solidFill>
              <a:latin typeface="+mn-lt"/>
              <a:ea typeface="+mn-ea"/>
              <a:cs typeface="+mn-ea"/>
              <a:sym typeface="+mn-lt"/>
            </a:endParaRPr>
          </a:p>
        </p:txBody>
      </p:sp>
      <p:sp>
        <p:nvSpPr>
          <p:cNvPr id="41" name="文本框 40"/>
          <p:cNvSpPr txBox="1"/>
          <p:nvPr/>
        </p:nvSpPr>
        <p:spPr>
          <a:xfrm>
            <a:off x="3529296" y="4880675"/>
            <a:ext cx="949299" cy="584775"/>
          </a:xfrm>
          <a:prstGeom prst="rect">
            <a:avLst/>
          </a:prstGeom>
          <a:noFill/>
        </p:spPr>
        <p:txBody>
          <a:bodyPr wrap="none" rtlCol="0">
            <a:spAutoFit/>
          </a:bodyPr>
          <a:lstStyle/>
          <a:p>
            <a:r>
              <a:rPr kumimoji="1" lang="en-US" altLang="zh-CN" sz="1600" dirty="0">
                <a:solidFill>
                  <a:schemeClr val="tx1"/>
                </a:solidFill>
                <a:latin typeface="+mn-lt"/>
                <a:ea typeface="+mn-ea"/>
                <a:cs typeface="+mn-ea"/>
                <a:sym typeface="+mn-lt"/>
              </a:rPr>
              <a:t>Threats</a:t>
            </a:r>
            <a:endParaRPr kumimoji="1" lang="en-US" altLang="zh-CN" sz="1600" dirty="0">
              <a:solidFill>
                <a:schemeClr val="tx1"/>
              </a:solidFill>
              <a:latin typeface="+mn-lt"/>
              <a:ea typeface="+mn-ea"/>
              <a:cs typeface="+mn-ea"/>
              <a:sym typeface="+mn-lt"/>
            </a:endParaRPr>
          </a:p>
          <a:p>
            <a:pPr algn="ctr"/>
            <a:r>
              <a:rPr kumimoji="1" lang="zh-CN" altLang="en-US" sz="1600" dirty="0">
                <a:solidFill>
                  <a:schemeClr val="tx1"/>
                </a:solidFill>
                <a:latin typeface="+mn-lt"/>
                <a:ea typeface="+mn-ea"/>
                <a:cs typeface="+mn-ea"/>
                <a:sym typeface="+mn-lt"/>
              </a:rPr>
              <a:t>挑战</a:t>
            </a:r>
            <a:endParaRPr kumimoji="1" lang="zh-CN" altLang="en-US" sz="1600" dirty="0">
              <a:solidFill>
                <a:schemeClr val="tx1"/>
              </a:solidFill>
              <a:latin typeface="+mn-lt"/>
              <a:ea typeface="+mn-ea"/>
              <a:cs typeface="+mn-ea"/>
              <a:sym typeface="+mn-lt"/>
            </a:endParaRPr>
          </a:p>
        </p:txBody>
      </p:sp>
      <p:grpSp>
        <p:nvGrpSpPr>
          <p:cNvPr id="6" name="组合 5"/>
          <p:cNvGrpSpPr/>
          <p:nvPr/>
        </p:nvGrpSpPr>
        <p:grpSpPr>
          <a:xfrm>
            <a:off x="5347435" y="1943672"/>
            <a:ext cx="6099636" cy="4253379"/>
            <a:chOff x="5593541" y="2086923"/>
            <a:chExt cx="4322119" cy="4063528"/>
          </a:xfrm>
        </p:grpSpPr>
        <p:cxnSp>
          <p:nvCxnSpPr>
            <p:cNvPr id="42" name="直线箭头连接符 19"/>
            <p:cNvCxnSpPr/>
            <p:nvPr/>
          </p:nvCxnSpPr>
          <p:spPr bwMode="auto">
            <a:xfrm>
              <a:off x="5653762" y="2443074"/>
              <a:ext cx="4186237" cy="0"/>
            </a:xfrm>
            <a:prstGeom prst="straightConnector1">
              <a:avLst/>
            </a:prstGeom>
            <a:solidFill>
              <a:schemeClr val="bg1"/>
            </a:solidFill>
            <a:ln w="28575" cap="flat" cmpd="sng" algn="ctr">
              <a:solidFill>
                <a:srgbClr val="C00000"/>
              </a:solidFill>
              <a:prstDash val="solid"/>
              <a:round/>
              <a:headEnd type="none" w="med" len="med"/>
              <a:tailEnd type="none" w="med" len="med"/>
            </a:ln>
          </p:spPr>
        </p:cxnSp>
        <p:sp>
          <p:nvSpPr>
            <p:cNvPr id="43" name="文本框 42"/>
            <p:cNvSpPr txBox="1"/>
            <p:nvPr/>
          </p:nvSpPr>
          <p:spPr>
            <a:xfrm>
              <a:off x="5599363" y="2086923"/>
              <a:ext cx="1155403" cy="294039"/>
            </a:xfrm>
            <a:prstGeom prst="rect">
              <a:avLst/>
            </a:prstGeom>
            <a:noFill/>
          </p:spPr>
          <p:txBody>
            <a:bodyPr wrap="none" rtlCol="0">
              <a:spAutoFit/>
            </a:bodyPr>
            <a:lstStyle/>
            <a:p>
              <a:r>
                <a:rPr kumimoji="1" lang="zh-CN" altLang="en-US" sz="1400" dirty="0">
                  <a:latin typeface="+mn-lt"/>
                  <a:ea typeface="+mn-ea"/>
                  <a:cs typeface="+mn-ea"/>
                  <a:sym typeface="+mn-lt"/>
                </a:rPr>
                <a:t>什么是</a:t>
              </a:r>
              <a:r>
                <a:rPr kumimoji="1" lang="en-US" altLang="zh-CN" sz="1400" dirty="0">
                  <a:latin typeface="+mn-lt"/>
                  <a:ea typeface="+mn-ea"/>
                  <a:cs typeface="+mn-ea"/>
                  <a:sym typeface="+mn-lt"/>
                </a:rPr>
                <a:t>SWOT</a:t>
              </a:r>
              <a:r>
                <a:rPr kumimoji="1" lang="zh-CN" altLang="en-US" sz="1400" dirty="0">
                  <a:latin typeface="+mn-lt"/>
                  <a:ea typeface="+mn-ea"/>
                  <a:cs typeface="+mn-ea"/>
                  <a:sym typeface="+mn-lt"/>
                </a:rPr>
                <a:t>分析</a:t>
              </a:r>
              <a:endParaRPr kumimoji="1" lang="zh-CN" altLang="en-US" sz="1400" dirty="0">
                <a:latin typeface="+mn-lt"/>
                <a:ea typeface="+mn-ea"/>
                <a:cs typeface="+mn-ea"/>
                <a:sym typeface="+mn-lt"/>
              </a:endParaRPr>
            </a:p>
          </p:txBody>
        </p:sp>
        <p:sp>
          <p:nvSpPr>
            <p:cNvPr id="44" name="文本框 43"/>
            <p:cNvSpPr txBox="1"/>
            <p:nvPr/>
          </p:nvSpPr>
          <p:spPr>
            <a:xfrm>
              <a:off x="5593542" y="2514762"/>
              <a:ext cx="4322118" cy="911521"/>
            </a:xfrm>
            <a:prstGeom prst="rect">
              <a:avLst/>
            </a:prstGeom>
            <a:noFill/>
          </p:spPr>
          <p:txBody>
            <a:bodyPr wrap="square" rtlCol="0">
              <a:spAutoFit/>
            </a:bodyPr>
            <a:lstStyle/>
            <a:p>
              <a:r>
                <a:rPr lang="zh-CN" altLang="en-US" sz="1400" b="0" dirty="0">
                  <a:latin typeface="+mn-lt"/>
                  <a:ea typeface="+mn-ea"/>
                  <a:cs typeface="+mn-ea"/>
                  <a:sym typeface="+mn-lt"/>
                </a:rPr>
                <a:t>基于内外部环境下的态势分析，与研究对象密切相关的各种主要内部优势、劣势和外部的机会和威胁等，通过调查列举出来，并依照矩阵形式排列，然后用系统分析的思想，把各种因素相互匹配起来加以分析，从中得出一系列相应的结论。</a:t>
              </a:r>
              <a:endParaRPr kumimoji="1" lang="zh-CN" altLang="en-US" sz="1400" dirty="0">
                <a:latin typeface="+mn-lt"/>
                <a:ea typeface="+mn-ea"/>
                <a:cs typeface="+mn-ea"/>
                <a:sym typeface="+mn-lt"/>
              </a:endParaRPr>
            </a:p>
          </p:txBody>
        </p:sp>
        <p:cxnSp>
          <p:nvCxnSpPr>
            <p:cNvPr id="45" name="直线箭头连接符 24"/>
            <p:cNvCxnSpPr/>
            <p:nvPr/>
          </p:nvCxnSpPr>
          <p:spPr bwMode="auto">
            <a:xfrm>
              <a:off x="5647940" y="3883252"/>
              <a:ext cx="4186237" cy="0"/>
            </a:xfrm>
            <a:prstGeom prst="straightConnector1">
              <a:avLst/>
            </a:prstGeom>
            <a:solidFill>
              <a:schemeClr val="bg1"/>
            </a:solidFill>
            <a:ln w="28575" cap="flat" cmpd="sng" algn="ctr">
              <a:solidFill>
                <a:srgbClr val="C00000"/>
              </a:solidFill>
              <a:prstDash val="solid"/>
              <a:round/>
              <a:headEnd type="none" w="med" len="med"/>
              <a:tailEnd type="none" w="med" len="med"/>
            </a:ln>
          </p:spPr>
        </p:cxnSp>
        <p:sp>
          <p:nvSpPr>
            <p:cNvPr id="46" name="文本框 45"/>
            <p:cNvSpPr txBox="1"/>
            <p:nvPr/>
          </p:nvSpPr>
          <p:spPr>
            <a:xfrm>
              <a:off x="5593541" y="3527101"/>
              <a:ext cx="1664271" cy="294039"/>
            </a:xfrm>
            <a:prstGeom prst="rect">
              <a:avLst/>
            </a:prstGeom>
            <a:noFill/>
          </p:spPr>
          <p:txBody>
            <a:bodyPr wrap="none" rtlCol="0">
              <a:spAutoFit/>
            </a:bodyPr>
            <a:lstStyle/>
            <a:p>
              <a:r>
                <a:rPr kumimoji="1" lang="zh-CN" altLang="en-US" sz="1400" dirty="0">
                  <a:latin typeface="+mn-lt"/>
                  <a:ea typeface="+mn-ea"/>
                  <a:cs typeface="+mn-ea"/>
                  <a:sym typeface="+mn-lt"/>
                </a:rPr>
                <a:t>采用</a:t>
              </a:r>
              <a:r>
                <a:rPr kumimoji="1" lang="en-US" altLang="zh-CN" sz="1400" dirty="0">
                  <a:latin typeface="+mn-lt"/>
                  <a:ea typeface="+mn-ea"/>
                  <a:cs typeface="+mn-ea"/>
                  <a:sym typeface="+mn-lt"/>
                </a:rPr>
                <a:t>SWOT</a:t>
              </a:r>
              <a:r>
                <a:rPr kumimoji="1" lang="zh-CN" altLang="en-US" sz="1400" dirty="0">
                  <a:latin typeface="+mn-lt"/>
                  <a:ea typeface="+mn-ea"/>
                  <a:cs typeface="+mn-ea"/>
                  <a:sym typeface="+mn-lt"/>
                </a:rPr>
                <a:t>分析工具的好处</a:t>
              </a:r>
              <a:endParaRPr kumimoji="1" lang="zh-CN" altLang="en-US" sz="1400" dirty="0">
                <a:latin typeface="+mn-lt"/>
                <a:ea typeface="+mn-ea"/>
                <a:cs typeface="+mn-ea"/>
                <a:sym typeface="+mn-lt"/>
              </a:endParaRPr>
            </a:p>
          </p:txBody>
        </p:sp>
        <p:sp>
          <p:nvSpPr>
            <p:cNvPr id="47" name="文本框 46"/>
            <p:cNvSpPr txBox="1"/>
            <p:nvPr/>
          </p:nvSpPr>
          <p:spPr>
            <a:xfrm>
              <a:off x="5615662" y="4075591"/>
              <a:ext cx="4224337" cy="499866"/>
            </a:xfrm>
            <a:prstGeom prst="rect">
              <a:avLst/>
            </a:prstGeom>
            <a:noFill/>
          </p:spPr>
          <p:txBody>
            <a:bodyPr wrap="square" rtlCol="0">
              <a:spAutoFit/>
            </a:bodyPr>
            <a:lstStyle/>
            <a:p>
              <a:r>
                <a:rPr lang="zh-CN" altLang="en-US" sz="1400" b="0" dirty="0">
                  <a:latin typeface="+mn-lt"/>
                  <a:ea typeface="+mn-ea"/>
                  <a:cs typeface="+mn-ea"/>
                  <a:sym typeface="+mn-lt"/>
                </a:rPr>
                <a:t>这种方法，可以对研究对象所处的情景进行全面、系统、准确的研究，从而根据研究结果制定相应的发展战略、计划以及对策等</a:t>
              </a:r>
              <a:endParaRPr kumimoji="1" lang="zh-CN" altLang="en-US" sz="1400" dirty="0">
                <a:latin typeface="+mn-lt"/>
                <a:ea typeface="+mn-ea"/>
                <a:cs typeface="+mn-ea"/>
                <a:sym typeface="+mn-lt"/>
              </a:endParaRPr>
            </a:p>
          </p:txBody>
        </p:sp>
        <p:cxnSp>
          <p:nvCxnSpPr>
            <p:cNvPr id="48" name="直线箭头连接符 27"/>
            <p:cNvCxnSpPr/>
            <p:nvPr/>
          </p:nvCxnSpPr>
          <p:spPr bwMode="auto">
            <a:xfrm>
              <a:off x="5647940" y="5087872"/>
              <a:ext cx="4186237" cy="0"/>
            </a:xfrm>
            <a:prstGeom prst="straightConnector1">
              <a:avLst/>
            </a:prstGeom>
            <a:solidFill>
              <a:schemeClr val="bg1"/>
            </a:solidFill>
            <a:ln w="28575" cap="flat" cmpd="sng" algn="ctr">
              <a:solidFill>
                <a:srgbClr val="C00000"/>
              </a:solidFill>
              <a:prstDash val="solid"/>
              <a:round/>
              <a:headEnd type="none" w="med" len="med"/>
              <a:tailEnd type="none" w="med" len="med"/>
            </a:ln>
          </p:spPr>
        </p:cxnSp>
        <p:sp>
          <p:nvSpPr>
            <p:cNvPr id="49" name="文本框 48"/>
            <p:cNvSpPr txBox="1"/>
            <p:nvPr/>
          </p:nvSpPr>
          <p:spPr>
            <a:xfrm>
              <a:off x="5593541" y="4731721"/>
              <a:ext cx="3056842" cy="294039"/>
            </a:xfrm>
            <a:prstGeom prst="rect">
              <a:avLst/>
            </a:prstGeom>
            <a:noFill/>
          </p:spPr>
          <p:txBody>
            <a:bodyPr wrap="none" rtlCol="0">
              <a:spAutoFit/>
            </a:bodyPr>
            <a:lstStyle/>
            <a:p>
              <a:r>
                <a:rPr kumimoji="1" lang="zh-CN" altLang="en-US" sz="1400" dirty="0">
                  <a:latin typeface="+mn-lt"/>
                  <a:ea typeface="+mn-ea"/>
                  <a:cs typeface="+mn-ea"/>
                  <a:sym typeface="+mn-lt"/>
                </a:rPr>
                <a:t>中银教育培训“十四五”规划采用</a:t>
              </a:r>
              <a:r>
                <a:rPr kumimoji="1" lang="en-US" altLang="zh-CN" sz="1400" dirty="0">
                  <a:latin typeface="+mn-lt"/>
                  <a:ea typeface="+mn-ea"/>
                  <a:cs typeface="+mn-ea"/>
                  <a:sym typeface="+mn-lt"/>
                </a:rPr>
                <a:t>SWOT</a:t>
              </a:r>
              <a:r>
                <a:rPr kumimoji="1" lang="zh-CN" altLang="en-US" sz="1400" dirty="0">
                  <a:latin typeface="+mn-lt"/>
                  <a:ea typeface="+mn-ea"/>
                  <a:cs typeface="+mn-ea"/>
                  <a:sym typeface="+mn-lt"/>
                </a:rPr>
                <a:t>工具的说明</a:t>
              </a:r>
              <a:endParaRPr kumimoji="1" lang="zh-CN" altLang="en-US" sz="1400" dirty="0">
                <a:latin typeface="+mn-lt"/>
                <a:ea typeface="+mn-ea"/>
                <a:cs typeface="+mn-ea"/>
                <a:sym typeface="+mn-lt"/>
              </a:endParaRPr>
            </a:p>
          </p:txBody>
        </p:sp>
        <p:sp>
          <p:nvSpPr>
            <p:cNvPr id="50" name="文本框 49"/>
            <p:cNvSpPr txBox="1"/>
            <p:nvPr/>
          </p:nvSpPr>
          <p:spPr>
            <a:xfrm>
              <a:off x="5593541" y="5238931"/>
              <a:ext cx="4224337" cy="911520"/>
            </a:xfrm>
            <a:prstGeom prst="rect">
              <a:avLst/>
            </a:prstGeom>
            <a:noFill/>
          </p:spPr>
          <p:txBody>
            <a:bodyPr wrap="square" rtlCol="0">
              <a:spAutoFit/>
            </a:bodyPr>
            <a:lstStyle/>
            <a:p>
              <a:r>
                <a:rPr lang="zh-CN" altLang="en-US" sz="1400" b="0" dirty="0">
                  <a:solidFill>
                    <a:schemeClr val="tx1"/>
                  </a:solidFill>
                  <a:latin typeface="+mn-lt"/>
                  <a:ea typeface="+mn-ea"/>
                  <a:cs typeface="+mn-ea"/>
                  <a:sym typeface="+mn-lt"/>
                </a:rPr>
                <a:t>外部机会挑战主要基于行业发展环境、公司战略、学习技术演进、标杆企业培训实践等分析推导得出；</a:t>
              </a:r>
              <a:endParaRPr lang="en-US" altLang="zh-CN" sz="1400" b="0" dirty="0">
                <a:solidFill>
                  <a:schemeClr val="tx1"/>
                </a:solidFill>
                <a:latin typeface="+mn-lt"/>
                <a:ea typeface="+mn-ea"/>
                <a:cs typeface="+mn-ea"/>
                <a:sym typeface="+mn-lt"/>
              </a:endParaRPr>
            </a:p>
            <a:p>
              <a:r>
                <a:rPr lang="zh-CN" altLang="en-US" sz="1400" b="0" dirty="0">
                  <a:solidFill>
                    <a:schemeClr val="tx1"/>
                  </a:solidFill>
                  <a:latin typeface="+mn-lt"/>
                  <a:ea typeface="+mn-ea"/>
                  <a:cs typeface="+mn-ea"/>
                  <a:sym typeface="+mn-lt"/>
                </a:rPr>
                <a:t>内部优势劣势主要通过对业务部门、培训机构的深度结构化访谈分析得出。</a:t>
              </a:r>
              <a:endParaRPr lang="en-US" altLang="zh-CN" sz="1400" b="0" dirty="0">
                <a:solidFill>
                  <a:schemeClr val="tx1"/>
                </a:solidFill>
                <a:latin typeface="+mn-lt"/>
                <a:ea typeface="+mn-ea"/>
                <a:cs typeface="+mn-ea"/>
                <a:sym typeface="+mn-lt"/>
              </a:endParaRPr>
            </a:p>
            <a:p>
              <a:r>
                <a:rPr lang="zh-CN" altLang="en-US" sz="1400" b="0" dirty="0">
                  <a:solidFill>
                    <a:schemeClr val="tx1"/>
                  </a:solidFill>
                  <a:latin typeface="+mn-lt"/>
                  <a:ea typeface="+mn-ea"/>
                  <a:cs typeface="+mn-ea"/>
                  <a:sym typeface="+mn-lt"/>
                </a:rPr>
                <a:t>这些分析结论综合成为我们规划内容设计的重要依据。</a:t>
              </a:r>
              <a:endParaRPr kumimoji="1" lang="zh-CN" altLang="en-US" sz="1400" dirty="0">
                <a:solidFill>
                  <a:schemeClr val="tx1"/>
                </a:solidFill>
                <a:latin typeface="+mn-lt"/>
                <a:ea typeface="+mn-ea"/>
                <a:cs typeface="+mn-ea"/>
                <a:sym typeface="+mn-lt"/>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0"/>
          </p:nvPr>
        </p:nvSpPr>
        <p:spPr/>
        <p:txBody>
          <a:bodyPr/>
          <a:lstStyle/>
          <a:p>
            <a:pPr>
              <a:defRPr/>
            </a:pPr>
            <a:fld id="{52DF7D90-B49A-4800-BC0D-FE9A7C3546DE}" type="slidenum">
              <a:rPr lang="zh-CN" altLang="en-US" smtClean="0">
                <a:latin typeface="+mn-lt"/>
                <a:ea typeface="+mn-ea"/>
                <a:cs typeface="+mn-ea"/>
                <a:sym typeface="+mn-lt"/>
              </a:rPr>
            </a:fld>
            <a:endParaRPr lang="en-US" altLang="zh-CN">
              <a:latin typeface="+mn-lt"/>
              <a:ea typeface="+mn-ea"/>
              <a:cs typeface="+mn-ea"/>
              <a:sym typeface="+mn-lt"/>
            </a:endParaRPr>
          </a:p>
        </p:txBody>
      </p:sp>
      <p:sp>
        <p:nvSpPr>
          <p:cNvPr id="82" name="Text Box 4"/>
          <p:cNvSpPr txBox="1">
            <a:spLocks noChangeArrowheads="1"/>
          </p:cNvSpPr>
          <p:nvPr/>
        </p:nvSpPr>
        <p:spPr bwMode="auto">
          <a:xfrm>
            <a:off x="637441" y="300699"/>
            <a:ext cx="10828217" cy="307777"/>
          </a:xfrm>
          <a:prstGeom prst="rect">
            <a:avLst/>
          </a:prstGeom>
        </p:spPr>
        <p:txBody>
          <a:bodyPr vert="horz" lIns="91440" tIns="45720" rIns="91440" bIns="45720" rtlCol="0" anchor="ctr">
            <a:noAutofit/>
          </a:bodyPr>
          <a:lstStyle>
            <a:defPPr>
              <a:defRPr lang="en-US"/>
            </a:defPPr>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zh-CN" altLang="en-US" dirty="0">
                <a:latin typeface="+mn-lt"/>
                <a:ea typeface="+mn-ea"/>
                <a:cs typeface="+mn-ea"/>
                <a:sym typeface="+mn-lt"/>
              </a:rPr>
              <a:t>方法与过程说明</a:t>
            </a:r>
            <a:endParaRPr lang="en-US" altLang="ko-KR" dirty="0">
              <a:latin typeface="+mn-lt"/>
              <a:ea typeface="+mn-ea"/>
              <a:cs typeface="+mn-ea"/>
              <a:sym typeface="+mn-lt"/>
            </a:endParaRPr>
          </a:p>
        </p:txBody>
      </p:sp>
      <p:sp>
        <p:nvSpPr>
          <p:cNvPr id="53" name="Text Box 4"/>
          <p:cNvSpPr txBox="1">
            <a:spLocks noChangeArrowheads="1"/>
          </p:cNvSpPr>
          <p:nvPr/>
        </p:nvSpPr>
        <p:spPr bwMode="auto">
          <a:xfrm>
            <a:off x="694051" y="941413"/>
            <a:ext cx="87979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1200">
                <a:solidFill>
                  <a:srgbClr val="000000"/>
                </a:solidFill>
                <a:latin typeface="Arial" panose="020B0604020202090204" pitchFamily="34" charset="0"/>
                <a:ea typeface="-윤고딕130" charset="0"/>
              </a:defRPr>
            </a:lvl1pPr>
            <a:lvl2pPr marL="742950" indent="-285750" eaLnBrk="0" hangingPunct="0">
              <a:defRPr sz="1200">
                <a:solidFill>
                  <a:srgbClr val="000000"/>
                </a:solidFill>
                <a:latin typeface="Arial" panose="020B0604020202090204" pitchFamily="34" charset="0"/>
                <a:ea typeface="-윤고딕130" charset="0"/>
              </a:defRPr>
            </a:lvl2pPr>
            <a:lvl3pPr marL="1143000" indent="-228600" eaLnBrk="0" hangingPunct="0">
              <a:defRPr sz="1200">
                <a:solidFill>
                  <a:srgbClr val="000000"/>
                </a:solidFill>
                <a:latin typeface="Arial" panose="020B0604020202090204" pitchFamily="34" charset="0"/>
                <a:ea typeface="-윤고딕130" charset="0"/>
              </a:defRPr>
            </a:lvl3pPr>
            <a:lvl4pPr marL="1600200" indent="-228600" eaLnBrk="0" hangingPunct="0">
              <a:defRPr sz="1200">
                <a:solidFill>
                  <a:srgbClr val="000000"/>
                </a:solidFill>
                <a:latin typeface="Arial" panose="020B0604020202090204" pitchFamily="34" charset="0"/>
                <a:ea typeface="-윤고딕130" charset="0"/>
              </a:defRPr>
            </a:lvl4pPr>
            <a:lvl5pPr marL="2057400" indent="-228600" eaLnBrk="0" hangingPunct="0">
              <a:defRPr sz="1200">
                <a:solidFill>
                  <a:srgbClr val="000000"/>
                </a:solidFill>
                <a:latin typeface="Arial" panose="020B0604020202090204" pitchFamily="34" charset="0"/>
                <a:ea typeface="-윤고딕130" charset="0"/>
              </a:defRPr>
            </a:lvl5pPr>
            <a:lvl6pPr marL="25146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6pPr>
            <a:lvl7pPr marL="29718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7pPr>
            <a:lvl8pPr marL="34290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8pPr>
            <a:lvl9pPr marL="38862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9pPr>
          </a:lstStyle>
          <a:p>
            <a:r>
              <a:rPr lang="zh-CN" altLang="en-US" sz="1800" dirty="0">
                <a:latin typeface="+mn-lt"/>
                <a:ea typeface="+mn-ea"/>
                <a:cs typeface="+mn-ea"/>
                <a:sym typeface="+mn-lt"/>
              </a:rPr>
              <a:t>十四五规划咨询的详细工作流程</a:t>
            </a:r>
            <a:endParaRPr lang="en-US" altLang="ko-KR" sz="1800" dirty="0">
              <a:latin typeface="+mn-lt"/>
              <a:ea typeface="+mn-ea"/>
              <a:cs typeface="+mn-ea"/>
              <a:sym typeface="+mn-lt"/>
            </a:endParaRPr>
          </a:p>
        </p:txBody>
      </p:sp>
      <p:grpSp>
        <p:nvGrpSpPr>
          <p:cNvPr id="8" name="组合 7"/>
          <p:cNvGrpSpPr/>
          <p:nvPr/>
        </p:nvGrpSpPr>
        <p:grpSpPr>
          <a:xfrm>
            <a:off x="767307" y="1566738"/>
            <a:ext cx="10731665" cy="4837329"/>
            <a:chOff x="857163" y="1612411"/>
            <a:chExt cx="9009463" cy="4953638"/>
          </a:xfrm>
        </p:grpSpPr>
        <p:sp>
          <p:nvSpPr>
            <p:cNvPr id="44" name="五边形 42"/>
            <p:cNvSpPr/>
            <p:nvPr/>
          </p:nvSpPr>
          <p:spPr>
            <a:xfrm>
              <a:off x="857164" y="4050221"/>
              <a:ext cx="2894400" cy="413122"/>
            </a:xfrm>
            <a:prstGeom prst="homePlate">
              <a:avLst>
                <a:gd name="adj" fmla="val 18380"/>
              </a:avLst>
            </a:prstGeom>
            <a:solidFill>
              <a:srgbClr val="5B9BD5">
                <a:lumMod val="40000"/>
                <a:lumOff val="60000"/>
              </a:srgbClr>
            </a:solidFill>
            <a:ln w="12700" cap="flat" cmpd="sng" algn="ctr">
              <a:solidFill>
                <a:srgbClr val="5B9BD5">
                  <a:shade val="50000"/>
                </a:srgbClr>
              </a:solidFill>
              <a:prstDash val="solid"/>
              <a:miter lim="800000"/>
            </a:ln>
            <a:effectLst/>
          </p:spPr>
          <p:txBody>
            <a:bodyPr rtlCol="0" anchor="ctr"/>
            <a:lstStyle/>
            <a:p>
              <a:pPr algn="ctr" defTabSz="914400" fontAlgn="auto">
                <a:spcBef>
                  <a:spcPts val="0"/>
                </a:spcBef>
                <a:spcAft>
                  <a:spcPts val="0"/>
                </a:spcAft>
              </a:pPr>
              <a:endParaRPr kumimoji="1" lang="zh-CN" altLang="en-US" sz="1800" b="0" kern="0">
                <a:solidFill>
                  <a:prstClr val="white"/>
                </a:solidFill>
                <a:latin typeface="+mn-lt"/>
                <a:ea typeface="+mn-ea"/>
                <a:cs typeface="+mn-ea"/>
                <a:sym typeface="+mn-lt"/>
              </a:endParaRPr>
            </a:p>
          </p:txBody>
        </p:sp>
        <p:sp>
          <p:nvSpPr>
            <p:cNvPr id="46" name="矩形标注 44"/>
            <p:cNvSpPr/>
            <p:nvPr/>
          </p:nvSpPr>
          <p:spPr>
            <a:xfrm>
              <a:off x="857163" y="2617839"/>
              <a:ext cx="2846201" cy="982957"/>
            </a:xfrm>
            <a:prstGeom prst="wedgeRectCallout">
              <a:avLst/>
            </a:prstGeom>
            <a:ln w="12700">
              <a:solidFill>
                <a:srgbClr val="366B7E"/>
              </a:solidFill>
              <a:prstDash val="dash"/>
            </a:ln>
          </p:spPr>
          <p:txBody>
            <a:bodyPr wrap="square">
              <a:spAutoFit/>
            </a:bodyPr>
            <a:lstStyle/>
            <a:p>
              <a:pPr marL="228600" indent="-228600" fontAlgn="auto">
                <a:lnSpc>
                  <a:spcPct val="120000"/>
                </a:lnSpc>
                <a:spcBef>
                  <a:spcPts val="0"/>
                </a:spcBef>
                <a:spcAft>
                  <a:spcPts val="0"/>
                </a:spcAft>
                <a:buFont typeface="+mj-lt"/>
                <a:buAutoNum type="arabicPeriod"/>
                <a:defRPr/>
              </a:pPr>
              <a:r>
                <a:rPr lang="zh-CN" altLang="en-US" sz="1200" b="0" dirty="0">
                  <a:solidFill>
                    <a:srgbClr val="1F497D">
                      <a:lumMod val="50000"/>
                    </a:srgbClr>
                  </a:solidFill>
                  <a:latin typeface="+mn-lt"/>
                  <a:ea typeface="+mn-ea"/>
                  <a:cs typeface="+mn-ea"/>
                  <a:sym typeface="+mn-lt"/>
                </a:rPr>
                <a:t>十四五编制要求和思考</a:t>
              </a:r>
              <a:r>
                <a:rPr lang="en-US" altLang="zh-CN" sz="1200" b="0" dirty="0">
                  <a:solidFill>
                    <a:srgbClr val="1F497D">
                      <a:lumMod val="50000"/>
                    </a:srgbClr>
                  </a:solidFill>
                  <a:latin typeface="+mn-lt"/>
                  <a:ea typeface="+mn-ea"/>
                  <a:cs typeface="+mn-ea"/>
                  <a:sym typeface="+mn-lt"/>
                </a:rPr>
                <a:t>/</a:t>
              </a:r>
              <a:r>
                <a:rPr lang="zh-CN" altLang="en-US" sz="1200" b="0" dirty="0">
                  <a:solidFill>
                    <a:srgbClr val="1F497D">
                      <a:lumMod val="50000"/>
                    </a:srgbClr>
                  </a:solidFill>
                  <a:latin typeface="+mn-lt"/>
                  <a:ea typeface="+mn-ea"/>
                  <a:cs typeface="+mn-ea"/>
                  <a:sym typeface="+mn-lt"/>
                </a:rPr>
                <a:t>组织架构</a:t>
              </a:r>
              <a:endParaRPr lang="en-US" altLang="zh-CN" sz="1200" b="0" dirty="0">
                <a:solidFill>
                  <a:srgbClr val="1F497D">
                    <a:lumMod val="50000"/>
                  </a:srgbClr>
                </a:solidFill>
                <a:latin typeface="+mn-lt"/>
                <a:ea typeface="+mn-ea"/>
                <a:cs typeface="+mn-ea"/>
                <a:sym typeface="+mn-lt"/>
              </a:endParaRPr>
            </a:p>
            <a:p>
              <a:pPr marL="228600" indent="-228600" fontAlgn="auto">
                <a:lnSpc>
                  <a:spcPct val="120000"/>
                </a:lnSpc>
                <a:spcBef>
                  <a:spcPts val="0"/>
                </a:spcBef>
                <a:spcAft>
                  <a:spcPts val="0"/>
                </a:spcAft>
                <a:buFont typeface="+mj-lt"/>
                <a:buAutoNum type="arabicPeriod"/>
                <a:defRPr/>
              </a:pPr>
              <a:r>
                <a:rPr lang="zh-CN" altLang="en-US" sz="1200" b="0" dirty="0">
                  <a:solidFill>
                    <a:srgbClr val="1F497D">
                      <a:lumMod val="50000"/>
                    </a:srgbClr>
                  </a:solidFill>
                  <a:latin typeface="+mn-lt"/>
                  <a:ea typeface="+mn-ea"/>
                  <a:cs typeface="+mn-ea"/>
                  <a:sym typeface="+mn-lt"/>
                </a:rPr>
                <a:t>十三五期间规划</a:t>
              </a:r>
              <a:r>
                <a:rPr lang="en-US" altLang="zh-CN" sz="1200" b="0" dirty="0">
                  <a:solidFill>
                    <a:srgbClr val="1F497D">
                      <a:lumMod val="50000"/>
                    </a:srgbClr>
                  </a:solidFill>
                  <a:latin typeface="+mn-lt"/>
                  <a:ea typeface="+mn-ea"/>
                  <a:cs typeface="+mn-ea"/>
                  <a:sym typeface="+mn-lt"/>
                </a:rPr>
                <a:t>/</a:t>
              </a:r>
              <a:r>
                <a:rPr lang="zh-CN" altLang="en-US" sz="1200" b="0" dirty="0">
                  <a:solidFill>
                    <a:srgbClr val="1F497D">
                      <a:lumMod val="50000"/>
                    </a:srgbClr>
                  </a:solidFill>
                  <a:latin typeface="+mn-lt"/>
                  <a:ea typeface="+mn-ea"/>
                  <a:cs typeface="+mn-ea"/>
                  <a:sym typeface="+mn-lt"/>
                </a:rPr>
                <a:t>建设方案</a:t>
              </a:r>
              <a:endParaRPr lang="en-US" altLang="zh-CN" sz="1200" b="0" dirty="0">
                <a:solidFill>
                  <a:srgbClr val="1F497D">
                    <a:lumMod val="50000"/>
                  </a:srgbClr>
                </a:solidFill>
                <a:latin typeface="+mn-lt"/>
                <a:ea typeface="+mn-ea"/>
                <a:cs typeface="+mn-ea"/>
                <a:sym typeface="+mn-lt"/>
              </a:endParaRPr>
            </a:p>
            <a:p>
              <a:pPr marL="228600" indent="-228600" fontAlgn="auto">
                <a:lnSpc>
                  <a:spcPct val="120000"/>
                </a:lnSpc>
                <a:spcBef>
                  <a:spcPts val="0"/>
                </a:spcBef>
                <a:spcAft>
                  <a:spcPts val="0"/>
                </a:spcAft>
                <a:buFont typeface="+mj-lt"/>
                <a:buAutoNum type="arabicPeriod"/>
                <a:defRPr/>
              </a:pPr>
              <a:r>
                <a:rPr lang="zh-CN" altLang="en-US" sz="1200" b="0" dirty="0">
                  <a:solidFill>
                    <a:srgbClr val="1F497D">
                      <a:lumMod val="50000"/>
                    </a:srgbClr>
                  </a:solidFill>
                  <a:latin typeface="+mn-lt"/>
                  <a:ea typeface="+mn-ea"/>
                  <a:cs typeface="+mn-ea"/>
                  <a:sym typeface="+mn-lt"/>
                </a:rPr>
                <a:t>年度总结（研修院</a:t>
              </a:r>
              <a:r>
                <a:rPr lang="en-US" altLang="zh-CN" sz="1200" b="0" dirty="0">
                  <a:solidFill>
                    <a:srgbClr val="1F497D">
                      <a:lumMod val="50000"/>
                    </a:srgbClr>
                  </a:solidFill>
                  <a:latin typeface="+mn-lt"/>
                  <a:ea typeface="+mn-ea"/>
                  <a:cs typeface="+mn-ea"/>
                  <a:sym typeface="+mn-lt"/>
                </a:rPr>
                <a:t>/</a:t>
              </a:r>
              <a:r>
                <a:rPr lang="zh-CN" altLang="en-US" sz="1200" b="0" dirty="0">
                  <a:solidFill>
                    <a:srgbClr val="1F497D">
                      <a:lumMod val="50000"/>
                    </a:srgbClr>
                  </a:solidFill>
                  <a:latin typeface="+mn-lt"/>
                  <a:ea typeface="+mn-ea"/>
                  <a:cs typeface="+mn-ea"/>
                  <a:sym typeface="+mn-lt"/>
                </a:rPr>
                <a:t>各部门）</a:t>
              </a:r>
              <a:endParaRPr lang="en-US" altLang="zh-CN" sz="1200" b="0" dirty="0">
                <a:solidFill>
                  <a:srgbClr val="1F497D">
                    <a:lumMod val="50000"/>
                  </a:srgbClr>
                </a:solidFill>
                <a:latin typeface="+mn-lt"/>
                <a:ea typeface="+mn-ea"/>
                <a:cs typeface="+mn-ea"/>
                <a:sym typeface="+mn-lt"/>
              </a:endParaRPr>
            </a:p>
            <a:p>
              <a:pPr marL="228600" indent="-228600" fontAlgn="auto">
                <a:lnSpc>
                  <a:spcPct val="120000"/>
                </a:lnSpc>
                <a:spcBef>
                  <a:spcPts val="0"/>
                </a:spcBef>
                <a:spcAft>
                  <a:spcPts val="0"/>
                </a:spcAft>
                <a:buFont typeface="+mj-lt"/>
                <a:buAutoNum type="arabicPeriod"/>
                <a:defRPr/>
              </a:pPr>
              <a:endParaRPr lang="en-US" altLang="zh-CN" sz="1200" b="0" dirty="0">
                <a:solidFill>
                  <a:srgbClr val="1F497D">
                    <a:lumMod val="50000"/>
                  </a:srgbClr>
                </a:solidFill>
                <a:latin typeface="+mn-lt"/>
                <a:ea typeface="+mn-ea"/>
                <a:cs typeface="+mn-ea"/>
                <a:sym typeface="+mn-lt"/>
              </a:endParaRPr>
            </a:p>
          </p:txBody>
        </p:sp>
        <p:sp>
          <p:nvSpPr>
            <p:cNvPr id="47" name="矩形 46"/>
            <p:cNvSpPr/>
            <p:nvPr/>
          </p:nvSpPr>
          <p:spPr>
            <a:xfrm>
              <a:off x="1725699" y="4085981"/>
              <a:ext cx="1240197" cy="378182"/>
            </a:xfrm>
            <a:prstGeom prst="rect">
              <a:avLst/>
            </a:prstGeom>
          </p:spPr>
          <p:txBody>
            <a:bodyPr wrap="none" lIns="121890" tIns="60945" rIns="121890" bIns="60945">
              <a:spAutoFit/>
            </a:bodyPr>
            <a:lstStyle/>
            <a:p>
              <a:pPr algn="ctr" fontAlgn="auto">
                <a:spcBef>
                  <a:spcPts val="0"/>
                </a:spcBef>
                <a:spcAft>
                  <a:spcPts val="0"/>
                </a:spcAft>
              </a:pPr>
              <a:r>
                <a:rPr lang="zh-CN" altLang="en-US" sz="1600" dirty="0">
                  <a:solidFill>
                    <a:prstClr val="black"/>
                  </a:solidFill>
                  <a:latin typeface="+mn-lt"/>
                  <a:ea typeface="+mn-ea"/>
                  <a:cs typeface="+mn-ea"/>
                  <a:sym typeface="+mn-lt"/>
                </a:rPr>
                <a:t>内部资料研读</a:t>
              </a:r>
              <a:endParaRPr lang="zh-CN" altLang="en-US" sz="1600" dirty="0">
                <a:solidFill>
                  <a:prstClr val="black"/>
                </a:solidFill>
                <a:latin typeface="+mn-lt"/>
                <a:ea typeface="+mn-ea"/>
                <a:cs typeface="+mn-ea"/>
                <a:sym typeface="+mn-lt"/>
              </a:endParaRPr>
            </a:p>
          </p:txBody>
        </p:sp>
        <p:sp>
          <p:nvSpPr>
            <p:cNvPr id="48" name="矩形 47"/>
            <p:cNvSpPr/>
            <p:nvPr/>
          </p:nvSpPr>
          <p:spPr>
            <a:xfrm>
              <a:off x="857164" y="1618674"/>
              <a:ext cx="2603591" cy="572656"/>
            </a:xfrm>
            <a:prstGeom prst="rect">
              <a:avLst/>
            </a:prstGeom>
            <a:solidFill>
              <a:srgbClr val="226587"/>
            </a:solidFill>
            <a:ln w="12700" cap="flat" cmpd="sng" algn="ctr">
              <a:noFill/>
              <a:prstDash val="solid"/>
              <a:miter lim="800000"/>
            </a:ln>
            <a:effectLst/>
          </p:spPr>
          <p:txBody>
            <a:bodyPr rtlCol="0" anchor="t"/>
            <a:lstStyle/>
            <a:p>
              <a:pPr algn="ctr" defTabSz="914400" fontAlgn="auto">
                <a:lnSpc>
                  <a:spcPct val="150000"/>
                </a:lnSpc>
                <a:spcBef>
                  <a:spcPts val="0"/>
                </a:spcBef>
                <a:spcAft>
                  <a:spcPts val="0"/>
                </a:spcAft>
              </a:pPr>
              <a:r>
                <a:rPr lang="zh-CN" altLang="en-US" sz="1800" b="0" kern="0" dirty="0">
                  <a:solidFill>
                    <a:schemeClr val="bg1"/>
                  </a:solidFill>
                  <a:latin typeface="+mn-lt"/>
                  <a:ea typeface="+mn-ea"/>
                  <a:cs typeface="+mn-ea"/>
                  <a:sym typeface="+mn-lt"/>
                </a:rPr>
                <a:t>调研、研究</a:t>
              </a:r>
              <a:endParaRPr lang="en-US" altLang="zh-CN" sz="1800" b="0" kern="0" dirty="0">
                <a:solidFill>
                  <a:schemeClr val="bg1"/>
                </a:solidFill>
                <a:latin typeface="+mn-lt"/>
                <a:ea typeface="+mn-ea"/>
                <a:cs typeface="+mn-ea"/>
                <a:sym typeface="+mn-lt"/>
              </a:endParaRPr>
            </a:p>
          </p:txBody>
        </p:sp>
        <p:sp>
          <p:nvSpPr>
            <p:cNvPr id="49" name="矩形 48"/>
            <p:cNvSpPr/>
            <p:nvPr/>
          </p:nvSpPr>
          <p:spPr>
            <a:xfrm>
              <a:off x="3829251" y="1615542"/>
              <a:ext cx="2603591" cy="572656"/>
            </a:xfrm>
            <a:prstGeom prst="rect">
              <a:avLst/>
            </a:prstGeom>
            <a:solidFill>
              <a:srgbClr val="226587"/>
            </a:solidFill>
            <a:ln w="12700" cap="flat" cmpd="sng" algn="ctr">
              <a:noFill/>
              <a:prstDash val="solid"/>
              <a:miter lim="800000"/>
            </a:ln>
            <a:effectLst/>
          </p:spPr>
          <p:txBody>
            <a:bodyPr rtlCol="0" anchor="t"/>
            <a:lstStyle/>
            <a:p>
              <a:pPr algn="ctr" defTabSz="914400" fontAlgn="auto">
                <a:lnSpc>
                  <a:spcPct val="150000"/>
                </a:lnSpc>
                <a:spcBef>
                  <a:spcPts val="0"/>
                </a:spcBef>
                <a:spcAft>
                  <a:spcPts val="0"/>
                </a:spcAft>
              </a:pPr>
              <a:r>
                <a:rPr lang="zh-CN" altLang="en-US" sz="1800" b="0" kern="0" dirty="0">
                  <a:solidFill>
                    <a:schemeClr val="bg1"/>
                  </a:solidFill>
                  <a:latin typeface="+mn-lt"/>
                  <a:ea typeface="+mn-ea"/>
                  <a:cs typeface="+mn-ea"/>
                  <a:sym typeface="+mn-lt"/>
                </a:rPr>
                <a:t>诊断、建模</a:t>
              </a:r>
              <a:endParaRPr lang="en-US" altLang="zh-CN" sz="1800" b="0" kern="0" dirty="0">
                <a:solidFill>
                  <a:schemeClr val="bg1"/>
                </a:solidFill>
                <a:latin typeface="+mn-lt"/>
                <a:ea typeface="+mn-ea"/>
                <a:cs typeface="+mn-ea"/>
                <a:sym typeface="+mn-lt"/>
              </a:endParaRPr>
            </a:p>
          </p:txBody>
        </p:sp>
        <p:sp>
          <p:nvSpPr>
            <p:cNvPr id="50" name="矩形 49"/>
            <p:cNvSpPr/>
            <p:nvPr/>
          </p:nvSpPr>
          <p:spPr>
            <a:xfrm>
              <a:off x="6801338" y="1612411"/>
              <a:ext cx="2603591" cy="572656"/>
            </a:xfrm>
            <a:prstGeom prst="rect">
              <a:avLst/>
            </a:prstGeom>
            <a:solidFill>
              <a:srgbClr val="226587"/>
            </a:solidFill>
            <a:ln w="12700" cap="flat" cmpd="sng" algn="ctr">
              <a:noFill/>
              <a:prstDash val="solid"/>
              <a:miter lim="800000"/>
            </a:ln>
            <a:effectLst/>
          </p:spPr>
          <p:txBody>
            <a:bodyPr rtlCol="0" anchor="t"/>
            <a:lstStyle/>
            <a:p>
              <a:pPr algn="ctr" defTabSz="914400" fontAlgn="auto">
                <a:lnSpc>
                  <a:spcPct val="150000"/>
                </a:lnSpc>
                <a:spcBef>
                  <a:spcPts val="0"/>
                </a:spcBef>
                <a:spcAft>
                  <a:spcPts val="0"/>
                </a:spcAft>
              </a:pPr>
              <a:r>
                <a:rPr lang="zh-CN" altLang="en-US" sz="1800" b="0" kern="0" dirty="0">
                  <a:solidFill>
                    <a:schemeClr val="bg1"/>
                  </a:solidFill>
                  <a:latin typeface="+mn-lt"/>
                  <a:ea typeface="+mn-ea"/>
                  <a:cs typeface="+mn-ea"/>
                  <a:sym typeface="+mn-lt"/>
                </a:rPr>
                <a:t>规划报告</a:t>
              </a:r>
              <a:endParaRPr lang="en-US" altLang="zh-CN" sz="1800" b="0" kern="0" dirty="0">
                <a:solidFill>
                  <a:schemeClr val="bg1"/>
                </a:solidFill>
                <a:latin typeface="+mn-lt"/>
                <a:ea typeface="+mn-ea"/>
                <a:cs typeface="+mn-ea"/>
                <a:sym typeface="+mn-lt"/>
              </a:endParaRPr>
            </a:p>
          </p:txBody>
        </p:sp>
        <p:cxnSp>
          <p:nvCxnSpPr>
            <p:cNvPr id="51" name="直线连接符 75"/>
            <p:cNvCxnSpPr/>
            <p:nvPr/>
          </p:nvCxnSpPr>
          <p:spPr>
            <a:xfrm>
              <a:off x="868395" y="2191626"/>
              <a:ext cx="1" cy="795341"/>
            </a:xfrm>
            <a:prstGeom prst="line">
              <a:avLst/>
            </a:prstGeom>
            <a:ln w="12700">
              <a:prstDash val="dash"/>
            </a:ln>
          </p:spPr>
          <p:style>
            <a:lnRef idx="2">
              <a:schemeClr val="accent5"/>
            </a:lnRef>
            <a:fillRef idx="0">
              <a:schemeClr val="accent5"/>
            </a:fillRef>
            <a:effectRef idx="1">
              <a:schemeClr val="accent5"/>
            </a:effectRef>
            <a:fontRef idx="minor">
              <a:schemeClr val="tx1"/>
            </a:fontRef>
          </p:style>
        </p:cxnSp>
        <p:cxnSp>
          <p:nvCxnSpPr>
            <p:cNvPr id="52" name="直线连接符 76"/>
            <p:cNvCxnSpPr/>
            <p:nvPr/>
          </p:nvCxnSpPr>
          <p:spPr>
            <a:xfrm>
              <a:off x="3460755" y="2178742"/>
              <a:ext cx="2899596" cy="435175"/>
            </a:xfrm>
            <a:prstGeom prst="line">
              <a:avLst/>
            </a:prstGeom>
            <a:ln w="12700">
              <a:prstDash val="dash"/>
            </a:ln>
          </p:spPr>
          <p:style>
            <a:lnRef idx="2">
              <a:schemeClr val="accent5"/>
            </a:lnRef>
            <a:fillRef idx="0">
              <a:schemeClr val="accent5"/>
            </a:fillRef>
            <a:effectRef idx="1">
              <a:schemeClr val="accent5"/>
            </a:effectRef>
            <a:fontRef idx="minor">
              <a:schemeClr val="tx1"/>
            </a:fontRef>
          </p:style>
        </p:cxnSp>
        <p:sp>
          <p:nvSpPr>
            <p:cNvPr id="54" name="燕尾形 58"/>
            <p:cNvSpPr/>
            <p:nvPr/>
          </p:nvSpPr>
          <p:spPr>
            <a:xfrm>
              <a:off x="3744076" y="4060159"/>
              <a:ext cx="2894400" cy="413122"/>
            </a:xfrm>
            <a:prstGeom prst="chevron">
              <a:avLst>
                <a:gd name="adj" fmla="val 21255"/>
              </a:avLst>
            </a:prstGeom>
            <a:solidFill>
              <a:srgbClr val="5B9BD5">
                <a:lumMod val="40000"/>
                <a:lumOff val="60000"/>
              </a:srgbClr>
            </a:solidFill>
            <a:ln w="12700" cap="flat" cmpd="sng" algn="ctr">
              <a:solidFill>
                <a:srgbClr val="5B9BD5">
                  <a:shade val="50000"/>
                </a:srgbClr>
              </a:solidFill>
              <a:prstDash val="solid"/>
              <a:miter lim="800000"/>
            </a:ln>
            <a:effectLst/>
          </p:spPr>
          <p:txBody>
            <a:bodyPr rtlCol="0" anchor="ctr"/>
            <a:lstStyle/>
            <a:p>
              <a:pPr algn="ctr" defTabSz="914400" fontAlgn="auto">
                <a:spcBef>
                  <a:spcPts val="0"/>
                </a:spcBef>
                <a:spcAft>
                  <a:spcPts val="0"/>
                </a:spcAft>
              </a:pPr>
              <a:endParaRPr kumimoji="1" lang="zh-CN" altLang="en-US" sz="1800" b="0" kern="0">
                <a:solidFill>
                  <a:prstClr val="white"/>
                </a:solidFill>
                <a:latin typeface="+mn-lt"/>
                <a:ea typeface="+mn-ea"/>
                <a:cs typeface="+mn-ea"/>
                <a:sym typeface="+mn-lt"/>
              </a:endParaRPr>
            </a:p>
          </p:txBody>
        </p:sp>
        <p:sp>
          <p:nvSpPr>
            <p:cNvPr id="56" name="燕尾形 59"/>
            <p:cNvSpPr/>
            <p:nvPr/>
          </p:nvSpPr>
          <p:spPr>
            <a:xfrm>
              <a:off x="6630988" y="4060158"/>
              <a:ext cx="2894400" cy="883411"/>
            </a:xfrm>
            <a:prstGeom prst="chevron">
              <a:avLst>
                <a:gd name="adj" fmla="val 21255"/>
              </a:avLst>
            </a:prstGeom>
            <a:solidFill>
              <a:srgbClr val="5B9BD5">
                <a:lumMod val="40000"/>
                <a:lumOff val="60000"/>
              </a:srgbClr>
            </a:solidFill>
            <a:ln w="12700" cap="flat" cmpd="sng" algn="ctr">
              <a:solidFill>
                <a:srgbClr val="5B9BD5">
                  <a:shade val="50000"/>
                </a:srgbClr>
              </a:solidFill>
              <a:prstDash val="solid"/>
              <a:miter lim="800000"/>
            </a:ln>
            <a:effectLst/>
          </p:spPr>
          <p:txBody>
            <a:bodyPr rtlCol="0" anchor="ctr"/>
            <a:lstStyle/>
            <a:p>
              <a:pPr algn="ctr" defTabSz="914400" fontAlgn="auto">
                <a:spcBef>
                  <a:spcPts val="0"/>
                </a:spcBef>
                <a:spcAft>
                  <a:spcPts val="0"/>
                </a:spcAft>
              </a:pPr>
              <a:endParaRPr kumimoji="1" lang="zh-CN" altLang="en-US" sz="1800" b="0" kern="0">
                <a:solidFill>
                  <a:prstClr val="white"/>
                </a:solidFill>
                <a:latin typeface="+mn-lt"/>
                <a:ea typeface="+mn-ea"/>
                <a:cs typeface="+mn-ea"/>
                <a:sym typeface="+mn-lt"/>
              </a:endParaRPr>
            </a:p>
          </p:txBody>
        </p:sp>
        <p:sp>
          <p:nvSpPr>
            <p:cNvPr id="57" name="矩形 56"/>
            <p:cNvSpPr/>
            <p:nvPr/>
          </p:nvSpPr>
          <p:spPr>
            <a:xfrm>
              <a:off x="4709643" y="4095919"/>
              <a:ext cx="820322" cy="349815"/>
            </a:xfrm>
            <a:prstGeom prst="rect">
              <a:avLst/>
            </a:prstGeom>
          </p:spPr>
          <p:txBody>
            <a:bodyPr wrap="none" lIns="121890" tIns="60945" rIns="121890" bIns="60945">
              <a:spAutoFit/>
            </a:bodyPr>
            <a:lstStyle/>
            <a:p>
              <a:pPr algn="ctr" fontAlgn="auto">
                <a:spcBef>
                  <a:spcPts val="0"/>
                </a:spcBef>
                <a:spcAft>
                  <a:spcPts val="0"/>
                </a:spcAft>
              </a:pPr>
              <a:r>
                <a:rPr lang="zh-CN" altLang="en-US" sz="1600" dirty="0">
                  <a:solidFill>
                    <a:prstClr val="black"/>
                  </a:solidFill>
                  <a:latin typeface="+mn-lt"/>
                  <a:ea typeface="+mn-ea"/>
                  <a:cs typeface="+mn-ea"/>
                  <a:sym typeface="+mn-lt"/>
                </a:rPr>
                <a:t>访谈调研</a:t>
              </a:r>
              <a:endParaRPr lang="zh-CN" altLang="en-US" sz="1600" dirty="0">
                <a:solidFill>
                  <a:prstClr val="black"/>
                </a:solidFill>
                <a:latin typeface="+mn-lt"/>
                <a:ea typeface="+mn-ea"/>
                <a:cs typeface="+mn-ea"/>
                <a:sym typeface="+mn-lt"/>
              </a:endParaRPr>
            </a:p>
          </p:txBody>
        </p:sp>
        <p:sp>
          <p:nvSpPr>
            <p:cNvPr id="58" name="矩形 57"/>
            <p:cNvSpPr/>
            <p:nvPr/>
          </p:nvSpPr>
          <p:spPr>
            <a:xfrm>
              <a:off x="7298317" y="4130890"/>
              <a:ext cx="1433986" cy="349815"/>
            </a:xfrm>
            <a:prstGeom prst="rect">
              <a:avLst/>
            </a:prstGeom>
          </p:spPr>
          <p:txBody>
            <a:bodyPr wrap="none" lIns="121890" tIns="60945" rIns="121890" bIns="60945">
              <a:spAutoFit/>
            </a:bodyPr>
            <a:lstStyle/>
            <a:p>
              <a:pPr algn="ctr" fontAlgn="auto">
                <a:spcBef>
                  <a:spcPts val="0"/>
                </a:spcBef>
                <a:spcAft>
                  <a:spcPts val="0"/>
                </a:spcAft>
              </a:pPr>
              <a:r>
                <a:rPr lang="zh-CN" altLang="en-US" sz="1600" dirty="0">
                  <a:solidFill>
                    <a:prstClr val="black"/>
                  </a:solidFill>
                  <a:latin typeface="+mn-lt"/>
                  <a:ea typeface="+mn-ea"/>
                  <a:cs typeface="+mn-ea"/>
                  <a:sym typeface="+mn-lt"/>
                </a:rPr>
                <a:t>分析、提炼、建模</a:t>
              </a:r>
              <a:endParaRPr lang="zh-CN" altLang="en-US" sz="1600" dirty="0">
                <a:solidFill>
                  <a:prstClr val="black"/>
                </a:solidFill>
                <a:latin typeface="+mn-lt"/>
                <a:ea typeface="+mn-ea"/>
                <a:cs typeface="+mn-ea"/>
                <a:sym typeface="+mn-lt"/>
              </a:endParaRPr>
            </a:p>
          </p:txBody>
        </p:sp>
        <p:sp>
          <p:nvSpPr>
            <p:cNvPr id="62" name="五边形 86"/>
            <p:cNvSpPr/>
            <p:nvPr/>
          </p:nvSpPr>
          <p:spPr>
            <a:xfrm>
              <a:off x="857164" y="4535885"/>
              <a:ext cx="2894400" cy="413122"/>
            </a:xfrm>
            <a:prstGeom prst="homePlate">
              <a:avLst>
                <a:gd name="adj" fmla="val 18380"/>
              </a:avLst>
            </a:prstGeom>
            <a:solidFill>
              <a:srgbClr val="5B9BD5">
                <a:lumMod val="40000"/>
                <a:lumOff val="60000"/>
              </a:srgbClr>
            </a:solidFill>
            <a:ln w="12700" cap="flat" cmpd="sng" algn="ctr">
              <a:solidFill>
                <a:srgbClr val="5B9BD5">
                  <a:shade val="50000"/>
                </a:srgbClr>
              </a:solidFill>
              <a:prstDash val="solid"/>
              <a:miter lim="800000"/>
            </a:ln>
            <a:effectLst/>
          </p:spPr>
          <p:txBody>
            <a:bodyPr rtlCol="0" anchor="ctr"/>
            <a:lstStyle/>
            <a:p>
              <a:pPr algn="ctr" defTabSz="914400" fontAlgn="auto">
                <a:spcBef>
                  <a:spcPts val="0"/>
                </a:spcBef>
                <a:spcAft>
                  <a:spcPts val="0"/>
                </a:spcAft>
              </a:pPr>
              <a:endParaRPr kumimoji="1" lang="zh-CN" altLang="en-US" sz="1800" b="0" kern="0">
                <a:solidFill>
                  <a:prstClr val="white"/>
                </a:solidFill>
                <a:latin typeface="+mn-lt"/>
                <a:ea typeface="+mn-ea"/>
                <a:cs typeface="+mn-ea"/>
                <a:sym typeface="+mn-lt"/>
              </a:endParaRPr>
            </a:p>
          </p:txBody>
        </p:sp>
        <p:sp>
          <p:nvSpPr>
            <p:cNvPr id="63" name="矩形 62"/>
            <p:cNvSpPr/>
            <p:nvPr/>
          </p:nvSpPr>
          <p:spPr>
            <a:xfrm>
              <a:off x="1870104" y="4537355"/>
              <a:ext cx="820322" cy="349815"/>
            </a:xfrm>
            <a:prstGeom prst="rect">
              <a:avLst/>
            </a:prstGeom>
          </p:spPr>
          <p:txBody>
            <a:bodyPr wrap="none" lIns="121890" tIns="60945" rIns="121890" bIns="60945">
              <a:spAutoFit/>
            </a:bodyPr>
            <a:lstStyle/>
            <a:p>
              <a:pPr algn="ctr" fontAlgn="auto">
                <a:spcBef>
                  <a:spcPts val="0"/>
                </a:spcBef>
                <a:spcAft>
                  <a:spcPts val="0"/>
                </a:spcAft>
              </a:pPr>
              <a:r>
                <a:rPr lang="zh-CN" altLang="en-US" sz="1600" dirty="0">
                  <a:solidFill>
                    <a:prstClr val="black"/>
                  </a:solidFill>
                  <a:latin typeface="+mn-lt"/>
                  <a:ea typeface="+mn-ea"/>
                  <a:cs typeface="+mn-ea"/>
                  <a:sym typeface="+mn-lt"/>
                </a:rPr>
                <a:t>外部研究</a:t>
              </a:r>
              <a:endParaRPr lang="zh-CN" altLang="en-US" sz="1600" dirty="0">
                <a:solidFill>
                  <a:prstClr val="black"/>
                </a:solidFill>
                <a:latin typeface="+mn-lt"/>
                <a:ea typeface="+mn-ea"/>
                <a:cs typeface="+mn-ea"/>
                <a:sym typeface="+mn-lt"/>
              </a:endParaRPr>
            </a:p>
          </p:txBody>
        </p:sp>
        <p:sp>
          <p:nvSpPr>
            <p:cNvPr id="65" name="矩形标注 88"/>
            <p:cNvSpPr/>
            <p:nvPr/>
          </p:nvSpPr>
          <p:spPr>
            <a:xfrm>
              <a:off x="857163" y="5109933"/>
              <a:ext cx="3553266" cy="982957"/>
            </a:xfrm>
            <a:prstGeom prst="wedgeRectCallout">
              <a:avLst>
                <a:gd name="adj1" fmla="val 16196"/>
                <a:gd name="adj2" fmla="val -60703"/>
              </a:avLst>
            </a:prstGeom>
            <a:ln w="12700">
              <a:solidFill>
                <a:srgbClr val="366B7E"/>
              </a:solidFill>
              <a:prstDash val="dash"/>
            </a:ln>
          </p:spPr>
          <p:txBody>
            <a:bodyPr wrap="square">
              <a:spAutoFit/>
            </a:bodyPr>
            <a:lstStyle/>
            <a:p>
              <a:pPr marL="228600" indent="-228600" fontAlgn="auto">
                <a:lnSpc>
                  <a:spcPct val="120000"/>
                </a:lnSpc>
                <a:spcBef>
                  <a:spcPts val="0"/>
                </a:spcBef>
                <a:spcAft>
                  <a:spcPts val="0"/>
                </a:spcAft>
                <a:buFont typeface="+mj-lt"/>
                <a:buAutoNum type="arabicPeriod"/>
                <a:defRPr/>
              </a:pPr>
              <a:r>
                <a:rPr lang="zh-CN" altLang="en-US" sz="1200" b="0" dirty="0">
                  <a:solidFill>
                    <a:srgbClr val="1F497D">
                      <a:lumMod val="50000"/>
                    </a:srgbClr>
                  </a:solidFill>
                  <a:latin typeface="+mn-lt"/>
                  <a:ea typeface="+mn-ea"/>
                  <a:cs typeface="+mn-ea"/>
                  <a:sym typeface="+mn-lt"/>
                </a:rPr>
                <a:t>国家宏观研究（十四五规划报告）</a:t>
              </a:r>
              <a:endParaRPr lang="en-US" altLang="zh-CN" sz="1200" b="0" dirty="0">
                <a:solidFill>
                  <a:srgbClr val="1F497D">
                    <a:lumMod val="50000"/>
                  </a:srgbClr>
                </a:solidFill>
                <a:latin typeface="+mn-lt"/>
                <a:ea typeface="+mn-ea"/>
                <a:cs typeface="+mn-ea"/>
                <a:sym typeface="+mn-lt"/>
              </a:endParaRPr>
            </a:p>
            <a:p>
              <a:pPr marL="228600" indent="-228600" fontAlgn="auto">
                <a:lnSpc>
                  <a:spcPct val="120000"/>
                </a:lnSpc>
                <a:spcBef>
                  <a:spcPts val="0"/>
                </a:spcBef>
                <a:spcAft>
                  <a:spcPts val="0"/>
                </a:spcAft>
                <a:buFont typeface="+mj-lt"/>
                <a:buAutoNum type="arabicPeriod"/>
                <a:defRPr/>
              </a:pPr>
              <a:r>
                <a:rPr lang="zh-CN" altLang="en-US" sz="1200" b="0" dirty="0">
                  <a:solidFill>
                    <a:srgbClr val="1F497D">
                      <a:lumMod val="50000"/>
                    </a:srgbClr>
                  </a:solidFill>
                  <a:latin typeface="+mn-lt"/>
                  <a:ea typeface="+mn-ea"/>
                  <a:cs typeface="+mn-ea"/>
                  <a:sym typeface="+mn-lt"/>
                </a:rPr>
                <a:t>金融行业研究（银行业研究）</a:t>
              </a:r>
              <a:endParaRPr lang="en-US" altLang="zh-CN" sz="1200" b="0" dirty="0">
                <a:solidFill>
                  <a:srgbClr val="1F497D">
                    <a:lumMod val="50000"/>
                  </a:srgbClr>
                </a:solidFill>
                <a:latin typeface="+mn-lt"/>
                <a:ea typeface="+mn-ea"/>
                <a:cs typeface="+mn-ea"/>
                <a:sym typeface="+mn-lt"/>
              </a:endParaRPr>
            </a:p>
            <a:p>
              <a:pPr marL="228600" indent="-228600" fontAlgn="auto">
                <a:lnSpc>
                  <a:spcPct val="120000"/>
                </a:lnSpc>
                <a:spcBef>
                  <a:spcPts val="0"/>
                </a:spcBef>
                <a:spcAft>
                  <a:spcPts val="0"/>
                </a:spcAft>
                <a:buFont typeface="+mj-lt"/>
                <a:buAutoNum type="arabicPeriod"/>
                <a:defRPr/>
              </a:pPr>
              <a:r>
                <a:rPr lang="zh-CN" altLang="en-US" sz="1200" b="0" dirty="0">
                  <a:solidFill>
                    <a:srgbClr val="1F497D">
                      <a:lumMod val="50000"/>
                    </a:srgbClr>
                  </a:solidFill>
                  <a:latin typeface="+mn-lt"/>
                  <a:ea typeface="+mn-ea"/>
                  <a:cs typeface="+mn-ea"/>
                  <a:sym typeface="+mn-lt"/>
                </a:rPr>
                <a:t>企业大学最佳实践（标杆）</a:t>
              </a:r>
              <a:endParaRPr lang="en-US" altLang="zh-CN" sz="1200" b="0" dirty="0">
                <a:solidFill>
                  <a:srgbClr val="1F497D">
                    <a:lumMod val="50000"/>
                  </a:srgbClr>
                </a:solidFill>
                <a:latin typeface="+mn-lt"/>
                <a:ea typeface="+mn-ea"/>
                <a:cs typeface="+mn-ea"/>
                <a:sym typeface="+mn-lt"/>
              </a:endParaRPr>
            </a:p>
            <a:p>
              <a:pPr marL="228600" indent="-228600" fontAlgn="auto">
                <a:lnSpc>
                  <a:spcPct val="120000"/>
                </a:lnSpc>
                <a:spcBef>
                  <a:spcPts val="0"/>
                </a:spcBef>
                <a:spcAft>
                  <a:spcPts val="0"/>
                </a:spcAft>
                <a:buFont typeface="+mj-lt"/>
                <a:buAutoNum type="arabicPeriod"/>
                <a:defRPr/>
              </a:pPr>
              <a:r>
                <a:rPr lang="zh-CN" altLang="en-US" sz="1200" b="0" dirty="0">
                  <a:solidFill>
                    <a:srgbClr val="1F497D">
                      <a:lumMod val="50000"/>
                    </a:srgbClr>
                  </a:solidFill>
                  <a:latin typeface="+mn-lt"/>
                  <a:ea typeface="+mn-ea"/>
                  <a:cs typeface="+mn-ea"/>
                  <a:sym typeface="+mn-lt"/>
                </a:rPr>
                <a:t>全球化银行最佳实践（标杆）</a:t>
              </a:r>
              <a:endParaRPr lang="en-US" altLang="zh-CN" sz="1200" b="0" dirty="0">
                <a:solidFill>
                  <a:srgbClr val="1F497D">
                    <a:lumMod val="50000"/>
                  </a:srgbClr>
                </a:solidFill>
                <a:latin typeface="+mn-lt"/>
                <a:ea typeface="+mn-ea"/>
                <a:cs typeface="+mn-ea"/>
                <a:sym typeface="+mn-lt"/>
              </a:endParaRPr>
            </a:p>
          </p:txBody>
        </p:sp>
        <p:sp>
          <p:nvSpPr>
            <p:cNvPr id="66" name="三角形 90"/>
            <p:cNvSpPr/>
            <p:nvPr/>
          </p:nvSpPr>
          <p:spPr>
            <a:xfrm flipV="1">
              <a:off x="3076665" y="4957250"/>
              <a:ext cx="384090" cy="199768"/>
            </a:xfrm>
            <a:prstGeom prst="triangle">
              <a:avLst/>
            </a:prstGeom>
            <a:solidFill>
              <a:srgbClr val="FFFF00"/>
            </a:solidFill>
            <a:ln>
              <a:solidFill>
                <a:schemeClr val="accent1"/>
              </a:solidFill>
            </a:ln>
          </p:spPr>
          <p:txBody>
            <a:bodyPr wrap="square" rtlCol="0" anchor="ctr">
              <a:spAutoFit/>
            </a:bodyPr>
            <a:lstStyle/>
            <a:p>
              <a:pPr algn="ctr"/>
              <a:endParaRPr kumimoji="1" lang="zh-CN" altLang="en-US" dirty="0">
                <a:solidFill>
                  <a:schemeClr val="bg1"/>
                </a:solidFill>
                <a:latin typeface="+mn-lt"/>
                <a:ea typeface="+mn-ea"/>
                <a:cs typeface="+mn-ea"/>
                <a:sym typeface="+mn-lt"/>
              </a:endParaRPr>
            </a:p>
          </p:txBody>
        </p:sp>
        <p:sp>
          <p:nvSpPr>
            <p:cNvPr id="67" name="矩形标注 91"/>
            <p:cNvSpPr/>
            <p:nvPr/>
          </p:nvSpPr>
          <p:spPr>
            <a:xfrm>
              <a:off x="3738692" y="2613917"/>
              <a:ext cx="2798007" cy="1229190"/>
            </a:xfrm>
            <a:prstGeom prst="wedgeRectCallout">
              <a:avLst>
                <a:gd name="adj1" fmla="val -23579"/>
                <a:gd name="adj2" fmla="val 61249"/>
              </a:avLst>
            </a:prstGeom>
            <a:ln w="12700">
              <a:solidFill>
                <a:srgbClr val="366B7E"/>
              </a:solidFill>
              <a:prstDash val="dash"/>
            </a:ln>
          </p:spPr>
          <p:txBody>
            <a:bodyPr wrap="square">
              <a:spAutoFit/>
            </a:bodyPr>
            <a:lstStyle/>
            <a:p>
              <a:pPr marL="228600" indent="-228600" fontAlgn="auto">
                <a:lnSpc>
                  <a:spcPct val="120000"/>
                </a:lnSpc>
                <a:spcBef>
                  <a:spcPts val="0"/>
                </a:spcBef>
                <a:spcAft>
                  <a:spcPts val="0"/>
                </a:spcAft>
                <a:buFont typeface="+mj-lt"/>
                <a:buAutoNum type="arabicPeriod"/>
                <a:defRPr/>
              </a:pPr>
              <a:r>
                <a:rPr lang="zh-CN" altLang="en-US" sz="1200" b="0" dirty="0">
                  <a:solidFill>
                    <a:srgbClr val="1F497D">
                      <a:lumMod val="50000"/>
                    </a:srgbClr>
                  </a:solidFill>
                  <a:latin typeface="+mn-lt"/>
                  <a:ea typeface="+mn-ea"/>
                  <a:cs typeface="+mn-ea"/>
                  <a:sym typeface="+mn-lt"/>
                </a:rPr>
                <a:t>海外机构（</a:t>
              </a:r>
              <a:r>
                <a:rPr lang="en-US" altLang="zh-CN" sz="1200" b="0" dirty="0">
                  <a:solidFill>
                    <a:srgbClr val="1F497D">
                      <a:lumMod val="50000"/>
                    </a:srgbClr>
                  </a:solidFill>
                  <a:latin typeface="+mn-lt"/>
                  <a:ea typeface="+mn-ea"/>
                  <a:cs typeface="+mn-ea"/>
                  <a:sym typeface="+mn-lt"/>
                </a:rPr>
                <a:t>3</a:t>
              </a:r>
              <a:r>
                <a:rPr lang="zh-CN" altLang="en-US" sz="1200" b="0" dirty="0">
                  <a:solidFill>
                    <a:srgbClr val="1F497D">
                      <a:lumMod val="50000"/>
                    </a:srgbClr>
                  </a:solidFill>
                  <a:latin typeface="+mn-lt"/>
                  <a:ea typeface="+mn-ea"/>
                  <a:cs typeface="+mn-ea"/>
                  <a:sym typeface="+mn-lt"/>
                </a:rPr>
                <a:t>中心）</a:t>
              </a:r>
              <a:endParaRPr lang="en-US" altLang="zh-CN" sz="1200" b="0" dirty="0">
                <a:solidFill>
                  <a:srgbClr val="1F497D">
                    <a:lumMod val="50000"/>
                  </a:srgbClr>
                </a:solidFill>
                <a:latin typeface="+mn-lt"/>
                <a:ea typeface="+mn-ea"/>
                <a:cs typeface="+mn-ea"/>
                <a:sym typeface="+mn-lt"/>
              </a:endParaRPr>
            </a:p>
            <a:p>
              <a:pPr marL="228600" indent="-228600" fontAlgn="auto">
                <a:lnSpc>
                  <a:spcPct val="120000"/>
                </a:lnSpc>
                <a:spcBef>
                  <a:spcPts val="0"/>
                </a:spcBef>
                <a:spcAft>
                  <a:spcPts val="0"/>
                </a:spcAft>
                <a:buFont typeface="+mj-lt"/>
                <a:buAutoNum type="arabicPeriod"/>
                <a:defRPr/>
              </a:pPr>
              <a:r>
                <a:rPr lang="zh-CN" altLang="en-US" sz="1200" b="0" dirty="0">
                  <a:solidFill>
                    <a:srgbClr val="1F497D">
                      <a:lumMod val="50000"/>
                    </a:srgbClr>
                  </a:solidFill>
                  <a:latin typeface="+mn-lt"/>
                  <a:ea typeface="+mn-ea"/>
                  <a:cs typeface="+mn-ea"/>
                  <a:sym typeface="+mn-lt"/>
                </a:rPr>
                <a:t>各业务条线分管领导（</a:t>
              </a:r>
              <a:r>
                <a:rPr lang="en-US" altLang="zh-CN" sz="1200" b="0" dirty="0">
                  <a:solidFill>
                    <a:srgbClr val="1F497D">
                      <a:lumMod val="50000"/>
                    </a:srgbClr>
                  </a:solidFill>
                  <a:latin typeface="+mn-lt"/>
                  <a:ea typeface="+mn-ea"/>
                  <a:cs typeface="+mn-ea"/>
                  <a:sym typeface="+mn-lt"/>
                </a:rPr>
                <a:t>9</a:t>
              </a:r>
              <a:r>
                <a:rPr lang="zh-CN" altLang="en-US" sz="1200" b="0" dirty="0">
                  <a:solidFill>
                    <a:srgbClr val="1F497D">
                      <a:lumMod val="50000"/>
                    </a:srgbClr>
                  </a:solidFill>
                  <a:latin typeface="+mn-lt"/>
                  <a:ea typeface="+mn-ea"/>
                  <a:cs typeface="+mn-ea"/>
                  <a:sym typeface="+mn-lt"/>
                </a:rPr>
                <a:t>条线）</a:t>
              </a:r>
              <a:endParaRPr lang="en-US" altLang="zh-CN" sz="1200" b="0" dirty="0">
                <a:solidFill>
                  <a:srgbClr val="1F497D">
                    <a:lumMod val="50000"/>
                  </a:srgbClr>
                </a:solidFill>
                <a:latin typeface="+mn-lt"/>
                <a:ea typeface="+mn-ea"/>
                <a:cs typeface="+mn-ea"/>
                <a:sym typeface="+mn-lt"/>
              </a:endParaRPr>
            </a:p>
            <a:p>
              <a:pPr marL="228600" indent="-228600" fontAlgn="auto">
                <a:lnSpc>
                  <a:spcPct val="120000"/>
                </a:lnSpc>
                <a:spcBef>
                  <a:spcPts val="0"/>
                </a:spcBef>
                <a:spcAft>
                  <a:spcPts val="0"/>
                </a:spcAft>
                <a:buFont typeface="+mj-lt"/>
                <a:buAutoNum type="arabicPeriod"/>
                <a:defRPr/>
              </a:pPr>
              <a:r>
                <a:rPr lang="zh-CN" altLang="en-US" sz="1200" b="0" dirty="0">
                  <a:solidFill>
                    <a:srgbClr val="1F497D">
                      <a:lumMod val="50000"/>
                    </a:srgbClr>
                  </a:solidFill>
                  <a:latin typeface="+mn-lt"/>
                  <a:ea typeface="+mn-ea"/>
                  <a:cs typeface="+mn-ea"/>
                  <a:sym typeface="+mn-lt"/>
                </a:rPr>
                <a:t>分行业务</a:t>
              </a:r>
              <a:r>
                <a:rPr lang="zh-CN" altLang="en-US" sz="1200" b="0" dirty="0">
                  <a:solidFill>
                    <a:srgbClr val="10253F"/>
                  </a:solidFill>
                  <a:latin typeface="+mn-lt"/>
                  <a:ea typeface="+mn-ea"/>
                  <a:cs typeface="+mn-ea"/>
                  <a:sym typeface="+mn-lt"/>
                </a:rPr>
                <a:t>领导</a:t>
              </a:r>
              <a:r>
                <a:rPr lang="en-US" altLang="zh-CN" sz="1200" b="0" dirty="0">
                  <a:solidFill>
                    <a:srgbClr val="10253F"/>
                  </a:solidFill>
                  <a:latin typeface="+mn-lt"/>
                  <a:ea typeface="+mn-ea"/>
                  <a:cs typeface="+mn-ea"/>
                  <a:sym typeface="+mn-lt"/>
                </a:rPr>
                <a:t>&amp;</a:t>
              </a:r>
              <a:r>
                <a:rPr lang="zh-CN" altLang="en-US" sz="1200" b="0" dirty="0">
                  <a:solidFill>
                    <a:srgbClr val="10253F"/>
                  </a:solidFill>
                  <a:latin typeface="+mn-lt"/>
                  <a:ea typeface="+mn-ea"/>
                  <a:cs typeface="+mn-ea"/>
                  <a:sym typeface="+mn-lt"/>
                </a:rPr>
                <a:t>教育条线</a:t>
              </a:r>
              <a:r>
                <a:rPr lang="zh-CN" altLang="en-US" sz="1200" b="0" dirty="0">
                  <a:solidFill>
                    <a:srgbClr val="1F497D">
                      <a:lumMod val="50000"/>
                    </a:srgbClr>
                  </a:solidFill>
                  <a:latin typeface="+mn-lt"/>
                  <a:ea typeface="+mn-ea"/>
                  <a:cs typeface="+mn-ea"/>
                  <a:sym typeface="+mn-lt"/>
                </a:rPr>
                <a:t>（</a:t>
              </a:r>
              <a:r>
                <a:rPr lang="en-US" altLang="zh-CN" sz="1200" b="0" dirty="0">
                  <a:solidFill>
                    <a:srgbClr val="1F497D">
                      <a:lumMod val="50000"/>
                    </a:srgbClr>
                  </a:solidFill>
                  <a:latin typeface="+mn-lt"/>
                  <a:ea typeface="+mn-ea"/>
                  <a:cs typeface="+mn-ea"/>
                  <a:sym typeface="+mn-lt"/>
                </a:rPr>
                <a:t>5</a:t>
              </a:r>
              <a:r>
                <a:rPr lang="zh-CN" altLang="en-US" sz="1200" b="0" dirty="0">
                  <a:solidFill>
                    <a:srgbClr val="1F497D">
                      <a:lumMod val="50000"/>
                    </a:srgbClr>
                  </a:solidFill>
                  <a:latin typeface="+mn-lt"/>
                  <a:ea typeface="+mn-ea"/>
                  <a:cs typeface="+mn-ea"/>
                  <a:sym typeface="+mn-lt"/>
                </a:rPr>
                <a:t>分行）</a:t>
              </a:r>
              <a:endParaRPr lang="en-US" altLang="zh-CN" sz="1200" b="0" dirty="0">
                <a:solidFill>
                  <a:srgbClr val="1F497D">
                    <a:lumMod val="50000"/>
                  </a:srgbClr>
                </a:solidFill>
                <a:latin typeface="+mn-lt"/>
                <a:ea typeface="+mn-ea"/>
                <a:cs typeface="+mn-ea"/>
                <a:sym typeface="+mn-lt"/>
              </a:endParaRPr>
            </a:p>
            <a:p>
              <a:pPr marL="228600" indent="-228600" fontAlgn="auto">
                <a:lnSpc>
                  <a:spcPct val="120000"/>
                </a:lnSpc>
                <a:spcBef>
                  <a:spcPts val="0"/>
                </a:spcBef>
                <a:spcAft>
                  <a:spcPts val="0"/>
                </a:spcAft>
                <a:buFont typeface="+mj-lt"/>
                <a:buAutoNum type="arabicPeriod"/>
                <a:defRPr/>
              </a:pPr>
              <a:r>
                <a:rPr lang="zh-CN" altLang="en-US" sz="1200" b="0" dirty="0">
                  <a:solidFill>
                    <a:srgbClr val="1F497D">
                      <a:lumMod val="50000"/>
                    </a:srgbClr>
                  </a:solidFill>
                  <a:latin typeface="+mn-lt"/>
                  <a:ea typeface="+mn-ea"/>
                  <a:cs typeface="+mn-ea"/>
                  <a:sym typeface="+mn-lt"/>
                </a:rPr>
                <a:t>综合经营公司主要领导（</a:t>
              </a:r>
              <a:r>
                <a:rPr lang="en-US" altLang="zh-CN" sz="1200" b="0" dirty="0">
                  <a:solidFill>
                    <a:srgbClr val="1F497D">
                      <a:lumMod val="50000"/>
                    </a:srgbClr>
                  </a:solidFill>
                  <a:latin typeface="+mn-lt"/>
                  <a:ea typeface="+mn-ea"/>
                  <a:cs typeface="+mn-ea"/>
                  <a:sym typeface="+mn-lt"/>
                </a:rPr>
                <a:t>2</a:t>
              </a:r>
              <a:r>
                <a:rPr lang="zh-CN" altLang="en-US" sz="1200" b="0" dirty="0">
                  <a:solidFill>
                    <a:srgbClr val="1F497D">
                      <a:lumMod val="50000"/>
                    </a:srgbClr>
                  </a:solidFill>
                  <a:latin typeface="+mn-lt"/>
                  <a:ea typeface="+mn-ea"/>
                  <a:cs typeface="+mn-ea"/>
                  <a:sym typeface="+mn-lt"/>
                </a:rPr>
                <a:t>公司）</a:t>
              </a:r>
              <a:endParaRPr lang="en-US" altLang="zh-CN" sz="1200" b="0" dirty="0">
                <a:solidFill>
                  <a:srgbClr val="1F497D">
                    <a:lumMod val="50000"/>
                  </a:srgbClr>
                </a:solidFill>
                <a:latin typeface="+mn-lt"/>
                <a:ea typeface="+mn-ea"/>
                <a:cs typeface="+mn-ea"/>
                <a:sym typeface="+mn-lt"/>
              </a:endParaRPr>
            </a:p>
            <a:p>
              <a:pPr marL="228600" indent="-228600" fontAlgn="auto">
                <a:lnSpc>
                  <a:spcPct val="120000"/>
                </a:lnSpc>
                <a:spcBef>
                  <a:spcPts val="0"/>
                </a:spcBef>
                <a:spcAft>
                  <a:spcPts val="0"/>
                </a:spcAft>
                <a:buFont typeface="+mj-lt"/>
                <a:buAutoNum type="arabicPeriod"/>
                <a:defRPr/>
              </a:pPr>
              <a:r>
                <a:rPr lang="zh-CN" altLang="en-US" sz="1200" b="0" dirty="0">
                  <a:solidFill>
                    <a:srgbClr val="1F497D">
                      <a:lumMod val="50000"/>
                    </a:srgbClr>
                  </a:solidFill>
                  <a:latin typeface="+mn-lt"/>
                  <a:ea typeface="+mn-ea"/>
                  <a:cs typeface="+mn-ea"/>
                  <a:sym typeface="+mn-lt"/>
                </a:rPr>
                <a:t>研修院（北研班子</a:t>
              </a:r>
              <a:r>
                <a:rPr lang="en-US" altLang="zh-CN" sz="1200" b="0" dirty="0">
                  <a:solidFill>
                    <a:srgbClr val="1F497D">
                      <a:lumMod val="50000"/>
                    </a:srgbClr>
                  </a:solidFill>
                  <a:latin typeface="+mn-lt"/>
                  <a:ea typeface="+mn-ea"/>
                  <a:cs typeface="+mn-ea"/>
                  <a:sym typeface="+mn-lt"/>
                </a:rPr>
                <a:t>&amp;</a:t>
              </a:r>
              <a:r>
                <a:rPr lang="zh-CN" altLang="en-US" sz="1200" b="0" dirty="0">
                  <a:solidFill>
                    <a:srgbClr val="1F497D">
                      <a:lumMod val="50000"/>
                    </a:srgbClr>
                  </a:solidFill>
                  <a:latin typeface="+mn-lt"/>
                  <a:ea typeface="+mn-ea"/>
                  <a:cs typeface="+mn-ea"/>
                  <a:sym typeface="+mn-lt"/>
                </a:rPr>
                <a:t>部门主管）</a:t>
              </a:r>
              <a:endParaRPr lang="zh-CN" altLang="en-US" sz="1200" b="0" dirty="0">
                <a:solidFill>
                  <a:srgbClr val="1F497D">
                    <a:lumMod val="50000"/>
                  </a:srgbClr>
                </a:solidFill>
                <a:latin typeface="+mn-lt"/>
                <a:ea typeface="+mn-ea"/>
                <a:cs typeface="+mn-ea"/>
                <a:sym typeface="+mn-lt"/>
              </a:endParaRPr>
            </a:p>
          </p:txBody>
        </p:sp>
        <p:sp>
          <p:nvSpPr>
            <p:cNvPr id="68" name="三角形 92"/>
            <p:cNvSpPr/>
            <p:nvPr/>
          </p:nvSpPr>
          <p:spPr>
            <a:xfrm>
              <a:off x="4409850" y="3848728"/>
              <a:ext cx="299792" cy="201493"/>
            </a:xfrm>
            <a:prstGeom prst="triangle">
              <a:avLst/>
            </a:prstGeom>
            <a:solidFill>
              <a:srgbClr val="FFFF00"/>
            </a:solidFill>
            <a:ln>
              <a:solidFill>
                <a:schemeClr val="accent1"/>
              </a:solidFill>
            </a:ln>
          </p:spPr>
          <p:txBody>
            <a:bodyPr wrap="square" rtlCol="0" anchor="ctr">
              <a:spAutoFit/>
            </a:bodyPr>
            <a:lstStyle/>
            <a:p>
              <a:pPr algn="ctr"/>
              <a:endParaRPr kumimoji="1" lang="zh-CN" altLang="en-US" dirty="0">
                <a:solidFill>
                  <a:schemeClr val="bg1"/>
                </a:solidFill>
                <a:latin typeface="+mn-lt"/>
                <a:ea typeface="+mn-ea"/>
                <a:cs typeface="+mn-ea"/>
                <a:sym typeface="+mn-lt"/>
              </a:endParaRPr>
            </a:p>
          </p:txBody>
        </p:sp>
        <p:sp>
          <p:nvSpPr>
            <p:cNvPr id="69" name="燕尾形 95"/>
            <p:cNvSpPr/>
            <p:nvPr/>
          </p:nvSpPr>
          <p:spPr>
            <a:xfrm>
              <a:off x="3753291" y="4535589"/>
              <a:ext cx="2894400" cy="413122"/>
            </a:xfrm>
            <a:prstGeom prst="chevron">
              <a:avLst>
                <a:gd name="adj" fmla="val 21255"/>
              </a:avLst>
            </a:prstGeom>
            <a:solidFill>
              <a:srgbClr val="5B9BD5">
                <a:lumMod val="40000"/>
                <a:lumOff val="60000"/>
              </a:srgbClr>
            </a:solidFill>
            <a:ln w="12700" cap="flat" cmpd="sng" algn="ctr">
              <a:solidFill>
                <a:srgbClr val="5B9BD5">
                  <a:shade val="50000"/>
                </a:srgbClr>
              </a:solidFill>
              <a:prstDash val="solid"/>
              <a:miter lim="800000"/>
            </a:ln>
            <a:effectLst/>
          </p:spPr>
          <p:txBody>
            <a:bodyPr rtlCol="0" anchor="ctr"/>
            <a:lstStyle/>
            <a:p>
              <a:pPr algn="ctr" defTabSz="914400" fontAlgn="auto">
                <a:spcBef>
                  <a:spcPts val="0"/>
                </a:spcBef>
                <a:spcAft>
                  <a:spcPts val="0"/>
                </a:spcAft>
              </a:pPr>
              <a:endParaRPr kumimoji="1" lang="zh-CN" altLang="en-US" sz="1800" b="0" kern="0">
                <a:solidFill>
                  <a:prstClr val="white"/>
                </a:solidFill>
                <a:latin typeface="+mn-lt"/>
                <a:ea typeface="+mn-ea"/>
                <a:cs typeface="+mn-ea"/>
                <a:sym typeface="+mn-lt"/>
              </a:endParaRPr>
            </a:p>
          </p:txBody>
        </p:sp>
        <p:sp>
          <p:nvSpPr>
            <p:cNvPr id="70" name="矩形 69"/>
            <p:cNvSpPr/>
            <p:nvPr/>
          </p:nvSpPr>
          <p:spPr>
            <a:xfrm>
              <a:off x="4718861" y="4571349"/>
              <a:ext cx="820322" cy="349815"/>
            </a:xfrm>
            <a:prstGeom prst="rect">
              <a:avLst/>
            </a:prstGeom>
          </p:spPr>
          <p:txBody>
            <a:bodyPr wrap="none" lIns="121890" tIns="60945" rIns="121890" bIns="60945">
              <a:spAutoFit/>
            </a:bodyPr>
            <a:lstStyle/>
            <a:p>
              <a:pPr algn="ctr" fontAlgn="auto">
                <a:spcBef>
                  <a:spcPts val="0"/>
                </a:spcBef>
                <a:spcAft>
                  <a:spcPts val="0"/>
                </a:spcAft>
              </a:pPr>
              <a:r>
                <a:rPr lang="zh-CN" altLang="en-US" sz="1600" dirty="0">
                  <a:solidFill>
                    <a:prstClr val="black"/>
                  </a:solidFill>
                  <a:latin typeface="+mn-lt"/>
                  <a:ea typeface="+mn-ea"/>
                  <a:cs typeface="+mn-ea"/>
                  <a:sym typeface="+mn-lt"/>
                </a:rPr>
                <a:t>数据分析</a:t>
              </a:r>
              <a:endParaRPr lang="zh-CN" altLang="en-US" sz="1600" dirty="0">
                <a:solidFill>
                  <a:prstClr val="black"/>
                </a:solidFill>
                <a:latin typeface="+mn-lt"/>
                <a:ea typeface="+mn-ea"/>
                <a:cs typeface="+mn-ea"/>
                <a:sym typeface="+mn-lt"/>
              </a:endParaRPr>
            </a:p>
          </p:txBody>
        </p:sp>
        <p:sp>
          <p:nvSpPr>
            <p:cNvPr id="71" name="矩形标注 97"/>
            <p:cNvSpPr/>
            <p:nvPr/>
          </p:nvSpPr>
          <p:spPr>
            <a:xfrm>
              <a:off x="4524922" y="5109932"/>
              <a:ext cx="2097777" cy="756030"/>
            </a:xfrm>
            <a:prstGeom prst="wedgeRectCallout">
              <a:avLst>
                <a:gd name="adj1" fmla="val -20148"/>
                <a:gd name="adj2" fmla="val -62732"/>
              </a:avLst>
            </a:prstGeom>
            <a:ln w="12700">
              <a:solidFill>
                <a:srgbClr val="366B7E"/>
              </a:solidFill>
              <a:prstDash val="dash"/>
            </a:ln>
          </p:spPr>
          <p:txBody>
            <a:bodyPr wrap="square">
              <a:spAutoFit/>
            </a:bodyPr>
            <a:lstStyle/>
            <a:p>
              <a:pPr marL="228600" indent="-228600" fontAlgn="auto">
                <a:lnSpc>
                  <a:spcPct val="120000"/>
                </a:lnSpc>
                <a:spcBef>
                  <a:spcPts val="0"/>
                </a:spcBef>
                <a:spcAft>
                  <a:spcPts val="0"/>
                </a:spcAft>
                <a:buFont typeface="+mj-lt"/>
                <a:buAutoNum type="arabicPeriod"/>
                <a:defRPr/>
              </a:pPr>
              <a:r>
                <a:rPr lang="zh-CN" altLang="en-US" sz="1200" b="0" dirty="0">
                  <a:solidFill>
                    <a:schemeClr val="tx1"/>
                  </a:solidFill>
                  <a:latin typeface="+mn-lt"/>
                  <a:ea typeface="+mn-ea"/>
                  <a:cs typeface="+mn-ea"/>
                  <a:sym typeface="+mn-lt"/>
                </a:rPr>
                <a:t>中银大学成熟度评估（对照外部数据）</a:t>
              </a:r>
              <a:endParaRPr lang="en-US" altLang="zh-CN" sz="1200" b="0" dirty="0">
                <a:solidFill>
                  <a:schemeClr val="tx1"/>
                </a:solidFill>
                <a:latin typeface="+mn-lt"/>
                <a:ea typeface="+mn-ea"/>
                <a:cs typeface="+mn-ea"/>
                <a:sym typeface="+mn-lt"/>
              </a:endParaRPr>
            </a:p>
            <a:p>
              <a:pPr marL="228600" indent="-228600" fontAlgn="auto">
                <a:lnSpc>
                  <a:spcPct val="120000"/>
                </a:lnSpc>
                <a:spcBef>
                  <a:spcPts val="0"/>
                </a:spcBef>
                <a:spcAft>
                  <a:spcPts val="0"/>
                </a:spcAft>
                <a:buFont typeface="+mj-lt"/>
                <a:buAutoNum type="arabicPeriod"/>
                <a:defRPr/>
              </a:pPr>
              <a:r>
                <a:rPr lang="zh-CN" altLang="en-US" sz="1200" b="0" dirty="0">
                  <a:solidFill>
                    <a:schemeClr val="tx1"/>
                  </a:solidFill>
                  <a:latin typeface="+mn-lt"/>
                  <a:ea typeface="+mn-ea"/>
                  <a:cs typeface="+mn-ea"/>
                  <a:sym typeface="+mn-lt"/>
                </a:rPr>
                <a:t>访谈词频统计</a:t>
              </a:r>
              <a:endParaRPr lang="zh-CN" altLang="en-US" sz="1200" b="0" dirty="0">
                <a:solidFill>
                  <a:schemeClr val="tx1"/>
                </a:solidFill>
                <a:latin typeface="+mn-lt"/>
                <a:ea typeface="+mn-ea"/>
                <a:cs typeface="+mn-ea"/>
                <a:sym typeface="+mn-lt"/>
              </a:endParaRPr>
            </a:p>
          </p:txBody>
        </p:sp>
        <p:sp>
          <p:nvSpPr>
            <p:cNvPr id="72" name="菱形 71"/>
            <p:cNvSpPr/>
            <p:nvPr/>
          </p:nvSpPr>
          <p:spPr>
            <a:xfrm>
              <a:off x="6604891" y="4349021"/>
              <a:ext cx="152400" cy="282168"/>
            </a:xfrm>
            <a:prstGeom prst="diamond">
              <a:avLst/>
            </a:prstGeom>
            <a:solidFill>
              <a:srgbClr val="5B9BD5">
                <a:lumMod val="40000"/>
                <a:lumOff val="60000"/>
              </a:srgbClr>
            </a:solidFill>
            <a:ln w="12700" cap="flat" cmpd="sng" algn="ctr">
              <a:solidFill>
                <a:srgbClr val="5B9BD5">
                  <a:shade val="50000"/>
                </a:srgbClr>
              </a:solidFill>
              <a:prstDash val="solid"/>
              <a:miter lim="800000"/>
            </a:ln>
            <a:effectLst/>
          </p:spPr>
          <p:txBody>
            <a:bodyPr rtlCol="0" anchor="ctr"/>
            <a:lstStyle/>
            <a:p>
              <a:pPr algn="ctr" defTabSz="914400" fontAlgn="auto">
                <a:spcBef>
                  <a:spcPts val="0"/>
                </a:spcBef>
                <a:spcAft>
                  <a:spcPts val="0"/>
                </a:spcAft>
              </a:pPr>
              <a:endParaRPr kumimoji="1" lang="zh-CN" altLang="en-US" sz="1800" b="0" kern="0">
                <a:solidFill>
                  <a:prstClr val="white"/>
                </a:solidFill>
                <a:latin typeface="+mn-lt"/>
                <a:ea typeface="+mn-ea"/>
                <a:cs typeface="+mn-ea"/>
                <a:sym typeface="+mn-lt"/>
              </a:endParaRPr>
            </a:p>
          </p:txBody>
        </p:sp>
        <p:sp>
          <p:nvSpPr>
            <p:cNvPr id="78" name="三角形 99"/>
            <p:cNvSpPr/>
            <p:nvPr/>
          </p:nvSpPr>
          <p:spPr>
            <a:xfrm flipV="1">
              <a:off x="4998271" y="4956298"/>
              <a:ext cx="332444" cy="178979"/>
            </a:xfrm>
            <a:prstGeom prst="triangle">
              <a:avLst/>
            </a:prstGeom>
            <a:solidFill>
              <a:srgbClr val="FFFF00"/>
            </a:solidFill>
            <a:ln>
              <a:solidFill>
                <a:schemeClr val="accent1"/>
              </a:solidFill>
            </a:ln>
          </p:spPr>
          <p:txBody>
            <a:bodyPr wrap="square" rtlCol="0" anchor="ctr">
              <a:spAutoFit/>
            </a:bodyPr>
            <a:lstStyle/>
            <a:p>
              <a:pPr algn="ctr"/>
              <a:endParaRPr kumimoji="1" lang="zh-CN" altLang="en-US" dirty="0">
                <a:solidFill>
                  <a:schemeClr val="bg1"/>
                </a:solidFill>
                <a:latin typeface="+mn-lt"/>
                <a:ea typeface="+mn-ea"/>
                <a:cs typeface="+mn-ea"/>
                <a:sym typeface="+mn-lt"/>
              </a:endParaRPr>
            </a:p>
          </p:txBody>
        </p:sp>
        <p:sp>
          <p:nvSpPr>
            <p:cNvPr id="79" name="矩形标注 100"/>
            <p:cNvSpPr/>
            <p:nvPr/>
          </p:nvSpPr>
          <p:spPr>
            <a:xfrm>
              <a:off x="6622699" y="2617870"/>
              <a:ext cx="2941293" cy="1002262"/>
            </a:xfrm>
            <a:prstGeom prst="wedgeRectCallout">
              <a:avLst>
                <a:gd name="adj1" fmla="val -23579"/>
                <a:gd name="adj2" fmla="val 61249"/>
              </a:avLst>
            </a:prstGeom>
            <a:ln w="12700">
              <a:solidFill>
                <a:srgbClr val="366B7E"/>
              </a:solidFill>
              <a:prstDash val="dash"/>
            </a:ln>
          </p:spPr>
          <p:txBody>
            <a:bodyPr wrap="square">
              <a:spAutoFit/>
            </a:bodyPr>
            <a:lstStyle/>
            <a:p>
              <a:pPr marL="228600" indent="-228600" fontAlgn="auto">
                <a:lnSpc>
                  <a:spcPct val="120000"/>
                </a:lnSpc>
                <a:spcBef>
                  <a:spcPts val="0"/>
                </a:spcBef>
                <a:spcAft>
                  <a:spcPts val="0"/>
                </a:spcAft>
                <a:buFont typeface="+mj-lt"/>
                <a:buAutoNum type="arabicPeriod"/>
                <a:defRPr/>
              </a:pPr>
              <a:r>
                <a:rPr lang="zh-CN" altLang="en-US" sz="1200" b="0" dirty="0">
                  <a:solidFill>
                    <a:schemeClr val="bg2">
                      <a:lumMod val="10000"/>
                    </a:schemeClr>
                  </a:solidFill>
                  <a:latin typeface="+mn-ea"/>
                  <a:ea typeface="+mn-ea"/>
                  <a:cs typeface="+mn-ea"/>
                  <a:sym typeface="+mn-lt"/>
                </a:rPr>
                <a:t>机会威胁优劣势分析（</a:t>
              </a:r>
              <a:r>
                <a:rPr lang="en-US" altLang="zh-CN" sz="1200" b="0" dirty="0">
                  <a:solidFill>
                    <a:schemeClr val="bg2">
                      <a:lumMod val="10000"/>
                    </a:schemeClr>
                  </a:solidFill>
                  <a:latin typeface="+mn-ea"/>
                  <a:ea typeface="+mn-ea"/>
                  <a:cs typeface="+mn-ea"/>
                  <a:sym typeface="+mn-lt"/>
                </a:rPr>
                <a:t>SWOT</a:t>
              </a:r>
              <a:r>
                <a:rPr lang="zh-CN" altLang="en-US" sz="1200" b="0" dirty="0">
                  <a:solidFill>
                    <a:schemeClr val="bg2">
                      <a:lumMod val="10000"/>
                    </a:schemeClr>
                  </a:solidFill>
                  <a:latin typeface="+mn-ea"/>
                  <a:ea typeface="+mn-ea"/>
                  <a:cs typeface="+mn-ea"/>
                  <a:sym typeface="+mn-lt"/>
                </a:rPr>
                <a:t>分析）</a:t>
              </a:r>
              <a:endParaRPr lang="en-US" altLang="zh-CN" sz="1200" b="0" dirty="0">
                <a:solidFill>
                  <a:schemeClr val="bg2">
                    <a:lumMod val="10000"/>
                  </a:schemeClr>
                </a:solidFill>
                <a:latin typeface="+mn-ea"/>
                <a:ea typeface="+mn-ea"/>
                <a:cs typeface="+mn-ea"/>
                <a:sym typeface="+mn-lt"/>
              </a:endParaRPr>
            </a:p>
            <a:p>
              <a:pPr marL="228600" indent="-228600" fontAlgn="auto">
                <a:lnSpc>
                  <a:spcPct val="120000"/>
                </a:lnSpc>
                <a:spcBef>
                  <a:spcPts val="0"/>
                </a:spcBef>
                <a:spcAft>
                  <a:spcPts val="0"/>
                </a:spcAft>
                <a:buFont typeface="+mj-lt"/>
                <a:buAutoNum type="arabicPeriod"/>
                <a:defRPr/>
              </a:pPr>
              <a:r>
                <a:rPr lang="zh-CN" altLang="en-US" sz="1200" b="0" dirty="0">
                  <a:solidFill>
                    <a:schemeClr val="bg2">
                      <a:lumMod val="10000"/>
                    </a:schemeClr>
                  </a:solidFill>
                  <a:latin typeface="+mn-ea"/>
                  <a:ea typeface="+mn-ea"/>
                  <a:cs typeface="+mn-ea"/>
                  <a:sym typeface="+mn-lt"/>
                </a:rPr>
                <a:t>上海交大企业大学评价指标体系</a:t>
              </a:r>
              <a:endParaRPr lang="en-US" altLang="zh-CN" sz="1200" b="0" dirty="0">
                <a:solidFill>
                  <a:schemeClr val="bg2">
                    <a:lumMod val="10000"/>
                  </a:schemeClr>
                </a:solidFill>
                <a:latin typeface="+mn-ea"/>
                <a:ea typeface="+mn-ea"/>
                <a:cs typeface="+mn-ea"/>
                <a:sym typeface="+mn-lt"/>
              </a:endParaRPr>
            </a:p>
            <a:p>
              <a:pPr marL="228600" indent="-228600" fontAlgn="auto">
                <a:lnSpc>
                  <a:spcPct val="120000"/>
                </a:lnSpc>
                <a:spcBef>
                  <a:spcPts val="0"/>
                </a:spcBef>
                <a:spcAft>
                  <a:spcPts val="0"/>
                </a:spcAft>
                <a:buFont typeface="+mj-lt"/>
                <a:buAutoNum type="arabicPeriod"/>
                <a:defRPr/>
              </a:pPr>
              <a:r>
                <a:rPr kumimoji="1" lang="zh-CN" altLang="en-US" sz="1200" b="0" dirty="0">
                  <a:solidFill>
                    <a:schemeClr val="bg2">
                      <a:lumMod val="10000"/>
                    </a:schemeClr>
                  </a:solidFill>
                  <a:latin typeface="+mn-ea"/>
                  <a:ea typeface="+mn-ea"/>
                  <a:cs typeface="+mn-ea"/>
                  <a:sym typeface="+mn-lt"/>
                </a:rPr>
                <a:t>麦肯锡组织能力九因素模型</a:t>
              </a:r>
              <a:endParaRPr kumimoji="1" lang="en-US" altLang="zh-CN" sz="1200" b="0" dirty="0">
                <a:solidFill>
                  <a:schemeClr val="bg2">
                    <a:lumMod val="10000"/>
                  </a:schemeClr>
                </a:solidFill>
                <a:latin typeface="+mn-ea"/>
                <a:ea typeface="+mn-ea"/>
                <a:cs typeface="+mn-ea"/>
                <a:sym typeface="+mn-lt"/>
              </a:endParaRPr>
            </a:p>
            <a:p>
              <a:pPr marL="228600" indent="-228600" fontAlgn="auto">
                <a:lnSpc>
                  <a:spcPct val="120000"/>
                </a:lnSpc>
                <a:spcBef>
                  <a:spcPts val="0"/>
                </a:spcBef>
                <a:spcAft>
                  <a:spcPts val="0"/>
                </a:spcAft>
                <a:buFont typeface="+mj-lt"/>
                <a:buAutoNum type="arabicPeriod"/>
                <a:defRPr/>
              </a:pPr>
              <a:r>
                <a:rPr kumimoji="1" lang="zh-CN" altLang="en-US" sz="1200" b="0" dirty="0">
                  <a:solidFill>
                    <a:schemeClr val="bg2">
                      <a:lumMod val="10000"/>
                    </a:schemeClr>
                  </a:solidFill>
                  <a:latin typeface="+mn-ea"/>
                  <a:ea typeface="+mn-ea"/>
                </a:rPr>
                <a:t>波士顿矩阵</a:t>
              </a:r>
              <a:endParaRPr kumimoji="1" lang="zh-CN" altLang="en-US" sz="1200" b="0" dirty="0">
                <a:solidFill>
                  <a:schemeClr val="bg2">
                    <a:lumMod val="10000"/>
                  </a:schemeClr>
                </a:solidFill>
                <a:latin typeface="+mn-ea"/>
                <a:ea typeface="+mn-ea"/>
              </a:endParaRPr>
            </a:p>
          </p:txBody>
        </p:sp>
        <p:cxnSp>
          <p:nvCxnSpPr>
            <p:cNvPr id="83" name="直线连接符 5"/>
            <p:cNvCxnSpPr/>
            <p:nvPr/>
          </p:nvCxnSpPr>
          <p:spPr bwMode="auto">
            <a:xfrm>
              <a:off x="7132893" y="4490105"/>
              <a:ext cx="1947017" cy="0"/>
            </a:xfrm>
            <a:prstGeom prst="line">
              <a:avLst/>
            </a:prstGeom>
            <a:solidFill>
              <a:schemeClr val="bg1"/>
            </a:solidFill>
            <a:ln w="9525" cap="flat" cmpd="sng" algn="ctr">
              <a:solidFill>
                <a:schemeClr val="bg1"/>
              </a:solidFill>
              <a:prstDash val="solid"/>
              <a:round/>
              <a:headEnd type="none" w="med" len="med"/>
              <a:tailEnd type="none" w="med" len="med"/>
            </a:ln>
          </p:spPr>
        </p:cxnSp>
        <p:sp>
          <p:nvSpPr>
            <p:cNvPr id="84" name="三角形 102"/>
            <p:cNvSpPr/>
            <p:nvPr/>
          </p:nvSpPr>
          <p:spPr>
            <a:xfrm flipV="1">
              <a:off x="7888802" y="4499503"/>
              <a:ext cx="432610" cy="131679"/>
            </a:xfrm>
            <a:prstGeom prst="triangle">
              <a:avLst/>
            </a:prstGeom>
            <a:solidFill>
              <a:srgbClr val="B4A697"/>
            </a:solidFill>
            <a:ln>
              <a:solidFill>
                <a:schemeClr val="accent1"/>
              </a:solidFill>
            </a:ln>
          </p:spPr>
          <p:txBody>
            <a:bodyPr wrap="square" rtlCol="0" anchor="ctr">
              <a:spAutoFit/>
            </a:bodyPr>
            <a:lstStyle/>
            <a:p>
              <a:pPr algn="ctr"/>
              <a:endParaRPr kumimoji="1" lang="zh-CN" altLang="en-US" dirty="0">
                <a:solidFill>
                  <a:schemeClr val="bg1"/>
                </a:solidFill>
                <a:latin typeface="+mn-lt"/>
                <a:ea typeface="+mn-ea"/>
                <a:cs typeface="+mn-ea"/>
                <a:sym typeface="+mn-lt"/>
              </a:endParaRPr>
            </a:p>
          </p:txBody>
        </p:sp>
        <p:sp>
          <p:nvSpPr>
            <p:cNvPr id="85" name="矩形标注 103"/>
            <p:cNvSpPr/>
            <p:nvPr/>
          </p:nvSpPr>
          <p:spPr>
            <a:xfrm>
              <a:off x="6664396" y="5109932"/>
              <a:ext cx="3202230" cy="1456117"/>
            </a:xfrm>
            <a:prstGeom prst="wedgeRectCallout">
              <a:avLst>
                <a:gd name="adj1" fmla="val -19656"/>
                <a:gd name="adj2" fmla="val -61717"/>
              </a:avLst>
            </a:prstGeom>
            <a:ln w="12700">
              <a:solidFill>
                <a:srgbClr val="366B7E"/>
              </a:solidFill>
              <a:prstDash val="dash"/>
            </a:ln>
          </p:spPr>
          <p:txBody>
            <a:bodyPr wrap="square">
              <a:spAutoFit/>
            </a:bodyPr>
            <a:lstStyle/>
            <a:p>
              <a:pPr marL="228600" indent="-228600" fontAlgn="auto">
                <a:lnSpc>
                  <a:spcPct val="120000"/>
                </a:lnSpc>
                <a:spcBef>
                  <a:spcPts val="0"/>
                </a:spcBef>
                <a:spcAft>
                  <a:spcPts val="0"/>
                </a:spcAft>
                <a:buFont typeface="+mj-lt"/>
                <a:buAutoNum type="arabicPeriod"/>
                <a:defRPr/>
              </a:pPr>
              <a:r>
                <a:rPr lang="zh-CN" altLang="en-US" sz="1200" b="0" dirty="0">
                  <a:solidFill>
                    <a:srgbClr val="1F497D">
                      <a:lumMod val="50000"/>
                    </a:srgbClr>
                  </a:solidFill>
                  <a:latin typeface="+mn-lt"/>
                  <a:ea typeface="+mn-ea"/>
                  <a:cs typeface="+mn-ea"/>
                  <a:sym typeface="+mn-lt"/>
                </a:rPr>
                <a:t>“十四五”规划编制小组行动学习（</a:t>
              </a:r>
              <a:r>
                <a:rPr lang="en-US" altLang="zh-CN" sz="1200" b="0" dirty="0">
                  <a:solidFill>
                    <a:srgbClr val="1F497D">
                      <a:lumMod val="50000"/>
                    </a:srgbClr>
                  </a:solidFill>
                  <a:latin typeface="+mn-lt"/>
                  <a:ea typeface="+mn-ea"/>
                  <a:cs typeface="+mn-ea"/>
                  <a:sym typeface="+mn-lt"/>
                </a:rPr>
                <a:t>2</a:t>
              </a:r>
              <a:r>
                <a:rPr lang="zh-CN" altLang="en-US" sz="1200" b="0" dirty="0">
                  <a:solidFill>
                    <a:srgbClr val="1F497D">
                      <a:lumMod val="50000"/>
                    </a:srgbClr>
                  </a:solidFill>
                  <a:latin typeface="+mn-lt"/>
                  <a:ea typeface="+mn-ea"/>
                  <a:cs typeface="+mn-ea"/>
                  <a:sym typeface="+mn-lt"/>
                </a:rPr>
                <a:t>周）</a:t>
              </a:r>
              <a:endParaRPr lang="en-US" altLang="zh-CN" sz="1200" b="0" dirty="0">
                <a:solidFill>
                  <a:srgbClr val="1F497D">
                    <a:lumMod val="50000"/>
                  </a:srgbClr>
                </a:solidFill>
                <a:latin typeface="+mn-lt"/>
                <a:ea typeface="+mn-ea"/>
                <a:cs typeface="+mn-ea"/>
                <a:sym typeface="+mn-lt"/>
              </a:endParaRPr>
            </a:p>
            <a:p>
              <a:pPr marL="228600" indent="-228600" fontAlgn="auto">
                <a:lnSpc>
                  <a:spcPct val="120000"/>
                </a:lnSpc>
                <a:spcBef>
                  <a:spcPts val="0"/>
                </a:spcBef>
                <a:spcAft>
                  <a:spcPts val="0"/>
                </a:spcAft>
                <a:buFont typeface="+mj-lt"/>
                <a:buAutoNum type="arabicPeriod"/>
                <a:defRPr/>
              </a:pPr>
              <a:r>
                <a:rPr lang="zh-CN" altLang="en-US" sz="1200" b="0" dirty="0">
                  <a:solidFill>
                    <a:srgbClr val="1F497D">
                      <a:lumMod val="50000"/>
                    </a:srgbClr>
                  </a:solidFill>
                  <a:latin typeface="+mn-lt"/>
                  <a:ea typeface="+mn-ea"/>
                  <a:cs typeface="+mn-ea"/>
                  <a:sym typeface="+mn-lt"/>
                </a:rPr>
                <a:t>“十四五”规划大纲（二级目录）</a:t>
              </a:r>
              <a:endParaRPr lang="en-US" altLang="zh-CN" sz="1200" b="0" dirty="0">
                <a:solidFill>
                  <a:srgbClr val="1F497D">
                    <a:lumMod val="50000"/>
                  </a:srgbClr>
                </a:solidFill>
                <a:latin typeface="+mn-lt"/>
                <a:ea typeface="+mn-ea"/>
                <a:cs typeface="+mn-ea"/>
                <a:sym typeface="+mn-lt"/>
              </a:endParaRPr>
            </a:p>
            <a:p>
              <a:pPr marL="228600" indent="-228600" fontAlgn="auto">
                <a:lnSpc>
                  <a:spcPct val="120000"/>
                </a:lnSpc>
                <a:spcBef>
                  <a:spcPts val="0"/>
                </a:spcBef>
                <a:spcAft>
                  <a:spcPts val="0"/>
                </a:spcAft>
                <a:buFont typeface="+mj-lt"/>
                <a:buAutoNum type="arabicPeriod"/>
                <a:defRPr/>
              </a:pPr>
              <a:r>
                <a:rPr lang="zh-CN" altLang="en-US" sz="1200" b="0" dirty="0">
                  <a:solidFill>
                    <a:srgbClr val="1F497D">
                      <a:lumMod val="50000"/>
                    </a:srgbClr>
                  </a:solidFill>
                  <a:latin typeface="+mn-lt"/>
                  <a:ea typeface="+mn-ea"/>
                  <a:cs typeface="+mn-ea"/>
                  <a:sym typeface="+mn-lt"/>
                </a:rPr>
                <a:t>中银内部审核、反馈</a:t>
              </a:r>
              <a:endParaRPr lang="en-US" altLang="zh-CN" sz="1200" b="0" dirty="0">
                <a:solidFill>
                  <a:srgbClr val="1F497D">
                    <a:lumMod val="50000"/>
                  </a:srgbClr>
                </a:solidFill>
                <a:latin typeface="+mn-lt"/>
                <a:ea typeface="+mn-ea"/>
                <a:cs typeface="+mn-ea"/>
                <a:sym typeface="+mn-lt"/>
              </a:endParaRPr>
            </a:p>
            <a:p>
              <a:pPr marL="228600" indent="-228600" fontAlgn="auto">
                <a:lnSpc>
                  <a:spcPct val="120000"/>
                </a:lnSpc>
                <a:spcBef>
                  <a:spcPts val="0"/>
                </a:spcBef>
                <a:spcAft>
                  <a:spcPts val="0"/>
                </a:spcAft>
                <a:buFont typeface="+mj-lt"/>
                <a:buAutoNum type="arabicPeriod"/>
                <a:defRPr/>
              </a:pPr>
              <a:r>
                <a:rPr lang="zh-CN" altLang="en-US" sz="1200" b="0" dirty="0">
                  <a:solidFill>
                    <a:srgbClr val="1F497D">
                      <a:lumMod val="50000"/>
                    </a:srgbClr>
                  </a:solidFill>
                  <a:latin typeface="+mn-lt"/>
                  <a:ea typeface="+mn-ea"/>
                  <a:cs typeface="+mn-ea"/>
                  <a:sym typeface="+mn-lt"/>
                </a:rPr>
                <a:t>“十四五”规划报告</a:t>
              </a:r>
              <a:endParaRPr lang="en-US" altLang="zh-CN" sz="1200" b="0" dirty="0">
                <a:solidFill>
                  <a:srgbClr val="1F497D">
                    <a:lumMod val="50000"/>
                  </a:srgbClr>
                </a:solidFill>
                <a:latin typeface="+mn-lt"/>
                <a:ea typeface="+mn-ea"/>
                <a:cs typeface="+mn-ea"/>
                <a:sym typeface="+mn-lt"/>
              </a:endParaRPr>
            </a:p>
            <a:p>
              <a:pPr marL="228600" indent="-228600" fontAlgn="auto">
                <a:lnSpc>
                  <a:spcPct val="120000"/>
                </a:lnSpc>
                <a:spcBef>
                  <a:spcPts val="0"/>
                </a:spcBef>
                <a:spcAft>
                  <a:spcPts val="0"/>
                </a:spcAft>
                <a:buFont typeface="+mj-lt"/>
                <a:buAutoNum type="arabicPeriod"/>
                <a:defRPr/>
              </a:pPr>
              <a:r>
                <a:rPr lang="zh-CN" altLang="en-US" sz="1200" b="0" dirty="0">
                  <a:solidFill>
                    <a:srgbClr val="1F497D">
                      <a:lumMod val="50000"/>
                    </a:srgbClr>
                  </a:solidFill>
                  <a:latin typeface="+mn-lt"/>
                  <a:ea typeface="+mn-ea"/>
                  <a:cs typeface="+mn-ea"/>
                  <a:sym typeface="+mn-lt"/>
                </a:rPr>
                <a:t>中银内部审核反馈，高层汇报</a:t>
              </a:r>
              <a:endParaRPr lang="en-US" altLang="zh-CN" sz="1200" b="0" dirty="0">
                <a:solidFill>
                  <a:srgbClr val="1F497D">
                    <a:lumMod val="50000"/>
                  </a:srgbClr>
                </a:solidFill>
                <a:latin typeface="+mn-lt"/>
                <a:ea typeface="+mn-ea"/>
                <a:cs typeface="+mn-ea"/>
                <a:sym typeface="+mn-lt"/>
              </a:endParaRPr>
            </a:p>
            <a:p>
              <a:pPr marL="228600" indent="-228600" fontAlgn="auto">
                <a:lnSpc>
                  <a:spcPct val="120000"/>
                </a:lnSpc>
                <a:spcBef>
                  <a:spcPts val="0"/>
                </a:spcBef>
                <a:spcAft>
                  <a:spcPts val="0"/>
                </a:spcAft>
                <a:buFont typeface="+mj-lt"/>
                <a:buAutoNum type="arabicPeriod"/>
                <a:defRPr/>
              </a:pPr>
              <a:r>
                <a:rPr lang="zh-CN" altLang="en-US" sz="1200" b="0" dirty="0">
                  <a:solidFill>
                    <a:srgbClr val="1F497D">
                      <a:lumMod val="50000"/>
                    </a:srgbClr>
                  </a:solidFill>
                  <a:latin typeface="+mn-lt"/>
                  <a:ea typeface="+mn-ea"/>
                  <a:cs typeface="+mn-ea"/>
                  <a:sym typeface="+mn-lt"/>
                </a:rPr>
                <a:t>“十四五”规划修订版（含调研分析报告）</a:t>
              </a:r>
              <a:endParaRPr lang="zh-CN" altLang="en-US" sz="1200" b="0" dirty="0">
                <a:solidFill>
                  <a:srgbClr val="1F497D">
                    <a:lumMod val="50000"/>
                  </a:srgbClr>
                </a:solidFill>
                <a:latin typeface="+mn-lt"/>
                <a:ea typeface="+mn-ea"/>
                <a:cs typeface="+mn-ea"/>
                <a:sym typeface="+mn-lt"/>
              </a:endParaRPr>
            </a:p>
          </p:txBody>
        </p:sp>
        <p:sp>
          <p:nvSpPr>
            <p:cNvPr id="90" name="矩形 89"/>
            <p:cNvSpPr/>
            <p:nvPr/>
          </p:nvSpPr>
          <p:spPr>
            <a:xfrm>
              <a:off x="7307535" y="4564083"/>
              <a:ext cx="1433986" cy="349815"/>
            </a:xfrm>
            <a:prstGeom prst="rect">
              <a:avLst/>
            </a:prstGeom>
          </p:spPr>
          <p:txBody>
            <a:bodyPr wrap="none" lIns="121890" tIns="60945" rIns="121890" bIns="60945">
              <a:spAutoFit/>
            </a:bodyPr>
            <a:lstStyle/>
            <a:p>
              <a:pPr algn="ctr" fontAlgn="auto">
                <a:spcBef>
                  <a:spcPts val="0"/>
                </a:spcBef>
                <a:spcAft>
                  <a:spcPts val="0"/>
                </a:spcAft>
              </a:pPr>
              <a:r>
                <a:rPr lang="zh-CN" altLang="en-US" sz="1600" dirty="0">
                  <a:solidFill>
                    <a:prstClr val="black"/>
                  </a:solidFill>
                  <a:latin typeface="+mn-lt"/>
                  <a:ea typeface="+mn-ea"/>
                  <a:cs typeface="+mn-ea"/>
                  <a:sym typeface="+mn-lt"/>
                </a:rPr>
                <a:t>沟通、研讨、确认</a:t>
              </a:r>
              <a:endParaRPr lang="zh-CN" altLang="en-US" sz="1600" dirty="0">
                <a:solidFill>
                  <a:prstClr val="black"/>
                </a:solidFill>
                <a:latin typeface="+mn-lt"/>
                <a:ea typeface="+mn-ea"/>
                <a:cs typeface="+mn-ea"/>
                <a:sym typeface="+mn-lt"/>
              </a:endParaRPr>
            </a:p>
          </p:txBody>
        </p:sp>
        <p:cxnSp>
          <p:nvCxnSpPr>
            <p:cNvPr id="94" name="直线连接符 106"/>
            <p:cNvCxnSpPr/>
            <p:nvPr/>
          </p:nvCxnSpPr>
          <p:spPr>
            <a:xfrm>
              <a:off x="3829251" y="2189155"/>
              <a:ext cx="2835145" cy="424762"/>
            </a:xfrm>
            <a:prstGeom prst="line">
              <a:avLst/>
            </a:prstGeom>
            <a:ln w="12700">
              <a:prstDash val="dash"/>
            </a:ln>
          </p:spPr>
          <p:style>
            <a:lnRef idx="2">
              <a:schemeClr val="accent5"/>
            </a:lnRef>
            <a:fillRef idx="0">
              <a:schemeClr val="accent5"/>
            </a:fillRef>
            <a:effectRef idx="1">
              <a:schemeClr val="accent5"/>
            </a:effectRef>
            <a:fontRef idx="minor">
              <a:schemeClr val="tx1"/>
            </a:fontRef>
          </p:style>
        </p:cxnSp>
        <p:cxnSp>
          <p:nvCxnSpPr>
            <p:cNvPr id="95" name="直线连接符 107"/>
            <p:cNvCxnSpPr/>
            <p:nvPr/>
          </p:nvCxnSpPr>
          <p:spPr>
            <a:xfrm>
              <a:off x="6360351" y="2151271"/>
              <a:ext cx="3130038" cy="462646"/>
            </a:xfrm>
            <a:prstGeom prst="line">
              <a:avLst/>
            </a:prstGeom>
            <a:ln w="12700">
              <a:prstDash val="dash"/>
            </a:ln>
          </p:spPr>
          <p:style>
            <a:lnRef idx="2">
              <a:schemeClr val="accent5"/>
            </a:lnRef>
            <a:fillRef idx="0">
              <a:schemeClr val="accent5"/>
            </a:fillRef>
            <a:effectRef idx="1">
              <a:schemeClr val="accent5"/>
            </a:effectRef>
            <a:fontRef idx="minor">
              <a:schemeClr val="tx1"/>
            </a:fontRef>
          </p:style>
        </p:cxnSp>
        <p:cxnSp>
          <p:nvCxnSpPr>
            <p:cNvPr id="111" name="肘形连接符 14"/>
            <p:cNvCxnSpPr>
              <a:stCxn id="50" idx="3"/>
              <a:endCxn id="85" idx="3"/>
            </p:cNvCxnSpPr>
            <p:nvPr/>
          </p:nvCxnSpPr>
          <p:spPr bwMode="auto">
            <a:xfrm>
              <a:off x="9404929" y="1898739"/>
              <a:ext cx="461697" cy="3939252"/>
            </a:xfrm>
            <a:prstGeom prst="bentConnector3">
              <a:avLst>
                <a:gd name="adj1" fmla="val 141567"/>
              </a:avLst>
            </a:prstGeom>
            <a:ln w="12700">
              <a:prstDash val="dash"/>
              <a:headEnd type="none" w="med" len="med"/>
              <a:tailEnd type="none" w="med" len="med"/>
            </a:ln>
          </p:spPr>
          <p:style>
            <a:lnRef idx="2">
              <a:schemeClr val="accent5"/>
            </a:lnRef>
            <a:fillRef idx="0">
              <a:schemeClr val="accent5"/>
            </a:fillRef>
            <a:effectRef idx="1">
              <a:schemeClr val="accent5"/>
            </a:effectRef>
            <a:fontRef idx="minor">
              <a:schemeClr val="tx1"/>
            </a:fontRef>
          </p:style>
        </p:cxnSp>
        <p:sp>
          <p:nvSpPr>
            <p:cNvPr id="112" name="三角形 108"/>
            <p:cNvSpPr/>
            <p:nvPr/>
          </p:nvSpPr>
          <p:spPr>
            <a:xfrm rot="16200000" flipV="1">
              <a:off x="3446870" y="1728508"/>
              <a:ext cx="362278" cy="315531"/>
            </a:xfrm>
            <a:prstGeom prst="triangle">
              <a:avLst/>
            </a:prstGeom>
            <a:solidFill>
              <a:srgbClr val="B4A697"/>
            </a:solidFill>
            <a:ln>
              <a:solidFill>
                <a:schemeClr val="accent1"/>
              </a:solidFill>
            </a:ln>
          </p:spPr>
          <p:txBody>
            <a:bodyPr wrap="square" rtlCol="0" anchor="ctr">
              <a:spAutoFit/>
            </a:bodyPr>
            <a:lstStyle/>
            <a:p>
              <a:pPr algn="ctr"/>
              <a:endParaRPr kumimoji="1" lang="zh-CN" altLang="en-US" dirty="0">
                <a:solidFill>
                  <a:schemeClr val="bg1"/>
                </a:solidFill>
                <a:latin typeface="+mn-lt"/>
                <a:ea typeface="+mn-ea"/>
                <a:cs typeface="+mn-ea"/>
                <a:sym typeface="+mn-lt"/>
              </a:endParaRPr>
            </a:p>
          </p:txBody>
        </p:sp>
      </p:grpSp>
      <p:sp>
        <p:nvSpPr>
          <p:cNvPr id="114" name="三角形 99"/>
          <p:cNvSpPr/>
          <p:nvPr/>
        </p:nvSpPr>
        <p:spPr>
          <a:xfrm flipV="1">
            <a:off x="8620470" y="4824992"/>
            <a:ext cx="395992" cy="174777"/>
          </a:xfrm>
          <a:prstGeom prst="triangle">
            <a:avLst/>
          </a:prstGeom>
          <a:solidFill>
            <a:srgbClr val="FFFF00"/>
          </a:solidFill>
          <a:ln>
            <a:solidFill>
              <a:schemeClr val="accent1"/>
            </a:solidFill>
          </a:ln>
        </p:spPr>
        <p:txBody>
          <a:bodyPr wrap="square" rtlCol="0" anchor="ctr">
            <a:spAutoFit/>
          </a:bodyPr>
          <a:lstStyle/>
          <a:p>
            <a:pPr algn="ctr"/>
            <a:endParaRPr kumimoji="1" lang="zh-CN" altLang="en-US" dirty="0">
              <a:solidFill>
                <a:schemeClr val="bg1"/>
              </a:solidFill>
              <a:latin typeface="+mn-lt"/>
              <a:ea typeface="+mn-ea"/>
              <a:cs typeface="+mn-ea"/>
              <a:sym typeface="+mn-lt"/>
            </a:endParaRPr>
          </a:p>
        </p:txBody>
      </p:sp>
      <p:sp>
        <p:nvSpPr>
          <p:cNvPr id="115" name="三角形 92"/>
          <p:cNvSpPr/>
          <p:nvPr/>
        </p:nvSpPr>
        <p:spPr>
          <a:xfrm>
            <a:off x="1616778" y="3737302"/>
            <a:ext cx="357099" cy="196762"/>
          </a:xfrm>
          <a:prstGeom prst="triangle">
            <a:avLst/>
          </a:prstGeom>
          <a:solidFill>
            <a:srgbClr val="FFFF00"/>
          </a:solidFill>
          <a:ln>
            <a:solidFill>
              <a:schemeClr val="accent1"/>
            </a:solidFill>
          </a:ln>
        </p:spPr>
        <p:txBody>
          <a:bodyPr wrap="square" rtlCol="0" anchor="ctr">
            <a:spAutoFit/>
          </a:bodyPr>
          <a:lstStyle/>
          <a:p>
            <a:pPr algn="ctr"/>
            <a:endParaRPr kumimoji="1" lang="zh-CN" altLang="en-US" dirty="0">
              <a:solidFill>
                <a:schemeClr val="bg1"/>
              </a:solidFill>
              <a:latin typeface="+mn-lt"/>
              <a:ea typeface="+mn-ea"/>
              <a:cs typeface="+mn-ea"/>
              <a:sym typeface="+mn-lt"/>
            </a:endParaRPr>
          </a:p>
        </p:txBody>
      </p:sp>
      <p:sp>
        <p:nvSpPr>
          <p:cNvPr id="116" name="三角形 92"/>
          <p:cNvSpPr/>
          <p:nvPr/>
        </p:nvSpPr>
        <p:spPr>
          <a:xfrm>
            <a:off x="9208170" y="3751176"/>
            <a:ext cx="357099" cy="196762"/>
          </a:xfrm>
          <a:prstGeom prst="triangle">
            <a:avLst/>
          </a:prstGeom>
          <a:solidFill>
            <a:srgbClr val="FFFF00"/>
          </a:solidFill>
          <a:ln>
            <a:solidFill>
              <a:schemeClr val="accent1"/>
            </a:solidFill>
          </a:ln>
        </p:spPr>
        <p:txBody>
          <a:bodyPr wrap="square" rtlCol="0" anchor="ctr">
            <a:spAutoFit/>
          </a:bodyPr>
          <a:lstStyle/>
          <a:p>
            <a:pPr algn="ctr"/>
            <a:endParaRPr kumimoji="1" lang="zh-CN" altLang="en-US" dirty="0">
              <a:solidFill>
                <a:schemeClr val="bg1"/>
              </a:solidFill>
              <a:latin typeface="+mn-lt"/>
              <a:ea typeface="+mn-ea"/>
              <a:cs typeface="+mn-ea"/>
              <a:sym typeface="+mn-lt"/>
            </a:endParaRPr>
          </a:p>
        </p:txBody>
      </p:sp>
      <p:sp>
        <p:nvSpPr>
          <p:cNvPr id="42" name="三角形 108"/>
          <p:cNvSpPr/>
          <p:nvPr/>
        </p:nvSpPr>
        <p:spPr>
          <a:xfrm rot="16200000" flipV="1">
            <a:off x="7419840" y="1642456"/>
            <a:ext cx="353772" cy="375846"/>
          </a:xfrm>
          <a:prstGeom prst="triangle">
            <a:avLst/>
          </a:prstGeom>
          <a:solidFill>
            <a:srgbClr val="B4A697"/>
          </a:solidFill>
          <a:ln>
            <a:solidFill>
              <a:schemeClr val="accent1"/>
            </a:solidFill>
          </a:ln>
        </p:spPr>
        <p:txBody>
          <a:bodyPr wrap="square" rtlCol="0" anchor="ctr">
            <a:spAutoFit/>
          </a:bodyPr>
          <a:lstStyle/>
          <a:p>
            <a:pPr algn="ctr"/>
            <a:endParaRPr kumimoji="1" lang="zh-CN" altLang="en-US" dirty="0">
              <a:solidFill>
                <a:schemeClr val="bg1"/>
              </a:solidFill>
              <a:latin typeface="+mn-lt"/>
              <a:ea typeface="+mn-ea"/>
              <a:cs typeface="+mn-ea"/>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椭圆 24"/>
          <p:cNvSpPr/>
          <p:nvPr/>
        </p:nvSpPr>
        <p:spPr>
          <a:xfrm>
            <a:off x="522531" y="1526809"/>
            <a:ext cx="4333875" cy="4226067"/>
          </a:xfrm>
          <a:prstGeom prst="ellipse">
            <a:avLst/>
          </a:prstGeom>
          <a:solidFill>
            <a:schemeClr val="bg2">
              <a:lumMod val="90000"/>
            </a:schemeClr>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7" name="椭圆 26"/>
          <p:cNvSpPr/>
          <p:nvPr/>
        </p:nvSpPr>
        <p:spPr>
          <a:xfrm>
            <a:off x="783324" y="1811851"/>
            <a:ext cx="3866078" cy="3738558"/>
          </a:xfrm>
          <a:prstGeom prst="ellipse">
            <a:avLst/>
          </a:prstGeom>
          <a:solidFill>
            <a:srgbClr val="AC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 name="灯片编号占位符 1"/>
          <p:cNvSpPr>
            <a:spLocks noGrp="1"/>
          </p:cNvSpPr>
          <p:nvPr>
            <p:ph type="sldNum" sz="quarter" idx="10"/>
          </p:nvPr>
        </p:nvSpPr>
        <p:spPr/>
        <p:txBody>
          <a:bodyPr/>
          <a:lstStyle/>
          <a:p>
            <a:pPr>
              <a:defRPr/>
            </a:pPr>
            <a:fld id="{52DF7D90-B49A-4800-BC0D-FE9A7C3546DE}" type="slidenum">
              <a:rPr lang="zh-CN" altLang="en-US" smtClean="0"/>
            </a:fld>
            <a:endParaRPr lang="en-US" altLang="zh-CN"/>
          </a:p>
        </p:txBody>
      </p:sp>
      <p:sp>
        <p:nvSpPr>
          <p:cNvPr id="4" name="矩形 12"/>
          <p:cNvSpPr/>
          <p:nvPr/>
        </p:nvSpPr>
        <p:spPr>
          <a:xfrm>
            <a:off x="944291" y="2957735"/>
            <a:ext cx="3483047" cy="216761"/>
          </a:xfrm>
          <a:custGeom>
            <a:avLst/>
            <a:gdLst>
              <a:gd name="connsiteX0" fmla="*/ 0 w 4462612"/>
              <a:gd name="connsiteY0" fmla="*/ 0 h 560203"/>
              <a:gd name="connsiteX1" fmla="*/ 4462612 w 4462612"/>
              <a:gd name="connsiteY1" fmla="*/ 0 h 560203"/>
              <a:gd name="connsiteX2" fmla="*/ 4462612 w 4462612"/>
              <a:gd name="connsiteY2" fmla="*/ 560203 h 560203"/>
              <a:gd name="connsiteX3" fmla="*/ 0 w 4462612"/>
              <a:gd name="connsiteY3" fmla="*/ 560203 h 560203"/>
              <a:gd name="connsiteX4" fmla="*/ 0 w 4462612"/>
              <a:gd name="connsiteY4" fmla="*/ 0 h 560203"/>
              <a:gd name="connsiteX0-1" fmla="*/ 0 w 4462612"/>
              <a:gd name="connsiteY0-2" fmla="*/ 0 h 560203"/>
              <a:gd name="connsiteX1-3" fmla="*/ 4462612 w 4462612"/>
              <a:gd name="connsiteY1-4" fmla="*/ 0 h 560203"/>
              <a:gd name="connsiteX2-5" fmla="*/ 3770951 w 4462612"/>
              <a:gd name="connsiteY2-6" fmla="*/ 548480 h 560203"/>
              <a:gd name="connsiteX3-7" fmla="*/ 0 w 4462612"/>
              <a:gd name="connsiteY3-8" fmla="*/ 560203 h 560203"/>
              <a:gd name="connsiteX4-9" fmla="*/ 0 w 4462612"/>
              <a:gd name="connsiteY4-10" fmla="*/ 0 h 560203"/>
              <a:gd name="connsiteX0-11" fmla="*/ 527539 w 4990151"/>
              <a:gd name="connsiteY0-12" fmla="*/ 0 h 571926"/>
              <a:gd name="connsiteX1-13" fmla="*/ 4990151 w 4990151"/>
              <a:gd name="connsiteY1-14" fmla="*/ 0 h 571926"/>
              <a:gd name="connsiteX2-15" fmla="*/ 4298490 w 4990151"/>
              <a:gd name="connsiteY2-16" fmla="*/ 548480 h 571926"/>
              <a:gd name="connsiteX3-17" fmla="*/ 0 w 4990151"/>
              <a:gd name="connsiteY3-18" fmla="*/ 571926 h 571926"/>
              <a:gd name="connsiteX4-19" fmla="*/ 527539 w 4990151"/>
              <a:gd name="connsiteY4-20" fmla="*/ 0 h 571926"/>
              <a:gd name="connsiteX0-21" fmla="*/ 527539 w 4990151"/>
              <a:gd name="connsiteY0-22" fmla="*/ 0 h 582700"/>
              <a:gd name="connsiteX1-23" fmla="*/ 4990151 w 4990151"/>
              <a:gd name="connsiteY1-24" fmla="*/ 0 h 582700"/>
              <a:gd name="connsiteX2-25" fmla="*/ 4285302 w 4990151"/>
              <a:gd name="connsiteY2-26" fmla="*/ 582700 h 582700"/>
              <a:gd name="connsiteX3-27" fmla="*/ 0 w 4990151"/>
              <a:gd name="connsiteY3-28" fmla="*/ 571926 h 582700"/>
              <a:gd name="connsiteX4-29" fmla="*/ 527539 w 4990151"/>
              <a:gd name="connsiteY4-30" fmla="*/ 0 h 582700"/>
              <a:gd name="connsiteX0-31" fmla="*/ 409962 w 4872574"/>
              <a:gd name="connsiteY0-32" fmla="*/ 0 h 582700"/>
              <a:gd name="connsiteX1-33" fmla="*/ 4872574 w 4872574"/>
              <a:gd name="connsiteY1-34" fmla="*/ 0 h 582700"/>
              <a:gd name="connsiteX2-35" fmla="*/ 4167725 w 4872574"/>
              <a:gd name="connsiteY2-36" fmla="*/ 582700 h 582700"/>
              <a:gd name="connsiteX3-37" fmla="*/ 0 w 4872574"/>
              <a:gd name="connsiteY3-38" fmla="*/ 571926 h 582700"/>
              <a:gd name="connsiteX4-39" fmla="*/ 409962 w 4872574"/>
              <a:gd name="connsiteY4-40" fmla="*/ 0 h 5827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872574" h="582700">
                <a:moveTo>
                  <a:pt x="409962" y="0"/>
                </a:moveTo>
                <a:lnTo>
                  <a:pt x="4872574" y="0"/>
                </a:lnTo>
                <a:lnTo>
                  <a:pt x="4167725" y="582700"/>
                </a:lnTo>
                <a:lnTo>
                  <a:pt x="0" y="571926"/>
                </a:lnTo>
                <a:lnTo>
                  <a:pt x="409962" y="0"/>
                </a:lnTo>
                <a:close/>
              </a:path>
            </a:pathLst>
          </a:custGeom>
          <a:solidFill>
            <a:schemeClr val="tx1">
              <a:lumMod val="65000"/>
              <a:lumOff val="35000"/>
            </a:schemeClr>
          </a:solidFill>
          <a:ln w="25400" cap="flat" cmpd="sng" algn="ctr">
            <a:noFill/>
            <a:prstDash val="solid"/>
          </a:ln>
          <a:effectLst/>
        </p:spPr>
        <p:txBody>
          <a:bodyPr rtlCol="0" anchor="ctr"/>
          <a:lstStyle/>
          <a:p>
            <a:pPr algn="ctr">
              <a:lnSpc>
                <a:spcPct val="130000"/>
              </a:lnSpc>
              <a:defRPr/>
            </a:pPr>
            <a:endParaRPr lang="zh-CN" altLang="en-US" sz="1255" kern="0" dirty="0">
              <a:solidFill>
                <a:sysClr val="window" lastClr="FFFFFF"/>
              </a:solidFill>
              <a:cs typeface="+mn-ea"/>
              <a:sym typeface="+mn-lt"/>
            </a:endParaRPr>
          </a:p>
        </p:txBody>
      </p:sp>
      <p:sp>
        <p:nvSpPr>
          <p:cNvPr id="5" name="矩形 4"/>
          <p:cNvSpPr/>
          <p:nvPr/>
        </p:nvSpPr>
        <p:spPr>
          <a:xfrm>
            <a:off x="860245" y="3166853"/>
            <a:ext cx="3712236" cy="945980"/>
          </a:xfrm>
          <a:custGeom>
            <a:avLst/>
            <a:gdLst/>
            <a:ahLst/>
            <a:cxnLst/>
            <a:rect l="l" t="t" r="r" b="b"/>
            <a:pathLst>
              <a:path w="6479700" h="1651206">
                <a:moveTo>
                  <a:pt x="136084" y="0"/>
                </a:moveTo>
                <a:lnTo>
                  <a:pt x="6343617" y="0"/>
                </a:lnTo>
                <a:cubicBezTo>
                  <a:pt x="6432372" y="294354"/>
                  <a:pt x="6479700" y="606510"/>
                  <a:pt x="6479700" y="929719"/>
                </a:cubicBezTo>
                <a:cubicBezTo>
                  <a:pt x="6479700" y="1177787"/>
                  <a:pt x="6451820" y="1419344"/>
                  <a:pt x="6398058" y="1651206"/>
                </a:cubicBezTo>
                <a:lnTo>
                  <a:pt x="81642" y="1651206"/>
                </a:lnTo>
                <a:cubicBezTo>
                  <a:pt x="27880" y="1419344"/>
                  <a:pt x="0" y="1177787"/>
                  <a:pt x="0" y="929719"/>
                </a:cubicBezTo>
                <a:cubicBezTo>
                  <a:pt x="0" y="606510"/>
                  <a:pt x="47328" y="294354"/>
                  <a:pt x="136084" y="0"/>
                </a:cubicBezTo>
                <a:close/>
              </a:path>
            </a:pathLst>
          </a:custGeom>
          <a:solidFill>
            <a:srgbClr val="AC0000"/>
          </a:solidFill>
          <a:ln w="25400" cap="flat" cmpd="sng" algn="ctr">
            <a:noFill/>
            <a:prstDash val="solid"/>
          </a:ln>
          <a:effectLst>
            <a:outerShdw blurRad="149987" dist="250190" dir="8460000" algn="ctr">
              <a:srgbClr val="000000">
                <a:alpha val="28000"/>
              </a:srgbClr>
            </a:outerShdw>
          </a:effectLst>
        </p:spPr>
        <p:txBody>
          <a:bodyPr rtlCol="0" anchor="ctr"/>
          <a:lstStyle/>
          <a:p>
            <a:pPr algn="ctr">
              <a:lnSpc>
                <a:spcPct val="130000"/>
              </a:lnSpc>
              <a:defRPr/>
            </a:pPr>
            <a:endParaRPr lang="zh-CN" altLang="en-US" sz="1255" kern="0" dirty="0">
              <a:solidFill>
                <a:sysClr val="window" lastClr="FFFFFF"/>
              </a:solidFill>
              <a:cs typeface="+mn-ea"/>
              <a:sym typeface="+mn-lt"/>
            </a:endParaRPr>
          </a:p>
        </p:txBody>
      </p:sp>
      <p:sp>
        <p:nvSpPr>
          <p:cNvPr id="6" name="矩形 12"/>
          <p:cNvSpPr/>
          <p:nvPr/>
        </p:nvSpPr>
        <p:spPr>
          <a:xfrm>
            <a:off x="967213" y="4112834"/>
            <a:ext cx="3559284" cy="218545"/>
          </a:xfrm>
          <a:custGeom>
            <a:avLst/>
            <a:gdLst>
              <a:gd name="connsiteX0" fmla="*/ 0 w 4462612"/>
              <a:gd name="connsiteY0" fmla="*/ 0 h 560203"/>
              <a:gd name="connsiteX1" fmla="*/ 4462612 w 4462612"/>
              <a:gd name="connsiteY1" fmla="*/ 0 h 560203"/>
              <a:gd name="connsiteX2" fmla="*/ 4462612 w 4462612"/>
              <a:gd name="connsiteY2" fmla="*/ 560203 h 560203"/>
              <a:gd name="connsiteX3" fmla="*/ 0 w 4462612"/>
              <a:gd name="connsiteY3" fmla="*/ 560203 h 560203"/>
              <a:gd name="connsiteX4" fmla="*/ 0 w 4462612"/>
              <a:gd name="connsiteY4" fmla="*/ 0 h 560203"/>
              <a:gd name="connsiteX0-1" fmla="*/ 0 w 4462612"/>
              <a:gd name="connsiteY0-2" fmla="*/ 0 h 560203"/>
              <a:gd name="connsiteX1-3" fmla="*/ 4462612 w 4462612"/>
              <a:gd name="connsiteY1-4" fmla="*/ 0 h 560203"/>
              <a:gd name="connsiteX2-5" fmla="*/ 3770951 w 4462612"/>
              <a:gd name="connsiteY2-6" fmla="*/ 548480 h 560203"/>
              <a:gd name="connsiteX3-7" fmla="*/ 0 w 4462612"/>
              <a:gd name="connsiteY3-8" fmla="*/ 560203 h 560203"/>
              <a:gd name="connsiteX4-9" fmla="*/ 0 w 4462612"/>
              <a:gd name="connsiteY4-10" fmla="*/ 0 h 560203"/>
              <a:gd name="connsiteX0-11" fmla="*/ 527539 w 4990151"/>
              <a:gd name="connsiteY0-12" fmla="*/ 0 h 571926"/>
              <a:gd name="connsiteX1-13" fmla="*/ 4990151 w 4990151"/>
              <a:gd name="connsiteY1-14" fmla="*/ 0 h 571926"/>
              <a:gd name="connsiteX2-15" fmla="*/ 4298490 w 4990151"/>
              <a:gd name="connsiteY2-16" fmla="*/ 548480 h 571926"/>
              <a:gd name="connsiteX3-17" fmla="*/ 0 w 4990151"/>
              <a:gd name="connsiteY3-18" fmla="*/ 571926 h 571926"/>
              <a:gd name="connsiteX4-19" fmla="*/ 527539 w 4990151"/>
              <a:gd name="connsiteY4-20" fmla="*/ 0 h 571926"/>
              <a:gd name="connsiteX0-21" fmla="*/ 527539 w 4990151"/>
              <a:gd name="connsiteY0-22" fmla="*/ 0 h 582700"/>
              <a:gd name="connsiteX1-23" fmla="*/ 4990151 w 4990151"/>
              <a:gd name="connsiteY1-24" fmla="*/ 0 h 582700"/>
              <a:gd name="connsiteX2-25" fmla="*/ 4285302 w 4990151"/>
              <a:gd name="connsiteY2-26" fmla="*/ 582700 h 582700"/>
              <a:gd name="connsiteX3-27" fmla="*/ 0 w 4990151"/>
              <a:gd name="connsiteY3-28" fmla="*/ 571926 h 582700"/>
              <a:gd name="connsiteX4-29" fmla="*/ 527539 w 4990151"/>
              <a:gd name="connsiteY4-30" fmla="*/ 0 h 582700"/>
              <a:gd name="connsiteX0-31" fmla="*/ 484964 w 4947576"/>
              <a:gd name="connsiteY0-32" fmla="*/ 0 h 582700"/>
              <a:gd name="connsiteX1-33" fmla="*/ 4947576 w 4947576"/>
              <a:gd name="connsiteY1-34" fmla="*/ 0 h 582700"/>
              <a:gd name="connsiteX2-35" fmla="*/ 4242727 w 4947576"/>
              <a:gd name="connsiteY2-36" fmla="*/ 582700 h 582700"/>
              <a:gd name="connsiteX3-37" fmla="*/ 0 w 4947576"/>
              <a:gd name="connsiteY3-38" fmla="*/ 571925 h 582700"/>
              <a:gd name="connsiteX4-39" fmla="*/ 484964 w 4947576"/>
              <a:gd name="connsiteY4-40" fmla="*/ 0 h 582700"/>
              <a:gd name="connsiteX0-41" fmla="*/ 495608 w 4958220"/>
              <a:gd name="connsiteY0-42" fmla="*/ 0 h 582700"/>
              <a:gd name="connsiteX1-43" fmla="*/ 4958220 w 4958220"/>
              <a:gd name="connsiteY1-44" fmla="*/ 0 h 582700"/>
              <a:gd name="connsiteX2-45" fmla="*/ 4253371 w 4958220"/>
              <a:gd name="connsiteY2-46" fmla="*/ 582700 h 582700"/>
              <a:gd name="connsiteX3-47" fmla="*/ 0 w 4958220"/>
              <a:gd name="connsiteY3-48" fmla="*/ 550815 h 582700"/>
              <a:gd name="connsiteX4-49" fmla="*/ 495608 w 4958220"/>
              <a:gd name="connsiteY4-50" fmla="*/ 0 h 582700"/>
              <a:gd name="connsiteX0-51" fmla="*/ 495608 w 4958220"/>
              <a:gd name="connsiteY0-52" fmla="*/ 0 h 582700"/>
              <a:gd name="connsiteX1-53" fmla="*/ 4958220 w 4958220"/>
              <a:gd name="connsiteY1-54" fmla="*/ 0 h 582700"/>
              <a:gd name="connsiteX2-55" fmla="*/ 4253371 w 4958220"/>
              <a:gd name="connsiteY2-56" fmla="*/ 582700 h 582700"/>
              <a:gd name="connsiteX3-57" fmla="*/ 0 w 4958220"/>
              <a:gd name="connsiteY3-58" fmla="*/ 550815 h 582700"/>
              <a:gd name="connsiteX4-59" fmla="*/ 495608 w 4958220"/>
              <a:gd name="connsiteY4-60" fmla="*/ 0 h 5827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958220" h="582700">
                <a:moveTo>
                  <a:pt x="495608" y="0"/>
                </a:moveTo>
                <a:lnTo>
                  <a:pt x="4958220" y="0"/>
                </a:lnTo>
                <a:lnTo>
                  <a:pt x="4253371" y="582700"/>
                </a:lnTo>
                <a:lnTo>
                  <a:pt x="0" y="550815"/>
                </a:lnTo>
                <a:lnTo>
                  <a:pt x="495608" y="0"/>
                </a:lnTo>
                <a:close/>
              </a:path>
            </a:pathLst>
          </a:custGeom>
          <a:solidFill>
            <a:schemeClr val="tx1">
              <a:lumMod val="65000"/>
              <a:lumOff val="35000"/>
            </a:schemeClr>
          </a:solidFill>
          <a:ln w="25400" cap="flat" cmpd="sng" algn="ctr">
            <a:noFill/>
            <a:prstDash val="solid"/>
          </a:ln>
          <a:effectLst/>
        </p:spPr>
        <p:txBody>
          <a:bodyPr rtlCol="0" anchor="ctr"/>
          <a:lstStyle/>
          <a:p>
            <a:pPr algn="ctr">
              <a:lnSpc>
                <a:spcPct val="130000"/>
              </a:lnSpc>
              <a:defRPr/>
            </a:pPr>
            <a:endParaRPr lang="zh-CN" altLang="en-US" sz="1255" kern="0" dirty="0">
              <a:solidFill>
                <a:sysClr val="window" lastClr="FFFFFF"/>
              </a:solidFill>
              <a:cs typeface="+mn-ea"/>
              <a:sym typeface="+mn-lt"/>
            </a:endParaRPr>
          </a:p>
        </p:txBody>
      </p:sp>
      <p:sp>
        <p:nvSpPr>
          <p:cNvPr id="7" name="矩形 4"/>
          <p:cNvSpPr/>
          <p:nvPr/>
        </p:nvSpPr>
        <p:spPr>
          <a:xfrm>
            <a:off x="1005389" y="2011755"/>
            <a:ext cx="3421950" cy="945980"/>
          </a:xfrm>
          <a:custGeom>
            <a:avLst/>
            <a:gdLst/>
            <a:ahLst/>
            <a:cxnLst/>
            <a:rect l="l" t="t" r="r" b="b"/>
            <a:pathLst>
              <a:path w="5973005" h="1651206">
                <a:moveTo>
                  <a:pt x="1566860" y="0"/>
                </a:moveTo>
                <a:lnTo>
                  <a:pt x="4406144" y="0"/>
                </a:lnTo>
                <a:cubicBezTo>
                  <a:pt x="5109269" y="339593"/>
                  <a:pt x="5668506" y="928551"/>
                  <a:pt x="5973005" y="1651206"/>
                </a:cubicBezTo>
                <a:lnTo>
                  <a:pt x="0" y="1651206"/>
                </a:lnTo>
                <a:cubicBezTo>
                  <a:pt x="304499" y="928551"/>
                  <a:pt x="863736" y="339593"/>
                  <a:pt x="1566860" y="0"/>
                </a:cubicBezTo>
                <a:close/>
              </a:path>
            </a:pathLst>
          </a:custGeom>
          <a:solidFill>
            <a:srgbClr val="AC0000"/>
          </a:solidFill>
          <a:ln w="25400" cap="flat" cmpd="sng" algn="ctr">
            <a:noFill/>
            <a:prstDash val="solid"/>
          </a:ln>
          <a:effectLst>
            <a:outerShdw blurRad="149987" dist="250190" dir="8460000" algn="ctr">
              <a:srgbClr val="000000">
                <a:alpha val="28000"/>
              </a:srgbClr>
            </a:outerShdw>
          </a:effectLst>
        </p:spPr>
        <p:txBody>
          <a:bodyPr rtlCol="0" anchor="ctr"/>
          <a:lstStyle/>
          <a:p>
            <a:pPr algn="ctr">
              <a:lnSpc>
                <a:spcPct val="130000"/>
              </a:lnSpc>
              <a:defRPr/>
            </a:pPr>
            <a:endParaRPr lang="zh-CN" altLang="en-US" sz="1255" kern="0" dirty="0">
              <a:solidFill>
                <a:sysClr val="window" lastClr="FFFFFF"/>
              </a:solidFill>
              <a:cs typeface="+mn-ea"/>
              <a:sym typeface="+mn-lt"/>
            </a:endParaRPr>
          </a:p>
        </p:txBody>
      </p:sp>
      <p:sp>
        <p:nvSpPr>
          <p:cNvPr id="8" name="矩形 4"/>
          <p:cNvSpPr/>
          <p:nvPr/>
        </p:nvSpPr>
        <p:spPr>
          <a:xfrm>
            <a:off x="967355" y="4316096"/>
            <a:ext cx="3498016" cy="945980"/>
          </a:xfrm>
          <a:custGeom>
            <a:avLst/>
            <a:gdLst/>
            <a:ahLst/>
            <a:cxnLst/>
            <a:rect l="l" t="t" r="r" b="b"/>
            <a:pathLst>
              <a:path w="6105779" h="1651206">
                <a:moveTo>
                  <a:pt x="0" y="0"/>
                </a:moveTo>
                <a:lnTo>
                  <a:pt x="6105779" y="0"/>
                </a:lnTo>
                <a:cubicBezTo>
                  <a:pt x="5867381" y="687291"/>
                  <a:pt x="5401050" y="1267480"/>
                  <a:pt x="4796909" y="1651206"/>
                </a:cubicBezTo>
                <a:lnTo>
                  <a:pt x="1308869" y="1651206"/>
                </a:lnTo>
                <a:cubicBezTo>
                  <a:pt x="704729" y="1267480"/>
                  <a:pt x="238398" y="687291"/>
                  <a:pt x="0" y="0"/>
                </a:cubicBezTo>
                <a:close/>
              </a:path>
            </a:pathLst>
          </a:custGeom>
          <a:solidFill>
            <a:srgbClr val="AC0000"/>
          </a:solidFill>
          <a:ln w="25400" cap="flat" cmpd="sng" algn="ctr">
            <a:noFill/>
            <a:prstDash val="solid"/>
          </a:ln>
          <a:effectLst>
            <a:outerShdw blurRad="149987" dist="250190" dir="8460000" algn="ctr">
              <a:srgbClr val="000000">
                <a:alpha val="28000"/>
              </a:srgbClr>
            </a:outerShdw>
          </a:effectLst>
        </p:spPr>
        <p:txBody>
          <a:bodyPr rtlCol="0" anchor="ctr"/>
          <a:lstStyle/>
          <a:p>
            <a:pPr algn="ctr">
              <a:lnSpc>
                <a:spcPct val="130000"/>
              </a:lnSpc>
              <a:defRPr/>
            </a:pPr>
            <a:endParaRPr lang="zh-CN" altLang="en-US" sz="1255" kern="0" dirty="0">
              <a:solidFill>
                <a:sysClr val="window" lastClr="FFFFFF"/>
              </a:solidFill>
              <a:cs typeface="+mn-ea"/>
              <a:sym typeface="+mn-lt"/>
            </a:endParaRPr>
          </a:p>
        </p:txBody>
      </p:sp>
      <p:sp>
        <p:nvSpPr>
          <p:cNvPr id="9" name="TextBox 25"/>
          <p:cNvSpPr txBox="1"/>
          <p:nvPr/>
        </p:nvSpPr>
        <p:spPr>
          <a:xfrm>
            <a:off x="1485192" y="1947630"/>
            <a:ext cx="581037" cy="1207638"/>
          </a:xfrm>
          <a:prstGeom prst="rect">
            <a:avLst/>
          </a:prstGeom>
          <a:noFill/>
          <a:effectLst/>
        </p:spPr>
        <p:txBody>
          <a:bodyPr wrap="square" rtlCol="0">
            <a:spAutoFit/>
          </a:bodyPr>
          <a:lstStyle/>
          <a:p>
            <a:pPr algn="ctr">
              <a:lnSpc>
                <a:spcPct val="130000"/>
              </a:lnSpc>
              <a:defRPr/>
            </a:pPr>
            <a:r>
              <a:rPr lang="en-US" altLang="zh-CN" sz="5575" b="1" kern="0" dirty="0">
                <a:solidFill>
                  <a:sysClr val="window" lastClr="FFFFFF"/>
                </a:solidFill>
                <a:effectLst>
                  <a:innerShdw blurRad="63500" dist="50800" dir="13500000">
                    <a:prstClr val="black">
                      <a:alpha val="50000"/>
                    </a:prstClr>
                  </a:innerShdw>
                </a:effectLst>
                <a:cs typeface="+mn-ea"/>
                <a:sym typeface="+mn-lt"/>
              </a:rPr>
              <a:t>1</a:t>
            </a:r>
            <a:endParaRPr lang="zh-CN" altLang="en-US" sz="5575" b="1" kern="0" dirty="0">
              <a:solidFill>
                <a:sysClr val="window" lastClr="FFFFFF"/>
              </a:solidFill>
              <a:effectLst>
                <a:innerShdw blurRad="63500" dist="50800" dir="13500000">
                  <a:prstClr val="black">
                    <a:alpha val="50000"/>
                  </a:prstClr>
                </a:innerShdw>
              </a:effectLst>
              <a:cs typeface="+mn-ea"/>
              <a:sym typeface="+mn-lt"/>
            </a:endParaRPr>
          </a:p>
        </p:txBody>
      </p:sp>
      <p:sp>
        <p:nvSpPr>
          <p:cNvPr id="10" name="TextBox 26"/>
          <p:cNvSpPr txBox="1"/>
          <p:nvPr/>
        </p:nvSpPr>
        <p:spPr>
          <a:xfrm>
            <a:off x="1033617" y="3077311"/>
            <a:ext cx="581037" cy="1207638"/>
          </a:xfrm>
          <a:prstGeom prst="rect">
            <a:avLst/>
          </a:prstGeom>
          <a:noFill/>
          <a:effectLst/>
        </p:spPr>
        <p:txBody>
          <a:bodyPr wrap="square" rtlCol="0">
            <a:spAutoFit/>
          </a:bodyPr>
          <a:lstStyle/>
          <a:p>
            <a:pPr algn="ctr">
              <a:lnSpc>
                <a:spcPct val="130000"/>
              </a:lnSpc>
              <a:defRPr/>
            </a:pPr>
            <a:r>
              <a:rPr lang="en-US" altLang="zh-CN" sz="5575" b="1" kern="0" dirty="0">
                <a:solidFill>
                  <a:sysClr val="window" lastClr="FFFFFF"/>
                </a:solidFill>
                <a:effectLst>
                  <a:innerShdw blurRad="63500" dist="50800" dir="13500000">
                    <a:prstClr val="black">
                      <a:alpha val="50000"/>
                    </a:prstClr>
                  </a:innerShdw>
                </a:effectLst>
                <a:cs typeface="+mn-ea"/>
                <a:sym typeface="+mn-lt"/>
              </a:rPr>
              <a:t>2</a:t>
            </a:r>
            <a:endParaRPr lang="zh-CN" altLang="en-US" sz="5575" b="1" kern="0" dirty="0">
              <a:solidFill>
                <a:sysClr val="window" lastClr="FFFFFF"/>
              </a:solidFill>
              <a:effectLst>
                <a:innerShdw blurRad="63500" dist="50800" dir="13500000">
                  <a:prstClr val="black">
                    <a:alpha val="50000"/>
                  </a:prstClr>
                </a:innerShdw>
              </a:effectLst>
              <a:cs typeface="+mn-ea"/>
              <a:sym typeface="+mn-lt"/>
            </a:endParaRPr>
          </a:p>
        </p:txBody>
      </p:sp>
      <p:sp>
        <p:nvSpPr>
          <p:cNvPr id="11" name="TextBox 27"/>
          <p:cNvSpPr txBox="1"/>
          <p:nvPr/>
        </p:nvSpPr>
        <p:spPr>
          <a:xfrm>
            <a:off x="1435017" y="4181160"/>
            <a:ext cx="581037" cy="1207638"/>
          </a:xfrm>
          <a:prstGeom prst="rect">
            <a:avLst/>
          </a:prstGeom>
          <a:noFill/>
          <a:effectLst/>
        </p:spPr>
        <p:txBody>
          <a:bodyPr wrap="square" rtlCol="0">
            <a:spAutoFit/>
          </a:bodyPr>
          <a:lstStyle/>
          <a:p>
            <a:pPr algn="ctr">
              <a:lnSpc>
                <a:spcPct val="130000"/>
              </a:lnSpc>
              <a:defRPr/>
            </a:pPr>
            <a:r>
              <a:rPr lang="en-US" altLang="zh-CN" sz="5575" b="1" kern="0" dirty="0">
                <a:solidFill>
                  <a:sysClr val="window" lastClr="FFFFFF"/>
                </a:solidFill>
                <a:effectLst>
                  <a:innerShdw blurRad="63500" dist="50800" dir="13500000">
                    <a:prstClr val="black">
                      <a:alpha val="50000"/>
                    </a:prstClr>
                  </a:innerShdw>
                </a:effectLst>
                <a:cs typeface="+mn-ea"/>
                <a:sym typeface="+mn-lt"/>
              </a:rPr>
              <a:t>3</a:t>
            </a:r>
            <a:endParaRPr lang="zh-CN" altLang="en-US" sz="5575" b="1" kern="0" dirty="0">
              <a:solidFill>
                <a:sysClr val="window" lastClr="FFFFFF"/>
              </a:solidFill>
              <a:effectLst>
                <a:innerShdw blurRad="63500" dist="50800" dir="13500000">
                  <a:prstClr val="black">
                    <a:alpha val="50000"/>
                  </a:prstClr>
                </a:innerShdw>
              </a:effectLst>
              <a:cs typeface="+mn-ea"/>
              <a:sym typeface="+mn-lt"/>
            </a:endParaRPr>
          </a:p>
        </p:txBody>
      </p:sp>
      <p:sp>
        <p:nvSpPr>
          <p:cNvPr id="19" name="文本框 18"/>
          <p:cNvSpPr txBox="1"/>
          <p:nvPr/>
        </p:nvSpPr>
        <p:spPr>
          <a:xfrm>
            <a:off x="1927683" y="2391511"/>
            <a:ext cx="2292201" cy="338554"/>
          </a:xfrm>
          <a:prstGeom prst="rect">
            <a:avLst/>
          </a:prstGeom>
          <a:noFill/>
        </p:spPr>
        <p:txBody>
          <a:bodyPr wrap="square">
            <a:spAutoFit/>
          </a:bodyPr>
          <a:lstStyle/>
          <a:p>
            <a:r>
              <a:rPr lang="zh-CN" altLang="en-US" sz="1600" dirty="0">
                <a:solidFill>
                  <a:schemeClr val="bg1"/>
                </a:solidFill>
                <a:latin typeface="+mn-ea"/>
                <a:ea typeface="+mn-ea"/>
              </a:rPr>
              <a:t>稳定的社会经济环境</a:t>
            </a:r>
            <a:endParaRPr lang="zh-CN" altLang="en-US" sz="1400" dirty="0">
              <a:solidFill>
                <a:schemeClr val="bg1"/>
              </a:solidFill>
              <a:latin typeface="+mn-ea"/>
              <a:ea typeface="+mn-ea"/>
            </a:endParaRPr>
          </a:p>
        </p:txBody>
      </p:sp>
      <p:sp>
        <p:nvSpPr>
          <p:cNvPr id="21" name="文本框 20"/>
          <p:cNvSpPr txBox="1"/>
          <p:nvPr/>
        </p:nvSpPr>
        <p:spPr>
          <a:xfrm>
            <a:off x="1927683" y="3549538"/>
            <a:ext cx="2292201" cy="338554"/>
          </a:xfrm>
          <a:prstGeom prst="rect">
            <a:avLst/>
          </a:prstGeom>
          <a:noFill/>
        </p:spPr>
        <p:txBody>
          <a:bodyPr wrap="square">
            <a:spAutoFit/>
          </a:bodyPr>
          <a:lstStyle/>
          <a:p>
            <a:r>
              <a:rPr lang="zh-CN" altLang="en-US" sz="1600" dirty="0">
                <a:solidFill>
                  <a:schemeClr val="bg1"/>
                </a:solidFill>
                <a:latin typeface="+mn-ea"/>
                <a:ea typeface="+mn-ea"/>
              </a:rPr>
              <a:t>持续的宏观政策支持</a:t>
            </a:r>
            <a:endParaRPr lang="zh-CN" altLang="en-US" sz="1600" dirty="0">
              <a:solidFill>
                <a:schemeClr val="bg1"/>
              </a:solidFill>
              <a:latin typeface="+mn-ea"/>
              <a:ea typeface="+mn-ea"/>
            </a:endParaRPr>
          </a:p>
        </p:txBody>
      </p:sp>
      <p:sp>
        <p:nvSpPr>
          <p:cNvPr id="23" name="文本框 22"/>
          <p:cNvSpPr txBox="1"/>
          <p:nvPr/>
        </p:nvSpPr>
        <p:spPr>
          <a:xfrm>
            <a:off x="2066229" y="4642839"/>
            <a:ext cx="2133236" cy="338554"/>
          </a:xfrm>
          <a:prstGeom prst="rect">
            <a:avLst/>
          </a:prstGeom>
          <a:noFill/>
        </p:spPr>
        <p:txBody>
          <a:bodyPr wrap="square">
            <a:spAutoFit/>
          </a:bodyPr>
          <a:lstStyle/>
          <a:p>
            <a:r>
              <a:rPr lang="zh-CN" altLang="en-US" sz="1600" dirty="0">
                <a:solidFill>
                  <a:schemeClr val="bg1"/>
                </a:solidFill>
                <a:latin typeface="+mn-ea"/>
                <a:ea typeface="+mn-ea"/>
              </a:rPr>
              <a:t>迫切的人才培养需求</a:t>
            </a:r>
            <a:endParaRPr lang="zh-CN" altLang="en-US" sz="1600" dirty="0">
              <a:solidFill>
                <a:schemeClr val="bg1"/>
              </a:solidFill>
              <a:latin typeface="+mn-ea"/>
              <a:ea typeface="+mn-ea"/>
            </a:endParaRPr>
          </a:p>
        </p:txBody>
      </p:sp>
      <p:sp>
        <p:nvSpPr>
          <p:cNvPr id="24" name="矩形 23"/>
          <p:cNvSpPr/>
          <p:nvPr/>
        </p:nvSpPr>
        <p:spPr>
          <a:xfrm>
            <a:off x="375352" y="245658"/>
            <a:ext cx="7401385" cy="400110"/>
          </a:xfrm>
          <a:prstGeom prst="rect">
            <a:avLst/>
          </a:prstGeom>
        </p:spPr>
        <p:txBody>
          <a:bodyPr wrap="none">
            <a:spAutoFit/>
          </a:bodyPr>
          <a:lstStyle/>
          <a:p>
            <a:r>
              <a:rPr lang="en-US" altLang="zh-CN" sz="2000" dirty="0">
                <a:latin typeface="+mn-ea"/>
                <a:ea typeface="+mn-ea"/>
                <a:cs typeface="+mn-ea"/>
                <a:sym typeface="+mn-lt"/>
              </a:rPr>
              <a:t>O</a:t>
            </a:r>
            <a:r>
              <a:rPr lang="zh-CN" altLang="en-US" sz="2000" dirty="0">
                <a:latin typeface="+mn-ea"/>
                <a:ea typeface="+mn-ea"/>
                <a:cs typeface="+mn-ea"/>
                <a:sym typeface="+mn-lt"/>
              </a:rPr>
              <a:t> 机遇</a:t>
            </a:r>
            <a:r>
              <a:rPr lang="en-US" altLang="zh-CN" sz="2000" dirty="0">
                <a:latin typeface="+mn-ea"/>
                <a:ea typeface="+mn-ea"/>
                <a:cs typeface="+mn-ea"/>
                <a:sym typeface="+mn-lt"/>
              </a:rPr>
              <a:t>1-</a:t>
            </a:r>
            <a:r>
              <a:rPr lang="zh-CN" altLang="en-US" sz="2000" dirty="0">
                <a:latin typeface="+mn-ea"/>
                <a:ea typeface="+mn-ea"/>
                <a:cs typeface="+mn-ea"/>
                <a:sym typeface="+mn-lt"/>
              </a:rPr>
              <a:t>国内外发展环境与行业发展为教育培训深耕带来新机遇</a:t>
            </a:r>
            <a:endParaRPr lang="zh-CN" altLang="en-US" sz="2000" dirty="0">
              <a:latin typeface="+mn-ea"/>
              <a:ea typeface="+mn-ea"/>
              <a:cs typeface="+mn-ea"/>
              <a:sym typeface="+mn-lt"/>
            </a:endParaRPr>
          </a:p>
        </p:txBody>
      </p:sp>
      <p:sp>
        <p:nvSpPr>
          <p:cNvPr id="31" name="矩形 30"/>
          <p:cNvSpPr/>
          <p:nvPr/>
        </p:nvSpPr>
        <p:spPr>
          <a:xfrm>
            <a:off x="4822901" y="2123569"/>
            <a:ext cx="6710288" cy="763252"/>
          </a:xfrm>
          <a:prstGeom prst="rect">
            <a:avLst/>
          </a:prstGeom>
          <a:solidFill>
            <a:srgbClr val="D0CECE"/>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33" name="文本框 32"/>
          <p:cNvSpPr txBox="1"/>
          <p:nvPr/>
        </p:nvSpPr>
        <p:spPr>
          <a:xfrm>
            <a:off x="4856405" y="2241582"/>
            <a:ext cx="6813063" cy="800219"/>
          </a:xfrm>
          <a:prstGeom prst="rect">
            <a:avLst/>
          </a:prstGeom>
          <a:noFill/>
        </p:spPr>
        <p:txBody>
          <a:bodyPr wrap="square">
            <a:spAutoFit/>
          </a:bodyPr>
          <a:lstStyle/>
          <a:p>
            <a:r>
              <a:rPr lang="zh-CN" altLang="en-US" sz="1600" dirty="0">
                <a:latin typeface="+mn-ea"/>
                <a:ea typeface="+mn-ea"/>
              </a:rPr>
              <a:t>我国经济由降转升，运行态势持续改善，社会环境稳定，企业大学尤其是国内银行业大学等蓬勃发展。</a:t>
            </a:r>
            <a:br>
              <a:rPr lang="en-US" altLang="zh-CN" sz="1600" dirty="0">
                <a:latin typeface="+mn-ea"/>
                <a:ea typeface="+mn-ea"/>
              </a:rPr>
            </a:br>
            <a:endParaRPr lang="zh-CN" altLang="en-US" sz="1400" dirty="0">
              <a:latin typeface="+mn-ea"/>
              <a:ea typeface="+mn-ea"/>
            </a:endParaRPr>
          </a:p>
        </p:txBody>
      </p:sp>
      <p:sp>
        <p:nvSpPr>
          <p:cNvPr id="34" name="矩形 33"/>
          <p:cNvSpPr/>
          <p:nvPr/>
        </p:nvSpPr>
        <p:spPr>
          <a:xfrm>
            <a:off x="4856407" y="3299504"/>
            <a:ext cx="6676782" cy="763252"/>
          </a:xfrm>
          <a:prstGeom prst="rect">
            <a:avLst/>
          </a:prstGeom>
          <a:solidFill>
            <a:srgbClr val="D0CECE"/>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35" name="矩形 34"/>
          <p:cNvSpPr/>
          <p:nvPr/>
        </p:nvSpPr>
        <p:spPr>
          <a:xfrm>
            <a:off x="4852097" y="4456149"/>
            <a:ext cx="6676782" cy="763252"/>
          </a:xfrm>
          <a:prstGeom prst="rect">
            <a:avLst/>
          </a:prstGeom>
          <a:solidFill>
            <a:srgbClr val="D0CECE"/>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37" name="文本框 36"/>
          <p:cNvSpPr txBox="1"/>
          <p:nvPr/>
        </p:nvSpPr>
        <p:spPr>
          <a:xfrm>
            <a:off x="4887176" y="3409014"/>
            <a:ext cx="6813063" cy="784830"/>
          </a:xfrm>
          <a:prstGeom prst="rect">
            <a:avLst/>
          </a:prstGeom>
          <a:noFill/>
        </p:spPr>
        <p:txBody>
          <a:bodyPr wrap="square">
            <a:spAutoFit/>
          </a:bodyPr>
          <a:lstStyle/>
          <a:p>
            <a:r>
              <a:rPr lang="zh-CN" altLang="en-US" sz="1600" dirty="0">
                <a:latin typeface="+mn-ea"/>
                <a:ea typeface="+mn-ea"/>
              </a:rPr>
              <a:t>国家关于职工教育培训、职业教育改革实施方案等政策为产教融合等提供了政策支持。</a:t>
            </a:r>
            <a:br>
              <a:rPr lang="en-US" altLang="zh-CN" sz="1400" dirty="0"/>
            </a:br>
            <a:endParaRPr lang="zh-CN" altLang="en-US" dirty="0"/>
          </a:p>
        </p:txBody>
      </p:sp>
      <p:sp>
        <p:nvSpPr>
          <p:cNvPr id="39" name="文本框 38"/>
          <p:cNvSpPr txBox="1"/>
          <p:nvPr/>
        </p:nvSpPr>
        <p:spPr>
          <a:xfrm>
            <a:off x="4887175" y="4553441"/>
            <a:ext cx="6782293" cy="584775"/>
          </a:xfrm>
          <a:prstGeom prst="rect">
            <a:avLst/>
          </a:prstGeom>
          <a:noFill/>
        </p:spPr>
        <p:txBody>
          <a:bodyPr wrap="square">
            <a:spAutoFit/>
          </a:bodyPr>
          <a:lstStyle/>
          <a:p>
            <a:r>
              <a:rPr lang="zh-CN" altLang="en-US" sz="1600" dirty="0">
                <a:latin typeface="+mn-ea"/>
                <a:ea typeface="+mn-ea"/>
              </a:rPr>
              <a:t>银行业改革不断深化，增人增费不可持续，通过提高员工素质提效益成为重要渠道，企业人才培养迎来新机遇。</a:t>
            </a:r>
            <a:endParaRPr lang="zh-CN" altLang="en-US" sz="1600" dirty="0">
              <a:latin typeface="+mn-ea"/>
              <a:ea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52DF7D90-B49A-4800-BC0D-FE9A7C3546DE}" type="slidenum">
              <a:rPr lang="zh-CN" altLang="en-US" smtClean="0">
                <a:latin typeface="+mn-lt"/>
                <a:ea typeface="+mn-ea"/>
                <a:cs typeface="+mn-ea"/>
                <a:sym typeface="+mn-lt"/>
              </a:rPr>
            </a:fld>
            <a:endParaRPr lang="en-US" altLang="zh-CN">
              <a:latin typeface="+mn-lt"/>
              <a:ea typeface="+mn-ea"/>
              <a:cs typeface="+mn-ea"/>
              <a:sym typeface="+mn-lt"/>
            </a:endParaRPr>
          </a:p>
        </p:txBody>
      </p:sp>
      <p:sp>
        <p:nvSpPr>
          <p:cNvPr id="5" name="标题 1"/>
          <p:cNvSpPr txBox="1"/>
          <p:nvPr/>
        </p:nvSpPr>
        <p:spPr>
          <a:xfrm>
            <a:off x="654539" y="279206"/>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en-US" altLang="zh-CN" dirty="0">
                <a:latin typeface="+mn-lt"/>
                <a:ea typeface="+mn-ea"/>
                <a:cs typeface="+mn-ea"/>
                <a:sym typeface="+mn-lt"/>
              </a:rPr>
              <a:t>O</a:t>
            </a:r>
            <a:r>
              <a:rPr lang="zh-CN" altLang="en-US" dirty="0">
                <a:latin typeface="+mn-lt"/>
                <a:ea typeface="+mn-ea"/>
                <a:cs typeface="+mn-ea"/>
                <a:sym typeface="+mn-lt"/>
              </a:rPr>
              <a:t> 机遇</a:t>
            </a:r>
            <a:r>
              <a:rPr lang="en-US" altLang="zh-CN" dirty="0">
                <a:latin typeface="+mn-lt"/>
                <a:ea typeface="+mn-ea"/>
                <a:cs typeface="+mn-ea"/>
                <a:sym typeface="+mn-lt"/>
              </a:rPr>
              <a:t>2-</a:t>
            </a:r>
            <a:r>
              <a:rPr lang="zh-CN" altLang="en-US" dirty="0">
                <a:latin typeface="+mn-lt"/>
                <a:ea typeface="+mn-ea"/>
                <a:cs typeface="+mn-ea"/>
                <a:sym typeface="+mn-lt"/>
              </a:rPr>
              <a:t>从</a:t>
            </a:r>
            <a:r>
              <a:rPr lang="zh-CN" altLang="zh-CN" dirty="0"/>
              <a:t>学习技术的演进与迭代为教育培训方式的升级提供新手段</a:t>
            </a:r>
            <a:endParaRPr lang="zh-CN" altLang="zh-CN" dirty="0"/>
          </a:p>
        </p:txBody>
      </p:sp>
      <p:sp>
        <p:nvSpPr>
          <p:cNvPr id="66" name="标题 2"/>
          <p:cNvSpPr>
            <a:spLocks noGrp="1"/>
          </p:cNvSpPr>
          <p:nvPr>
            <p:ph type="title"/>
          </p:nvPr>
        </p:nvSpPr>
        <p:spPr>
          <a:xfrm>
            <a:off x="463467" y="861555"/>
            <a:ext cx="11537461" cy="685522"/>
          </a:xfrm>
        </p:spPr>
        <p:txBody>
          <a:bodyPr>
            <a:noAutofit/>
          </a:bodyPr>
          <a:lstStyle/>
          <a:p>
            <a:r>
              <a:rPr kumimoji="1" lang="zh-CN" altLang="en-US" sz="1800" dirty="0">
                <a:latin typeface="+mn-lt"/>
                <a:ea typeface="+mn-ea"/>
                <a:cs typeface="+mn-ea"/>
                <a:sym typeface="+mn-lt"/>
              </a:rPr>
              <a:t>在科技日新月异的今天，学习技术借助移动互联和新兴科技的发展在诸多企业中获得令人惊叹的应用，中银大学在关注学习新技术的应用中，要如何贴近业务，让技术进步带来更多的业务绩效改善。</a:t>
            </a:r>
            <a:endParaRPr kumimoji="1" lang="zh-CN" altLang="en-US" sz="1800" dirty="0">
              <a:latin typeface="+mn-lt"/>
              <a:ea typeface="+mn-ea"/>
              <a:cs typeface="+mn-ea"/>
              <a:sym typeface="+mn-lt"/>
            </a:endParaRPr>
          </a:p>
        </p:txBody>
      </p:sp>
      <p:sp>
        <p:nvSpPr>
          <p:cNvPr id="69" name="文本框 68"/>
          <p:cNvSpPr txBox="1"/>
          <p:nvPr/>
        </p:nvSpPr>
        <p:spPr>
          <a:xfrm>
            <a:off x="6024163" y="2044075"/>
            <a:ext cx="5460545" cy="738664"/>
          </a:xfrm>
          <a:prstGeom prst="rect">
            <a:avLst/>
          </a:prstGeom>
          <a:noFill/>
        </p:spPr>
        <p:txBody>
          <a:bodyPr wrap="square" rtlCol="0">
            <a:spAutoFit/>
          </a:bodyPr>
          <a:lstStyle/>
          <a:p>
            <a:r>
              <a:rPr kumimoji="1" lang="zh-CN" altLang="en-US" sz="1400" dirty="0">
                <a:latin typeface="+mn-lt"/>
                <a:ea typeface="+mn-ea"/>
                <a:cs typeface="+mn-ea"/>
                <a:sym typeface="+mn-lt"/>
              </a:rPr>
              <a:t>典型应用一：</a:t>
            </a:r>
            <a:endParaRPr kumimoji="1" lang="en-US" altLang="zh-CN" sz="1400" dirty="0">
              <a:latin typeface="+mn-lt"/>
              <a:ea typeface="+mn-ea"/>
              <a:cs typeface="+mn-ea"/>
              <a:sym typeface="+mn-lt"/>
            </a:endParaRPr>
          </a:p>
          <a:p>
            <a:r>
              <a:rPr kumimoji="1" lang="zh-CN" altLang="en-US" sz="1400" b="0" dirty="0">
                <a:latin typeface="+mn-lt"/>
                <a:ea typeface="+mn-ea"/>
                <a:cs typeface="+mn-ea"/>
                <a:sym typeface="+mn-lt"/>
              </a:rPr>
              <a:t>智能技术在当前</a:t>
            </a:r>
            <a:r>
              <a:rPr kumimoji="1" lang="en-US" altLang="zh-CN" sz="1400" b="0" dirty="0">
                <a:latin typeface="+mn-lt"/>
                <a:ea typeface="+mn-ea"/>
                <a:cs typeface="+mn-ea"/>
                <a:sym typeface="+mn-lt"/>
              </a:rPr>
              <a:t>SAAS</a:t>
            </a:r>
            <a:r>
              <a:rPr kumimoji="1" lang="zh-CN" altLang="en-US" sz="1400" b="0" dirty="0">
                <a:latin typeface="+mn-lt"/>
                <a:ea typeface="+mn-ea"/>
                <a:cs typeface="+mn-ea"/>
                <a:sym typeface="+mn-lt"/>
              </a:rPr>
              <a:t>学习平台中的应用较为普遍，企业内部平台中也有较好应用，学习的碎片化和针对性大大提升（例如平安）</a:t>
            </a:r>
            <a:endParaRPr kumimoji="1" lang="zh-CN" altLang="en-US" sz="1400" b="0" dirty="0">
              <a:latin typeface="+mn-lt"/>
              <a:ea typeface="+mn-ea"/>
              <a:cs typeface="+mn-ea"/>
              <a:sym typeface="+mn-lt"/>
            </a:endParaRPr>
          </a:p>
        </p:txBody>
      </p:sp>
      <p:sp>
        <p:nvSpPr>
          <p:cNvPr id="77" name="文本框 76"/>
          <p:cNvSpPr txBox="1"/>
          <p:nvPr/>
        </p:nvSpPr>
        <p:spPr>
          <a:xfrm>
            <a:off x="7048436" y="3291041"/>
            <a:ext cx="4129080" cy="954107"/>
          </a:xfrm>
          <a:prstGeom prst="rect">
            <a:avLst/>
          </a:prstGeom>
          <a:noFill/>
        </p:spPr>
        <p:txBody>
          <a:bodyPr wrap="square" rtlCol="0">
            <a:spAutoFit/>
          </a:bodyPr>
          <a:lstStyle/>
          <a:p>
            <a:r>
              <a:rPr kumimoji="1" lang="zh-CN" altLang="en-US" sz="1400" dirty="0">
                <a:latin typeface="+mn-lt"/>
                <a:ea typeface="+mn-ea"/>
                <a:cs typeface="+mn-ea"/>
                <a:sym typeface="+mn-lt"/>
              </a:rPr>
              <a:t>典型应用二：</a:t>
            </a:r>
            <a:endParaRPr kumimoji="1" lang="en-US" altLang="zh-CN" sz="1400" dirty="0">
              <a:latin typeface="+mn-lt"/>
              <a:ea typeface="+mn-ea"/>
              <a:cs typeface="+mn-ea"/>
              <a:sym typeface="+mn-lt"/>
            </a:endParaRPr>
          </a:p>
          <a:p>
            <a:r>
              <a:rPr kumimoji="1" lang="zh-CN" altLang="en-US" sz="1400" b="0" dirty="0">
                <a:latin typeface="+mn-lt"/>
                <a:ea typeface="+mn-ea"/>
                <a:cs typeface="+mn-ea"/>
                <a:sym typeface="+mn-lt"/>
              </a:rPr>
              <a:t>与绩效密联的学习技术在优秀企业中日益获得深度应用，并获得良好的绩效回报，包括</a:t>
            </a:r>
            <a:r>
              <a:rPr kumimoji="1" lang="zh-CN" altLang="en-US" sz="1400" b="0" dirty="0">
                <a:ea typeface="华文中宋" panose="02010600040101010101" pitchFamily="2" charset="-122"/>
                <a:cs typeface="+mn-ea"/>
                <a:sym typeface="+mn-lt"/>
              </a:rPr>
              <a:t>训战、</a:t>
            </a:r>
            <a:r>
              <a:rPr kumimoji="1" lang="zh-CN" altLang="en-US" sz="1400" b="0" dirty="0">
                <a:latin typeface="+mn-lt"/>
                <a:ea typeface="+mn-ea"/>
                <a:cs typeface="+mn-ea"/>
                <a:sym typeface="+mn-lt"/>
              </a:rPr>
              <a:t>行动学习、绩效改进等（例如华为、华润等）</a:t>
            </a:r>
            <a:endParaRPr kumimoji="1" lang="zh-CN" altLang="en-US" sz="1400" b="0" dirty="0">
              <a:latin typeface="+mn-lt"/>
              <a:ea typeface="+mn-ea"/>
              <a:cs typeface="+mn-ea"/>
              <a:sym typeface="+mn-lt"/>
            </a:endParaRPr>
          </a:p>
        </p:txBody>
      </p:sp>
      <p:sp>
        <p:nvSpPr>
          <p:cNvPr id="136" name="文本框 135"/>
          <p:cNvSpPr txBox="1"/>
          <p:nvPr/>
        </p:nvSpPr>
        <p:spPr>
          <a:xfrm>
            <a:off x="6462294" y="4937087"/>
            <a:ext cx="4715221" cy="738664"/>
          </a:xfrm>
          <a:prstGeom prst="rect">
            <a:avLst/>
          </a:prstGeom>
          <a:noFill/>
        </p:spPr>
        <p:txBody>
          <a:bodyPr wrap="square" rtlCol="0">
            <a:spAutoFit/>
          </a:bodyPr>
          <a:lstStyle/>
          <a:p>
            <a:r>
              <a:rPr kumimoji="1" lang="zh-CN" altLang="en-US" sz="1400" dirty="0">
                <a:latin typeface="+mn-lt"/>
                <a:ea typeface="+mn-ea"/>
                <a:cs typeface="+mn-ea"/>
                <a:sym typeface="+mn-lt"/>
              </a:rPr>
              <a:t>典型应用三：</a:t>
            </a:r>
            <a:endParaRPr kumimoji="1" lang="en-US" altLang="zh-CN" sz="1400" dirty="0">
              <a:latin typeface="+mn-lt"/>
              <a:ea typeface="+mn-ea"/>
              <a:cs typeface="+mn-ea"/>
              <a:sym typeface="+mn-lt"/>
            </a:endParaRPr>
          </a:p>
          <a:p>
            <a:r>
              <a:rPr kumimoji="1" lang="zh-CN" altLang="en-US" sz="1400" b="0" dirty="0">
                <a:latin typeface="+mn-lt"/>
                <a:ea typeface="+mn-ea"/>
                <a:cs typeface="+mn-ea"/>
                <a:sym typeface="+mn-lt"/>
              </a:rPr>
              <a:t>以知识萃取为基础的经验反馈技术、微课开发等，在企业知识管理中，获得越来越广泛的应用（例如中广核）</a:t>
            </a:r>
            <a:endParaRPr kumimoji="1" lang="zh-CN" altLang="en-US" sz="1400" b="0" dirty="0">
              <a:latin typeface="+mn-lt"/>
              <a:ea typeface="+mn-ea"/>
              <a:cs typeface="+mn-ea"/>
              <a:sym typeface="+mn-lt"/>
            </a:endParaRPr>
          </a:p>
        </p:txBody>
      </p:sp>
      <p:grpSp>
        <p:nvGrpSpPr>
          <p:cNvPr id="137" name="组合 136"/>
          <p:cNvGrpSpPr/>
          <p:nvPr/>
        </p:nvGrpSpPr>
        <p:grpSpPr>
          <a:xfrm>
            <a:off x="1037988" y="1833747"/>
            <a:ext cx="5377698" cy="4488351"/>
            <a:chOff x="899122" y="1881931"/>
            <a:chExt cx="5377698" cy="4488351"/>
          </a:xfrm>
        </p:grpSpPr>
        <p:cxnSp>
          <p:nvCxnSpPr>
            <p:cNvPr id="138" name="直线箭头连接符 6"/>
            <p:cNvCxnSpPr/>
            <p:nvPr/>
          </p:nvCxnSpPr>
          <p:spPr bwMode="auto">
            <a:xfrm flipV="1">
              <a:off x="927068" y="2142057"/>
              <a:ext cx="939452" cy="2131277"/>
            </a:xfrm>
            <a:prstGeom prst="straightConnector1">
              <a:avLst/>
            </a:prstGeom>
            <a:solidFill>
              <a:schemeClr val="bg1"/>
            </a:solidFill>
            <a:ln w="9525" cap="flat" cmpd="sng" algn="ctr">
              <a:solidFill>
                <a:schemeClr val="tx1"/>
              </a:solidFill>
              <a:prstDash val="solid"/>
              <a:round/>
              <a:headEnd type="none" w="med" len="med"/>
              <a:tailEnd type="triangle"/>
            </a:ln>
          </p:spPr>
        </p:cxnSp>
        <p:cxnSp>
          <p:nvCxnSpPr>
            <p:cNvPr id="139" name="直线箭头连接符 7"/>
            <p:cNvCxnSpPr/>
            <p:nvPr/>
          </p:nvCxnSpPr>
          <p:spPr bwMode="auto">
            <a:xfrm>
              <a:off x="927068" y="4273334"/>
              <a:ext cx="103882" cy="1836932"/>
            </a:xfrm>
            <a:prstGeom prst="straightConnector1">
              <a:avLst/>
            </a:prstGeom>
            <a:solidFill>
              <a:schemeClr val="bg1"/>
            </a:solidFill>
            <a:ln w="9525" cap="flat" cmpd="sng" algn="ctr">
              <a:solidFill>
                <a:schemeClr val="tx1"/>
              </a:solidFill>
              <a:prstDash val="solid"/>
              <a:round/>
              <a:headEnd type="none" w="med" len="med"/>
              <a:tailEnd type="triangle"/>
            </a:ln>
          </p:spPr>
        </p:cxnSp>
        <p:cxnSp>
          <p:nvCxnSpPr>
            <p:cNvPr id="140" name="直线箭头连接符 8"/>
            <p:cNvCxnSpPr/>
            <p:nvPr/>
          </p:nvCxnSpPr>
          <p:spPr bwMode="auto">
            <a:xfrm>
              <a:off x="927068" y="4273334"/>
              <a:ext cx="4923995" cy="0"/>
            </a:xfrm>
            <a:prstGeom prst="straightConnector1">
              <a:avLst/>
            </a:prstGeom>
            <a:solidFill>
              <a:schemeClr val="bg1"/>
            </a:solidFill>
            <a:ln w="9525" cap="flat" cmpd="sng" algn="ctr">
              <a:solidFill>
                <a:schemeClr val="tx1"/>
              </a:solidFill>
              <a:prstDash val="solid"/>
              <a:round/>
              <a:headEnd type="none" w="med" len="med"/>
              <a:tailEnd type="triangle"/>
            </a:ln>
          </p:spPr>
        </p:cxnSp>
        <p:sp>
          <p:nvSpPr>
            <p:cNvPr id="141" name="文本框 140"/>
            <p:cNvSpPr txBox="1"/>
            <p:nvPr/>
          </p:nvSpPr>
          <p:spPr>
            <a:xfrm>
              <a:off x="1768471" y="1881931"/>
              <a:ext cx="851515" cy="292388"/>
            </a:xfrm>
            <a:prstGeom prst="rect">
              <a:avLst/>
            </a:prstGeom>
            <a:noFill/>
          </p:spPr>
          <p:txBody>
            <a:bodyPr wrap="none" rtlCol="0">
              <a:spAutoFit/>
            </a:bodyPr>
            <a:lstStyle/>
            <a:p>
              <a:r>
                <a:rPr kumimoji="1" lang="zh-CN" altLang="en-US" dirty="0">
                  <a:latin typeface="华文中宋" panose="02010600040101010101" pitchFamily="2" charset="-122"/>
                  <a:ea typeface="华文中宋" panose="02010600040101010101" pitchFamily="2" charset="-122"/>
                </a:rPr>
                <a:t>技术应用</a:t>
              </a:r>
              <a:endParaRPr kumimoji="1" lang="zh-CN" altLang="en-US" dirty="0">
                <a:latin typeface="华文中宋" panose="02010600040101010101" pitchFamily="2" charset="-122"/>
                <a:ea typeface="华文中宋" panose="02010600040101010101" pitchFamily="2" charset="-122"/>
              </a:endParaRPr>
            </a:p>
          </p:txBody>
        </p:sp>
        <p:sp>
          <p:nvSpPr>
            <p:cNvPr id="142" name="文本框 141"/>
            <p:cNvSpPr txBox="1"/>
            <p:nvPr/>
          </p:nvSpPr>
          <p:spPr>
            <a:xfrm>
              <a:off x="899122" y="6077894"/>
              <a:ext cx="851515" cy="292388"/>
            </a:xfrm>
            <a:prstGeom prst="rect">
              <a:avLst/>
            </a:prstGeom>
            <a:noFill/>
          </p:spPr>
          <p:txBody>
            <a:bodyPr wrap="none" rtlCol="0">
              <a:spAutoFit/>
            </a:bodyPr>
            <a:lstStyle/>
            <a:p>
              <a:r>
                <a:rPr kumimoji="1" lang="zh-CN" altLang="en-US" dirty="0">
                  <a:latin typeface="华文中宋" panose="02010600040101010101" pitchFamily="2" charset="-122"/>
                  <a:ea typeface="华文中宋" panose="02010600040101010101" pitchFamily="2" charset="-122"/>
                </a:rPr>
                <a:t>涵盖范围</a:t>
              </a:r>
              <a:endParaRPr kumimoji="1" lang="zh-CN" altLang="en-US" dirty="0">
                <a:latin typeface="华文中宋" panose="02010600040101010101" pitchFamily="2" charset="-122"/>
                <a:ea typeface="华文中宋" panose="02010600040101010101" pitchFamily="2" charset="-122"/>
              </a:endParaRPr>
            </a:p>
          </p:txBody>
        </p:sp>
        <p:sp>
          <p:nvSpPr>
            <p:cNvPr id="143" name="文本框 142"/>
            <p:cNvSpPr txBox="1"/>
            <p:nvPr/>
          </p:nvSpPr>
          <p:spPr>
            <a:xfrm>
              <a:off x="5425305" y="4331341"/>
              <a:ext cx="851515" cy="292388"/>
            </a:xfrm>
            <a:prstGeom prst="rect">
              <a:avLst/>
            </a:prstGeom>
            <a:noFill/>
          </p:spPr>
          <p:txBody>
            <a:bodyPr wrap="none" rtlCol="0">
              <a:spAutoFit/>
            </a:bodyPr>
            <a:lstStyle/>
            <a:p>
              <a:r>
                <a:rPr kumimoji="1" lang="zh-CN" altLang="en-US" dirty="0">
                  <a:latin typeface="华文中宋" panose="02010600040101010101" pitchFamily="2" charset="-122"/>
                  <a:ea typeface="华文中宋" panose="02010600040101010101" pitchFamily="2" charset="-122"/>
                </a:rPr>
                <a:t>贴近业务</a:t>
              </a:r>
              <a:endParaRPr kumimoji="1" lang="zh-CN" altLang="en-US" dirty="0">
                <a:latin typeface="华文中宋" panose="02010600040101010101" pitchFamily="2" charset="-122"/>
                <a:ea typeface="华文中宋" panose="02010600040101010101" pitchFamily="2" charset="-122"/>
              </a:endParaRPr>
            </a:p>
          </p:txBody>
        </p:sp>
        <p:sp>
          <p:nvSpPr>
            <p:cNvPr id="144" name="文本框 143"/>
            <p:cNvSpPr txBox="1"/>
            <p:nvPr/>
          </p:nvSpPr>
          <p:spPr>
            <a:xfrm>
              <a:off x="1367064" y="2952981"/>
              <a:ext cx="1039067" cy="292388"/>
            </a:xfrm>
            <a:prstGeom prst="rect">
              <a:avLst/>
            </a:prstGeom>
            <a:noFill/>
          </p:spPr>
          <p:txBody>
            <a:bodyPr wrap="none" rtlCol="0">
              <a:spAutoFit/>
            </a:bodyPr>
            <a:lstStyle/>
            <a:p>
              <a:r>
                <a:rPr kumimoji="1" lang="en-US" altLang="zh-CN" dirty="0">
                  <a:latin typeface="华文中宋" panose="02010600040101010101" pitchFamily="2" charset="-122"/>
                  <a:ea typeface="华文中宋" panose="02010600040101010101" pitchFamily="2" charset="-122"/>
                </a:rPr>
                <a:t>E-learning</a:t>
              </a:r>
              <a:endParaRPr kumimoji="1" lang="zh-CN" altLang="en-US" dirty="0">
                <a:latin typeface="华文中宋" panose="02010600040101010101" pitchFamily="2" charset="-122"/>
                <a:ea typeface="华文中宋" panose="02010600040101010101" pitchFamily="2" charset="-122"/>
              </a:endParaRPr>
            </a:p>
          </p:txBody>
        </p:sp>
        <p:sp>
          <p:nvSpPr>
            <p:cNvPr id="145" name="文本框 144"/>
            <p:cNvSpPr txBox="1"/>
            <p:nvPr/>
          </p:nvSpPr>
          <p:spPr>
            <a:xfrm>
              <a:off x="2054339" y="2743063"/>
              <a:ext cx="851515" cy="292388"/>
            </a:xfrm>
            <a:prstGeom prst="rect">
              <a:avLst/>
            </a:prstGeom>
            <a:noFill/>
          </p:spPr>
          <p:txBody>
            <a:bodyPr wrap="none" rtlCol="0">
              <a:spAutoFit/>
            </a:bodyPr>
            <a:lstStyle/>
            <a:p>
              <a:r>
                <a:rPr kumimoji="1" lang="zh-CN" altLang="en-US" dirty="0">
                  <a:latin typeface="华文中宋" panose="02010600040101010101" pitchFamily="2" charset="-122"/>
                  <a:ea typeface="华文中宋" panose="02010600040101010101" pitchFamily="2" charset="-122"/>
                </a:rPr>
                <a:t>移动学习</a:t>
              </a:r>
              <a:endParaRPr kumimoji="1" lang="zh-CN" altLang="en-US" dirty="0">
                <a:latin typeface="华文中宋" panose="02010600040101010101" pitchFamily="2" charset="-122"/>
                <a:ea typeface="华文中宋" panose="02010600040101010101" pitchFamily="2" charset="-122"/>
              </a:endParaRPr>
            </a:p>
          </p:txBody>
        </p:sp>
        <p:sp>
          <p:nvSpPr>
            <p:cNvPr id="146" name="文本框 145"/>
            <p:cNvSpPr txBox="1"/>
            <p:nvPr/>
          </p:nvSpPr>
          <p:spPr>
            <a:xfrm>
              <a:off x="2976814" y="2326495"/>
              <a:ext cx="2159566" cy="292388"/>
            </a:xfrm>
            <a:prstGeom prst="rect">
              <a:avLst/>
            </a:prstGeom>
            <a:noFill/>
          </p:spPr>
          <p:txBody>
            <a:bodyPr wrap="none" rtlCol="0">
              <a:spAutoFit/>
            </a:bodyPr>
            <a:lstStyle/>
            <a:p>
              <a:r>
                <a:rPr kumimoji="1" lang="zh-CN" altLang="en-US" dirty="0">
                  <a:latin typeface="华文中宋" panose="02010600040101010101" pitchFamily="2" charset="-122"/>
                  <a:ea typeface="华文中宋" panose="02010600040101010101" pitchFamily="2" charset="-122"/>
                </a:rPr>
                <a:t>智能技术（</a:t>
              </a:r>
              <a:r>
                <a:rPr kumimoji="1" lang="en-US" altLang="zh-CN" dirty="0">
                  <a:latin typeface="华文中宋" panose="02010600040101010101" pitchFamily="2" charset="-122"/>
                  <a:ea typeface="华文中宋" panose="02010600040101010101" pitchFamily="2" charset="-122"/>
                </a:rPr>
                <a:t>VR</a:t>
              </a:r>
              <a:r>
                <a:rPr kumimoji="1" lang="zh-CN" altLang="en-US" dirty="0">
                  <a:latin typeface="华文中宋" panose="02010600040101010101" pitchFamily="2" charset="-122"/>
                  <a:ea typeface="华文中宋" panose="02010600040101010101" pitchFamily="2" charset="-122"/>
                </a:rPr>
                <a:t>、</a:t>
              </a:r>
              <a:r>
                <a:rPr kumimoji="1" lang="en-US" altLang="zh-CN" dirty="0">
                  <a:latin typeface="华文中宋" panose="02010600040101010101" pitchFamily="2" charset="-122"/>
                  <a:ea typeface="华文中宋" panose="02010600040101010101" pitchFamily="2" charset="-122"/>
                </a:rPr>
                <a:t>AR</a:t>
              </a:r>
              <a:r>
                <a:rPr kumimoji="1" lang="zh-CN" altLang="en-US" dirty="0">
                  <a:latin typeface="华文中宋" panose="02010600040101010101" pitchFamily="2" charset="-122"/>
                  <a:ea typeface="华文中宋" panose="02010600040101010101" pitchFamily="2" charset="-122"/>
                </a:rPr>
                <a:t>、</a:t>
              </a:r>
              <a:r>
                <a:rPr kumimoji="1" lang="en-US" altLang="zh-CN" dirty="0">
                  <a:latin typeface="华文中宋" panose="02010600040101010101" pitchFamily="2" charset="-122"/>
                  <a:ea typeface="华文中宋" panose="02010600040101010101" pitchFamily="2" charset="-122"/>
                </a:rPr>
                <a:t>AI</a:t>
              </a:r>
              <a:r>
                <a:rPr kumimoji="1" lang="zh-CN" altLang="en-US" dirty="0">
                  <a:latin typeface="华文中宋" panose="02010600040101010101" pitchFamily="2" charset="-122"/>
                  <a:ea typeface="华文中宋" panose="02010600040101010101" pitchFamily="2" charset="-122"/>
                </a:rPr>
                <a:t>）</a:t>
              </a:r>
              <a:endParaRPr kumimoji="1" lang="zh-CN" altLang="en-US" dirty="0">
                <a:latin typeface="华文中宋" panose="02010600040101010101" pitchFamily="2" charset="-122"/>
                <a:ea typeface="华文中宋" panose="02010600040101010101" pitchFamily="2" charset="-122"/>
              </a:endParaRPr>
            </a:p>
          </p:txBody>
        </p:sp>
        <p:sp>
          <p:nvSpPr>
            <p:cNvPr id="147" name="菱形 146"/>
            <p:cNvSpPr/>
            <p:nvPr/>
          </p:nvSpPr>
          <p:spPr>
            <a:xfrm>
              <a:off x="3075742" y="3035451"/>
              <a:ext cx="196976" cy="196976"/>
            </a:xfrm>
            <a:prstGeom prst="diamond">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48" name="文本框 147"/>
            <p:cNvSpPr txBox="1"/>
            <p:nvPr/>
          </p:nvSpPr>
          <p:spPr>
            <a:xfrm>
              <a:off x="3251538" y="2987745"/>
              <a:ext cx="686406" cy="276999"/>
            </a:xfrm>
            <a:prstGeom prst="rect">
              <a:avLst/>
            </a:prstGeom>
            <a:noFill/>
          </p:spPr>
          <p:txBody>
            <a:bodyPr wrap="none" rtlCol="0">
              <a:spAutoFit/>
            </a:bodyPr>
            <a:lstStyle/>
            <a:p>
              <a:r>
                <a:rPr kumimoji="1" lang="en-US" altLang="zh-CN" sz="1200" b="0" dirty="0">
                  <a:latin typeface="华文中宋" panose="02010600040101010101" pitchFamily="2" charset="-122"/>
                  <a:ea typeface="华文中宋" panose="02010600040101010101" pitchFamily="2" charset="-122"/>
                </a:rPr>
                <a:t>MOOC</a:t>
              </a:r>
              <a:endParaRPr kumimoji="1" lang="zh-CN" altLang="en-US" sz="1200" b="0" dirty="0">
                <a:latin typeface="华文中宋" panose="02010600040101010101" pitchFamily="2" charset="-122"/>
                <a:ea typeface="华文中宋" panose="02010600040101010101" pitchFamily="2" charset="-122"/>
              </a:endParaRPr>
            </a:p>
          </p:txBody>
        </p:sp>
        <p:sp>
          <p:nvSpPr>
            <p:cNvPr id="149" name="菱形 148"/>
            <p:cNvSpPr/>
            <p:nvPr/>
          </p:nvSpPr>
          <p:spPr>
            <a:xfrm>
              <a:off x="2399457" y="3179547"/>
              <a:ext cx="196976" cy="196976"/>
            </a:xfrm>
            <a:prstGeom prst="diamond">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50" name="文本框 149"/>
            <p:cNvSpPr txBox="1"/>
            <p:nvPr/>
          </p:nvSpPr>
          <p:spPr>
            <a:xfrm>
              <a:off x="2575253" y="3131841"/>
              <a:ext cx="954107" cy="276999"/>
            </a:xfrm>
            <a:prstGeom prst="rect">
              <a:avLst/>
            </a:prstGeom>
            <a:noFill/>
          </p:spPr>
          <p:txBody>
            <a:bodyPr wrap="none" rtlCol="0">
              <a:spAutoFit/>
            </a:bodyPr>
            <a:lstStyle/>
            <a:p>
              <a:r>
                <a:rPr kumimoji="1" lang="zh-CN" altLang="en-US" sz="1200" b="0" dirty="0">
                  <a:latin typeface="华文中宋" panose="02010600040101010101" pitchFamily="2" charset="-122"/>
                  <a:ea typeface="华文中宋" panose="02010600040101010101" pitchFamily="2" charset="-122"/>
                </a:rPr>
                <a:t>社会化学习</a:t>
              </a:r>
              <a:endParaRPr kumimoji="1" lang="zh-CN" altLang="en-US" sz="1200" b="0" dirty="0">
                <a:latin typeface="华文中宋" panose="02010600040101010101" pitchFamily="2" charset="-122"/>
                <a:ea typeface="华文中宋" panose="02010600040101010101" pitchFamily="2" charset="-122"/>
              </a:endParaRPr>
            </a:p>
          </p:txBody>
        </p:sp>
        <p:sp>
          <p:nvSpPr>
            <p:cNvPr id="151" name="菱形 150"/>
            <p:cNvSpPr/>
            <p:nvPr/>
          </p:nvSpPr>
          <p:spPr>
            <a:xfrm>
              <a:off x="2860790" y="3634500"/>
              <a:ext cx="196976" cy="196976"/>
            </a:xfrm>
            <a:prstGeom prst="diamond">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52" name="文本框 151"/>
            <p:cNvSpPr txBox="1"/>
            <p:nvPr/>
          </p:nvSpPr>
          <p:spPr>
            <a:xfrm>
              <a:off x="3036586" y="3586794"/>
              <a:ext cx="954107" cy="276999"/>
            </a:xfrm>
            <a:prstGeom prst="rect">
              <a:avLst/>
            </a:prstGeom>
            <a:noFill/>
          </p:spPr>
          <p:txBody>
            <a:bodyPr wrap="none" rtlCol="0">
              <a:spAutoFit/>
            </a:bodyPr>
            <a:lstStyle/>
            <a:p>
              <a:r>
                <a:rPr kumimoji="1" lang="zh-CN" altLang="en-US" sz="1200" b="0" dirty="0">
                  <a:latin typeface="华文中宋" panose="02010600040101010101" pitchFamily="2" charset="-122"/>
                  <a:ea typeface="华文中宋" panose="02010600040101010101" pitchFamily="2" charset="-122"/>
                </a:rPr>
                <a:t>游戏化学习</a:t>
              </a:r>
              <a:endParaRPr kumimoji="1" lang="zh-CN" altLang="en-US" sz="1200" b="0" dirty="0">
                <a:latin typeface="华文中宋" panose="02010600040101010101" pitchFamily="2" charset="-122"/>
                <a:ea typeface="华文中宋" panose="02010600040101010101" pitchFamily="2" charset="-122"/>
              </a:endParaRPr>
            </a:p>
          </p:txBody>
        </p:sp>
        <p:sp>
          <p:nvSpPr>
            <p:cNvPr id="153" name="菱形 152"/>
            <p:cNvSpPr/>
            <p:nvPr/>
          </p:nvSpPr>
          <p:spPr>
            <a:xfrm>
              <a:off x="2575253" y="3930164"/>
              <a:ext cx="196976" cy="196976"/>
            </a:xfrm>
            <a:prstGeom prst="diamond">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54" name="文本框 153"/>
            <p:cNvSpPr txBox="1"/>
            <p:nvPr/>
          </p:nvSpPr>
          <p:spPr>
            <a:xfrm>
              <a:off x="2751049" y="3882458"/>
              <a:ext cx="800219" cy="276999"/>
            </a:xfrm>
            <a:prstGeom prst="rect">
              <a:avLst/>
            </a:prstGeom>
            <a:noFill/>
          </p:spPr>
          <p:txBody>
            <a:bodyPr wrap="none" rtlCol="0">
              <a:spAutoFit/>
            </a:bodyPr>
            <a:lstStyle/>
            <a:p>
              <a:r>
                <a:rPr kumimoji="1" lang="zh-CN" altLang="en-US" sz="1200" b="0" dirty="0">
                  <a:latin typeface="华文中宋" panose="02010600040101010101" pitchFamily="2" charset="-122"/>
                  <a:ea typeface="华文中宋" panose="02010600040101010101" pitchFamily="2" charset="-122"/>
                </a:rPr>
                <a:t>翻转课堂</a:t>
              </a:r>
              <a:endParaRPr kumimoji="1" lang="zh-CN" altLang="en-US" sz="1200" b="0" dirty="0">
                <a:latin typeface="华文中宋" panose="02010600040101010101" pitchFamily="2" charset="-122"/>
                <a:ea typeface="华文中宋" panose="02010600040101010101" pitchFamily="2" charset="-122"/>
              </a:endParaRPr>
            </a:p>
          </p:txBody>
        </p:sp>
        <p:sp>
          <p:nvSpPr>
            <p:cNvPr id="155" name="菱形 154"/>
            <p:cNvSpPr/>
            <p:nvPr/>
          </p:nvSpPr>
          <p:spPr>
            <a:xfrm>
              <a:off x="1431678" y="4321039"/>
              <a:ext cx="196976" cy="196976"/>
            </a:xfrm>
            <a:prstGeom prst="diamond">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56" name="文本框 155"/>
            <p:cNvSpPr txBox="1"/>
            <p:nvPr/>
          </p:nvSpPr>
          <p:spPr>
            <a:xfrm>
              <a:off x="1607474" y="4273333"/>
              <a:ext cx="1261884" cy="276999"/>
            </a:xfrm>
            <a:prstGeom prst="rect">
              <a:avLst/>
            </a:prstGeom>
            <a:noFill/>
          </p:spPr>
          <p:txBody>
            <a:bodyPr wrap="none" rtlCol="0">
              <a:spAutoFit/>
            </a:bodyPr>
            <a:lstStyle/>
            <a:p>
              <a:r>
                <a:rPr kumimoji="1" lang="zh-CN" altLang="en-US" sz="1200" b="0" dirty="0">
                  <a:latin typeface="华文中宋" panose="02010600040101010101" pitchFamily="2" charset="-122"/>
                  <a:ea typeface="华文中宋" panose="02010600040101010101" pitchFamily="2" charset="-122"/>
                </a:rPr>
                <a:t>结构化在岗训练</a:t>
              </a:r>
              <a:endParaRPr kumimoji="1" lang="zh-CN" altLang="en-US" sz="1200" b="0" dirty="0">
                <a:latin typeface="华文中宋" panose="02010600040101010101" pitchFamily="2" charset="-122"/>
                <a:ea typeface="华文中宋" panose="02010600040101010101" pitchFamily="2" charset="-122"/>
              </a:endParaRPr>
            </a:p>
          </p:txBody>
        </p:sp>
        <p:sp>
          <p:nvSpPr>
            <p:cNvPr id="157" name="菱形 156"/>
            <p:cNvSpPr/>
            <p:nvPr/>
          </p:nvSpPr>
          <p:spPr>
            <a:xfrm>
              <a:off x="2222355" y="4614563"/>
              <a:ext cx="196976" cy="196976"/>
            </a:xfrm>
            <a:prstGeom prst="diamond">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58" name="文本框 157"/>
            <p:cNvSpPr txBox="1"/>
            <p:nvPr/>
          </p:nvSpPr>
          <p:spPr>
            <a:xfrm>
              <a:off x="2398151" y="4566857"/>
              <a:ext cx="686406" cy="276999"/>
            </a:xfrm>
            <a:prstGeom prst="rect">
              <a:avLst/>
            </a:prstGeom>
            <a:noFill/>
          </p:spPr>
          <p:txBody>
            <a:bodyPr wrap="none" rtlCol="0">
              <a:spAutoFit/>
            </a:bodyPr>
            <a:lstStyle/>
            <a:p>
              <a:r>
                <a:rPr kumimoji="1" lang="en-US" altLang="zh-CN" sz="1200" b="0" dirty="0">
                  <a:latin typeface="华文中宋" panose="02010600040101010101" pitchFamily="2" charset="-122"/>
                  <a:ea typeface="华文中宋" panose="02010600040101010101" pitchFamily="2" charset="-122"/>
                </a:rPr>
                <a:t>MOOC</a:t>
              </a:r>
              <a:endParaRPr kumimoji="1" lang="zh-CN" altLang="en-US" sz="1200" b="0" dirty="0">
                <a:latin typeface="华文中宋" panose="02010600040101010101" pitchFamily="2" charset="-122"/>
                <a:ea typeface="华文中宋" panose="02010600040101010101" pitchFamily="2" charset="-122"/>
              </a:endParaRPr>
            </a:p>
          </p:txBody>
        </p:sp>
        <p:sp>
          <p:nvSpPr>
            <p:cNvPr id="159" name="菱形 158"/>
            <p:cNvSpPr/>
            <p:nvPr/>
          </p:nvSpPr>
          <p:spPr>
            <a:xfrm>
              <a:off x="1878543" y="4993669"/>
              <a:ext cx="196976" cy="196976"/>
            </a:xfrm>
            <a:prstGeom prst="diamond">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60" name="文本框 159"/>
            <p:cNvSpPr txBox="1"/>
            <p:nvPr/>
          </p:nvSpPr>
          <p:spPr>
            <a:xfrm>
              <a:off x="2054339" y="4945963"/>
              <a:ext cx="1107996" cy="276999"/>
            </a:xfrm>
            <a:prstGeom prst="rect">
              <a:avLst/>
            </a:prstGeom>
            <a:noFill/>
          </p:spPr>
          <p:txBody>
            <a:bodyPr wrap="none" rtlCol="0">
              <a:spAutoFit/>
            </a:bodyPr>
            <a:lstStyle/>
            <a:p>
              <a:r>
                <a:rPr kumimoji="1" lang="zh-CN" altLang="en-US" sz="1200" b="0" dirty="0">
                  <a:latin typeface="华文中宋" panose="02010600040101010101" pitchFamily="2" charset="-122"/>
                  <a:ea typeface="华文中宋" panose="02010600040101010101" pitchFamily="2" charset="-122"/>
                </a:rPr>
                <a:t>人才发展整合</a:t>
              </a:r>
              <a:endParaRPr kumimoji="1" lang="zh-CN" altLang="en-US" sz="1200" b="0" dirty="0">
                <a:latin typeface="华文中宋" panose="02010600040101010101" pitchFamily="2" charset="-122"/>
                <a:ea typeface="华文中宋" panose="02010600040101010101" pitchFamily="2" charset="-122"/>
              </a:endParaRPr>
            </a:p>
          </p:txBody>
        </p:sp>
        <p:sp>
          <p:nvSpPr>
            <p:cNvPr id="161" name="菱形 160"/>
            <p:cNvSpPr/>
            <p:nvPr/>
          </p:nvSpPr>
          <p:spPr>
            <a:xfrm>
              <a:off x="1054274" y="4819977"/>
              <a:ext cx="196976" cy="196976"/>
            </a:xfrm>
            <a:prstGeom prst="diamond">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62" name="文本框 161"/>
            <p:cNvSpPr txBox="1"/>
            <p:nvPr/>
          </p:nvSpPr>
          <p:spPr>
            <a:xfrm>
              <a:off x="1240660" y="4762364"/>
              <a:ext cx="800219" cy="276999"/>
            </a:xfrm>
            <a:prstGeom prst="rect">
              <a:avLst/>
            </a:prstGeom>
            <a:noFill/>
          </p:spPr>
          <p:txBody>
            <a:bodyPr wrap="none" rtlCol="0">
              <a:spAutoFit/>
            </a:bodyPr>
            <a:lstStyle/>
            <a:p>
              <a:r>
                <a:rPr kumimoji="1" lang="zh-CN" altLang="en-US" sz="1200" b="0" dirty="0">
                  <a:latin typeface="华文中宋" panose="02010600040101010101" pitchFamily="2" charset="-122"/>
                  <a:ea typeface="华文中宋" panose="02010600040101010101" pitchFamily="2" charset="-122"/>
                </a:rPr>
                <a:t>教学设计</a:t>
              </a:r>
              <a:endParaRPr kumimoji="1" lang="zh-CN" altLang="en-US" sz="1200" b="0" dirty="0">
                <a:latin typeface="华文中宋" panose="02010600040101010101" pitchFamily="2" charset="-122"/>
                <a:ea typeface="华文中宋" panose="02010600040101010101" pitchFamily="2" charset="-122"/>
              </a:endParaRPr>
            </a:p>
          </p:txBody>
        </p:sp>
        <p:sp>
          <p:nvSpPr>
            <p:cNvPr id="163" name="菱形 162"/>
            <p:cNvSpPr/>
            <p:nvPr/>
          </p:nvSpPr>
          <p:spPr>
            <a:xfrm>
              <a:off x="1415426" y="5266511"/>
              <a:ext cx="196976" cy="196976"/>
            </a:xfrm>
            <a:prstGeom prst="diamond">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64" name="文本框 163"/>
            <p:cNvSpPr txBox="1"/>
            <p:nvPr/>
          </p:nvSpPr>
          <p:spPr>
            <a:xfrm>
              <a:off x="1591222" y="5218805"/>
              <a:ext cx="800219" cy="276999"/>
            </a:xfrm>
            <a:prstGeom prst="rect">
              <a:avLst/>
            </a:prstGeom>
            <a:noFill/>
          </p:spPr>
          <p:txBody>
            <a:bodyPr wrap="none" rtlCol="0">
              <a:spAutoFit/>
            </a:bodyPr>
            <a:lstStyle/>
            <a:p>
              <a:r>
                <a:rPr kumimoji="1" lang="zh-CN" altLang="en-US" sz="1200" b="0" dirty="0">
                  <a:latin typeface="华文中宋" panose="02010600040101010101" pitchFamily="2" charset="-122"/>
                  <a:ea typeface="华文中宋" panose="02010600040101010101" pitchFamily="2" charset="-122"/>
                </a:rPr>
                <a:t>培训管理</a:t>
              </a:r>
              <a:endParaRPr kumimoji="1" lang="zh-CN" altLang="en-US" sz="1200" b="0" dirty="0">
                <a:latin typeface="华文中宋" panose="02010600040101010101" pitchFamily="2" charset="-122"/>
                <a:ea typeface="华文中宋" panose="02010600040101010101" pitchFamily="2" charset="-122"/>
              </a:endParaRPr>
            </a:p>
          </p:txBody>
        </p:sp>
        <p:sp>
          <p:nvSpPr>
            <p:cNvPr id="165" name="菱形 164"/>
            <p:cNvSpPr/>
            <p:nvPr/>
          </p:nvSpPr>
          <p:spPr>
            <a:xfrm>
              <a:off x="3129364" y="5266511"/>
              <a:ext cx="196976" cy="196976"/>
            </a:xfrm>
            <a:prstGeom prst="diamond">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66" name="文本框 165"/>
            <p:cNvSpPr txBox="1"/>
            <p:nvPr/>
          </p:nvSpPr>
          <p:spPr>
            <a:xfrm>
              <a:off x="3305160" y="5218805"/>
              <a:ext cx="800219" cy="276999"/>
            </a:xfrm>
            <a:prstGeom prst="rect">
              <a:avLst/>
            </a:prstGeom>
            <a:noFill/>
          </p:spPr>
          <p:txBody>
            <a:bodyPr wrap="none" rtlCol="0">
              <a:spAutoFit/>
            </a:bodyPr>
            <a:lstStyle/>
            <a:p>
              <a:r>
                <a:rPr kumimoji="1" lang="zh-CN" altLang="en-US" sz="1200" b="0" dirty="0">
                  <a:latin typeface="华文中宋" panose="02010600040101010101" pitchFamily="2" charset="-122"/>
                  <a:ea typeface="华文中宋" panose="02010600040101010101" pitchFamily="2" charset="-122"/>
                </a:rPr>
                <a:t>组织发展</a:t>
              </a:r>
              <a:endParaRPr kumimoji="1" lang="zh-CN" altLang="en-US" sz="1200" b="0" dirty="0">
                <a:latin typeface="华文中宋" panose="02010600040101010101" pitchFamily="2" charset="-122"/>
                <a:ea typeface="华文中宋" panose="02010600040101010101" pitchFamily="2" charset="-122"/>
              </a:endParaRPr>
            </a:p>
          </p:txBody>
        </p:sp>
        <p:sp>
          <p:nvSpPr>
            <p:cNvPr id="167" name="菱形 166"/>
            <p:cNvSpPr/>
            <p:nvPr/>
          </p:nvSpPr>
          <p:spPr>
            <a:xfrm>
              <a:off x="3367305" y="5539353"/>
              <a:ext cx="196976" cy="196976"/>
            </a:xfrm>
            <a:prstGeom prst="diamond">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68" name="文本框 167"/>
            <p:cNvSpPr txBox="1"/>
            <p:nvPr/>
          </p:nvSpPr>
          <p:spPr>
            <a:xfrm>
              <a:off x="3543101" y="5491647"/>
              <a:ext cx="954107" cy="276999"/>
            </a:xfrm>
            <a:prstGeom prst="rect">
              <a:avLst/>
            </a:prstGeom>
            <a:noFill/>
          </p:spPr>
          <p:txBody>
            <a:bodyPr wrap="none" rtlCol="0">
              <a:spAutoFit/>
            </a:bodyPr>
            <a:lstStyle/>
            <a:p>
              <a:r>
                <a:rPr kumimoji="1" lang="zh-CN" altLang="en-US" sz="1200" b="0" dirty="0">
                  <a:latin typeface="华文中宋" panose="02010600040101010101" pitchFamily="2" charset="-122"/>
                  <a:ea typeface="华文中宋" panose="02010600040101010101" pitchFamily="2" charset="-122"/>
                </a:rPr>
                <a:t>学习型组织</a:t>
              </a:r>
              <a:endParaRPr kumimoji="1" lang="zh-CN" altLang="en-US" sz="1200" b="0" dirty="0">
                <a:latin typeface="华文中宋" panose="02010600040101010101" pitchFamily="2" charset="-122"/>
                <a:ea typeface="华文中宋" panose="02010600040101010101" pitchFamily="2" charset="-122"/>
              </a:endParaRPr>
            </a:p>
          </p:txBody>
        </p:sp>
        <p:sp>
          <p:nvSpPr>
            <p:cNvPr id="169" name="文本框 168"/>
            <p:cNvSpPr txBox="1"/>
            <p:nvPr/>
          </p:nvSpPr>
          <p:spPr>
            <a:xfrm>
              <a:off x="3560308" y="3959172"/>
              <a:ext cx="851515" cy="292388"/>
            </a:xfrm>
            <a:prstGeom prst="rect">
              <a:avLst/>
            </a:prstGeom>
            <a:noFill/>
          </p:spPr>
          <p:txBody>
            <a:bodyPr wrap="none" rtlCol="0">
              <a:spAutoFit/>
            </a:bodyPr>
            <a:lstStyle/>
            <a:p>
              <a:r>
                <a:rPr kumimoji="1" lang="zh-CN" altLang="en-US" dirty="0">
                  <a:latin typeface="华文中宋" panose="02010600040101010101" pitchFamily="2" charset="-122"/>
                  <a:ea typeface="华文中宋" panose="02010600040101010101" pitchFamily="2" charset="-122"/>
                </a:rPr>
                <a:t>行动学习</a:t>
              </a:r>
              <a:endParaRPr kumimoji="1" lang="zh-CN" altLang="en-US" dirty="0">
                <a:latin typeface="华文中宋" panose="02010600040101010101" pitchFamily="2" charset="-122"/>
                <a:ea typeface="华文中宋" panose="02010600040101010101" pitchFamily="2" charset="-122"/>
              </a:endParaRPr>
            </a:p>
          </p:txBody>
        </p:sp>
        <p:sp>
          <p:nvSpPr>
            <p:cNvPr id="170" name="文本框 169"/>
            <p:cNvSpPr txBox="1"/>
            <p:nvPr/>
          </p:nvSpPr>
          <p:spPr>
            <a:xfrm>
              <a:off x="2091976" y="5637841"/>
              <a:ext cx="851515" cy="292388"/>
            </a:xfrm>
            <a:prstGeom prst="rect">
              <a:avLst/>
            </a:prstGeom>
            <a:noFill/>
          </p:spPr>
          <p:txBody>
            <a:bodyPr wrap="none" rtlCol="0">
              <a:spAutoFit/>
            </a:bodyPr>
            <a:lstStyle/>
            <a:p>
              <a:r>
                <a:rPr kumimoji="1" lang="en-US" altLang="zh-CN" dirty="0">
                  <a:latin typeface="华文中宋" panose="02010600040101010101" pitchFamily="2" charset="-122"/>
                  <a:ea typeface="华文中宋" panose="02010600040101010101" pitchFamily="2" charset="-122"/>
                </a:rPr>
                <a:t>1</a:t>
              </a:r>
              <a:r>
                <a:rPr kumimoji="1" lang="zh-CN" altLang="en-US" dirty="0">
                  <a:latin typeface="华文中宋" panose="02010600040101010101" pitchFamily="2" charset="-122"/>
                  <a:ea typeface="华文中宋" panose="02010600040101010101" pitchFamily="2" charset="-122"/>
                </a:rPr>
                <a:t> 体系化</a:t>
              </a:r>
              <a:endParaRPr kumimoji="1" lang="zh-CN" altLang="en-US" dirty="0">
                <a:latin typeface="华文中宋" panose="02010600040101010101" pitchFamily="2" charset="-122"/>
                <a:ea typeface="华文中宋" panose="02010600040101010101" pitchFamily="2" charset="-122"/>
              </a:endParaRPr>
            </a:p>
          </p:txBody>
        </p:sp>
        <p:sp>
          <p:nvSpPr>
            <p:cNvPr id="171" name="文本框 170"/>
            <p:cNvSpPr txBox="1"/>
            <p:nvPr/>
          </p:nvSpPr>
          <p:spPr>
            <a:xfrm>
              <a:off x="3335351" y="4590103"/>
              <a:ext cx="851515" cy="292388"/>
            </a:xfrm>
            <a:prstGeom prst="rect">
              <a:avLst/>
            </a:prstGeom>
            <a:noFill/>
          </p:spPr>
          <p:txBody>
            <a:bodyPr wrap="none" rtlCol="0">
              <a:spAutoFit/>
            </a:bodyPr>
            <a:lstStyle/>
            <a:p>
              <a:r>
                <a:rPr kumimoji="1" lang="en-US" altLang="zh-CN" dirty="0">
                  <a:latin typeface="华文中宋" panose="02010600040101010101" pitchFamily="2" charset="-122"/>
                  <a:ea typeface="华文中宋" panose="02010600040101010101" pitchFamily="2" charset="-122"/>
                </a:rPr>
                <a:t>2</a:t>
              </a:r>
              <a:r>
                <a:rPr kumimoji="1" lang="zh-CN" altLang="en-US" dirty="0">
                  <a:latin typeface="华文中宋" panose="02010600040101010101" pitchFamily="2" charset="-122"/>
                  <a:ea typeface="华文中宋" panose="02010600040101010101" pitchFamily="2" charset="-122"/>
                </a:rPr>
                <a:t> 混合化</a:t>
              </a:r>
              <a:endParaRPr kumimoji="1" lang="zh-CN" altLang="en-US" dirty="0">
                <a:latin typeface="华文中宋" panose="02010600040101010101" pitchFamily="2" charset="-122"/>
                <a:ea typeface="华文中宋" panose="02010600040101010101" pitchFamily="2" charset="-122"/>
              </a:endParaRPr>
            </a:p>
          </p:txBody>
        </p:sp>
        <p:sp>
          <p:nvSpPr>
            <p:cNvPr id="172" name="菱形 171"/>
            <p:cNvSpPr/>
            <p:nvPr/>
          </p:nvSpPr>
          <p:spPr>
            <a:xfrm>
              <a:off x="4144619" y="4700732"/>
              <a:ext cx="196976" cy="196976"/>
            </a:xfrm>
            <a:prstGeom prst="diamond">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73" name="文本框 172"/>
            <p:cNvSpPr txBox="1"/>
            <p:nvPr/>
          </p:nvSpPr>
          <p:spPr>
            <a:xfrm>
              <a:off x="4320415" y="4653026"/>
              <a:ext cx="800219" cy="276999"/>
            </a:xfrm>
            <a:prstGeom prst="rect">
              <a:avLst/>
            </a:prstGeom>
            <a:noFill/>
          </p:spPr>
          <p:txBody>
            <a:bodyPr wrap="none" rtlCol="0">
              <a:spAutoFit/>
            </a:bodyPr>
            <a:lstStyle/>
            <a:p>
              <a:r>
                <a:rPr kumimoji="1" lang="zh-CN" altLang="en-US" sz="1200" b="0" dirty="0">
                  <a:latin typeface="华文中宋" panose="02010600040101010101" pitchFamily="2" charset="-122"/>
                  <a:ea typeface="华文中宋" panose="02010600040101010101" pitchFamily="2" charset="-122"/>
                </a:rPr>
                <a:t>绩效改进</a:t>
              </a:r>
              <a:endParaRPr kumimoji="1" lang="zh-CN" altLang="en-US" sz="1200" b="0" dirty="0">
                <a:latin typeface="华文中宋" panose="02010600040101010101" pitchFamily="2" charset="-122"/>
                <a:ea typeface="华文中宋" panose="02010600040101010101" pitchFamily="2" charset="-122"/>
              </a:endParaRPr>
            </a:p>
          </p:txBody>
        </p:sp>
        <p:sp>
          <p:nvSpPr>
            <p:cNvPr id="174" name="菱形 173"/>
            <p:cNvSpPr/>
            <p:nvPr/>
          </p:nvSpPr>
          <p:spPr>
            <a:xfrm>
              <a:off x="4009341" y="5008573"/>
              <a:ext cx="196976" cy="196976"/>
            </a:xfrm>
            <a:prstGeom prst="diamond">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75" name="文本框 174"/>
            <p:cNvSpPr txBox="1"/>
            <p:nvPr/>
          </p:nvSpPr>
          <p:spPr>
            <a:xfrm>
              <a:off x="4185137" y="4960867"/>
              <a:ext cx="492443" cy="276999"/>
            </a:xfrm>
            <a:prstGeom prst="rect">
              <a:avLst/>
            </a:prstGeom>
            <a:noFill/>
          </p:spPr>
          <p:txBody>
            <a:bodyPr wrap="none" rtlCol="0">
              <a:spAutoFit/>
            </a:bodyPr>
            <a:lstStyle/>
            <a:p>
              <a:r>
                <a:rPr kumimoji="1" lang="zh-CN" altLang="en-US" sz="1200" b="0" dirty="0">
                  <a:latin typeface="华文中宋" panose="02010600040101010101" pitchFamily="2" charset="-122"/>
                  <a:ea typeface="华文中宋" panose="02010600040101010101" pitchFamily="2" charset="-122"/>
                </a:rPr>
                <a:t>复盘</a:t>
              </a:r>
              <a:endParaRPr kumimoji="1" lang="zh-CN" altLang="en-US" sz="1200" b="0" dirty="0">
                <a:latin typeface="华文中宋" panose="02010600040101010101" pitchFamily="2" charset="-122"/>
                <a:ea typeface="华文中宋" panose="02010600040101010101" pitchFamily="2" charset="-122"/>
              </a:endParaRPr>
            </a:p>
          </p:txBody>
        </p:sp>
        <p:sp>
          <p:nvSpPr>
            <p:cNvPr id="176" name="菱形 175"/>
            <p:cNvSpPr/>
            <p:nvPr/>
          </p:nvSpPr>
          <p:spPr>
            <a:xfrm>
              <a:off x="4449291" y="4349927"/>
              <a:ext cx="196976" cy="196976"/>
            </a:xfrm>
            <a:prstGeom prst="diamond">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77" name="文本框 176"/>
            <p:cNvSpPr txBox="1"/>
            <p:nvPr/>
          </p:nvSpPr>
          <p:spPr>
            <a:xfrm>
              <a:off x="4625087" y="4302221"/>
              <a:ext cx="800219" cy="276999"/>
            </a:xfrm>
            <a:prstGeom prst="rect">
              <a:avLst/>
            </a:prstGeom>
            <a:noFill/>
          </p:spPr>
          <p:txBody>
            <a:bodyPr wrap="none" rtlCol="0">
              <a:spAutoFit/>
            </a:bodyPr>
            <a:lstStyle/>
            <a:p>
              <a:r>
                <a:rPr kumimoji="1" lang="zh-CN" altLang="en-US" sz="1200" b="0" dirty="0">
                  <a:latin typeface="华文中宋" panose="02010600040101010101" pitchFamily="2" charset="-122"/>
                  <a:ea typeface="华文中宋" panose="02010600040101010101" pitchFamily="2" charset="-122"/>
                </a:rPr>
                <a:t>知识萃取</a:t>
              </a:r>
              <a:endParaRPr kumimoji="1" lang="zh-CN" altLang="en-US" sz="1200" b="0" dirty="0">
                <a:latin typeface="华文中宋" panose="02010600040101010101" pitchFamily="2" charset="-122"/>
                <a:ea typeface="华文中宋" panose="02010600040101010101" pitchFamily="2" charset="-122"/>
              </a:endParaRPr>
            </a:p>
          </p:txBody>
        </p:sp>
        <p:sp>
          <p:nvSpPr>
            <p:cNvPr id="178" name="菱形 177"/>
            <p:cNvSpPr/>
            <p:nvPr/>
          </p:nvSpPr>
          <p:spPr>
            <a:xfrm>
              <a:off x="4103835" y="2703492"/>
              <a:ext cx="196976" cy="196976"/>
            </a:xfrm>
            <a:prstGeom prst="diamond">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79" name="文本框 178"/>
            <p:cNvSpPr txBox="1"/>
            <p:nvPr/>
          </p:nvSpPr>
          <p:spPr>
            <a:xfrm>
              <a:off x="4279631" y="2655786"/>
              <a:ext cx="492443" cy="276999"/>
            </a:xfrm>
            <a:prstGeom prst="rect">
              <a:avLst/>
            </a:prstGeom>
            <a:noFill/>
          </p:spPr>
          <p:txBody>
            <a:bodyPr wrap="none" rtlCol="0">
              <a:spAutoFit/>
            </a:bodyPr>
            <a:lstStyle/>
            <a:p>
              <a:r>
                <a:rPr kumimoji="1" lang="zh-CN" altLang="en-US" sz="1200" b="0" dirty="0">
                  <a:latin typeface="华文中宋" panose="02010600040101010101" pitchFamily="2" charset="-122"/>
                  <a:ea typeface="华文中宋" panose="02010600040101010101" pitchFamily="2" charset="-122"/>
                </a:rPr>
                <a:t>微课</a:t>
              </a:r>
              <a:endParaRPr kumimoji="1" lang="zh-CN" altLang="en-US" sz="1200" b="0" dirty="0">
                <a:latin typeface="华文中宋" panose="02010600040101010101" pitchFamily="2" charset="-122"/>
                <a:ea typeface="华文中宋" panose="02010600040101010101" pitchFamily="2" charset="-122"/>
              </a:endParaRPr>
            </a:p>
          </p:txBody>
        </p:sp>
        <p:sp>
          <p:nvSpPr>
            <p:cNvPr id="180" name="文本框 179"/>
            <p:cNvSpPr txBox="1"/>
            <p:nvPr/>
          </p:nvSpPr>
          <p:spPr>
            <a:xfrm>
              <a:off x="4279631" y="3024578"/>
              <a:ext cx="851515" cy="292388"/>
            </a:xfrm>
            <a:prstGeom prst="rect">
              <a:avLst/>
            </a:prstGeom>
            <a:noFill/>
          </p:spPr>
          <p:txBody>
            <a:bodyPr wrap="none" rtlCol="0">
              <a:spAutoFit/>
            </a:bodyPr>
            <a:lstStyle/>
            <a:p>
              <a:r>
                <a:rPr kumimoji="1" lang="en-US" altLang="zh-CN" dirty="0">
                  <a:latin typeface="华文中宋" panose="02010600040101010101" pitchFamily="2" charset="-122"/>
                  <a:ea typeface="华文中宋" panose="02010600040101010101" pitchFamily="2" charset="-122"/>
                </a:rPr>
                <a:t>3</a:t>
              </a:r>
              <a:r>
                <a:rPr kumimoji="1" lang="zh-CN" altLang="en-US" dirty="0">
                  <a:latin typeface="华文中宋" panose="02010600040101010101" pitchFamily="2" charset="-122"/>
                  <a:ea typeface="华文中宋" panose="02010600040101010101" pitchFamily="2" charset="-122"/>
                </a:rPr>
                <a:t> 数字化</a:t>
              </a:r>
              <a:endParaRPr kumimoji="1" lang="zh-CN" altLang="en-US" dirty="0">
                <a:latin typeface="华文中宋" panose="02010600040101010101" pitchFamily="2" charset="-122"/>
                <a:ea typeface="华文中宋" panose="02010600040101010101" pitchFamily="2" charset="-122"/>
              </a:endParaRPr>
            </a:p>
          </p:txBody>
        </p:sp>
        <p:sp>
          <p:nvSpPr>
            <p:cNvPr id="181" name="文本框 180"/>
            <p:cNvSpPr txBox="1"/>
            <p:nvPr/>
          </p:nvSpPr>
          <p:spPr>
            <a:xfrm>
              <a:off x="4999548" y="3631880"/>
              <a:ext cx="851515" cy="292388"/>
            </a:xfrm>
            <a:prstGeom prst="rect">
              <a:avLst/>
            </a:prstGeom>
            <a:noFill/>
          </p:spPr>
          <p:txBody>
            <a:bodyPr wrap="none" rtlCol="0">
              <a:spAutoFit/>
            </a:bodyPr>
            <a:lstStyle/>
            <a:p>
              <a:r>
                <a:rPr kumimoji="1" lang="en-US" altLang="zh-CN" dirty="0">
                  <a:latin typeface="华文中宋" panose="02010600040101010101" pitchFamily="2" charset="-122"/>
                  <a:ea typeface="华文中宋" panose="02010600040101010101" pitchFamily="2" charset="-122"/>
                </a:rPr>
                <a:t>4</a:t>
              </a:r>
              <a:r>
                <a:rPr kumimoji="1" lang="zh-CN" altLang="en-US" dirty="0">
                  <a:latin typeface="华文中宋" panose="02010600040101010101" pitchFamily="2" charset="-122"/>
                  <a:ea typeface="华文中宋" panose="02010600040101010101" pitchFamily="2" charset="-122"/>
                </a:rPr>
                <a:t> 嵌入式</a:t>
              </a:r>
              <a:endParaRPr kumimoji="1" lang="zh-CN" altLang="en-US" dirty="0">
                <a:latin typeface="华文中宋" panose="02010600040101010101" pitchFamily="2" charset="-122"/>
                <a:ea typeface="华文中宋" panose="02010600040101010101" pitchFamily="2" charset="-122"/>
              </a:endParaRPr>
            </a:p>
          </p:txBody>
        </p:sp>
        <p:sp>
          <p:nvSpPr>
            <p:cNvPr id="182" name="文本框 181"/>
            <p:cNvSpPr txBox="1"/>
            <p:nvPr/>
          </p:nvSpPr>
          <p:spPr>
            <a:xfrm>
              <a:off x="3884361" y="3399448"/>
              <a:ext cx="712054" cy="276999"/>
            </a:xfrm>
            <a:prstGeom prst="rect">
              <a:avLst/>
            </a:prstGeom>
            <a:noFill/>
          </p:spPr>
          <p:txBody>
            <a:bodyPr wrap="none" rtlCol="0">
              <a:spAutoFit/>
            </a:bodyPr>
            <a:lstStyle/>
            <a:p>
              <a:r>
                <a:rPr kumimoji="1" lang="en-US" altLang="zh-CN" sz="1200" b="0" dirty="0">
                  <a:latin typeface="华文中宋" panose="02010600040101010101" pitchFamily="2" charset="-122"/>
                  <a:ea typeface="华文中宋" panose="02010600040101010101" pitchFamily="2" charset="-122"/>
                </a:rPr>
                <a:t>6D</a:t>
              </a:r>
              <a:r>
                <a:rPr kumimoji="1" lang="zh-CN" altLang="en-US" sz="1200" b="0" dirty="0">
                  <a:latin typeface="华文中宋" panose="02010600040101010101" pitchFamily="2" charset="-122"/>
                  <a:ea typeface="华文中宋" panose="02010600040101010101" pitchFamily="2" charset="-122"/>
                </a:rPr>
                <a:t>法则</a:t>
              </a:r>
              <a:endParaRPr kumimoji="1" lang="zh-CN" altLang="en-US" sz="1200" b="0" dirty="0">
                <a:latin typeface="华文中宋" panose="02010600040101010101" pitchFamily="2" charset="-122"/>
                <a:ea typeface="华文中宋" panose="02010600040101010101" pitchFamily="2" charset="-122"/>
              </a:endParaRPr>
            </a:p>
          </p:txBody>
        </p:sp>
        <p:sp>
          <p:nvSpPr>
            <p:cNvPr id="183" name="菱形 182"/>
            <p:cNvSpPr/>
            <p:nvPr/>
          </p:nvSpPr>
          <p:spPr>
            <a:xfrm>
              <a:off x="4777031" y="3368483"/>
              <a:ext cx="196976" cy="196976"/>
            </a:xfrm>
            <a:prstGeom prst="diamond">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84" name="文本框 183"/>
            <p:cNvSpPr txBox="1"/>
            <p:nvPr/>
          </p:nvSpPr>
          <p:spPr>
            <a:xfrm>
              <a:off x="4952827" y="3320777"/>
              <a:ext cx="800219" cy="276999"/>
            </a:xfrm>
            <a:prstGeom prst="rect">
              <a:avLst/>
            </a:prstGeom>
            <a:noFill/>
          </p:spPr>
          <p:txBody>
            <a:bodyPr wrap="none" rtlCol="0">
              <a:spAutoFit/>
            </a:bodyPr>
            <a:lstStyle>
              <a:defPPr>
                <a:defRPr lang="en-US"/>
              </a:defPPr>
              <a:lvl1pPr>
                <a:defRPr kumimoji="1" sz="1200" b="0">
                  <a:latin typeface="华文中宋" panose="02010600040101010101" pitchFamily="2" charset="-122"/>
                  <a:ea typeface="华文中宋" panose="02010600040101010101" pitchFamily="2" charset="-122"/>
                </a:defRPr>
              </a:lvl1pPr>
            </a:lstStyle>
            <a:p>
              <a:r>
                <a:rPr lang="zh-CN" altLang="en-US" dirty="0"/>
                <a:t>绩效支持</a:t>
              </a:r>
              <a:endParaRPr lang="zh-CN" altLang="en-US" dirty="0"/>
            </a:p>
          </p:txBody>
        </p:sp>
        <p:sp>
          <p:nvSpPr>
            <p:cNvPr id="185" name="文本框 184"/>
            <p:cNvSpPr txBox="1"/>
            <p:nvPr/>
          </p:nvSpPr>
          <p:spPr>
            <a:xfrm>
              <a:off x="1566405" y="3673595"/>
              <a:ext cx="1018227" cy="292388"/>
            </a:xfrm>
            <a:prstGeom prst="rect">
              <a:avLst/>
            </a:prstGeom>
            <a:noFill/>
          </p:spPr>
          <p:txBody>
            <a:bodyPr wrap="none" rtlCol="0">
              <a:spAutoFit/>
            </a:bodyPr>
            <a:lstStyle/>
            <a:p>
              <a:r>
                <a:rPr kumimoji="1" lang="zh-CN" altLang="en-US" dirty="0">
                  <a:latin typeface="华文中宋" panose="02010600040101010101" pitchFamily="2" charset="-122"/>
                  <a:ea typeface="华文中宋" panose="02010600040101010101" pitchFamily="2" charset="-122"/>
                </a:rPr>
                <a:t>混合式学习</a:t>
              </a:r>
              <a:endParaRPr kumimoji="1" lang="zh-CN" altLang="en-US" dirty="0">
                <a:latin typeface="华文中宋" panose="02010600040101010101" pitchFamily="2" charset="-122"/>
                <a:ea typeface="华文中宋" panose="02010600040101010101" pitchFamily="2" charset="-122"/>
              </a:endParaRPr>
            </a:p>
          </p:txBody>
        </p:sp>
        <p:sp>
          <p:nvSpPr>
            <p:cNvPr id="186" name="椭圆 185"/>
            <p:cNvSpPr/>
            <p:nvPr/>
          </p:nvSpPr>
          <p:spPr>
            <a:xfrm>
              <a:off x="2845408" y="2284982"/>
              <a:ext cx="2252735" cy="371797"/>
            </a:xfrm>
            <a:prstGeom prst="ellipse">
              <a:avLst/>
            </a:prstGeom>
            <a:ln>
              <a:solidFill>
                <a:srgbClr val="C00000"/>
              </a:solidFill>
              <a:prstDash val="dash"/>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87" name="椭圆 186"/>
            <p:cNvSpPr/>
            <p:nvPr/>
          </p:nvSpPr>
          <p:spPr>
            <a:xfrm>
              <a:off x="3986064" y="4580174"/>
              <a:ext cx="1692514" cy="371797"/>
            </a:xfrm>
            <a:prstGeom prst="ellipse">
              <a:avLst/>
            </a:prstGeom>
            <a:ln>
              <a:solidFill>
                <a:srgbClr val="C00000"/>
              </a:solidFill>
              <a:prstDash val="dash"/>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88" name="菱形 187"/>
            <p:cNvSpPr/>
            <p:nvPr/>
          </p:nvSpPr>
          <p:spPr>
            <a:xfrm>
              <a:off x="4629217" y="3936679"/>
              <a:ext cx="196976" cy="196976"/>
            </a:xfrm>
            <a:prstGeom prst="diamond">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89" name="文本框 188"/>
            <p:cNvSpPr txBox="1"/>
            <p:nvPr/>
          </p:nvSpPr>
          <p:spPr>
            <a:xfrm>
              <a:off x="4805013" y="3888973"/>
              <a:ext cx="492443" cy="276999"/>
            </a:xfrm>
            <a:prstGeom prst="rect">
              <a:avLst/>
            </a:prstGeom>
            <a:noFill/>
          </p:spPr>
          <p:txBody>
            <a:bodyPr wrap="none" rtlCol="0">
              <a:spAutoFit/>
            </a:bodyPr>
            <a:lstStyle>
              <a:defPPr>
                <a:defRPr lang="en-US"/>
              </a:defPPr>
              <a:lvl1pPr>
                <a:defRPr kumimoji="1" sz="1200" b="0">
                  <a:latin typeface="华文中宋" panose="02010600040101010101" pitchFamily="2" charset="-122"/>
                  <a:ea typeface="华文中宋" panose="02010600040101010101" pitchFamily="2" charset="-122"/>
                </a:defRPr>
              </a:lvl1pPr>
            </a:lstStyle>
            <a:p>
              <a:r>
                <a:rPr lang="zh-CN" altLang="en-US" dirty="0"/>
                <a:t>训战</a:t>
              </a:r>
              <a:endParaRPr lang="zh-CN" altLang="en-US" dirty="0"/>
            </a:p>
          </p:txBody>
        </p:sp>
        <p:sp>
          <p:nvSpPr>
            <p:cNvPr id="190" name="椭圆 189"/>
            <p:cNvSpPr/>
            <p:nvPr/>
          </p:nvSpPr>
          <p:spPr>
            <a:xfrm>
              <a:off x="4428993" y="3861070"/>
              <a:ext cx="1692514" cy="371797"/>
            </a:xfrm>
            <a:prstGeom prst="ellipse">
              <a:avLst/>
            </a:prstGeom>
            <a:ln>
              <a:solidFill>
                <a:srgbClr val="C00000"/>
              </a:solidFill>
              <a:prstDash val="dash"/>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191" name="椭圆 190"/>
            <p:cNvSpPr/>
            <p:nvPr/>
          </p:nvSpPr>
          <p:spPr>
            <a:xfrm>
              <a:off x="4310454" y="4227229"/>
              <a:ext cx="1692514" cy="371797"/>
            </a:xfrm>
            <a:prstGeom prst="ellipse">
              <a:avLst/>
            </a:prstGeom>
            <a:ln>
              <a:solidFill>
                <a:srgbClr val="C00000"/>
              </a:solidFill>
              <a:prstDash val="dash"/>
            </a:ln>
          </p:spPr>
          <p:txBody>
            <a:bodyPr wrap="none" rtlCol="0" anchor="ctr">
              <a:spAutoFit/>
            </a:bodyPr>
            <a:lstStyle/>
            <a:p>
              <a:pPr algn="ctr"/>
              <a:endParaRPr kumimoji="1" lang="zh-CN" altLang="en-US" dirty="0">
                <a:solidFill>
                  <a:schemeClr val="bg1"/>
                </a:solidFill>
                <a:latin typeface="宋体" pitchFamily="2" charset="-122"/>
              </a:endParaRPr>
            </a:p>
          </p:txBody>
        </p:sp>
      </p:grpSp>
      <p:sp>
        <p:nvSpPr>
          <p:cNvPr id="64" name="菱形 63"/>
          <p:cNvSpPr/>
          <p:nvPr/>
        </p:nvSpPr>
        <p:spPr>
          <a:xfrm>
            <a:off x="4710047" y="5194677"/>
            <a:ext cx="196976" cy="196976"/>
          </a:xfrm>
          <a:prstGeom prst="diamond">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ndParaRPr>
          </a:p>
        </p:txBody>
      </p:sp>
      <p:sp>
        <p:nvSpPr>
          <p:cNvPr id="65" name="文本框 174"/>
          <p:cNvSpPr txBox="1"/>
          <p:nvPr/>
        </p:nvSpPr>
        <p:spPr>
          <a:xfrm>
            <a:off x="4885843" y="5146971"/>
            <a:ext cx="800219" cy="276999"/>
          </a:xfrm>
          <a:prstGeom prst="rect">
            <a:avLst/>
          </a:prstGeom>
          <a:noFill/>
        </p:spPr>
        <p:txBody>
          <a:bodyPr wrap="none" rtlCol="0">
            <a:spAutoFit/>
          </a:bodyPr>
          <a:lstStyle/>
          <a:p>
            <a:r>
              <a:rPr kumimoji="1" lang="zh-CN" altLang="en-US" sz="1200" b="0" dirty="0">
                <a:latin typeface="华文中宋" panose="02010600040101010101" pitchFamily="2" charset="-122"/>
                <a:ea typeface="华文中宋" panose="02010600040101010101" pitchFamily="2" charset="-122"/>
              </a:rPr>
              <a:t>行动学习</a:t>
            </a:r>
            <a:endParaRPr kumimoji="1" lang="zh-CN" altLang="en-US" sz="1200" b="0" dirty="0">
              <a:latin typeface="华文中宋" panose="02010600040101010101" pitchFamily="2" charset="-122"/>
              <a:ea typeface="华文中宋" panose="02010600040101010101" pitchFamily="2" charset="-122"/>
            </a:endParaRPr>
          </a:p>
        </p:txBody>
      </p:sp>
      <p:sp>
        <p:nvSpPr>
          <p:cNvPr id="68" name="椭圆 67"/>
          <p:cNvSpPr/>
          <p:nvPr/>
        </p:nvSpPr>
        <p:spPr>
          <a:xfrm>
            <a:off x="4324003" y="5092890"/>
            <a:ext cx="1692514" cy="371797"/>
          </a:xfrm>
          <a:prstGeom prst="ellipse">
            <a:avLst/>
          </a:prstGeom>
          <a:ln>
            <a:solidFill>
              <a:srgbClr val="C00000"/>
            </a:solidFill>
            <a:prstDash val="dash"/>
          </a:ln>
        </p:spPr>
        <p:txBody>
          <a:bodyPr wrap="none" rtlCol="0" anchor="ctr">
            <a:spAutoFit/>
          </a:bodyPr>
          <a:lstStyle/>
          <a:p>
            <a:pPr algn="ctr"/>
            <a:endParaRPr kumimoji="1" lang="zh-CN" altLang="en-US" dirty="0">
              <a:solidFill>
                <a:schemeClr val="bg1"/>
              </a:solidFill>
              <a:latin typeface="宋体"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a:xfrm>
            <a:off x="9407770" y="6588595"/>
            <a:ext cx="2540000" cy="170496"/>
          </a:xfrm>
        </p:spPr>
        <p:txBody>
          <a:bodyPr/>
          <a:lstStyle/>
          <a:p>
            <a:pP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
        <p:nvSpPr>
          <p:cNvPr id="23" name="标题 1"/>
          <p:cNvSpPr txBox="1"/>
          <p:nvPr/>
        </p:nvSpPr>
        <p:spPr>
          <a:xfrm>
            <a:off x="658862" y="299850"/>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en-US" altLang="zh-CN" dirty="0">
                <a:latin typeface="+mn-lt"/>
                <a:ea typeface="+mn-ea"/>
                <a:cs typeface="+mn-ea"/>
                <a:sym typeface="+mn-lt"/>
              </a:rPr>
              <a:t>O</a:t>
            </a:r>
            <a:r>
              <a:rPr lang="zh-CN" altLang="en-US" dirty="0">
                <a:latin typeface="+mn-lt"/>
                <a:ea typeface="+mn-ea"/>
                <a:cs typeface="+mn-ea"/>
                <a:sym typeface="+mn-lt"/>
              </a:rPr>
              <a:t> 机遇</a:t>
            </a:r>
            <a:r>
              <a:rPr lang="en-US" altLang="zh-CN" dirty="0">
                <a:latin typeface="+mn-lt"/>
                <a:ea typeface="+mn-ea"/>
                <a:cs typeface="+mn-ea"/>
                <a:sym typeface="+mn-lt"/>
              </a:rPr>
              <a:t>3-</a:t>
            </a:r>
            <a:r>
              <a:rPr lang="zh-CN" altLang="zh-CN" dirty="0"/>
              <a:t>中银战略核心内容为教育培训的发展规划指</a:t>
            </a:r>
            <a:r>
              <a:rPr lang="zh-CN" altLang="en-US" dirty="0"/>
              <a:t>明</a:t>
            </a:r>
            <a:r>
              <a:rPr lang="zh-CN" altLang="zh-CN" dirty="0"/>
              <a:t>了新方向</a:t>
            </a:r>
            <a:endParaRPr lang="zh-CN" altLang="zh-CN" dirty="0"/>
          </a:p>
        </p:txBody>
      </p:sp>
      <p:sp>
        <p:nvSpPr>
          <p:cNvPr id="38" name="标题 2"/>
          <p:cNvSpPr>
            <a:spLocks noGrp="1"/>
          </p:cNvSpPr>
          <p:nvPr>
            <p:ph type="title"/>
          </p:nvPr>
        </p:nvSpPr>
        <p:spPr>
          <a:xfrm>
            <a:off x="415262" y="844616"/>
            <a:ext cx="11532508" cy="685522"/>
          </a:xfrm>
        </p:spPr>
        <p:txBody>
          <a:bodyPr>
            <a:noAutofit/>
          </a:bodyPr>
          <a:lstStyle/>
          <a:p>
            <a:r>
              <a:rPr kumimoji="1" lang="zh-CN" altLang="en-US" sz="1800" dirty="0">
                <a:latin typeface="+mn-lt"/>
                <a:ea typeface="+mn-ea"/>
                <a:cs typeface="+mn-ea"/>
                <a:sym typeface="+mn-lt"/>
              </a:rPr>
              <a:t>基于</a:t>
            </a:r>
            <a:r>
              <a:rPr kumimoji="1" lang="zh-CN" altLang="en-US" sz="1800" dirty="0">
                <a:solidFill>
                  <a:schemeClr val="tx1"/>
                </a:solidFill>
                <a:latin typeface="+mn-lt"/>
                <a:ea typeface="+mn-ea"/>
                <a:cs typeface="+mn-ea"/>
                <a:sym typeface="+mn-lt"/>
              </a:rPr>
              <a:t>建设“全球一流现代银行集团”</a:t>
            </a:r>
            <a:r>
              <a:rPr kumimoji="1" lang="zh-CN" altLang="en-US" sz="1800" dirty="0">
                <a:latin typeface="+mn-lt"/>
                <a:ea typeface="+mn-ea"/>
                <a:cs typeface="+mn-ea"/>
                <a:sym typeface="+mn-lt"/>
              </a:rPr>
              <a:t>的发展愿景，我行“十四五规划”的核心内容为</a:t>
            </a:r>
            <a:r>
              <a:rPr kumimoji="1" lang="zh-CN" altLang="en-US" sz="1800" dirty="0">
                <a:cs typeface="+mn-ea"/>
                <a:sym typeface="+mn-lt"/>
              </a:rPr>
              <a:t>教育培训的发展规划提供了清晰的方向指引，培训工作高质量发展推动战略落地、业务发展、能力提升的需求也更加迫切。</a:t>
            </a:r>
            <a:endParaRPr kumimoji="1" lang="zh-CN" altLang="en-US" sz="1800" dirty="0">
              <a:latin typeface="+mn-lt"/>
              <a:ea typeface="+mn-ea"/>
              <a:cs typeface="+mn-ea"/>
              <a:sym typeface="+mn-lt"/>
            </a:endParaRPr>
          </a:p>
        </p:txBody>
      </p:sp>
      <p:sp>
        <p:nvSpPr>
          <p:cNvPr id="56" name="文本框 55"/>
          <p:cNvSpPr txBox="1"/>
          <p:nvPr/>
        </p:nvSpPr>
        <p:spPr>
          <a:xfrm>
            <a:off x="1017883" y="5748628"/>
            <a:ext cx="2723823" cy="276999"/>
          </a:xfrm>
          <a:prstGeom prst="rect">
            <a:avLst/>
          </a:prstGeom>
          <a:noFill/>
        </p:spPr>
        <p:txBody>
          <a:bodyPr wrap="square" rtlCol="0">
            <a:spAutoFit/>
          </a:bodyPr>
          <a:lstStyle/>
          <a:p>
            <a:r>
              <a:rPr kumimoji="1" lang="zh-CN" altLang="en-US" sz="1200" b="0" dirty="0">
                <a:latin typeface="+mn-lt"/>
                <a:ea typeface="+mn-ea"/>
                <a:cs typeface="+mn-ea"/>
                <a:sym typeface="+mn-lt"/>
              </a:rPr>
              <a:t>数据来源：中银官方网站</a:t>
            </a:r>
            <a:r>
              <a:rPr kumimoji="1" lang="en-US" altLang="zh-CN" sz="1200" b="0" dirty="0">
                <a:latin typeface="+mn-lt"/>
                <a:ea typeface="+mn-ea"/>
                <a:cs typeface="+mn-ea"/>
                <a:sym typeface="+mn-lt"/>
              </a:rPr>
              <a:t>-</a:t>
            </a:r>
            <a:r>
              <a:rPr kumimoji="1" lang="zh-CN" altLang="en-US" sz="1200" b="0" dirty="0">
                <a:latin typeface="+mn-lt"/>
                <a:ea typeface="+mn-ea"/>
                <a:cs typeface="+mn-ea"/>
                <a:sym typeface="+mn-lt"/>
              </a:rPr>
              <a:t>投资者关系</a:t>
            </a:r>
            <a:endParaRPr kumimoji="1" lang="zh-CN" altLang="en-US" sz="1200" b="0" dirty="0">
              <a:latin typeface="+mn-lt"/>
              <a:ea typeface="+mn-ea"/>
              <a:cs typeface="+mn-ea"/>
              <a:sym typeface="+mn-lt"/>
            </a:endParaRPr>
          </a:p>
        </p:txBody>
      </p:sp>
      <p:sp>
        <p:nvSpPr>
          <p:cNvPr id="40" name="任意形状 5"/>
          <p:cNvSpPr/>
          <p:nvPr/>
        </p:nvSpPr>
        <p:spPr>
          <a:xfrm>
            <a:off x="4086130" y="1848957"/>
            <a:ext cx="7198300" cy="815681"/>
          </a:xfrm>
          <a:custGeom>
            <a:avLst/>
            <a:gdLst>
              <a:gd name="connsiteX0" fmla="*/ 0 w 4327383"/>
              <a:gd name="connsiteY0" fmla="*/ 0 h 1352307"/>
              <a:gd name="connsiteX1" fmla="*/ 4327383 w 4327383"/>
              <a:gd name="connsiteY1" fmla="*/ 0 h 1352307"/>
              <a:gd name="connsiteX2" fmla="*/ 4327383 w 4327383"/>
              <a:gd name="connsiteY2" fmla="*/ 1352307 h 1352307"/>
              <a:gd name="connsiteX3" fmla="*/ 0 w 4327383"/>
              <a:gd name="connsiteY3" fmla="*/ 1352307 h 1352307"/>
              <a:gd name="connsiteX4" fmla="*/ 0 w 4327383"/>
              <a:gd name="connsiteY4" fmla="*/ 0 h 13523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7383" h="1352307">
                <a:moveTo>
                  <a:pt x="0" y="0"/>
                </a:moveTo>
                <a:lnTo>
                  <a:pt x="4327383" y="0"/>
                </a:lnTo>
                <a:lnTo>
                  <a:pt x="4327383" y="1352307"/>
                </a:lnTo>
                <a:lnTo>
                  <a:pt x="0" y="1352307"/>
                </a:lnTo>
                <a:lnTo>
                  <a:pt x="0" y="0"/>
                </a:lnTo>
                <a:close/>
              </a:path>
            </a:pathLst>
          </a:custGeom>
          <a:ln>
            <a:solidFill>
              <a:srgbClr val="C00000"/>
            </a:solidFill>
          </a:ln>
        </p:spPr>
        <p:style>
          <a:lnRef idx="1">
            <a:schemeClr val="dk2">
              <a:hueOff val="0"/>
              <a:satOff val="0"/>
              <a:lumOff val="0"/>
              <a:alphaOff val="0"/>
            </a:schemeClr>
          </a:lnRef>
          <a:fillRef idx="1">
            <a:schemeClr val="lt2">
              <a:alpha val="40000"/>
              <a:hueOff val="0"/>
              <a:satOff val="0"/>
              <a:lumOff val="0"/>
              <a:alphaOff val="0"/>
            </a:schemeClr>
          </a:fillRef>
          <a:effectRef idx="0">
            <a:schemeClr val="lt2">
              <a:alpha val="40000"/>
              <a:hueOff val="0"/>
              <a:satOff val="0"/>
              <a:lumOff val="0"/>
              <a:alphaOff val="0"/>
            </a:schemeClr>
          </a:effectRef>
          <a:fontRef idx="minor">
            <a:schemeClr val="dk1">
              <a:hueOff val="0"/>
              <a:satOff val="0"/>
              <a:lumOff val="0"/>
              <a:alphaOff val="0"/>
            </a:schemeClr>
          </a:fontRef>
        </p:style>
        <p:txBody>
          <a:bodyPr spcFirstLastPara="0" vert="horz" wrap="square" lIns="915963" tIns="182880" rIns="182880" bIns="182880" numCol="1" spcCol="1270" anchor="ctr" anchorCtr="0">
            <a:noAutofit/>
          </a:bodyPr>
          <a:lstStyle/>
          <a:p>
            <a:pPr marL="0" lvl="0" indent="0" algn="l" defTabSz="2133600" rtl="0">
              <a:lnSpc>
                <a:spcPct val="90000"/>
              </a:lnSpc>
              <a:spcBef>
                <a:spcPct val="0"/>
              </a:spcBef>
              <a:spcAft>
                <a:spcPct val="35000"/>
              </a:spcAft>
              <a:buNone/>
            </a:pPr>
            <a:endParaRPr lang="zh-CN" altLang="en-US" sz="4800" kern="1200">
              <a:cs typeface="+mn-ea"/>
              <a:sym typeface="+mn-lt"/>
            </a:endParaRPr>
          </a:p>
        </p:txBody>
      </p:sp>
      <p:sp>
        <p:nvSpPr>
          <p:cNvPr id="41" name="矩形 40"/>
          <p:cNvSpPr/>
          <p:nvPr/>
        </p:nvSpPr>
        <p:spPr>
          <a:xfrm>
            <a:off x="1017883" y="1837995"/>
            <a:ext cx="3095453" cy="856465"/>
          </a:xfrm>
          <a:prstGeom prst="rect">
            <a:avLst/>
          </a:prstGeom>
          <a:solidFill>
            <a:srgbClr val="C00000"/>
          </a:solidFill>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zh-CN" altLang="en-US">
              <a:cs typeface="+mn-ea"/>
              <a:sym typeface="+mn-lt"/>
            </a:endParaRPr>
          </a:p>
        </p:txBody>
      </p:sp>
      <p:sp>
        <p:nvSpPr>
          <p:cNvPr id="42" name="任意形状 7"/>
          <p:cNvSpPr/>
          <p:nvPr/>
        </p:nvSpPr>
        <p:spPr>
          <a:xfrm>
            <a:off x="4086130" y="2810302"/>
            <a:ext cx="7198300" cy="815681"/>
          </a:xfrm>
          <a:custGeom>
            <a:avLst/>
            <a:gdLst>
              <a:gd name="connsiteX0" fmla="*/ 0 w 4327383"/>
              <a:gd name="connsiteY0" fmla="*/ 0 h 1352307"/>
              <a:gd name="connsiteX1" fmla="*/ 4327383 w 4327383"/>
              <a:gd name="connsiteY1" fmla="*/ 0 h 1352307"/>
              <a:gd name="connsiteX2" fmla="*/ 4327383 w 4327383"/>
              <a:gd name="connsiteY2" fmla="*/ 1352307 h 1352307"/>
              <a:gd name="connsiteX3" fmla="*/ 0 w 4327383"/>
              <a:gd name="connsiteY3" fmla="*/ 1352307 h 1352307"/>
              <a:gd name="connsiteX4" fmla="*/ 0 w 4327383"/>
              <a:gd name="connsiteY4" fmla="*/ 0 h 13523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7383" h="1352307">
                <a:moveTo>
                  <a:pt x="0" y="0"/>
                </a:moveTo>
                <a:lnTo>
                  <a:pt x="4327383" y="0"/>
                </a:lnTo>
                <a:lnTo>
                  <a:pt x="4327383" y="1352307"/>
                </a:lnTo>
                <a:lnTo>
                  <a:pt x="0" y="1352307"/>
                </a:lnTo>
                <a:lnTo>
                  <a:pt x="0" y="0"/>
                </a:lnTo>
                <a:close/>
              </a:path>
            </a:pathLst>
          </a:custGeom>
          <a:ln>
            <a:solidFill>
              <a:srgbClr val="C00000"/>
            </a:solidFill>
          </a:ln>
        </p:spPr>
        <p:style>
          <a:lnRef idx="1">
            <a:schemeClr val="dk2">
              <a:hueOff val="0"/>
              <a:satOff val="0"/>
              <a:lumOff val="0"/>
              <a:alphaOff val="0"/>
            </a:schemeClr>
          </a:lnRef>
          <a:fillRef idx="1">
            <a:schemeClr val="lt2">
              <a:alpha val="40000"/>
              <a:hueOff val="0"/>
              <a:satOff val="0"/>
              <a:lumOff val="0"/>
              <a:alphaOff val="0"/>
            </a:schemeClr>
          </a:fillRef>
          <a:effectRef idx="0">
            <a:schemeClr val="lt2">
              <a:alpha val="40000"/>
              <a:hueOff val="0"/>
              <a:satOff val="0"/>
              <a:lumOff val="0"/>
              <a:alphaOff val="0"/>
            </a:schemeClr>
          </a:effectRef>
          <a:fontRef idx="minor">
            <a:schemeClr val="dk1">
              <a:hueOff val="0"/>
              <a:satOff val="0"/>
              <a:lumOff val="0"/>
              <a:alphaOff val="0"/>
            </a:schemeClr>
          </a:fontRef>
        </p:style>
        <p:txBody>
          <a:bodyPr spcFirstLastPara="0" vert="horz" wrap="square" lIns="915963" tIns="182880" rIns="182880" bIns="182880" numCol="1" spcCol="1270" anchor="ctr" anchorCtr="0">
            <a:noAutofit/>
          </a:bodyPr>
          <a:lstStyle/>
          <a:p>
            <a:pPr marL="0" lvl="0" indent="0" algn="l" defTabSz="2133600">
              <a:lnSpc>
                <a:spcPct val="90000"/>
              </a:lnSpc>
              <a:spcBef>
                <a:spcPct val="0"/>
              </a:spcBef>
              <a:spcAft>
                <a:spcPct val="35000"/>
              </a:spcAft>
              <a:buNone/>
            </a:pPr>
            <a:endParaRPr lang="zh-CN" altLang="en-US" sz="4800" kern="1200">
              <a:cs typeface="+mn-ea"/>
              <a:sym typeface="+mn-lt"/>
            </a:endParaRPr>
          </a:p>
        </p:txBody>
      </p:sp>
      <p:sp>
        <p:nvSpPr>
          <p:cNvPr id="43" name="矩形 42"/>
          <p:cNvSpPr/>
          <p:nvPr/>
        </p:nvSpPr>
        <p:spPr>
          <a:xfrm>
            <a:off x="1017883" y="2812988"/>
            <a:ext cx="3095453" cy="856465"/>
          </a:xfrm>
          <a:prstGeom prst="rect">
            <a:avLst/>
          </a:prstGeom>
          <a:solidFill>
            <a:srgbClr val="C00000"/>
          </a:solidFill>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zh-CN" altLang="en-US">
              <a:cs typeface="+mn-ea"/>
              <a:sym typeface="+mn-lt"/>
            </a:endParaRPr>
          </a:p>
        </p:txBody>
      </p:sp>
      <p:sp>
        <p:nvSpPr>
          <p:cNvPr id="44" name="任意形状 9"/>
          <p:cNvSpPr/>
          <p:nvPr/>
        </p:nvSpPr>
        <p:spPr>
          <a:xfrm>
            <a:off x="4086130" y="3798943"/>
            <a:ext cx="7198300" cy="815681"/>
          </a:xfrm>
          <a:custGeom>
            <a:avLst/>
            <a:gdLst>
              <a:gd name="connsiteX0" fmla="*/ 0 w 4327383"/>
              <a:gd name="connsiteY0" fmla="*/ 0 h 1352307"/>
              <a:gd name="connsiteX1" fmla="*/ 4327383 w 4327383"/>
              <a:gd name="connsiteY1" fmla="*/ 0 h 1352307"/>
              <a:gd name="connsiteX2" fmla="*/ 4327383 w 4327383"/>
              <a:gd name="connsiteY2" fmla="*/ 1352307 h 1352307"/>
              <a:gd name="connsiteX3" fmla="*/ 0 w 4327383"/>
              <a:gd name="connsiteY3" fmla="*/ 1352307 h 1352307"/>
              <a:gd name="connsiteX4" fmla="*/ 0 w 4327383"/>
              <a:gd name="connsiteY4" fmla="*/ 0 h 13523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7383" h="1352307">
                <a:moveTo>
                  <a:pt x="0" y="0"/>
                </a:moveTo>
                <a:lnTo>
                  <a:pt x="4327383" y="0"/>
                </a:lnTo>
                <a:lnTo>
                  <a:pt x="4327383" y="1352307"/>
                </a:lnTo>
                <a:lnTo>
                  <a:pt x="0" y="1352307"/>
                </a:lnTo>
                <a:lnTo>
                  <a:pt x="0" y="0"/>
                </a:lnTo>
                <a:close/>
              </a:path>
            </a:pathLst>
          </a:custGeom>
          <a:ln>
            <a:solidFill>
              <a:srgbClr val="C00000"/>
            </a:solidFill>
          </a:ln>
        </p:spPr>
        <p:style>
          <a:lnRef idx="1">
            <a:schemeClr val="dk2">
              <a:hueOff val="0"/>
              <a:satOff val="0"/>
              <a:lumOff val="0"/>
              <a:alphaOff val="0"/>
            </a:schemeClr>
          </a:lnRef>
          <a:fillRef idx="1">
            <a:schemeClr val="lt2">
              <a:alpha val="40000"/>
              <a:hueOff val="0"/>
              <a:satOff val="0"/>
              <a:lumOff val="0"/>
              <a:alphaOff val="0"/>
            </a:schemeClr>
          </a:fillRef>
          <a:effectRef idx="0">
            <a:schemeClr val="lt2">
              <a:alpha val="40000"/>
              <a:hueOff val="0"/>
              <a:satOff val="0"/>
              <a:lumOff val="0"/>
              <a:alphaOff val="0"/>
            </a:schemeClr>
          </a:effectRef>
          <a:fontRef idx="minor">
            <a:schemeClr val="dk1">
              <a:hueOff val="0"/>
              <a:satOff val="0"/>
              <a:lumOff val="0"/>
              <a:alphaOff val="0"/>
            </a:schemeClr>
          </a:fontRef>
        </p:style>
        <p:txBody>
          <a:bodyPr spcFirstLastPara="0" vert="horz" wrap="square" lIns="915963" tIns="182880" rIns="182880" bIns="182880" numCol="1" spcCol="1270" anchor="ctr" anchorCtr="0">
            <a:noAutofit/>
          </a:bodyPr>
          <a:lstStyle/>
          <a:p>
            <a:pPr marL="0" lvl="0" indent="0" algn="l" defTabSz="2133600" rtl="0">
              <a:lnSpc>
                <a:spcPct val="90000"/>
              </a:lnSpc>
              <a:spcBef>
                <a:spcPct val="0"/>
              </a:spcBef>
              <a:spcAft>
                <a:spcPct val="35000"/>
              </a:spcAft>
              <a:buNone/>
            </a:pPr>
            <a:endParaRPr lang="zh-CN" altLang="en-US" sz="4800" kern="1200" dirty="0">
              <a:cs typeface="+mn-ea"/>
              <a:sym typeface="+mn-lt"/>
            </a:endParaRPr>
          </a:p>
        </p:txBody>
      </p:sp>
      <p:sp>
        <p:nvSpPr>
          <p:cNvPr id="45" name="矩形 44"/>
          <p:cNvSpPr/>
          <p:nvPr/>
        </p:nvSpPr>
        <p:spPr>
          <a:xfrm>
            <a:off x="1017883" y="3787981"/>
            <a:ext cx="3095453" cy="856465"/>
          </a:xfrm>
          <a:prstGeom prst="rect">
            <a:avLst/>
          </a:prstGeom>
          <a:solidFill>
            <a:srgbClr val="C00000"/>
          </a:solidFill>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zh-CN" altLang="en-US">
              <a:cs typeface="+mn-ea"/>
              <a:sym typeface="+mn-lt"/>
            </a:endParaRPr>
          </a:p>
        </p:txBody>
      </p:sp>
      <p:sp>
        <p:nvSpPr>
          <p:cNvPr id="46" name="任意形状 11"/>
          <p:cNvSpPr/>
          <p:nvPr/>
        </p:nvSpPr>
        <p:spPr>
          <a:xfrm>
            <a:off x="4086129" y="4801232"/>
            <a:ext cx="7198298" cy="815681"/>
          </a:xfrm>
          <a:custGeom>
            <a:avLst/>
            <a:gdLst>
              <a:gd name="connsiteX0" fmla="*/ 0 w 4327383"/>
              <a:gd name="connsiteY0" fmla="*/ 0 h 1352307"/>
              <a:gd name="connsiteX1" fmla="*/ 4327383 w 4327383"/>
              <a:gd name="connsiteY1" fmla="*/ 0 h 1352307"/>
              <a:gd name="connsiteX2" fmla="*/ 4327383 w 4327383"/>
              <a:gd name="connsiteY2" fmla="*/ 1352307 h 1352307"/>
              <a:gd name="connsiteX3" fmla="*/ 0 w 4327383"/>
              <a:gd name="connsiteY3" fmla="*/ 1352307 h 1352307"/>
              <a:gd name="connsiteX4" fmla="*/ 0 w 4327383"/>
              <a:gd name="connsiteY4" fmla="*/ 0 h 13523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7383" h="1352307">
                <a:moveTo>
                  <a:pt x="0" y="0"/>
                </a:moveTo>
                <a:lnTo>
                  <a:pt x="4327383" y="0"/>
                </a:lnTo>
                <a:lnTo>
                  <a:pt x="4327383" y="1352307"/>
                </a:lnTo>
                <a:lnTo>
                  <a:pt x="0" y="1352307"/>
                </a:lnTo>
                <a:lnTo>
                  <a:pt x="0" y="0"/>
                </a:lnTo>
                <a:close/>
              </a:path>
            </a:pathLst>
          </a:custGeom>
          <a:ln>
            <a:solidFill>
              <a:srgbClr val="C00000"/>
            </a:solidFill>
          </a:ln>
        </p:spPr>
        <p:style>
          <a:lnRef idx="1">
            <a:schemeClr val="dk2">
              <a:hueOff val="0"/>
              <a:satOff val="0"/>
              <a:lumOff val="0"/>
              <a:alphaOff val="0"/>
            </a:schemeClr>
          </a:lnRef>
          <a:fillRef idx="1">
            <a:schemeClr val="lt2">
              <a:alpha val="40000"/>
              <a:hueOff val="0"/>
              <a:satOff val="0"/>
              <a:lumOff val="0"/>
              <a:alphaOff val="0"/>
            </a:schemeClr>
          </a:fillRef>
          <a:effectRef idx="0">
            <a:schemeClr val="lt2">
              <a:alpha val="40000"/>
              <a:hueOff val="0"/>
              <a:satOff val="0"/>
              <a:lumOff val="0"/>
              <a:alphaOff val="0"/>
            </a:schemeClr>
          </a:effectRef>
          <a:fontRef idx="minor">
            <a:schemeClr val="dk1">
              <a:hueOff val="0"/>
              <a:satOff val="0"/>
              <a:lumOff val="0"/>
              <a:alphaOff val="0"/>
            </a:schemeClr>
          </a:fontRef>
        </p:style>
        <p:txBody>
          <a:bodyPr spcFirstLastPara="0" vert="horz" wrap="square" lIns="915963" tIns="182880" rIns="182880" bIns="182880" numCol="1" spcCol="1270" anchor="ctr" anchorCtr="0">
            <a:noAutofit/>
          </a:bodyPr>
          <a:lstStyle/>
          <a:p>
            <a:pPr marL="0" lvl="0" indent="0" algn="l" defTabSz="2133600" rtl="0">
              <a:lnSpc>
                <a:spcPct val="90000"/>
              </a:lnSpc>
              <a:spcBef>
                <a:spcPct val="0"/>
              </a:spcBef>
              <a:spcAft>
                <a:spcPct val="35000"/>
              </a:spcAft>
              <a:buNone/>
            </a:pPr>
            <a:endParaRPr lang="zh-CN" altLang="en-US" sz="4800" kern="1200" dirty="0">
              <a:cs typeface="+mn-ea"/>
              <a:sym typeface="+mn-lt"/>
            </a:endParaRPr>
          </a:p>
        </p:txBody>
      </p:sp>
      <p:sp>
        <p:nvSpPr>
          <p:cNvPr id="47" name="矩形 46"/>
          <p:cNvSpPr/>
          <p:nvPr/>
        </p:nvSpPr>
        <p:spPr>
          <a:xfrm>
            <a:off x="1017883" y="4776622"/>
            <a:ext cx="3095453" cy="856465"/>
          </a:xfrm>
          <a:prstGeom prst="rect">
            <a:avLst/>
          </a:prstGeom>
          <a:solidFill>
            <a:srgbClr val="C00000"/>
          </a:solidFill>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zh-CN" altLang="en-US">
              <a:cs typeface="+mn-ea"/>
              <a:sym typeface="+mn-lt"/>
            </a:endParaRPr>
          </a:p>
        </p:txBody>
      </p:sp>
      <p:sp>
        <p:nvSpPr>
          <p:cNvPr id="48" name="矩形 47"/>
          <p:cNvSpPr/>
          <p:nvPr/>
        </p:nvSpPr>
        <p:spPr>
          <a:xfrm>
            <a:off x="1114629" y="2054083"/>
            <a:ext cx="2901960" cy="584775"/>
          </a:xfrm>
          <a:prstGeom prst="rect">
            <a:avLst/>
          </a:prstGeom>
        </p:spPr>
        <p:txBody>
          <a:bodyPr wrap="square">
            <a:spAutoFit/>
          </a:bodyPr>
          <a:lstStyle/>
          <a:p>
            <a:pPr algn="ctr"/>
            <a:r>
              <a:rPr lang="zh-CN" altLang="zh-CN" sz="1600" dirty="0">
                <a:solidFill>
                  <a:schemeClr val="bg1"/>
                </a:solidFill>
                <a:latin typeface="+mn-lt"/>
                <a:ea typeface="+mn-ea"/>
                <a:cs typeface="+mn-ea"/>
                <a:sym typeface="+mn-lt"/>
              </a:rPr>
              <a:t>对</a:t>
            </a:r>
            <a:r>
              <a:rPr lang="zh-CN" altLang="en-US" sz="1600" dirty="0">
                <a:solidFill>
                  <a:schemeClr val="bg1"/>
                </a:solidFill>
                <a:latin typeface="+mn-lt"/>
                <a:ea typeface="+mn-ea"/>
                <a:cs typeface="+mn-ea"/>
                <a:sym typeface="+mn-lt"/>
              </a:rPr>
              <a:t>转型创新，激发活力，</a:t>
            </a:r>
            <a:endParaRPr lang="en-US" altLang="zh-CN" sz="1600" dirty="0">
              <a:solidFill>
                <a:schemeClr val="bg1"/>
              </a:solidFill>
              <a:latin typeface="+mn-lt"/>
              <a:ea typeface="+mn-ea"/>
              <a:cs typeface="+mn-ea"/>
              <a:sym typeface="+mn-lt"/>
            </a:endParaRPr>
          </a:p>
          <a:p>
            <a:pPr algn="ctr"/>
            <a:r>
              <a:rPr lang="zh-CN" altLang="en-US" sz="1600" dirty="0">
                <a:solidFill>
                  <a:schemeClr val="bg1"/>
                </a:solidFill>
                <a:latin typeface="+mn-lt"/>
                <a:ea typeface="+mn-ea"/>
                <a:cs typeface="+mn-ea"/>
                <a:sym typeface="+mn-lt"/>
              </a:rPr>
              <a:t>增强发展新动能</a:t>
            </a:r>
            <a:endParaRPr lang="zh-CN" altLang="en-US" sz="1600" dirty="0">
              <a:solidFill>
                <a:schemeClr val="bg1"/>
              </a:solidFill>
              <a:latin typeface="+mn-lt"/>
              <a:ea typeface="+mn-ea"/>
              <a:cs typeface="+mn-ea"/>
              <a:sym typeface="+mn-lt"/>
            </a:endParaRPr>
          </a:p>
        </p:txBody>
      </p:sp>
      <p:sp>
        <p:nvSpPr>
          <p:cNvPr id="49" name="矩形 48"/>
          <p:cNvSpPr/>
          <p:nvPr/>
        </p:nvSpPr>
        <p:spPr>
          <a:xfrm>
            <a:off x="1126415" y="2939788"/>
            <a:ext cx="2901960" cy="584775"/>
          </a:xfrm>
          <a:prstGeom prst="rect">
            <a:avLst/>
          </a:prstGeom>
        </p:spPr>
        <p:txBody>
          <a:bodyPr wrap="square">
            <a:spAutoFit/>
          </a:bodyPr>
          <a:lstStyle/>
          <a:p>
            <a:pPr algn="ctr"/>
            <a:r>
              <a:rPr lang="zh-CN" altLang="en-US" sz="1600" dirty="0">
                <a:solidFill>
                  <a:schemeClr val="bg1"/>
                </a:solidFill>
                <a:latin typeface="+mn-lt"/>
                <a:ea typeface="+mn-ea"/>
                <a:cs typeface="+mn-ea"/>
                <a:sym typeface="+mn-lt"/>
              </a:rPr>
              <a:t>抓抢机遇，敏捷反应，</a:t>
            </a:r>
            <a:endParaRPr lang="en-US" altLang="zh-CN" sz="1600" dirty="0">
              <a:solidFill>
                <a:schemeClr val="bg1"/>
              </a:solidFill>
              <a:latin typeface="+mn-lt"/>
              <a:ea typeface="+mn-ea"/>
              <a:cs typeface="+mn-ea"/>
              <a:sym typeface="+mn-lt"/>
            </a:endParaRPr>
          </a:p>
          <a:p>
            <a:pPr algn="ctr"/>
            <a:r>
              <a:rPr lang="zh-CN" altLang="en-US" sz="1600" dirty="0">
                <a:solidFill>
                  <a:schemeClr val="bg1"/>
                </a:solidFill>
                <a:latin typeface="+mn-lt"/>
                <a:ea typeface="+mn-ea"/>
                <a:cs typeface="+mn-ea"/>
                <a:sym typeface="+mn-lt"/>
              </a:rPr>
              <a:t>打造发展新模式</a:t>
            </a:r>
            <a:endParaRPr lang="zh-CN" altLang="en-US" sz="1600" dirty="0">
              <a:solidFill>
                <a:schemeClr val="bg1"/>
              </a:solidFill>
              <a:latin typeface="+mn-lt"/>
              <a:ea typeface="+mn-ea"/>
              <a:cs typeface="+mn-ea"/>
              <a:sym typeface="+mn-lt"/>
            </a:endParaRPr>
          </a:p>
        </p:txBody>
      </p:sp>
      <p:sp>
        <p:nvSpPr>
          <p:cNvPr id="50" name="矩形 49"/>
          <p:cNvSpPr/>
          <p:nvPr/>
        </p:nvSpPr>
        <p:spPr>
          <a:xfrm>
            <a:off x="1126412" y="3991581"/>
            <a:ext cx="2901960" cy="584775"/>
          </a:xfrm>
          <a:prstGeom prst="rect">
            <a:avLst/>
          </a:prstGeom>
        </p:spPr>
        <p:txBody>
          <a:bodyPr wrap="square">
            <a:spAutoFit/>
          </a:bodyPr>
          <a:lstStyle/>
          <a:p>
            <a:pPr algn="ctr"/>
            <a:r>
              <a:rPr lang="zh-CN" altLang="en-US" sz="1600" dirty="0">
                <a:solidFill>
                  <a:schemeClr val="bg1"/>
                </a:solidFill>
                <a:latin typeface="+mn-lt"/>
                <a:ea typeface="+mn-ea"/>
                <a:cs typeface="+mn-ea"/>
                <a:sym typeface="+mn-lt"/>
              </a:rPr>
              <a:t>协同联动，重点突破，</a:t>
            </a:r>
            <a:endParaRPr lang="en-US" altLang="zh-CN" sz="1600" dirty="0">
              <a:solidFill>
                <a:schemeClr val="bg1"/>
              </a:solidFill>
              <a:latin typeface="+mn-lt"/>
              <a:ea typeface="+mn-ea"/>
              <a:cs typeface="+mn-ea"/>
              <a:sym typeface="+mn-lt"/>
            </a:endParaRPr>
          </a:p>
          <a:p>
            <a:pPr algn="ctr"/>
            <a:r>
              <a:rPr lang="zh-CN" altLang="en-US" sz="1600" dirty="0">
                <a:solidFill>
                  <a:schemeClr val="bg1"/>
                </a:solidFill>
                <a:latin typeface="+mn-lt"/>
                <a:ea typeface="+mn-ea"/>
                <a:cs typeface="+mn-ea"/>
                <a:sym typeface="+mn-lt"/>
              </a:rPr>
              <a:t>构建发展新格局</a:t>
            </a:r>
            <a:endParaRPr lang="zh-CN" altLang="en-US" sz="1600" dirty="0">
              <a:solidFill>
                <a:schemeClr val="bg1"/>
              </a:solidFill>
              <a:latin typeface="+mn-lt"/>
              <a:ea typeface="+mn-ea"/>
              <a:cs typeface="+mn-ea"/>
              <a:sym typeface="+mn-lt"/>
            </a:endParaRPr>
          </a:p>
        </p:txBody>
      </p:sp>
      <p:sp>
        <p:nvSpPr>
          <p:cNvPr id="51" name="矩形 50"/>
          <p:cNvSpPr/>
          <p:nvPr/>
        </p:nvSpPr>
        <p:spPr>
          <a:xfrm>
            <a:off x="1126412" y="4962825"/>
            <a:ext cx="2901960" cy="584775"/>
          </a:xfrm>
          <a:prstGeom prst="rect">
            <a:avLst/>
          </a:prstGeom>
        </p:spPr>
        <p:txBody>
          <a:bodyPr wrap="square">
            <a:spAutoFit/>
          </a:bodyPr>
          <a:lstStyle/>
          <a:p>
            <a:pPr algn="ctr"/>
            <a:r>
              <a:rPr lang="zh-CN" altLang="en-US" sz="1600" dirty="0">
                <a:solidFill>
                  <a:schemeClr val="bg1"/>
                </a:solidFill>
                <a:latin typeface="+mn-lt"/>
                <a:ea typeface="+mn-ea"/>
                <a:cs typeface="+mn-ea"/>
                <a:sym typeface="+mn-lt"/>
              </a:rPr>
              <a:t>顶层设计，底线思维，</a:t>
            </a:r>
            <a:endParaRPr lang="en-US" altLang="zh-CN" sz="1600" dirty="0">
              <a:solidFill>
                <a:schemeClr val="bg1"/>
              </a:solidFill>
              <a:latin typeface="+mn-lt"/>
              <a:ea typeface="+mn-ea"/>
              <a:cs typeface="+mn-ea"/>
              <a:sym typeface="+mn-lt"/>
            </a:endParaRPr>
          </a:p>
          <a:p>
            <a:pPr algn="ctr"/>
            <a:r>
              <a:rPr lang="zh-CN" altLang="en-US" sz="1600" dirty="0">
                <a:solidFill>
                  <a:schemeClr val="bg1"/>
                </a:solidFill>
                <a:latin typeface="+mn-lt"/>
                <a:ea typeface="+mn-ea"/>
                <a:cs typeface="+mn-ea"/>
                <a:sym typeface="+mn-lt"/>
              </a:rPr>
              <a:t>提升发展新质效</a:t>
            </a:r>
            <a:endParaRPr lang="zh-CN" altLang="en-US" sz="1600" dirty="0">
              <a:solidFill>
                <a:schemeClr val="bg1"/>
              </a:solidFill>
              <a:latin typeface="+mn-lt"/>
              <a:ea typeface="+mn-ea"/>
              <a:cs typeface="+mn-ea"/>
              <a:sym typeface="+mn-lt"/>
            </a:endParaRPr>
          </a:p>
        </p:txBody>
      </p:sp>
      <p:sp>
        <p:nvSpPr>
          <p:cNvPr id="52" name="矩形 51"/>
          <p:cNvSpPr/>
          <p:nvPr/>
        </p:nvSpPr>
        <p:spPr>
          <a:xfrm>
            <a:off x="4174187" y="4867289"/>
            <a:ext cx="6942106" cy="738664"/>
          </a:xfrm>
          <a:prstGeom prst="rect">
            <a:avLst/>
          </a:prstGeom>
        </p:spPr>
        <p:txBody>
          <a:bodyPr wrap="square">
            <a:spAutoFit/>
          </a:bodyPr>
          <a:lstStyle/>
          <a:p>
            <a:r>
              <a:rPr lang="en-US" altLang="zh-CN" sz="1400" b="0" dirty="0">
                <a:solidFill>
                  <a:schemeClr val="tx1"/>
                </a:solidFill>
                <a:latin typeface="+mn-lt"/>
                <a:ea typeface="+mn-ea"/>
                <a:cs typeface="+mn-ea"/>
                <a:sym typeface="+mn-lt"/>
              </a:rPr>
              <a:t>1</a:t>
            </a:r>
            <a:r>
              <a:rPr lang="zh-CN" altLang="en-US" sz="1400" b="0" dirty="0">
                <a:solidFill>
                  <a:schemeClr val="tx1"/>
                </a:solidFill>
                <a:latin typeface="+mn-lt"/>
                <a:ea typeface="+mn-ea"/>
                <a:cs typeface="+mn-ea"/>
                <a:sym typeface="+mn-lt"/>
              </a:rPr>
              <a:t>、全面风险管理体系落地能力的配套培训需求</a:t>
            </a:r>
            <a:endParaRPr lang="en-US" altLang="zh-CN" sz="1400" b="0" dirty="0">
              <a:solidFill>
                <a:schemeClr val="tx1"/>
              </a:solidFill>
              <a:latin typeface="+mn-lt"/>
              <a:ea typeface="+mn-ea"/>
              <a:cs typeface="+mn-ea"/>
              <a:sym typeface="+mn-lt"/>
            </a:endParaRPr>
          </a:p>
          <a:p>
            <a:r>
              <a:rPr lang="en-US" altLang="zh-CN" sz="1400" b="0" dirty="0">
                <a:solidFill>
                  <a:schemeClr val="tx1"/>
                </a:solidFill>
                <a:latin typeface="+mn-lt"/>
                <a:ea typeface="+mn-ea"/>
                <a:cs typeface="+mn-ea"/>
                <a:sym typeface="+mn-lt"/>
              </a:rPr>
              <a:t>2</a:t>
            </a:r>
            <a:r>
              <a:rPr lang="zh-CN" altLang="en-US" sz="1400" b="0" dirty="0">
                <a:solidFill>
                  <a:schemeClr val="tx1"/>
                </a:solidFill>
                <a:latin typeface="+mn-lt"/>
                <a:ea typeface="+mn-ea"/>
                <a:cs typeface="+mn-ea"/>
                <a:sym typeface="+mn-lt"/>
              </a:rPr>
              <a:t>、重点风险管控类培训需求的聚焦，如信用风险、市场风险、反洗钱与制裁合规、声誉风险、消保等主题，助力全行风险点精细化管控能力提升</a:t>
            </a:r>
            <a:endParaRPr lang="zh-CN" altLang="en-US" sz="1400" b="0" dirty="0">
              <a:solidFill>
                <a:schemeClr val="tx1"/>
              </a:solidFill>
              <a:latin typeface="+mn-lt"/>
              <a:ea typeface="+mn-ea"/>
              <a:cs typeface="+mn-ea"/>
              <a:sym typeface="+mn-lt"/>
            </a:endParaRPr>
          </a:p>
        </p:txBody>
      </p:sp>
      <p:sp>
        <p:nvSpPr>
          <p:cNvPr id="53" name="矩形 52"/>
          <p:cNvSpPr/>
          <p:nvPr/>
        </p:nvSpPr>
        <p:spPr>
          <a:xfrm>
            <a:off x="4174187" y="3837692"/>
            <a:ext cx="6634833" cy="738664"/>
          </a:xfrm>
          <a:prstGeom prst="rect">
            <a:avLst/>
          </a:prstGeom>
        </p:spPr>
        <p:txBody>
          <a:bodyPr wrap="square">
            <a:spAutoFit/>
          </a:bodyPr>
          <a:lstStyle/>
          <a:p>
            <a:r>
              <a:rPr lang="en-US" altLang="zh-CN" sz="1400" b="0" dirty="0">
                <a:solidFill>
                  <a:schemeClr val="tx1"/>
                </a:solidFill>
                <a:latin typeface="+mn-lt"/>
                <a:ea typeface="+mn-ea"/>
                <a:cs typeface="+mn-ea"/>
                <a:sym typeface="+mn-lt"/>
              </a:rPr>
              <a:t>1</a:t>
            </a:r>
            <a:r>
              <a:rPr lang="zh-CN" altLang="en-US" sz="1400" b="0" dirty="0">
                <a:solidFill>
                  <a:schemeClr val="tx1"/>
                </a:solidFill>
                <a:latin typeface="+mn-lt"/>
                <a:ea typeface="+mn-ea"/>
                <a:cs typeface="+mn-ea"/>
                <a:sym typeface="+mn-lt"/>
              </a:rPr>
              <a:t>、加大重点区域培训资源的倾斜，助力重点地区全面平衡发展</a:t>
            </a:r>
            <a:endParaRPr lang="en-US" altLang="zh-CN" sz="1400" b="0" dirty="0">
              <a:solidFill>
                <a:schemeClr val="tx1"/>
              </a:solidFill>
              <a:latin typeface="+mn-lt"/>
              <a:ea typeface="+mn-ea"/>
              <a:cs typeface="+mn-ea"/>
              <a:sym typeface="+mn-lt"/>
            </a:endParaRPr>
          </a:p>
          <a:p>
            <a:r>
              <a:rPr lang="en-US" altLang="zh-CN" sz="1400" b="0" dirty="0">
                <a:solidFill>
                  <a:schemeClr val="tx1"/>
                </a:solidFill>
                <a:latin typeface="+mn-lt"/>
                <a:ea typeface="+mn-ea"/>
                <a:cs typeface="+mn-ea"/>
                <a:sym typeface="+mn-lt"/>
              </a:rPr>
              <a:t>2</a:t>
            </a:r>
            <a:r>
              <a:rPr lang="zh-CN" altLang="en-US" sz="1400" b="0" dirty="0">
                <a:solidFill>
                  <a:schemeClr val="tx1"/>
                </a:solidFill>
                <a:latin typeface="+mn-lt"/>
                <a:ea typeface="+mn-ea"/>
                <a:cs typeface="+mn-ea"/>
                <a:sym typeface="+mn-lt"/>
              </a:rPr>
              <a:t>、全球化能力的提升赋能，助力畅通“双循环”</a:t>
            </a:r>
            <a:endParaRPr lang="en-US" altLang="zh-CN" sz="1400" b="0" dirty="0">
              <a:solidFill>
                <a:schemeClr val="tx1"/>
              </a:solidFill>
              <a:latin typeface="+mn-lt"/>
              <a:ea typeface="+mn-ea"/>
              <a:cs typeface="+mn-ea"/>
              <a:sym typeface="+mn-lt"/>
            </a:endParaRPr>
          </a:p>
          <a:p>
            <a:r>
              <a:rPr lang="en-US" altLang="zh-CN" sz="1400" b="0" dirty="0">
                <a:solidFill>
                  <a:schemeClr val="tx1"/>
                </a:solidFill>
                <a:latin typeface="+mn-lt"/>
                <a:ea typeface="+mn-ea"/>
                <a:cs typeface="+mn-ea"/>
                <a:sym typeface="+mn-lt"/>
              </a:rPr>
              <a:t>3</a:t>
            </a:r>
            <a:r>
              <a:rPr lang="zh-CN" altLang="en-US" sz="1400" b="0" dirty="0">
                <a:solidFill>
                  <a:schemeClr val="tx1"/>
                </a:solidFill>
                <a:latin typeface="+mn-lt"/>
                <a:ea typeface="+mn-ea"/>
                <a:cs typeface="+mn-ea"/>
                <a:sym typeface="+mn-lt"/>
              </a:rPr>
              <a:t>、集团管理体系、立体协同机制、综合经营布局带来的支撑类培训需求的响应</a:t>
            </a:r>
            <a:endParaRPr lang="zh-CN" altLang="en-US" sz="1400" b="0" dirty="0">
              <a:solidFill>
                <a:schemeClr val="tx1"/>
              </a:solidFill>
              <a:latin typeface="+mn-lt"/>
              <a:ea typeface="+mn-ea"/>
              <a:cs typeface="+mn-ea"/>
              <a:sym typeface="+mn-lt"/>
            </a:endParaRPr>
          </a:p>
        </p:txBody>
      </p:sp>
      <p:sp>
        <p:nvSpPr>
          <p:cNvPr id="54" name="矩形 53"/>
          <p:cNvSpPr/>
          <p:nvPr/>
        </p:nvSpPr>
        <p:spPr>
          <a:xfrm>
            <a:off x="4174187" y="2817540"/>
            <a:ext cx="6634833" cy="738664"/>
          </a:xfrm>
          <a:prstGeom prst="rect">
            <a:avLst/>
          </a:prstGeom>
        </p:spPr>
        <p:txBody>
          <a:bodyPr wrap="square">
            <a:spAutoFit/>
          </a:bodyPr>
          <a:lstStyle/>
          <a:p>
            <a:r>
              <a:rPr lang="en-US" altLang="zh-CN" sz="1400" b="0" dirty="0">
                <a:solidFill>
                  <a:schemeClr val="tx1"/>
                </a:solidFill>
                <a:latin typeface="+mn-lt"/>
                <a:ea typeface="+mn-ea"/>
                <a:cs typeface="+mn-ea"/>
                <a:sym typeface="+mn-lt"/>
              </a:rPr>
              <a:t>1</a:t>
            </a:r>
            <a:r>
              <a:rPr lang="zh-CN" altLang="en-US" sz="1400" b="0" dirty="0">
                <a:solidFill>
                  <a:schemeClr val="tx1"/>
                </a:solidFill>
                <a:latin typeface="+mn-lt"/>
                <a:ea typeface="+mn-ea"/>
                <a:cs typeface="+mn-ea"/>
                <a:sym typeface="+mn-lt"/>
              </a:rPr>
              <a:t>、聚焦公司金融、个人金融、金融机构三大业务综合化服务能力的赋能</a:t>
            </a:r>
            <a:endParaRPr lang="en-US" altLang="zh-CN" sz="1400" b="0" dirty="0">
              <a:solidFill>
                <a:schemeClr val="tx1"/>
              </a:solidFill>
              <a:latin typeface="+mn-lt"/>
              <a:ea typeface="+mn-ea"/>
              <a:cs typeface="+mn-ea"/>
              <a:sym typeface="+mn-lt"/>
            </a:endParaRPr>
          </a:p>
          <a:p>
            <a:r>
              <a:rPr lang="en-US" altLang="zh-CN" sz="1400" b="0" dirty="0">
                <a:solidFill>
                  <a:schemeClr val="tx1"/>
                </a:solidFill>
                <a:latin typeface="+mn-lt"/>
                <a:ea typeface="+mn-ea"/>
                <a:cs typeface="+mn-ea"/>
                <a:sym typeface="+mn-lt"/>
              </a:rPr>
              <a:t>2</a:t>
            </a:r>
            <a:r>
              <a:rPr lang="zh-CN" altLang="en-US" sz="1400" b="0" dirty="0">
                <a:solidFill>
                  <a:schemeClr val="tx1"/>
                </a:solidFill>
                <a:latin typeface="+mn-lt"/>
                <a:ea typeface="+mn-ea"/>
                <a:cs typeface="+mn-ea"/>
                <a:sym typeface="+mn-lt"/>
              </a:rPr>
              <a:t>、关注普惠金融、跨境和综合化群拓展能力的培训提升</a:t>
            </a:r>
            <a:endParaRPr lang="en-US" altLang="zh-CN" sz="1400" b="0" dirty="0">
              <a:solidFill>
                <a:schemeClr val="tx1"/>
              </a:solidFill>
              <a:latin typeface="+mn-lt"/>
              <a:ea typeface="+mn-ea"/>
              <a:cs typeface="+mn-ea"/>
              <a:sym typeface="+mn-lt"/>
            </a:endParaRPr>
          </a:p>
          <a:p>
            <a:r>
              <a:rPr lang="en-US" altLang="zh-CN" sz="1400" b="0" dirty="0">
                <a:solidFill>
                  <a:schemeClr val="tx1"/>
                </a:solidFill>
                <a:latin typeface="+mn-lt"/>
                <a:ea typeface="+mn-ea"/>
                <a:cs typeface="+mn-ea"/>
                <a:sym typeface="+mn-lt"/>
              </a:rPr>
              <a:t>3</a:t>
            </a:r>
            <a:r>
              <a:rPr lang="zh-CN" altLang="en-US" sz="1400" b="0" dirty="0">
                <a:solidFill>
                  <a:schemeClr val="tx1"/>
                </a:solidFill>
                <a:latin typeface="+mn-lt"/>
                <a:ea typeface="+mn-ea"/>
                <a:cs typeface="+mn-ea"/>
                <a:sym typeface="+mn-lt"/>
              </a:rPr>
              <a:t>、在手机银行、网点转型、智慧运营等运营能力方面提供能力提升培训</a:t>
            </a:r>
            <a:endParaRPr lang="zh-CN" altLang="en-US" sz="1400" b="0" dirty="0">
              <a:solidFill>
                <a:schemeClr val="tx1"/>
              </a:solidFill>
              <a:latin typeface="+mn-lt"/>
              <a:ea typeface="+mn-ea"/>
              <a:cs typeface="+mn-ea"/>
              <a:sym typeface="+mn-lt"/>
            </a:endParaRPr>
          </a:p>
        </p:txBody>
      </p:sp>
      <p:sp>
        <p:nvSpPr>
          <p:cNvPr id="55" name="矩形 54"/>
          <p:cNvSpPr/>
          <p:nvPr/>
        </p:nvSpPr>
        <p:spPr>
          <a:xfrm>
            <a:off x="4174188" y="1903529"/>
            <a:ext cx="6634833" cy="738664"/>
          </a:xfrm>
          <a:prstGeom prst="rect">
            <a:avLst/>
          </a:prstGeom>
        </p:spPr>
        <p:txBody>
          <a:bodyPr wrap="square">
            <a:spAutoFit/>
          </a:bodyPr>
          <a:lstStyle/>
          <a:p>
            <a:r>
              <a:rPr lang="en-US" altLang="zh-CN" sz="1400" b="0" dirty="0">
                <a:solidFill>
                  <a:schemeClr val="tx1"/>
                </a:solidFill>
                <a:latin typeface="+mn-lt"/>
                <a:ea typeface="+mn-ea"/>
                <a:cs typeface="+mn-ea"/>
                <a:sym typeface="+mn-lt"/>
              </a:rPr>
              <a:t>1</a:t>
            </a:r>
            <a:r>
              <a:rPr lang="zh-CN" altLang="en-US" sz="1400" b="0" dirty="0">
                <a:solidFill>
                  <a:schemeClr val="tx1"/>
                </a:solidFill>
                <a:latin typeface="+mn-lt"/>
                <a:ea typeface="+mn-ea"/>
                <a:cs typeface="+mn-ea"/>
                <a:sym typeface="+mn-lt"/>
              </a:rPr>
              <a:t>、科技创新、数字化转型培训、场景建设主题培训的探索</a:t>
            </a:r>
            <a:endParaRPr lang="en-US" altLang="zh-CN" sz="1400" b="0" dirty="0">
              <a:solidFill>
                <a:schemeClr val="tx1"/>
              </a:solidFill>
              <a:latin typeface="+mn-lt"/>
              <a:ea typeface="+mn-ea"/>
              <a:cs typeface="+mn-ea"/>
              <a:sym typeface="+mn-lt"/>
            </a:endParaRPr>
          </a:p>
          <a:p>
            <a:r>
              <a:rPr lang="en-US" altLang="zh-CN" sz="1400" b="0" dirty="0">
                <a:solidFill>
                  <a:schemeClr val="tx1"/>
                </a:solidFill>
                <a:latin typeface="+mn-lt"/>
                <a:ea typeface="+mn-ea"/>
                <a:cs typeface="+mn-ea"/>
                <a:sym typeface="+mn-lt"/>
              </a:rPr>
              <a:t>2</a:t>
            </a:r>
            <a:r>
              <a:rPr lang="zh-CN" altLang="en-US" sz="1400" b="0" dirty="0">
                <a:solidFill>
                  <a:schemeClr val="tx1"/>
                </a:solidFill>
                <a:latin typeface="+mn-lt"/>
                <a:ea typeface="+mn-ea"/>
                <a:cs typeface="+mn-ea"/>
                <a:sym typeface="+mn-lt"/>
              </a:rPr>
              <a:t>、要关注培训在职位、绩效、薪酬等方面的结果应用，激发员工学习活力</a:t>
            </a:r>
            <a:endParaRPr lang="en-US" altLang="zh-CN" sz="1400" b="0" dirty="0">
              <a:solidFill>
                <a:schemeClr val="tx1"/>
              </a:solidFill>
              <a:latin typeface="+mn-lt"/>
              <a:ea typeface="+mn-ea"/>
              <a:cs typeface="+mn-ea"/>
              <a:sym typeface="+mn-lt"/>
            </a:endParaRPr>
          </a:p>
          <a:p>
            <a:r>
              <a:rPr lang="en-US" altLang="zh-CN" sz="1400" b="0" dirty="0">
                <a:solidFill>
                  <a:schemeClr val="tx1"/>
                </a:solidFill>
                <a:latin typeface="+mn-lt"/>
                <a:ea typeface="+mn-ea"/>
                <a:cs typeface="+mn-ea"/>
                <a:sym typeface="+mn-lt"/>
              </a:rPr>
              <a:t>3</a:t>
            </a:r>
            <a:r>
              <a:rPr lang="zh-CN" altLang="en-US" sz="1400" b="0" dirty="0">
                <a:solidFill>
                  <a:schemeClr val="tx1"/>
                </a:solidFill>
                <a:latin typeface="+mn-lt"/>
                <a:ea typeface="+mn-ea"/>
                <a:cs typeface="+mn-ea"/>
                <a:sym typeface="+mn-lt"/>
              </a:rPr>
              <a:t>、配合五项文化工程落地，在新员工、干部员工、客户等群体开展文化培训</a:t>
            </a:r>
            <a:endParaRPr lang="zh-CN" altLang="en-US" sz="1400" b="0" dirty="0">
              <a:solidFill>
                <a:schemeClr val="tx1"/>
              </a:solidFill>
              <a:latin typeface="+mn-lt"/>
              <a:ea typeface="+mn-ea"/>
              <a:cs typeface="+mn-ea"/>
              <a:sym typeface="+mn-lt"/>
            </a:endParaRPr>
          </a:p>
        </p:txBody>
      </p:sp>
      <p:sp>
        <p:nvSpPr>
          <p:cNvPr id="69" name="TextBox 16"/>
          <p:cNvSpPr txBox="1">
            <a:spLocks noChangeArrowheads="1"/>
          </p:cNvSpPr>
          <p:nvPr/>
        </p:nvSpPr>
        <p:spPr bwMode="auto">
          <a:xfrm>
            <a:off x="1027346" y="1487437"/>
            <a:ext cx="322247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eaLnBrk="1" hangingPunct="1"/>
            <a:r>
              <a:rPr lang="zh-CN" altLang="en-US" sz="1400" dirty="0">
                <a:latin typeface="+mn-lt"/>
                <a:ea typeface="+mn-ea"/>
                <a:cs typeface="+mn-ea"/>
                <a:sym typeface="+mn-lt"/>
              </a:rPr>
              <a:t>中银十四五战略</a:t>
            </a:r>
            <a:endParaRPr lang="zh-CN" altLang="en-US" sz="1400" dirty="0">
              <a:latin typeface="+mn-lt"/>
              <a:ea typeface="+mn-ea"/>
              <a:cs typeface="+mn-ea"/>
              <a:sym typeface="+mn-lt"/>
            </a:endParaRPr>
          </a:p>
        </p:txBody>
      </p:sp>
      <p:sp>
        <p:nvSpPr>
          <p:cNvPr id="72" name="任意形状 11"/>
          <p:cNvSpPr/>
          <p:nvPr/>
        </p:nvSpPr>
        <p:spPr>
          <a:xfrm>
            <a:off x="4088401" y="5799808"/>
            <a:ext cx="7198298" cy="815681"/>
          </a:xfrm>
          <a:custGeom>
            <a:avLst/>
            <a:gdLst>
              <a:gd name="connsiteX0" fmla="*/ 0 w 4327383"/>
              <a:gd name="connsiteY0" fmla="*/ 0 h 1352307"/>
              <a:gd name="connsiteX1" fmla="*/ 4327383 w 4327383"/>
              <a:gd name="connsiteY1" fmla="*/ 0 h 1352307"/>
              <a:gd name="connsiteX2" fmla="*/ 4327383 w 4327383"/>
              <a:gd name="connsiteY2" fmla="*/ 1352307 h 1352307"/>
              <a:gd name="connsiteX3" fmla="*/ 0 w 4327383"/>
              <a:gd name="connsiteY3" fmla="*/ 1352307 h 1352307"/>
              <a:gd name="connsiteX4" fmla="*/ 0 w 4327383"/>
              <a:gd name="connsiteY4" fmla="*/ 0 h 13523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7383" h="1352307">
                <a:moveTo>
                  <a:pt x="0" y="0"/>
                </a:moveTo>
                <a:lnTo>
                  <a:pt x="4327383" y="0"/>
                </a:lnTo>
                <a:lnTo>
                  <a:pt x="4327383" y="1352307"/>
                </a:lnTo>
                <a:lnTo>
                  <a:pt x="0" y="1352307"/>
                </a:lnTo>
                <a:lnTo>
                  <a:pt x="0" y="0"/>
                </a:lnTo>
                <a:close/>
              </a:path>
            </a:pathLst>
          </a:custGeom>
          <a:ln>
            <a:solidFill>
              <a:srgbClr val="C00000"/>
            </a:solidFill>
          </a:ln>
        </p:spPr>
        <p:style>
          <a:lnRef idx="1">
            <a:schemeClr val="dk2">
              <a:hueOff val="0"/>
              <a:satOff val="0"/>
              <a:lumOff val="0"/>
              <a:alphaOff val="0"/>
            </a:schemeClr>
          </a:lnRef>
          <a:fillRef idx="1">
            <a:schemeClr val="lt2">
              <a:alpha val="40000"/>
              <a:hueOff val="0"/>
              <a:satOff val="0"/>
              <a:lumOff val="0"/>
              <a:alphaOff val="0"/>
            </a:schemeClr>
          </a:fillRef>
          <a:effectRef idx="0">
            <a:schemeClr val="lt2">
              <a:alpha val="40000"/>
              <a:hueOff val="0"/>
              <a:satOff val="0"/>
              <a:lumOff val="0"/>
              <a:alphaOff val="0"/>
            </a:schemeClr>
          </a:effectRef>
          <a:fontRef idx="minor">
            <a:schemeClr val="dk1">
              <a:hueOff val="0"/>
              <a:satOff val="0"/>
              <a:lumOff val="0"/>
              <a:alphaOff val="0"/>
            </a:schemeClr>
          </a:fontRef>
        </p:style>
        <p:txBody>
          <a:bodyPr spcFirstLastPara="0" vert="horz" wrap="square" lIns="915963" tIns="182880" rIns="182880" bIns="182880" numCol="1" spcCol="1270" anchor="ctr" anchorCtr="0">
            <a:noAutofit/>
          </a:bodyPr>
          <a:lstStyle/>
          <a:p>
            <a:pPr marL="0" lvl="0" indent="0" algn="l" defTabSz="2133600" rtl="0">
              <a:lnSpc>
                <a:spcPct val="90000"/>
              </a:lnSpc>
              <a:spcBef>
                <a:spcPct val="0"/>
              </a:spcBef>
              <a:spcAft>
                <a:spcPct val="35000"/>
              </a:spcAft>
              <a:buNone/>
            </a:pPr>
            <a:endParaRPr lang="zh-CN" altLang="en-US" sz="4800" kern="1200" dirty="0">
              <a:cs typeface="+mn-ea"/>
              <a:sym typeface="+mn-lt"/>
            </a:endParaRPr>
          </a:p>
        </p:txBody>
      </p:sp>
      <p:sp>
        <p:nvSpPr>
          <p:cNvPr id="73" name="矩形 72"/>
          <p:cNvSpPr/>
          <p:nvPr/>
        </p:nvSpPr>
        <p:spPr>
          <a:xfrm>
            <a:off x="1020155" y="5788846"/>
            <a:ext cx="3095453" cy="856465"/>
          </a:xfrm>
          <a:prstGeom prst="rect">
            <a:avLst/>
          </a:prstGeom>
          <a:solidFill>
            <a:srgbClr val="C00000"/>
          </a:solidFill>
        </p:spPr>
        <p:style>
          <a:lnRef idx="2">
            <a:schemeClr val="lt2">
              <a:hueOff val="0"/>
              <a:satOff val="0"/>
              <a:lumOff val="0"/>
              <a:alphaOff val="0"/>
            </a:schemeClr>
          </a:lnRef>
          <a:fillRef idx="1">
            <a:schemeClr val="dk2">
              <a:tint val="50000"/>
              <a:hueOff val="0"/>
              <a:satOff val="0"/>
              <a:lumOff val="0"/>
              <a:alphaOff val="0"/>
            </a:schemeClr>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zh-CN" altLang="en-US">
              <a:cs typeface="+mn-ea"/>
              <a:sym typeface="+mn-lt"/>
            </a:endParaRPr>
          </a:p>
        </p:txBody>
      </p:sp>
      <p:sp>
        <p:nvSpPr>
          <p:cNvPr id="74" name="矩形 73"/>
          <p:cNvSpPr/>
          <p:nvPr/>
        </p:nvSpPr>
        <p:spPr>
          <a:xfrm>
            <a:off x="1128684" y="5975049"/>
            <a:ext cx="2901960" cy="584775"/>
          </a:xfrm>
          <a:prstGeom prst="rect">
            <a:avLst/>
          </a:prstGeom>
        </p:spPr>
        <p:txBody>
          <a:bodyPr wrap="square">
            <a:spAutoFit/>
          </a:bodyPr>
          <a:lstStyle/>
          <a:p>
            <a:pPr algn="ctr"/>
            <a:r>
              <a:rPr lang="zh-CN" altLang="en-US" sz="1600" dirty="0">
                <a:solidFill>
                  <a:schemeClr val="bg1"/>
                </a:solidFill>
                <a:latin typeface="+mn-lt"/>
                <a:ea typeface="+mn-ea"/>
                <a:cs typeface="+mn-ea"/>
                <a:sym typeface="+mn-lt"/>
              </a:rPr>
              <a:t>全面加强党的建设，</a:t>
            </a:r>
            <a:endParaRPr lang="en-US" altLang="zh-CN" sz="1600" dirty="0">
              <a:solidFill>
                <a:schemeClr val="bg1"/>
              </a:solidFill>
              <a:latin typeface="+mn-lt"/>
              <a:ea typeface="+mn-ea"/>
              <a:cs typeface="+mn-ea"/>
              <a:sym typeface="+mn-lt"/>
            </a:endParaRPr>
          </a:p>
          <a:p>
            <a:pPr algn="ctr"/>
            <a:r>
              <a:rPr lang="zh-CN" altLang="en-US" sz="1600" dirty="0">
                <a:solidFill>
                  <a:schemeClr val="bg1"/>
                </a:solidFill>
                <a:latin typeface="+mn-lt"/>
                <a:ea typeface="+mn-ea"/>
                <a:cs typeface="+mn-ea"/>
                <a:sym typeface="+mn-lt"/>
              </a:rPr>
              <a:t>持续强化规划执行</a:t>
            </a:r>
            <a:endParaRPr lang="zh-CN" altLang="en-US" sz="1600" dirty="0">
              <a:solidFill>
                <a:schemeClr val="bg1"/>
              </a:solidFill>
              <a:latin typeface="+mn-lt"/>
              <a:ea typeface="+mn-ea"/>
              <a:cs typeface="+mn-ea"/>
              <a:sym typeface="+mn-lt"/>
            </a:endParaRPr>
          </a:p>
        </p:txBody>
      </p:sp>
      <p:sp>
        <p:nvSpPr>
          <p:cNvPr id="75" name="矩形 74"/>
          <p:cNvSpPr/>
          <p:nvPr/>
        </p:nvSpPr>
        <p:spPr>
          <a:xfrm>
            <a:off x="4228779" y="5852217"/>
            <a:ext cx="6887513" cy="738664"/>
          </a:xfrm>
          <a:prstGeom prst="rect">
            <a:avLst/>
          </a:prstGeom>
        </p:spPr>
        <p:txBody>
          <a:bodyPr wrap="square">
            <a:spAutoFit/>
          </a:bodyPr>
          <a:lstStyle/>
          <a:p>
            <a:r>
              <a:rPr lang="en-US" altLang="zh-CN" sz="1400" b="0" dirty="0">
                <a:solidFill>
                  <a:schemeClr val="tx1"/>
                </a:solidFill>
                <a:latin typeface="+mn-lt"/>
                <a:ea typeface="+mn-ea"/>
                <a:cs typeface="+mn-ea"/>
                <a:sym typeface="+mn-lt"/>
              </a:rPr>
              <a:t>1</a:t>
            </a:r>
            <a:r>
              <a:rPr lang="zh-CN" altLang="en-US" sz="1400" b="0" dirty="0">
                <a:solidFill>
                  <a:schemeClr val="tx1"/>
                </a:solidFill>
                <a:latin typeface="+mn-lt"/>
                <a:ea typeface="+mn-ea"/>
                <a:cs typeface="+mn-ea"/>
                <a:sym typeface="+mn-lt"/>
              </a:rPr>
              <a:t>、双加强带来的需求指引：加强党员党性教育，加强党务工作者能力建设</a:t>
            </a:r>
            <a:endParaRPr lang="en-US" altLang="zh-CN" sz="1400" b="0" dirty="0">
              <a:solidFill>
                <a:schemeClr val="tx1"/>
              </a:solidFill>
              <a:latin typeface="+mn-lt"/>
              <a:ea typeface="+mn-ea"/>
              <a:cs typeface="+mn-ea"/>
              <a:sym typeface="+mn-lt"/>
            </a:endParaRPr>
          </a:p>
          <a:p>
            <a:r>
              <a:rPr lang="en-US" altLang="zh-CN" sz="1400" b="0" dirty="0">
                <a:solidFill>
                  <a:schemeClr val="tx1"/>
                </a:solidFill>
                <a:latin typeface="+mn-lt"/>
                <a:ea typeface="+mn-ea"/>
                <a:cs typeface="+mn-ea"/>
                <a:sym typeface="+mn-lt"/>
              </a:rPr>
              <a:t>2</a:t>
            </a:r>
            <a:r>
              <a:rPr lang="zh-CN" altLang="en-US" sz="1400" b="0" dirty="0">
                <a:solidFill>
                  <a:schemeClr val="tx1"/>
                </a:solidFill>
                <a:latin typeface="+mn-lt"/>
                <a:ea typeface="+mn-ea"/>
                <a:cs typeface="+mn-ea"/>
                <a:sym typeface="+mn-lt"/>
              </a:rPr>
              <a:t>、我行十四五规划执行落地中的配套培训需求，保障规划的贯彻落实如资源配置、机制完善、执行力文化等主题的赋能与研讨</a:t>
            </a:r>
            <a:endParaRPr lang="zh-CN" altLang="en-US" sz="1400" b="0" dirty="0">
              <a:solidFill>
                <a:schemeClr val="tx1"/>
              </a:solidFill>
              <a:latin typeface="+mn-lt"/>
              <a:ea typeface="+mn-ea"/>
              <a:cs typeface="+mn-ea"/>
              <a:sym typeface="+mn-lt"/>
            </a:endParaRPr>
          </a:p>
        </p:txBody>
      </p:sp>
      <p:sp>
        <p:nvSpPr>
          <p:cNvPr id="76" name="TextBox 16"/>
          <p:cNvSpPr txBox="1">
            <a:spLocks noChangeArrowheads="1"/>
          </p:cNvSpPr>
          <p:nvPr/>
        </p:nvSpPr>
        <p:spPr bwMode="auto">
          <a:xfrm>
            <a:off x="6185300" y="1502922"/>
            <a:ext cx="322247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eaLnBrk="1" hangingPunct="1"/>
            <a:r>
              <a:rPr lang="zh-CN" altLang="en-US" sz="1400" dirty="0">
                <a:latin typeface="+mn-lt"/>
                <a:ea typeface="+mn-ea"/>
                <a:cs typeface="+mn-ea"/>
                <a:sym typeface="+mn-lt"/>
              </a:rPr>
              <a:t>对培训的诉求</a:t>
            </a:r>
            <a:endParaRPr lang="zh-CN" altLang="en-US" sz="1400" dirty="0">
              <a:latin typeface="+mn-lt"/>
              <a:ea typeface="+mn-ea"/>
              <a:cs typeface="+mn-ea"/>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41"/>
          <p:cNvGrpSpPr/>
          <p:nvPr/>
        </p:nvGrpSpPr>
        <p:grpSpPr>
          <a:xfrm>
            <a:off x="5957443" y="1284638"/>
            <a:ext cx="6099048" cy="924433"/>
            <a:chOff x="5957443" y="1284638"/>
            <a:chExt cx="6099048" cy="924433"/>
          </a:xfrm>
        </p:grpSpPr>
        <p:sp>
          <p:nvSpPr>
            <p:cNvPr id="33" name="文本框 32"/>
            <p:cNvSpPr txBox="1"/>
            <p:nvPr/>
          </p:nvSpPr>
          <p:spPr>
            <a:xfrm>
              <a:off x="5957443" y="1284638"/>
              <a:ext cx="2383540" cy="369332"/>
            </a:xfrm>
            <a:prstGeom prst="rect">
              <a:avLst/>
            </a:prstGeom>
            <a:noFill/>
          </p:spPr>
          <p:txBody>
            <a:bodyPr wrap="square">
              <a:spAutoFit/>
            </a:bodyPr>
            <a:lstStyle/>
            <a:p>
              <a:r>
                <a:rPr lang="zh-CN" altLang="en-US" sz="1800" dirty="0">
                  <a:latin typeface="STZhongsong" panose="02010600040101010101" pitchFamily="2" charset="-122"/>
                  <a:ea typeface="STZhongsong" panose="02010600040101010101" pitchFamily="2" charset="-122"/>
                  <a:cs typeface="+mj-cs"/>
                </a:rPr>
                <a:t>百年未有之大变局</a:t>
              </a:r>
              <a:endParaRPr lang="zh-CN" altLang="en-US" sz="1800" dirty="0">
                <a:latin typeface="STZhongsong" panose="02010600040101010101" pitchFamily="2" charset="-122"/>
                <a:ea typeface="STZhongsong" panose="02010600040101010101" pitchFamily="2" charset="-122"/>
                <a:cs typeface="+mj-cs"/>
              </a:endParaRPr>
            </a:p>
          </p:txBody>
        </p:sp>
        <p:sp>
          <p:nvSpPr>
            <p:cNvPr id="35" name="文本框 34"/>
            <p:cNvSpPr txBox="1"/>
            <p:nvPr/>
          </p:nvSpPr>
          <p:spPr>
            <a:xfrm>
              <a:off x="5957443" y="1685851"/>
              <a:ext cx="6099048" cy="523220"/>
            </a:xfrm>
            <a:prstGeom prst="rect">
              <a:avLst/>
            </a:prstGeom>
            <a:noFill/>
          </p:spPr>
          <p:txBody>
            <a:bodyPr wrap="square">
              <a:spAutoFit/>
            </a:bodyPr>
            <a:lstStyle/>
            <a:p>
              <a:r>
                <a:rPr lang="zh-CN" altLang="en-US" sz="1400" dirty="0">
                  <a:latin typeface="STZhongsong" panose="02010600040101010101" pitchFamily="2" charset="-122"/>
                  <a:ea typeface="STZhongsong" panose="02010600040101010101" pitchFamily="2" charset="-122"/>
                  <a:cs typeface="+mj-cs"/>
                </a:rPr>
                <a:t>复杂多变的外部环境，中美对立摩擦加剧，世界格局加速演变。</a:t>
              </a:r>
              <a:br>
                <a:rPr lang="en-US" altLang="zh-CN" sz="1400" dirty="0">
                  <a:latin typeface="STZhongsong" panose="02010600040101010101" pitchFamily="2" charset="-122"/>
                  <a:ea typeface="STZhongsong" panose="02010600040101010101" pitchFamily="2" charset="-122"/>
                  <a:cs typeface="+mj-cs"/>
                </a:rPr>
              </a:br>
              <a:endParaRPr lang="zh-CN" altLang="en-US" sz="1400" dirty="0">
                <a:latin typeface="STZhongsong" panose="02010600040101010101" pitchFamily="2" charset="-122"/>
                <a:ea typeface="STZhongsong" panose="02010600040101010101" pitchFamily="2" charset="-122"/>
                <a:cs typeface="+mj-cs"/>
              </a:endParaRPr>
            </a:p>
          </p:txBody>
        </p:sp>
        <p:cxnSp>
          <p:nvCxnSpPr>
            <p:cNvPr id="37" name="直接连接符 36"/>
            <p:cNvCxnSpPr/>
            <p:nvPr/>
          </p:nvCxnSpPr>
          <p:spPr bwMode="auto">
            <a:xfrm>
              <a:off x="6065994" y="1653970"/>
              <a:ext cx="1827381" cy="0"/>
            </a:xfrm>
            <a:prstGeom prst="line">
              <a:avLst/>
            </a:prstGeom>
            <a:solidFill>
              <a:schemeClr val="bg1"/>
            </a:solidFill>
            <a:ln w="38100" cap="flat" cmpd="sng" algn="ctr">
              <a:solidFill>
                <a:srgbClr val="C00000"/>
              </a:solidFill>
              <a:prstDash val="solid"/>
              <a:round/>
              <a:headEnd type="none" w="med" len="med"/>
              <a:tailEnd type="none" w="med" len="med"/>
            </a:ln>
          </p:spPr>
        </p:cxnSp>
      </p:grpSp>
      <p:sp>
        <p:nvSpPr>
          <p:cNvPr id="2" name="灯片编号占位符 1"/>
          <p:cNvSpPr>
            <a:spLocks noGrp="1"/>
          </p:cNvSpPr>
          <p:nvPr>
            <p:ph type="sldNum" sz="quarter" idx="10"/>
          </p:nvPr>
        </p:nvSpPr>
        <p:spPr/>
        <p:txBody>
          <a:bodyPr/>
          <a:lstStyle/>
          <a:p>
            <a:pPr>
              <a:defRPr/>
            </a:pPr>
            <a:fld id="{52DF7D90-B49A-4800-BC0D-FE9A7C3546DE}" type="slidenum">
              <a:rPr lang="zh-CN" altLang="en-US" smtClean="0"/>
            </a:fld>
            <a:endParaRPr lang="en-US" altLang="zh-CN"/>
          </a:p>
        </p:txBody>
      </p:sp>
      <p:sp>
        <p:nvSpPr>
          <p:cNvPr id="4" name="矩形 3"/>
          <p:cNvSpPr/>
          <p:nvPr/>
        </p:nvSpPr>
        <p:spPr>
          <a:xfrm>
            <a:off x="375352" y="220603"/>
            <a:ext cx="6328977" cy="400110"/>
          </a:xfrm>
          <a:prstGeom prst="rect">
            <a:avLst/>
          </a:prstGeom>
        </p:spPr>
        <p:txBody>
          <a:bodyPr wrap="none">
            <a:spAutoFit/>
          </a:bodyPr>
          <a:lstStyle/>
          <a:p>
            <a:r>
              <a:rPr lang="en-US" altLang="zh-CN" sz="2000" dirty="0">
                <a:latin typeface="+mn-ea"/>
                <a:ea typeface="+mn-ea"/>
                <a:cs typeface="+mn-ea"/>
                <a:sym typeface="+mn-lt"/>
              </a:rPr>
              <a:t>T</a:t>
            </a:r>
            <a:r>
              <a:rPr lang="zh-CN" altLang="en-US" sz="2000" dirty="0">
                <a:latin typeface="+mn-ea"/>
                <a:ea typeface="+mn-ea"/>
                <a:cs typeface="+mn-ea"/>
                <a:sym typeface="+mn-lt"/>
              </a:rPr>
              <a:t> 挑战</a:t>
            </a:r>
            <a:r>
              <a:rPr lang="en-US" altLang="zh-CN" sz="2000" dirty="0">
                <a:latin typeface="+mn-ea"/>
                <a:ea typeface="+mn-ea"/>
                <a:cs typeface="+mn-ea"/>
                <a:sym typeface="+mn-lt"/>
              </a:rPr>
              <a:t>1-</a:t>
            </a:r>
            <a:r>
              <a:rPr lang="zh-CN" altLang="en-US" sz="2000" dirty="0">
                <a:latin typeface="+mn-ea"/>
                <a:ea typeface="+mn-ea"/>
                <a:cs typeface="+mn-ea"/>
                <a:sym typeface="+mn-lt"/>
              </a:rPr>
              <a:t>国内外新形势新变化对中银集团的压力和挑战</a:t>
            </a:r>
            <a:endParaRPr lang="zh-CN" altLang="en-US" sz="2000" dirty="0">
              <a:latin typeface="+mn-ea"/>
              <a:ea typeface="+mn-ea"/>
              <a:cs typeface="+mn-ea"/>
              <a:sym typeface="+mn-lt"/>
            </a:endParaRPr>
          </a:p>
        </p:txBody>
      </p:sp>
      <p:grpSp>
        <p:nvGrpSpPr>
          <p:cNvPr id="12" name="组合 27"/>
          <p:cNvGrpSpPr/>
          <p:nvPr/>
        </p:nvGrpSpPr>
        <p:grpSpPr>
          <a:xfrm>
            <a:off x="4268088" y="2035687"/>
            <a:ext cx="3272379" cy="3112314"/>
            <a:chOff x="3904453" y="1942712"/>
            <a:chExt cx="3272379" cy="3112314"/>
          </a:xfrm>
        </p:grpSpPr>
        <p:grpSp>
          <p:nvGrpSpPr>
            <p:cNvPr id="14" name="组合 23"/>
            <p:cNvGrpSpPr/>
            <p:nvPr/>
          </p:nvGrpSpPr>
          <p:grpSpPr>
            <a:xfrm>
              <a:off x="3904453" y="1942712"/>
              <a:ext cx="3272379" cy="3112314"/>
              <a:chOff x="3904453" y="1942712"/>
              <a:chExt cx="3272379" cy="3112314"/>
            </a:xfrm>
          </p:grpSpPr>
          <p:sp>
            <p:nvSpPr>
              <p:cNvPr id="5" name="椭圆 4"/>
              <p:cNvSpPr/>
              <p:nvPr/>
            </p:nvSpPr>
            <p:spPr>
              <a:xfrm>
                <a:off x="4816449" y="2937409"/>
                <a:ext cx="1445421" cy="1445421"/>
              </a:xfrm>
              <a:prstGeom prst="ellipse">
                <a:avLst/>
              </a:prstGeom>
              <a:solidFill>
                <a:srgbClr val="AC0000"/>
              </a:solidFill>
              <a:ln>
                <a:noFill/>
              </a:ln>
              <a:effectLst>
                <a:outerShdw blurRad="149987" dist="250190" dir="8460000" algn="ctr">
                  <a:srgbClr val="000000">
                    <a:alpha val="28000"/>
                  </a:srgbClr>
                </a:outerShdw>
              </a:effectLst>
            </p:spPr>
            <p:txBody>
              <a:bodyPr vert="horz" wrap="square" lIns="63715" tIns="31857" rIns="63715" bIns="31857" numCol="1" anchor="t" anchorCtr="0" compatLnSpc="1"/>
              <a:lstStyle/>
              <a:p>
                <a:pPr>
                  <a:lnSpc>
                    <a:spcPct val="130000"/>
                  </a:lnSpc>
                </a:pPr>
                <a:endParaRPr lang="zh-CN" altLang="en-US" sz="1255" b="1">
                  <a:cs typeface="+mn-ea"/>
                  <a:sym typeface="+mn-lt"/>
                </a:endParaRPr>
              </a:p>
            </p:txBody>
          </p:sp>
          <p:sp>
            <p:nvSpPr>
              <p:cNvPr id="6" name="Freeform 5"/>
              <p:cNvSpPr/>
              <p:nvPr/>
            </p:nvSpPr>
            <p:spPr bwMode="auto">
              <a:xfrm>
                <a:off x="3904453" y="2529604"/>
                <a:ext cx="1087828" cy="1502804"/>
              </a:xfrm>
              <a:custGeom>
                <a:avLst/>
                <a:gdLst>
                  <a:gd name="T0" fmla="*/ 767 w 767"/>
                  <a:gd name="T1" fmla="*/ 347 h 1059"/>
                  <a:gd name="T2" fmla="*/ 514 w 767"/>
                  <a:gd name="T3" fmla="*/ 0 h 1059"/>
                  <a:gd name="T4" fmla="*/ 129 w 767"/>
                  <a:gd name="T5" fmla="*/ 279 h 1059"/>
                  <a:gd name="T6" fmla="*/ 33 w 767"/>
                  <a:gd name="T7" fmla="*/ 576 h 1059"/>
                  <a:gd name="T8" fmla="*/ 190 w 767"/>
                  <a:gd name="T9" fmla="*/ 1059 h 1059"/>
                  <a:gd name="T10" fmla="*/ 577 w 767"/>
                  <a:gd name="T11" fmla="*/ 933 h 1059"/>
                  <a:gd name="T12" fmla="*/ 561 w 767"/>
                  <a:gd name="T13" fmla="*/ 796 h 1059"/>
                  <a:gd name="T14" fmla="*/ 767 w 767"/>
                  <a:gd name="T15" fmla="*/ 347 h 10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7" h="1059">
                    <a:moveTo>
                      <a:pt x="767" y="347"/>
                    </a:moveTo>
                    <a:cubicBezTo>
                      <a:pt x="514" y="0"/>
                      <a:pt x="514" y="0"/>
                      <a:pt x="514" y="0"/>
                    </a:cubicBezTo>
                    <a:cubicBezTo>
                      <a:pt x="129" y="279"/>
                      <a:pt x="129" y="279"/>
                      <a:pt x="129" y="279"/>
                    </a:cubicBezTo>
                    <a:cubicBezTo>
                      <a:pt x="43" y="342"/>
                      <a:pt x="0" y="475"/>
                      <a:pt x="33" y="576"/>
                    </a:cubicBezTo>
                    <a:cubicBezTo>
                      <a:pt x="190" y="1059"/>
                      <a:pt x="190" y="1059"/>
                      <a:pt x="190" y="1059"/>
                    </a:cubicBezTo>
                    <a:cubicBezTo>
                      <a:pt x="577" y="933"/>
                      <a:pt x="577" y="933"/>
                      <a:pt x="577" y="933"/>
                    </a:cubicBezTo>
                    <a:cubicBezTo>
                      <a:pt x="566" y="889"/>
                      <a:pt x="561" y="843"/>
                      <a:pt x="561" y="796"/>
                    </a:cubicBezTo>
                    <a:cubicBezTo>
                      <a:pt x="561" y="616"/>
                      <a:pt x="641" y="456"/>
                      <a:pt x="767" y="347"/>
                    </a:cubicBezTo>
                    <a:close/>
                  </a:path>
                </a:pathLst>
              </a:custGeom>
              <a:solidFill>
                <a:srgbClr val="AC0000"/>
              </a:solidFill>
              <a:ln>
                <a:noFill/>
              </a:ln>
              <a:effectLst>
                <a:outerShdw blurRad="149987" dist="250190" dir="8460000" algn="ctr">
                  <a:srgbClr val="000000">
                    <a:alpha val="28000"/>
                  </a:srgbClr>
                </a:outerShdw>
              </a:effectLst>
            </p:spPr>
            <p:txBody>
              <a:bodyPr vert="horz" wrap="square" lIns="63715" tIns="31857" rIns="63715" bIns="31857" numCol="1" anchor="t" anchorCtr="0" compatLnSpc="1"/>
              <a:lstStyle/>
              <a:p>
                <a:pPr>
                  <a:lnSpc>
                    <a:spcPct val="130000"/>
                  </a:lnSpc>
                </a:pPr>
                <a:endParaRPr lang="zh-CN" altLang="en-US" sz="1255" b="1">
                  <a:cs typeface="+mn-ea"/>
                  <a:sym typeface="+mn-lt"/>
                </a:endParaRPr>
              </a:p>
            </p:txBody>
          </p:sp>
          <p:sp>
            <p:nvSpPr>
              <p:cNvPr id="7" name="Freeform 6"/>
              <p:cNvSpPr/>
              <p:nvPr/>
            </p:nvSpPr>
            <p:spPr bwMode="auto">
              <a:xfrm>
                <a:off x="4744284" y="1942712"/>
                <a:ext cx="1589751" cy="998905"/>
              </a:xfrm>
              <a:custGeom>
                <a:avLst/>
                <a:gdLst>
                  <a:gd name="T0" fmla="*/ 869 w 1121"/>
                  <a:gd name="T1" fmla="*/ 704 h 704"/>
                  <a:gd name="T2" fmla="*/ 1121 w 1121"/>
                  <a:gd name="T3" fmla="*/ 356 h 704"/>
                  <a:gd name="T4" fmla="*/ 717 w 1121"/>
                  <a:gd name="T5" fmla="*/ 63 h 704"/>
                  <a:gd name="T6" fmla="*/ 405 w 1121"/>
                  <a:gd name="T7" fmla="*/ 63 h 704"/>
                  <a:gd name="T8" fmla="*/ 0 w 1121"/>
                  <a:gd name="T9" fmla="*/ 357 h 704"/>
                  <a:gd name="T10" fmla="*/ 253 w 1121"/>
                  <a:gd name="T11" fmla="*/ 704 h 704"/>
                  <a:gd name="T12" fmla="*/ 561 w 1121"/>
                  <a:gd name="T13" fmla="*/ 618 h 704"/>
                  <a:gd name="T14" fmla="*/ 869 w 1121"/>
                  <a:gd name="T15" fmla="*/ 704 h 7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21" h="704">
                    <a:moveTo>
                      <a:pt x="869" y="704"/>
                    </a:moveTo>
                    <a:cubicBezTo>
                      <a:pt x="1121" y="356"/>
                      <a:pt x="1121" y="356"/>
                      <a:pt x="1121" y="356"/>
                    </a:cubicBezTo>
                    <a:cubicBezTo>
                      <a:pt x="717" y="63"/>
                      <a:pt x="717" y="63"/>
                      <a:pt x="717" y="63"/>
                    </a:cubicBezTo>
                    <a:cubicBezTo>
                      <a:pt x="631" y="0"/>
                      <a:pt x="491" y="0"/>
                      <a:pt x="405" y="63"/>
                    </a:cubicBezTo>
                    <a:cubicBezTo>
                      <a:pt x="0" y="357"/>
                      <a:pt x="0" y="357"/>
                      <a:pt x="0" y="357"/>
                    </a:cubicBezTo>
                    <a:cubicBezTo>
                      <a:pt x="253" y="704"/>
                      <a:pt x="253" y="704"/>
                      <a:pt x="253" y="704"/>
                    </a:cubicBezTo>
                    <a:cubicBezTo>
                      <a:pt x="343" y="649"/>
                      <a:pt x="448" y="618"/>
                      <a:pt x="561" y="618"/>
                    </a:cubicBezTo>
                    <a:cubicBezTo>
                      <a:pt x="674" y="618"/>
                      <a:pt x="779" y="649"/>
                      <a:pt x="869" y="704"/>
                    </a:cubicBezTo>
                    <a:close/>
                  </a:path>
                </a:pathLst>
              </a:custGeom>
              <a:solidFill>
                <a:schemeClr val="tx1">
                  <a:lumMod val="65000"/>
                  <a:lumOff val="35000"/>
                </a:schemeClr>
              </a:solidFill>
              <a:ln>
                <a:noFill/>
              </a:ln>
              <a:effectLst>
                <a:outerShdw blurRad="149987" dist="250190" dir="8460000" algn="ctr">
                  <a:srgbClr val="000000">
                    <a:alpha val="28000"/>
                  </a:srgbClr>
                </a:outerShdw>
              </a:effectLst>
            </p:spPr>
            <p:txBody>
              <a:bodyPr vert="horz" wrap="square" lIns="63715" tIns="31857" rIns="63715" bIns="31857" numCol="1" anchor="t" anchorCtr="0" compatLnSpc="1"/>
              <a:lstStyle/>
              <a:p>
                <a:pPr>
                  <a:lnSpc>
                    <a:spcPct val="130000"/>
                  </a:lnSpc>
                </a:pPr>
                <a:endParaRPr lang="zh-CN" altLang="en-US" sz="1255" b="1">
                  <a:cs typeface="+mn-ea"/>
                  <a:sym typeface="+mn-lt"/>
                </a:endParaRPr>
              </a:p>
            </p:txBody>
          </p:sp>
          <p:sp>
            <p:nvSpPr>
              <p:cNvPr id="8" name="Freeform 7"/>
              <p:cNvSpPr/>
              <p:nvPr/>
            </p:nvSpPr>
            <p:spPr bwMode="auto">
              <a:xfrm>
                <a:off x="6087027" y="2528617"/>
                <a:ext cx="1089805" cy="1501815"/>
              </a:xfrm>
              <a:custGeom>
                <a:avLst/>
                <a:gdLst>
                  <a:gd name="T0" fmla="*/ 638 w 768"/>
                  <a:gd name="T1" fmla="*/ 280 h 1059"/>
                  <a:gd name="T2" fmla="*/ 252 w 768"/>
                  <a:gd name="T3" fmla="*/ 0 h 1059"/>
                  <a:gd name="T4" fmla="*/ 0 w 768"/>
                  <a:gd name="T5" fmla="*/ 348 h 1059"/>
                  <a:gd name="T6" fmla="*/ 207 w 768"/>
                  <a:gd name="T7" fmla="*/ 797 h 1059"/>
                  <a:gd name="T8" fmla="*/ 191 w 768"/>
                  <a:gd name="T9" fmla="*/ 934 h 1059"/>
                  <a:gd name="T10" fmla="*/ 578 w 768"/>
                  <a:gd name="T11" fmla="*/ 1059 h 1059"/>
                  <a:gd name="T12" fmla="*/ 735 w 768"/>
                  <a:gd name="T13" fmla="*/ 577 h 1059"/>
                  <a:gd name="T14" fmla="*/ 638 w 768"/>
                  <a:gd name="T15" fmla="*/ 280 h 10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8" h="1059">
                    <a:moveTo>
                      <a:pt x="638" y="280"/>
                    </a:moveTo>
                    <a:cubicBezTo>
                      <a:pt x="252" y="0"/>
                      <a:pt x="252" y="0"/>
                      <a:pt x="252" y="0"/>
                    </a:cubicBezTo>
                    <a:cubicBezTo>
                      <a:pt x="0" y="348"/>
                      <a:pt x="0" y="348"/>
                      <a:pt x="0" y="348"/>
                    </a:cubicBezTo>
                    <a:cubicBezTo>
                      <a:pt x="127" y="456"/>
                      <a:pt x="207" y="617"/>
                      <a:pt x="207" y="797"/>
                    </a:cubicBezTo>
                    <a:cubicBezTo>
                      <a:pt x="207" y="844"/>
                      <a:pt x="201" y="890"/>
                      <a:pt x="191" y="934"/>
                    </a:cubicBezTo>
                    <a:cubicBezTo>
                      <a:pt x="578" y="1059"/>
                      <a:pt x="578" y="1059"/>
                      <a:pt x="578" y="1059"/>
                    </a:cubicBezTo>
                    <a:cubicBezTo>
                      <a:pt x="735" y="577"/>
                      <a:pt x="735" y="577"/>
                      <a:pt x="735" y="577"/>
                    </a:cubicBezTo>
                    <a:cubicBezTo>
                      <a:pt x="768" y="476"/>
                      <a:pt x="724" y="343"/>
                      <a:pt x="638" y="280"/>
                    </a:cubicBezTo>
                    <a:close/>
                  </a:path>
                </a:pathLst>
              </a:custGeom>
              <a:solidFill>
                <a:srgbClr val="AC0000"/>
              </a:solidFill>
              <a:ln>
                <a:noFill/>
              </a:ln>
              <a:effectLst>
                <a:outerShdw blurRad="149987" dist="250190" dir="8460000" algn="ctr">
                  <a:srgbClr val="000000">
                    <a:alpha val="28000"/>
                  </a:srgbClr>
                </a:outerShdw>
              </a:effectLst>
            </p:spPr>
            <p:txBody>
              <a:bodyPr vert="horz" wrap="square" lIns="63715" tIns="31857" rIns="63715" bIns="31857" numCol="1" anchor="t" anchorCtr="0" compatLnSpc="1"/>
              <a:lstStyle/>
              <a:p>
                <a:pPr>
                  <a:lnSpc>
                    <a:spcPct val="130000"/>
                  </a:lnSpc>
                </a:pPr>
                <a:endParaRPr lang="zh-CN" altLang="en-US" sz="1255" b="1">
                  <a:cs typeface="+mn-ea"/>
                  <a:sym typeface="+mn-lt"/>
                </a:endParaRPr>
              </a:p>
            </p:txBody>
          </p:sp>
          <p:sp>
            <p:nvSpPr>
              <p:cNvPr id="9" name="Freeform 8"/>
              <p:cNvSpPr/>
              <p:nvPr/>
            </p:nvSpPr>
            <p:spPr bwMode="auto">
              <a:xfrm>
                <a:off x="4214698" y="3983995"/>
                <a:ext cx="1256782" cy="1071031"/>
              </a:xfrm>
              <a:custGeom>
                <a:avLst/>
                <a:gdLst>
                  <a:gd name="T0" fmla="*/ 388 w 886"/>
                  <a:gd name="T1" fmla="*/ 0 h 755"/>
                  <a:gd name="T2" fmla="*/ 0 w 886"/>
                  <a:gd name="T3" fmla="*/ 126 h 755"/>
                  <a:gd name="T4" fmla="*/ 145 w 886"/>
                  <a:gd name="T5" fmla="*/ 572 h 755"/>
                  <a:gd name="T6" fmla="*/ 398 w 886"/>
                  <a:gd name="T7" fmla="*/ 755 h 755"/>
                  <a:gd name="T8" fmla="*/ 886 w 886"/>
                  <a:gd name="T9" fmla="*/ 755 h 755"/>
                  <a:gd name="T10" fmla="*/ 886 w 886"/>
                  <a:gd name="T11" fmla="*/ 362 h 755"/>
                  <a:gd name="T12" fmla="*/ 388 w 886"/>
                  <a:gd name="T13" fmla="*/ 0 h 755"/>
                </a:gdLst>
                <a:ahLst/>
                <a:cxnLst>
                  <a:cxn ang="0">
                    <a:pos x="T0" y="T1"/>
                  </a:cxn>
                  <a:cxn ang="0">
                    <a:pos x="T2" y="T3"/>
                  </a:cxn>
                  <a:cxn ang="0">
                    <a:pos x="T4" y="T5"/>
                  </a:cxn>
                  <a:cxn ang="0">
                    <a:pos x="T6" y="T7"/>
                  </a:cxn>
                  <a:cxn ang="0">
                    <a:pos x="T8" y="T9"/>
                  </a:cxn>
                  <a:cxn ang="0">
                    <a:pos x="T10" y="T11"/>
                  </a:cxn>
                  <a:cxn ang="0">
                    <a:pos x="T12" y="T13"/>
                  </a:cxn>
                </a:cxnLst>
                <a:rect l="0" t="0" r="r" b="b"/>
                <a:pathLst>
                  <a:path w="886" h="755">
                    <a:moveTo>
                      <a:pt x="388" y="0"/>
                    </a:moveTo>
                    <a:cubicBezTo>
                      <a:pt x="0" y="126"/>
                      <a:pt x="0" y="126"/>
                      <a:pt x="0" y="126"/>
                    </a:cubicBezTo>
                    <a:cubicBezTo>
                      <a:pt x="145" y="572"/>
                      <a:pt x="145" y="572"/>
                      <a:pt x="145" y="572"/>
                    </a:cubicBezTo>
                    <a:cubicBezTo>
                      <a:pt x="178" y="673"/>
                      <a:pt x="292" y="755"/>
                      <a:pt x="398" y="755"/>
                    </a:cubicBezTo>
                    <a:cubicBezTo>
                      <a:pt x="886" y="755"/>
                      <a:pt x="886" y="755"/>
                      <a:pt x="886" y="755"/>
                    </a:cubicBezTo>
                    <a:cubicBezTo>
                      <a:pt x="886" y="362"/>
                      <a:pt x="886" y="362"/>
                      <a:pt x="886" y="362"/>
                    </a:cubicBezTo>
                    <a:cubicBezTo>
                      <a:pt x="661" y="344"/>
                      <a:pt x="471" y="199"/>
                      <a:pt x="388" y="0"/>
                    </a:cubicBezTo>
                    <a:close/>
                  </a:path>
                </a:pathLst>
              </a:custGeom>
              <a:solidFill>
                <a:schemeClr val="tx1">
                  <a:lumMod val="65000"/>
                  <a:lumOff val="35000"/>
                </a:schemeClr>
              </a:solidFill>
              <a:ln>
                <a:noFill/>
              </a:ln>
              <a:effectLst>
                <a:outerShdw blurRad="149987" dist="250190" dir="8460000" algn="ctr">
                  <a:srgbClr val="000000">
                    <a:alpha val="28000"/>
                  </a:srgbClr>
                </a:outerShdw>
              </a:effectLst>
            </p:spPr>
            <p:txBody>
              <a:bodyPr vert="horz" wrap="square" lIns="63715" tIns="31857" rIns="63715" bIns="31857" numCol="1" anchor="t" anchorCtr="0" compatLnSpc="1"/>
              <a:lstStyle/>
              <a:p>
                <a:pPr>
                  <a:lnSpc>
                    <a:spcPct val="130000"/>
                  </a:lnSpc>
                </a:pPr>
                <a:endParaRPr lang="zh-CN" altLang="en-US" sz="1255" b="1">
                  <a:cs typeface="+mn-ea"/>
                  <a:sym typeface="+mn-lt"/>
                </a:endParaRPr>
              </a:p>
            </p:txBody>
          </p:sp>
          <p:sp>
            <p:nvSpPr>
              <p:cNvPr id="10" name="Freeform 9"/>
              <p:cNvSpPr/>
              <p:nvPr/>
            </p:nvSpPr>
            <p:spPr bwMode="auto">
              <a:xfrm>
                <a:off x="5608816" y="3983007"/>
                <a:ext cx="1255795" cy="1072019"/>
              </a:xfrm>
              <a:custGeom>
                <a:avLst/>
                <a:gdLst>
                  <a:gd name="T0" fmla="*/ 0 w 885"/>
                  <a:gd name="T1" fmla="*/ 363 h 756"/>
                  <a:gd name="T2" fmla="*/ 0 w 885"/>
                  <a:gd name="T3" fmla="*/ 756 h 756"/>
                  <a:gd name="T4" fmla="*/ 488 w 885"/>
                  <a:gd name="T5" fmla="*/ 756 h 756"/>
                  <a:gd name="T6" fmla="*/ 740 w 885"/>
                  <a:gd name="T7" fmla="*/ 573 h 756"/>
                  <a:gd name="T8" fmla="*/ 885 w 885"/>
                  <a:gd name="T9" fmla="*/ 126 h 756"/>
                  <a:gd name="T10" fmla="*/ 498 w 885"/>
                  <a:gd name="T11" fmla="*/ 0 h 756"/>
                  <a:gd name="T12" fmla="*/ 0 w 885"/>
                  <a:gd name="T13" fmla="*/ 363 h 756"/>
                </a:gdLst>
                <a:ahLst/>
                <a:cxnLst>
                  <a:cxn ang="0">
                    <a:pos x="T0" y="T1"/>
                  </a:cxn>
                  <a:cxn ang="0">
                    <a:pos x="T2" y="T3"/>
                  </a:cxn>
                  <a:cxn ang="0">
                    <a:pos x="T4" y="T5"/>
                  </a:cxn>
                  <a:cxn ang="0">
                    <a:pos x="T6" y="T7"/>
                  </a:cxn>
                  <a:cxn ang="0">
                    <a:pos x="T8" y="T9"/>
                  </a:cxn>
                  <a:cxn ang="0">
                    <a:pos x="T10" y="T11"/>
                  </a:cxn>
                  <a:cxn ang="0">
                    <a:pos x="T12" y="T13"/>
                  </a:cxn>
                </a:cxnLst>
                <a:rect l="0" t="0" r="r" b="b"/>
                <a:pathLst>
                  <a:path w="885" h="756">
                    <a:moveTo>
                      <a:pt x="0" y="363"/>
                    </a:moveTo>
                    <a:cubicBezTo>
                      <a:pt x="0" y="756"/>
                      <a:pt x="0" y="756"/>
                      <a:pt x="0" y="756"/>
                    </a:cubicBezTo>
                    <a:cubicBezTo>
                      <a:pt x="488" y="756"/>
                      <a:pt x="488" y="756"/>
                      <a:pt x="488" y="756"/>
                    </a:cubicBezTo>
                    <a:cubicBezTo>
                      <a:pt x="594" y="756"/>
                      <a:pt x="707" y="674"/>
                      <a:pt x="740" y="573"/>
                    </a:cubicBezTo>
                    <a:cubicBezTo>
                      <a:pt x="885" y="126"/>
                      <a:pt x="885" y="126"/>
                      <a:pt x="885" y="126"/>
                    </a:cubicBezTo>
                    <a:cubicBezTo>
                      <a:pt x="498" y="0"/>
                      <a:pt x="498" y="0"/>
                      <a:pt x="498" y="0"/>
                    </a:cubicBezTo>
                    <a:cubicBezTo>
                      <a:pt x="415" y="200"/>
                      <a:pt x="225" y="344"/>
                      <a:pt x="0" y="363"/>
                    </a:cubicBezTo>
                    <a:close/>
                  </a:path>
                </a:pathLst>
              </a:custGeom>
              <a:solidFill>
                <a:srgbClr val="AC0000"/>
              </a:solidFill>
              <a:ln>
                <a:noFill/>
              </a:ln>
              <a:effectLst>
                <a:outerShdw blurRad="149987" dist="250190" dir="8460000" algn="ctr">
                  <a:srgbClr val="000000">
                    <a:alpha val="28000"/>
                  </a:srgbClr>
                </a:outerShdw>
              </a:effectLst>
            </p:spPr>
            <p:txBody>
              <a:bodyPr vert="horz" wrap="square" lIns="63715" tIns="31857" rIns="63715" bIns="31857" numCol="1" anchor="t" anchorCtr="0" compatLnSpc="1"/>
              <a:lstStyle/>
              <a:p>
                <a:pPr>
                  <a:lnSpc>
                    <a:spcPct val="130000"/>
                  </a:lnSpc>
                </a:pPr>
                <a:endParaRPr lang="zh-CN" altLang="en-US" sz="1255" b="1">
                  <a:cs typeface="+mn-ea"/>
                  <a:sym typeface="+mn-lt"/>
                </a:endParaRPr>
              </a:p>
            </p:txBody>
          </p:sp>
          <p:sp>
            <p:nvSpPr>
              <p:cNvPr id="11" name="文本框 10"/>
              <p:cNvSpPr txBox="1"/>
              <p:nvPr/>
            </p:nvSpPr>
            <p:spPr>
              <a:xfrm>
                <a:off x="5339343" y="2162518"/>
                <a:ext cx="470000" cy="450829"/>
              </a:xfrm>
              <a:prstGeom prst="rect">
                <a:avLst/>
              </a:prstGeom>
              <a:noFill/>
            </p:spPr>
            <p:txBody>
              <a:bodyPr wrap="none" rtlCol="0">
                <a:spAutoFit/>
              </a:bodyPr>
              <a:lstStyle/>
              <a:p>
                <a:pPr>
                  <a:lnSpc>
                    <a:spcPct val="130000"/>
                  </a:lnSpc>
                </a:pPr>
                <a:r>
                  <a:rPr lang="en-US" altLang="zh-CN" sz="2000" b="1" dirty="0">
                    <a:solidFill>
                      <a:schemeClr val="bg1"/>
                    </a:solidFill>
                    <a:cs typeface="+mn-ea"/>
                    <a:sym typeface="+mn-lt"/>
                  </a:rPr>
                  <a:t>01</a:t>
                </a:r>
                <a:endParaRPr lang="zh-CN" altLang="en-US" sz="2000" b="1" dirty="0">
                  <a:solidFill>
                    <a:schemeClr val="bg1"/>
                  </a:solidFill>
                  <a:cs typeface="+mn-ea"/>
                  <a:sym typeface="+mn-lt"/>
                </a:endParaRPr>
              </a:p>
            </p:txBody>
          </p:sp>
          <p:sp>
            <p:nvSpPr>
              <p:cNvPr id="13" name="文本框 12"/>
              <p:cNvSpPr txBox="1"/>
              <p:nvPr/>
            </p:nvSpPr>
            <p:spPr>
              <a:xfrm>
                <a:off x="4613348" y="4331199"/>
                <a:ext cx="470000" cy="450829"/>
              </a:xfrm>
              <a:prstGeom prst="rect">
                <a:avLst/>
              </a:prstGeom>
              <a:noFill/>
            </p:spPr>
            <p:txBody>
              <a:bodyPr wrap="none" rtlCol="0">
                <a:spAutoFit/>
              </a:bodyPr>
              <a:lstStyle/>
              <a:p>
                <a:pPr>
                  <a:lnSpc>
                    <a:spcPct val="130000"/>
                  </a:lnSpc>
                </a:pPr>
                <a:r>
                  <a:rPr lang="en-US" altLang="zh-CN" sz="2000" b="1" dirty="0">
                    <a:solidFill>
                      <a:schemeClr val="bg1"/>
                    </a:solidFill>
                    <a:cs typeface="+mn-ea"/>
                    <a:sym typeface="+mn-lt"/>
                  </a:rPr>
                  <a:t>04</a:t>
                </a:r>
                <a:endParaRPr lang="zh-CN" altLang="en-US" sz="2000" b="1" dirty="0">
                  <a:solidFill>
                    <a:schemeClr val="bg1"/>
                  </a:solidFill>
                  <a:cs typeface="+mn-ea"/>
                  <a:sym typeface="+mn-lt"/>
                </a:endParaRPr>
              </a:p>
            </p:txBody>
          </p:sp>
          <p:sp>
            <p:nvSpPr>
              <p:cNvPr id="15" name="文本框 14"/>
              <p:cNvSpPr txBox="1"/>
              <p:nvPr/>
            </p:nvSpPr>
            <p:spPr>
              <a:xfrm>
                <a:off x="4157917" y="2978370"/>
                <a:ext cx="470000" cy="450829"/>
              </a:xfrm>
              <a:prstGeom prst="rect">
                <a:avLst/>
              </a:prstGeom>
              <a:noFill/>
            </p:spPr>
            <p:txBody>
              <a:bodyPr wrap="none" rtlCol="0">
                <a:spAutoFit/>
              </a:bodyPr>
              <a:lstStyle/>
              <a:p>
                <a:pPr>
                  <a:lnSpc>
                    <a:spcPct val="130000"/>
                  </a:lnSpc>
                </a:pPr>
                <a:r>
                  <a:rPr lang="en-US" altLang="zh-CN" sz="2000" b="1" dirty="0">
                    <a:solidFill>
                      <a:schemeClr val="bg1"/>
                    </a:solidFill>
                    <a:cs typeface="+mn-ea"/>
                    <a:sym typeface="+mn-lt"/>
                  </a:rPr>
                  <a:t>05</a:t>
                </a:r>
                <a:endParaRPr lang="zh-CN" altLang="en-US" sz="2000" b="1" dirty="0">
                  <a:solidFill>
                    <a:schemeClr val="bg1"/>
                  </a:solidFill>
                  <a:cs typeface="+mn-ea"/>
                  <a:sym typeface="+mn-lt"/>
                </a:endParaRPr>
              </a:p>
            </p:txBody>
          </p:sp>
          <p:sp>
            <p:nvSpPr>
              <p:cNvPr id="17" name="文本框 16"/>
              <p:cNvSpPr txBox="1"/>
              <p:nvPr/>
            </p:nvSpPr>
            <p:spPr>
              <a:xfrm>
                <a:off x="6516211" y="2978192"/>
                <a:ext cx="470000" cy="450829"/>
              </a:xfrm>
              <a:prstGeom prst="rect">
                <a:avLst/>
              </a:prstGeom>
              <a:noFill/>
            </p:spPr>
            <p:txBody>
              <a:bodyPr wrap="none" rtlCol="0">
                <a:spAutoFit/>
              </a:bodyPr>
              <a:lstStyle/>
              <a:p>
                <a:pPr>
                  <a:lnSpc>
                    <a:spcPct val="130000"/>
                  </a:lnSpc>
                </a:pPr>
                <a:r>
                  <a:rPr lang="en-US" altLang="zh-CN" sz="2000" b="1" dirty="0">
                    <a:solidFill>
                      <a:schemeClr val="bg1"/>
                    </a:solidFill>
                    <a:cs typeface="+mn-ea"/>
                    <a:sym typeface="+mn-lt"/>
                  </a:rPr>
                  <a:t>02</a:t>
                </a:r>
                <a:endParaRPr lang="zh-CN" altLang="en-US" sz="2000" b="1" dirty="0">
                  <a:solidFill>
                    <a:schemeClr val="bg1"/>
                  </a:solidFill>
                  <a:cs typeface="+mn-ea"/>
                  <a:sym typeface="+mn-lt"/>
                </a:endParaRPr>
              </a:p>
            </p:txBody>
          </p:sp>
          <p:sp>
            <p:nvSpPr>
              <p:cNvPr id="19" name="文本框 18"/>
              <p:cNvSpPr txBox="1"/>
              <p:nvPr/>
            </p:nvSpPr>
            <p:spPr>
              <a:xfrm>
                <a:off x="6007816" y="4333214"/>
                <a:ext cx="470000" cy="450829"/>
              </a:xfrm>
              <a:prstGeom prst="rect">
                <a:avLst/>
              </a:prstGeom>
              <a:noFill/>
            </p:spPr>
            <p:txBody>
              <a:bodyPr wrap="none" rtlCol="0">
                <a:spAutoFit/>
              </a:bodyPr>
              <a:lstStyle/>
              <a:p>
                <a:pPr>
                  <a:lnSpc>
                    <a:spcPct val="130000"/>
                  </a:lnSpc>
                </a:pPr>
                <a:r>
                  <a:rPr lang="en-US" altLang="zh-CN" sz="2000" b="1" dirty="0">
                    <a:solidFill>
                      <a:schemeClr val="bg1"/>
                    </a:solidFill>
                    <a:cs typeface="+mn-ea"/>
                    <a:sym typeface="+mn-lt"/>
                  </a:rPr>
                  <a:t>03</a:t>
                </a:r>
                <a:endParaRPr lang="zh-CN" altLang="en-US" sz="2000" b="1" dirty="0">
                  <a:solidFill>
                    <a:schemeClr val="bg1"/>
                  </a:solidFill>
                  <a:cs typeface="+mn-ea"/>
                  <a:sym typeface="+mn-lt"/>
                </a:endParaRPr>
              </a:p>
            </p:txBody>
          </p:sp>
        </p:grpSp>
        <p:pic>
          <p:nvPicPr>
            <p:cNvPr id="27" name="图片 26"/>
            <p:cNvPicPr>
              <a:picLocks noChangeAspect="1"/>
            </p:cNvPicPr>
            <p:nvPr/>
          </p:nvPicPr>
          <p:blipFill rotWithShape="1">
            <a:blip r:embed="rId1" cstate="print">
              <a:extLst>
                <a:ext uri="{28A0092B-C50C-407E-A947-70E740481C1C}">
                  <a14:useLocalDpi xmlns:a14="http://schemas.microsoft.com/office/drawing/2010/main" val="0"/>
                </a:ext>
              </a:extLst>
            </a:blip>
            <a:srcRect r="56375"/>
            <a:stretch>
              <a:fillRect/>
            </a:stretch>
          </p:blipFill>
          <p:spPr>
            <a:xfrm>
              <a:off x="5036822" y="3176826"/>
              <a:ext cx="867456" cy="1072989"/>
            </a:xfrm>
            <a:prstGeom prst="rect">
              <a:avLst/>
            </a:prstGeom>
          </p:spPr>
        </p:pic>
      </p:grpSp>
      <p:grpSp>
        <p:nvGrpSpPr>
          <p:cNvPr id="16" name="组合 48"/>
          <p:cNvGrpSpPr/>
          <p:nvPr/>
        </p:nvGrpSpPr>
        <p:grpSpPr>
          <a:xfrm>
            <a:off x="7535257" y="2943029"/>
            <a:ext cx="4759191" cy="910789"/>
            <a:chOff x="7432809" y="2369424"/>
            <a:chExt cx="4759191" cy="910789"/>
          </a:xfrm>
        </p:grpSpPr>
        <p:cxnSp>
          <p:nvCxnSpPr>
            <p:cNvPr id="43" name="直接连接符 42"/>
            <p:cNvCxnSpPr/>
            <p:nvPr/>
          </p:nvCxnSpPr>
          <p:spPr bwMode="auto">
            <a:xfrm>
              <a:off x="7535257" y="2738756"/>
              <a:ext cx="1827381" cy="0"/>
            </a:xfrm>
            <a:prstGeom prst="line">
              <a:avLst/>
            </a:prstGeom>
            <a:solidFill>
              <a:schemeClr val="bg1"/>
            </a:solidFill>
            <a:ln w="38100" cap="flat" cmpd="sng" algn="ctr">
              <a:solidFill>
                <a:srgbClr val="C00000"/>
              </a:solidFill>
              <a:prstDash val="solid"/>
              <a:round/>
              <a:headEnd type="none" w="med" len="med"/>
              <a:tailEnd type="none" w="med" len="med"/>
            </a:ln>
          </p:spPr>
        </p:cxnSp>
        <p:sp>
          <p:nvSpPr>
            <p:cNvPr id="45" name="文本框 44"/>
            <p:cNvSpPr txBox="1"/>
            <p:nvPr/>
          </p:nvSpPr>
          <p:spPr>
            <a:xfrm>
              <a:off x="7434673" y="2369424"/>
              <a:ext cx="1973097" cy="369332"/>
            </a:xfrm>
            <a:prstGeom prst="rect">
              <a:avLst/>
            </a:prstGeom>
            <a:noFill/>
          </p:spPr>
          <p:txBody>
            <a:bodyPr wrap="square">
              <a:spAutoFit/>
            </a:bodyPr>
            <a:lstStyle/>
            <a:p>
              <a:r>
                <a:rPr lang="zh-CN" altLang="en-US" sz="1800" dirty="0">
                  <a:latin typeface="STZhongsong" panose="02010600040101010101" pitchFamily="2" charset="-122"/>
                  <a:ea typeface="STZhongsong" panose="02010600040101010101" pitchFamily="2" charset="-122"/>
                  <a:cs typeface="+mj-cs"/>
                </a:rPr>
                <a:t>银行业竞争加剧</a:t>
              </a:r>
              <a:endParaRPr lang="zh-CN" altLang="en-US" sz="1800" dirty="0">
                <a:latin typeface="STZhongsong" panose="02010600040101010101" pitchFamily="2" charset="-122"/>
                <a:ea typeface="STZhongsong" panose="02010600040101010101" pitchFamily="2" charset="-122"/>
                <a:cs typeface="+mj-cs"/>
              </a:endParaRPr>
            </a:p>
          </p:txBody>
        </p:sp>
        <p:sp>
          <p:nvSpPr>
            <p:cNvPr id="47" name="文本框 46"/>
            <p:cNvSpPr txBox="1"/>
            <p:nvPr/>
          </p:nvSpPr>
          <p:spPr>
            <a:xfrm>
              <a:off x="7432809" y="2756993"/>
              <a:ext cx="4759191" cy="523220"/>
            </a:xfrm>
            <a:prstGeom prst="rect">
              <a:avLst/>
            </a:prstGeom>
            <a:noFill/>
          </p:spPr>
          <p:txBody>
            <a:bodyPr wrap="square">
              <a:spAutoFit/>
            </a:bodyPr>
            <a:lstStyle/>
            <a:p>
              <a:r>
                <a:rPr lang="zh-CN" altLang="en-US" sz="1400" dirty="0">
                  <a:latin typeface="STZhongsong" panose="02010600040101010101" pitchFamily="2" charset="-122"/>
                  <a:ea typeface="STZhongsong" panose="02010600040101010101" pitchFamily="2" charset="-122"/>
                  <a:cs typeface="+mj-cs"/>
                </a:rPr>
                <a:t>银行业竞争压力增大，阿里、腾讯等互联网金融冲击银行业态的变化，敏捷银行、开放银行层出不穷。</a:t>
              </a:r>
              <a:endParaRPr lang="zh-CN" altLang="en-US" sz="1400" dirty="0">
                <a:latin typeface="STZhongsong" panose="02010600040101010101" pitchFamily="2" charset="-122"/>
                <a:ea typeface="STZhongsong" panose="02010600040101010101" pitchFamily="2" charset="-122"/>
                <a:cs typeface="+mj-cs"/>
              </a:endParaRPr>
            </a:p>
          </p:txBody>
        </p:sp>
      </p:grpSp>
      <p:grpSp>
        <p:nvGrpSpPr>
          <p:cNvPr id="18" name="组合 49"/>
          <p:cNvGrpSpPr/>
          <p:nvPr/>
        </p:nvGrpSpPr>
        <p:grpSpPr>
          <a:xfrm>
            <a:off x="6830901" y="4995388"/>
            <a:ext cx="4759191" cy="1126233"/>
            <a:chOff x="7432809" y="2369424"/>
            <a:chExt cx="4759191" cy="1126233"/>
          </a:xfrm>
        </p:grpSpPr>
        <p:cxnSp>
          <p:nvCxnSpPr>
            <p:cNvPr id="51" name="直接连接符 50"/>
            <p:cNvCxnSpPr/>
            <p:nvPr/>
          </p:nvCxnSpPr>
          <p:spPr bwMode="auto">
            <a:xfrm>
              <a:off x="7535257" y="2738756"/>
              <a:ext cx="1827381" cy="0"/>
            </a:xfrm>
            <a:prstGeom prst="line">
              <a:avLst/>
            </a:prstGeom>
            <a:solidFill>
              <a:schemeClr val="bg1"/>
            </a:solidFill>
            <a:ln w="38100" cap="flat" cmpd="sng" algn="ctr">
              <a:solidFill>
                <a:srgbClr val="C00000"/>
              </a:solidFill>
              <a:prstDash val="solid"/>
              <a:round/>
              <a:headEnd type="none" w="med" len="med"/>
              <a:tailEnd type="none" w="med" len="med"/>
            </a:ln>
          </p:spPr>
        </p:cxnSp>
        <p:sp>
          <p:nvSpPr>
            <p:cNvPr id="52" name="文本框 51"/>
            <p:cNvSpPr txBox="1"/>
            <p:nvPr/>
          </p:nvSpPr>
          <p:spPr>
            <a:xfrm>
              <a:off x="7434673" y="2369424"/>
              <a:ext cx="2228939" cy="369332"/>
            </a:xfrm>
            <a:prstGeom prst="rect">
              <a:avLst/>
            </a:prstGeom>
            <a:noFill/>
          </p:spPr>
          <p:txBody>
            <a:bodyPr wrap="square">
              <a:spAutoFit/>
            </a:bodyPr>
            <a:lstStyle/>
            <a:p>
              <a:r>
                <a:rPr lang="zh-CN" altLang="en-US" sz="1800" dirty="0">
                  <a:latin typeface="STZhongsong" panose="02010600040101010101" pitchFamily="2" charset="-122"/>
                  <a:ea typeface="STZhongsong" panose="02010600040101010101" pitchFamily="2" charset="-122"/>
                  <a:cs typeface="+mj-cs"/>
                </a:rPr>
                <a:t>传统培训受到冲击</a:t>
              </a:r>
              <a:endParaRPr lang="zh-CN" altLang="en-US" sz="1800" dirty="0">
                <a:latin typeface="STZhongsong" panose="02010600040101010101" pitchFamily="2" charset="-122"/>
                <a:ea typeface="STZhongsong" panose="02010600040101010101" pitchFamily="2" charset="-122"/>
                <a:cs typeface="+mj-cs"/>
              </a:endParaRPr>
            </a:p>
          </p:txBody>
        </p:sp>
        <p:sp>
          <p:nvSpPr>
            <p:cNvPr id="53" name="文本框 52"/>
            <p:cNvSpPr txBox="1"/>
            <p:nvPr/>
          </p:nvSpPr>
          <p:spPr>
            <a:xfrm>
              <a:off x="7432809" y="2756993"/>
              <a:ext cx="4759191" cy="738664"/>
            </a:xfrm>
            <a:prstGeom prst="rect">
              <a:avLst/>
            </a:prstGeom>
            <a:noFill/>
          </p:spPr>
          <p:txBody>
            <a:bodyPr wrap="square">
              <a:spAutoFit/>
            </a:bodyPr>
            <a:lstStyle/>
            <a:p>
              <a:r>
                <a:rPr lang="zh-CN" altLang="en-US" sz="1400" dirty="0">
                  <a:latin typeface="STZhongsong" panose="02010600040101010101" pitchFamily="2" charset="-122"/>
                  <a:ea typeface="STZhongsong" panose="02010600040101010101" pitchFamily="2" charset="-122"/>
                  <a:cs typeface="+mj-cs"/>
                </a:rPr>
                <a:t>境外疫情持续恶化，国内疫情偶发但对培训冲击较大，培训手段收到限制。</a:t>
              </a:r>
              <a:br>
                <a:rPr lang="en-US" altLang="zh-CN" sz="1400" dirty="0">
                  <a:latin typeface="STZhongsong" panose="02010600040101010101" pitchFamily="2" charset="-122"/>
                  <a:ea typeface="STZhongsong" panose="02010600040101010101" pitchFamily="2" charset="-122"/>
                  <a:cs typeface="+mj-cs"/>
                </a:rPr>
              </a:br>
              <a:endParaRPr lang="zh-CN" altLang="en-US" sz="1400" dirty="0">
                <a:latin typeface="STZhongsong" panose="02010600040101010101" pitchFamily="2" charset="-122"/>
                <a:ea typeface="STZhongsong" panose="02010600040101010101" pitchFamily="2" charset="-122"/>
                <a:cs typeface="+mj-cs"/>
              </a:endParaRPr>
            </a:p>
          </p:txBody>
        </p:sp>
      </p:grpSp>
      <p:cxnSp>
        <p:nvCxnSpPr>
          <p:cNvPr id="54" name="直接连接符 53"/>
          <p:cNvCxnSpPr/>
          <p:nvPr/>
        </p:nvCxnSpPr>
        <p:spPr bwMode="auto">
          <a:xfrm>
            <a:off x="2332194" y="3269801"/>
            <a:ext cx="1827381" cy="0"/>
          </a:xfrm>
          <a:prstGeom prst="line">
            <a:avLst/>
          </a:prstGeom>
          <a:solidFill>
            <a:schemeClr val="bg1"/>
          </a:solidFill>
          <a:ln w="38100" cap="flat" cmpd="sng" algn="ctr">
            <a:solidFill>
              <a:srgbClr val="C00000"/>
            </a:solidFill>
            <a:prstDash val="solid"/>
            <a:round/>
            <a:headEnd type="none" w="med" len="med"/>
            <a:tailEnd type="none" w="med" len="med"/>
          </a:ln>
        </p:spPr>
      </p:cxnSp>
      <p:sp>
        <p:nvSpPr>
          <p:cNvPr id="56" name="文本框 55"/>
          <p:cNvSpPr txBox="1"/>
          <p:nvPr/>
        </p:nvSpPr>
        <p:spPr>
          <a:xfrm>
            <a:off x="2332194" y="2901776"/>
            <a:ext cx="2144226" cy="369332"/>
          </a:xfrm>
          <a:prstGeom prst="rect">
            <a:avLst/>
          </a:prstGeom>
          <a:noFill/>
        </p:spPr>
        <p:txBody>
          <a:bodyPr wrap="square">
            <a:spAutoFit/>
          </a:bodyPr>
          <a:lstStyle/>
          <a:p>
            <a:r>
              <a:rPr lang="zh-CN" altLang="en-US" sz="1800" dirty="0">
                <a:latin typeface="STZhongsong" panose="02010600040101010101" pitchFamily="2" charset="-122"/>
                <a:ea typeface="STZhongsong" panose="02010600040101010101" pitchFamily="2" charset="-122"/>
                <a:cs typeface="+mj-cs"/>
              </a:rPr>
              <a:t>新生代、新特点</a:t>
            </a:r>
            <a:endParaRPr lang="zh-CN" altLang="en-US" sz="1800" dirty="0">
              <a:latin typeface="STZhongsong" panose="02010600040101010101" pitchFamily="2" charset="-122"/>
              <a:ea typeface="STZhongsong" panose="02010600040101010101" pitchFamily="2" charset="-122"/>
              <a:cs typeface="+mj-cs"/>
            </a:endParaRPr>
          </a:p>
        </p:txBody>
      </p:sp>
      <p:sp>
        <p:nvSpPr>
          <p:cNvPr id="58" name="文本框 57"/>
          <p:cNvSpPr txBox="1"/>
          <p:nvPr/>
        </p:nvSpPr>
        <p:spPr>
          <a:xfrm>
            <a:off x="219456" y="3312361"/>
            <a:ext cx="4045666" cy="723275"/>
          </a:xfrm>
          <a:prstGeom prst="rect">
            <a:avLst/>
          </a:prstGeom>
          <a:noFill/>
        </p:spPr>
        <p:txBody>
          <a:bodyPr wrap="square">
            <a:spAutoFit/>
          </a:bodyPr>
          <a:lstStyle/>
          <a:p>
            <a:r>
              <a:rPr lang="en-US" altLang="zh-CN" sz="1400" dirty="0">
                <a:latin typeface="STZhongsong" panose="02010600040101010101" pitchFamily="2" charset="-122"/>
                <a:ea typeface="STZhongsong" panose="02010600040101010101" pitchFamily="2" charset="-122"/>
                <a:cs typeface="+mj-cs"/>
              </a:rPr>
              <a:t>90</a:t>
            </a:r>
            <a:r>
              <a:rPr lang="zh-CN" altLang="en-US" sz="1400" dirty="0">
                <a:latin typeface="STZhongsong" panose="02010600040101010101" pitchFamily="2" charset="-122"/>
                <a:ea typeface="STZhongsong" panose="02010600040101010101" pitchFamily="2" charset="-122"/>
                <a:cs typeface="+mj-cs"/>
              </a:rPr>
              <a:t>后、</a:t>
            </a:r>
            <a:r>
              <a:rPr lang="en-US" altLang="zh-CN" sz="1400" dirty="0">
                <a:latin typeface="STZhongsong" panose="02010600040101010101" pitchFamily="2" charset="-122"/>
                <a:ea typeface="STZhongsong" panose="02010600040101010101" pitchFamily="2" charset="-122"/>
                <a:cs typeface="+mj-cs"/>
              </a:rPr>
              <a:t>00</a:t>
            </a:r>
            <a:r>
              <a:rPr lang="zh-CN" altLang="en-US" sz="1400" dirty="0">
                <a:latin typeface="STZhongsong" panose="02010600040101010101" pitchFamily="2" charset="-122"/>
                <a:ea typeface="STZhongsong" panose="02010600040101010101" pitchFamily="2" charset="-122"/>
                <a:cs typeface="+mj-cs"/>
              </a:rPr>
              <a:t>后员工正逐步成为职场主力，新生代员工的有效培养带来压力。</a:t>
            </a:r>
            <a:br>
              <a:rPr lang="en-US" altLang="zh-CN" dirty="0"/>
            </a:br>
            <a:endParaRPr lang="zh-CN" altLang="en-US" dirty="0"/>
          </a:p>
        </p:txBody>
      </p:sp>
      <p:cxnSp>
        <p:nvCxnSpPr>
          <p:cNvPr id="59" name="直接连接符 58"/>
          <p:cNvCxnSpPr/>
          <p:nvPr/>
        </p:nvCxnSpPr>
        <p:spPr bwMode="auto">
          <a:xfrm>
            <a:off x="2523744" y="5364720"/>
            <a:ext cx="2257858" cy="0"/>
          </a:xfrm>
          <a:prstGeom prst="line">
            <a:avLst/>
          </a:prstGeom>
          <a:solidFill>
            <a:schemeClr val="bg1"/>
          </a:solidFill>
          <a:ln w="38100" cap="flat" cmpd="sng" algn="ctr">
            <a:solidFill>
              <a:srgbClr val="C00000"/>
            </a:solidFill>
            <a:prstDash val="solid"/>
            <a:round/>
            <a:headEnd type="none" w="med" len="med"/>
            <a:tailEnd type="none" w="med" len="med"/>
          </a:ln>
        </p:spPr>
      </p:cxnSp>
      <p:sp>
        <p:nvSpPr>
          <p:cNvPr id="61" name="文本框 60"/>
          <p:cNvSpPr txBox="1"/>
          <p:nvPr/>
        </p:nvSpPr>
        <p:spPr>
          <a:xfrm>
            <a:off x="2402055" y="4963336"/>
            <a:ext cx="6149340" cy="369332"/>
          </a:xfrm>
          <a:prstGeom prst="rect">
            <a:avLst/>
          </a:prstGeom>
          <a:noFill/>
        </p:spPr>
        <p:txBody>
          <a:bodyPr wrap="square">
            <a:spAutoFit/>
          </a:bodyPr>
          <a:lstStyle/>
          <a:p>
            <a:r>
              <a:rPr lang="zh-CN" altLang="en-US" sz="1800" dirty="0">
                <a:latin typeface="STZhongsong" panose="02010600040101010101" pitchFamily="2" charset="-122"/>
                <a:ea typeface="STZhongsong" panose="02010600040101010101" pitchFamily="2" charset="-122"/>
                <a:cs typeface="+mj-cs"/>
              </a:rPr>
              <a:t>监管趋严、新规新要求</a:t>
            </a:r>
            <a:endParaRPr lang="zh-CN" altLang="en-US" sz="1800" dirty="0">
              <a:latin typeface="STZhongsong" panose="02010600040101010101" pitchFamily="2" charset="-122"/>
              <a:ea typeface="STZhongsong" panose="02010600040101010101" pitchFamily="2" charset="-122"/>
              <a:cs typeface="+mj-cs"/>
            </a:endParaRPr>
          </a:p>
        </p:txBody>
      </p:sp>
      <p:sp>
        <p:nvSpPr>
          <p:cNvPr id="64" name="文本框 63"/>
          <p:cNvSpPr txBox="1"/>
          <p:nvPr/>
        </p:nvSpPr>
        <p:spPr>
          <a:xfrm>
            <a:off x="451008" y="5426103"/>
            <a:ext cx="6149340" cy="523220"/>
          </a:xfrm>
          <a:prstGeom prst="rect">
            <a:avLst/>
          </a:prstGeom>
          <a:noFill/>
        </p:spPr>
        <p:txBody>
          <a:bodyPr wrap="square">
            <a:spAutoFit/>
          </a:bodyPr>
          <a:lstStyle/>
          <a:p>
            <a:r>
              <a:rPr lang="zh-CN" altLang="en-US" sz="1400" dirty="0">
                <a:latin typeface="STZhongsong" panose="02010600040101010101" pitchFamily="2" charset="-122"/>
                <a:ea typeface="STZhongsong" panose="02010600040101010101" pitchFamily="2" charset="-122"/>
                <a:cs typeface="+mj-cs"/>
              </a:rPr>
              <a:t>监管新规层出不穷，对管理能力、业务能力提出新要求。</a:t>
            </a:r>
            <a:br>
              <a:rPr lang="en-US" altLang="zh-CN" sz="1400" dirty="0">
                <a:latin typeface="STZhongsong" panose="02010600040101010101" pitchFamily="2" charset="-122"/>
                <a:ea typeface="STZhongsong" panose="02010600040101010101" pitchFamily="2" charset="-122"/>
                <a:cs typeface="+mj-cs"/>
              </a:rPr>
            </a:br>
            <a:endParaRPr lang="zh-CN" altLang="en-US" sz="1400" dirty="0">
              <a:latin typeface="STZhongsong" panose="02010600040101010101" pitchFamily="2" charset="-122"/>
              <a:ea typeface="STZhongsong" panose="02010600040101010101" pitchFamily="2" charset="-122"/>
              <a:cs typeface="+mj-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52DF7D90-B49A-4800-BC0D-FE9A7C3546DE}" type="slidenum">
              <a:rPr lang="zh-CN" altLang="en-US" smtClean="0">
                <a:latin typeface="+mn-lt"/>
                <a:ea typeface="+mn-ea"/>
                <a:cs typeface="+mn-ea"/>
                <a:sym typeface="+mn-lt"/>
              </a:rPr>
            </a:fld>
            <a:endParaRPr lang="en-US" altLang="zh-CN">
              <a:latin typeface="+mn-lt"/>
              <a:ea typeface="+mn-ea"/>
              <a:cs typeface="+mn-ea"/>
              <a:sym typeface="+mn-lt"/>
            </a:endParaRPr>
          </a:p>
        </p:txBody>
      </p:sp>
      <p:sp>
        <p:nvSpPr>
          <p:cNvPr id="213" name="标题 1"/>
          <p:cNvSpPr txBox="1"/>
          <p:nvPr/>
        </p:nvSpPr>
        <p:spPr>
          <a:xfrm>
            <a:off x="673824" y="301156"/>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en-US" altLang="zh-CN" dirty="0">
                <a:latin typeface="+mn-lt"/>
                <a:ea typeface="+mn-ea"/>
                <a:cs typeface="+mn-ea"/>
                <a:sym typeface="+mn-lt"/>
              </a:rPr>
              <a:t>T</a:t>
            </a:r>
            <a:r>
              <a:rPr lang="zh-CN" altLang="en-US" dirty="0">
                <a:latin typeface="+mn-lt"/>
                <a:ea typeface="+mn-ea"/>
                <a:cs typeface="+mn-ea"/>
                <a:sym typeface="+mn-lt"/>
              </a:rPr>
              <a:t> 挑战</a:t>
            </a:r>
            <a:r>
              <a:rPr lang="en-US" altLang="zh-CN" dirty="0">
                <a:latin typeface="+mn-lt"/>
                <a:ea typeface="+mn-ea"/>
                <a:cs typeface="+mn-ea"/>
                <a:sym typeface="+mn-lt"/>
              </a:rPr>
              <a:t>2-</a:t>
            </a:r>
            <a:r>
              <a:rPr lang="zh-CN" altLang="zh-CN" dirty="0"/>
              <a:t>主要业务条线专业力发展不均衡对教育培训带来的挑战</a:t>
            </a:r>
            <a:endParaRPr lang="zh-CN" altLang="zh-CN" dirty="0"/>
          </a:p>
        </p:txBody>
      </p:sp>
      <p:sp>
        <p:nvSpPr>
          <p:cNvPr id="386" name="标题 2"/>
          <p:cNvSpPr>
            <a:spLocks noGrp="1"/>
          </p:cNvSpPr>
          <p:nvPr>
            <p:ph type="title"/>
          </p:nvPr>
        </p:nvSpPr>
        <p:spPr>
          <a:xfrm>
            <a:off x="714357" y="797352"/>
            <a:ext cx="11160370" cy="685522"/>
          </a:xfrm>
        </p:spPr>
        <p:txBody>
          <a:bodyPr>
            <a:noAutofit/>
          </a:bodyPr>
          <a:lstStyle/>
          <a:p>
            <a:r>
              <a:rPr lang="zh-CN" altLang="en-US" sz="1800" dirty="0">
                <a:latin typeface="+mn-lt"/>
                <a:ea typeface="+mn-ea"/>
                <a:cs typeface="+mn-ea"/>
                <a:sym typeface="+mn-lt"/>
              </a:rPr>
              <a:t>基于对各条线的调研访谈及资料分析统计发现，整合为</a:t>
            </a:r>
            <a:r>
              <a:rPr lang="en-US" altLang="zh-CN" sz="1800" dirty="0">
                <a:latin typeface="+mn-lt"/>
                <a:ea typeface="+mn-ea"/>
                <a:cs typeface="+mn-ea"/>
                <a:sym typeface="+mn-lt"/>
              </a:rPr>
              <a:t>8</a:t>
            </a:r>
            <a:r>
              <a:rPr lang="zh-CN" altLang="en-US" sz="1800" dirty="0">
                <a:latin typeface="+mn-lt"/>
                <a:ea typeface="+mn-ea"/>
                <a:cs typeface="+mn-ea"/>
                <a:sym typeface="+mn-lt"/>
              </a:rPr>
              <a:t>个职能领域，共提炼</a:t>
            </a:r>
            <a:r>
              <a:rPr lang="en-US" altLang="zh-CN" sz="1800" dirty="0">
                <a:latin typeface="+mn-lt"/>
                <a:ea typeface="+mn-ea"/>
                <a:cs typeface="+mn-ea"/>
                <a:sym typeface="+mn-lt"/>
              </a:rPr>
              <a:t>34</a:t>
            </a:r>
            <a:r>
              <a:rPr lang="zh-CN" altLang="en-US" sz="1800" dirty="0">
                <a:latin typeface="+mn-lt"/>
                <a:ea typeface="+mn-ea"/>
                <a:cs typeface="+mn-ea"/>
                <a:sym typeface="+mn-lt"/>
              </a:rPr>
              <a:t>项专业力（含</a:t>
            </a:r>
            <a:r>
              <a:rPr lang="en-US" altLang="zh-CN" sz="1800" dirty="0">
                <a:latin typeface="+mn-lt"/>
                <a:ea typeface="+mn-ea"/>
                <a:cs typeface="+mn-ea"/>
                <a:sym typeface="+mn-lt"/>
              </a:rPr>
              <a:t>4</a:t>
            </a:r>
            <a:r>
              <a:rPr lang="zh-CN" altLang="en-US" sz="1800" dirty="0">
                <a:latin typeface="+mn-lt"/>
                <a:ea typeface="+mn-ea"/>
                <a:cs typeface="+mn-ea"/>
                <a:sym typeface="+mn-lt"/>
              </a:rPr>
              <a:t>项各条线公共专业力），其中</a:t>
            </a:r>
            <a:r>
              <a:rPr lang="en-US" altLang="zh-CN" sz="1800" dirty="0">
                <a:latin typeface="+mn-lt"/>
                <a:ea typeface="+mn-ea"/>
                <a:cs typeface="+mn-ea"/>
                <a:sym typeface="+mn-lt"/>
              </a:rPr>
              <a:t>13</a:t>
            </a:r>
            <a:r>
              <a:rPr lang="zh-CN" altLang="en-US" sz="1800" dirty="0">
                <a:latin typeface="+mn-lt"/>
                <a:ea typeface="+mn-ea"/>
                <a:cs typeface="+mn-ea"/>
                <a:sym typeface="+mn-lt"/>
              </a:rPr>
              <a:t>项重要稀缺能力需重点关注（含</a:t>
            </a:r>
            <a:r>
              <a:rPr lang="en-US" altLang="zh-CN" sz="1800" dirty="0">
                <a:latin typeface="+mn-lt"/>
                <a:ea typeface="+mn-ea"/>
                <a:cs typeface="+mn-ea"/>
                <a:sym typeface="+mn-lt"/>
              </a:rPr>
              <a:t>3</a:t>
            </a:r>
            <a:r>
              <a:rPr lang="zh-CN" altLang="en-US" sz="1800" dirty="0">
                <a:latin typeface="+mn-lt"/>
                <a:ea typeface="+mn-ea"/>
                <a:cs typeface="+mn-ea"/>
                <a:sym typeface="+mn-lt"/>
              </a:rPr>
              <a:t>项各条线公共专业力）。</a:t>
            </a:r>
            <a:endParaRPr kumimoji="1" lang="zh-CN" altLang="en-US" sz="1800" dirty="0">
              <a:latin typeface="+mn-lt"/>
              <a:ea typeface="+mn-ea"/>
              <a:cs typeface="+mn-ea"/>
              <a:sym typeface="+mn-lt"/>
            </a:endParaRPr>
          </a:p>
        </p:txBody>
      </p:sp>
      <p:sp>
        <p:nvSpPr>
          <p:cNvPr id="512" name="矩形 511"/>
          <p:cNvSpPr/>
          <p:nvPr/>
        </p:nvSpPr>
        <p:spPr bwMode="auto">
          <a:xfrm rot="16200000">
            <a:off x="7349734" y="6298047"/>
            <a:ext cx="179400" cy="180975"/>
          </a:xfrm>
          <a:prstGeom prst="rect">
            <a:avLst/>
          </a:prstGeom>
          <a:noFill/>
          <a:ln w="9525" cap="flat" cmpd="sng" algn="ctr">
            <a:solidFill>
              <a:schemeClr val="accent2">
                <a:lumMod val="50000"/>
              </a:schemeClr>
            </a:solidFill>
            <a:prstDash val="solid"/>
            <a:round/>
            <a:headEnd type="none" w="med" len="med"/>
            <a:tailEnd type="none" w="med" len="med"/>
          </a:ln>
          <a:effectLst/>
        </p:spPr>
        <p:txBody>
          <a:bodyPr lIns="0" tIns="0" rIns="0" bIns="0" anchor="ctr"/>
          <a:lstStyle/>
          <a:p>
            <a:pPr algn="ctr" eaLnBrk="0" hangingPunct="0">
              <a:defRPr/>
            </a:pPr>
            <a:endParaRPr lang="zh-CN" altLang="en-US" dirty="0">
              <a:latin typeface="+mn-lt"/>
              <a:ea typeface="+mn-ea"/>
              <a:cs typeface="+mn-ea"/>
              <a:sym typeface="+mn-lt"/>
            </a:endParaRPr>
          </a:p>
        </p:txBody>
      </p:sp>
      <p:sp>
        <p:nvSpPr>
          <p:cNvPr id="513" name="矩形 512"/>
          <p:cNvSpPr/>
          <p:nvPr/>
        </p:nvSpPr>
        <p:spPr bwMode="auto">
          <a:xfrm rot="16200000">
            <a:off x="7343887" y="6551507"/>
            <a:ext cx="180975" cy="179387"/>
          </a:xfrm>
          <a:prstGeom prst="rect">
            <a:avLst/>
          </a:prstGeom>
          <a:solidFill>
            <a:srgbClr val="C00000"/>
          </a:solidFill>
          <a:ln w="9525" cap="flat" cmpd="sng" algn="ctr">
            <a:solidFill>
              <a:schemeClr val="accent2">
                <a:lumMod val="50000"/>
              </a:schemeClr>
            </a:solidFill>
            <a:prstDash val="solid"/>
            <a:round/>
            <a:headEnd type="none" w="med" len="med"/>
            <a:tailEnd type="none" w="med" len="med"/>
          </a:ln>
          <a:effectLst/>
        </p:spPr>
        <p:txBody>
          <a:bodyPr lIns="0" tIns="0" rIns="0" bIns="0" anchor="ctr"/>
          <a:lstStyle/>
          <a:p>
            <a:pPr algn="ctr" eaLnBrk="0" hangingPunct="0">
              <a:defRPr/>
            </a:pPr>
            <a:endParaRPr lang="zh-CN" altLang="en-US" dirty="0">
              <a:latin typeface="+mn-lt"/>
              <a:ea typeface="+mn-ea"/>
              <a:cs typeface="+mn-ea"/>
              <a:sym typeface="+mn-lt"/>
            </a:endParaRPr>
          </a:p>
        </p:txBody>
      </p:sp>
      <p:sp>
        <p:nvSpPr>
          <p:cNvPr id="514" name="矩形 513"/>
          <p:cNvSpPr/>
          <p:nvPr/>
        </p:nvSpPr>
        <p:spPr bwMode="auto">
          <a:xfrm rot="16200000">
            <a:off x="8711271" y="6300341"/>
            <a:ext cx="180975" cy="180975"/>
          </a:xfrm>
          <a:prstGeom prst="rect">
            <a:avLst/>
          </a:prstGeom>
          <a:solidFill>
            <a:schemeClr val="accent2">
              <a:lumMod val="60000"/>
              <a:lumOff val="40000"/>
            </a:schemeClr>
          </a:solidFill>
          <a:ln w="9525" cap="flat" cmpd="sng" algn="ctr">
            <a:noFill/>
            <a:prstDash val="solid"/>
            <a:round/>
            <a:headEnd type="none" w="med" len="med"/>
            <a:tailEnd type="none" w="med" len="med"/>
          </a:ln>
          <a:effectLst/>
        </p:spPr>
        <p:txBody>
          <a:bodyPr lIns="0" tIns="0" rIns="0" bIns="0" anchor="ctr"/>
          <a:lstStyle/>
          <a:p>
            <a:pPr algn="ctr" eaLnBrk="0" hangingPunct="0">
              <a:defRPr/>
            </a:pPr>
            <a:endParaRPr lang="zh-CN" altLang="en-US" dirty="0">
              <a:latin typeface="+mn-lt"/>
              <a:ea typeface="+mn-ea"/>
              <a:cs typeface="+mn-ea"/>
              <a:sym typeface="+mn-lt"/>
            </a:endParaRPr>
          </a:p>
        </p:txBody>
      </p:sp>
      <p:sp>
        <p:nvSpPr>
          <p:cNvPr id="515" name="TextBox 273"/>
          <p:cNvSpPr txBox="1">
            <a:spLocks noChangeArrowheads="1"/>
          </p:cNvSpPr>
          <p:nvPr/>
        </p:nvSpPr>
        <p:spPr bwMode="auto">
          <a:xfrm>
            <a:off x="7501128" y="6264329"/>
            <a:ext cx="121014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eaLnBrk="1" hangingPunct="1"/>
            <a:r>
              <a:rPr lang="zh-CN" altLang="en-US" sz="1000" b="0" dirty="0">
                <a:latin typeface="+mn-lt"/>
                <a:ea typeface="+mn-ea"/>
                <a:cs typeface="+mn-ea"/>
                <a:sym typeface="+mn-lt"/>
              </a:rPr>
              <a:t>战略要求能力水平</a:t>
            </a:r>
            <a:endParaRPr lang="zh-CN" altLang="en-US" sz="1000" b="0" dirty="0">
              <a:latin typeface="+mn-lt"/>
              <a:ea typeface="+mn-ea"/>
              <a:cs typeface="+mn-ea"/>
              <a:sym typeface="+mn-lt"/>
            </a:endParaRPr>
          </a:p>
        </p:txBody>
      </p:sp>
      <p:sp>
        <p:nvSpPr>
          <p:cNvPr id="516" name="TextBox 274"/>
          <p:cNvSpPr txBox="1">
            <a:spLocks noChangeArrowheads="1"/>
          </p:cNvSpPr>
          <p:nvPr/>
        </p:nvSpPr>
        <p:spPr bwMode="auto">
          <a:xfrm>
            <a:off x="7501127" y="6522846"/>
            <a:ext cx="118745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eaLnBrk="1" hangingPunct="1"/>
            <a:r>
              <a:rPr lang="zh-CN" altLang="en-US" sz="1000" b="0" dirty="0">
                <a:latin typeface="+mn-lt"/>
                <a:ea typeface="+mn-ea"/>
                <a:cs typeface="+mn-ea"/>
                <a:sym typeface="+mn-lt"/>
              </a:rPr>
              <a:t>当前能力水平</a:t>
            </a:r>
            <a:endParaRPr lang="zh-CN" altLang="en-US" sz="1000" b="0" dirty="0">
              <a:latin typeface="+mn-lt"/>
              <a:ea typeface="+mn-ea"/>
              <a:cs typeface="+mn-ea"/>
              <a:sym typeface="+mn-lt"/>
            </a:endParaRPr>
          </a:p>
        </p:txBody>
      </p:sp>
      <p:sp>
        <p:nvSpPr>
          <p:cNvPr id="517" name="TextBox 276"/>
          <p:cNvSpPr txBox="1">
            <a:spLocks noChangeArrowheads="1"/>
          </p:cNvSpPr>
          <p:nvPr/>
        </p:nvSpPr>
        <p:spPr bwMode="auto">
          <a:xfrm>
            <a:off x="8861363" y="6259561"/>
            <a:ext cx="132995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eaLnBrk="1" hangingPunct="1"/>
            <a:r>
              <a:rPr lang="zh-CN" altLang="en-US" sz="1000" b="0" dirty="0">
                <a:latin typeface="+mn-lt"/>
                <a:ea typeface="+mn-ea"/>
                <a:cs typeface="+mn-ea"/>
                <a:sym typeface="+mn-lt"/>
              </a:rPr>
              <a:t>重要稀缺能力要求</a:t>
            </a:r>
            <a:endParaRPr lang="zh-CN" altLang="en-US" sz="1000" b="0" dirty="0">
              <a:latin typeface="+mn-lt"/>
              <a:ea typeface="+mn-ea"/>
              <a:cs typeface="+mn-ea"/>
              <a:sym typeface="+mn-lt"/>
            </a:endParaRPr>
          </a:p>
        </p:txBody>
      </p:sp>
      <p:sp>
        <p:nvSpPr>
          <p:cNvPr id="518" name="文本框 517"/>
          <p:cNvSpPr txBox="1"/>
          <p:nvPr/>
        </p:nvSpPr>
        <p:spPr>
          <a:xfrm>
            <a:off x="1610055" y="6210393"/>
            <a:ext cx="4275529" cy="261610"/>
          </a:xfrm>
          <a:prstGeom prst="rect">
            <a:avLst/>
          </a:prstGeom>
          <a:noFill/>
        </p:spPr>
        <p:txBody>
          <a:bodyPr wrap="none" rtlCol="0">
            <a:spAutoFit/>
          </a:bodyPr>
          <a:lstStyle/>
          <a:p>
            <a:r>
              <a:rPr kumimoji="1" lang="zh-CN" altLang="en-US" sz="1100" b="0" dirty="0">
                <a:latin typeface="+mn-lt"/>
                <a:ea typeface="+mn-ea"/>
                <a:cs typeface="+mn-ea"/>
                <a:sym typeface="+mn-lt"/>
              </a:rPr>
              <a:t>数据来源：数据根据访谈调研，经词频统计和要点重要性分析汇总</a:t>
            </a:r>
            <a:endParaRPr kumimoji="1" lang="zh-CN" altLang="en-US" sz="1100" b="0" dirty="0">
              <a:latin typeface="+mn-lt"/>
              <a:ea typeface="+mn-ea"/>
              <a:cs typeface="+mn-ea"/>
              <a:sym typeface="+mn-lt"/>
            </a:endParaRPr>
          </a:p>
        </p:txBody>
      </p:sp>
      <p:sp>
        <p:nvSpPr>
          <p:cNvPr id="585" name="矩形 584"/>
          <p:cNvSpPr/>
          <p:nvPr/>
        </p:nvSpPr>
        <p:spPr bwMode="auto">
          <a:xfrm>
            <a:off x="4922744" y="5630764"/>
            <a:ext cx="1454791" cy="288971"/>
          </a:xfrm>
          <a:prstGeom prst="rect">
            <a:avLst/>
          </a:prstGeom>
          <a:solidFill>
            <a:schemeClr val="accent2">
              <a:lumMod val="60000"/>
              <a:lumOff val="40000"/>
            </a:schemeClr>
          </a:solidFill>
          <a:ln w="9525" cap="flat" cmpd="sng" algn="ctr">
            <a:noFill/>
            <a:prstDash val="solid"/>
            <a:round/>
            <a:headEnd type="none" w="med" len="med"/>
            <a:tailEnd type="none" w="med" len="med"/>
          </a:ln>
          <a:effectLst/>
        </p:spPr>
        <p:txBody>
          <a:bodyPr lIns="0" tIns="0" rIns="0" bIns="0" anchor="ctr"/>
          <a:lstStyle/>
          <a:p>
            <a:pPr algn="ctr" eaLnBrk="0" hangingPunct="0">
              <a:defRPr/>
            </a:pPr>
            <a:endParaRPr lang="zh-CN" altLang="en-US" dirty="0">
              <a:latin typeface="Arial" panose="020B0604020202090204" pitchFamily="34" charset="0"/>
              <a:ea typeface="宋体" pitchFamily="2" charset="-122"/>
            </a:endParaRPr>
          </a:p>
        </p:txBody>
      </p:sp>
      <p:sp>
        <p:nvSpPr>
          <p:cNvPr id="586" name="矩形 585"/>
          <p:cNvSpPr/>
          <p:nvPr/>
        </p:nvSpPr>
        <p:spPr bwMode="auto">
          <a:xfrm>
            <a:off x="6919067" y="5634428"/>
            <a:ext cx="1454791" cy="288971"/>
          </a:xfrm>
          <a:prstGeom prst="rect">
            <a:avLst/>
          </a:prstGeom>
          <a:solidFill>
            <a:schemeClr val="accent2">
              <a:lumMod val="60000"/>
              <a:lumOff val="40000"/>
            </a:schemeClr>
          </a:solidFill>
          <a:ln w="9525" cap="flat" cmpd="sng" algn="ctr">
            <a:noFill/>
            <a:prstDash val="solid"/>
            <a:round/>
            <a:headEnd type="none" w="med" len="med"/>
            <a:tailEnd type="none" w="med" len="med"/>
          </a:ln>
          <a:effectLst/>
        </p:spPr>
        <p:txBody>
          <a:bodyPr lIns="0" tIns="0" rIns="0" bIns="0" anchor="ctr"/>
          <a:lstStyle/>
          <a:p>
            <a:pPr algn="ctr" eaLnBrk="0" hangingPunct="0">
              <a:defRPr/>
            </a:pPr>
            <a:endParaRPr lang="zh-CN" altLang="en-US" dirty="0">
              <a:latin typeface="Arial" panose="020B0604020202090204" pitchFamily="34" charset="0"/>
              <a:ea typeface="宋体" pitchFamily="2" charset="-122"/>
            </a:endParaRPr>
          </a:p>
        </p:txBody>
      </p:sp>
      <p:sp>
        <p:nvSpPr>
          <p:cNvPr id="587" name="矩形 586"/>
          <p:cNvSpPr/>
          <p:nvPr/>
        </p:nvSpPr>
        <p:spPr bwMode="auto">
          <a:xfrm>
            <a:off x="8887118" y="5626662"/>
            <a:ext cx="1454791" cy="288971"/>
          </a:xfrm>
          <a:prstGeom prst="rect">
            <a:avLst/>
          </a:prstGeom>
          <a:solidFill>
            <a:schemeClr val="accent2">
              <a:lumMod val="60000"/>
              <a:lumOff val="40000"/>
            </a:schemeClr>
          </a:solidFill>
          <a:ln w="9525" cap="flat" cmpd="sng" algn="ctr">
            <a:noFill/>
            <a:prstDash val="solid"/>
            <a:round/>
            <a:headEnd type="none" w="med" len="med"/>
            <a:tailEnd type="none" w="med" len="med"/>
          </a:ln>
          <a:effectLst/>
        </p:spPr>
        <p:txBody>
          <a:bodyPr lIns="0" tIns="0" rIns="0" bIns="0" anchor="ctr"/>
          <a:lstStyle/>
          <a:p>
            <a:pPr algn="ctr" eaLnBrk="0" hangingPunct="0">
              <a:defRPr/>
            </a:pPr>
            <a:endParaRPr lang="zh-CN" altLang="en-US" dirty="0">
              <a:latin typeface="Arial" panose="020B0604020202090204" pitchFamily="34" charset="0"/>
              <a:ea typeface="宋体" pitchFamily="2" charset="-122"/>
            </a:endParaRPr>
          </a:p>
        </p:txBody>
      </p:sp>
      <p:sp>
        <p:nvSpPr>
          <p:cNvPr id="625" name="文本框 624"/>
          <p:cNvSpPr txBox="1"/>
          <p:nvPr/>
        </p:nvSpPr>
        <p:spPr>
          <a:xfrm>
            <a:off x="2397014" y="5619919"/>
            <a:ext cx="1685077" cy="292388"/>
          </a:xfrm>
          <a:prstGeom prst="rect">
            <a:avLst/>
          </a:prstGeom>
          <a:noFill/>
        </p:spPr>
        <p:txBody>
          <a:bodyPr wrap="none" rtlCol="0">
            <a:spAutoFit/>
          </a:bodyPr>
          <a:lstStyle/>
          <a:p>
            <a:r>
              <a:rPr kumimoji="1" lang="zh-CN" altLang="en-US" b="0" dirty="0">
                <a:latin typeface="华文中宋" panose="02010600040101010101" pitchFamily="2" charset="-122"/>
                <a:ea typeface="华文中宋" panose="02010600040101010101" pitchFamily="2" charset="-122"/>
              </a:rPr>
              <a:t>合规与风险管控能力</a:t>
            </a:r>
            <a:endParaRPr kumimoji="1" lang="zh-CN" altLang="en-US" b="0" dirty="0">
              <a:latin typeface="华文中宋" panose="02010600040101010101" pitchFamily="2" charset="-122"/>
              <a:ea typeface="华文中宋" panose="02010600040101010101" pitchFamily="2" charset="-122"/>
            </a:endParaRPr>
          </a:p>
        </p:txBody>
      </p:sp>
      <p:sp>
        <p:nvSpPr>
          <p:cNvPr id="626" name="TextBox 118"/>
          <p:cNvSpPr txBox="1">
            <a:spLocks noChangeArrowheads="1"/>
          </p:cNvSpPr>
          <p:nvPr/>
        </p:nvSpPr>
        <p:spPr bwMode="auto">
          <a:xfrm>
            <a:off x="586912" y="5612225"/>
            <a:ext cx="17986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eaLnBrk="1" hangingPunct="1"/>
            <a:r>
              <a:rPr lang="zh-CN" altLang="en-US" sz="1400" dirty="0"/>
              <a:t>专业力（公共）</a:t>
            </a:r>
            <a:endParaRPr lang="zh-CN" altLang="en-US" sz="1400" dirty="0"/>
          </a:p>
        </p:txBody>
      </p:sp>
      <p:sp>
        <p:nvSpPr>
          <p:cNvPr id="627" name="矩形 626"/>
          <p:cNvSpPr/>
          <p:nvPr/>
        </p:nvSpPr>
        <p:spPr bwMode="auto">
          <a:xfrm>
            <a:off x="2385980" y="5583969"/>
            <a:ext cx="2059663" cy="340424"/>
          </a:xfrm>
          <a:prstGeom prst="rect">
            <a:avLst/>
          </a:prstGeom>
          <a:noFill/>
          <a:ln w="9525" cap="flat" cmpd="sng" algn="ctr">
            <a:solidFill>
              <a:schemeClr val="accent2">
                <a:lumMod val="50000"/>
              </a:schemeClr>
            </a:solidFill>
            <a:prstDash val="dash"/>
            <a:round/>
            <a:headEnd type="none" w="med" len="med"/>
            <a:tailEnd type="none" w="med" len="med"/>
          </a:ln>
          <a:effectLst/>
        </p:spPr>
        <p:txBody>
          <a:bodyPr lIns="0" tIns="0" rIns="0" bIns="0"/>
          <a:lstStyle/>
          <a:p>
            <a:pPr algn="ctr" eaLnBrk="0" hangingPunct="0">
              <a:defRPr/>
            </a:pPr>
            <a:endParaRPr lang="zh-CN" altLang="en-US" b="0"/>
          </a:p>
        </p:txBody>
      </p:sp>
      <p:sp>
        <p:nvSpPr>
          <p:cNvPr id="628" name="矩形 627"/>
          <p:cNvSpPr/>
          <p:nvPr/>
        </p:nvSpPr>
        <p:spPr bwMode="auto">
          <a:xfrm>
            <a:off x="4848700" y="5595288"/>
            <a:ext cx="1602880" cy="340424"/>
          </a:xfrm>
          <a:prstGeom prst="rect">
            <a:avLst/>
          </a:prstGeom>
          <a:noFill/>
          <a:ln w="9525" cap="flat" cmpd="sng" algn="ctr">
            <a:solidFill>
              <a:schemeClr val="accent2">
                <a:lumMod val="50000"/>
              </a:schemeClr>
            </a:solidFill>
            <a:prstDash val="dash"/>
            <a:round/>
            <a:headEnd type="none" w="med" len="med"/>
            <a:tailEnd type="none" w="med" len="med"/>
          </a:ln>
          <a:effectLst/>
        </p:spPr>
        <p:txBody>
          <a:bodyPr lIns="0" tIns="0" rIns="0" bIns="0"/>
          <a:lstStyle/>
          <a:p>
            <a:pPr algn="ctr" eaLnBrk="0" hangingPunct="0">
              <a:defRPr/>
            </a:pPr>
            <a:endParaRPr lang="zh-CN" altLang="en-US" b="0"/>
          </a:p>
        </p:txBody>
      </p:sp>
      <p:sp>
        <p:nvSpPr>
          <p:cNvPr id="629" name="文本框 628"/>
          <p:cNvSpPr txBox="1"/>
          <p:nvPr/>
        </p:nvSpPr>
        <p:spPr>
          <a:xfrm>
            <a:off x="6830227" y="5634428"/>
            <a:ext cx="1351652" cy="292388"/>
          </a:xfrm>
          <a:prstGeom prst="rect">
            <a:avLst/>
          </a:prstGeom>
          <a:noFill/>
        </p:spPr>
        <p:txBody>
          <a:bodyPr wrap="none" rtlCol="0">
            <a:spAutoFit/>
          </a:bodyPr>
          <a:lstStyle/>
          <a:p>
            <a:r>
              <a:rPr kumimoji="1" lang="zh-CN" altLang="en-US" b="0" dirty="0">
                <a:latin typeface="华文中宋" panose="02010600040101010101" pitchFamily="2" charset="-122"/>
                <a:ea typeface="华文中宋" panose="02010600040101010101" pitchFamily="2" charset="-122"/>
              </a:rPr>
              <a:t>集约化管理能力</a:t>
            </a:r>
            <a:endParaRPr kumimoji="1" lang="zh-CN" altLang="en-US" b="0" dirty="0">
              <a:latin typeface="华文中宋" panose="02010600040101010101" pitchFamily="2" charset="-122"/>
              <a:ea typeface="华文中宋" panose="02010600040101010101" pitchFamily="2" charset="-122"/>
            </a:endParaRPr>
          </a:p>
        </p:txBody>
      </p:sp>
      <p:sp>
        <p:nvSpPr>
          <p:cNvPr id="630" name="矩形 629"/>
          <p:cNvSpPr/>
          <p:nvPr/>
        </p:nvSpPr>
        <p:spPr bwMode="auto">
          <a:xfrm>
            <a:off x="6819192" y="5598478"/>
            <a:ext cx="1602880" cy="340424"/>
          </a:xfrm>
          <a:prstGeom prst="rect">
            <a:avLst/>
          </a:prstGeom>
          <a:noFill/>
          <a:ln w="9525" cap="flat" cmpd="sng" algn="ctr">
            <a:solidFill>
              <a:schemeClr val="accent2">
                <a:lumMod val="50000"/>
              </a:schemeClr>
            </a:solidFill>
            <a:prstDash val="dash"/>
            <a:round/>
            <a:headEnd type="none" w="med" len="med"/>
            <a:tailEnd type="none" w="med" len="med"/>
          </a:ln>
          <a:effectLst/>
        </p:spPr>
        <p:txBody>
          <a:bodyPr lIns="0" tIns="0" rIns="0" bIns="0"/>
          <a:lstStyle/>
          <a:p>
            <a:pPr algn="ctr" eaLnBrk="0" hangingPunct="0">
              <a:defRPr/>
            </a:pPr>
            <a:endParaRPr lang="zh-CN" altLang="en-US" b="0"/>
          </a:p>
        </p:txBody>
      </p:sp>
      <p:sp>
        <p:nvSpPr>
          <p:cNvPr id="631" name="文本框 630"/>
          <p:cNvSpPr txBox="1"/>
          <p:nvPr/>
        </p:nvSpPr>
        <p:spPr>
          <a:xfrm>
            <a:off x="8876113" y="5627347"/>
            <a:ext cx="1184940" cy="292388"/>
          </a:xfrm>
          <a:prstGeom prst="rect">
            <a:avLst/>
          </a:prstGeom>
          <a:noFill/>
        </p:spPr>
        <p:txBody>
          <a:bodyPr wrap="none" rtlCol="0">
            <a:spAutoFit/>
          </a:bodyPr>
          <a:lstStyle/>
          <a:p>
            <a:r>
              <a:rPr kumimoji="1" lang="zh-CN" altLang="en-US" b="0" dirty="0">
                <a:latin typeface="华文中宋" panose="02010600040101010101" pitchFamily="2" charset="-122"/>
                <a:ea typeface="华文中宋" panose="02010600040101010101" pitchFamily="2" charset="-122"/>
              </a:rPr>
              <a:t>价值创新能力</a:t>
            </a:r>
            <a:endParaRPr kumimoji="1" lang="zh-CN" altLang="en-US" b="0" dirty="0">
              <a:latin typeface="华文中宋" panose="02010600040101010101" pitchFamily="2" charset="-122"/>
              <a:ea typeface="华文中宋" panose="02010600040101010101" pitchFamily="2" charset="-122"/>
            </a:endParaRPr>
          </a:p>
        </p:txBody>
      </p:sp>
      <p:sp>
        <p:nvSpPr>
          <p:cNvPr id="632" name="矩形 631"/>
          <p:cNvSpPr/>
          <p:nvPr/>
        </p:nvSpPr>
        <p:spPr bwMode="auto">
          <a:xfrm>
            <a:off x="8789684" y="5591397"/>
            <a:ext cx="1602880" cy="340424"/>
          </a:xfrm>
          <a:prstGeom prst="rect">
            <a:avLst/>
          </a:prstGeom>
          <a:noFill/>
          <a:ln w="9525" cap="flat" cmpd="sng" algn="ctr">
            <a:solidFill>
              <a:schemeClr val="accent2">
                <a:lumMod val="50000"/>
              </a:schemeClr>
            </a:solidFill>
            <a:prstDash val="dash"/>
            <a:round/>
            <a:headEnd type="none" w="med" len="med"/>
            <a:tailEnd type="none" w="med" len="med"/>
          </a:ln>
          <a:effectLst/>
        </p:spPr>
        <p:txBody>
          <a:bodyPr lIns="0" tIns="0" rIns="0" bIns="0"/>
          <a:lstStyle/>
          <a:p>
            <a:pPr algn="ctr" eaLnBrk="0" hangingPunct="0">
              <a:defRPr/>
            </a:pPr>
            <a:endParaRPr lang="zh-CN" altLang="en-US" b="0"/>
          </a:p>
        </p:txBody>
      </p:sp>
      <p:sp>
        <p:nvSpPr>
          <p:cNvPr id="633" name="文本框 632"/>
          <p:cNvSpPr txBox="1"/>
          <p:nvPr/>
        </p:nvSpPr>
        <p:spPr>
          <a:xfrm>
            <a:off x="4862624" y="5619306"/>
            <a:ext cx="1351652" cy="292388"/>
          </a:xfrm>
          <a:prstGeom prst="rect">
            <a:avLst/>
          </a:prstGeom>
          <a:noFill/>
        </p:spPr>
        <p:txBody>
          <a:bodyPr wrap="none" rtlCol="0">
            <a:spAutoFit/>
          </a:bodyPr>
          <a:lstStyle/>
          <a:p>
            <a:r>
              <a:rPr kumimoji="1" lang="zh-CN" altLang="en-US" b="0" dirty="0">
                <a:latin typeface="华文中宋" panose="02010600040101010101" pitchFamily="2" charset="-122"/>
                <a:ea typeface="华文中宋" panose="02010600040101010101" pitchFamily="2" charset="-122"/>
              </a:rPr>
              <a:t>编程与数据分析</a:t>
            </a:r>
            <a:endParaRPr kumimoji="1" lang="zh-CN" altLang="en-US" b="0" dirty="0">
              <a:latin typeface="华文中宋" panose="02010600040101010101" pitchFamily="2" charset="-122"/>
              <a:ea typeface="华文中宋" panose="02010600040101010101" pitchFamily="2" charset="-122"/>
            </a:endParaRPr>
          </a:p>
        </p:txBody>
      </p:sp>
      <p:sp>
        <p:nvSpPr>
          <p:cNvPr id="753" name="矩形 135"/>
          <p:cNvSpPr>
            <a:spLocks noChangeArrowheads="1"/>
          </p:cNvSpPr>
          <p:nvPr/>
        </p:nvSpPr>
        <p:spPr bwMode="auto">
          <a:xfrm rot="16200000">
            <a:off x="4500607" y="5943795"/>
            <a:ext cx="289543"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54" name="矩形 136"/>
          <p:cNvSpPr>
            <a:spLocks noChangeArrowheads="1"/>
          </p:cNvSpPr>
          <p:nvPr/>
        </p:nvSpPr>
        <p:spPr bwMode="auto">
          <a:xfrm rot="16200000">
            <a:off x="4285813" y="5742699"/>
            <a:ext cx="719136"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55" name="矩形 135"/>
          <p:cNvSpPr>
            <a:spLocks noChangeArrowheads="1"/>
          </p:cNvSpPr>
          <p:nvPr/>
        </p:nvSpPr>
        <p:spPr bwMode="auto">
          <a:xfrm rot="16200000">
            <a:off x="6566638" y="6018066"/>
            <a:ext cx="122795"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56" name="矩形 136"/>
          <p:cNvSpPr>
            <a:spLocks noChangeArrowheads="1"/>
          </p:cNvSpPr>
          <p:nvPr/>
        </p:nvSpPr>
        <p:spPr bwMode="auto">
          <a:xfrm rot="16200000">
            <a:off x="6268470" y="5724434"/>
            <a:ext cx="719136"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57" name="矩形 135"/>
          <p:cNvSpPr>
            <a:spLocks noChangeArrowheads="1"/>
          </p:cNvSpPr>
          <p:nvPr/>
        </p:nvSpPr>
        <p:spPr bwMode="auto">
          <a:xfrm rot="16200000">
            <a:off x="8498460" y="6012374"/>
            <a:ext cx="179784"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58" name="矩形 136"/>
          <p:cNvSpPr>
            <a:spLocks noChangeArrowheads="1"/>
          </p:cNvSpPr>
          <p:nvPr/>
        </p:nvSpPr>
        <p:spPr bwMode="auto">
          <a:xfrm rot="16200000">
            <a:off x="8228787" y="5742698"/>
            <a:ext cx="719136"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59" name="矩形 135"/>
          <p:cNvSpPr>
            <a:spLocks noChangeArrowheads="1"/>
          </p:cNvSpPr>
          <p:nvPr/>
        </p:nvSpPr>
        <p:spPr bwMode="auto">
          <a:xfrm rot="16200000">
            <a:off x="10500399" y="6001223"/>
            <a:ext cx="179784"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60" name="矩形 136"/>
          <p:cNvSpPr>
            <a:spLocks noChangeArrowheads="1"/>
          </p:cNvSpPr>
          <p:nvPr/>
        </p:nvSpPr>
        <p:spPr bwMode="auto">
          <a:xfrm rot="16200000">
            <a:off x="10230725" y="5731547"/>
            <a:ext cx="719136"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grpSp>
        <p:nvGrpSpPr>
          <p:cNvPr id="7" name="组合 6"/>
          <p:cNvGrpSpPr/>
          <p:nvPr/>
        </p:nvGrpSpPr>
        <p:grpSpPr>
          <a:xfrm>
            <a:off x="695325" y="1482874"/>
            <a:ext cx="10955726" cy="3897372"/>
            <a:chOff x="791556" y="2070100"/>
            <a:chExt cx="10955726" cy="2940877"/>
          </a:xfrm>
        </p:grpSpPr>
        <p:sp>
          <p:nvSpPr>
            <p:cNvPr id="588" name="矩形 587"/>
            <p:cNvSpPr/>
            <p:nvPr/>
          </p:nvSpPr>
          <p:spPr bwMode="auto">
            <a:xfrm>
              <a:off x="8980882" y="2634739"/>
              <a:ext cx="576547" cy="1493303"/>
            </a:xfrm>
            <a:prstGeom prst="rect">
              <a:avLst/>
            </a:prstGeom>
            <a:solidFill>
              <a:schemeClr val="accent2">
                <a:lumMod val="60000"/>
                <a:lumOff val="40000"/>
              </a:schemeClr>
            </a:solidFill>
            <a:ln w="9525" cap="flat" cmpd="sng" algn="ctr">
              <a:noFill/>
              <a:prstDash val="solid"/>
              <a:round/>
              <a:headEnd type="none" w="med" len="med"/>
              <a:tailEnd type="none" w="med" len="med"/>
            </a:ln>
            <a:effectLst/>
          </p:spPr>
          <p:txBody>
            <a:bodyPr lIns="0" tIns="0" rIns="0" bIns="0" anchor="ctr"/>
            <a:lstStyle/>
            <a:p>
              <a:pPr algn="ctr" eaLnBrk="0" hangingPunct="0">
                <a:defRPr/>
              </a:pPr>
              <a:endParaRPr lang="zh-CN" altLang="en-US" dirty="0">
                <a:latin typeface="Arial" panose="020B0604020202090204" pitchFamily="34" charset="0"/>
                <a:ea typeface="宋体" pitchFamily="2" charset="-122"/>
              </a:endParaRPr>
            </a:p>
          </p:txBody>
        </p:sp>
        <p:sp>
          <p:nvSpPr>
            <p:cNvPr id="589" name="矩形 588"/>
            <p:cNvSpPr/>
            <p:nvPr/>
          </p:nvSpPr>
          <p:spPr bwMode="auto">
            <a:xfrm>
              <a:off x="10325786" y="2651391"/>
              <a:ext cx="262978" cy="1493303"/>
            </a:xfrm>
            <a:prstGeom prst="rect">
              <a:avLst/>
            </a:prstGeom>
            <a:solidFill>
              <a:schemeClr val="accent2">
                <a:lumMod val="60000"/>
                <a:lumOff val="40000"/>
              </a:schemeClr>
            </a:solidFill>
            <a:ln w="9525" cap="flat" cmpd="sng" algn="ctr">
              <a:noFill/>
              <a:prstDash val="solid"/>
              <a:round/>
              <a:headEnd type="none" w="med" len="med"/>
              <a:tailEnd type="none" w="med" len="med"/>
            </a:ln>
            <a:effectLst/>
          </p:spPr>
          <p:txBody>
            <a:bodyPr lIns="0" tIns="0" rIns="0" bIns="0" anchor="ctr"/>
            <a:lstStyle/>
            <a:p>
              <a:pPr algn="ctr" eaLnBrk="0" hangingPunct="0">
                <a:defRPr/>
              </a:pPr>
              <a:endParaRPr lang="zh-CN" altLang="en-US" dirty="0">
                <a:latin typeface="Arial" panose="020B0604020202090204" pitchFamily="34" charset="0"/>
                <a:ea typeface="宋体" pitchFamily="2" charset="-122"/>
              </a:endParaRPr>
            </a:p>
          </p:txBody>
        </p:sp>
        <p:sp>
          <p:nvSpPr>
            <p:cNvPr id="590" name="矩形 589"/>
            <p:cNvSpPr/>
            <p:nvPr/>
          </p:nvSpPr>
          <p:spPr bwMode="auto">
            <a:xfrm>
              <a:off x="5150008" y="2638841"/>
              <a:ext cx="262978" cy="1493303"/>
            </a:xfrm>
            <a:prstGeom prst="rect">
              <a:avLst/>
            </a:prstGeom>
            <a:solidFill>
              <a:schemeClr val="accent2">
                <a:lumMod val="60000"/>
                <a:lumOff val="40000"/>
              </a:schemeClr>
            </a:solidFill>
            <a:ln w="9525" cap="flat" cmpd="sng" algn="ctr">
              <a:noFill/>
              <a:prstDash val="solid"/>
              <a:round/>
              <a:headEnd type="none" w="med" len="med"/>
              <a:tailEnd type="none" w="med" len="med"/>
            </a:ln>
            <a:effectLst/>
          </p:spPr>
          <p:txBody>
            <a:bodyPr lIns="0" tIns="0" rIns="0" bIns="0" anchor="ctr"/>
            <a:lstStyle/>
            <a:p>
              <a:pPr algn="ctr" eaLnBrk="0" hangingPunct="0">
                <a:defRPr/>
              </a:pPr>
              <a:endParaRPr lang="zh-CN" altLang="en-US" dirty="0">
                <a:latin typeface="Arial" panose="020B0604020202090204" pitchFamily="34" charset="0"/>
                <a:ea typeface="宋体" pitchFamily="2" charset="-122"/>
              </a:endParaRPr>
            </a:p>
          </p:txBody>
        </p:sp>
        <p:sp>
          <p:nvSpPr>
            <p:cNvPr id="591" name="矩形 590"/>
            <p:cNvSpPr/>
            <p:nvPr/>
          </p:nvSpPr>
          <p:spPr bwMode="auto">
            <a:xfrm>
              <a:off x="6290080" y="2643372"/>
              <a:ext cx="576547" cy="1493303"/>
            </a:xfrm>
            <a:prstGeom prst="rect">
              <a:avLst/>
            </a:prstGeom>
            <a:solidFill>
              <a:schemeClr val="accent2">
                <a:lumMod val="60000"/>
                <a:lumOff val="40000"/>
              </a:schemeClr>
            </a:solidFill>
            <a:ln w="9525" cap="flat" cmpd="sng" algn="ctr">
              <a:noFill/>
              <a:prstDash val="solid"/>
              <a:round/>
              <a:headEnd type="none" w="med" len="med"/>
              <a:tailEnd type="none" w="med" len="med"/>
            </a:ln>
            <a:effectLst/>
          </p:spPr>
          <p:txBody>
            <a:bodyPr lIns="0" tIns="0" rIns="0" bIns="0" anchor="ctr"/>
            <a:lstStyle/>
            <a:p>
              <a:pPr algn="ctr" eaLnBrk="0" hangingPunct="0">
                <a:defRPr/>
              </a:pPr>
              <a:endParaRPr lang="zh-CN" altLang="en-US" dirty="0">
                <a:latin typeface="Arial" panose="020B0604020202090204" pitchFamily="34" charset="0"/>
                <a:ea typeface="宋体" pitchFamily="2" charset="-122"/>
              </a:endParaRPr>
            </a:p>
          </p:txBody>
        </p:sp>
        <p:sp>
          <p:nvSpPr>
            <p:cNvPr id="592" name="矩形 591"/>
            <p:cNvSpPr/>
            <p:nvPr/>
          </p:nvSpPr>
          <p:spPr bwMode="auto">
            <a:xfrm>
              <a:off x="5726406" y="2634739"/>
              <a:ext cx="262978" cy="1493303"/>
            </a:xfrm>
            <a:prstGeom prst="rect">
              <a:avLst/>
            </a:prstGeom>
            <a:solidFill>
              <a:schemeClr val="accent2">
                <a:lumMod val="60000"/>
                <a:lumOff val="40000"/>
              </a:schemeClr>
            </a:solidFill>
            <a:ln w="9525" cap="flat" cmpd="sng" algn="ctr">
              <a:noFill/>
              <a:prstDash val="solid"/>
              <a:round/>
              <a:headEnd type="none" w="med" len="med"/>
              <a:tailEnd type="none" w="med" len="med"/>
            </a:ln>
            <a:effectLst/>
          </p:spPr>
          <p:txBody>
            <a:bodyPr lIns="0" tIns="0" rIns="0" bIns="0" anchor="ctr"/>
            <a:lstStyle/>
            <a:p>
              <a:pPr algn="ctr" eaLnBrk="0" hangingPunct="0">
                <a:defRPr/>
              </a:pPr>
              <a:endParaRPr lang="zh-CN" altLang="en-US" dirty="0">
                <a:latin typeface="Arial" panose="020B0604020202090204" pitchFamily="34" charset="0"/>
                <a:ea typeface="宋体" pitchFamily="2" charset="-122"/>
              </a:endParaRPr>
            </a:p>
          </p:txBody>
        </p:sp>
        <p:sp>
          <p:nvSpPr>
            <p:cNvPr id="593" name="矩形 592"/>
            <p:cNvSpPr/>
            <p:nvPr/>
          </p:nvSpPr>
          <p:spPr bwMode="auto">
            <a:xfrm>
              <a:off x="3827312" y="2637345"/>
              <a:ext cx="262978" cy="1493303"/>
            </a:xfrm>
            <a:prstGeom prst="rect">
              <a:avLst/>
            </a:prstGeom>
            <a:solidFill>
              <a:schemeClr val="accent2">
                <a:lumMod val="60000"/>
                <a:lumOff val="40000"/>
              </a:schemeClr>
            </a:solidFill>
            <a:ln w="9525" cap="flat" cmpd="sng" algn="ctr">
              <a:noFill/>
              <a:prstDash val="solid"/>
              <a:round/>
              <a:headEnd type="none" w="med" len="med"/>
              <a:tailEnd type="none" w="med" len="med"/>
            </a:ln>
            <a:effectLst/>
          </p:spPr>
          <p:txBody>
            <a:bodyPr lIns="0" tIns="0" rIns="0" bIns="0" anchor="ctr"/>
            <a:lstStyle/>
            <a:p>
              <a:pPr algn="ctr" eaLnBrk="0" hangingPunct="0">
                <a:defRPr/>
              </a:pPr>
              <a:endParaRPr lang="zh-CN" altLang="en-US" dirty="0">
                <a:latin typeface="Arial" panose="020B0604020202090204" pitchFamily="34" charset="0"/>
                <a:ea typeface="宋体" pitchFamily="2" charset="-122"/>
              </a:endParaRPr>
            </a:p>
          </p:txBody>
        </p:sp>
        <p:sp>
          <p:nvSpPr>
            <p:cNvPr id="594" name="矩形 593"/>
            <p:cNvSpPr/>
            <p:nvPr/>
          </p:nvSpPr>
          <p:spPr bwMode="auto">
            <a:xfrm>
              <a:off x="2493722" y="2655176"/>
              <a:ext cx="262978" cy="1493303"/>
            </a:xfrm>
            <a:prstGeom prst="rect">
              <a:avLst/>
            </a:prstGeom>
            <a:solidFill>
              <a:schemeClr val="accent2">
                <a:lumMod val="60000"/>
                <a:lumOff val="40000"/>
              </a:schemeClr>
            </a:solidFill>
            <a:ln w="9525" cap="flat" cmpd="sng" algn="ctr">
              <a:noFill/>
              <a:prstDash val="solid"/>
              <a:round/>
              <a:headEnd type="none" w="med" len="med"/>
              <a:tailEnd type="none" w="med" len="med"/>
            </a:ln>
            <a:effectLst/>
          </p:spPr>
          <p:txBody>
            <a:bodyPr lIns="0" tIns="0" rIns="0" bIns="0" anchor="ctr"/>
            <a:lstStyle/>
            <a:p>
              <a:pPr algn="ctr" eaLnBrk="0" hangingPunct="0">
                <a:defRPr/>
              </a:pPr>
              <a:endParaRPr lang="zh-CN" altLang="en-US" dirty="0">
                <a:latin typeface="Arial" panose="020B0604020202090204" pitchFamily="34" charset="0"/>
                <a:ea typeface="宋体" pitchFamily="2" charset="-122"/>
              </a:endParaRPr>
            </a:p>
          </p:txBody>
        </p:sp>
        <p:sp>
          <p:nvSpPr>
            <p:cNvPr id="595" name="矩形 594"/>
            <p:cNvSpPr/>
            <p:nvPr/>
          </p:nvSpPr>
          <p:spPr bwMode="auto">
            <a:xfrm>
              <a:off x="1299861" y="2652929"/>
              <a:ext cx="262978" cy="1493303"/>
            </a:xfrm>
            <a:prstGeom prst="rect">
              <a:avLst/>
            </a:prstGeom>
            <a:solidFill>
              <a:schemeClr val="accent2">
                <a:lumMod val="60000"/>
                <a:lumOff val="40000"/>
              </a:schemeClr>
            </a:solidFill>
            <a:ln w="9525" cap="flat" cmpd="sng" algn="ctr">
              <a:noFill/>
              <a:prstDash val="solid"/>
              <a:round/>
              <a:headEnd type="none" w="med" len="med"/>
              <a:tailEnd type="none" w="med" len="med"/>
            </a:ln>
            <a:effectLst/>
          </p:spPr>
          <p:txBody>
            <a:bodyPr lIns="0" tIns="0" rIns="0" bIns="0" anchor="ctr"/>
            <a:lstStyle/>
            <a:p>
              <a:pPr algn="ctr" eaLnBrk="0" hangingPunct="0">
                <a:defRPr/>
              </a:pPr>
              <a:endParaRPr lang="zh-CN" altLang="en-US" dirty="0">
                <a:latin typeface="Arial" panose="020B0604020202090204" pitchFamily="34" charset="0"/>
                <a:ea typeface="宋体" pitchFamily="2" charset="-122"/>
              </a:endParaRPr>
            </a:p>
          </p:txBody>
        </p:sp>
        <p:sp>
          <p:nvSpPr>
            <p:cNvPr id="596" name="Line 3"/>
            <p:cNvSpPr>
              <a:spLocks noChangeShapeType="1"/>
            </p:cNvSpPr>
            <p:nvPr/>
          </p:nvSpPr>
          <p:spPr bwMode="auto">
            <a:xfrm flipV="1">
              <a:off x="791556" y="2554288"/>
              <a:ext cx="10955726" cy="9525"/>
            </a:xfrm>
            <a:prstGeom prst="line">
              <a:avLst/>
            </a:prstGeom>
            <a:noFill/>
            <a:ln w="57150">
              <a:solidFill>
                <a:srgbClr val="C00000"/>
              </a:solidFill>
              <a:round/>
              <a:tailEnd type="triangle" w="med" len="med"/>
            </a:ln>
            <a:extLst>
              <a:ext uri="{909E8E84-426E-40DD-AFC4-6F175D3DCCD1}">
                <a14:hiddenFill xmlns:a14="http://schemas.microsoft.com/office/drawing/2010/main">
                  <a:noFill/>
                </a14:hiddenFill>
              </a:ext>
            </a:extLst>
          </p:spPr>
          <p:txBody>
            <a:bodyPr lIns="0" tIns="0" rIns="0" bIns="0" anchor="ctr"/>
            <a:lstStyle/>
            <a:p>
              <a:endParaRPr lang="zh-CN" altLang="en-US"/>
            </a:p>
          </p:txBody>
        </p:sp>
        <p:sp>
          <p:nvSpPr>
            <p:cNvPr id="597" name="流程图: 联系 78"/>
            <p:cNvSpPr>
              <a:spLocks noChangeArrowheads="1"/>
            </p:cNvSpPr>
            <p:nvPr/>
          </p:nvSpPr>
          <p:spPr bwMode="auto">
            <a:xfrm>
              <a:off x="990082" y="2508250"/>
              <a:ext cx="133713"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598" name="TextBox 22"/>
            <p:cNvSpPr txBox="1">
              <a:spLocks noChangeArrowheads="1"/>
            </p:cNvSpPr>
            <p:nvPr/>
          </p:nvSpPr>
          <p:spPr bwMode="auto">
            <a:xfrm>
              <a:off x="921708" y="2610331"/>
              <a:ext cx="369332" cy="154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对公营销能力</a:t>
              </a:r>
              <a:endParaRPr lang="zh-CN" altLang="en-US" sz="1200" b="0" dirty="0">
                <a:latin typeface="华文中宋" panose="02010600040101010101" pitchFamily="2" charset="-122"/>
                <a:ea typeface="华文中宋" panose="02010600040101010101" pitchFamily="2" charset="-122"/>
              </a:endParaRPr>
            </a:p>
          </p:txBody>
        </p:sp>
        <p:sp>
          <p:nvSpPr>
            <p:cNvPr id="599" name="流程图: 联系 78"/>
            <p:cNvSpPr>
              <a:spLocks noChangeArrowheads="1"/>
            </p:cNvSpPr>
            <p:nvPr/>
          </p:nvSpPr>
          <p:spPr bwMode="auto">
            <a:xfrm>
              <a:off x="1361317" y="2508250"/>
              <a:ext cx="133712"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00" name="TextBox 29"/>
            <p:cNvSpPr txBox="1">
              <a:spLocks noChangeArrowheads="1"/>
            </p:cNvSpPr>
            <p:nvPr/>
          </p:nvSpPr>
          <p:spPr bwMode="auto">
            <a:xfrm>
              <a:off x="1108280" y="2610331"/>
              <a:ext cx="553998" cy="154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场景化解决方案定制</a:t>
              </a:r>
              <a:endParaRPr lang="zh-CN" altLang="en-US" sz="1200" b="0" dirty="0">
                <a:latin typeface="华文中宋" panose="02010600040101010101" pitchFamily="2" charset="-122"/>
                <a:ea typeface="华文中宋" panose="02010600040101010101" pitchFamily="2" charset="-122"/>
              </a:endParaRPr>
            </a:p>
          </p:txBody>
        </p:sp>
        <p:sp>
          <p:nvSpPr>
            <p:cNvPr id="601" name="流程图: 联系 78"/>
            <p:cNvSpPr>
              <a:spLocks noChangeArrowheads="1"/>
            </p:cNvSpPr>
            <p:nvPr/>
          </p:nvSpPr>
          <p:spPr bwMode="auto">
            <a:xfrm>
              <a:off x="1704280" y="2508250"/>
              <a:ext cx="133713"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02" name="TextBox 32"/>
            <p:cNvSpPr txBox="1">
              <a:spLocks noChangeArrowheads="1"/>
            </p:cNvSpPr>
            <p:nvPr/>
          </p:nvSpPr>
          <p:spPr bwMode="auto">
            <a:xfrm>
              <a:off x="1451247" y="2610331"/>
              <a:ext cx="553998" cy="154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市场策划与资源整合</a:t>
              </a:r>
              <a:endParaRPr lang="zh-CN" altLang="en-US" sz="1200" b="0" dirty="0">
                <a:latin typeface="华文中宋" panose="02010600040101010101" pitchFamily="2" charset="-122"/>
                <a:ea typeface="华文中宋" panose="02010600040101010101" pitchFamily="2" charset="-122"/>
              </a:endParaRPr>
            </a:p>
          </p:txBody>
        </p:sp>
        <p:sp>
          <p:nvSpPr>
            <p:cNvPr id="603" name="TextBox 206"/>
            <p:cNvSpPr txBox="1">
              <a:spLocks noChangeArrowheads="1"/>
            </p:cNvSpPr>
            <p:nvPr/>
          </p:nvSpPr>
          <p:spPr bwMode="auto">
            <a:xfrm>
              <a:off x="885732" y="2115364"/>
              <a:ext cx="107790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r>
                <a:rPr lang="zh-CN" altLang="en-US" sz="1200" dirty="0">
                  <a:latin typeface="华文中宋" panose="02010600040101010101" pitchFamily="2" charset="-122"/>
                  <a:ea typeface="华文中宋" panose="02010600040101010101" pitchFamily="2" charset="-122"/>
                </a:rPr>
                <a:t>公司金融</a:t>
              </a:r>
              <a:endParaRPr lang="zh-CN" altLang="en-US" sz="1200" dirty="0">
                <a:latin typeface="华文中宋" panose="02010600040101010101" pitchFamily="2" charset="-122"/>
                <a:ea typeface="华文中宋" panose="02010600040101010101" pitchFamily="2" charset="-122"/>
              </a:endParaRPr>
            </a:p>
          </p:txBody>
        </p:sp>
        <p:sp>
          <p:nvSpPr>
            <p:cNvPr id="604" name="TextBox 207"/>
            <p:cNvSpPr txBox="1">
              <a:spLocks noChangeArrowheads="1"/>
            </p:cNvSpPr>
            <p:nvPr/>
          </p:nvSpPr>
          <p:spPr bwMode="auto">
            <a:xfrm>
              <a:off x="2092969" y="2112169"/>
              <a:ext cx="107790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r>
                <a:rPr lang="zh-CN" altLang="en-US" sz="1200" dirty="0">
                  <a:latin typeface="华文中宋" panose="02010600040101010101" pitchFamily="2" charset="-122"/>
                  <a:ea typeface="华文中宋" panose="02010600040101010101" pitchFamily="2" charset="-122"/>
                </a:rPr>
                <a:t>个人金融</a:t>
              </a:r>
              <a:endParaRPr lang="zh-CN" altLang="en-US" sz="1200" dirty="0">
                <a:latin typeface="华文中宋" panose="02010600040101010101" pitchFamily="2" charset="-122"/>
                <a:ea typeface="华文中宋" panose="02010600040101010101" pitchFamily="2" charset="-122"/>
              </a:endParaRPr>
            </a:p>
          </p:txBody>
        </p:sp>
        <p:sp>
          <p:nvSpPr>
            <p:cNvPr id="605" name="TextBox 208"/>
            <p:cNvSpPr txBox="1">
              <a:spLocks noChangeArrowheads="1"/>
            </p:cNvSpPr>
            <p:nvPr/>
          </p:nvSpPr>
          <p:spPr bwMode="auto">
            <a:xfrm>
              <a:off x="7750051" y="2076450"/>
              <a:ext cx="10779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r>
                <a:rPr lang="zh-CN" altLang="en-US" sz="1200" dirty="0">
                  <a:latin typeface="华文中宋" panose="02010600040101010101" pitchFamily="2" charset="-122"/>
                  <a:ea typeface="华文中宋" panose="02010600040101010101" pitchFamily="2" charset="-122"/>
                </a:rPr>
                <a:t>运营与财务管理</a:t>
              </a:r>
              <a:endParaRPr lang="zh-CN" altLang="en-US" sz="1200" dirty="0">
                <a:latin typeface="华文中宋" panose="02010600040101010101" pitchFamily="2" charset="-122"/>
                <a:ea typeface="华文中宋" panose="02010600040101010101" pitchFamily="2" charset="-122"/>
              </a:endParaRPr>
            </a:p>
          </p:txBody>
        </p:sp>
        <p:sp>
          <p:nvSpPr>
            <p:cNvPr id="606" name="TextBox 209"/>
            <p:cNvSpPr txBox="1">
              <a:spLocks noChangeArrowheads="1"/>
            </p:cNvSpPr>
            <p:nvPr/>
          </p:nvSpPr>
          <p:spPr bwMode="auto">
            <a:xfrm>
              <a:off x="8924317" y="2136775"/>
              <a:ext cx="12212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r>
                <a:rPr lang="zh-CN" altLang="en-US" sz="1200" dirty="0">
                  <a:latin typeface="华文中宋" panose="02010600040101010101" pitchFamily="2" charset="-122"/>
                  <a:ea typeface="华文中宋" panose="02010600040101010101" pitchFamily="2" charset="-122"/>
                </a:rPr>
                <a:t>风险与内控</a:t>
              </a:r>
              <a:endParaRPr lang="zh-CN" altLang="en-US" sz="1200" dirty="0">
                <a:latin typeface="华文中宋" panose="02010600040101010101" pitchFamily="2" charset="-122"/>
                <a:ea typeface="华文中宋" panose="02010600040101010101" pitchFamily="2" charset="-122"/>
              </a:endParaRPr>
            </a:p>
          </p:txBody>
        </p:sp>
        <p:sp>
          <p:nvSpPr>
            <p:cNvPr id="607" name="TextBox 211"/>
            <p:cNvSpPr txBox="1">
              <a:spLocks noChangeArrowheads="1"/>
            </p:cNvSpPr>
            <p:nvPr/>
          </p:nvSpPr>
          <p:spPr bwMode="auto">
            <a:xfrm>
              <a:off x="10311728" y="2134108"/>
              <a:ext cx="107790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r>
                <a:rPr lang="zh-CN" altLang="en-US" sz="1200" dirty="0">
                  <a:latin typeface="华文中宋" panose="02010600040101010101" pitchFamily="2" charset="-122"/>
                  <a:ea typeface="华文中宋" panose="02010600040101010101" pitchFamily="2" charset="-122"/>
                </a:rPr>
                <a:t>信息科技</a:t>
              </a:r>
              <a:endParaRPr lang="zh-CN" altLang="en-US" sz="1200" dirty="0">
                <a:latin typeface="华文中宋" panose="02010600040101010101" pitchFamily="2" charset="-122"/>
                <a:ea typeface="华文中宋" panose="02010600040101010101" pitchFamily="2" charset="-122"/>
              </a:endParaRPr>
            </a:p>
          </p:txBody>
        </p:sp>
        <p:sp>
          <p:nvSpPr>
            <p:cNvPr id="608" name="TextBox 212"/>
            <p:cNvSpPr txBox="1">
              <a:spLocks noChangeArrowheads="1"/>
            </p:cNvSpPr>
            <p:nvPr/>
          </p:nvSpPr>
          <p:spPr bwMode="auto">
            <a:xfrm>
              <a:off x="4834257" y="2088007"/>
              <a:ext cx="12883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r>
                <a:rPr lang="zh-CN" altLang="en-US" sz="1200" dirty="0">
                  <a:latin typeface="华文中宋" panose="02010600040101010101" pitchFamily="2" charset="-122"/>
                  <a:ea typeface="华文中宋" panose="02010600040101010101" pitchFamily="2" charset="-122"/>
                </a:rPr>
                <a:t>全球化办与海外机构</a:t>
              </a:r>
              <a:endParaRPr lang="zh-CN" altLang="en-US" sz="1200" dirty="0">
                <a:latin typeface="华文中宋" panose="02010600040101010101" pitchFamily="2" charset="-122"/>
                <a:ea typeface="华文中宋" panose="02010600040101010101" pitchFamily="2" charset="-122"/>
              </a:endParaRPr>
            </a:p>
          </p:txBody>
        </p:sp>
        <p:sp>
          <p:nvSpPr>
            <p:cNvPr id="609" name="矩形 608"/>
            <p:cNvSpPr/>
            <p:nvPr/>
          </p:nvSpPr>
          <p:spPr bwMode="auto">
            <a:xfrm>
              <a:off x="815096" y="2070100"/>
              <a:ext cx="1247160" cy="2162176"/>
            </a:xfrm>
            <a:prstGeom prst="rect">
              <a:avLst/>
            </a:prstGeom>
            <a:noFill/>
            <a:ln w="9525" cap="flat" cmpd="sng" algn="ctr">
              <a:solidFill>
                <a:schemeClr val="accent2">
                  <a:lumMod val="50000"/>
                </a:schemeClr>
              </a:solidFill>
              <a:prstDash val="dash"/>
              <a:round/>
              <a:headEnd type="none" w="med" len="med"/>
              <a:tailEnd type="none" w="med" len="med"/>
            </a:ln>
            <a:effectLst/>
          </p:spPr>
          <p:txBody>
            <a:bodyPr lIns="0" tIns="0" rIns="0" bIns="0"/>
            <a:lstStyle/>
            <a:p>
              <a:pPr algn="ctr" eaLnBrk="0" hangingPunct="0">
                <a:defRPr/>
              </a:pPr>
              <a:endParaRPr lang="zh-CN" altLang="en-US" b="0"/>
            </a:p>
          </p:txBody>
        </p:sp>
        <p:sp>
          <p:nvSpPr>
            <p:cNvPr id="610" name="矩形 609"/>
            <p:cNvSpPr/>
            <p:nvPr/>
          </p:nvSpPr>
          <p:spPr bwMode="auto">
            <a:xfrm>
              <a:off x="2122278" y="2070100"/>
              <a:ext cx="1012131" cy="2162176"/>
            </a:xfrm>
            <a:prstGeom prst="rect">
              <a:avLst/>
            </a:prstGeom>
            <a:noFill/>
            <a:ln w="9525" cap="flat" cmpd="sng" algn="ctr">
              <a:solidFill>
                <a:schemeClr val="accent2">
                  <a:lumMod val="50000"/>
                </a:schemeClr>
              </a:solidFill>
              <a:prstDash val="dash"/>
              <a:round/>
              <a:headEnd type="none" w="med" len="med"/>
              <a:tailEnd type="none" w="med" len="med"/>
            </a:ln>
            <a:effectLst/>
          </p:spPr>
          <p:txBody>
            <a:bodyPr lIns="0" tIns="0" rIns="0" bIns="0"/>
            <a:lstStyle/>
            <a:p>
              <a:pPr algn="ctr" eaLnBrk="0" hangingPunct="0">
                <a:defRPr/>
              </a:pPr>
              <a:endParaRPr lang="zh-CN" altLang="en-US" b="0"/>
            </a:p>
          </p:txBody>
        </p:sp>
        <p:sp>
          <p:nvSpPr>
            <p:cNvPr id="611" name="矩形 610"/>
            <p:cNvSpPr/>
            <p:nvPr/>
          </p:nvSpPr>
          <p:spPr bwMode="auto">
            <a:xfrm>
              <a:off x="3193803" y="2070100"/>
              <a:ext cx="1568675" cy="2162176"/>
            </a:xfrm>
            <a:prstGeom prst="rect">
              <a:avLst/>
            </a:prstGeom>
            <a:noFill/>
            <a:ln w="9525" cap="flat" cmpd="sng" algn="ctr">
              <a:solidFill>
                <a:schemeClr val="accent2">
                  <a:lumMod val="50000"/>
                </a:schemeClr>
              </a:solidFill>
              <a:prstDash val="dash"/>
              <a:round/>
              <a:headEnd type="none" w="med" len="med"/>
              <a:tailEnd type="none" w="med" len="med"/>
            </a:ln>
            <a:effectLst/>
          </p:spPr>
          <p:txBody>
            <a:bodyPr lIns="0" tIns="0" rIns="0" bIns="0"/>
            <a:lstStyle/>
            <a:p>
              <a:pPr algn="ctr" eaLnBrk="0" hangingPunct="0">
                <a:defRPr/>
              </a:pPr>
              <a:endParaRPr lang="zh-CN" altLang="en-US" b="0"/>
            </a:p>
          </p:txBody>
        </p:sp>
        <p:sp>
          <p:nvSpPr>
            <p:cNvPr id="612" name="矩形 611"/>
            <p:cNvSpPr/>
            <p:nvPr/>
          </p:nvSpPr>
          <p:spPr bwMode="auto">
            <a:xfrm>
              <a:off x="7696883" y="2070100"/>
              <a:ext cx="1166412" cy="2162176"/>
            </a:xfrm>
            <a:prstGeom prst="rect">
              <a:avLst/>
            </a:prstGeom>
            <a:noFill/>
            <a:ln w="9525" cap="flat" cmpd="sng" algn="ctr">
              <a:solidFill>
                <a:schemeClr val="accent2">
                  <a:lumMod val="50000"/>
                </a:schemeClr>
              </a:solidFill>
              <a:prstDash val="dash"/>
              <a:round/>
              <a:headEnd type="none" w="med" len="med"/>
              <a:tailEnd type="none" w="med" len="med"/>
            </a:ln>
            <a:effectLst/>
          </p:spPr>
          <p:txBody>
            <a:bodyPr lIns="0" tIns="0" rIns="0" bIns="0"/>
            <a:lstStyle/>
            <a:p>
              <a:pPr algn="ctr" eaLnBrk="0" hangingPunct="0">
                <a:defRPr/>
              </a:pPr>
              <a:endParaRPr lang="zh-CN" altLang="en-US" b="0"/>
            </a:p>
          </p:txBody>
        </p:sp>
        <p:sp>
          <p:nvSpPr>
            <p:cNvPr id="613" name="矩形 612"/>
            <p:cNvSpPr/>
            <p:nvPr/>
          </p:nvSpPr>
          <p:spPr bwMode="auto">
            <a:xfrm>
              <a:off x="10232093" y="2070100"/>
              <a:ext cx="1254608" cy="2162176"/>
            </a:xfrm>
            <a:prstGeom prst="rect">
              <a:avLst/>
            </a:prstGeom>
            <a:noFill/>
            <a:ln w="9525" cap="flat" cmpd="sng" algn="ctr">
              <a:solidFill>
                <a:schemeClr val="accent2">
                  <a:lumMod val="50000"/>
                </a:schemeClr>
              </a:solidFill>
              <a:prstDash val="dash"/>
              <a:round/>
              <a:headEnd type="none" w="med" len="med"/>
              <a:tailEnd type="none" w="med" len="med"/>
            </a:ln>
            <a:effectLst/>
          </p:spPr>
          <p:txBody>
            <a:bodyPr lIns="0" tIns="0" rIns="0" bIns="0"/>
            <a:lstStyle/>
            <a:p>
              <a:pPr algn="ctr" eaLnBrk="0" hangingPunct="0">
                <a:defRPr/>
              </a:pPr>
              <a:endParaRPr lang="zh-CN" altLang="en-US" b="0"/>
            </a:p>
          </p:txBody>
        </p:sp>
        <p:sp>
          <p:nvSpPr>
            <p:cNvPr id="614" name="矩形 613"/>
            <p:cNvSpPr/>
            <p:nvPr/>
          </p:nvSpPr>
          <p:spPr bwMode="auto">
            <a:xfrm>
              <a:off x="6179890" y="2070100"/>
              <a:ext cx="1466574" cy="2162176"/>
            </a:xfrm>
            <a:prstGeom prst="rect">
              <a:avLst/>
            </a:prstGeom>
            <a:noFill/>
            <a:ln w="9525" cap="flat" cmpd="sng" algn="ctr">
              <a:solidFill>
                <a:schemeClr val="accent2">
                  <a:lumMod val="50000"/>
                </a:schemeClr>
              </a:solidFill>
              <a:prstDash val="dash"/>
              <a:round/>
              <a:headEnd type="none" w="med" len="med"/>
              <a:tailEnd type="none" w="med" len="med"/>
            </a:ln>
            <a:effectLst/>
          </p:spPr>
          <p:txBody>
            <a:bodyPr lIns="0" tIns="0" rIns="0" bIns="0"/>
            <a:lstStyle/>
            <a:p>
              <a:pPr algn="ctr" eaLnBrk="0" hangingPunct="0">
                <a:defRPr/>
              </a:pPr>
              <a:endParaRPr lang="zh-CN" altLang="en-US" b="0"/>
            </a:p>
          </p:txBody>
        </p:sp>
        <p:sp>
          <p:nvSpPr>
            <p:cNvPr id="615" name="TextBox 220"/>
            <p:cNvSpPr txBox="1">
              <a:spLocks noChangeArrowheads="1"/>
            </p:cNvSpPr>
            <p:nvPr/>
          </p:nvSpPr>
          <p:spPr bwMode="auto">
            <a:xfrm>
              <a:off x="3453915" y="2096295"/>
              <a:ext cx="107986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r>
                <a:rPr lang="zh-CN" altLang="en-US" sz="1200" dirty="0">
                  <a:latin typeface="华文中宋" panose="02010600040101010101" pitchFamily="2" charset="-122"/>
                  <a:ea typeface="华文中宋" panose="02010600040101010101" pitchFamily="2" charset="-122"/>
                </a:rPr>
                <a:t>金融市场</a:t>
              </a:r>
              <a:endParaRPr lang="zh-CN" altLang="en-US" sz="1200" dirty="0">
                <a:latin typeface="华文中宋" panose="02010600040101010101" pitchFamily="2" charset="-122"/>
                <a:ea typeface="华文中宋" panose="02010600040101010101" pitchFamily="2" charset="-122"/>
              </a:endParaRPr>
            </a:p>
          </p:txBody>
        </p:sp>
        <p:sp>
          <p:nvSpPr>
            <p:cNvPr id="616" name="矩形 615"/>
            <p:cNvSpPr/>
            <p:nvPr/>
          </p:nvSpPr>
          <p:spPr bwMode="auto">
            <a:xfrm>
              <a:off x="8924317" y="2070100"/>
              <a:ext cx="1246754" cy="2162176"/>
            </a:xfrm>
            <a:prstGeom prst="rect">
              <a:avLst/>
            </a:prstGeom>
            <a:noFill/>
            <a:ln w="9525" cap="flat" cmpd="sng" algn="ctr">
              <a:solidFill>
                <a:schemeClr val="accent2">
                  <a:lumMod val="50000"/>
                </a:schemeClr>
              </a:solidFill>
              <a:prstDash val="dash"/>
              <a:round/>
              <a:headEnd type="none" w="med" len="med"/>
              <a:tailEnd type="none" w="med" len="med"/>
            </a:ln>
            <a:effectLst/>
          </p:spPr>
          <p:txBody>
            <a:bodyPr lIns="0" tIns="0" rIns="0" bIns="0"/>
            <a:lstStyle/>
            <a:p>
              <a:pPr algn="ctr" eaLnBrk="0" hangingPunct="0">
                <a:defRPr/>
              </a:pPr>
              <a:endParaRPr lang="zh-CN" altLang="en-US" b="0"/>
            </a:p>
          </p:txBody>
        </p:sp>
        <p:sp>
          <p:nvSpPr>
            <p:cNvPr id="617" name="TextBox 220"/>
            <p:cNvSpPr txBox="1">
              <a:spLocks noChangeArrowheads="1"/>
            </p:cNvSpPr>
            <p:nvPr/>
          </p:nvSpPr>
          <p:spPr bwMode="auto">
            <a:xfrm>
              <a:off x="6305623" y="2084681"/>
              <a:ext cx="13076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r>
                <a:rPr lang="zh-CN" altLang="en-US" sz="1200" dirty="0">
                  <a:latin typeface="华文中宋" panose="02010600040101010101" pitchFamily="2" charset="-122"/>
                  <a:ea typeface="华文中宋" panose="02010600040101010101" pitchFamily="2" charset="-122"/>
                </a:rPr>
                <a:t>综合营销服务与柜台</a:t>
              </a:r>
              <a:endParaRPr lang="zh-CN" altLang="en-US" sz="1200" dirty="0">
                <a:latin typeface="华文中宋" panose="02010600040101010101" pitchFamily="2" charset="-122"/>
                <a:ea typeface="华文中宋" panose="02010600040101010101" pitchFamily="2" charset="-122"/>
              </a:endParaRPr>
            </a:p>
          </p:txBody>
        </p:sp>
        <p:sp>
          <p:nvSpPr>
            <p:cNvPr id="618" name="矩形 617"/>
            <p:cNvSpPr/>
            <p:nvPr/>
          </p:nvSpPr>
          <p:spPr bwMode="auto">
            <a:xfrm>
              <a:off x="4820891" y="2071688"/>
              <a:ext cx="1301729" cy="2160588"/>
            </a:xfrm>
            <a:prstGeom prst="rect">
              <a:avLst/>
            </a:prstGeom>
            <a:noFill/>
            <a:ln w="9525" cap="flat" cmpd="sng" algn="ctr">
              <a:solidFill>
                <a:schemeClr val="accent2">
                  <a:lumMod val="50000"/>
                </a:schemeClr>
              </a:solidFill>
              <a:prstDash val="dash"/>
              <a:round/>
              <a:headEnd type="none" w="med" len="med"/>
              <a:tailEnd type="none" w="med" len="med"/>
            </a:ln>
            <a:effectLst/>
          </p:spPr>
          <p:txBody>
            <a:bodyPr lIns="0" tIns="0" rIns="0" bIns="0"/>
            <a:lstStyle/>
            <a:p>
              <a:pPr algn="ctr" eaLnBrk="0" hangingPunct="0">
                <a:defRPr/>
              </a:pPr>
              <a:endParaRPr lang="zh-CN" altLang="en-US" b="0"/>
            </a:p>
          </p:txBody>
        </p:sp>
        <p:sp>
          <p:nvSpPr>
            <p:cNvPr id="619" name="TextBox 32"/>
            <p:cNvSpPr txBox="1">
              <a:spLocks noChangeArrowheads="1"/>
            </p:cNvSpPr>
            <p:nvPr/>
          </p:nvSpPr>
          <p:spPr bwMode="auto">
            <a:xfrm>
              <a:off x="2181785" y="2616358"/>
              <a:ext cx="369332" cy="154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产品研发配置能力</a:t>
              </a:r>
              <a:endParaRPr lang="zh-CN" altLang="en-US" sz="1200" b="0" dirty="0">
                <a:latin typeface="华文中宋" panose="02010600040101010101" pitchFamily="2" charset="-122"/>
                <a:ea typeface="华文中宋" panose="02010600040101010101" pitchFamily="2" charset="-122"/>
              </a:endParaRPr>
            </a:p>
          </p:txBody>
        </p:sp>
        <p:sp>
          <p:nvSpPr>
            <p:cNvPr id="620" name="TextBox 32"/>
            <p:cNvSpPr txBox="1">
              <a:spLocks noChangeArrowheads="1"/>
            </p:cNvSpPr>
            <p:nvPr/>
          </p:nvSpPr>
          <p:spPr bwMode="auto">
            <a:xfrm>
              <a:off x="2765077" y="2616358"/>
              <a:ext cx="369332" cy="154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投资顾问</a:t>
              </a:r>
              <a:endParaRPr lang="zh-CN" altLang="en-US" sz="1200" b="0" dirty="0">
                <a:latin typeface="华文中宋" panose="02010600040101010101" pitchFamily="2" charset="-122"/>
                <a:ea typeface="华文中宋" panose="02010600040101010101" pitchFamily="2" charset="-122"/>
              </a:endParaRPr>
            </a:p>
          </p:txBody>
        </p:sp>
        <p:sp>
          <p:nvSpPr>
            <p:cNvPr id="621" name="TextBox 32"/>
            <p:cNvSpPr txBox="1">
              <a:spLocks noChangeArrowheads="1"/>
            </p:cNvSpPr>
            <p:nvPr/>
          </p:nvSpPr>
          <p:spPr bwMode="auto">
            <a:xfrm>
              <a:off x="2473431" y="2616358"/>
              <a:ext cx="369332" cy="1547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数字化营销能力</a:t>
              </a:r>
              <a:endParaRPr lang="zh-CN" altLang="en-US" sz="1200" b="0" dirty="0">
                <a:latin typeface="华文中宋" panose="02010600040101010101" pitchFamily="2" charset="-122"/>
                <a:ea typeface="华文中宋" panose="02010600040101010101" pitchFamily="2" charset="-122"/>
              </a:endParaRPr>
            </a:p>
          </p:txBody>
        </p:sp>
        <p:sp>
          <p:nvSpPr>
            <p:cNvPr id="622" name="TextBox 32"/>
            <p:cNvSpPr txBox="1">
              <a:spLocks noChangeArrowheads="1"/>
            </p:cNvSpPr>
            <p:nvPr/>
          </p:nvSpPr>
          <p:spPr bwMode="auto">
            <a:xfrm>
              <a:off x="3226634" y="2624378"/>
              <a:ext cx="369332" cy="154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量化交易</a:t>
              </a:r>
              <a:endParaRPr lang="zh-CN" altLang="en-US" sz="1200" b="0" dirty="0">
                <a:latin typeface="华文中宋" panose="02010600040101010101" pitchFamily="2" charset="-122"/>
                <a:ea typeface="华文中宋" panose="02010600040101010101" pitchFamily="2" charset="-122"/>
              </a:endParaRPr>
            </a:p>
          </p:txBody>
        </p:sp>
        <p:sp>
          <p:nvSpPr>
            <p:cNvPr id="623" name="TextBox 32"/>
            <p:cNvSpPr txBox="1">
              <a:spLocks noChangeArrowheads="1"/>
            </p:cNvSpPr>
            <p:nvPr/>
          </p:nvSpPr>
          <p:spPr bwMode="auto">
            <a:xfrm>
              <a:off x="3825004" y="2624378"/>
              <a:ext cx="369332" cy="154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金融市场协同营销</a:t>
              </a:r>
              <a:endParaRPr lang="zh-CN" altLang="en-US" sz="1200" b="0" dirty="0">
                <a:latin typeface="华文中宋" panose="02010600040101010101" pitchFamily="2" charset="-122"/>
                <a:ea typeface="华文中宋" panose="02010600040101010101" pitchFamily="2" charset="-122"/>
              </a:endParaRPr>
            </a:p>
          </p:txBody>
        </p:sp>
        <p:sp>
          <p:nvSpPr>
            <p:cNvPr id="624" name="TextBox 32"/>
            <p:cNvSpPr txBox="1">
              <a:spLocks noChangeArrowheads="1"/>
            </p:cNvSpPr>
            <p:nvPr/>
          </p:nvSpPr>
          <p:spPr bwMode="auto">
            <a:xfrm>
              <a:off x="3533358" y="2624378"/>
              <a:ext cx="369332" cy="154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监管政策与应对能力</a:t>
              </a:r>
              <a:endParaRPr lang="zh-CN" altLang="en-US" sz="1200" b="0" dirty="0">
                <a:latin typeface="华文中宋" panose="02010600040101010101" pitchFamily="2" charset="-122"/>
                <a:ea typeface="华文中宋" panose="02010600040101010101" pitchFamily="2" charset="-122"/>
              </a:endParaRPr>
            </a:p>
          </p:txBody>
        </p:sp>
        <p:sp>
          <p:nvSpPr>
            <p:cNvPr id="634" name="TextBox 32"/>
            <p:cNvSpPr txBox="1">
              <a:spLocks noChangeArrowheads="1"/>
            </p:cNvSpPr>
            <p:nvPr/>
          </p:nvSpPr>
          <p:spPr bwMode="auto">
            <a:xfrm>
              <a:off x="4121254" y="2630421"/>
              <a:ext cx="369332" cy="154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跨境清算能力</a:t>
              </a:r>
              <a:endParaRPr lang="zh-CN" altLang="en-US" sz="1200" b="0" dirty="0">
                <a:latin typeface="华文中宋" panose="02010600040101010101" pitchFamily="2" charset="-122"/>
                <a:ea typeface="华文中宋" panose="02010600040101010101" pitchFamily="2" charset="-122"/>
              </a:endParaRPr>
            </a:p>
          </p:txBody>
        </p:sp>
        <p:sp>
          <p:nvSpPr>
            <p:cNvPr id="635" name="TextBox 32"/>
            <p:cNvSpPr txBox="1">
              <a:spLocks noChangeArrowheads="1"/>
            </p:cNvSpPr>
            <p:nvPr/>
          </p:nvSpPr>
          <p:spPr bwMode="auto">
            <a:xfrm>
              <a:off x="4385045" y="2636464"/>
              <a:ext cx="369332" cy="154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投行与资产管理</a:t>
              </a:r>
              <a:endParaRPr lang="zh-CN" altLang="en-US" sz="1200" b="0" dirty="0">
                <a:latin typeface="华文中宋" panose="02010600040101010101" pitchFamily="2" charset="-122"/>
                <a:ea typeface="华文中宋" panose="02010600040101010101" pitchFamily="2" charset="-122"/>
              </a:endParaRPr>
            </a:p>
          </p:txBody>
        </p:sp>
        <p:sp>
          <p:nvSpPr>
            <p:cNvPr id="636" name="TextBox 32"/>
            <p:cNvSpPr txBox="1">
              <a:spLocks noChangeArrowheads="1"/>
            </p:cNvSpPr>
            <p:nvPr/>
          </p:nvSpPr>
          <p:spPr bwMode="auto">
            <a:xfrm>
              <a:off x="6286503" y="2629409"/>
              <a:ext cx="369332" cy="154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网点转型与智慧运营</a:t>
              </a:r>
              <a:endParaRPr lang="zh-CN" altLang="en-US" sz="1200" b="0" dirty="0">
                <a:latin typeface="华文中宋" panose="02010600040101010101" pitchFamily="2" charset="-122"/>
                <a:ea typeface="华文中宋" panose="02010600040101010101" pitchFamily="2" charset="-122"/>
              </a:endParaRPr>
            </a:p>
          </p:txBody>
        </p:sp>
        <p:sp>
          <p:nvSpPr>
            <p:cNvPr id="637" name="TextBox 32"/>
            <p:cNvSpPr txBox="1">
              <a:spLocks noChangeArrowheads="1"/>
            </p:cNvSpPr>
            <p:nvPr/>
          </p:nvSpPr>
          <p:spPr bwMode="auto">
            <a:xfrm>
              <a:off x="6581699" y="2634739"/>
              <a:ext cx="369332" cy="1217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团队与外拓营销</a:t>
              </a:r>
              <a:endParaRPr lang="zh-CN" altLang="en-US" sz="1200" b="0" dirty="0">
                <a:latin typeface="华文中宋" panose="02010600040101010101" pitchFamily="2" charset="-122"/>
                <a:ea typeface="华文中宋" panose="02010600040101010101" pitchFamily="2" charset="-122"/>
              </a:endParaRPr>
            </a:p>
          </p:txBody>
        </p:sp>
        <p:sp>
          <p:nvSpPr>
            <p:cNvPr id="638" name="TextBox 32"/>
            <p:cNvSpPr txBox="1">
              <a:spLocks noChangeArrowheads="1"/>
            </p:cNvSpPr>
            <p:nvPr/>
          </p:nvSpPr>
          <p:spPr bwMode="auto">
            <a:xfrm>
              <a:off x="6903310" y="2640067"/>
              <a:ext cx="369332" cy="1211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渠道管理与运营</a:t>
              </a:r>
              <a:endParaRPr lang="zh-CN" altLang="en-US" sz="1200" b="0" dirty="0">
                <a:latin typeface="华文中宋" panose="02010600040101010101" pitchFamily="2" charset="-122"/>
                <a:ea typeface="华文中宋" panose="02010600040101010101" pitchFamily="2" charset="-122"/>
              </a:endParaRPr>
            </a:p>
          </p:txBody>
        </p:sp>
        <p:sp>
          <p:nvSpPr>
            <p:cNvPr id="639" name="TextBox 32"/>
            <p:cNvSpPr txBox="1">
              <a:spLocks noChangeArrowheads="1"/>
            </p:cNvSpPr>
            <p:nvPr/>
          </p:nvSpPr>
          <p:spPr bwMode="auto">
            <a:xfrm>
              <a:off x="7196458" y="2645664"/>
              <a:ext cx="369332" cy="803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普惠金融</a:t>
              </a:r>
              <a:endParaRPr lang="zh-CN" altLang="en-US" sz="1200" b="0" dirty="0">
                <a:latin typeface="华文中宋" panose="02010600040101010101" pitchFamily="2" charset="-122"/>
                <a:ea typeface="华文中宋" panose="02010600040101010101" pitchFamily="2" charset="-122"/>
              </a:endParaRPr>
            </a:p>
          </p:txBody>
        </p:sp>
        <p:sp>
          <p:nvSpPr>
            <p:cNvPr id="640" name="TextBox 32"/>
            <p:cNvSpPr txBox="1">
              <a:spLocks noChangeArrowheads="1"/>
            </p:cNvSpPr>
            <p:nvPr/>
          </p:nvSpPr>
          <p:spPr bwMode="auto">
            <a:xfrm>
              <a:off x="7819010" y="2665304"/>
              <a:ext cx="369332" cy="783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财务管理</a:t>
              </a:r>
              <a:endParaRPr lang="zh-CN" altLang="en-US" sz="1200" b="0" dirty="0">
                <a:latin typeface="华文中宋" panose="02010600040101010101" pitchFamily="2" charset="-122"/>
                <a:ea typeface="华文中宋" panose="02010600040101010101" pitchFamily="2" charset="-122"/>
              </a:endParaRPr>
            </a:p>
          </p:txBody>
        </p:sp>
        <p:sp>
          <p:nvSpPr>
            <p:cNvPr id="641" name="TextBox 32"/>
            <p:cNvSpPr txBox="1">
              <a:spLocks noChangeArrowheads="1"/>
            </p:cNvSpPr>
            <p:nvPr/>
          </p:nvSpPr>
          <p:spPr bwMode="auto">
            <a:xfrm>
              <a:off x="8111681" y="2658816"/>
              <a:ext cx="369332" cy="1047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数字资产管理</a:t>
              </a:r>
              <a:endParaRPr lang="zh-CN" altLang="en-US" sz="1200" b="0" dirty="0">
                <a:latin typeface="华文中宋" panose="02010600040101010101" pitchFamily="2" charset="-122"/>
                <a:ea typeface="华文中宋" panose="02010600040101010101" pitchFamily="2" charset="-122"/>
              </a:endParaRPr>
            </a:p>
          </p:txBody>
        </p:sp>
        <p:sp>
          <p:nvSpPr>
            <p:cNvPr id="642" name="TextBox 32"/>
            <p:cNvSpPr txBox="1">
              <a:spLocks noChangeArrowheads="1"/>
            </p:cNvSpPr>
            <p:nvPr/>
          </p:nvSpPr>
          <p:spPr bwMode="auto">
            <a:xfrm>
              <a:off x="8418488" y="2652328"/>
              <a:ext cx="369332" cy="79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投资管理</a:t>
              </a:r>
              <a:endParaRPr lang="zh-CN" altLang="en-US" sz="1200" b="0" dirty="0">
                <a:latin typeface="华文中宋" panose="02010600040101010101" pitchFamily="2" charset="-122"/>
                <a:ea typeface="华文中宋" panose="02010600040101010101" pitchFamily="2" charset="-122"/>
              </a:endParaRPr>
            </a:p>
          </p:txBody>
        </p:sp>
        <p:sp>
          <p:nvSpPr>
            <p:cNvPr id="643" name="TextBox 32"/>
            <p:cNvSpPr txBox="1">
              <a:spLocks noChangeArrowheads="1"/>
            </p:cNvSpPr>
            <p:nvPr/>
          </p:nvSpPr>
          <p:spPr bwMode="auto">
            <a:xfrm>
              <a:off x="4859833" y="2652328"/>
              <a:ext cx="369332" cy="154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语言与跨文化沟通</a:t>
              </a:r>
              <a:endParaRPr lang="zh-CN" altLang="en-US" sz="1200" b="0" dirty="0">
                <a:latin typeface="华文中宋" panose="02010600040101010101" pitchFamily="2" charset="-122"/>
                <a:ea typeface="华文中宋" panose="02010600040101010101" pitchFamily="2" charset="-122"/>
              </a:endParaRPr>
            </a:p>
          </p:txBody>
        </p:sp>
        <p:sp>
          <p:nvSpPr>
            <p:cNvPr id="644" name="TextBox 32"/>
            <p:cNvSpPr txBox="1">
              <a:spLocks noChangeArrowheads="1"/>
            </p:cNvSpPr>
            <p:nvPr/>
          </p:nvSpPr>
          <p:spPr bwMode="auto">
            <a:xfrm>
              <a:off x="5138845" y="2656031"/>
              <a:ext cx="369332" cy="154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全球化规划发展能力</a:t>
              </a:r>
              <a:endParaRPr lang="zh-CN" altLang="en-US" sz="1200" b="0" dirty="0">
                <a:latin typeface="华文中宋" panose="02010600040101010101" pitchFamily="2" charset="-122"/>
                <a:ea typeface="华文中宋" panose="02010600040101010101" pitchFamily="2" charset="-122"/>
              </a:endParaRPr>
            </a:p>
          </p:txBody>
        </p:sp>
        <p:sp>
          <p:nvSpPr>
            <p:cNvPr id="645" name="TextBox 32"/>
            <p:cNvSpPr txBox="1">
              <a:spLocks noChangeArrowheads="1"/>
            </p:cNvSpPr>
            <p:nvPr/>
          </p:nvSpPr>
          <p:spPr bwMode="auto">
            <a:xfrm>
              <a:off x="5432184" y="2673909"/>
              <a:ext cx="369332" cy="1547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国家战略洞察</a:t>
              </a:r>
              <a:endParaRPr lang="zh-CN" altLang="en-US" sz="1200" b="0" dirty="0">
                <a:latin typeface="华文中宋" panose="02010600040101010101" pitchFamily="2" charset="-122"/>
                <a:ea typeface="华文中宋" panose="02010600040101010101" pitchFamily="2" charset="-122"/>
              </a:endParaRPr>
            </a:p>
          </p:txBody>
        </p:sp>
        <p:sp>
          <p:nvSpPr>
            <p:cNvPr id="646" name="TextBox 32"/>
            <p:cNvSpPr txBox="1">
              <a:spLocks noChangeArrowheads="1"/>
            </p:cNvSpPr>
            <p:nvPr/>
          </p:nvSpPr>
          <p:spPr bwMode="auto">
            <a:xfrm>
              <a:off x="5711196" y="2681156"/>
              <a:ext cx="369332" cy="1025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本地化管理</a:t>
              </a:r>
              <a:endParaRPr lang="zh-CN" altLang="en-US" sz="1200" b="0" dirty="0">
                <a:latin typeface="华文中宋" panose="02010600040101010101" pitchFamily="2" charset="-122"/>
                <a:ea typeface="华文中宋" panose="02010600040101010101" pitchFamily="2" charset="-122"/>
              </a:endParaRPr>
            </a:p>
          </p:txBody>
        </p:sp>
        <p:sp>
          <p:nvSpPr>
            <p:cNvPr id="647" name="TextBox 32"/>
            <p:cNvSpPr txBox="1">
              <a:spLocks noChangeArrowheads="1"/>
            </p:cNvSpPr>
            <p:nvPr/>
          </p:nvSpPr>
          <p:spPr bwMode="auto">
            <a:xfrm>
              <a:off x="8992307" y="2575699"/>
              <a:ext cx="369332" cy="1630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反洗钱监管应对</a:t>
              </a:r>
              <a:endParaRPr lang="zh-CN" altLang="en-US" sz="1200" b="0" dirty="0">
                <a:latin typeface="华文中宋" panose="02010600040101010101" pitchFamily="2" charset="-122"/>
                <a:ea typeface="华文中宋" panose="02010600040101010101" pitchFamily="2" charset="-122"/>
              </a:endParaRPr>
            </a:p>
          </p:txBody>
        </p:sp>
        <p:sp>
          <p:nvSpPr>
            <p:cNvPr id="648" name="TextBox 32"/>
            <p:cNvSpPr txBox="1">
              <a:spLocks noChangeArrowheads="1"/>
            </p:cNvSpPr>
            <p:nvPr/>
          </p:nvSpPr>
          <p:spPr bwMode="auto">
            <a:xfrm>
              <a:off x="9277683" y="2582819"/>
              <a:ext cx="369332" cy="1630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内控与合规管理</a:t>
              </a:r>
              <a:endParaRPr lang="zh-CN" altLang="en-US" sz="1200" b="0" dirty="0">
                <a:latin typeface="华文中宋" panose="02010600040101010101" pitchFamily="2" charset="-122"/>
                <a:ea typeface="华文中宋" panose="02010600040101010101" pitchFamily="2" charset="-122"/>
              </a:endParaRPr>
            </a:p>
          </p:txBody>
        </p:sp>
        <p:sp>
          <p:nvSpPr>
            <p:cNvPr id="649" name="TextBox 32"/>
            <p:cNvSpPr txBox="1">
              <a:spLocks noChangeArrowheads="1"/>
            </p:cNvSpPr>
            <p:nvPr/>
          </p:nvSpPr>
          <p:spPr bwMode="auto">
            <a:xfrm>
              <a:off x="9563060" y="2589939"/>
              <a:ext cx="369332" cy="1630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授信管理</a:t>
              </a:r>
              <a:endParaRPr lang="zh-CN" altLang="en-US" sz="1200" b="0" dirty="0">
                <a:latin typeface="华文中宋" panose="02010600040101010101" pitchFamily="2" charset="-122"/>
                <a:ea typeface="华文中宋" panose="02010600040101010101" pitchFamily="2" charset="-122"/>
              </a:endParaRPr>
            </a:p>
          </p:txBody>
        </p:sp>
        <p:sp>
          <p:nvSpPr>
            <p:cNvPr id="650" name="TextBox 32"/>
            <p:cNvSpPr txBox="1">
              <a:spLocks noChangeArrowheads="1"/>
            </p:cNvSpPr>
            <p:nvPr/>
          </p:nvSpPr>
          <p:spPr bwMode="auto">
            <a:xfrm>
              <a:off x="9848435" y="2597059"/>
              <a:ext cx="369332" cy="1630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风险管理</a:t>
              </a:r>
              <a:endParaRPr lang="zh-CN" altLang="en-US" sz="1200" b="0" dirty="0">
                <a:latin typeface="华文中宋" panose="02010600040101010101" pitchFamily="2" charset="-122"/>
                <a:ea typeface="华文中宋" panose="02010600040101010101" pitchFamily="2" charset="-122"/>
              </a:endParaRPr>
            </a:p>
          </p:txBody>
        </p:sp>
        <p:sp>
          <p:nvSpPr>
            <p:cNvPr id="651" name="TextBox 32"/>
            <p:cNvSpPr txBox="1">
              <a:spLocks noChangeArrowheads="1"/>
            </p:cNvSpPr>
            <p:nvPr/>
          </p:nvSpPr>
          <p:spPr bwMode="auto">
            <a:xfrm>
              <a:off x="10294564" y="2602831"/>
              <a:ext cx="369332" cy="1630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企业级数字化架构</a:t>
              </a:r>
              <a:endParaRPr lang="zh-CN" altLang="en-US" sz="1200" b="0" dirty="0">
                <a:latin typeface="华文中宋" panose="02010600040101010101" pitchFamily="2" charset="-122"/>
                <a:ea typeface="华文中宋" panose="02010600040101010101" pitchFamily="2" charset="-122"/>
              </a:endParaRPr>
            </a:p>
          </p:txBody>
        </p:sp>
        <p:sp>
          <p:nvSpPr>
            <p:cNvPr id="652" name="TextBox 32"/>
            <p:cNvSpPr txBox="1">
              <a:spLocks noChangeArrowheads="1"/>
            </p:cNvSpPr>
            <p:nvPr/>
          </p:nvSpPr>
          <p:spPr bwMode="auto">
            <a:xfrm>
              <a:off x="10591344" y="2609851"/>
              <a:ext cx="369332" cy="124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大数据分析应用</a:t>
              </a:r>
              <a:endParaRPr lang="zh-CN" altLang="en-US" sz="1200" b="0" dirty="0">
                <a:latin typeface="华文中宋" panose="02010600040101010101" pitchFamily="2" charset="-122"/>
                <a:ea typeface="华文中宋" panose="02010600040101010101" pitchFamily="2" charset="-122"/>
              </a:endParaRPr>
            </a:p>
          </p:txBody>
        </p:sp>
        <p:sp>
          <p:nvSpPr>
            <p:cNvPr id="653" name="TextBox 32"/>
            <p:cNvSpPr txBox="1">
              <a:spLocks noChangeArrowheads="1"/>
            </p:cNvSpPr>
            <p:nvPr/>
          </p:nvSpPr>
          <p:spPr bwMode="auto">
            <a:xfrm>
              <a:off x="10888123" y="2616872"/>
              <a:ext cx="369332" cy="146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zh-CN" altLang="en-US" sz="1200" b="0" dirty="0">
                  <a:latin typeface="华文中宋" panose="02010600040101010101" pitchFamily="2" charset="-122"/>
                  <a:ea typeface="华文中宋" panose="02010600040101010101" pitchFamily="2" charset="-122"/>
                </a:rPr>
                <a:t>软件与人工智能开发</a:t>
              </a:r>
              <a:endParaRPr lang="zh-CN" altLang="en-US" sz="1200" b="0" dirty="0">
                <a:latin typeface="华文中宋" panose="02010600040101010101" pitchFamily="2" charset="-122"/>
                <a:ea typeface="华文中宋" panose="02010600040101010101" pitchFamily="2" charset="-122"/>
              </a:endParaRPr>
            </a:p>
          </p:txBody>
        </p:sp>
        <p:sp>
          <p:nvSpPr>
            <p:cNvPr id="654" name="TextBox 32"/>
            <p:cNvSpPr txBox="1">
              <a:spLocks noChangeArrowheads="1"/>
            </p:cNvSpPr>
            <p:nvPr/>
          </p:nvSpPr>
          <p:spPr bwMode="auto">
            <a:xfrm>
              <a:off x="11152790" y="2610770"/>
              <a:ext cx="369332" cy="1006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r>
                <a:rPr lang="en-US" altLang="zh-CN" sz="1200" b="0" dirty="0">
                  <a:latin typeface="华文中宋" panose="02010600040101010101" pitchFamily="2" charset="-122"/>
                  <a:ea typeface="华文中宋" panose="02010600040101010101" pitchFamily="2" charset="-122"/>
                </a:rPr>
                <a:t>IT</a:t>
              </a:r>
              <a:r>
                <a:rPr lang="zh-CN" altLang="en-US" sz="1200" b="0" dirty="0">
                  <a:latin typeface="华文中宋" panose="02010600040101010101" pitchFamily="2" charset="-122"/>
                  <a:ea typeface="华文中宋" panose="02010600040101010101" pitchFamily="2" charset="-122"/>
                </a:rPr>
                <a:t>业务管理</a:t>
              </a:r>
              <a:endParaRPr lang="zh-CN" altLang="en-US" sz="1200" b="0" dirty="0">
                <a:latin typeface="华文中宋" panose="02010600040101010101" pitchFamily="2" charset="-122"/>
                <a:ea typeface="华文中宋" panose="02010600040101010101" pitchFamily="2" charset="-122"/>
              </a:endParaRPr>
            </a:p>
          </p:txBody>
        </p:sp>
        <p:grpSp>
          <p:nvGrpSpPr>
            <p:cNvPr id="655" name="组合 654"/>
            <p:cNvGrpSpPr/>
            <p:nvPr/>
          </p:nvGrpSpPr>
          <p:grpSpPr>
            <a:xfrm>
              <a:off x="3287373" y="2513415"/>
              <a:ext cx="1345514" cy="107942"/>
              <a:chOff x="1210200" y="279786"/>
              <a:chExt cx="1087915" cy="107942"/>
            </a:xfrm>
          </p:grpSpPr>
          <p:sp>
            <p:nvSpPr>
              <p:cNvPr id="656" name="流程图: 联系 78"/>
              <p:cNvSpPr>
                <a:spLocks noChangeArrowheads="1"/>
              </p:cNvSpPr>
              <p:nvPr/>
            </p:nvSpPr>
            <p:spPr bwMode="auto">
              <a:xfrm>
                <a:off x="1210200"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57" name="流程图: 联系 78"/>
              <p:cNvSpPr>
                <a:spLocks noChangeArrowheads="1"/>
              </p:cNvSpPr>
              <p:nvPr/>
            </p:nvSpPr>
            <p:spPr bwMode="auto">
              <a:xfrm>
                <a:off x="1455150" y="279786"/>
                <a:ext cx="108113"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58" name="流程图: 联系 78"/>
              <p:cNvSpPr>
                <a:spLocks noChangeArrowheads="1"/>
              </p:cNvSpPr>
              <p:nvPr/>
            </p:nvSpPr>
            <p:spPr bwMode="auto">
              <a:xfrm>
                <a:off x="1700099"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59" name="流程图: 联系 78"/>
              <p:cNvSpPr>
                <a:spLocks noChangeArrowheads="1"/>
              </p:cNvSpPr>
              <p:nvPr/>
            </p:nvSpPr>
            <p:spPr bwMode="auto">
              <a:xfrm>
                <a:off x="1945049"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60" name="流程图: 联系 78"/>
              <p:cNvSpPr>
                <a:spLocks noChangeArrowheads="1"/>
              </p:cNvSpPr>
              <p:nvPr/>
            </p:nvSpPr>
            <p:spPr bwMode="auto">
              <a:xfrm>
                <a:off x="2190001"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grpSp>
        <p:grpSp>
          <p:nvGrpSpPr>
            <p:cNvPr id="661" name="组合 660"/>
            <p:cNvGrpSpPr/>
            <p:nvPr/>
          </p:nvGrpSpPr>
          <p:grpSpPr>
            <a:xfrm>
              <a:off x="6370319" y="2506617"/>
              <a:ext cx="1042562" cy="107942"/>
              <a:chOff x="1210200" y="279786"/>
              <a:chExt cx="842963" cy="107942"/>
            </a:xfrm>
          </p:grpSpPr>
          <p:sp>
            <p:nvSpPr>
              <p:cNvPr id="662" name="流程图: 联系 78"/>
              <p:cNvSpPr>
                <a:spLocks noChangeArrowheads="1"/>
              </p:cNvSpPr>
              <p:nvPr/>
            </p:nvSpPr>
            <p:spPr bwMode="auto">
              <a:xfrm>
                <a:off x="1210200"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63" name="流程图: 联系 78"/>
              <p:cNvSpPr>
                <a:spLocks noChangeArrowheads="1"/>
              </p:cNvSpPr>
              <p:nvPr/>
            </p:nvSpPr>
            <p:spPr bwMode="auto">
              <a:xfrm>
                <a:off x="1455150" y="279786"/>
                <a:ext cx="108113"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64" name="流程图: 联系 78"/>
              <p:cNvSpPr>
                <a:spLocks noChangeArrowheads="1"/>
              </p:cNvSpPr>
              <p:nvPr/>
            </p:nvSpPr>
            <p:spPr bwMode="auto">
              <a:xfrm>
                <a:off x="1700099"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65" name="流程图: 联系 78"/>
              <p:cNvSpPr>
                <a:spLocks noChangeArrowheads="1"/>
              </p:cNvSpPr>
              <p:nvPr/>
            </p:nvSpPr>
            <p:spPr bwMode="auto">
              <a:xfrm>
                <a:off x="1945049"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grpSp>
        <p:grpSp>
          <p:nvGrpSpPr>
            <p:cNvPr id="666" name="组合 665"/>
            <p:cNvGrpSpPr/>
            <p:nvPr/>
          </p:nvGrpSpPr>
          <p:grpSpPr>
            <a:xfrm>
              <a:off x="7881598" y="2499608"/>
              <a:ext cx="739612" cy="107942"/>
              <a:chOff x="1210200" y="279786"/>
              <a:chExt cx="598013" cy="107942"/>
            </a:xfrm>
          </p:grpSpPr>
          <p:sp>
            <p:nvSpPr>
              <p:cNvPr id="667" name="流程图: 联系 78"/>
              <p:cNvSpPr>
                <a:spLocks noChangeArrowheads="1"/>
              </p:cNvSpPr>
              <p:nvPr/>
            </p:nvSpPr>
            <p:spPr bwMode="auto">
              <a:xfrm>
                <a:off x="1210200"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68" name="流程图: 联系 78"/>
              <p:cNvSpPr>
                <a:spLocks noChangeArrowheads="1"/>
              </p:cNvSpPr>
              <p:nvPr/>
            </p:nvSpPr>
            <p:spPr bwMode="auto">
              <a:xfrm>
                <a:off x="1455150" y="279786"/>
                <a:ext cx="108113"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69" name="流程图: 联系 78"/>
              <p:cNvSpPr>
                <a:spLocks noChangeArrowheads="1"/>
              </p:cNvSpPr>
              <p:nvPr/>
            </p:nvSpPr>
            <p:spPr bwMode="auto">
              <a:xfrm>
                <a:off x="1700099"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grpSp>
        <p:grpSp>
          <p:nvGrpSpPr>
            <p:cNvPr id="670" name="组合 669"/>
            <p:cNvGrpSpPr/>
            <p:nvPr/>
          </p:nvGrpSpPr>
          <p:grpSpPr>
            <a:xfrm>
              <a:off x="2265930" y="2518619"/>
              <a:ext cx="739612" cy="107942"/>
              <a:chOff x="1210200" y="279786"/>
              <a:chExt cx="598013" cy="107942"/>
            </a:xfrm>
          </p:grpSpPr>
          <p:sp>
            <p:nvSpPr>
              <p:cNvPr id="671" name="流程图: 联系 78"/>
              <p:cNvSpPr>
                <a:spLocks noChangeArrowheads="1"/>
              </p:cNvSpPr>
              <p:nvPr/>
            </p:nvSpPr>
            <p:spPr bwMode="auto">
              <a:xfrm>
                <a:off x="1210200"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72" name="流程图: 联系 78"/>
              <p:cNvSpPr>
                <a:spLocks noChangeArrowheads="1"/>
              </p:cNvSpPr>
              <p:nvPr/>
            </p:nvSpPr>
            <p:spPr bwMode="auto">
              <a:xfrm>
                <a:off x="1455150" y="279786"/>
                <a:ext cx="108113"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73" name="流程图: 联系 78"/>
              <p:cNvSpPr>
                <a:spLocks noChangeArrowheads="1"/>
              </p:cNvSpPr>
              <p:nvPr/>
            </p:nvSpPr>
            <p:spPr bwMode="auto">
              <a:xfrm>
                <a:off x="1700099"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grpSp>
        <p:grpSp>
          <p:nvGrpSpPr>
            <p:cNvPr id="674" name="组合 673"/>
            <p:cNvGrpSpPr/>
            <p:nvPr/>
          </p:nvGrpSpPr>
          <p:grpSpPr>
            <a:xfrm>
              <a:off x="4929666" y="2512020"/>
              <a:ext cx="1042562" cy="107942"/>
              <a:chOff x="1210200" y="279786"/>
              <a:chExt cx="842963" cy="107942"/>
            </a:xfrm>
          </p:grpSpPr>
          <p:sp>
            <p:nvSpPr>
              <p:cNvPr id="675" name="流程图: 联系 78"/>
              <p:cNvSpPr>
                <a:spLocks noChangeArrowheads="1"/>
              </p:cNvSpPr>
              <p:nvPr/>
            </p:nvSpPr>
            <p:spPr bwMode="auto">
              <a:xfrm>
                <a:off x="1210200"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76" name="流程图: 联系 78"/>
              <p:cNvSpPr>
                <a:spLocks noChangeArrowheads="1"/>
              </p:cNvSpPr>
              <p:nvPr/>
            </p:nvSpPr>
            <p:spPr bwMode="auto">
              <a:xfrm>
                <a:off x="1455150" y="279786"/>
                <a:ext cx="108113"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77" name="流程图: 联系 78"/>
              <p:cNvSpPr>
                <a:spLocks noChangeArrowheads="1"/>
              </p:cNvSpPr>
              <p:nvPr/>
            </p:nvSpPr>
            <p:spPr bwMode="auto">
              <a:xfrm>
                <a:off x="1700099"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78" name="流程图: 联系 78"/>
              <p:cNvSpPr>
                <a:spLocks noChangeArrowheads="1"/>
              </p:cNvSpPr>
              <p:nvPr/>
            </p:nvSpPr>
            <p:spPr bwMode="auto">
              <a:xfrm>
                <a:off x="1945049"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grpSp>
        <p:grpSp>
          <p:nvGrpSpPr>
            <p:cNvPr id="679" name="组合 678"/>
            <p:cNvGrpSpPr/>
            <p:nvPr/>
          </p:nvGrpSpPr>
          <p:grpSpPr>
            <a:xfrm>
              <a:off x="9053631" y="2517089"/>
              <a:ext cx="1042562" cy="107942"/>
              <a:chOff x="1210200" y="279786"/>
              <a:chExt cx="842963" cy="107942"/>
            </a:xfrm>
          </p:grpSpPr>
          <p:sp>
            <p:nvSpPr>
              <p:cNvPr id="680" name="流程图: 联系 78"/>
              <p:cNvSpPr>
                <a:spLocks noChangeArrowheads="1"/>
              </p:cNvSpPr>
              <p:nvPr/>
            </p:nvSpPr>
            <p:spPr bwMode="auto">
              <a:xfrm>
                <a:off x="1210200"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81" name="流程图: 联系 78"/>
              <p:cNvSpPr>
                <a:spLocks noChangeArrowheads="1"/>
              </p:cNvSpPr>
              <p:nvPr/>
            </p:nvSpPr>
            <p:spPr bwMode="auto">
              <a:xfrm>
                <a:off x="1455150" y="279786"/>
                <a:ext cx="108113"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82" name="流程图: 联系 78"/>
              <p:cNvSpPr>
                <a:spLocks noChangeArrowheads="1"/>
              </p:cNvSpPr>
              <p:nvPr/>
            </p:nvSpPr>
            <p:spPr bwMode="auto">
              <a:xfrm>
                <a:off x="1700099"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83" name="流程图: 联系 78"/>
              <p:cNvSpPr>
                <a:spLocks noChangeArrowheads="1"/>
              </p:cNvSpPr>
              <p:nvPr/>
            </p:nvSpPr>
            <p:spPr bwMode="auto">
              <a:xfrm>
                <a:off x="1945049"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grpSp>
        <p:grpSp>
          <p:nvGrpSpPr>
            <p:cNvPr id="684" name="组合 683"/>
            <p:cNvGrpSpPr/>
            <p:nvPr/>
          </p:nvGrpSpPr>
          <p:grpSpPr>
            <a:xfrm>
              <a:off x="10374302" y="2508929"/>
              <a:ext cx="1042562" cy="107942"/>
              <a:chOff x="1210200" y="279786"/>
              <a:chExt cx="842963" cy="107942"/>
            </a:xfrm>
          </p:grpSpPr>
          <p:sp>
            <p:nvSpPr>
              <p:cNvPr id="685" name="流程图: 联系 78"/>
              <p:cNvSpPr>
                <a:spLocks noChangeArrowheads="1"/>
              </p:cNvSpPr>
              <p:nvPr/>
            </p:nvSpPr>
            <p:spPr bwMode="auto">
              <a:xfrm>
                <a:off x="1210200"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86" name="流程图: 联系 78"/>
              <p:cNvSpPr>
                <a:spLocks noChangeArrowheads="1"/>
              </p:cNvSpPr>
              <p:nvPr/>
            </p:nvSpPr>
            <p:spPr bwMode="auto">
              <a:xfrm>
                <a:off x="1455150" y="279786"/>
                <a:ext cx="108113"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87" name="流程图: 联系 78"/>
              <p:cNvSpPr>
                <a:spLocks noChangeArrowheads="1"/>
              </p:cNvSpPr>
              <p:nvPr/>
            </p:nvSpPr>
            <p:spPr bwMode="auto">
              <a:xfrm>
                <a:off x="1700099"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sp>
            <p:nvSpPr>
              <p:cNvPr id="688" name="流程图: 联系 78"/>
              <p:cNvSpPr>
                <a:spLocks noChangeArrowheads="1"/>
              </p:cNvSpPr>
              <p:nvPr/>
            </p:nvSpPr>
            <p:spPr bwMode="auto">
              <a:xfrm>
                <a:off x="1945049" y="279786"/>
                <a:ext cx="108114" cy="107942"/>
              </a:xfrm>
              <a:prstGeom prst="flowChartConnector">
                <a:avLst/>
              </a:prstGeom>
              <a:solidFill>
                <a:srgbClr val="B4A697"/>
              </a:solidFill>
              <a:ln w="3175" algn="ctr">
                <a:solidFill>
                  <a:schemeClr val="bg1"/>
                </a:solidFill>
                <a:round/>
              </a:ln>
            </p:spPr>
            <p:txBody>
              <a:bodyPr wrap="none" lIns="45720" rIns="45720"/>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nSpc>
                    <a:spcPct val="93000"/>
                  </a:lnSpc>
                  <a:spcBef>
                    <a:spcPct val="50000"/>
                  </a:spcBef>
                </a:pPr>
                <a:endParaRPr kumimoji="1" lang="zh-CN" altLang="en-US" sz="1200" b="0">
                  <a:latin typeface="宋体" pitchFamily="2" charset="-122"/>
                </a:endParaRPr>
              </a:p>
            </p:txBody>
          </p:sp>
        </p:grpSp>
        <p:sp>
          <p:nvSpPr>
            <p:cNvPr id="689" name="矩形 138"/>
            <p:cNvSpPr>
              <a:spLocks noChangeArrowheads="1"/>
            </p:cNvSpPr>
            <p:nvPr/>
          </p:nvSpPr>
          <p:spPr bwMode="auto">
            <a:xfrm rot="16200000">
              <a:off x="2442249" y="4697031"/>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690" name="矩形 139"/>
            <p:cNvSpPr>
              <a:spLocks noChangeArrowheads="1"/>
            </p:cNvSpPr>
            <p:nvPr/>
          </p:nvSpPr>
          <p:spPr bwMode="auto">
            <a:xfrm rot="16200000">
              <a:off x="2262468" y="4517247"/>
              <a:ext cx="719136"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691" name="矩形 145"/>
            <p:cNvSpPr>
              <a:spLocks noChangeArrowheads="1"/>
            </p:cNvSpPr>
            <p:nvPr/>
          </p:nvSpPr>
          <p:spPr bwMode="auto">
            <a:xfrm rot="16200000">
              <a:off x="2742493" y="4697031"/>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692" name="矩形 146"/>
            <p:cNvSpPr>
              <a:spLocks noChangeArrowheads="1"/>
            </p:cNvSpPr>
            <p:nvPr/>
          </p:nvSpPr>
          <p:spPr bwMode="auto">
            <a:xfrm rot="16200000">
              <a:off x="2652604" y="4607139"/>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693" name="矩形 148"/>
            <p:cNvSpPr>
              <a:spLocks noChangeArrowheads="1"/>
            </p:cNvSpPr>
            <p:nvPr/>
          </p:nvSpPr>
          <p:spPr bwMode="auto">
            <a:xfrm rot="16200000">
              <a:off x="3252253" y="4754181"/>
              <a:ext cx="223264"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694" name="矩形 149"/>
            <p:cNvSpPr>
              <a:spLocks noChangeArrowheads="1"/>
            </p:cNvSpPr>
            <p:nvPr/>
          </p:nvSpPr>
          <p:spPr bwMode="auto">
            <a:xfrm rot="16200000">
              <a:off x="3094211" y="4607139"/>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695" name="矩形 151"/>
            <p:cNvSpPr>
              <a:spLocks noChangeArrowheads="1"/>
            </p:cNvSpPr>
            <p:nvPr/>
          </p:nvSpPr>
          <p:spPr bwMode="auto">
            <a:xfrm rot="16200000">
              <a:off x="3498481" y="4697031"/>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696" name="矩形 152"/>
            <p:cNvSpPr>
              <a:spLocks noChangeArrowheads="1"/>
            </p:cNvSpPr>
            <p:nvPr/>
          </p:nvSpPr>
          <p:spPr bwMode="auto">
            <a:xfrm rot="16200000">
              <a:off x="3408592" y="4607139"/>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697" name="矩形 157"/>
            <p:cNvSpPr>
              <a:spLocks noChangeArrowheads="1"/>
            </p:cNvSpPr>
            <p:nvPr/>
          </p:nvSpPr>
          <p:spPr bwMode="auto">
            <a:xfrm rot="16200000">
              <a:off x="4098969" y="4697031"/>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698" name="矩形 158"/>
            <p:cNvSpPr>
              <a:spLocks noChangeArrowheads="1"/>
            </p:cNvSpPr>
            <p:nvPr/>
          </p:nvSpPr>
          <p:spPr bwMode="auto">
            <a:xfrm rot="16200000">
              <a:off x="4009079" y="4607139"/>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699" name="矩形 160"/>
            <p:cNvSpPr>
              <a:spLocks noChangeArrowheads="1"/>
            </p:cNvSpPr>
            <p:nvPr/>
          </p:nvSpPr>
          <p:spPr bwMode="auto">
            <a:xfrm rot="16200000">
              <a:off x="1337265" y="4786922"/>
              <a:ext cx="179784"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00" name="矩形 161"/>
            <p:cNvSpPr>
              <a:spLocks noChangeArrowheads="1"/>
            </p:cNvSpPr>
            <p:nvPr/>
          </p:nvSpPr>
          <p:spPr bwMode="auto">
            <a:xfrm rot="16200000">
              <a:off x="1067592" y="4517246"/>
              <a:ext cx="719136"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01" name="矩形 169"/>
            <p:cNvSpPr>
              <a:spLocks noChangeArrowheads="1"/>
            </p:cNvSpPr>
            <p:nvPr/>
          </p:nvSpPr>
          <p:spPr bwMode="auto">
            <a:xfrm rot="16200000">
              <a:off x="5413035" y="4697032"/>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02" name="矩形 170"/>
            <p:cNvSpPr>
              <a:spLocks noChangeArrowheads="1"/>
            </p:cNvSpPr>
            <p:nvPr/>
          </p:nvSpPr>
          <p:spPr bwMode="auto">
            <a:xfrm rot="16200000">
              <a:off x="5323145" y="4607140"/>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03" name="矩形 175"/>
            <p:cNvSpPr>
              <a:spLocks noChangeArrowheads="1"/>
            </p:cNvSpPr>
            <p:nvPr/>
          </p:nvSpPr>
          <p:spPr bwMode="auto">
            <a:xfrm rot="16200000">
              <a:off x="6341369" y="4788472"/>
              <a:ext cx="184515"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04" name="矩形 176"/>
            <p:cNvSpPr>
              <a:spLocks noChangeArrowheads="1"/>
            </p:cNvSpPr>
            <p:nvPr/>
          </p:nvSpPr>
          <p:spPr bwMode="auto">
            <a:xfrm rot="16200000">
              <a:off x="6074689" y="4538560"/>
              <a:ext cx="717878"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05" name="矩形 178"/>
            <p:cNvSpPr>
              <a:spLocks noChangeArrowheads="1"/>
            </p:cNvSpPr>
            <p:nvPr/>
          </p:nvSpPr>
          <p:spPr bwMode="auto">
            <a:xfrm rot="16200000">
              <a:off x="6669886" y="4777042"/>
              <a:ext cx="184515"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06" name="矩形 179"/>
            <p:cNvSpPr>
              <a:spLocks noChangeArrowheads="1"/>
            </p:cNvSpPr>
            <p:nvPr/>
          </p:nvSpPr>
          <p:spPr bwMode="auto">
            <a:xfrm rot="16200000">
              <a:off x="6389070" y="4527130"/>
              <a:ext cx="717878"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07" name="矩形 181"/>
            <p:cNvSpPr>
              <a:spLocks noChangeArrowheads="1"/>
            </p:cNvSpPr>
            <p:nvPr/>
          </p:nvSpPr>
          <p:spPr bwMode="auto">
            <a:xfrm rot="16200000">
              <a:off x="6868467" y="4697032"/>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08" name="矩形 182"/>
            <p:cNvSpPr>
              <a:spLocks noChangeArrowheads="1"/>
            </p:cNvSpPr>
            <p:nvPr/>
          </p:nvSpPr>
          <p:spPr bwMode="auto">
            <a:xfrm rot="16200000">
              <a:off x="6778577" y="4607140"/>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09" name="矩形 184"/>
            <p:cNvSpPr>
              <a:spLocks noChangeArrowheads="1"/>
            </p:cNvSpPr>
            <p:nvPr/>
          </p:nvSpPr>
          <p:spPr bwMode="auto">
            <a:xfrm rot="16200000">
              <a:off x="7261148" y="4765612"/>
              <a:ext cx="202967"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10" name="矩形 185"/>
            <p:cNvSpPr>
              <a:spLocks noChangeArrowheads="1"/>
            </p:cNvSpPr>
            <p:nvPr/>
          </p:nvSpPr>
          <p:spPr bwMode="auto">
            <a:xfrm rot="16200000">
              <a:off x="7092957" y="4607140"/>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11" name="矩形 211"/>
            <p:cNvSpPr>
              <a:spLocks noChangeArrowheads="1"/>
            </p:cNvSpPr>
            <p:nvPr/>
          </p:nvSpPr>
          <p:spPr bwMode="auto">
            <a:xfrm rot="16200000">
              <a:off x="8947022" y="4709664"/>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12" name="矩形 212"/>
            <p:cNvSpPr>
              <a:spLocks noChangeArrowheads="1"/>
            </p:cNvSpPr>
            <p:nvPr/>
          </p:nvSpPr>
          <p:spPr bwMode="auto">
            <a:xfrm rot="16200000">
              <a:off x="8767241" y="4529880"/>
              <a:ext cx="719136"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13" name="矩形 214"/>
            <p:cNvSpPr>
              <a:spLocks noChangeArrowheads="1"/>
            </p:cNvSpPr>
            <p:nvPr/>
          </p:nvSpPr>
          <p:spPr bwMode="auto">
            <a:xfrm rot="16200000">
              <a:off x="10255967" y="4719891"/>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14" name="矩形 215"/>
            <p:cNvSpPr>
              <a:spLocks noChangeArrowheads="1"/>
            </p:cNvSpPr>
            <p:nvPr/>
          </p:nvSpPr>
          <p:spPr bwMode="auto">
            <a:xfrm rot="16200000">
              <a:off x="10076815" y="4538559"/>
              <a:ext cx="717878"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15" name="矩形 217"/>
            <p:cNvSpPr>
              <a:spLocks noChangeArrowheads="1"/>
            </p:cNvSpPr>
            <p:nvPr/>
          </p:nvSpPr>
          <p:spPr bwMode="auto">
            <a:xfrm rot="16200000">
              <a:off x="10867212" y="4719891"/>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16" name="矩形 218"/>
            <p:cNvSpPr>
              <a:spLocks noChangeArrowheads="1"/>
            </p:cNvSpPr>
            <p:nvPr/>
          </p:nvSpPr>
          <p:spPr bwMode="auto">
            <a:xfrm rot="16200000">
              <a:off x="10777323" y="4629999"/>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17" name="矩形 220"/>
            <p:cNvSpPr>
              <a:spLocks noChangeArrowheads="1"/>
            </p:cNvSpPr>
            <p:nvPr/>
          </p:nvSpPr>
          <p:spPr bwMode="auto">
            <a:xfrm rot="16200000">
              <a:off x="11153306" y="4719891"/>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18" name="矩形 221"/>
            <p:cNvSpPr>
              <a:spLocks noChangeArrowheads="1"/>
            </p:cNvSpPr>
            <p:nvPr/>
          </p:nvSpPr>
          <p:spPr bwMode="auto">
            <a:xfrm rot="16200000">
              <a:off x="11063416" y="4629999"/>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19" name="矩形 241"/>
            <p:cNvSpPr>
              <a:spLocks noChangeArrowheads="1"/>
            </p:cNvSpPr>
            <p:nvPr/>
          </p:nvSpPr>
          <p:spPr bwMode="auto">
            <a:xfrm rot="16200000">
              <a:off x="9545008" y="4719892"/>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20" name="矩形 242"/>
            <p:cNvSpPr>
              <a:spLocks noChangeArrowheads="1"/>
            </p:cNvSpPr>
            <p:nvPr/>
          </p:nvSpPr>
          <p:spPr bwMode="auto">
            <a:xfrm rot="16200000">
              <a:off x="9455118" y="4630000"/>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cxnSp>
          <p:nvCxnSpPr>
            <p:cNvPr id="721" name="直线连接符 12"/>
            <p:cNvCxnSpPr/>
            <p:nvPr/>
          </p:nvCxnSpPr>
          <p:spPr bwMode="auto">
            <a:xfrm>
              <a:off x="1065476" y="3573463"/>
              <a:ext cx="0" cy="875301"/>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22" name="直线连接符 214"/>
            <p:cNvCxnSpPr/>
            <p:nvPr/>
          </p:nvCxnSpPr>
          <p:spPr bwMode="auto">
            <a:xfrm>
              <a:off x="1442247" y="4051923"/>
              <a:ext cx="0" cy="393923"/>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23" name="直线连接符 215"/>
            <p:cNvCxnSpPr/>
            <p:nvPr/>
          </p:nvCxnSpPr>
          <p:spPr bwMode="auto">
            <a:xfrm>
              <a:off x="1770764" y="4030546"/>
              <a:ext cx="0" cy="393923"/>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24" name="直线连接符 216"/>
            <p:cNvCxnSpPr/>
            <p:nvPr/>
          </p:nvCxnSpPr>
          <p:spPr bwMode="auto">
            <a:xfrm>
              <a:off x="2321885" y="3875057"/>
              <a:ext cx="0" cy="393923"/>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25" name="直线连接符 217"/>
            <p:cNvCxnSpPr/>
            <p:nvPr/>
          </p:nvCxnSpPr>
          <p:spPr bwMode="auto">
            <a:xfrm>
              <a:off x="2616666" y="3750078"/>
              <a:ext cx="0" cy="576743"/>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26" name="直线连接符 222"/>
            <p:cNvCxnSpPr/>
            <p:nvPr/>
          </p:nvCxnSpPr>
          <p:spPr bwMode="auto">
            <a:xfrm>
              <a:off x="2911447" y="3351515"/>
              <a:ext cx="0" cy="1123910"/>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27" name="直线连接符 229"/>
            <p:cNvCxnSpPr/>
            <p:nvPr/>
          </p:nvCxnSpPr>
          <p:spPr bwMode="auto">
            <a:xfrm>
              <a:off x="3372095" y="3343096"/>
              <a:ext cx="0" cy="1123910"/>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28" name="直线连接符 240"/>
            <p:cNvCxnSpPr/>
            <p:nvPr/>
          </p:nvCxnSpPr>
          <p:spPr bwMode="auto">
            <a:xfrm>
              <a:off x="3681954" y="4083336"/>
              <a:ext cx="0" cy="358112"/>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29" name="直线连接符 244"/>
            <p:cNvCxnSpPr/>
            <p:nvPr/>
          </p:nvCxnSpPr>
          <p:spPr bwMode="auto">
            <a:xfrm>
              <a:off x="3961656" y="3898677"/>
              <a:ext cx="0" cy="476647"/>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30" name="直线连接符 245"/>
            <p:cNvCxnSpPr/>
            <p:nvPr/>
          </p:nvCxnSpPr>
          <p:spPr bwMode="auto">
            <a:xfrm>
              <a:off x="4256437" y="3617287"/>
              <a:ext cx="0" cy="767645"/>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31" name="直线连接符 246"/>
            <p:cNvCxnSpPr/>
            <p:nvPr/>
          </p:nvCxnSpPr>
          <p:spPr bwMode="auto">
            <a:xfrm>
              <a:off x="4536139" y="3771286"/>
              <a:ext cx="0" cy="433315"/>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32" name="直线连接符 247"/>
            <p:cNvCxnSpPr/>
            <p:nvPr/>
          </p:nvCxnSpPr>
          <p:spPr bwMode="auto">
            <a:xfrm>
              <a:off x="4996788" y="3925285"/>
              <a:ext cx="0" cy="433315"/>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33" name="直线连接符 248"/>
            <p:cNvCxnSpPr/>
            <p:nvPr/>
          </p:nvCxnSpPr>
          <p:spPr bwMode="auto">
            <a:xfrm>
              <a:off x="5306647" y="4079284"/>
              <a:ext cx="0" cy="366562"/>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34" name="直线连接符 249"/>
            <p:cNvCxnSpPr/>
            <p:nvPr/>
          </p:nvCxnSpPr>
          <p:spPr bwMode="auto">
            <a:xfrm>
              <a:off x="5571270" y="3686483"/>
              <a:ext cx="0" cy="697859"/>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35" name="直线连接符 250"/>
            <p:cNvCxnSpPr/>
            <p:nvPr/>
          </p:nvCxnSpPr>
          <p:spPr bwMode="auto">
            <a:xfrm>
              <a:off x="5850972" y="3525206"/>
              <a:ext cx="0" cy="844410"/>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36" name="直线连接符 251"/>
            <p:cNvCxnSpPr/>
            <p:nvPr/>
          </p:nvCxnSpPr>
          <p:spPr bwMode="auto">
            <a:xfrm>
              <a:off x="6443560" y="4061230"/>
              <a:ext cx="0" cy="358112"/>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37" name="直线连接符 252"/>
            <p:cNvCxnSpPr/>
            <p:nvPr/>
          </p:nvCxnSpPr>
          <p:spPr bwMode="auto">
            <a:xfrm>
              <a:off x="6753420" y="3794638"/>
              <a:ext cx="0" cy="634417"/>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38" name="直线连接符 253"/>
            <p:cNvCxnSpPr/>
            <p:nvPr/>
          </p:nvCxnSpPr>
          <p:spPr bwMode="auto">
            <a:xfrm>
              <a:off x="7046316" y="3774934"/>
              <a:ext cx="0" cy="634417"/>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39" name="直线连接符 254"/>
            <p:cNvCxnSpPr/>
            <p:nvPr/>
          </p:nvCxnSpPr>
          <p:spPr bwMode="auto">
            <a:xfrm>
              <a:off x="7355233" y="3327597"/>
              <a:ext cx="0" cy="928851"/>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40" name="直线连接符 255"/>
            <p:cNvCxnSpPr/>
            <p:nvPr/>
          </p:nvCxnSpPr>
          <p:spPr bwMode="auto">
            <a:xfrm>
              <a:off x="7954419" y="3380132"/>
              <a:ext cx="0" cy="928851"/>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41" name="直线连接符 256"/>
            <p:cNvCxnSpPr/>
            <p:nvPr/>
          </p:nvCxnSpPr>
          <p:spPr bwMode="auto">
            <a:xfrm>
              <a:off x="8559258" y="3383899"/>
              <a:ext cx="0" cy="928851"/>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42" name="直线连接符 257"/>
            <p:cNvCxnSpPr/>
            <p:nvPr/>
          </p:nvCxnSpPr>
          <p:spPr bwMode="auto">
            <a:xfrm>
              <a:off x="8269734" y="3650895"/>
              <a:ext cx="0" cy="524312"/>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43" name="直线连接符 258"/>
            <p:cNvCxnSpPr/>
            <p:nvPr/>
          </p:nvCxnSpPr>
          <p:spPr bwMode="auto">
            <a:xfrm>
              <a:off x="9129029" y="3709198"/>
              <a:ext cx="0" cy="697859"/>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44" name="直线连接符 259"/>
            <p:cNvCxnSpPr/>
            <p:nvPr/>
          </p:nvCxnSpPr>
          <p:spPr bwMode="auto">
            <a:xfrm>
              <a:off x="9438889" y="3718733"/>
              <a:ext cx="0" cy="697859"/>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45" name="直线连接符 260"/>
            <p:cNvCxnSpPr/>
            <p:nvPr/>
          </p:nvCxnSpPr>
          <p:spPr bwMode="auto">
            <a:xfrm>
              <a:off x="9718591" y="3283594"/>
              <a:ext cx="0" cy="1123910"/>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46" name="直线连接符 261"/>
            <p:cNvCxnSpPr/>
            <p:nvPr/>
          </p:nvCxnSpPr>
          <p:spPr bwMode="auto">
            <a:xfrm>
              <a:off x="10013371" y="3287361"/>
              <a:ext cx="0" cy="928851"/>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47" name="直线连接符 262"/>
            <p:cNvCxnSpPr/>
            <p:nvPr/>
          </p:nvCxnSpPr>
          <p:spPr bwMode="auto">
            <a:xfrm>
              <a:off x="10443862" y="3956142"/>
              <a:ext cx="0" cy="476647"/>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48" name="直线连接符 263"/>
            <p:cNvCxnSpPr/>
            <p:nvPr/>
          </p:nvCxnSpPr>
          <p:spPr bwMode="auto">
            <a:xfrm>
              <a:off x="10753722" y="3794587"/>
              <a:ext cx="0" cy="576743"/>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49" name="直线连接符 264"/>
            <p:cNvCxnSpPr/>
            <p:nvPr/>
          </p:nvCxnSpPr>
          <p:spPr bwMode="auto">
            <a:xfrm>
              <a:off x="11033424" y="4090415"/>
              <a:ext cx="0" cy="295960"/>
            </a:xfrm>
            <a:prstGeom prst="line">
              <a:avLst/>
            </a:prstGeom>
            <a:solidFill>
              <a:schemeClr val="bg1"/>
            </a:solidFill>
            <a:ln w="9525" cap="flat" cmpd="sng" algn="ctr">
              <a:solidFill>
                <a:srgbClr val="C00000"/>
              </a:solidFill>
              <a:prstDash val="dash"/>
              <a:round/>
              <a:headEnd type="none" w="med" len="med"/>
              <a:tailEnd type="none" w="med" len="med"/>
            </a:ln>
          </p:spPr>
        </p:cxnSp>
        <p:cxnSp>
          <p:nvCxnSpPr>
            <p:cNvPr id="750" name="直线连接符 265"/>
            <p:cNvCxnSpPr/>
            <p:nvPr/>
          </p:nvCxnSpPr>
          <p:spPr bwMode="auto">
            <a:xfrm>
              <a:off x="11313126" y="3474715"/>
              <a:ext cx="0" cy="1021737"/>
            </a:xfrm>
            <a:prstGeom prst="line">
              <a:avLst/>
            </a:prstGeom>
            <a:solidFill>
              <a:schemeClr val="bg1"/>
            </a:solidFill>
            <a:ln w="9525" cap="flat" cmpd="sng" algn="ctr">
              <a:solidFill>
                <a:srgbClr val="C00000"/>
              </a:solidFill>
              <a:prstDash val="dash"/>
              <a:round/>
              <a:headEnd type="none" w="med" len="med"/>
              <a:tailEnd type="none" w="med" len="med"/>
            </a:ln>
          </p:spPr>
        </p:cxnSp>
        <p:sp>
          <p:nvSpPr>
            <p:cNvPr id="751" name="矩形 217"/>
            <p:cNvSpPr>
              <a:spLocks noChangeArrowheads="1"/>
            </p:cNvSpPr>
            <p:nvPr/>
          </p:nvSpPr>
          <p:spPr bwMode="auto">
            <a:xfrm rot="16200000">
              <a:off x="10595414" y="4712795"/>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52" name="矩形 218"/>
            <p:cNvSpPr>
              <a:spLocks noChangeArrowheads="1"/>
            </p:cNvSpPr>
            <p:nvPr/>
          </p:nvSpPr>
          <p:spPr bwMode="auto">
            <a:xfrm rot="16200000">
              <a:off x="10505525" y="4622903"/>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61" name="矩形 151"/>
            <p:cNvSpPr>
              <a:spLocks noChangeArrowheads="1"/>
            </p:cNvSpPr>
            <p:nvPr/>
          </p:nvSpPr>
          <p:spPr bwMode="auto">
            <a:xfrm rot="16200000">
              <a:off x="886273" y="4691126"/>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62" name="矩形 152"/>
            <p:cNvSpPr>
              <a:spLocks noChangeArrowheads="1"/>
            </p:cNvSpPr>
            <p:nvPr/>
          </p:nvSpPr>
          <p:spPr bwMode="auto">
            <a:xfrm rot="16200000">
              <a:off x="796384" y="4601234"/>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63" name="矩形 157"/>
            <p:cNvSpPr>
              <a:spLocks noChangeArrowheads="1"/>
            </p:cNvSpPr>
            <p:nvPr/>
          </p:nvSpPr>
          <p:spPr bwMode="auto">
            <a:xfrm rot="16200000">
              <a:off x="1585716" y="4691126"/>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64" name="矩形 158"/>
            <p:cNvSpPr>
              <a:spLocks noChangeArrowheads="1"/>
            </p:cNvSpPr>
            <p:nvPr/>
          </p:nvSpPr>
          <p:spPr bwMode="auto">
            <a:xfrm rot="16200000">
              <a:off x="1495826" y="4601234"/>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65" name="矩形 166"/>
            <p:cNvSpPr>
              <a:spLocks noChangeArrowheads="1"/>
            </p:cNvSpPr>
            <p:nvPr/>
          </p:nvSpPr>
          <p:spPr bwMode="auto">
            <a:xfrm rot="16200000">
              <a:off x="4834967" y="4689555"/>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66" name="矩形 167"/>
            <p:cNvSpPr>
              <a:spLocks noChangeArrowheads="1"/>
            </p:cNvSpPr>
            <p:nvPr/>
          </p:nvSpPr>
          <p:spPr bwMode="auto">
            <a:xfrm rot="16200000">
              <a:off x="4745077" y="4599663"/>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67" name="矩形 178"/>
            <p:cNvSpPr>
              <a:spLocks noChangeArrowheads="1"/>
            </p:cNvSpPr>
            <p:nvPr/>
          </p:nvSpPr>
          <p:spPr bwMode="auto">
            <a:xfrm rot="16200000">
              <a:off x="7791779" y="4687825"/>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68" name="矩形 179"/>
            <p:cNvSpPr>
              <a:spLocks noChangeArrowheads="1"/>
            </p:cNvSpPr>
            <p:nvPr/>
          </p:nvSpPr>
          <p:spPr bwMode="auto">
            <a:xfrm rot="16200000">
              <a:off x="7701889" y="4597933"/>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69" name="矩形 181"/>
            <p:cNvSpPr>
              <a:spLocks noChangeArrowheads="1"/>
            </p:cNvSpPr>
            <p:nvPr/>
          </p:nvSpPr>
          <p:spPr bwMode="auto">
            <a:xfrm rot="16200000">
              <a:off x="8092023" y="4687825"/>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70" name="矩形 182"/>
            <p:cNvSpPr>
              <a:spLocks noChangeArrowheads="1"/>
            </p:cNvSpPr>
            <p:nvPr/>
          </p:nvSpPr>
          <p:spPr bwMode="auto">
            <a:xfrm rot="16200000">
              <a:off x="8002133" y="4597933"/>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71" name="矩形 184"/>
            <p:cNvSpPr>
              <a:spLocks noChangeArrowheads="1"/>
            </p:cNvSpPr>
            <p:nvPr/>
          </p:nvSpPr>
          <p:spPr bwMode="auto">
            <a:xfrm rot="16200000">
              <a:off x="8406403" y="4687825"/>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72" name="矩形 185"/>
            <p:cNvSpPr>
              <a:spLocks noChangeArrowheads="1"/>
            </p:cNvSpPr>
            <p:nvPr/>
          </p:nvSpPr>
          <p:spPr bwMode="auto">
            <a:xfrm rot="16200000">
              <a:off x="8316513" y="4597933"/>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73" name="矩形 211"/>
            <p:cNvSpPr>
              <a:spLocks noChangeArrowheads="1"/>
            </p:cNvSpPr>
            <p:nvPr/>
          </p:nvSpPr>
          <p:spPr bwMode="auto">
            <a:xfrm rot="16200000">
              <a:off x="9233966" y="4711302"/>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74" name="矩形 212"/>
            <p:cNvSpPr>
              <a:spLocks noChangeArrowheads="1"/>
            </p:cNvSpPr>
            <p:nvPr/>
          </p:nvSpPr>
          <p:spPr bwMode="auto">
            <a:xfrm rot="16200000">
              <a:off x="9054184" y="4531518"/>
              <a:ext cx="719136"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75" name="矩形 241"/>
            <p:cNvSpPr>
              <a:spLocks noChangeArrowheads="1"/>
            </p:cNvSpPr>
            <p:nvPr/>
          </p:nvSpPr>
          <p:spPr bwMode="auto">
            <a:xfrm rot="16200000">
              <a:off x="9850628" y="4709664"/>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76" name="矩形 242"/>
            <p:cNvSpPr>
              <a:spLocks noChangeArrowheads="1"/>
            </p:cNvSpPr>
            <p:nvPr/>
          </p:nvSpPr>
          <p:spPr bwMode="auto">
            <a:xfrm rot="16200000">
              <a:off x="9760738" y="4619772"/>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77" name="矩形 138"/>
            <p:cNvSpPr>
              <a:spLocks noChangeArrowheads="1"/>
            </p:cNvSpPr>
            <p:nvPr/>
          </p:nvSpPr>
          <p:spPr bwMode="auto">
            <a:xfrm rot="16200000">
              <a:off x="5684262" y="4689516"/>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78" name="矩形 139"/>
            <p:cNvSpPr>
              <a:spLocks noChangeArrowheads="1"/>
            </p:cNvSpPr>
            <p:nvPr/>
          </p:nvSpPr>
          <p:spPr bwMode="auto">
            <a:xfrm rot="16200000">
              <a:off x="5504481" y="4509732"/>
              <a:ext cx="719136"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79" name="矩形 160"/>
            <p:cNvSpPr>
              <a:spLocks noChangeArrowheads="1"/>
            </p:cNvSpPr>
            <p:nvPr/>
          </p:nvSpPr>
          <p:spPr bwMode="auto">
            <a:xfrm rot="16200000">
              <a:off x="5214835" y="4777863"/>
              <a:ext cx="179784"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80" name="矩形 161"/>
            <p:cNvSpPr>
              <a:spLocks noChangeArrowheads="1"/>
            </p:cNvSpPr>
            <p:nvPr/>
          </p:nvSpPr>
          <p:spPr bwMode="auto">
            <a:xfrm rot="16200000">
              <a:off x="4945161" y="4508187"/>
              <a:ext cx="719136"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81" name="矩形 160"/>
            <p:cNvSpPr>
              <a:spLocks noChangeArrowheads="1"/>
            </p:cNvSpPr>
            <p:nvPr/>
          </p:nvSpPr>
          <p:spPr bwMode="auto">
            <a:xfrm rot="16200000">
              <a:off x="3889516" y="4780803"/>
              <a:ext cx="179784"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82" name="矩形 161"/>
            <p:cNvSpPr>
              <a:spLocks noChangeArrowheads="1"/>
            </p:cNvSpPr>
            <p:nvPr/>
          </p:nvSpPr>
          <p:spPr bwMode="auto">
            <a:xfrm rot="16200000">
              <a:off x="3619842" y="4511127"/>
              <a:ext cx="719136"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83" name="矩形 157"/>
            <p:cNvSpPr>
              <a:spLocks noChangeArrowheads="1"/>
            </p:cNvSpPr>
            <p:nvPr/>
          </p:nvSpPr>
          <p:spPr bwMode="auto">
            <a:xfrm rot="16200000">
              <a:off x="4385658" y="4691565"/>
              <a:ext cx="359568"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84" name="矩形 158"/>
            <p:cNvSpPr>
              <a:spLocks noChangeArrowheads="1"/>
            </p:cNvSpPr>
            <p:nvPr/>
          </p:nvSpPr>
          <p:spPr bwMode="auto">
            <a:xfrm rot="16200000">
              <a:off x="4295769" y="4601673"/>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85" name="矩形 148"/>
            <p:cNvSpPr>
              <a:spLocks noChangeArrowheads="1"/>
            </p:cNvSpPr>
            <p:nvPr/>
          </p:nvSpPr>
          <p:spPr bwMode="auto">
            <a:xfrm rot="16200000">
              <a:off x="2210250" y="4745729"/>
              <a:ext cx="223264" cy="222602"/>
            </a:xfrm>
            <a:prstGeom prst="rect">
              <a:avLst/>
            </a:prstGeom>
            <a:solidFill>
              <a:srgbClr val="C00000"/>
            </a:solidFill>
            <a:ln w="9525" algn="ctr">
              <a:solidFill>
                <a:srgbClr val="C00000"/>
              </a:solidFill>
              <a:round/>
            </a:ln>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sp>
          <p:nvSpPr>
            <p:cNvPr id="786" name="矩形 149"/>
            <p:cNvSpPr>
              <a:spLocks noChangeArrowheads="1"/>
            </p:cNvSpPr>
            <p:nvPr/>
          </p:nvSpPr>
          <p:spPr bwMode="auto">
            <a:xfrm rot="16200000">
              <a:off x="2052209" y="4598687"/>
              <a:ext cx="539352" cy="222602"/>
            </a:xfrm>
            <a:prstGeom prst="rect">
              <a:avLst/>
            </a:prstGeom>
            <a:noFill/>
            <a:ln w="9525" algn="ctr">
              <a:solidFill>
                <a:srgbClr val="C00000"/>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a:endParaRPr lang="zh-CN" alt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3269022" y="5243283"/>
            <a:ext cx="184731" cy="292388"/>
          </a:xfrm>
          <a:prstGeom prst="rect">
            <a:avLst/>
          </a:prstGeom>
          <a:solidFill>
            <a:srgbClr val="EEF7FD"/>
          </a:solidFill>
        </p:spPr>
        <p:txBody>
          <a:bodyPr wrap="none" rtlCol="0" anchor="ctr">
            <a:spAutoFit/>
          </a:bodyPr>
          <a:lstStyle/>
          <a:p>
            <a:pPr algn="ctr"/>
            <a:endParaRPr kumimoji="1" lang="zh-CN" altLang="en-US" dirty="0">
              <a:solidFill>
                <a:schemeClr val="bg1"/>
              </a:solidFill>
              <a:latin typeface="+mn-lt"/>
              <a:ea typeface="+mn-ea"/>
              <a:cs typeface="+mn-ea"/>
              <a:sym typeface="+mn-lt"/>
            </a:endParaRPr>
          </a:p>
        </p:txBody>
      </p:sp>
      <p:sp>
        <p:nvSpPr>
          <p:cNvPr id="8" name="矩形 7"/>
          <p:cNvSpPr/>
          <p:nvPr/>
        </p:nvSpPr>
        <p:spPr>
          <a:xfrm>
            <a:off x="3269022" y="2785898"/>
            <a:ext cx="184731" cy="292388"/>
          </a:xfrm>
          <a:prstGeom prst="rect">
            <a:avLst/>
          </a:prstGeom>
          <a:solidFill>
            <a:srgbClr val="EEF7FD"/>
          </a:solidFill>
        </p:spPr>
        <p:txBody>
          <a:bodyPr wrap="none" rtlCol="0" anchor="ctr">
            <a:spAutoFit/>
          </a:bodyPr>
          <a:lstStyle/>
          <a:p>
            <a:pPr algn="ctr"/>
            <a:endParaRPr kumimoji="1" lang="zh-CN" altLang="en-US" dirty="0">
              <a:solidFill>
                <a:schemeClr val="bg1"/>
              </a:solidFill>
              <a:latin typeface="+mn-lt"/>
              <a:ea typeface="+mn-ea"/>
              <a:cs typeface="+mn-ea"/>
              <a:sym typeface="+mn-lt"/>
            </a:endParaRPr>
          </a:p>
        </p:txBody>
      </p:sp>
      <p:sp>
        <p:nvSpPr>
          <p:cNvPr id="9" name="标题 1"/>
          <p:cNvSpPr txBox="1"/>
          <p:nvPr/>
        </p:nvSpPr>
        <p:spPr>
          <a:xfrm>
            <a:off x="664897" y="287764"/>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en-US" altLang="zh-CN" dirty="0">
                <a:latin typeface="+mn-lt"/>
                <a:ea typeface="+mn-ea"/>
                <a:cs typeface="+mn-ea"/>
                <a:sym typeface="+mn-lt"/>
              </a:rPr>
              <a:t>T</a:t>
            </a:r>
            <a:r>
              <a:rPr lang="zh-CN" altLang="en-US" dirty="0">
                <a:latin typeface="+mn-lt"/>
                <a:ea typeface="+mn-ea"/>
                <a:cs typeface="+mn-ea"/>
                <a:sym typeface="+mn-lt"/>
              </a:rPr>
              <a:t> 挑战</a:t>
            </a:r>
            <a:r>
              <a:rPr lang="en-US" altLang="zh-CN" dirty="0">
                <a:latin typeface="+mn-lt"/>
                <a:ea typeface="+mn-ea"/>
                <a:cs typeface="+mn-ea"/>
                <a:sym typeface="+mn-lt"/>
              </a:rPr>
              <a:t>3-</a:t>
            </a:r>
            <a:r>
              <a:rPr lang="zh-CN" altLang="zh-CN" dirty="0"/>
              <a:t>高学历、国际化的员工队伍特点对教育培训方法手段的升级提出更高要求</a:t>
            </a:r>
            <a:endParaRPr lang="zh-CN" altLang="zh-CN" dirty="0"/>
          </a:p>
        </p:txBody>
      </p:sp>
      <p:sp>
        <p:nvSpPr>
          <p:cNvPr id="18" name="标题 2"/>
          <p:cNvSpPr>
            <a:spLocks noGrp="1"/>
          </p:cNvSpPr>
          <p:nvPr>
            <p:ph type="title"/>
          </p:nvPr>
        </p:nvSpPr>
        <p:spPr>
          <a:xfrm>
            <a:off x="787400" y="903433"/>
            <a:ext cx="10940312" cy="685522"/>
          </a:xfrm>
        </p:spPr>
        <p:txBody>
          <a:bodyPr>
            <a:noAutofit/>
          </a:bodyPr>
          <a:lstStyle/>
          <a:p>
            <a:r>
              <a:rPr kumimoji="1" lang="zh-CN" altLang="en-US" sz="1800" dirty="0">
                <a:latin typeface="+mn-lt"/>
                <a:ea typeface="+mn-ea"/>
                <a:cs typeface="+mn-ea"/>
                <a:sym typeface="+mn-lt"/>
              </a:rPr>
              <a:t>中银员工队伍总体目前本科以上学历占比超过</a:t>
            </a:r>
            <a:r>
              <a:rPr kumimoji="1" lang="en-US" altLang="zh-CN" sz="1800" dirty="0">
                <a:latin typeface="+mn-lt"/>
                <a:ea typeface="+mn-ea"/>
                <a:cs typeface="+mn-ea"/>
                <a:sym typeface="+mn-lt"/>
              </a:rPr>
              <a:t>3/4</a:t>
            </a:r>
            <a:r>
              <a:rPr kumimoji="1" lang="zh-CN" altLang="en-US" sz="1800" dirty="0">
                <a:latin typeface="+mn-lt"/>
                <a:ea typeface="+mn-ea"/>
                <a:cs typeface="+mn-ea"/>
                <a:sym typeface="+mn-lt"/>
              </a:rPr>
              <a:t>，国际化业务和人员占比逐年提升，国际化员工年轻化和高学历特点明显。这是业务发展的特点和优势，同时对培训工作更好的适配这一特点提出更高的要求。</a:t>
            </a:r>
            <a:endParaRPr kumimoji="1" lang="zh-CN" altLang="en-US" sz="1800" dirty="0">
              <a:latin typeface="+mn-lt"/>
              <a:ea typeface="+mn-ea"/>
              <a:cs typeface="+mn-ea"/>
              <a:sym typeface="+mn-lt"/>
            </a:endParaRPr>
          </a:p>
        </p:txBody>
      </p:sp>
      <p:pic>
        <p:nvPicPr>
          <p:cNvPr id="20" name="图片 19"/>
          <p:cNvPicPr>
            <a:picLocks noChangeAspect="1"/>
          </p:cNvPicPr>
          <p:nvPr/>
        </p:nvPicPr>
        <p:blipFill>
          <a:blip r:embed="rId1" cstate="print"/>
          <a:stretch>
            <a:fillRect/>
          </a:stretch>
        </p:blipFill>
        <p:spPr>
          <a:xfrm>
            <a:off x="795563" y="2094845"/>
            <a:ext cx="4063844" cy="3148437"/>
          </a:xfrm>
          <a:prstGeom prst="rect">
            <a:avLst/>
          </a:prstGeom>
        </p:spPr>
      </p:pic>
      <p:sp>
        <p:nvSpPr>
          <p:cNvPr id="21" name="矩形 20"/>
          <p:cNvSpPr/>
          <p:nvPr/>
        </p:nvSpPr>
        <p:spPr>
          <a:xfrm>
            <a:off x="1004042" y="5546939"/>
            <a:ext cx="10120930" cy="461665"/>
          </a:xfrm>
          <a:prstGeom prst="rect">
            <a:avLst/>
          </a:prstGeom>
        </p:spPr>
        <p:txBody>
          <a:bodyPr wrap="square">
            <a:spAutoFit/>
          </a:bodyPr>
          <a:lstStyle/>
          <a:p>
            <a:r>
              <a:rPr lang="en-US" altLang="zh-CN" sz="1200" b="0" dirty="0">
                <a:solidFill>
                  <a:srgbClr val="1B1615"/>
                </a:solidFill>
                <a:latin typeface="华文中宋" panose="02010600040101010101" pitchFamily="2" charset="-122"/>
                <a:ea typeface="华文中宋" panose="02010600040101010101" pitchFamily="2" charset="-122"/>
                <a:cs typeface="+mn-ea"/>
                <a:sym typeface="+mn-lt"/>
              </a:rPr>
              <a:t>2019</a:t>
            </a:r>
            <a:r>
              <a:rPr lang="zh-CN" altLang="en-US" sz="1200" b="0" dirty="0">
                <a:solidFill>
                  <a:srgbClr val="1B1615"/>
                </a:solidFill>
                <a:latin typeface="华文中宋" panose="02010600040101010101" pitchFamily="2" charset="-122"/>
                <a:ea typeface="华文中宋" panose="02010600040101010101" pitchFamily="2" charset="-122"/>
                <a:cs typeface="+mn-ea"/>
                <a:sym typeface="+mn-lt"/>
              </a:rPr>
              <a:t>年末，本行共有员工</a:t>
            </a:r>
            <a:r>
              <a:rPr lang="en-US" altLang="zh-CN" sz="1200" b="0" dirty="0">
                <a:solidFill>
                  <a:srgbClr val="1B1615"/>
                </a:solidFill>
                <a:latin typeface="华文中宋" panose="02010600040101010101" pitchFamily="2" charset="-122"/>
                <a:ea typeface="华文中宋" panose="02010600040101010101" pitchFamily="2" charset="-122"/>
                <a:cs typeface="+mn-ea"/>
                <a:sym typeface="+mn-lt"/>
              </a:rPr>
              <a:t>309,384</a:t>
            </a:r>
            <a:r>
              <a:rPr lang="zh-CN" altLang="en-US" sz="1200" b="0" dirty="0">
                <a:solidFill>
                  <a:srgbClr val="1B1615"/>
                </a:solidFill>
                <a:latin typeface="华文中宋" panose="02010600040101010101" pitchFamily="2" charset="-122"/>
                <a:ea typeface="华文中宋" panose="02010600040101010101" pitchFamily="2" charset="-122"/>
                <a:cs typeface="+mn-ea"/>
                <a:sym typeface="+mn-lt"/>
              </a:rPr>
              <a:t>人。中国內地机构员工</a:t>
            </a:r>
            <a:r>
              <a:rPr lang="en-US" altLang="zh-CN" sz="1200" b="0" dirty="0">
                <a:solidFill>
                  <a:srgbClr val="1B1615"/>
                </a:solidFill>
                <a:latin typeface="华文中宋" panose="02010600040101010101" pitchFamily="2" charset="-122"/>
                <a:ea typeface="华文中宋" panose="02010600040101010101" pitchFamily="2" charset="-122"/>
                <a:cs typeface="+mn-ea"/>
                <a:sym typeface="+mn-lt"/>
              </a:rPr>
              <a:t>284,044</a:t>
            </a:r>
            <a:r>
              <a:rPr lang="zh-CN" altLang="en-US" sz="1200" b="0" dirty="0">
                <a:solidFill>
                  <a:srgbClr val="1B1615"/>
                </a:solidFill>
                <a:latin typeface="华文中宋" panose="02010600040101010101" pitchFamily="2" charset="-122"/>
                <a:ea typeface="华文中宋" panose="02010600040101010101" pitchFamily="2" charset="-122"/>
                <a:cs typeface="+mn-ea"/>
                <a:sym typeface="+mn-lt"/>
              </a:rPr>
              <a:t>人，其中中国內地商业银行机构员工 </a:t>
            </a:r>
            <a:r>
              <a:rPr lang="en-US" altLang="zh-CN" sz="1200" b="0" dirty="0">
                <a:solidFill>
                  <a:srgbClr val="1B1615"/>
                </a:solidFill>
                <a:latin typeface="华文中宋" panose="02010600040101010101" pitchFamily="2" charset="-122"/>
                <a:ea typeface="华文中宋" panose="02010600040101010101" pitchFamily="2" charset="-122"/>
                <a:cs typeface="+mn-ea"/>
                <a:sym typeface="+mn-lt"/>
              </a:rPr>
              <a:t>271,939</a:t>
            </a:r>
            <a:r>
              <a:rPr lang="zh-CN" altLang="en-US" sz="1200" b="0" dirty="0">
                <a:solidFill>
                  <a:srgbClr val="1B1615"/>
                </a:solidFill>
                <a:latin typeface="华文中宋" panose="02010600040101010101" pitchFamily="2" charset="-122"/>
                <a:ea typeface="华文中宋" panose="02010600040101010101" pitchFamily="2" charset="-122"/>
                <a:cs typeface="+mn-ea"/>
                <a:sym typeface="+mn-lt"/>
              </a:rPr>
              <a:t>人</a:t>
            </a:r>
            <a:r>
              <a:rPr lang="en-US" altLang="zh-CN" sz="1200" b="0" dirty="0">
                <a:solidFill>
                  <a:srgbClr val="1B1615"/>
                </a:solidFill>
                <a:latin typeface="华文中宋" panose="02010600040101010101" pitchFamily="2" charset="-122"/>
                <a:ea typeface="华文中宋" panose="02010600040101010101" pitchFamily="2" charset="-122"/>
                <a:cs typeface="+mn-ea"/>
                <a:sym typeface="+mn-lt"/>
              </a:rPr>
              <a:t>;</a:t>
            </a:r>
            <a:r>
              <a:rPr lang="zh-CN" altLang="en-US" sz="1200" b="0" dirty="0">
                <a:solidFill>
                  <a:srgbClr val="1B1615"/>
                </a:solidFill>
                <a:latin typeface="华文中宋" panose="02010600040101010101" pitchFamily="2" charset="-122"/>
                <a:ea typeface="华文中宋" panose="02010600040101010101" pitchFamily="2" charset="-122"/>
                <a:cs typeface="+mn-ea"/>
                <a:sym typeface="+mn-lt"/>
              </a:rPr>
              <a:t>香港澳门台湾地区及其他国家机构员工</a:t>
            </a:r>
            <a:r>
              <a:rPr lang="en-US" altLang="zh-CN" sz="1200" b="0" dirty="0">
                <a:solidFill>
                  <a:srgbClr val="1B1615"/>
                </a:solidFill>
                <a:latin typeface="华文中宋" panose="02010600040101010101" pitchFamily="2" charset="-122"/>
                <a:ea typeface="华文中宋" panose="02010600040101010101" pitchFamily="2" charset="-122"/>
                <a:cs typeface="+mn-ea"/>
                <a:sym typeface="+mn-lt"/>
              </a:rPr>
              <a:t>25,340</a:t>
            </a:r>
            <a:r>
              <a:rPr lang="zh-CN" altLang="en-US" sz="1200" b="0" dirty="0">
                <a:solidFill>
                  <a:srgbClr val="1B1615"/>
                </a:solidFill>
                <a:latin typeface="华文中宋" panose="02010600040101010101" pitchFamily="2" charset="-122"/>
                <a:ea typeface="华文中宋" panose="02010600040101010101" pitchFamily="2" charset="-122"/>
                <a:cs typeface="+mn-ea"/>
                <a:sym typeface="+mn-lt"/>
              </a:rPr>
              <a:t>人，外籍（含港澳台）员工占比</a:t>
            </a:r>
            <a:r>
              <a:rPr lang="en-US" altLang="zh-CN" sz="1200" b="0" dirty="0">
                <a:solidFill>
                  <a:srgbClr val="1B1615"/>
                </a:solidFill>
                <a:latin typeface="华文中宋" panose="02010600040101010101" pitchFamily="2" charset="-122"/>
                <a:ea typeface="华文中宋" panose="02010600040101010101" pitchFamily="2" charset="-122"/>
                <a:cs typeface="+mn-ea"/>
                <a:sym typeface="+mn-lt"/>
              </a:rPr>
              <a:t>8.2%</a:t>
            </a:r>
            <a:r>
              <a:rPr lang="zh-CN" altLang="en-US" sz="1200" b="0" dirty="0">
                <a:solidFill>
                  <a:srgbClr val="1B1615"/>
                </a:solidFill>
                <a:latin typeface="华文中宋" panose="02010600040101010101" pitchFamily="2" charset="-122"/>
                <a:ea typeface="华文中宋" panose="02010600040101010101" pitchFamily="2" charset="-122"/>
                <a:cs typeface="+mn-ea"/>
                <a:sym typeface="+mn-lt"/>
              </a:rPr>
              <a:t>。</a:t>
            </a:r>
            <a:endParaRPr lang="zh-CN" altLang="en-US" sz="1200" b="0" dirty="0">
              <a:solidFill>
                <a:srgbClr val="1B1615"/>
              </a:solidFill>
              <a:effectLst/>
              <a:latin typeface="华文中宋" panose="02010600040101010101" pitchFamily="2" charset="-122"/>
              <a:ea typeface="华文中宋" panose="02010600040101010101" pitchFamily="2" charset="-122"/>
              <a:cs typeface="+mn-ea"/>
              <a:sym typeface="+mn-lt"/>
            </a:endParaRPr>
          </a:p>
        </p:txBody>
      </p:sp>
      <p:grpSp>
        <p:nvGrpSpPr>
          <p:cNvPr id="30" name="组合 29"/>
          <p:cNvGrpSpPr/>
          <p:nvPr/>
        </p:nvGrpSpPr>
        <p:grpSpPr>
          <a:xfrm>
            <a:off x="5729967" y="2120588"/>
            <a:ext cx="5445806" cy="2901788"/>
            <a:chOff x="6020304" y="3891160"/>
            <a:chExt cx="5445806" cy="1980034"/>
          </a:xfrm>
        </p:grpSpPr>
        <p:sp>
          <p:nvSpPr>
            <p:cNvPr id="25" name="任意形状 11"/>
            <p:cNvSpPr/>
            <p:nvPr/>
          </p:nvSpPr>
          <p:spPr>
            <a:xfrm>
              <a:off x="6020304" y="3891160"/>
              <a:ext cx="5445806" cy="896558"/>
            </a:xfrm>
            <a:custGeom>
              <a:avLst/>
              <a:gdLst>
                <a:gd name="connsiteX0" fmla="*/ 0 w 2031503"/>
                <a:gd name="connsiteY0" fmla="*/ 169295 h 1015751"/>
                <a:gd name="connsiteX1" fmla="*/ 169295 w 2031503"/>
                <a:gd name="connsiteY1" fmla="*/ 0 h 1015751"/>
                <a:gd name="connsiteX2" fmla="*/ 1862208 w 2031503"/>
                <a:gd name="connsiteY2" fmla="*/ 0 h 1015751"/>
                <a:gd name="connsiteX3" fmla="*/ 2031503 w 2031503"/>
                <a:gd name="connsiteY3" fmla="*/ 169295 h 1015751"/>
                <a:gd name="connsiteX4" fmla="*/ 2031503 w 2031503"/>
                <a:gd name="connsiteY4" fmla="*/ 846456 h 1015751"/>
                <a:gd name="connsiteX5" fmla="*/ 1862208 w 2031503"/>
                <a:gd name="connsiteY5" fmla="*/ 1015751 h 1015751"/>
                <a:gd name="connsiteX6" fmla="*/ 169295 w 2031503"/>
                <a:gd name="connsiteY6" fmla="*/ 1015751 h 1015751"/>
                <a:gd name="connsiteX7" fmla="*/ 0 w 2031503"/>
                <a:gd name="connsiteY7" fmla="*/ 846456 h 1015751"/>
                <a:gd name="connsiteX8" fmla="*/ 0 w 2031503"/>
                <a:gd name="connsiteY8" fmla="*/ 169295 h 101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503" h="1015751">
                  <a:moveTo>
                    <a:pt x="0" y="169295"/>
                  </a:moveTo>
                  <a:cubicBezTo>
                    <a:pt x="0" y="75796"/>
                    <a:pt x="75796" y="0"/>
                    <a:pt x="169295" y="0"/>
                  </a:cubicBezTo>
                  <a:lnTo>
                    <a:pt x="1862208" y="0"/>
                  </a:lnTo>
                  <a:cubicBezTo>
                    <a:pt x="1955707" y="0"/>
                    <a:pt x="2031503" y="75796"/>
                    <a:pt x="2031503" y="169295"/>
                  </a:cubicBezTo>
                  <a:lnTo>
                    <a:pt x="2031503" y="846456"/>
                  </a:lnTo>
                  <a:cubicBezTo>
                    <a:pt x="2031503" y="939955"/>
                    <a:pt x="1955707" y="1015751"/>
                    <a:pt x="1862208" y="1015751"/>
                  </a:cubicBezTo>
                  <a:lnTo>
                    <a:pt x="169295" y="1015751"/>
                  </a:lnTo>
                  <a:cubicBezTo>
                    <a:pt x="75796" y="1015751"/>
                    <a:pt x="0" y="939955"/>
                    <a:pt x="0" y="846456"/>
                  </a:cubicBezTo>
                  <a:lnTo>
                    <a:pt x="0" y="169295"/>
                  </a:lnTo>
                  <a:close/>
                </a:path>
              </a:pathLst>
            </a:custGeom>
            <a:ln>
              <a:solidFill>
                <a:srgbClr val="C0000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1505" tIns="171505" rIns="171505" bIns="171505" numCol="1" spcCol="1270" anchor="ctr" anchorCtr="0">
              <a:noAutofit/>
            </a:bodyPr>
            <a:lstStyle/>
            <a:p>
              <a:pPr marL="0" lvl="0" indent="0" algn="ctr" defTabSz="1422400" rtl="0">
                <a:lnSpc>
                  <a:spcPct val="90000"/>
                </a:lnSpc>
                <a:spcBef>
                  <a:spcPct val="0"/>
                </a:spcBef>
                <a:spcAft>
                  <a:spcPct val="35000"/>
                </a:spcAft>
                <a:buNone/>
              </a:pPr>
              <a:endParaRPr lang="zh-CN" altLang="en-US" sz="3200" kern="1200">
                <a:cs typeface="+mn-ea"/>
                <a:sym typeface="+mn-lt"/>
              </a:endParaRPr>
            </a:p>
          </p:txBody>
        </p:sp>
        <p:sp>
          <p:nvSpPr>
            <p:cNvPr id="26" name="文本框 25"/>
            <p:cNvSpPr txBox="1"/>
            <p:nvPr/>
          </p:nvSpPr>
          <p:spPr>
            <a:xfrm>
              <a:off x="6051550" y="3936505"/>
              <a:ext cx="5363759" cy="651035"/>
            </a:xfrm>
            <a:prstGeom prst="rect">
              <a:avLst/>
            </a:prstGeom>
            <a:noFill/>
          </p:spPr>
          <p:txBody>
            <a:bodyPr wrap="square" rtlCol="0">
              <a:spAutoFit/>
            </a:bodyPr>
            <a:lstStyle/>
            <a:p>
              <a:r>
                <a:rPr kumimoji="1" lang="zh-CN" altLang="en-US" sz="1400" dirty="0">
                  <a:latin typeface="+mn-lt"/>
                  <a:ea typeface="+mn-ea"/>
                  <a:cs typeface="+mn-ea"/>
                  <a:sym typeface="+mn-lt"/>
                </a:rPr>
                <a:t>高学历员工占比高：</a:t>
              </a:r>
              <a:endParaRPr kumimoji="1" lang="en-US" altLang="zh-CN" sz="1400" dirty="0">
                <a:latin typeface="+mn-lt"/>
                <a:ea typeface="+mn-ea"/>
                <a:cs typeface="+mn-ea"/>
                <a:sym typeface="+mn-lt"/>
              </a:endParaRPr>
            </a:p>
            <a:p>
              <a:r>
                <a:rPr kumimoji="1" lang="zh-CN" altLang="en-US" sz="1400" b="0" dirty="0">
                  <a:latin typeface="+mn-lt"/>
                  <a:ea typeface="+mn-ea"/>
                  <a:cs typeface="+mn-ea"/>
                  <a:sym typeface="+mn-lt"/>
                </a:rPr>
                <a:t>高学历知识型员工对教育培训的内容针对性有效性，特别是培训形式提出很高的要求，匹配当前移动互联网的发展，如何引进学习技术，革新学习方法需要更多的思考和创新。</a:t>
              </a:r>
              <a:endParaRPr kumimoji="1" lang="zh-CN" altLang="en-US" sz="1400" b="0" dirty="0">
                <a:latin typeface="+mn-lt"/>
                <a:ea typeface="+mn-ea"/>
                <a:cs typeface="+mn-ea"/>
                <a:sym typeface="+mn-lt"/>
              </a:endParaRPr>
            </a:p>
          </p:txBody>
        </p:sp>
        <p:sp>
          <p:nvSpPr>
            <p:cNvPr id="27" name="任意形状 13"/>
            <p:cNvSpPr/>
            <p:nvPr/>
          </p:nvSpPr>
          <p:spPr>
            <a:xfrm>
              <a:off x="6020304" y="4974636"/>
              <a:ext cx="5445806" cy="896558"/>
            </a:xfrm>
            <a:custGeom>
              <a:avLst/>
              <a:gdLst>
                <a:gd name="connsiteX0" fmla="*/ 0 w 2031503"/>
                <a:gd name="connsiteY0" fmla="*/ 169295 h 1015751"/>
                <a:gd name="connsiteX1" fmla="*/ 169295 w 2031503"/>
                <a:gd name="connsiteY1" fmla="*/ 0 h 1015751"/>
                <a:gd name="connsiteX2" fmla="*/ 1862208 w 2031503"/>
                <a:gd name="connsiteY2" fmla="*/ 0 h 1015751"/>
                <a:gd name="connsiteX3" fmla="*/ 2031503 w 2031503"/>
                <a:gd name="connsiteY3" fmla="*/ 169295 h 1015751"/>
                <a:gd name="connsiteX4" fmla="*/ 2031503 w 2031503"/>
                <a:gd name="connsiteY4" fmla="*/ 846456 h 1015751"/>
                <a:gd name="connsiteX5" fmla="*/ 1862208 w 2031503"/>
                <a:gd name="connsiteY5" fmla="*/ 1015751 h 1015751"/>
                <a:gd name="connsiteX6" fmla="*/ 169295 w 2031503"/>
                <a:gd name="connsiteY6" fmla="*/ 1015751 h 1015751"/>
                <a:gd name="connsiteX7" fmla="*/ 0 w 2031503"/>
                <a:gd name="connsiteY7" fmla="*/ 846456 h 1015751"/>
                <a:gd name="connsiteX8" fmla="*/ 0 w 2031503"/>
                <a:gd name="connsiteY8" fmla="*/ 169295 h 101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503" h="1015751">
                  <a:moveTo>
                    <a:pt x="0" y="169295"/>
                  </a:moveTo>
                  <a:cubicBezTo>
                    <a:pt x="0" y="75796"/>
                    <a:pt x="75796" y="0"/>
                    <a:pt x="169295" y="0"/>
                  </a:cubicBezTo>
                  <a:lnTo>
                    <a:pt x="1862208" y="0"/>
                  </a:lnTo>
                  <a:cubicBezTo>
                    <a:pt x="1955707" y="0"/>
                    <a:pt x="2031503" y="75796"/>
                    <a:pt x="2031503" y="169295"/>
                  </a:cubicBezTo>
                  <a:lnTo>
                    <a:pt x="2031503" y="846456"/>
                  </a:lnTo>
                  <a:cubicBezTo>
                    <a:pt x="2031503" y="939955"/>
                    <a:pt x="1955707" y="1015751"/>
                    <a:pt x="1862208" y="1015751"/>
                  </a:cubicBezTo>
                  <a:lnTo>
                    <a:pt x="169295" y="1015751"/>
                  </a:lnTo>
                  <a:cubicBezTo>
                    <a:pt x="75796" y="1015751"/>
                    <a:pt x="0" y="939955"/>
                    <a:pt x="0" y="846456"/>
                  </a:cubicBezTo>
                  <a:lnTo>
                    <a:pt x="0" y="169295"/>
                  </a:lnTo>
                  <a:close/>
                </a:path>
              </a:pathLst>
            </a:custGeom>
            <a:ln>
              <a:solidFill>
                <a:srgbClr val="C0000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1505" tIns="171505" rIns="171505" bIns="171505" numCol="1" spcCol="1270" anchor="ctr" anchorCtr="0">
              <a:noAutofit/>
            </a:bodyPr>
            <a:lstStyle/>
            <a:p>
              <a:pPr marL="0" lvl="0" indent="0" algn="ctr" defTabSz="1422400" rtl="0">
                <a:lnSpc>
                  <a:spcPct val="90000"/>
                </a:lnSpc>
                <a:spcBef>
                  <a:spcPct val="0"/>
                </a:spcBef>
                <a:spcAft>
                  <a:spcPct val="35000"/>
                </a:spcAft>
                <a:buNone/>
              </a:pPr>
              <a:endParaRPr lang="zh-CN" altLang="en-US" sz="3200" kern="1200">
                <a:cs typeface="+mn-ea"/>
                <a:sym typeface="+mn-lt"/>
              </a:endParaRPr>
            </a:p>
          </p:txBody>
        </p:sp>
        <p:sp>
          <p:nvSpPr>
            <p:cNvPr id="28" name="文本框 27"/>
            <p:cNvSpPr txBox="1"/>
            <p:nvPr/>
          </p:nvSpPr>
          <p:spPr>
            <a:xfrm>
              <a:off x="6051550" y="5023893"/>
              <a:ext cx="5414559" cy="798043"/>
            </a:xfrm>
            <a:prstGeom prst="rect">
              <a:avLst/>
            </a:prstGeom>
            <a:noFill/>
          </p:spPr>
          <p:txBody>
            <a:bodyPr wrap="square" rtlCol="0">
              <a:spAutoFit/>
            </a:bodyPr>
            <a:lstStyle/>
            <a:p>
              <a:r>
                <a:rPr kumimoji="1" lang="zh-CN" altLang="en-US" sz="1400" dirty="0">
                  <a:latin typeface="+mn-lt"/>
                  <a:ea typeface="+mn-ea"/>
                  <a:cs typeface="+mn-ea"/>
                  <a:sym typeface="+mn-lt"/>
                </a:rPr>
                <a:t>国际化员工年轻化与高学历特点：</a:t>
              </a:r>
              <a:endParaRPr kumimoji="1" lang="en-US" altLang="zh-CN" sz="1400" dirty="0">
                <a:latin typeface="+mn-lt"/>
                <a:ea typeface="+mn-ea"/>
                <a:cs typeface="+mn-ea"/>
                <a:sym typeface="+mn-lt"/>
              </a:endParaRPr>
            </a:p>
            <a:p>
              <a:r>
                <a:rPr kumimoji="1" lang="zh-CN" altLang="en-US" sz="1400" b="0" dirty="0">
                  <a:latin typeface="+mn-lt"/>
                  <a:ea typeface="+mn-ea"/>
                  <a:cs typeface="+mn-ea"/>
                  <a:sym typeface="+mn-lt"/>
                </a:rPr>
                <a:t>包括外派人员和本地化人员的培养，充分考虑年轻人和高学历的特点，因地制宜地进行国际化人才培养体系的建设。可借鉴的外部经验较少，中行在国际化人才培养方面需要探索一条路，成为国内的标杆。</a:t>
              </a:r>
              <a:endParaRPr kumimoji="1" lang="zh-CN" altLang="en-US" sz="1400" b="0" dirty="0">
                <a:latin typeface="+mn-lt"/>
                <a:ea typeface="+mn-ea"/>
                <a:cs typeface="+mn-ea"/>
                <a:sym typeface="+mn-lt"/>
              </a:endParaRPr>
            </a:p>
          </p:txBody>
        </p:sp>
      </p:grpSp>
      <p:sp>
        <p:nvSpPr>
          <p:cNvPr id="13" name="灯片编号占位符 1"/>
          <p:cNvSpPr>
            <a:spLocks noGrp="1"/>
          </p:cNvSpPr>
          <p:nvPr>
            <p:ph type="sldNum" sz="quarter" idx="10"/>
          </p:nvPr>
        </p:nvSpPr>
        <p:spPr>
          <a:xfrm>
            <a:off x="9407770" y="6597831"/>
            <a:ext cx="2540000" cy="170496"/>
          </a:xfrm>
        </p:spPr>
        <p:txBody>
          <a:bodyPr/>
          <a:lstStyle/>
          <a:p>
            <a:pP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52DF7D90-B49A-4800-BC0D-FE9A7C3546DE}" type="slidenum">
              <a:rPr lang="zh-CN" altLang="en-US" smtClean="0">
                <a:latin typeface="+mn-lt"/>
                <a:ea typeface="+mn-ea"/>
                <a:cs typeface="+mn-ea"/>
                <a:sym typeface="+mn-lt"/>
              </a:rPr>
            </a:fld>
            <a:endParaRPr lang="en-US" altLang="zh-CN">
              <a:latin typeface="+mn-lt"/>
              <a:ea typeface="+mn-ea"/>
              <a:cs typeface="+mn-ea"/>
              <a:sym typeface="+mn-lt"/>
            </a:endParaRPr>
          </a:p>
        </p:txBody>
      </p:sp>
      <p:sp>
        <p:nvSpPr>
          <p:cNvPr id="6" name="标题 1"/>
          <p:cNvSpPr txBox="1"/>
          <p:nvPr/>
        </p:nvSpPr>
        <p:spPr>
          <a:xfrm>
            <a:off x="717306" y="301046"/>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zh-CN" altLang="en-US" dirty="0">
                <a:latin typeface="+mn-lt"/>
                <a:ea typeface="+mn-ea"/>
                <a:cs typeface="+mn-ea"/>
                <a:sym typeface="+mn-lt"/>
              </a:rPr>
              <a:t>小结：</a:t>
            </a:r>
            <a:r>
              <a:rPr lang="zh-CN" altLang="en-US" dirty="0">
                <a:cs typeface="+mn-ea"/>
                <a:sym typeface="+mn-lt"/>
              </a:rPr>
              <a:t>中银培训当前发展面临的主要外部机会与挑战因素</a:t>
            </a:r>
            <a:endParaRPr lang="zh-CN" altLang="en-US" dirty="0">
              <a:latin typeface="+mn-lt"/>
              <a:ea typeface="+mn-ea"/>
              <a:cs typeface="+mn-ea"/>
              <a:sym typeface="+mn-lt"/>
            </a:endParaRPr>
          </a:p>
        </p:txBody>
      </p:sp>
      <p:graphicFrame>
        <p:nvGraphicFramePr>
          <p:cNvPr id="9" name="表格 8"/>
          <p:cNvGraphicFramePr>
            <a:graphicFrameLocks noGrp="1"/>
          </p:cNvGraphicFramePr>
          <p:nvPr/>
        </p:nvGraphicFramePr>
        <p:xfrm>
          <a:off x="764272" y="1160054"/>
          <a:ext cx="10714323" cy="4950460"/>
        </p:xfrm>
        <a:graphic>
          <a:graphicData uri="http://schemas.openxmlformats.org/drawingml/2006/table">
            <a:tbl>
              <a:tblPr/>
              <a:tblGrid>
                <a:gridCol w="10714323"/>
              </a:tblGrid>
              <a:tr h="477672">
                <a:tc>
                  <a:txBody>
                    <a:bodyPr/>
                    <a:lstStyle/>
                    <a:p>
                      <a:pPr algn="ctr" fontAlgn="ctr"/>
                      <a:r>
                        <a:rPr lang="zh-CN" altLang="en-US" sz="1600" b="1" i="0" u="none" strike="noStrike" dirty="0">
                          <a:solidFill>
                            <a:schemeClr val="bg1"/>
                          </a:solidFill>
                          <a:effectLst/>
                          <a:latin typeface="+mn-lt"/>
                          <a:ea typeface="+mn-ea"/>
                          <a:cs typeface="+mn-ea"/>
                          <a:sym typeface="+mn-lt"/>
                        </a:rPr>
                        <a:t>中银教育培训外部因素评价</a:t>
                      </a:r>
                      <a:endParaRPr lang="zh-CN" altLang="en-US" sz="1600" b="1" i="0" u="none" strike="noStrike" dirty="0">
                        <a:solidFill>
                          <a:schemeClr val="bg1"/>
                        </a:solidFill>
                        <a:effectLst/>
                        <a:latin typeface="+mn-lt"/>
                        <a:ea typeface="+mn-ea"/>
                        <a:cs typeface="+mn-ea"/>
                        <a:sym typeface="+mn-lt"/>
                      </a:endParaRPr>
                    </a:p>
                  </a:txBody>
                  <a:tcPr marL="655" marR="655" marT="6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r>
              <a:tr h="477672">
                <a:tc>
                  <a:txBody>
                    <a:bodyPr/>
                    <a:lstStyle/>
                    <a:p>
                      <a:pPr algn="ctr" fontAlgn="ctr"/>
                      <a:r>
                        <a:rPr lang="zh-CN" altLang="en-US" sz="1600" b="1" i="0" u="none" strike="noStrike" dirty="0">
                          <a:solidFill>
                            <a:srgbClr val="000000"/>
                          </a:solidFill>
                          <a:effectLst/>
                          <a:latin typeface="+mn-lt"/>
                          <a:ea typeface="+mn-ea"/>
                          <a:cs typeface="+mn-ea"/>
                          <a:sym typeface="+mn-lt"/>
                        </a:rPr>
                        <a:t>关键外部因素</a:t>
                      </a:r>
                      <a:endParaRPr lang="zh-CN" altLang="en-US" sz="1600" b="1" i="0" u="none" strike="noStrike" dirty="0">
                        <a:solidFill>
                          <a:srgbClr val="000000"/>
                        </a:solidFill>
                        <a:effectLst/>
                        <a:latin typeface="+mn-lt"/>
                        <a:ea typeface="+mn-ea"/>
                        <a:cs typeface="+mn-ea"/>
                        <a:sym typeface="+mn-lt"/>
                      </a:endParaRPr>
                    </a:p>
                  </a:txBody>
                  <a:tcPr marL="655" marR="655" marT="6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77672">
                <a:tc>
                  <a:txBody>
                    <a:bodyPr/>
                    <a:lstStyle/>
                    <a:p>
                      <a:pPr algn="ctr" fontAlgn="ctr"/>
                      <a:r>
                        <a:rPr lang="zh-CN" altLang="en-US" sz="1600" b="0" i="0" u="none" strike="noStrike">
                          <a:solidFill>
                            <a:srgbClr val="000000"/>
                          </a:solidFill>
                          <a:effectLst/>
                          <a:latin typeface="+mn-lt"/>
                          <a:ea typeface="+mn-ea"/>
                          <a:cs typeface="+mn-ea"/>
                          <a:sym typeface="+mn-lt"/>
                        </a:rPr>
                        <a:t>机会</a:t>
                      </a:r>
                      <a:r>
                        <a:rPr lang="en-US" altLang="zh-CN" sz="1600" b="0" i="0" u="none" strike="noStrike">
                          <a:solidFill>
                            <a:srgbClr val="000000"/>
                          </a:solidFill>
                          <a:effectLst/>
                          <a:latin typeface="+mn-lt"/>
                          <a:ea typeface="+mn-ea"/>
                          <a:cs typeface="+mn-ea"/>
                          <a:sym typeface="+mn-lt"/>
                        </a:rPr>
                        <a:t>/</a:t>
                      </a:r>
                      <a:r>
                        <a:rPr lang="zh-CN" altLang="en-US" sz="1600" b="0" i="0" u="none" strike="noStrike">
                          <a:solidFill>
                            <a:srgbClr val="000000"/>
                          </a:solidFill>
                          <a:effectLst/>
                          <a:latin typeface="+mn-lt"/>
                          <a:ea typeface="+mn-ea"/>
                          <a:cs typeface="+mn-ea"/>
                          <a:sym typeface="+mn-lt"/>
                        </a:rPr>
                        <a:t>需求</a:t>
                      </a:r>
                      <a:endParaRPr lang="zh-CN" altLang="en-US" sz="1600" b="0" i="0" u="none" strike="noStrike">
                        <a:solidFill>
                          <a:srgbClr val="000000"/>
                        </a:solidFill>
                        <a:effectLst/>
                        <a:latin typeface="+mn-lt"/>
                        <a:ea typeface="+mn-ea"/>
                        <a:cs typeface="+mn-ea"/>
                        <a:sym typeface="+mn-lt"/>
                      </a:endParaRPr>
                    </a:p>
                  </a:txBody>
                  <a:tcPr marL="655" marR="655" marT="6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r>
              <a:tr h="477672">
                <a:tc>
                  <a:txBody>
                    <a:bodyPr/>
                    <a:lstStyle/>
                    <a:p>
                      <a:pPr algn="l" fontAlgn="ctr"/>
                      <a:r>
                        <a:rPr lang="en-US" altLang="zh-CN" sz="1600" b="0" i="0" u="none" strike="noStrike" dirty="0">
                          <a:solidFill>
                            <a:srgbClr val="000000"/>
                          </a:solidFill>
                          <a:effectLst/>
                          <a:latin typeface="+mn-lt"/>
                          <a:ea typeface="+mn-ea"/>
                          <a:cs typeface="+mn-ea"/>
                          <a:sym typeface="+mn-lt"/>
                        </a:rPr>
                        <a:t>1.</a:t>
                      </a:r>
                      <a:r>
                        <a:rPr lang="zh-CN" altLang="en-US" sz="1600" b="0" i="0" u="none" strike="noStrike" dirty="0">
                          <a:solidFill>
                            <a:srgbClr val="000000"/>
                          </a:solidFill>
                          <a:effectLst/>
                          <a:latin typeface="+mn-lt"/>
                          <a:ea typeface="+mn-ea"/>
                          <a:cs typeface="+mn-ea"/>
                          <a:sym typeface="+mn-lt"/>
                        </a:rPr>
                        <a:t>国内外经济金融发展形势、国家政策面和中银自身优劣势为中银教育培训提供了良好的发展环境；</a:t>
                      </a:r>
                      <a:endParaRPr lang="zh-CN" altLang="en-US" sz="1600" b="0" i="0" u="none" strike="noStrike" dirty="0">
                        <a:solidFill>
                          <a:srgbClr val="000000"/>
                        </a:solidFill>
                        <a:effectLst/>
                        <a:latin typeface="+mn-lt"/>
                        <a:ea typeface="+mn-ea"/>
                        <a:cs typeface="+mn-ea"/>
                        <a:sym typeface="+mn-lt"/>
                      </a:endParaRPr>
                    </a:p>
                  </a:txBody>
                  <a:tcPr marL="655" marR="655" marT="6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77672">
                <a:tc>
                  <a:txBody>
                    <a:bodyPr/>
                    <a:lstStyle/>
                    <a:p>
                      <a:pPr marL="0" marR="0" indent="0" algn="l" defTabSz="1125220" rtl="0" eaLnBrk="1" fontAlgn="ctr" latinLnBrk="0" hangingPunct="1">
                        <a:lnSpc>
                          <a:spcPct val="100000"/>
                        </a:lnSpc>
                        <a:spcBef>
                          <a:spcPts val="0"/>
                        </a:spcBef>
                        <a:spcAft>
                          <a:spcPts val="0"/>
                        </a:spcAft>
                        <a:buClrTx/>
                        <a:buSzTx/>
                        <a:buFontTx/>
                        <a:buNone/>
                        <a:defRPr/>
                      </a:pPr>
                      <a:r>
                        <a:rPr lang="en-US" altLang="zh-CN" sz="1600" b="0" i="0" u="none" strike="noStrike" dirty="0">
                          <a:solidFill>
                            <a:srgbClr val="000000"/>
                          </a:solidFill>
                          <a:effectLst/>
                          <a:latin typeface="+mn-lt"/>
                          <a:ea typeface="+mn-ea"/>
                          <a:cs typeface="+mn-ea"/>
                          <a:sym typeface="+mn-lt"/>
                        </a:rPr>
                        <a:t>2.</a:t>
                      </a:r>
                      <a:r>
                        <a:rPr lang="zh-CN" altLang="en-US" sz="1600" b="0" i="0" u="none" strike="noStrike" dirty="0">
                          <a:solidFill>
                            <a:srgbClr val="000000"/>
                          </a:solidFill>
                          <a:effectLst/>
                          <a:latin typeface="+mn-lt"/>
                          <a:ea typeface="+mn-ea"/>
                          <a:cs typeface="+mn-ea"/>
                          <a:sym typeface="+mn-lt"/>
                        </a:rPr>
                        <a:t>学习技术的深入应用，丰富了培训工具箱，为中银教育发展提供了更多更有效的方法选择。</a:t>
                      </a:r>
                      <a:endParaRPr lang="zh-CN" altLang="en-US" sz="1600" b="0" i="0" u="none" strike="noStrike" dirty="0">
                        <a:solidFill>
                          <a:srgbClr val="000000"/>
                        </a:solidFill>
                        <a:effectLst/>
                        <a:latin typeface="+mn-lt"/>
                        <a:ea typeface="+mn-ea"/>
                        <a:cs typeface="+mn-ea"/>
                        <a:sym typeface="+mn-lt"/>
                      </a:endParaRPr>
                    </a:p>
                  </a:txBody>
                  <a:tcPr marL="655" marR="655" marT="6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77672">
                <a:tc>
                  <a:txBody>
                    <a:bodyPr/>
                    <a:lstStyle/>
                    <a:p>
                      <a:pPr marL="0" marR="0" indent="0" algn="l" defTabSz="1125220" rtl="0" eaLnBrk="1" fontAlgn="auto" latinLnBrk="0" hangingPunct="1">
                        <a:lnSpc>
                          <a:spcPct val="100000"/>
                        </a:lnSpc>
                        <a:spcBef>
                          <a:spcPts val="0"/>
                        </a:spcBef>
                        <a:spcAft>
                          <a:spcPts val="0"/>
                        </a:spcAft>
                        <a:buClrTx/>
                        <a:buSzTx/>
                        <a:buFontTx/>
                        <a:buNone/>
                        <a:defRPr/>
                      </a:pPr>
                      <a:r>
                        <a:rPr lang="en-US" altLang="zh-CN" sz="1600" b="0" i="0" u="none" strike="noStrike" dirty="0">
                          <a:solidFill>
                            <a:srgbClr val="000000"/>
                          </a:solidFill>
                          <a:effectLst/>
                          <a:latin typeface="+mn-lt"/>
                          <a:ea typeface="+mn-ea"/>
                          <a:cs typeface="+mn-ea"/>
                          <a:sym typeface="+mn-lt"/>
                        </a:rPr>
                        <a:t>3.</a:t>
                      </a:r>
                      <a:r>
                        <a:rPr lang="zh-CN" altLang="zh-CN" sz="1600" dirty="0"/>
                        <a:t>中银战略核心内容</a:t>
                      </a:r>
                      <a:r>
                        <a:rPr lang="zh-CN" altLang="en-US" sz="1600" dirty="0"/>
                        <a:t>提出了多项组织能力要求，</a:t>
                      </a:r>
                      <a:r>
                        <a:rPr lang="zh-CN" altLang="zh-CN" sz="1600" dirty="0"/>
                        <a:t>为教育培训的发展规划指</a:t>
                      </a:r>
                      <a:r>
                        <a:rPr lang="zh-CN" altLang="en-US" sz="1600" dirty="0"/>
                        <a:t>明</a:t>
                      </a:r>
                      <a:r>
                        <a:rPr lang="zh-CN" altLang="zh-CN" sz="1600" dirty="0"/>
                        <a:t>了新方向</a:t>
                      </a:r>
                      <a:endParaRPr lang="zh-CN" altLang="zh-CN" sz="1600" dirty="0"/>
                    </a:p>
                  </a:txBody>
                  <a:tcPr marL="655" marR="655" marT="6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77672">
                <a:tc>
                  <a:txBody>
                    <a:bodyPr/>
                    <a:lstStyle/>
                    <a:p>
                      <a:pPr algn="ctr" fontAlgn="ctr"/>
                      <a:r>
                        <a:rPr lang="zh-CN" altLang="en-US" sz="1600" b="0" i="0" u="none" strike="noStrike" dirty="0">
                          <a:solidFill>
                            <a:srgbClr val="000000"/>
                          </a:solidFill>
                          <a:effectLst/>
                          <a:latin typeface="+mn-lt"/>
                          <a:ea typeface="+mn-ea"/>
                          <a:cs typeface="+mn-ea"/>
                          <a:sym typeface="+mn-lt"/>
                        </a:rPr>
                        <a:t>威胁</a:t>
                      </a:r>
                      <a:r>
                        <a:rPr lang="en-US" altLang="zh-CN" sz="1600" b="0" i="0" u="none" strike="noStrike" dirty="0">
                          <a:solidFill>
                            <a:srgbClr val="000000"/>
                          </a:solidFill>
                          <a:effectLst/>
                          <a:latin typeface="+mn-lt"/>
                          <a:ea typeface="+mn-ea"/>
                          <a:cs typeface="+mn-ea"/>
                          <a:sym typeface="+mn-lt"/>
                        </a:rPr>
                        <a:t>/</a:t>
                      </a:r>
                      <a:r>
                        <a:rPr lang="zh-CN" altLang="en-US" sz="1600" b="0" i="0" u="none" strike="noStrike" dirty="0">
                          <a:solidFill>
                            <a:srgbClr val="000000"/>
                          </a:solidFill>
                          <a:effectLst/>
                          <a:latin typeface="+mn-lt"/>
                          <a:ea typeface="+mn-ea"/>
                          <a:cs typeface="+mn-ea"/>
                          <a:sym typeface="+mn-lt"/>
                        </a:rPr>
                        <a:t>挑战</a:t>
                      </a:r>
                      <a:endParaRPr lang="zh-CN" altLang="en-US" sz="1600" b="0" i="0" u="none" strike="noStrike" dirty="0">
                        <a:solidFill>
                          <a:srgbClr val="000000"/>
                        </a:solidFill>
                        <a:effectLst/>
                        <a:latin typeface="+mn-lt"/>
                        <a:ea typeface="+mn-ea"/>
                        <a:cs typeface="+mn-ea"/>
                        <a:sym typeface="+mn-lt"/>
                      </a:endParaRPr>
                    </a:p>
                  </a:txBody>
                  <a:tcPr marL="655" marR="655" marT="6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r>
              <a:tr h="477672">
                <a:tc>
                  <a:txBody>
                    <a:bodyPr/>
                    <a:lstStyle/>
                    <a:p>
                      <a:pPr marL="0" marR="0" indent="0" algn="l" defTabSz="1125220" rtl="0" eaLnBrk="1" fontAlgn="ctr" latinLnBrk="0" hangingPunct="1">
                        <a:lnSpc>
                          <a:spcPct val="100000"/>
                        </a:lnSpc>
                        <a:spcBef>
                          <a:spcPts val="0"/>
                        </a:spcBef>
                        <a:spcAft>
                          <a:spcPts val="0"/>
                        </a:spcAft>
                        <a:buClrTx/>
                        <a:buSzTx/>
                        <a:buFontTx/>
                        <a:buNone/>
                        <a:defRPr/>
                      </a:pPr>
                      <a:r>
                        <a:rPr lang="en-US" altLang="zh-CN" sz="1600" b="0" i="0" u="none" strike="noStrike" dirty="0">
                          <a:solidFill>
                            <a:srgbClr val="000000"/>
                          </a:solidFill>
                          <a:effectLst/>
                          <a:latin typeface="+mn-lt"/>
                          <a:ea typeface="+mn-ea"/>
                          <a:cs typeface="+mn-ea"/>
                          <a:sym typeface="+mn-lt"/>
                        </a:rPr>
                        <a:t>1.</a:t>
                      </a:r>
                      <a:r>
                        <a:rPr lang="zh-CN" altLang="en-US" sz="1600" b="0" i="0" u="none" strike="noStrike" dirty="0">
                          <a:solidFill>
                            <a:srgbClr val="000000"/>
                          </a:solidFill>
                          <a:effectLst/>
                          <a:latin typeface="+mn-lt"/>
                          <a:ea typeface="+mn-ea"/>
                          <a:cs typeface="+mn-ea"/>
                          <a:sym typeface="+mn-lt"/>
                        </a:rPr>
                        <a:t>百年未有之大变局，</a:t>
                      </a:r>
                      <a:r>
                        <a:rPr lang="zh-CN" altLang="en-US" sz="1600" dirty="0">
                          <a:latin typeface="+mn-ea"/>
                          <a:ea typeface="+mn-ea"/>
                          <a:cs typeface="+mn-ea"/>
                          <a:sym typeface="+mn-lt"/>
                        </a:rPr>
                        <a:t>适应外部新形式新变化带来的挑战；</a:t>
                      </a:r>
                      <a:endParaRPr lang="zh-CN" altLang="en-US" sz="1600" dirty="0">
                        <a:latin typeface="+mn-ea"/>
                        <a:ea typeface="+mn-ea"/>
                        <a:cs typeface="+mn-ea"/>
                        <a:sym typeface="+mn-lt"/>
                      </a:endParaRPr>
                    </a:p>
                  </a:txBody>
                  <a:tcPr marL="655" marR="655" marT="6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77672">
                <a:tc>
                  <a:txBody>
                    <a:bodyPr/>
                    <a:lstStyle/>
                    <a:p>
                      <a:pPr marL="0" marR="0" indent="0" algn="l" defTabSz="1125220" rtl="0" eaLnBrk="1" fontAlgn="ctr" latinLnBrk="0" hangingPunct="1">
                        <a:lnSpc>
                          <a:spcPct val="100000"/>
                        </a:lnSpc>
                        <a:spcBef>
                          <a:spcPts val="0"/>
                        </a:spcBef>
                        <a:spcAft>
                          <a:spcPts val="0"/>
                        </a:spcAft>
                        <a:buClrTx/>
                        <a:buSzTx/>
                        <a:buFontTx/>
                        <a:buNone/>
                        <a:defRPr/>
                      </a:pPr>
                      <a:r>
                        <a:rPr lang="en-US" altLang="zh-CN" sz="1600" b="0" i="0" u="none" strike="noStrike" dirty="0">
                          <a:solidFill>
                            <a:srgbClr val="000000"/>
                          </a:solidFill>
                          <a:effectLst/>
                          <a:latin typeface="+mn-lt"/>
                          <a:ea typeface="+mn-ea"/>
                          <a:cs typeface="+mn-ea"/>
                          <a:sym typeface="+mn-lt"/>
                        </a:rPr>
                        <a:t>2.</a:t>
                      </a:r>
                      <a:r>
                        <a:rPr lang="zh-CN" altLang="en-US" sz="1600" b="0" i="0" u="none" strike="noStrike" dirty="0">
                          <a:solidFill>
                            <a:srgbClr val="000000"/>
                          </a:solidFill>
                          <a:effectLst/>
                          <a:latin typeface="+mn-lt"/>
                          <a:ea typeface="+mn-ea"/>
                          <a:cs typeface="+mn-ea"/>
                          <a:sym typeface="+mn-lt"/>
                        </a:rPr>
                        <a:t>主要条线专业力特别是重要稀缺能力对教育培训的响应速度、培训效果提出挑战；</a:t>
                      </a:r>
                      <a:endParaRPr lang="zh-CN" altLang="en-US" sz="1600" b="0" i="0" u="none" strike="noStrike" dirty="0">
                        <a:solidFill>
                          <a:srgbClr val="000000"/>
                        </a:solidFill>
                        <a:effectLst/>
                        <a:latin typeface="+mn-lt"/>
                        <a:ea typeface="+mn-ea"/>
                        <a:cs typeface="+mn-ea"/>
                        <a:sym typeface="+mn-lt"/>
                      </a:endParaRPr>
                    </a:p>
                  </a:txBody>
                  <a:tcPr marL="655" marR="655" marT="6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51412">
                <a:tc>
                  <a:txBody>
                    <a:bodyPr/>
                    <a:lstStyle/>
                    <a:p>
                      <a:pPr marL="0" marR="0" indent="0" algn="l" defTabSz="1125220" rtl="0" eaLnBrk="1" fontAlgn="ctr" latinLnBrk="0" hangingPunct="1">
                        <a:lnSpc>
                          <a:spcPct val="100000"/>
                        </a:lnSpc>
                        <a:spcBef>
                          <a:spcPts val="0"/>
                        </a:spcBef>
                        <a:spcAft>
                          <a:spcPts val="0"/>
                        </a:spcAft>
                        <a:buClrTx/>
                        <a:buSzTx/>
                        <a:buFontTx/>
                        <a:buNone/>
                        <a:defRPr/>
                      </a:pPr>
                      <a:r>
                        <a:rPr lang="en-US" altLang="zh-CN" sz="1600" b="0" i="0" u="none" strike="noStrike" dirty="0">
                          <a:solidFill>
                            <a:srgbClr val="000000"/>
                          </a:solidFill>
                          <a:effectLst/>
                          <a:latin typeface="+mn-lt"/>
                          <a:ea typeface="+mn-ea"/>
                          <a:cs typeface="+mn-ea"/>
                          <a:sym typeface="+mn-lt"/>
                        </a:rPr>
                        <a:t>3.</a:t>
                      </a:r>
                      <a:r>
                        <a:rPr lang="zh-CN" altLang="en-US" sz="1600" b="0" i="0" u="none" strike="noStrike" dirty="0">
                          <a:solidFill>
                            <a:srgbClr val="000000"/>
                          </a:solidFill>
                          <a:effectLst/>
                          <a:latin typeface="+mn-lt"/>
                          <a:ea typeface="+mn-ea"/>
                          <a:cs typeface="+mn-ea"/>
                          <a:sym typeface="+mn-lt"/>
                        </a:rPr>
                        <a:t>高学历知识型员工培养如何引进革新学习方法；外派人员和本地化人员的培养，充分考虑年轻人和高学历的特点，与本地人才培养模式差异大。</a:t>
                      </a:r>
                      <a:endParaRPr lang="zh-CN" altLang="en-US" sz="1600" b="0" i="0" u="none" strike="noStrike" dirty="0">
                        <a:solidFill>
                          <a:srgbClr val="000000"/>
                        </a:solidFill>
                        <a:effectLst/>
                        <a:latin typeface="+mn-lt"/>
                        <a:ea typeface="+mn-ea"/>
                        <a:cs typeface="+mn-ea"/>
                        <a:sym typeface="+mn-lt"/>
                      </a:endParaRPr>
                    </a:p>
                  </a:txBody>
                  <a:tcPr marL="655" marR="655" marT="6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
        <p:nvSpPr>
          <p:cNvPr id="5" name="标题 1"/>
          <p:cNvSpPr txBox="1"/>
          <p:nvPr/>
        </p:nvSpPr>
        <p:spPr>
          <a:xfrm>
            <a:off x="654539" y="287368"/>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en-US" altLang="zh-CN" dirty="0">
                <a:latin typeface="+mn-lt"/>
                <a:ea typeface="+mn-ea"/>
                <a:cs typeface="+mn-ea"/>
                <a:sym typeface="+mn-lt"/>
              </a:rPr>
              <a:t>O</a:t>
            </a:r>
            <a:r>
              <a:rPr lang="zh-CN" altLang="en-US" dirty="0">
                <a:latin typeface="+mn-lt"/>
                <a:ea typeface="+mn-ea"/>
                <a:cs typeface="+mn-ea"/>
                <a:sym typeface="+mn-lt"/>
              </a:rPr>
              <a:t> 优势</a:t>
            </a:r>
            <a:r>
              <a:rPr lang="en-US" altLang="zh-CN" dirty="0">
                <a:latin typeface="+mn-lt"/>
                <a:ea typeface="+mn-ea"/>
                <a:cs typeface="+mn-ea"/>
                <a:sym typeface="+mn-lt"/>
              </a:rPr>
              <a:t>1-</a:t>
            </a:r>
            <a:r>
              <a:rPr lang="zh-CN" altLang="zh-CN" dirty="0"/>
              <a:t>建立了系统的组织体系</a:t>
            </a:r>
            <a:endParaRPr lang="zh-CN" altLang="zh-CN" dirty="0"/>
          </a:p>
        </p:txBody>
      </p:sp>
      <p:sp>
        <p:nvSpPr>
          <p:cNvPr id="18" name="标题 2"/>
          <p:cNvSpPr>
            <a:spLocks noGrp="1"/>
          </p:cNvSpPr>
          <p:nvPr>
            <p:ph type="title"/>
          </p:nvPr>
        </p:nvSpPr>
        <p:spPr>
          <a:xfrm>
            <a:off x="654539" y="843861"/>
            <a:ext cx="11100796" cy="600246"/>
          </a:xfrm>
        </p:spPr>
        <p:txBody>
          <a:bodyPr>
            <a:noAutofit/>
          </a:bodyPr>
          <a:lstStyle/>
          <a:p>
            <a:r>
              <a:rPr lang="zh-CN" altLang="en-US" sz="1800" dirty="0">
                <a:solidFill>
                  <a:schemeClr val="tx1"/>
                </a:solidFill>
                <a:latin typeface="+mn-lt"/>
                <a:ea typeface="+mn-ea"/>
                <a:cs typeface="+mn-ea"/>
                <a:sym typeface="+mn-lt"/>
              </a:rPr>
              <a:t>优势</a:t>
            </a:r>
            <a:r>
              <a:rPr lang="en-US" altLang="zh-CN" sz="1800" dirty="0">
                <a:solidFill>
                  <a:schemeClr val="tx1"/>
                </a:solidFill>
                <a:latin typeface="+mn-lt"/>
                <a:ea typeface="+mn-ea"/>
                <a:cs typeface="+mn-ea"/>
                <a:sym typeface="+mn-lt"/>
              </a:rPr>
              <a:t>1:</a:t>
            </a:r>
            <a:r>
              <a:rPr lang="zh-CN" altLang="en-US" sz="1800" dirty="0">
                <a:solidFill>
                  <a:schemeClr val="tx1"/>
                </a:solidFill>
                <a:latin typeface="+mn-lt"/>
                <a:ea typeface="+mn-ea"/>
                <a:cs typeface="+mn-ea"/>
                <a:sym typeface="+mn-lt"/>
              </a:rPr>
              <a:t>按照</a:t>
            </a:r>
            <a:r>
              <a:rPr lang="en-US" altLang="zh-CN" sz="1800" dirty="0">
                <a:solidFill>
                  <a:schemeClr val="tx1"/>
                </a:solidFill>
                <a:latin typeface="+mn-lt"/>
                <a:ea typeface="+mn-ea"/>
                <a:cs typeface="+mn-ea"/>
                <a:sym typeface="+mn-lt"/>
              </a:rPr>
              <a:t>“1+9+N”</a:t>
            </a:r>
            <a:r>
              <a:rPr lang="zh-CN" altLang="en-US" sz="1800" dirty="0">
                <a:solidFill>
                  <a:schemeClr val="tx1"/>
                </a:solidFill>
                <a:latin typeface="+mn-lt"/>
                <a:ea typeface="+mn-ea"/>
                <a:cs typeface="+mn-ea"/>
                <a:sym typeface="+mn-lt"/>
              </a:rPr>
              <a:t>的组织架构， 建立了中银大学完善的治理体系和管理制度，逐步激发了内部活力。</a:t>
            </a:r>
            <a:endParaRPr kumimoji="1" lang="zh-CN" altLang="en-US" sz="1600" dirty="0">
              <a:solidFill>
                <a:schemeClr val="tx1"/>
              </a:solidFill>
              <a:latin typeface="+mn-lt"/>
              <a:ea typeface="+mn-ea"/>
              <a:cs typeface="+mn-ea"/>
              <a:sym typeface="+mn-lt"/>
            </a:endParaRPr>
          </a:p>
        </p:txBody>
      </p:sp>
      <p:pic>
        <p:nvPicPr>
          <p:cNvPr id="19" name="图片 18"/>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57201" y="2200925"/>
            <a:ext cx="6113344" cy="3558759"/>
          </a:xfrm>
          <a:prstGeom prst="rect">
            <a:avLst/>
          </a:prstGeom>
          <a:noFill/>
        </p:spPr>
      </p:pic>
      <p:sp>
        <p:nvSpPr>
          <p:cNvPr id="20" name="任意形状 5"/>
          <p:cNvSpPr/>
          <p:nvPr/>
        </p:nvSpPr>
        <p:spPr>
          <a:xfrm>
            <a:off x="6755920" y="1773320"/>
            <a:ext cx="4465637" cy="817060"/>
          </a:xfrm>
          <a:custGeom>
            <a:avLst/>
            <a:gdLst>
              <a:gd name="connsiteX0" fmla="*/ 0 w 2031503"/>
              <a:gd name="connsiteY0" fmla="*/ 169295 h 1015751"/>
              <a:gd name="connsiteX1" fmla="*/ 169295 w 2031503"/>
              <a:gd name="connsiteY1" fmla="*/ 0 h 1015751"/>
              <a:gd name="connsiteX2" fmla="*/ 1862208 w 2031503"/>
              <a:gd name="connsiteY2" fmla="*/ 0 h 1015751"/>
              <a:gd name="connsiteX3" fmla="*/ 2031503 w 2031503"/>
              <a:gd name="connsiteY3" fmla="*/ 169295 h 1015751"/>
              <a:gd name="connsiteX4" fmla="*/ 2031503 w 2031503"/>
              <a:gd name="connsiteY4" fmla="*/ 846456 h 1015751"/>
              <a:gd name="connsiteX5" fmla="*/ 1862208 w 2031503"/>
              <a:gd name="connsiteY5" fmla="*/ 1015751 h 1015751"/>
              <a:gd name="connsiteX6" fmla="*/ 169295 w 2031503"/>
              <a:gd name="connsiteY6" fmla="*/ 1015751 h 1015751"/>
              <a:gd name="connsiteX7" fmla="*/ 0 w 2031503"/>
              <a:gd name="connsiteY7" fmla="*/ 846456 h 1015751"/>
              <a:gd name="connsiteX8" fmla="*/ 0 w 2031503"/>
              <a:gd name="connsiteY8" fmla="*/ 169295 h 101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503" h="1015751">
                <a:moveTo>
                  <a:pt x="0" y="169295"/>
                </a:moveTo>
                <a:cubicBezTo>
                  <a:pt x="0" y="75796"/>
                  <a:pt x="75796" y="0"/>
                  <a:pt x="169295" y="0"/>
                </a:cubicBezTo>
                <a:lnTo>
                  <a:pt x="1862208" y="0"/>
                </a:lnTo>
                <a:cubicBezTo>
                  <a:pt x="1955707" y="0"/>
                  <a:pt x="2031503" y="75796"/>
                  <a:pt x="2031503" y="169295"/>
                </a:cubicBezTo>
                <a:lnTo>
                  <a:pt x="2031503" y="846456"/>
                </a:lnTo>
                <a:cubicBezTo>
                  <a:pt x="2031503" y="939955"/>
                  <a:pt x="1955707" y="1015751"/>
                  <a:pt x="1862208" y="1015751"/>
                </a:cubicBezTo>
                <a:lnTo>
                  <a:pt x="169295" y="1015751"/>
                </a:lnTo>
                <a:cubicBezTo>
                  <a:pt x="75796" y="1015751"/>
                  <a:pt x="0" y="939955"/>
                  <a:pt x="0" y="846456"/>
                </a:cubicBezTo>
                <a:lnTo>
                  <a:pt x="0" y="169295"/>
                </a:lnTo>
                <a:close/>
              </a:path>
            </a:pathLst>
          </a:custGeom>
          <a:ln>
            <a:solidFill>
              <a:srgbClr val="C0000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1505" tIns="171505" rIns="171505" bIns="171505" numCol="1" spcCol="1270" anchor="ctr" anchorCtr="0">
            <a:noAutofit/>
          </a:bodyPr>
          <a:lstStyle/>
          <a:p>
            <a:pPr marL="0" lvl="0" indent="0" algn="ctr" defTabSz="1422400" rtl="0">
              <a:lnSpc>
                <a:spcPct val="90000"/>
              </a:lnSpc>
              <a:spcBef>
                <a:spcPct val="0"/>
              </a:spcBef>
              <a:spcAft>
                <a:spcPct val="35000"/>
              </a:spcAft>
              <a:buNone/>
            </a:pPr>
            <a:endParaRPr lang="zh-CN" altLang="en-US" sz="3200" kern="1200">
              <a:cs typeface="+mn-ea"/>
              <a:sym typeface="+mn-lt"/>
            </a:endParaRPr>
          </a:p>
        </p:txBody>
      </p:sp>
      <p:sp>
        <p:nvSpPr>
          <p:cNvPr id="21" name="文本框 20"/>
          <p:cNvSpPr txBox="1"/>
          <p:nvPr/>
        </p:nvSpPr>
        <p:spPr>
          <a:xfrm>
            <a:off x="6824769" y="1751280"/>
            <a:ext cx="4370801" cy="830997"/>
          </a:xfrm>
          <a:prstGeom prst="rect">
            <a:avLst/>
          </a:prstGeom>
          <a:noFill/>
        </p:spPr>
        <p:txBody>
          <a:bodyPr wrap="square" rtlCol="0">
            <a:spAutoFit/>
          </a:bodyPr>
          <a:lstStyle/>
          <a:p>
            <a:r>
              <a:rPr kumimoji="1" lang="zh-CN" altLang="en-US" sz="1600" dirty="0">
                <a:latin typeface="+mn-lt"/>
                <a:ea typeface="+mn-ea"/>
                <a:cs typeface="+mn-ea"/>
                <a:sym typeface="+mn-lt"/>
              </a:rPr>
              <a:t>建立了治理架构：</a:t>
            </a:r>
            <a:r>
              <a:rPr kumimoji="1" lang="zh-CN" altLang="en-US" sz="1600" b="0" dirty="0">
                <a:solidFill>
                  <a:schemeClr val="bg2">
                    <a:lumMod val="10000"/>
                  </a:schemeClr>
                </a:solidFill>
                <a:latin typeface="+mn-lt"/>
                <a:ea typeface="+mn-ea"/>
                <a:cs typeface="+mn-ea"/>
                <a:sym typeface="+mn-lt"/>
              </a:rPr>
              <a:t>按照“做强、做精总部，做实、做专九大学院”的要求，治理结构设计清晰、组织框架体系完整。</a:t>
            </a:r>
            <a:endParaRPr kumimoji="1" lang="zh-CN" altLang="en-US" sz="1600" b="0" dirty="0">
              <a:solidFill>
                <a:schemeClr val="bg2">
                  <a:lumMod val="10000"/>
                </a:schemeClr>
              </a:solidFill>
              <a:latin typeface="+mn-lt"/>
              <a:ea typeface="+mn-ea"/>
              <a:cs typeface="+mn-ea"/>
              <a:sym typeface="+mn-lt"/>
            </a:endParaRPr>
          </a:p>
        </p:txBody>
      </p:sp>
      <p:sp>
        <p:nvSpPr>
          <p:cNvPr id="22" name="任意形状 7"/>
          <p:cNvSpPr/>
          <p:nvPr/>
        </p:nvSpPr>
        <p:spPr>
          <a:xfrm>
            <a:off x="6761166" y="4832254"/>
            <a:ext cx="4465637" cy="907461"/>
          </a:xfrm>
          <a:custGeom>
            <a:avLst/>
            <a:gdLst>
              <a:gd name="connsiteX0" fmla="*/ 0 w 2031503"/>
              <a:gd name="connsiteY0" fmla="*/ 169295 h 1015751"/>
              <a:gd name="connsiteX1" fmla="*/ 169295 w 2031503"/>
              <a:gd name="connsiteY1" fmla="*/ 0 h 1015751"/>
              <a:gd name="connsiteX2" fmla="*/ 1862208 w 2031503"/>
              <a:gd name="connsiteY2" fmla="*/ 0 h 1015751"/>
              <a:gd name="connsiteX3" fmla="*/ 2031503 w 2031503"/>
              <a:gd name="connsiteY3" fmla="*/ 169295 h 1015751"/>
              <a:gd name="connsiteX4" fmla="*/ 2031503 w 2031503"/>
              <a:gd name="connsiteY4" fmla="*/ 846456 h 1015751"/>
              <a:gd name="connsiteX5" fmla="*/ 1862208 w 2031503"/>
              <a:gd name="connsiteY5" fmla="*/ 1015751 h 1015751"/>
              <a:gd name="connsiteX6" fmla="*/ 169295 w 2031503"/>
              <a:gd name="connsiteY6" fmla="*/ 1015751 h 1015751"/>
              <a:gd name="connsiteX7" fmla="*/ 0 w 2031503"/>
              <a:gd name="connsiteY7" fmla="*/ 846456 h 1015751"/>
              <a:gd name="connsiteX8" fmla="*/ 0 w 2031503"/>
              <a:gd name="connsiteY8" fmla="*/ 169295 h 101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503" h="1015751">
                <a:moveTo>
                  <a:pt x="0" y="169295"/>
                </a:moveTo>
                <a:cubicBezTo>
                  <a:pt x="0" y="75796"/>
                  <a:pt x="75796" y="0"/>
                  <a:pt x="169295" y="0"/>
                </a:cubicBezTo>
                <a:lnTo>
                  <a:pt x="1862208" y="0"/>
                </a:lnTo>
                <a:cubicBezTo>
                  <a:pt x="1955707" y="0"/>
                  <a:pt x="2031503" y="75796"/>
                  <a:pt x="2031503" y="169295"/>
                </a:cubicBezTo>
                <a:lnTo>
                  <a:pt x="2031503" y="846456"/>
                </a:lnTo>
                <a:cubicBezTo>
                  <a:pt x="2031503" y="939955"/>
                  <a:pt x="1955707" y="1015751"/>
                  <a:pt x="1862208" y="1015751"/>
                </a:cubicBezTo>
                <a:lnTo>
                  <a:pt x="169295" y="1015751"/>
                </a:lnTo>
                <a:cubicBezTo>
                  <a:pt x="75796" y="1015751"/>
                  <a:pt x="0" y="939955"/>
                  <a:pt x="0" y="846456"/>
                </a:cubicBezTo>
                <a:lnTo>
                  <a:pt x="0" y="169295"/>
                </a:lnTo>
                <a:close/>
              </a:path>
            </a:pathLst>
          </a:custGeom>
          <a:ln>
            <a:solidFill>
              <a:srgbClr val="C0000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1505" tIns="171505" rIns="171505" bIns="171505" numCol="1" spcCol="1270" anchor="ctr" anchorCtr="0">
            <a:noAutofit/>
          </a:bodyPr>
          <a:lstStyle/>
          <a:p>
            <a:pPr marL="0" lvl="0" indent="0" algn="ctr" defTabSz="1422400" rtl="0">
              <a:lnSpc>
                <a:spcPct val="90000"/>
              </a:lnSpc>
              <a:spcBef>
                <a:spcPct val="0"/>
              </a:spcBef>
              <a:spcAft>
                <a:spcPct val="35000"/>
              </a:spcAft>
              <a:buNone/>
            </a:pPr>
            <a:endParaRPr lang="zh-CN" altLang="en-US" sz="3200" kern="1200">
              <a:cs typeface="+mn-ea"/>
              <a:sym typeface="+mn-lt"/>
            </a:endParaRPr>
          </a:p>
        </p:txBody>
      </p:sp>
      <p:sp>
        <p:nvSpPr>
          <p:cNvPr id="23" name="文本框 22"/>
          <p:cNvSpPr txBox="1"/>
          <p:nvPr/>
        </p:nvSpPr>
        <p:spPr>
          <a:xfrm>
            <a:off x="6828531" y="4870485"/>
            <a:ext cx="4370801" cy="830997"/>
          </a:xfrm>
          <a:prstGeom prst="rect">
            <a:avLst/>
          </a:prstGeom>
          <a:noFill/>
        </p:spPr>
        <p:txBody>
          <a:bodyPr wrap="square" rtlCol="0">
            <a:spAutoFit/>
          </a:bodyPr>
          <a:lstStyle/>
          <a:p>
            <a:r>
              <a:rPr kumimoji="1" lang="zh-CN" altLang="en-US" sz="1600" dirty="0">
                <a:latin typeface="+mn-lt"/>
                <a:ea typeface="+mn-ea"/>
                <a:cs typeface="+mn-ea"/>
                <a:sym typeface="+mn-lt"/>
              </a:rPr>
              <a:t>实施制度创新：</a:t>
            </a:r>
            <a:r>
              <a:rPr kumimoji="1" lang="zh-CN" altLang="en-US" sz="1600" b="0" dirty="0">
                <a:latin typeface="+mn-lt"/>
                <a:ea typeface="+mn-ea"/>
                <a:cs typeface="+mn-ea"/>
                <a:sym typeface="+mn-lt"/>
              </a:rPr>
              <a:t>推出专业学院建设机制和相关管理制度，推进了教育经费管理的制度化建设，初步激发了创新活力</a:t>
            </a:r>
            <a:endParaRPr kumimoji="1" lang="zh-CN" altLang="en-US" sz="1600" b="0" dirty="0">
              <a:latin typeface="+mn-lt"/>
              <a:ea typeface="+mn-ea"/>
              <a:cs typeface="+mn-ea"/>
              <a:sym typeface="+mn-lt"/>
            </a:endParaRPr>
          </a:p>
        </p:txBody>
      </p:sp>
      <p:sp>
        <p:nvSpPr>
          <p:cNvPr id="26" name="任意形状 13"/>
          <p:cNvSpPr/>
          <p:nvPr/>
        </p:nvSpPr>
        <p:spPr>
          <a:xfrm>
            <a:off x="6755920" y="2836254"/>
            <a:ext cx="4465637" cy="612361"/>
          </a:xfrm>
          <a:custGeom>
            <a:avLst/>
            <a:gdLst>
              <a:gd name="connsiteX0" fmla="*/ 0 w 2031503"/>
              <a:gd name="connsiteY0" fmla="*/ 169295 h 1015751"/>
              <a:gd name="connsiteX1" fmla="*/ 169295 w 2031503"/>
              <a:gd name="connsiteY1" fmla="*/ 0 h 1015751"/>
              <a:gd name="connsiteX2" fmla="*/ 1862208 w 2031503"/>
              <a:gd name="connsiteY2" fmla="*/ 0 h 1015751"/>
              <a:gd name="connsiteX3" fmla="*/ 2031503 w 2031503"/>
              <a:gd name="connsiteY3" fmla="*/ 169295 h 1015751"/>
              <a:gd name="connsiteX4" fmla="*/ 2031503 w 2031503"/>
              <a:gd name="connsiteY4" fmla="*/ 846456 h 1015751"/>
              <a:gd name="connsiteX5" fmla="*/ 1862208 w 2031503"/>
              <a:gd name="connsiteY5" fmla="*/ 1015751 h 1015751"/>
              <a:gd name="connsiteX6" fmla="*/ 169295 w 2031503"/>
              <a:gd name="connsiteY6" fmla="*/ 1015751 h 1015751"/>
              <a:gd name="connsiteX7" fmla="*/ 0 w 2031503"/>
              <a:gd name="connsiteY7" fmla="*/ 846456 h 1015751"/>
              <a:gd name="connsiteX8" fmla="*/ 0 w 2031503"/>
              <a:gd name="connsiteY8" fmla="*/ 169295 h 101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503" h="1015751">
                <a:moveTo>
                  <a:pt x="0" y="169295"/>
                </a:moveTo>
                <a:cubicBezTo>
                  <a:pt x="0" y="75796"/>
                  <a:pt x="75796" y="0"/>
                  <a:pt x="169295" y="0"/>
                </a:cubicBezTo>
                <a:lnTo>
                  <a:pt x="1862208" y="0"/>
                </a:lnTo>
                <a:cubicBezTo>
                  <a:pt x="1955707" y="0"/>
                  <a:pt x="2031503" y="75796"/>
                  <a:pt x="2031503" y="169295"/>
                </a:cubicBezTo>
                <a:lnTo>
                  <a:pt x="2031503" y="846456"/>
                </a:lnTo>
                <a:cubicBezTo>
                  <a:pt x="2031503" y="939955"/>
                  <a:pt x="1955707" y="1015751"/>
                  <a:pt x="1862208" y="1015751"/>
                </a:cubicBezTo>
                <a:lnTo>
                  <a:pt x="169295" y="1015751"/>
                </a:lnTo>
                <a:cubicBezTo>
                  <a:pt x="75796" y="1015751"/>
                  <a:pt x="0" y="939955"/>
                  <a:pt x="0" y="846456"/>
                </a:cubicBezTo>
                <a:lnTo>
                  <a:pt x="0" y="169295"/>
                </a:lnTo>
                <a:close/>
              </a:path>
            </a:pathLst>
          </a:custGeom>
          <a:ln>
            <a:solidFill>
              <a:srgbClr val="C0000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1505" tIns="171505" rIns="171505" bIns="171505" numCol="1" spcCol="1270" anchor="ctr" anchorCtr="0">
            <a:noAutofit/>
          </a:bodyPr>
          <a:lstStyle/>
          <a:p>
            <a:pPr marL="0" lvl="0" indent="0" algn="ctr" defTabSz="1422400" rtl="0">
              <a:lnSpc>
                <a:spcPct val="90000"/>
              </a:lnSpc>
              <a:spcBef>
                <a:spcPct val="0"/>
              </a:spcBef>
              <a:spcAft>
                <a:spcPct val="35000"/>
              </a:spcAft>
              <a:buNone/>
            </a:pPr>
            <a:endParaRPr lang="zh-CN" altLang="en-US" sz="3200" kern="1200">
              <a:cs typeface="+mn-ea"/>
              <a:sym typeface="+mn-lt"/>
            </a:endParaRPr>
          </a:p>
        </p:txBody>
      </p:sp>
      <p:sp>
        <p:nvSpPr>
          <p:cNvPr id="27" name="文本框 26"/>
          <p:cNvSpPr txBox="1"/>
          <p:nvPr/>
        </p:nvSpPr>
        <p:spPr>
          <a:xfrm>
            <a:off x="6828531" y="2840476"/>
            <a:ext cx="4418221" cy="584775"/>
          </a:xfrm>
          <a:prstGeom prst="rect">
            <a:avLst/>
          </a:prstGeom>
          <a:noFill/>
        </p:spPr>
        <p:txBody>
          <a:bodyPr wrap="square" rtlCol="0">
            <a:spAutoFit/>
          </a:bodyPr>
          <a:lstStyle/>
          <a:p>
            <a:r>
              <a:rPr kumimoji="1" lang="zh-CN" altLang="en-US" sz="1600" dirty="0">
                <a:latin typeface="+mn-lt"/>
                <a:ea typeface="+mn-ea"/>
                <a:cs typeface="+mn-ea"/>
                <a:sym typeface="+mn-lt"/>
              </a:rPr>
              <a:t>完善了治理体系：</a:t>
            </a:r>
            <a:r>
              <a:rPr kumimoji="1" lang="zh-CN" altLang="en-US" sz="1600" b="0" dirty="0">
                <a:latin typeface="+mn-lt"/>
                <a:ea typeface="+mn-ea"/>
                <a:cs typeface="+mn-ea"/>
                <a:sym typeface="+mn-lt"/>
              </a:rPr>
              <a:t>建立健全大学决策机构和管理章程和制度，明确了职责和议事规则</a:t>
            </a:r>
            <a:endParaRPr kumimoji="1" lang="zh-CN" altLang="en-US" sz="1600" b="0" dirty="0">
              <a:latin typeface="+mn-lt"/>
              <a:ea typeface="+mn-ea"/>
              <a:cs typeface="+mn-ea"/>
              <a:sym typeface="+mn-lt"/>
            </a:endParaRPr>
          </a:p>
        </p:txBody>
      </p:sp>
      <p:sp>
        <p:nvSpPr>
          <p:cNvPr id="28" name="任意形状 15"/>
          <p:cNvSpPr/>
          <p:nvPr/>
        </p:nvSpPr>
        <p:spPr>
          <a:xfrm>
            <a:off x="6781115" y="3683664"/>
            <a:ext cx="4465637" cy="886432"/>
          </a:xfrm>
          <a:custGeom>
            <a:avLst/>
            <a:gdLst>
              <a:gd name="connsiteX0" fmla="*/ 0 w 2031503"/>
              <a:gd name="connsiteY0" fmla="*/ 169295 h 1015751"/>
              <a:gd name="connsiteX1" fmla="*/ 169295 w 2031503"/>
              <a:gd name="connsiteY1" fmla="*/ 0 h 1015751"/>
              <a:gd name="connsiteX2" fmla="*/ 1862208 w 2031503"/>
              <a:gd name="connsiteY2" fmla="*/ 0 h 1015751"/>
              <a:gd name="connsiteX3" fmla="*/ 2031503 w 2031503"/>
              <a:gd name="connsiteY3" fmla="*/ 169295 h 1015751"/>
              <a:gd name="connsiteX4" fmla="*/ 2031503 w 2031503"/>
              <a:gd name="connsiteY4" fmla="*/ 846456 h 1015751"/>
              <a:gd name="connsiteX5" fmla="*/ 1862208 w 2031503"/>
              <a:gd name="connsiteY5" fmla="*/ 1015751 h 1015751"/>
              <a:gd name="connsiteX6" fmla="*/ 169295 w 2031503"/>
              <a:gd name="connsiteY6" fmla="*/ 1015751 h 1015751"/>
              <a:gd name="connsiteX7" fmla="*/ 0 w 2031503"/>
              <a:gd name="connsiteY7" fmla="*/ 846456 h 1015751"/>
              <a:gd name="connsiteX8" fmla="*/ 0 w 2031503"/>
              <a:gd name="connsiteY8" fmla="*/ 169295 h 101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503" h="1015751">
                <a:moveTo>
                  <a:pt x="0" y="169295"/>
                </a:moveTo>
                <a:cubicBezTo>
                  <a:pt x="0" y="75796"/>
                  <a:pt x="75796" y="0"/>
                  <a:pt x="169295" y="0"/>
                </a:cubicBezTo>
                <a:lnTo>
                  <a:pt x="1862208" y="0"/>
                </a:lnTo>
                <a:cubicBezTo>
                  <a:pt x="1955707" y="0"/>
                  <a:pt x="2031503" y="75796"/>
                  <a:pt x="2031503" y="169295"/>
                </a:cubicBezTo>
                <a:lnTo>
                  <a:pt x="2031503" y="846456"/>
                </a:lnTo>
                <a:cubicBezTo>
                  <a:pt x="2031503" y="939955"/>
                  <a:pt x="1955707" y="1015751"/>
                  <a:pt x="1862208" y="1015751"/>
                </a:cubicBezTo>
                <a:lnTo>
                  <a:pt x="169295" y="1015751"/>
                </a:lnTo>
                <a:cubicBezTo>
                  <a:pt x="75796" y="1015751"/>
                  <a:pt x="0" y="939955"/>
                  <a:pt x="0" y="846456"/>
                </a:cubicBezTo>
                <a:lnTo>
                  <a:pt x="0" y="169295"/>
                </a:lnTo>
                <a:close/>
              </a:path>
            </a:pathLst>
          </a:custGeom>
          <a:ln>
            <a:solidFill>
              <a:srgbClr val="C0000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1505" tIns="171505" rIns="171505" bIns="171505" numCol="1" spcCol="1270" anchor="ctr" anchorCtr="0">
            <a:noAutofit/>
          </a:bodyPr>
          <a:lstStyle/>
          <a:p>
            <a:pPr marL="0" lvl="0" indent="0" algn="ctr" defTabSz="1422400" rtl="0">
              <a:lnSpc>
                <a:spcPct val="90000"/>
              </a:lnSpc>
              <a:spcBef>
                <a:spcPct val="0"/>
              </a:spcBef>
              <a:spcAft>
                <a:spcPct val="35000"/>
              </a:spcAft>
              <a:buNone/>
            </a:pPr>
            <a:endParaRPr lang="zh-CN" altLang="en-US" sz="3200" kern="1200">
              <a:cs typeface="+mn-ea"/>
              <a:sym typeface="+mn-lt"/>
            </a:endParaRPr>
          </a:p>
        </p:txBody>
      </p:sp>
      <p:sp>
        <p:nvSpPr>
          <p:cNvPr id="29" name="文本框 28"/>
          <p:cNvSpPr txBox="1"/>
          <p:nvPr/>
        </p:nvSpPr>
        <p:spPr>
          <a:xfrm>
            <a:off x="6801060" y="3701757"/>
            <a:ext cx="4418221" cy="1077218"/>
          </a:xfrm>
          <a:prstGeom prst="rect">
            <a:avLst/>
          </a:prstGeom>
          <a:noFill/>
        </p:spPr>
        <p:txBody>
          <a:bodyPr wrap="square" rtlCol="0">
            <a:spAutoFit/>
          </a:bodyPr>
          <a:lstStyle/>
          <a:p>
            <a:r>
              <a:rPr kumimoji="1" lang="zh-CN" altLang="en-US" sz="1600" dirty="0">
                <a:latin typeface="+mn-lt"/>
                <a:ea typeface="+mn-ea"/>
                <a:cs typeface="+mn-ea"/>
                <a:sym typeface="+mn-lt"/>
              </a:rPr>
              <a:t>召开决策机构会议：</a:t>
            </a:r>
            <a:r>
              <a:rPr kumimoji="1" lang="zh-CN" altLang="en-US" sz="1600" b="0" dirty="0">
                <a:latin typeface="+mn-lt"/>
                <a:ea typeface="+mn-ea"/>
                <a:cs typeface="+mn-ea"/>
                <a:sym typeface="+mn-lt"/>
              </a:rPr>
              <a:t>先后召开校董会、专家委员会、校长办公会等决策机构会议，逐步行使顶层机构的职责和决策权</a:t>
            </a:r>
            <a:endParaRPr kumimoji="1" lang="zh-CN" altLang="en-US" sz="1600" b="0" dirty="0">
              <a:latin typeface="+mn-lt"/>
              <a:ea typeface="+mn-ea"/>
              <a:cs typeface="+mn-ea"/>
              <a:sym typeface="+mn-lt"/>
            </a:endParaRPr>
          </a:p>
          <a:p>
            <a:endParaRPr kumimoji="1" lang="zh-CN" altLang="en-US" sz="1600" dirty="0">
              <a:latin typeface="+mn-lt"/>
              <a:ea typeface="+mn-ea"/>
              <a:cs typeface="+mn-ea"/>
              <a:sym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52DF7D90-B49A-4800-BC0D-FE9A7C3546DE}" type="slidenum">
              <a:rPr lang="zh-CN" altLang="en-US" smtClean="0">
                <a:latin typeface="+mn-lt"/>
                <a:ea typeface="+mn-ea"/>
                <a:cs typeface="+mn-ea"/>
                <a:sym typeface="+mn-lt"/>
              </a:rPr>
            </a:fld>
            <a:endParaRPr lang="en-US" altLang="zh-CN">
              <a:latin typeface="+mn-lt"/>
              <a:ea typeface="+mn-ea"/>
              <a:cs typeface="+mn-ea"/>
              <a:sym typeface="+mn-lt"/>
            </a:endParaRPr>
          </a:p>
        </p:txBody>
      </p:sp>
      <p:sp>
        <p:nvSpPr>
          <p:cNvPr id="5" name="标题 1"/>
          <p:cNvSpPr txBox="1"/>
          <p:nvPr/>
        </p:nvSpPr>
        <p:spPr>
          <a:xfrm>
            <a:off x="680915" y="305666"/>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en-US" altLang="zh-CN" dirty="0">
                <a:latin typeface="+mn-lt"/>
                <a:ea typeface="+mn-ea"/>
                <a:cs typeface="+mn-ea"/>
                <a:sym typeface="+mn-lt"/>
              </a:rPr>
              <a:t>O</a:t>
            </a:r>
            <a:r>
              <a:rPr lang="zh-CN" altLang="en-US" dirty="0">
                <a:latin typeface="+mn-lt"/>
                <a:ea typeface="+mn-ea"/>
                <a:cs typeface="+mn-ea"/>
                <a:sym typeface="+mn-lt"/>
              </a:rPr>
              <a:t> 优势</a:t>
            </a:r>
            <a:r>
              <a:rPr lang="en-US" altLang="zh-CN" dirty="0">
                <a:latin typeface="+mn-lt"/>
                <a:ea typeface="+mn-ea"/>
                <a:cs typeface="+mn-ea"/>
                <a:sym typeface="+mn-lt"/>
              </a:rPr>
              <a:t>2-</a:t>
            </a:r>
            <a:r>
              <a:rPr lang="zh-CN" altLang="en-US" dirty="0">
                <a:latin typeface="+mn-lt"/>
                <a:ea typeface="+mn-ea"/>
                <a:cs typeface="+mn-ea"/>
                <a:sym typeface="+mn-lt"/>
              </a:rPr>
              <a:t>快速发展的中银数字化平台</a:t>
            </a:r>
            <a:endParaRPr lang="zh-CN" altLang="en-US" dirty="0">
              <a:latin typeface="+mn-lt"/>
              <a:ea typeface="+mn-ea"/>
              <a:cs typeface="+mn-ea"/>
              <a:sym typeface="+mn-lt"/>
            </a:endParaRPr>
          </a:p>
        </p:txBody>
      </p:sp>
      <p:pic>
        <p:nvPicPr>
          <p:cNvPr id="19" name="图片 18"/>
          <p:cNvPicPr>
            <a:picLocks noChangeAspect="1"/>
          </p:cNvPicPr>
          <p:nvPr/>
        </p:nvPicPr>
        <p:blipFill>
          <a:blip r:embed="rId1" cstate="print"/>
          <a:stretch>
            <a:fillRect/>
          </a:stretch>
        </p:blipFill>
        <p:spPr>
          <a:xfrm>
            <a:off x="752739" y="1710501"/>
            <a:ext cx="2650902" cy="4700932"/>
          </a:xfrm>
          <a:prstGeom prst="rect">
            <a:avLst/>
          </a:prstGeom>
        </p:spPr>
      </p:pic>
      <p:pic>
        <p:nvPicPr>
          <p:cNvPr id="20" name="图片 19"/>
          <p:cNvPicPr>
            <a:picLocks noChangeAspect="1"/>
          </p:cNvPicPr>
          <p:nvPr/>
        </p:nvPicPr>
        <p:blipFill>
          <a:blip r:embed="rId2" cstate="print"/>
          <a:stretch>
            <a:fillRect/>
          </a:stretch>
        </p:blipFill>
        <p:spPr>
          <a:xfrm>
            <a:off x="3571672" y="1710501"/>
            <a:ext cx="2695037" cy="4779199"/>
          </a:xfrm>
          <a:prstGeom prst="rect">
            <a:avLst/>
          </a:prstGeom>
        </p:spPr>
      </p:pic>
      <p:sp>
        <p:nvSpPr>
          <p:cNvPr id="21" name="标题 6"/>
          <p:cNvSpPr txBox="1"/>
          <p:nvPr/>
        </p:nvSpPr>
        <p:spPr>
          <a:xfrm>
            <a:off x="658814" y="880638"/>
            <a:ext cx="10777758" cy="685522"/>
          </a:xfrm>
          <a:prstGeom prst="rect">
            <a:avLst/>
          </a:prstGeom>
        </p:spPr>
        <p:txBody>
          <a:bodyPr vert="horz" lIns="91440" tIns="45720" rIns="91440" bIns="45720" rtlCol="0" anchor="ctr">
            <a:normAutofit/>
          </a:bodyPr>
          <a:lstStyle>
            <a:lvl1pPr algn="l" rtl="0" eaLnBrk="0" fontAlgn="base" hangingPunct="0">
              <a:spcBef>
                <a:spcPct val="0"/>
              </a:spcBef>
              <a:spcAft>
                <a:spcPct val="0"/>
              </a:spcAft>
              <a:defRPr sz="2200" b="1">
                <a:solidFill>
                  <a:srgbClr val="000000"/>
                </a:solidFill>
                <a:latin typeface="STZhongsong" panose="02010600040101010101" pitchFamily="2" charset="-122"/>
                <a:ea typeface="STZhongsong" panose="02010600040101010101" pitchFamily="2" charset="-122"/>
                <a:cs typeface="+mj-cs"/>
              </a:defRPr>
            </a:lvl1pPr>
            <a:lvl2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2pPr>
            <a:lvl3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3pPr>
            <a:lvl4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4pPr>
            <a:lvl5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5pPr>
            <a:lvl6pPr marL="457200" algn="l" rtl="0" fontAlgn="base">
              <a:spcBef>
                <a:spcPct val="0"/>
              </a:spcBef>
              <a:spcAft>
                <a:spcPct val="0"/>
              </a:spcAft>
              <a:defRPr sz="1900" b="1">
                <a:solidFill>
                  <a:srgbClr val="000000"/>
                </a:solidFill>
                <a:latin typeface="Arial" panose="020B0604020202090204" pitchFamily="34" charset="0"/>
                <a:ea typeface="윤고딕130" pitchFamily="18" charset="-127"/>
              </a:defRPr>
            </a:lvl6pPr>
            <a:lvl7pPr marL="914400" algn="l" rtl="0" fontAlgn="base">
              <a:spcBef>
                <a:spcPct val="0"/>
              </a:spcBef>
              <a:spcAft>
                <a:spcPct val="0"/>
              </a:spcAft>
              <a:defRPr sz="1900" b="1">
                <a:solidFill>
                  <a:srgbClr val="000000"/>
                </a:solidFill>
                <a:latin typeface="Arial" panose="020B0604020202090204" pitchFamily="34" charset="0"/>
                <a:ea typeface="윤고딕130" pitchFamily="18" charset="-127"/>
              </a:defRPr>
            </a:lvl7pPr>
            <a:lvl8pPr marL="1371600" algn="l" rtl="0" fontAlgn="base">
              <a:spcBef>
                <a:spcPct val="0"/>
              </a:spcBef>
              <a:spcAft>
                <a:spcPct val="0"/>
              </a:spcAft>
              <a:defRPr sz="1900" b="1">
                <a:solidFill>
                  <a:srgbClr val="000000"/>
                </a:solidFill>
                <a:latin typeface="Arial" panose="020B0604020202090204" pitchFamily="34" charset="0"/>
                <a:ea typeface="윤고딕130" pitchFamily="18" charset="-127"/>
              </a:defRPr>
            </a:lvl8pPr>
            <a:lvl9pPr marL="1828800" algn="l" rtl="0" fontAlgn="base">
              <a:spcBef>
                <a:spcPct val="0"/>
              </a:spcBef>
              <a:spcAft>
                <a:spcPct val="0"/>
              </a:spcAft>
              <a:defRPr sz="1900" b="1">
                <a:solidFill>
                  <a:srgbClr val="000000"/>
                </a:solidFill>
                <a:latin typeface="Arial" panose="020B0604020202090204" pitchFamily="34" charset="0"/>
                <a:ea typeface="윤고딕130" pitchFamily="18" charset="-127"/>
              </a:defRPr>
            </a:lvl9pPr>
          </a:lstStyle>
          <a:p>
            <a:r>
              <a:rPr lang="zh-CN" altLang="en-US" sz="1800" dirty="0">
                <a:latin typeface="+mn-lt"/>
                <a:ea typeface="+mn-ea"/>
                <a:cs typeface="+mn-ea"/>
                <a:sym typeface="+mn-lt"/>
              </a:rPr>
              <a:t>优势</a:t>
            </a:r>
            <a:r>
              <a:rPr lang="en-US" altLang="zh-CN" sz="1800" dirty="0">
                <a:latin typeface="+mn-lt"/>
                <a:ea typeface="+mn-ea"/>
                <a:cs typeface="+mn-ea"/>
                <a:sym typeface="+mn-lt"/>
              </a:rPr>
              <a:t>2:</a:t>
            </a:r>
            <a:r>
              <a:rPr lang="zh-CN" altLang="en-US" sz="1800" dirty="0">
                <a:latin typeface="+mn-lt"/>
                <a:ea typeface="+mn-ea"/>
                <a:cs typeface="+mn-ea"/>
                <a:sym typeface="+mn-lt"/>
              </a:rPr>
              <a:t>中银大学在线学习平台</a:t>
            </a:r>
            <a:r>
              <a:rPr lang="en-US" altLang="zh-CN" sz="1800" dirty="0">
                <a:latin typeface="+mn-lt"/>
                <a:ea typeface="+mn-ea"/>
                <a:cs typeface="+mn-ea"/>
                <a:sym typeface="+mn-lt"/>
              </a:rPr>
              <a:t>2016</a:t>
            </a:r>
            <a:r>
              <a:rPr lang="zh-CN" altLang="en-US" sz="1800" dirty="0">
                <a:latin typeface="+mn-lt"/>
                <a:ea typeface="+mn-ea"/>
                <a:cs typeface="+mn-ea"/>
                <a:sym typeface="+mn-lt"/>
              </a:rPr>
              <a:t>年建成投产，经历四次更新迭代，在新技术应用、平台功能和体验升级以及学习内容扩充上，取得长足进步。</a:t>
            </a:r>
            <a:endParaRPr lang="zh-CN" altLang="en-US" sz="1800" kern="0" dirty="0">
              <a:latin typeface="+mn-lt"/>
              <a:ea typeface="+mn-ea"/>
              <a:cs typeface="+mn-ea"/>
              <a:sym typeface="+mn-lt"/>
            </a:endParaRPr>
          </a:p>
        </p:txBody>
      </p:sp>
      <p:sp>
        <p:nvSpPr>
          <p:cNvPr id="29" name="矩形 28"/>
          <p:cNvSpPr/>
          <p:nvPr/>
        </p:nvSpPr>
        <p:spPr>
          <a:xfrm>
            <a:off x="6685285" y="2104975"/>
            <a:ext cx="4542542" cy="662608"/>
          </a:xfrm>
          <a:prstGeom prst="rect">
            <a:avLst/>
          </a:prstGeom>
          <a:solidFill>
            <a:schemeClr val="tx1">
              <a:lumMod val="50000"/>
              <a:lumOff val="50000"/>
            </a:schemeClr>
          </a:solidFill>
        </p:spPr>
        <p:style>
          <a:lnRef idx="2">
            <a:schemeClr val="dk1">
              <a:shade val="50000"/>
            </a:schemeClr>
          </a:lnRef>
          <a:fillRef idx="1">
            <a:schemeClr val="dk1"/>
          </a:fillRef>
          <a:effectRef idx="0">
            <a:schemeClr val="dk1"/>
          </a:effectRef>
          <a:fontRef idx="minor">
            <a:schemeClr val="lt1"/>
          </a:fontRef>
        </p:style>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38" name="文本框 37"/>
          <p:cNvSpPr txBox="1"/>
          <p:nvPr/>
        </p:nvSpPr>
        <p:spPr>
          <a:xfrm>
            <a:off x="6685282" y="2128465"/>
            <a:ext cx="4542541" cy="523220"/>
          </a:xfrm>
          <a:prstGeom prst="rect">
            <a:avLst/>
          </a:prstGeom>
          <a:noFill/>
        </p:spPr>
        <p:txBody>
          <a:bodyPr wrap="square" rtlCol="0">
            <a:spAutoFit/>
          </a:bodyPr>
          <a:lstStyle/>
          <a:p>
            <a:r>
              <a:rPr kumimoji="1" lang="zh-CN" altLang="en-US" sz="1400" dirty="0">
                <a:solidFill>
                  <a:schemeClr val="bg1"/>
                </a:solidFill>
                <a:latin typeface="华文中宋" panose="02010600040101010101" pitchFamily="2" charset="-122"/>
                <a:ea typeface="华文中宋" panose="02010600040101010101" pitchFamily="2" charset="-122"/>
              </a:rPr>
              <a:t>栏目模块不断健全：</a:t>
            </a:r>
            <a:endParaRPr kumimoji="1" lang="en-US" altLang="zh-CN" sz="1400" dirty="0">
              <a:solidFill>
                <a:schemeClr val="bg1"/>
              </a:solidFill>
              <a:latin typeface="华文中宋" panose="02010600040101010101" pitchFamily="2" charset="-122"/>
              <a:ea typeface="华文中宋" panose="02010600040101010101" pitchFamily="2" charset="-122"/>
            </a:endParaRPr>
          </a:p>
          <a:p>
            <a:r>
              <a:rPr kumimoji="1" lang="zh-CN" altLang="en-US" sz="1400" dirty="0">
                <a:solidFill>
                  <a:schemeClr val="bg1"/>
                </a:solidFill>
                <a:latin typeface="华文中宋" panose="02010600040101010101" pitchFamily="2" charset="-122"/>
                <a:ea typeface="华文中宋" panose="02010600040101010101" pitchFamily="2" charset="-122"/>
              </a:rPr>
              <a:t>建立了九大网络学院、行史馆、案例中心等</a:t>
            </a:r>
            <a:endParaRPr kumimoji="1" lang="zh-CN" altLang="en-US" sz="1400" dirty="0">
              <a:solidFill>
                <a:schemeClr val="bg1"/>
              </a:solidFill>
              <a:latin typeface="华文中宋" panose="02010600040101010101" pitchFamily="2" charset="-122"/>
              <a:ea typeface="华文中宋" panose="02010600040101010101" pitchFamily="2" charset="-122"/>
            </a:endParaRPr>
          </a:p>
        </p:txBody>
      </p:sp>
      <p:sp>
        <p:nvSpPr>
          <p:cNvPr id="39" name="矩形 38"/>
          <p:cNvSpPr/>
          <p:nvPr/>
        </p:nvSpPr>
        <p:spPr>
          <a:xfrm>
            <a:off x="6685284" y="4068697"/>
            <a:ext cx="4542542" cy="662608"/>
          </a:xfrm>
          <a:prstGeom prst="rect">
            <a:avLst/>
          </a:prstGeom>
          <a:solidFill>
            <a:schemeClr val="tx1">
              <a:lumMod val="50000"/>
              <a:lumOff val="50000"/>
            </a:schemeClr>
          </a:solidFill>
        </p:spPr>
        <p:style>
          <a:lnRef idx="2">
            <a:schemeClr val="dk1">
              <a:shade val="50000"/>
            </a:schemeClr>
          </a:lnRef>
          <a:fillRef idx="1">
            <a:schemeClr val="dk1"/>
          </a:fillRef>
          <a:effectRef idx="0">
            <a:schemeClr val="dk1"/>
          </a:effectRef>
          <a:fontRef idx="minor">
            <a:schemeClr val="lt1"/>
          </a:fontRef>
        </p:style>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40" name="文本框 39"/>
          <p:cNvSpPr txBox="1"/>
          <p:nvPr/>
        </p:nvSpPr>
        <p:spPr>
          <a:xfrm>
            <a:off x="6685284" y="4105835"/>
            <a:ext cx="4542541" cy="523220"/>
          </a:xfrm>
          <a:prstGeom prst="rect">
            <a:avLst/>
          </a:prstGeom>
          <a:noFill/>
        </p:spPr>
        <p:txBody>
          <a:bodyPr wrap="square" rtlCol="0">
            <a:spAutoFit/>
          </a:bodyPr>
          <a:lstStyle/>
          <a:p>
            <a:r>
              <a:rPr kumimoji="1" lang="zh-CN" altLang="en-US" sz="1400" dirty="0">
                <a:solidFill>
                  <a:schemeClr val="bg1"/>
                </a:solidFill>
                <a:latin typeface="华文中宋" panose="02010600040101010101" pitchFamily="2" charset="-122"/>
                <a:ea typeface="华文中宋" panose="02010600040101010101" pitchFamily="2" charset="-122"/>
              </a:rPr>
              <a:t>平台内容持续充实：</a:t>
            </a:r>
            <a:endParaRPr kumimoji="1" lang="en-US" altLang="zh-CN" sz="1400" dirty="0">
              <a:solidFill>
                <a:schemeClr val="bg1"/>
              </a:solidFill>
              <a:latin typeface="华文中宋" panose="02010600040101010101" pitchFamily="2" charset="-122"/>
              <a:ea typeface="华文中宋" panose="02010600040101010101" pitchFamily="2" charset="-122"/>
            </a:endParaRPr>
          </a:p>
          <a:p>
            <a:r>
              <a:rPr kumimoji="1" lang="zh-CN" altLang="en-US" sz="1400" dirty="0">
                <a:solidFill>
                  <a:schemeClr val="bg1"/>
                </a:solidFill>
                <a:latin typeface="华文中宋" panose="02010600040101010101" pitchFamily="2" charset="-122"/>
                <a:ea typeface="华文中宋" panose="02010600040101010101" pitchFamily="2" charset="-122"/>
              </a:rPr>
              <a:t>累计在线课程发布</a:t>
            </a:r>
            <a:r>
              <a:rPr kumimoji="1" lang="en-US" altLang="zh-CN" sz="1400" dirty="0">
                <a:solidFill>
                  <a:schemeClr val="bg1"/>
                </a:solidFill>
                <a:latin typeface="华文中宋" panose="02010600040101010101" pitchFamily="2" charset="-122"/>
                <a:ea typeface="华文中宋" panose="02010600040101010101" pitchFamily="2" charset="-122"/>
              </a:rPr>
              <a:t>1.4</a:t>
            </a:r>
            <a:r>
              <a:rPr kumimoji="1" lang="zh-CN" altLang="en-US" sz="1400" dirty="0">
                <a:solidFill>
                  <a:schemeClr val="bg1"/>
                </a:solidFill>
                <a:latin typeface="华文中宋" panose="02010600040101010101" pitchFamily="2" charset="-122"/>
                <a:ea typeface="华文中宋" panose="02010600040101010101" pitchFamily="2" charset="-122"/>
              </a:rPr>
              <a:t>万门、原创课程</a:t>
            </a:r>
            <a:endParaRPr kumimoji="1" lang="zh-CN" altLang="en-US" sz="1400" dirty="0">
              <a:solidFill>
                <a:schemeClr val="bg1"/>
              </a:solidFill>
              <a:latin typeface="华文中宋" panose="02010600040101010101" pitchFamily="2" charset="-122"/>
              <a:ea typeface="华文中宋" panose="02010600040101010101" pitchFamily="2" charset="-122"/>
            </a:endParaRPr>
          </a:p>
        </p:txBody>
      </p:sp>
      <p:sp>
        <p:nvSpPr>
          <p:cNvPr id="41" name="矩形 40"/>
          <p:cNvSpPr/>
          <p:nvPr/>
        </p:nvSpPr>
        <p:spPr>
          <a:xfrm>
            <a:off x="6685284" y="3136846"/>
            <a:ext cx="4542542" cy="662608"/>
          </a:xfrm>
          <a:prstGeom prst="rect">
            <a:avLst/>
          </a:prstGeom>
          <a:solidFill>
            <a:schemeClr val="tx1">
              <a:lumMod val="50000"/>
              <a:lumOff val="50000"/>
            </a:schemeClr>
          </a:solidFill>
        </p:spPr>
        <p:style>
          <a:lnRef idx="2">
            <a:schemeClr val="dk1">
              <a:shade val="50000"/>
            </a:schemeClr>
          </a:lnRef>
          <a:fillRef idx="1">
            <a:schemeClr val="dk1"/>
          </a:fillRef>
          <a:effectRef idx="0">
            <a:schemeClr val="dk1"/>
          </a:effectRef>
          <a:fontRef idx="minor">
            <a:schemeClr val="lt1"/>
          </a:fontRef>
        </p:style>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42" name="文本框 41"/>
          <p:cNvSpPr txBox="1"/>
          <p:nvPr/>
        </p:nvSpPr>
        <p:spPr>
          <a:xfrm>
            <a:off x="6685284" y="3081220"/>
            <a:ext cx="4542541" cy="738664"/>
          </a:xfrm>
          <a:prstGeom prst="rect">
            <a:avLst/>
          </a:prstGeom>
          <a:noFill/>
        </p:spPr>
        <p:txBody>
          <a:bodyPr wrap="square" rtlCol="0">
            <a:spAutoFit/>
          </a:bodyPr>
          <a:lstStyle/>
          <a:p>
            <a:r>
              <a:rPr kumimoji="1" lang="zh-CN" altLang="en-US" sz="1400" dirty="0">
                <a:solidFill>
                  <a:schemeClr val="bg1"/>
                </a:solidFill>
                <a:latin typeface="华文中宋" panose="02010600040101010101" pitchFamily="2" charset="-122"/>
                <a:ea typeface="华文中宋" panose="02010600040101010101" pitchFamily="2" charset="-122"/>
              </a:rPr>
              <a:t>功能建设逐渐完善：</a:t>
            </a:r>
            <a:endParaRPr kumimoji="1" lang="en-US" altLang="zh-CN" sz="1400" dirty="0">
              <a:solidFill>
                <a:schemeClr val="bg1"/>
              </a:solidFill>
              <a:latin typeface="华文中宋" panose="02010600040101010101" pitchFamily="2" charset="-122"/>
              <a:ea typeface="华文中宋" panose="02010600040101010101" pitchFamily="2" charset="-122"/>
            </a:endParaRPr>
          </a:p>
          <a:p>
            <a:r>
              <a:rPr kumimoji="1" lang="zh-CN" altLang="en-US" sz="1400" dirty="0">
                <a:solidFill>
                  <a:schemeClr val="bg1"/>
                </a:solidFill>
                <a:latin typeface="华文中宋" panose="02010600040101010101" pitchFamily="2" charset="-122"/>
                <a:ea typeface="华文中宋" panose="02010600040101010101" pitchFamily="2" charset="-122"/>
              </a:rPr>
              <a:t>手机移动学习、在线直播、在线考试、智能报表、互动问答等功能</a:t>
            </a:r>
            <a:endParaRPr kumimoji="1" lang="zh-CN" altLang="en-US" sz="1400" dirty="0">
              <a:solidFill>
                <a:schemeClr val="bg1"/>
              </a:solidFill>
              <a:latin typeface="华文中宋" panose="02010600040101010101" pitchFamily="2" charset="-122"/>
              <a:ea typeface="华文中宋" panose="02010600040101010101" pitchFamily="2" charset="-122"/>
            </a:endParaRPr>
          </a:p>
        </p:txBody>
      </p:sp>
      <p:sp>
        <p:nvSpPr>
          <p:cNvPr id="43" name="矩形 42"/>
          <p:cNvSpPr/>
          <p:nvPr/>
        </p:nvSpPr>
        <p:spPr>
          <a:xfrm>
            <a:off x="6685283" y="5047335"/>
            <a:ext cx="4542542" cy="662608"/>
          </a:xfrm>
          <a:prstGeom prst="rect">
            <a:avLst/>
          </a:prstGeom>
          <a:solidFill>
            <a:schemeClr val="tx1">
              <a:lumMod val="50000"/>
              <a:lumOff val="50000"/>
            </a:schemeClr>
          </a:solidFill>
        </p:spPr>
        <p:style>
          <a:lnRef idx="2">
            <a:schemeClr val="dk1">
              <a:shade val="50000"/>
            </a:schemeClr>
          </a:lnRef>
          <a:fillRef idx="1">
            <a:schemeClr val="dk1"/>
          </a:fillRef>
          <a:effectRef idx="0">
            <a:schemeClr val="dk1"/>
          </a:effectRef>
          <a:fontRef idx="minor">
            <a:schemeClr val="lt1"/>
          </a:fontRef>
        </p:style>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44" name="文本框 43"/>
          <p:cNvSpPr txBox="1"/>
          <p:nvPr/>
        </p:nvSpPr>
        <p:spPr>
          <a:xfrm>
            <a:off x="6685283" y="5004961"/>
            <a:ext cx="4542541" cy="738664"/>
          </a:xfrm>
          <a:prstGeom prst="rect">
            <a:avLst/>
          </a:prstGeom>
          <a:noFill/>
        </p:spPr>
        <p:txBody>
          <a:bodyPr wrap="square" rtlCol="0">
            <a:spAutoFit/>
          </a:bodyPr>
          <a:lstStyle/>
          <a:p>
            <a:r>
              <a:rPr kumimoji="1" lang="zh-CN" altLang="en-US" sz="1400" dirty="0">
                <a:solidFill>
                  <a:schemeClr val="bg1"/>
                </a:solidFill>
                <a:latin typeface="华文中宋" panose="02010600040101010101" pitchFamily="2" charset="-122"/>
                <a:ea typeface="华文中宋" panose="02010600040101010101" pitchFamily="2" charset="-122"/>
              </a:rPr>
              <a:t>运营效率提升：</a:t>
            </a:r>
            <a:endParaRPr kumimoji="1" lang="en-US" altLang="zh-CN" sz="1400" dirty="0">
              <a:solidFill>
                <a:schemeClr val="bg1"/>
              </a:solidFill>
              <a:latin typeface="华文中宋" panose="02010600040101010101" pitchFamily="2" charset="-122"/>
              <a:ea typeface="华文中宋" panose="02010600040101010101" pitchFamily="2" charset="-122"/>
            </a:endParaRPr>
          </a:p>
          <a:p>
            <a:r>
              <a:rPr kumimoji="1" lang="zh-CN" altLang="en-US" sz="1400" dirty="0">
                <a:solidFill>
                  <a:schemeClr val="bg1"/>
                </a:solidFill>
                <a:latin typeface="华文中宋" panose="02010600040101010101" pitchFamily="2" charset="-122"/>
                <a:ea typeface="华文中宋" panose="02010600040101010101" pitchFamily="2" charset="-122"/>
              </a:rPr>
              <a:t>线上考试超</a:t>
            </a:r>
            <a:r>
              <a:rPr kumimoji="1" lang="en-US" altLang="zh-CN" sz="1400" dirty="0">
                <a:solidFill>
                  <a:schemeClr val="bg1"/>
                </a:solidFill>
                <a:latin typeface="华文中宋" panose="02010600040101010101" pitchFamily="2" charset="-122"/>
                <a:ea typeface="华文中宋" panose="02010600040101010101" pitchFamily="2" charset="-122"/>
              </a:rPr>
              <a:t>460</a:t>
            </a:r>
            <a:r>
              <a:rPr kumimoji="1" lang="zh-CN" altLang="en-US" sz="1400" dirty="0">
                <a:solidFill>
                  <a:schemeClr val="bg1"/>
                </a:solidFill>
                <a:latin typeface="华文中宋" panose="02010600040101010101" pitchFamily="2" charset="-122"/>
                <a:ea typeface="华文中宋" panose="02010600040101010101" pitchFamily="2" charset="-122"/>
              </a:rPr>
              <a:t>万人次，直播近</a:t>
            </a:r>
            <a:r>
              <a:rPr kumimoji="1" lang="en-US" altLang="zh-CN" sz="1400" dirty="0">
                <a:solidFill>
                  <a:schemeClr val="bg1"/>
                </a:solidFill>
                <a:latin typeface="华文中宋" panose="02010600040101010101" pitchFamily="2" charset="-122"/>
                <a:ea typeface="华文中宋" panose="02010600040101010101" pitchFamily="2" charset="-122"/>
              </a:rPr>
              <a:t>2800</a:t>
            </a:r>
            <a:r>
              <a:rPr kumimoji="1" lang="zh-CN" altLang="en-US" sz="1400" dirty="0">
                <a:solidFill>
                  <a:schemeClr val="bg1"/>
                </a:solidFill>
                <a:latin typeface="华文中宋" panose="02010600040101010101" pitchFamily="2" charset="-122"/>
                <a:ea typeface="华文中宋" panose="02010600040101010101" pitchFamily="2" charset="-122"/>
              </a:rPr>
              <a:t>场，</a:t>
            </a:r>
            <a:r>
              <a:rPr kumimoji="1" lang="en-US" altLang="zh-CN" sz="1400" dirty="0">
                <a:solidFill>
                  <a:schemeClr val="bg1"/>
                </a:solidFill>
                <a:latin typeface="华文中宋" panose="02010600040101010101" pitchFamily="2" charset="-122"/>
                <a:ea typeface="华文中宋" panose="02010600040101010101" pitchFamily="2" charset="-122"/>
              </a:rPr>
              <a:t>280</a:t>
            </a:r>
            <a:r>
              <a:rPr kumimoji="1" lang="zh-CN" altLang="en-US" sz="1400" dirty="0">
                <a:solidFill>
                  <a:schemeClr val="bg1"/>
                </a:solidFill>
                <a:latin typeface="华文中宋" panose="02010600040101010101" pitchFamily="2" charset="-122"/>
                <a:ea typeface="华文中宋" panose="02010600040101010101" pitchFamily="2" charset="-122"/>
              </a:rPr>
              <a:t>万人次参与学习，全天在线最高</a:t>
            </a:r>
            <a:r>
              <a:rPr kumimoji="1" lang="en-US" altLang="zh-CN" sz="1400" dirty="0">
                <a:solidFill>
                  <a:schemeClr val="bg1"/>
                </a:solidFill>
                <a:latin typeface="华文中宋" panose="02010600040101010101" pitchFamily="2" charset="-122"/>
                <a:ea typeface="华文中宋" panose="02010600040101010101" pitchFamily="2" charset="-122"/>
              </a:rPr>
              <a:t>5</a:t>
            </a:r>
            <a:r>
              <a:rPr kumimoji="1" lang="zh-CN" altLang="en-US" sz="1400" dirty="0">
                <a:solidFill>
                  <a:schemeClr val="bg1"/>
                </a:solidFill>
                <a:latin typeface="华文中宋" panose="02010600040101010101" pitchFamily="2" charset="-122"/>
                <a:ea typeface="华文中宋" panose="02010600040101010101" pitchFamily="2" charset="-122"/>
              </a:rPr>
              <a:t>万人</a:t>
            </a:r>
            <a:endParaRPr kumimoji="1" lang="zh-CN" altLang="en-US" sz="1400" dirty="0">
              <a:solidFill>
                <a:schemeClr val="bg1"/>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52DF7D90-B49A-4800-BC0D-FE9A7C3546DE}" type="slidenum">
              <a:rPr lang="zh-CN" altLang="en-US" smtClean="0">
                <a:latin typeface="+mn-lt"/>
                <a:ea typeface="+mn-ea"/>
                <a:cs typeface="+mn-ea"/>
                <a:sym typeface="+mn-lt"/>
              </a:rPr>
            </a:fld>
            <a:endParaRPr lang="en-US" altLang="zh-CN">
              <a:latin typeface="+mn-lt"/>
              <a:ea typeface="+mn-ea"/>
              <a:cs typeface="+mn-ea"/>
              <a:sym typeface="+mn-lt"/>
            </a:endParaRPr>
          </a:p>
        </p:txBody>
      </p:sp>
      <p:sp>
        <p:nvSpPr>
          <p:cNvPr id="4" name="标题 1"/>
          <p:cNvSpPr txBox="1"/>
          <p:nvPr/>
        </p:nvSpPr>
        <p:spPr>
          <a:xfrm>
            <a:off x="689708" y="301109"/>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en-US" altLang="zh-CN" dirty="0">
                <a:latin typeface="+mn-lt"/>
                <a:ea typeface="+mn-ea"/>
                <a:cs typeface="+mn-ea"/>
                <a:sym typeface="+mn-lt"/>
              </a:rPr>
              <a:t>O</a:t>
            </a:r>
            <a:r>
              <a:rPr lang="zh-CN" altLang="en-US" dirty="0">
                <a:latin typeface="+mn-lt"/>
                <a:ea typeface="+mn-ea"/>
                <a:cs typeface="+mn-ea"/>
                <a:sym typeface="+mn-lt"/>
              </a:rPr>
              <a:t> 优势</a:t>
            </a:r>
            <a:r>
              <a:rPr lang="en-US" altLang="zh-CN" dirty="0">
                <a:latin typeface="+mn-lt"/>
                <a:ea typeface="+mn-ea"/>
                <a:cs typeface="+mn-ea"/>
                <a:sym typeface="+mn-lt"/>
              </a:rPr>
              <a:t>3-</a:t>
            </a:r>
            <a:r>
              <a:rPr lang="zh-CN" altLang="en-US" dirty="0">
                <a:sym typeface="+mn-lt"/>
              </a:rPr>
              <a:t>建立了</a:t>
            </a:r>
            <a:r>
              <a:rPr lang="zh-CN" altLang="zh-CN" dirty="0"/>
              <a:t>全球化培训基地</a:t>
            </a:r>
            <a:endParaRPr lang="zh-CN" altLang="zh-CN" dirty="0"/>
          </a:p>
        </p:txBody>
      </p:sp>
      <p:pic>
        <p:nvPicPr>
          <p:cNvPr id="30" name="图片 29"/>
          <p:cNvPicPr>
            <a:picLocks noChangeAspect="1"/>
          </p:cNvPicPr>
          <p:nvPr/>
        </p:nvPicPr>
        <p:blipFill>
          <a:blip r:embed="rId1" cstate="print"/>
          <a:stretch>
            <a:fillRect/>
          </a:stretch>
        </p:blipFill>
        <p:spPr>
          <a:xfrm>
            <a:off x="1767412" y="2146500"/>
            <a:ext cx="1498205" cy="1226675"/>
          </a:xfrm>
          <a:prstGeom prst="rect">
            <a:avLst/>
          </a:prstGeom>
        </p:spPr>
      </p:pic>
      <p:pic>
        <p:nvPicPr>
          <p:cNvPr id="31" name="图片 30"/>
          <p:cNvPicPr>
            <a:picLocks noChangeAspect="1"/>
          </p:cNvPicPr>
          <p:nvPr/>
        </p:nvPicPr>
        <p:blipFill>
          <a:blip r:embed="rId2" cstate="print"/>
          <a:stretch>
            <a:fillRect/>
          </a:stretch>
        </p:blipFill>
        <p:spPr>
          <a:xfrm>
            <a:off x="9054361" y="2146500"/>
            <a:ext cx="1537285" cy="1279418"/>
          </a:xfrm>
          <a:prstGeom prst="rect">
            <a:avLst/>
          </a:prstGeom>
        </p:spPr>
      </p:pic>
      <p:sp>
        <p:nvSpPr>
          <p:cNvPr id="38" name="标题 6"/>
          <p:cNvSpPr txBox="1"/>
          <p:nvPr/>
        </p:nvSpPr>
        <p:spPr>
          <a:xfrm>
            <a:off x="608466" y="951928"/>
            <a:ext cx="11079531" cy="685522"/>
          </a:xfrm>
          <a:prstGeom prst="rect">
            <a:avLst/>
          </a:prstGeom>
        </p:spPr>
        <p:txBody>
          <a:bodyPr vert="horz" lIns="91440" tIns="45720" rIns="91440" bIns="45720" rtlCol="0" anchor="ctr">
            <a:noAutofit/>
          </a:bodyPr>
          <a:lstStyle>
            <a:lvl1pPr algn="l" rtl="0" eaLnBrk="0" fontAlgn="base" hangingPunct="0">
              <a:spcBef>
                <a:spcPct val="0"/>
              </a:spcBef>
              <a:spcAft>
                <a:spcPct val="0"/>
              </a:spcAft>
              <a:defRPr sz="2200" b="1">
                <a:solidFill>
                  <a:srgbClr val="000000"/>
                </a:solidFill>
                <a:latin typeface="STZhongsong" panose="02010600040101010101" pitchFamily="2" charset="-122"/>
                <a:ea typeface="STZhongsong" panose="02010600040101010101" pitchFamily="2" charset="-122"/>
                <a:cs typeface="+mj-cs"/>
              </a:defRPr>
            </a:lvl1pPr>
            <a:lvl2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2pPr>
            <a:lvl3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3pPr>
            <a:lvl4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4pPr>
            <a:lvl5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5pPr>
            <a:lvl6pPr marL="457200" algn="l" rtl="0" fontAlgn="base">
              <a:spcBef>
                <a:spcPct val="0"/>
              </a:spcBef>
              <a:spcAft>
                <a:spcPct val="0"/>
              </a:spcAft>
              <a:defRPr sz="1900" b="1">
                <a:solidFill>
                  <a:srgbClr val="000000"/>
                </a:solidFill>
                <a:latin typeface="Arial" panose="020B0604020202090204" pitchFamily="34" charset="0"/>
                <a:ea typeface="윤고딕130" pitchFamily="18" charset="-127"/>
              </a:defRPr>
            </a:lvl6pPr>
            <a:lvl7pPr marL="914400" algn="l" rtl="0" fontAlgn="base">
              <a:spcBef>
                <a:spcPct val="0"/>
              </a:spcBef>
              <a:spcAft>
                <a:spcPct val="0"/>
              </a:spcAft>
              <a:defRPr sz="1900" b="1">
                <a:solidFill>
                  <a:srgbClr val="000000"/>
                </a:solidFill>
                <a:latin typeface="Arial" panose="020B0604020202090204" pitchFamily="34" charset="0"/>
                <a:ea typeface="윤고딕130" pitchFamily="18" charset="-127"/>
              </a:defRPr>
            </a:lvl7pPr>
            <a:lvl8pPr marL="1371600" algn="l" rtl="0" fontAlgn="base">
              <a:spcBef>
                <a:spcPct val="0"/>
              </a:spcBef>
              <a:spcAft>
                <a:spcPct val="0"/>
              </a:spcAft>
              <a:defRPr sz="1900" b="1">
                <a:solidFill>
                  <a:srgbClr val="000000"/>
                </a:solidFill>
                <a:latin typeface="Arial" panose="020B0604020202090204" pitchFamily="34" charset="0"/>
                <a:ea typeface="윤고딕130" pitchFamily="18" charset="-127"/>
              </a:defRPr>
            </a:lvl8pPr>
            <a:lvl9pPr marL="1828800" algn="l" rtl="0" fontAlgn="base">
              <a:spcBef>
                <a:spcPct val="0"/>
              </a:spcBef>
              <a:spcAft>
                <a:spcPct val="0"/>
              </a:spcAft>
              <a:defRPr sz="1900" b="1">
                <a:solidFill>
                  <a:srgbClr val="000000"/>
                </a:solidFill>
                <a:latin typeface="Arial" panose="020B0604020202090204" pitchFamily="34" charset="0"/>
                <a:ea typeface="윤고딕130" pitchFamily="18" charset="-127"/>
              </a:defRPr>
            </a:lvl9pPr>
          </a:lstStyle>
          <a:p>
            <a:r>
              <a:rPr lang="zh-CN" altLang="en-US" sz="1800" dirty="0">
                <a:latin typeface="+mn-lt"/>
                <a:ea typeface="+mn-ea"/>
                <a:cs typeface="+mn-ea"/>
                <a:sym typeface="+mn-lt"/>
              </a:rPr>
              <a:t>优势</a:t>
            </a:r>
            <a:r>
              <a:rPr lang="en-US" altLang="zh-CN" sz="1800" dirty="0">
                <a:latin typeface="+mn-lt"/>
                <a:ea typeface="+mn-ea"/>
                <a:cs typeface="+mn-ea"/>
                <a:sym typeface="+mn-lt"/>
              </a:rPr>
              <a:t>3:</a:t>
            </a:r>
            <a:r>
              <a:rPr lang="zh-CN" altLang="en-US" sz="1800" dirty="0">
                <a:latin typeface="+mn-lt"/>
                <a:ea typeface="+mn-ea"/>
                <a:cs typeface="+mn-ea"/>
                <a:sym typeface="+mn-lt"/>
              </a:rPr>
              <a:t>建立了遍布全球的培训机构，包括数十家境内分行培训机构和多家境外培训中心，</a:t>
            </a:r>
            <a:r>
              <a:rPr kumimoji="1" lang="zh-CN" altLang="en-US" sz="1800" dirty="0">
                <a:latin typeface="+mn-lt"/>
                <a:ea typeface="+mn-ea"/>
                <a:cs typeface="+mn-ea"/>
                <a:sym typeface="+mn-lt"/>
              </a:rPr>
              <a:t>为国内外顶级商学院和研究机构等合作提供了桥梁，同时</a:t>
            </a:r>
            <a:r>
              <a:rPr lang="zh-CN" altLang="en-US" sz="1800" dirty="0">
                <a:latin typeface="+mn-lt"/>
                <a:ea typeface="+mn-ea"/>
                <a:cs typeface="+mn-ea"/>
                <a:sym typeface="+mn-lt"/>
              </a:rPr>
              <a:t>为人才落地培养和全球化人才库建设提供了硬件平台保障。</a:t>
            </a:r>
            <a:endParaRPr lang="zh-CN" altLang="en-US" sz="1800" kern="0" dirty="0">
              <a:latin typeface="+mn-lt"/>
              <a:ea typeface="+mn-ea"/>
              <a:cs typeface="+mn-ea"/>
              <a:sym typeface="+mn-lt"/>
            </a:endParaRPr>
          </a:p>
        </p:txBody>
      </p:sp>
      <p:sp>
        <p:nvSpPr>
          <p:cNvPr id="39" name="任意形状 17"/>
          <p:cNvSpPr/>
          <p:nvPr/>
        </p:nvSpPr>
        <p:spPr>
          <a:xfrm>
            <a:off x="3393964" y="2042452"/>
            <a:ext cx="5508538" cy="1325402"/>
          </a:xfrm>
          <a:custGeom>
            <a:avLst/>
            <a:gdLst>
              <a:gd name="connsiteX0" fmla="*/ 0 w 6602484"/>
              <a:gd name="connsiteY0" fmla="*/ 138873 h 1388731"/>
              <a:gd name="connsiteX1" fmla="*/ 138873 w 6602484"/>
              <a:gd name="connsiteY1" fmla="*/ 0 h 1388731"/>
              <a:gd name="connsiteX2" fmla="*/ 6463611 w 6602484"/>
              <a:gd name="connsiteY2" fmla="*/ 0 h 1388731"/>
              <a:gd name="connsiteX3" fmla="*/ 6602484 w 6602484"/>
              <a:gd name="connsiteY3" fmla="*/ 138873 h 1388731"/>
              <a:gd name="connsiteX4" fmla="*/ 6602484 w 6602484"/>
              <a:gd name="connsiteY4" fmla="*/ 1249858 h 1388731"/>
              <a:gd name="connsiteX5" fmla="*/ 6463611 w 6602484"/>
              <a:gd name="connsiteY5" fmla="*/ 1388731 h 1388731"/>
              <a:gd name="connsiteX6" fmla="*/ 138873 w 6602484"/>
              <a:gd name="connsiteY6" fmla="*/ 1388731 h 1388731"/>
              <a:gd name="connsiteX7" fmla="*/ 0 w 6602484"/>
              <a:gd name="connsiteY7" fmla="*/ 1249858 h 1388731"/>
              <a:gd name="connsiteX8" fmla="*/ 0 w 6602484"/>
              <a:gd name="connsiteY8" fmla="*/ 138873 h 138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02484" h="1388731">
                <a:moveTo>
                  <a:pt x="0" y="138873"/>
                </a:moveTo>
                <a:cubicBezTo>
                  <a:pt x="0" y="62176"/>
                  <a:pt x="62176" y="0"/>
                  <a:pt x="138873" y="0"/>
                </a:cubicBezTo>
                <a:lnTo>
                  <a:pt x="6463611" y="0"/>
                </a:lnTo>
                <a:cubicBezTo>
                  <a:pt x="6540308" y="0"/>
                  <a:pt x="6602484" y="62176"/>
                  <a:pt x="6602484" y="138873"/>
                </a:cubicBezTo>
                <a:lnTo>
                  <a:pt x="6602484" y="1249858"/>
                </a:lnTo>
                <a:cubicBezTo>
                  <a:pt x="6602484" y="1326555"/>
                  <a:pt x="6540308" y="1388731"/>
                  <a:pt x="6463611" y="1388731"/>
                </a:cubicBezTo>
                <a:lnTo>
                  <a:pt x="138873" y="1388731"/>
                </a:lnTo>
                <a:cubicBezTo>
                  <a:pt x="62176" y="1388731"/>
                  <a:pt x="0" y="1326555"/>
                  <a:pt x="0" y="1249858"/>
                </a:cubicBezTo>
                <a:lnTo>
                  <a:pt x="0" y="138873"/>
                </a:lnTo>
                <a:close/>
              </a:path>
            </a:pathLst>
          </a:custGeom>
          <a:solidFill>
            <a:srgbClr val="C00000"/>
          </a:solidFill>
          <a:ln>
            <a:solidFill>
              <a:srgbClr val="C00000"/>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9745" tIns="219745" rIns="219745" bIns="219745" numCol="1" spcCol="1270" anchor="ctr" anchorCtr="0">
            <a:noAutofit/>
          </a:bodyPr>
          <a:lstStyle/>
          <a:p>
            <a:pPr marL="0" lvl="0" indent="0" algn="ctr" defTabSz="2089150" rtl="0">
              <a:lnSpc>
                <a:spcPct val="90000"/>
              </a:lnSpc>
              <a:spcBef>
                <a:spcPct val="0"/>
              </a:spcBef>
              <a:spcAft>
                <a:spcPct val="35000"/>
              </a:spcAft>
              <a:buNone/>
            </a:pPr>
            <a:endParaRPr lang="zh-CN" altLang="en-US" sz="4700" kern="1200">
              <a:cs typeface="+mn-ea"/>
              <a:sym typeface="+mn-lt"/>
            </a:endParaRPr>
          </a:p>
        </p:txBody>
      </p:sp>
      <p:sp>
        <p:nvSpPr>
          <p:cNvPr id="40" name="任意形状 18"/>
          <p:cNvSpPr/>
          <p:nvPr/>
        </p:nvSpPr>
        <p:spPr>
          <a:xfrm>
            <a:off x="3393964" y="3479188"/>
            <a:ext cx="2779160" cy="1325402"/>
          </a:xfrm>
          <a:custGeom>
            <a:avLst/>
            <a:gdLst>
              <a:gd name="connsiteX0" fmla="*/ 0 w 4312947"/>
              <a:gd name="connsiteY0" fmla="*/ 138873 h 1388731"/>
              <a:gd name="connsiteX1" fmla="*/ 138873 w 4312947"/>
              <a:gd name="connsiteY1" fmla="*/ 0 h 1388731"/>
              <a:gd name="connsiteX2" fmla="*/ 4174074 w 4312947"/>
              <a:gd name="connsiteY2" fmla="*/ 0 h 1388731"/>
              <a:gd name="connsiteX3" fmla="*/ 4312947 w 4312947"/>
              <a:gd name="connsiteY3" fmla="*/ 138873 h 1388731"/>
              <a:gd name="connsiteX4" fmla="*/ 4312947 w 4312947"/>
              <a:gd name="connsiteY4" fmla="*/ 1249858 h 1388731"/>
              <a:gd name="connsiteX5" fmla="*/ 4174074 w 4312947"/>
              <a:gd name="connsiteY5" fmla="*/ 1388731 h 1388731"/>
              <a:gd name="connsiteX6" fmla="*/ 138873 w 4312947"/>
              <a:gd name="connsiteY6" fmla="*/ 1388731 h 1388731"/>
              <a:gd name="connsiteX7" fmla="*/ 0 w 4312947"/>
              <a:gd name="connsiteY7" fmla="*/ 1249858 h 1388731"/>
              <a:gd name="connsiteX8" fmla="*/ 0 w 4312947"/>
              <a:gd name="connsiteY8" fmla="*/ 138873 h 138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12947" h="1388731">
                <a:moveTo>
                  <a:pt x="0" y="138873"/>
                </a:moveTo>
                <a:cubicBezTo>
                  <a:pt x="0" y="62176"/>
                  <a:pt x="62176" y="0"/>
                  <a:pt x="138873" y="0"/>
                </a:cubicBezTo>
                <a:lnTo>
                  <a:pt x="4174074" y="0"/>
                </a:lnTo>
                <a:cubicBezTo>
                  <a:pt x="4250771" y="0"/>
                  <a:pt x="4312947" y="62176"/>
                  <a:pt x="4312947" y="138873"/>
                </a:cubicBezTo>
                <a:lnTo>
                  <a:pt x="4312947" y="1249858"/>
                </a:lnTo>
                <a:cubicBezTo>
                  <a:pt x="4312947" y="1326555"/>
                  <a:pt x="4250771" y="1388731"/>
                  <a:pt x="4174074" y="1388731"/>
                </a:cubicBezTo>
                <a:lnTo>
                  <a:pt x="138873" y="1388731"/>
                </a:lnTo>
                <a:cubicBezTo>
                  <a:pt x="62176" y="1388731"/>
                  <a:pt x="0" y="1326555"/>
                  <a:pt x="0" y="1249858"/>
                </a:cubicBezTo>
                <a:lnTo>
                  <a:pt x="0" y="138873"/>
                </a:lnTo>
                <a:close/>
              </a:path>
            </a:pathLst>
          </a:custGeom>
          <a:ln>
            <a:solidFill>
              <a:srgbClr val="C00000"/>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9745" tIns="219745" rIns="219745" bIns="219745" numCol="1" spcCol="1270" anchor="ctr" anchorCtr="0">
            <a:noAutofit/>
          </a:bodyPr>
          <a:lstStyle/>
          <a:p>
            <a:pPr marL="0" lvl="0" indent="0" algn="ctr" defTabSz="2089150">
              <a:lnSpc>
                <a:spcPct val="90000"/>
              </a:lnSpc>
              <a:spcBef>
                <a:spcPct val="0"/>
              </a:spcBef>
              <a:spcAft>
                <a:spcPct val="35000"/>
              </a:spcAft>
              <a:buNone/>
            </a:pPr>
            <a:endParaRPr lang="zh-CN" altLang="en-US" sz="4700" kern="1200">
              <a:cs typeface="+mn-ea"/>
              <a:sym typeface="+mn-lt"/>
            </a:endParaRPr>
          </a:p>
        </p:txBody>
      </p:sp>
      <p:sp>
        <p:nvSpPr>
          <p:cNvPr id="41" name="任意形状 19"/>
          <p:cNvSpPr/>
          <p:nvPr/>
        </p:nvSpPr>
        <p:spPr>
          <a:xfrm>
            <a:off x="3393964" y="4915924"/>
            <a:ext cx="1762168" cy="1325402"/>
          </a:xfrm>
          <a:custGeom>
            <a:avLst/>
            <a:gdLst>
              <a:gd name="connsiteX0" fmla="*/ 0 w 2112119"/>
              <a:gd name="connsiteY0" fmla="*/ 138873 h 1388731"/>
              <a:gd name="connsiteX1" fmla="*/ 138873 w 2112119"/>
              <a:gd name="connsiteY1" fmla="*/ 0 h 1388731"/>
              <a:gd name="connsiteX2" fmla="*/ 1973246 w 2112119"/>
              <a:gd name="connsiteY2" fmla="*/ 0 h 1388731"/>
              <a:gd name="connsiteX3" fmla="*/ 2112119 w 2112119"/>
              <a:gd name="connsiteY3" fmla="*/ 138873 h 1388731"/>
              <a:gd name="connsiteX4" fmla="*/ 2112119 w 2112119"/>
              <a:gd name="connsiteY4" fmla="*/ 1249858 h 1388731"/>
              <a:gd name="connsiteX5" fmla="*/ 1973246 w 2112119"/>
              <a:gd name="connsiteY5" fmla="*/ 1388731 h 1388731"/>
              <a:gd name="connsiteX6" fmla="*/ 138873 w 2112119"/>
              <a:gd name="connsiteY6" fmla="*/ 1388731 h 1388731"/>
              <a:gd name="connsiteX7" fmla="*/ 0 w 2112119"/>
              <a:gd name="connsiteY7" fmla="*/ 1249858 h 1388731"/>
              <a:gd name="connsiteX8" fmla="*/ 0 w 2112119"/>
              <a:gd name="connsiteY8" fmla="*/ 138873 h 138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119" h="1388731">
                <a:moveTo>
                  <a:pt x="0" y="138873"/>
                </a:moveTo>
                <a:cubicBezTo>
                  <a:pt x="0" y="62176"/>
                  <a:pt x="62176" y="0"/>
                  <a:pt x="138873" y="0"/>
                </a:cubicBezTo>
                <a:lnTo>
                  <a:pt x="1973246" y="0"/>
                </a:lnTo>
                <a:cubicBezTo>
                  <a:pt x="2049943" y="0"/>
                  <a:pt x="2112119" y="62176"/>
                  <a:pt x="2112119" y="138873"/>
                </a:cubicBezTo>
                <a:lnTo>
                  <a:pt x="2112119" y="1249858"/>
                </a:lnTo>
                <a:cubicBezTo>
                  <a:pt x="2112119" y="1326555"/>
                  <a:pt x="2049943" y="1388731"/>
                  <a:pt x="1973246" y="1388731"/>
                </a:cubicBezTo>
                <a:lnTo>
                  <a:pt x="138873" y="1388731"/>
                </a:lnTo>
                <a:cubicBezTo>
                  <a:pt x="62176" y="1388731"/>
                  <a:pt x="0" y="1326555"/>
                  <a:pt x="0" y="1249858"/>
                </a:cubicBezTo>
                <a:lnTo>
                  <a:pt x="0" y="138873"/>
                </a:lnTo>
                <a:close/>
              </a:path>
            </a:pathLst>
          </a:custGeom>
          <a:ln>
            <a:solidFill>
              <a:srgbClr val="C00000"/>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9745" tIns="219745" rIns="219745" bIns="219745" numCol="1" spcCol="1270" anchor="ctr" anchorCtr="0">
            <a:noAutofit/>
          </a:bodyPr>
          <a:lstStyle/>
          <a:p>
            <a:pPr marL="0" lvl="0" indent="0" algn="ctr" defTabSz="2089150">
              <a:lnSpc>
                <a:spcPct val="90000"/>
              </a:lnSpc>
              <a:spcBef>
                <a:spcPct val="0"/>
              </a:spcBef>
              <a:spcAft>
                <a:spcPct val="35000"/>
              </a:spcAft>
              <a:buNone/>
            </a:pPr>
            <a:endParaRPr lang="zh-CN" altLang="en-US" sz="4700" kern="1200">
              <a:cs typeface="+mn-ea"/>
              <a:sym typeface="+mn-lt"/>
            </a:endParaRPr>
          </a:p>
        </p:txBody>
      </p:sp>
      <p:sp>
        <p:nvSpPr>
          <p:cNvPr id="42" name="任意形状 20"/>
          <p:cNvSpPr/>
          <p:nvPr/>
        </p:nvSpPr>
        <p:spPr>
          <a:xfrm>
            <a:off x="5230144" y="4915924"/>
            <a:ext cx="1762168" cy="1325402"/>
          </a:xfrm>
          <a:custGeom>
            <a:avLst/>
            <a:gdLst>
              <a:gd name="connsiteX0" fmla="*/ 0 w 2112119"/>
              <a:gd name="connsiteY0" fmla="*/ 138873 h 1388731"/>
              <a:gd name="connsiteX1" fmla="*/ 138873 w 2112119"/>
              <a:gd name="connsiteY1" fmla="*/ 0 h 1388731"/>
              <a:gd name="connsiteX2" fmla="*/ 1973246 w 2112119"/>
              <a:gd name="connsiteY2" fmla="*/ 0 h 1388731"/>
              <a:gd name="connsiteX3" fmla="*/ 2112119 w 2112119"/>
              <a:gd name="connsiteY3" fmla="*/ 138873 h 1388731"/>
              <a:gd name="connsiteX4" fmla="*/ 2112119 w 2112119"/>
              <a:gd name="connsiteY4" fmla="*/ 1249858 h 1388731"/>
              <a:gd name="connsiteX5" fmla="*/ 1973246 w 2112119"/>
              <a:gd name="connsiteY5" fmla="*/ 1388731 h 1388731"/>
              <a:gd name="connsiteX6" fmla="*/ 138873 w 2112119"/>
              <a:gd name="connsiteY6" fmla="*/ 1388731 h 1388731"/>
              <a:gd name="connsiteX7" fmla="*/ 0 w 2112119"/>
              <a:gd name="connsiteY7" fmla="*/ 1249858 h 1388731"/>
              <a:gd name="connsiteX8" fmla="*/ 0 w 2112119"/>
              <a:gd name="connsiteY8" fmla="*/ 138873 h 138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119" h="1388731">
                <a:moveTo>
                  <a:pt x="0" y="138873"/>
                </a:moveTo>
                <a:cubicBezTo>
                  <a:pt x="0" y="62176"/>
                  <a:pt x="62176" y="0"/>
                  <a:pt x="138873" y="0"/>
                </a:cubicBezTo>
                <a:lnTo>
                  <a:pt x="1973246" y="0"/>
                </a:lnTo>
                <a:cubicBezTo>
                  <a:pt x="2049943" y="0"/>
                  <a:pt x="2112119" y="62176"/>
                  <a:pt x="2112119" y="138873"/>
                </a:cubicBezTo>
                <a:lnTo>
                  <a:pt x="2112119" y="1249858"/>
                </a:lnTo>
                <a:cubicBezTo>
                  <a:pt x="2112119" y="1326555"/>
                  <a:pt x="2049943" y="1388731"/>
                  <a:pt x="1973246" y="1388731"/>
                </a:cubicBezTo>
                <a:lnTo>
                  <a:pt x="138873" y="1388731"/>
                </a:lnTo>
                <a:cubicBezTo>
                  <a:pt x="62176" y="1388731"/>
                  <a:pt x="0" y="1326555"/>
                  <a:pt x="0" y="1249858"/>
                </a:cubicBezTo>
                <a:lnTo>
                  <a:pt x="0" y="138873"/>
                </a:lnTo>
                <a:close/>
              </a:path>
            </a:pathLst>
          </a:custGeom>
          <a:ln>
            <a:solidFill>
              <a:srgbClr val="C00000"/>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9745" tIns="219745" rIns="219745" bIns="219745" numCol="1" spcCol="1270" anchor="ctr" anchorCtr="0">
            <a:noAutofit/>
          </a:bodyPr>
          <a:lstStyle/>
          <a:p>
            <a:pPr marL="0" lvl="0" indent="0" algn="ctr" defTabSz="2089150">
              <a:lnSpc>
                <a:spcPct val="90000"/>
              </a:lnSpc>
              <a:spcBef>
                <a:spcPct val="0"/>
              </a:spcBef>
              <a:spcAft>
                <a:spcPct val="35000"/>
              </a:spcAft>
              <a:buNone/>
            </a:pPr>
            <a:endParaRPr lang="zh-CN" altLang="en-US" sz="4700" kern="1200">
              <a:cs typeface="+mn-ea"/>
              <a:sym typeface="+mn-lt"/>
            </a:endParaRPr>
          </a:p>
        </p:txBody>
      </p:sp>
      <p:sp>
        <p:nvSpPr>
          <p:cNvPr id="43" name="任意形状 21"/>
          <p:cNvSpPr/>
          <p:nvPr/>
        </p:nvSpPr>
        <p:spPr>
          <a:xfrm>
            <a:off x="6173124" y="3479188"/>
            <a:ext cx="2729379" cy="1325402"/>
          </a:xfrm>
          <a:custGeom>
            <a:avLst/>
            <a:gdLst>
              <a:gd name="connsiteX0" fmla="*/ 0 w 2112119"/>
              <a:gd name="connsiteY0" fmla="*/ 138873 h 1388731"/>
              <a:gd name="connsiteX1" fmla="*/ 138873 w 2112119"/>
              <a:gd name="connsiteY1" fmla="*/ 0 h 1388731"/>
              <a:gd name="connsiteX2" fmla="*/ 1973246 w 2112119"/>
              <a:gd name="connsiteY2" fmla="*/ 0 h 1388731"/>
              <a:gd name="connsiteX3" fmla="*/ 2112119 w 2112119"/>
              <a:gd name="connsiteY3" fmla="*/ 138873 h 1388731"/>
              <a:gd name="connsiteX4" fmla="*/ 2112119 w 2112119"/>
              <a:gd name="connsiteY4" fmla="*/ 1249858 h 1388731"/>
              <a:gd name="connsiteX5" fmla="*/ 1973246 w 2112119"/>
              <a:gd name="connsiteY5" fmla="*/ 1388731 h 1388731"/>
              <a:gd name="connsiteX6" fmla="*/ 138873 w 2112119"/>
              <a:gd name="connsiteY6" fmla="*/ 1388731 h 1388731"/>
              <a:gd name="connsiteX7" fmla="*/ 0 w 2112119"/>
              <a:gd name="connsiteY7" fmla="*/ 1249858 h 1388731"/>
              <a:gd name="connsiteX8" fmla="*/ 0 w 2112119"/>
              <a:gd name="connsiteY8" fmla="*/ 138873 h 138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119" h="1388731">
                <a:moveTo>
                  <a:pt x="0" y="138873"/>
                </a:moveTo>
                <a:cubicBezTo>
                  <a:pt x="0" y="62176"/>
                  <a:pt x="62176" y="0"/>
                  <a:pt x="138873" y="0"/>
                </a:cubicBezTo>
                <a:lnTo>
                  <a:pt x="1973246" y="0"/>
                </a:lnTo>
                <a:cubicBezTo>
                  <a:pt x="2049943" y="0"/>
                  <a:pt x="2112119" y="62176"/>
                  <a:pt x="2112119" y="138873"/>
                </a:cubicBezTo>
                <a:lnTo>
                  <a:pt x="2112119" y="1249858"/>
                </a:lnTo>
                <a:cubicBezTo>
                  <a:pt x="2112119" y="1326555"/>
                  <a:pt x="2049943" y="1388731"/>
                  <a:pt x="1973246" y="1388731"/>
                </a:cubicBezTo>
                <a:lnTo>
                  <a:pt x="138873" y="1388731"/>
                </a:lnTo>
                <a:cubicBezTo>
                  <a:pt x="62176" y="1388731"/>
                  <a:pt x="0" y="1326555"/>
                  <a:pt x="0" y="1249858"/>
                </a:cubicBezTo>
                <a:lnTo>
                  <a:pt x="0" y="138873"/>
                </a:lnTo>
                <a:close/>
              </a:path>
            </a:pathLst>
          </a:custGeom>
          <a:ln>
            <a:solidFill>
              <a:srgbClr val="C00000"/>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9745" tIns="219745" rIns="219745" bIns="219745" numCol="1" spcCol="1270" anchor="ctr" anchorCtr="0">
            <a:noAutofit/>
          </a:bodyPr>
          <a:lstStyle/>
          <a:p>
            <a:pPr marL="0" lvl="0" indent="0" algn="ctr" defTabSz="2089150">
              <a:lnSpc>
                <a:spcPct val="90000"/>
              </a:lnSpc>
              <a:spcBef>
                <a:spcPct val="0"/>
              </a:spcBef>
              <a:spcAft>
                <a:spcPct val="35000"/>
              </a:spcAft>
              <a:buNone/>
            </a:pPr>
            <a:endParaRPr lang="zh-CN" altLang="en-US" sz="4700" kern="1200">
              <a:cs typeface="+mn-ea"/>
              <a:sym typeface="+mn-lt"/>
            </a:endParaRPr>
          </a:p>
        </p:txBody>
      </p:sp>
      <p:sp>
        <p:nvSpPr>
          <p:cNvPr id="44" name="任意形状 22"/>
          <p:cNvSpPr/>
          <p:nvPr/>
        </p:nvSpPr>
        <p:spPr>
          <a:xfrm>
            <a:off x="7140335" y="4915924"/>
            <a:ext cx="1762168" cy="1325402"/>
          </a:xfrm>
          <a:custGeom>
            <a:avLst/>
            <a:gdLst>
              <a:gd name="connsiteX0" fmla="*/ 0 w 2112119"/>
              <a:gd name="connsiteY0" fmla="*/ 138873 h 1388731"/>
              <a:gd name="connsiteX1" fmla="*/ 138873 w 2112119"/>
              <a:gd name="connsiteY1" fmla="*/ 0 h 1388731"/>
              <a:gd name="connsiteX2" fmla="*/ 1973246 w 2112119"/>
              <a:gd name="connsiteY2" fmla="*/ 0 h 1388731"/>
              <a:gd name="connsiteX3" fmla="*/ 2112119 w 2112119"/>
              <a:gd name="connsiteY3" fmla="*/ 138873 h 1388731"/>
              <a:gd name="connsiteX4" fmla="*/ 2112119 w 2112119"/>
              <a:gd name="connsiteY4" fmla="*/ 1249858 h 1388731"/>
              <a:gd name="connsiteX5" fmla="*/ 1973246 w 2112119"/>
              <a:gd name="connsiteY5" fmla="*/ 1388731 h 1388731"/>
              <a:gd name="connsiteX6" fmla="*/ 138873 w 2112119"/>
              <a:gd name="connsiteY6" fmla="*/ 1388731 h 1388731"/>
              <a:gd name="connsiteX7" fmla="*/ 0 w 2112119"/>
              <a:gd name="connsiteY7" fmla="*/ 1249858 h 1388731"/>
              <a:gd name="connsiteX8" fmla="*/ 0 w 2112119"/>
              <a:gd name="connsiteY8" fmla="*/ 138873 h 138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119" h="1388731">
                <a:moveTo>
                  <a:pt x="0" y="138873"/>
                </a:moveTo>
                <a:cubicBezTo>
                  <a:pt x="0" y="62176"/>
                  <a:pt x="62176" y="0"/>
                  <a:pt x="138873" y="0"/>
                </a:cubicBezTo>
                <a:lnTo>
                  <a:pt x="1973246" y="0"/>
                </a:lnTo>
                <a:cubicBezTo>
                  <a:pt x="2049943" y="0"/>
                  <a:pt x="2112119" y="62176"/>
                  <a:pt x="2112119" y="138873"/>
                </a:cubicBezTo>
                <a:lnTo>
                  <a:pt x="2112119" y="1249858"/>
                </a:lnTo>
                <a:cubicBezTo>
                  <a:pt x="2112119" y="1326555"/>
                  <a:pt x="2049943" y="1388731"/>
                  <a:pt x="1973246" y="1388731"/>
                </a:cubicBezTo>
                <a:lnTo>
                  <a:pt x="138873" y="1388731"/>
                </a:lnTo>
                <a:cubicBezTo>
                  <a:pt x="62176" y="1388731"/>
                  <a:pt x="0" y="1326555"/>
                  <a:pt x="0" y="1249858"/>
                </a:cubicBezTo>
                <a:lnTo>
                  <a:pt x="0" y="138873"/>
                </a:lnTo>
                <a:close/>
              </a:path>
            </a:pathLst>
          </a:custGeom>
          <a:ln>
            <a:solidFill>
              <a:srgbClr val="C00000"/>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9745" tIns="219745" rIns="219745" bIns="219745" numCol="1" spcCol="1270" anchor="ctr" anchorCtr="0">
            <a:noAutofit/>
          </a:bodyPr>
          <a:lstStyle/>
          <a:p>
            <a:pPr marL="0" lvl="0" indent="0" algn="ctr" defTabSz="2089150">
              <a:lnSpc>
                <a:spcPct val="90000"/>
              </a:lnSpc>
              <a:spcBef>
                <a:spcPct val="0"/>
              </a:spcBef>
              <a:spcAft>
                <a:spcPct val="35000"/>
              </a:spcAft>
              <a:buNone/>
            </a:pPr>
            <a:endParaRPr lang="zh-CN" altLang="en-US" sz="4700" kern="1200">
              <a:cs typeface="+mn-ea"/>
              <a:sym typeface="+mn-lt"/>
            </a:endParaRPr>
          </a:p>
        </p:txBody>
      </p:sp>
      <p:sp>
        <p:nvSpPr>
          <p:cNvPr id="45" name="任意形状 31"/>
          <p:cNvSpPr/>
          <p:nvPr/>
        </p:nvSpPr>
        <p:spPr>
          <a:xfrm>
            <a:off x="2066488" y="3479188"/>
            <a:ext cx="840806" cy="2762137"/>
          </a:xfrm>
          <a:custGeom>
            <a:avLst/>
            <a:gdLst>
              <a:gd name="connsiteX0" fmla="*/ 0 w 2112119"/>
              <a:gd name="connsiteY0" fmla="*/ 138873 h 1388731"/>
              <a:gd name="connsiteX1" fmla="*/ 138873 w 2112119"/>
              <a:gd name="connsiteY1" fmla="*/ 0 h 1388731"/>
              <a:gd name="connsiteX2" fmla="*/ 1973246 w 2112119"/>
              <a:gd name="connsiteY2" fmla="*/ 0 h 1388731"/>
              <a:gd name="connsiteX3" fmla="*/ 2112119 w 2112119"/>
              <a:gd name="connsiteY3" fmla="*/ 138873 h 1388731"/>
              <a:gd name="connsiteX4" fmla="*/ 2112119 w 2112119"/>
              <a:gd name="connsiteY4" fmla="*/ 1249858 h 1388731"/>
              <a:gd name="connsiteX5" fmla="*/ 1973246 w 2112119"/>
              <a:gd name="connsiteY5" fmla="*/ 1388731 h 1388731"/>
              <a:gd name="connsiteX6" fmla="*/ 138873 w 2112119"/>
              <a:gd name="connsiteY6" fmla="*/ 1388731 h 1388731"/>
              <a:gd name="connsiteX7" fmla="*/ 0 w 2112119"/>
              <a:gd name="connsiteY7" fmla="*/ 1249858 h 1388731"/>
              <a:gd name="connsiteX8" fmla="*/ 0 w 2112119"/>
              <a:gd name="connsiteY8" fmla="*/ 138873 h 138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119" h="1388731">
                <a:moveTo>
                  <a:pt x="0" y="138873"/>
                </a:moveTo>
                <a:cubicBezTo>
                  <a:pt x="0" y="62176"/>
                  <a:pt x="62176" y="0"/>
                  <a:pt x="138873" y="0"/>
                </a:cubicBezTo>
                <a:lnTo>
                  <a:pt x="1973246" y="0"/>
                </a:lnTo>
                <a:cubicBezTo>
                  <a:pt x="2049943" y="0"/>
                  <a:pt x="2112119" y="62176"/>
                  <a:pt x="2112119" y="138873"/>
                </a:cubicBezTo>
                <a:lnTo>
                  <a:pt x="2112119" y="1249858"/>
                </a:lnTo>
                <a:cubicBezTo>
                  <a:pt x="2112119" y="1326555"/>
                  <a:pt x="2049943" y="1388731"/>
                  <a:pt x="1973246" y="1388731"/>
                </a:cubicBezTo>
                <a:lnTo>
                  <a:pt x="138873" y="1388731"/>
                </a:lnTo>
                <a:cubicBezTo>
                  <a:pt x="62176" y="1388731"/>
                  <a:pt x="0" y="1326555"/>
                  <a:pt x="0" y="1249858"/>
                </a:cubicBezTo>
                <a:lnTo>
                  <a:pt x="0" y="138873"/>
                </a:lnTo>
                <a:close/>
              </a:path>
            </a:pathLst>
          </a:custGeom>
          <a:ln>
            <a:solidFill>
              <a:srgbClr val="C00000"/>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9745" tIns="219745" rIns="219745" bIns="219745" numCol="1" spcCol="1270" anchor="ctr" anchorCtr="0">
            <a:noAutofit/>
          </a:bodyPr>
          <a:lstStyle/>
          <a:p>
            <a:pPr marL="0" lvl="0" indent="0" algn="ctr" defTabSz="2089150">
              <a:lnSpc>
                <a:spcPct val="90000"/>
              </a:lnSpc>
              <a:spcBef>
                <a:spcPct val="0"/>
              </a:spcBef>
              <a:spcAft>
                <a:spcPct val="35000"/>
              </a:spcAft>
              <a:buNone/>
            </a:pPr>
            <a:endParaRPr lang="zh-CN" altLang="en-US" sz="4700" kern="1200">
              <a:cs typeface="+mn-ea"/>
              <a:sym typeface="+mn-lt"/>
            </a:endParaRPr>
          </a:p>
        </p:txBody>
      </p:sp>
      <p:sp>
        <p:nvSpPr>
          <p:cNvPr id="46" name="文本框 45"/>
          <p:cNvSpPr txBox="1"/>
          <p:nvPr/>
        </p:nvSpPr>
        <p:spPr>
          <a:xfrm>
            <a:off x="7099166" y="5266326"/>
            <a:ext cx="1838965" cy="584775"/>
          </a:xfrm>
          <a:prstGeom prst="rect">
            <a:avLst/>
          </a:prstGeom>
          <a:noFill/>
        </p:spPr>
        <p:txBody>
          <a:bodyPr wrap="none" rtlCol="0">
            <a:spAutoFit/>
          </a:bodyPr>
          <a:lstStyle/>
          <a:p>
            <a:r>
              <a:rPr kumimoji="1" lang="zh-CN" altLang="en-US" sz="1600" dirty="0">
                <a:latin typeface="+mn-lt"/>
                <a:ea typeface="+mn-ea"/>
                <a:cs typeface="+mn-ea"/>
                <a:sym typeface="+mn-lt"/>
              </a:rPr>
              <a:t>其他分行培训机构</a:t>
            </a:r>
            <a:endParaRPr kumimoji="1" lang="en-US" altLang="zh-CN" sz="1600" dirty="0">
              <a:latin typeface="+mn-lt"/>
              <a:ea typeface="+mn-ea"/>
              <a:cs typeface="+mn-ea"/>
              <a:sym typeface="+mn-lt"/>
            </a:endParaRPr>
          </a:p>
          <a:p>
            <a:pPr algn="ctr"/>
            <a:r>
              <a:rPr kumimoji="1" lang="zh-CN" altLang="en-US" sz="1600" dirty="0">
                <a:latin typeface="+mn-lt"/>
                <a:ea typeface="+mn-ea"/>
                <a:cs typeface="+mn-ea"/>
                <a:sym typeface="+mn-lt"/>
              </a:rPr>
              <a:t>（</a:t>
            </a:r>
            <a:r>
              <a:rPr kumimoji="1" lang="en-US" altLang="zh-CN" sz="1600" dirty="0">
                <a:latin typeface="+mn-lt"/>
                <a:ea typeface="+mn-ea"/>
                <a:cs typeface="+mn-ea"/>
                <a:sym typeface="+mn-lt"/>
              </a:rPr>
              <a:t>37</a:t>
            </a:r>
            <a:r>
              <a:rPr kumimoji="1" lang="zh-CN" altLang="en-US" sz="1600" dirty="0">
                <a:latin typeface="+mn-lt"/>
                <a:ea typeface="+mn-ea"/>
                <a:cs typeface="+mn-ea"/>
                <a:sym typeface="+mn-lt"/>
              </a:rPr>
              <a:t>家）</a:t>
            </a:r>
            <a:endParaRPr kumimoji="1" lang="zh-CN" altLang="en-US" sz="1600" dirty="0">
              <a:latin typeface="+mn-lt"/>
              <a:ea typeface="+mn-ea"/>
              <a:cs typeface="+mn-ea"/>
              <a:sym typeface="+mn-lt"/>
            </a:endParaRPr>
          </a:p>
        </p:txBody>
      </p:sp>
      <p:sp>
        <p:nvSpPr>
          <p:cNvPr id="47" name="文本框 46"/>
          <p:cNvSpPr txBox="1"/>
          <p:nvPr/>
        </p:nvSpPr>
        <p:spPr>
          <a:xfrm>
            <a:off x="3968612" y="3564311"/>
            <a:ext cx="1632177" cy="338554"/>
          </a:xfrm>
          <a:prstGeom prst="rect">
            <a:avLst/>
          </a:prstGeom>
          <a:noFill/>
        </p:spPr>
        <p:txBody>
          <a:bodyPr wrap="none" rtlCol="0">
            <a:spAutoFit/>
          </a:bodyPr>
          <a:lstStyle/>
          <a:p>
            <a:pPr algn="ctr"/>
            <a:r>
              <a:rPr kumimoji="1" lang="zh-CN" altLang="en-US" sz="1600" dirty="0">
                <a:latin typeface="+mn-lt"/>
                <a:ea typeface="+mn-ea"/>
                <a:cs typeface="+mn-ea"/>
                <a:sym typeface="+mn-lt"/>
              </a:rPr>
              <a:t>北京国际研修院</a:t>
            </a:r>
            <a:endParaRPr kumimoji="1" lang="en-US" altLang="zh-CN" sz="1600" dirty="0">
              <a:latin typeface="+mn-lt"/>
              <a:ea typeface="+mn-ea"/>
              <a:cs typeface="+mn-ea"/>
              <a:sym typeface="+mn-lt"/>
            </a:endParaRPr>
          </a:p>
        </p:txBody>
      </p:sp>
      <p:sp>
        <p:nvSpPr>
          <p:cNvPr id="48" name="文本框 47"/>
          <p:cNvSpPr txBox="1"/>
          <p:nvPr/>
        </p:nvSpPr>
        <p:spPr>
          <a:xfrm>
            <a:off x="5206773" y="5275874"/>
            <a:ext cx="1838965" cy="584775"/>
          </a:xfrm>
          <a:prstGeom prst="rect">
            <a:avLst/>
          </a:prstGeom>
          <a:noFill/>
        </p:spPr>
        <p:txBody>
          <a:bodyPr wrap="none" rtlCol="0">
            <a:spAutoFit/>
          </a:bodyPr>
          <a:lstStyle/>
          <a:p>
            <a:r>
              <a:rPr kumimoji="1" lang="zh-CN" altLang="en-US" sz="1600" dirty="0">
                <a:latin typeface="+mn-lt"/>
                <a:ea typeface="+mn-ea"/>
                <a:cs typeface="+mn-ea"/>
                <a:sym typeface="+mn-lt"/>
              </a:rPr>
              <a:t>境内区域培训中心</a:t>
            </a:r>
            <a:endParaRPr kumimoji="1" lang="en-US" altLang="zh-CN" sz="1600" dirty="0">
              <a:latin typeface="+mn-lt"/>
              <a:ea typeface="+mn-ea"/>
              <a:cs typeface="+mn-ea"/>
              <a:sym typeface="+mn-lt"/>
            </a:endParaRPr>
          </a:p>
          <a:p>
            <a:pPr algn="ctr"/>
            <a:r>
              <a:rPr kumimoji="1" lang="zh-CN" altLang="en-US" sz="1600" dirty="0">
                <a:latin typeface="+mn-lt"/>
                <a:ea typeface="+mn-ea"/>
                <a:cs typeface="+mn-ea"/>
                <a:sym typeface="+mn-lt"/>
              </a:rPr>
              <a:t>（</a:t>
            </a:r>
            <a:r>
              <a:rPr kumimoji="1" lang="en-US" altLang="zh-CN" sz="1600" dirty="0">
                <a:latin typeface="+mn-lt"/>
                <a:ea typeface="+mn-ea"/>
                <a:cs typeface="+mn-ea"/>
                <a:sym typeface="+mn-lt"/>
              </a:rPr>
              <a:t>7</a:t>
            </a:r>
            <a:r>
              <a:rPr kumimoji="1" lang="zh-CN" altLang="en-US" sz="1600" dirty="0">
                <a:latin typeface="+mn-lt"/>
                <a:ea typeface="+mn-ea"/>
                <a:cs typeface="+mn-ea"/>
                <a:sym typeface="+mn-lt"/>
              </a:rPr>
              <a:t>家）</a:t>
            </a:r>
            <a:endParaRPr kumimoji="1" lang="zh-CN" altLang="en-US" sz="1600" dirty="0">
              <a:latin typeface="+mn-lt"/>
              <a:ea typeface="+mn-ea"/>
              <a:cs typeface="+mn-ea"/>
              <a:sym typeface="+mn-lt"/>
            </a:endParaRPr>
          </a:p>
        </p:txBody>
      </p:sp>
      <p:sp>
        <p:nvSpPr>
          <p:cNvPr id="49" name="文本框 48"/>
          <p:cNvSpPr txBox="1"/>
          <p:nvPr/>
        </p:nvSpPr>
        <p:spPr>
          <a:xfrm>
            <a:off x="3609757" y="5286237"/>
            <a:ext cx="1425390" cy="584775"/>
          </a:xfrm>
          <a:prstGeom prst="rect">
            <a:avLst/>
          </a:prstGeom>
          <a:noFill/>
        </p:spPr>
        <p:txBody>
          <a:bodyPr wrap="none" rtlCol="0">
            <a:spAutoFit/>
          </a:bodyPr>
          <a:lstStyle/>
          <a:p>
            <a:r>
              <a:rPr kumimoji="1" lang="zh-CN" altLang="en-US" sz="1600" dirty="0">
                <a:latin typeface="+mn-lt"/>
                <a:ea typeface="+mn-ea"/>
                <a:cs typeface="+mn-ea"/>
                <a:sym typeface="+mn-lt"/>
              </a:rPr>
              <a:t>境外培训中心</a:t>
            </a:r>
            <a:endParaRPr kumimoji="1" lang="en-US" altLang="zh-CN" sz="1600" dirty="0">
              <a:latin typeface="+mn-lt"/>
              <a:ea typeface="+mn-ea"/>
              <a:cs typeface="+mn-ea"/>
              <a:sym typeface="+mn-lt"/>
            </a:endParaRPr>
          </a:p>
          <a:p>
            <a:pPr algn="ctr"/>
            <a:r>
              <a:rPr kumimoji="1" lang="zh-CN" altLang="en-US" sz="1600" dirty="0">
                <a:latin typeface="+mn-lt"/>
                <a:ea typeface="+mn-ea"/>
                <a:cs typeface="+mn-ea"/>
                <a:sym typeface="+mn-lt"/>
              </a:rPr>
              <a:t>（</a:t>
            </a:r>
            <a:r>
              <a:rPr kumimoji="1" lang="en-US" altLang="zh-CN" sz="1600" dirty="0">
                <a:latin typeface="+mn-lt"/>
                <a:ea typeface="+mn-ea"/>
                <a:cs typeface="+mn-ea"/>
                <a:sym typeface="+mn-lt"/>
              </a:rPr>
              <a:t>4</a:t>
            </a:r>
            <a:r>
              <a:rPr kumimoji="1" lang="zh-CN" altLang="en-US" sz="1600" dirty="0">
                <a:latin typeface="+mn-lt"/>
                <a:ea typeface="+mn-ea"/>
                <a:cs typeface="+mn-ea"/>
                <a:sym typeface="+mn-lt"/>
              </a:rPr>
              <a:t>家）</a:t>
            </a:r>
            <a:endParaRPr kumimoji="1" lang="zh-CN" altLang="en-US" sz="1600" dirty="0">
              <a:latin typeface="+mn-lt"/>
              <a:ea typeface="+mn-ea"/>
              <a:cs typeface="+mn-ea"/>
              <a:sym typeface="+mn-lt"/>
            </a:endParaRPr>
          </a:p>
        </p:txBody>
      </p:sp>
      <p:sp>
        <p:nvSpPr>
          <p:cNvPr id="50" name="矩形 49"/>
          <p:cNvSpPr/>
          <p:nvPr/>
        </p:nvSpPr>
        <p:spPr>
          <a:xfrm>
            <a:off x="3421026" y="3887575"/>
            <a:ext cx="2779160" cy="692497"/>
          </a:xfrm>
          <a:prstGeom prst="rect">
            <a:avLst/>
          </a:prstGeom>
        </p:spPr>
        <p:txBody>
          <a:bodyPr wrap="square">
            <a:spAutoFit/>
          </a:bodyPr>
          <a:lstStyle/>
          <a:p>
            <a:r>
              <a:rPr lang="zh-CN" altLang="en-US" b="0" dirty="0">
                <a:latin typeface="+mn-lt"/>
                <a:ea typeface="+mn-ea"/>
                <a:cs typeface="+mn-ea"/>
                <a:sym typeface="+mn-lt"/>
              </a:rPr>
              <a:t>作为我行党校和中高级管理人员的教育培 训基地，重点承担经营管理人员培训项目的研发和实施工作。</a:t>
            </a:r>
            <a:endParaRPr lang="zh-CN" altLang="en-US" b="0" dirty="0">
              <a:latin typeface="+mn-lt"/>
              <a:ea typeface="+mn-ea"/>
              <a:cs typeface="+mn-ea"/>
              <a:sym typeface="+mn-lt"/>
            </a:endParaRPr>
          </a:p>
        </p:txBody>
      </p:sp>
      <p:sp>
        <p:nvSpPr>
          <p:cNvPr id="51" name="文本框 50"/>
          <p:cNvSpPr txBox="1"/>
          <p:nvPr/>
        </p:nvSpPr>
        <p:spPr>
          <a:xfrm>
            <a:off x="6753409" y="3573063"/>
            <a:ext cx="1632178" cy="338554"/>
          </a:xfrm>
          <a:prstGeom prst="rect">
            <a:avLst/>
          </a:prstGeom>
          <a:noFill/>
        </p:spPr>
        <p:txBody>
          <a:bodyPr wrap="none" rtlCol="0">
            <a:spAutoFit/>
          </a:bodyPr>
          <a:lstStyle/>
          <a:p>
            <a:pPr algn="ctr"/>
            <a:r>
              <a:rPr kumimoji="1" lang="zh-CN" altLang="en-US" sz="1600" dirty="0">
                <a:latin typeface="+mn-lt"/>
                <a:ea typeface="+mn-ea"/>
                <a:cs typeface="+mn-ea"/>
                <a:sym typeface="+mn-lt"/>
              </a:rPr>
              <a:t>上海国际研修院</a:t>
            </a:r>
            <a:endParaRPr kumimoji="1" lang="en-US" altLang="zh-CN" sz="1600" dirty="0">
              <a:latin typeface="+mn-lt"/>
              <a:ea typeface="+mn-ea"/>
              <a:cs typeface="+mn-ea"/>
              <a:sym typeface="+mn-lt"/>
            </a:endParaRPr>
          </a:p>
        </p:txBody>
      </p:sp>
      <p:sp>
        <p:nvSpPr>
          <p:cNvPr id="52" name="矩形 51"/>
          <p:cNvSpPr/>
          <p:nvPr/>
        </p:nvSpPr>
        <p:spPr>
          <a:xfrm>
            <a:off x="6205823" y="3896327"/>
            <a:ext cx="2779160" cy="692497"/>
          </a:xfrm>
          <a:prstGeom prst="rect">
            <a:avLst/>
          </a:prstGeom>
        </p:spPr>
        <p:txBody>
          <a:bodyPr wrap="square">
            <a:spAutoFit/>
          </a:bodyPr>
          <a:lstStyle/>
          <a:p>
            <a:r>
              <a:rPr lang="zh-CN" altLang="en-US" b="0" dirty="0">
                <a:latin typeface="+mn-lt"/>
                <a:ea typeface="+mn-ea"/>
                <a:cs typeface="+mn-ea"/>
                <a:sym typeface="+mn-lt"/>
              </a:rPr>
              <a:t>作为全球化和中高端专业人才的教育培训基地， 重点承担两类人才培训项目的研发和实施。</a:t>
            </a:r>
            <a:endParaRPr lang="zh-CN" altLang="en-US" b="0" dirty="0">
              <a:latin typeface="+mn-lt"/>
              <a:ea typeface="+mn-ea"/>
              <a:cs typeface="+mn-ea"/>
              <a:sym typeface="+mn-lt"/>
            </a:endParaRPr>
          </a:p>
        </p:txBody>
      </p:sp>
      <p:sp>
        <p:nvSpPr>
          <p:cNvPr id="53" name="文本框 52"/>
          <p:cNvSpPr txBox="1"/>
          <p:nvPr/>
        </p:nvSpPr>
        <p:spPr>
          <a:xfrm>
            <a:off x="5492287" y="2420752"/>
            <a:ext cx="1210589" cy="400110"/>
          </a:xfrm>
          <a:prstGeom prst="rect">
            <a:avLst/>
          </a:prstGeom>
          <a:noFill/>
        </p:spPr>
        <p:txBody>
          <a:bodyPr wrap="none" rtlCol="0">
            <a:spAutoFit/>
          </a:bodyPr>
          <a:lstStyle/>
          <a:p>
            <a:pPr algn="ctr"/>
            <a:r>
              <a:rPr kumimoji="1" lang="zh-CN" altLang="en-US" sz="2000" dirty="0">
                <a:solidFill>
                  <a:schemeClr val="bg1"/>
                </a:solidFill>
                <a:latin typeface="+mn-lt"/>
                <a:ea typeface="+mn-ea"/>
                <a:cs typeface="+mn-ea"/>
                <a:sym typeface="+mn-lt"/>
              </a:rPr>
              <a:t>中银大学</a:t>
            </a:r>
            <a:endParaRPr kumimoji="1" lang="zh-CN" altLang="en-US" sz="2000" dirty="0">
              <a:solidFill>
                <a:schemeClr val="bg1"/>
              </a:solidFill>
              <a:latin typeface="+mn-lt"/>
              <a:ea typeface="+mn-ea"/>
              <a:cs typeface="+mn-ea"/>
              <a:sym typeface="+mn-lt"/>
            </a:endParaRPr>
          </a:p>
        </p:txBody>
      </p:sp>
      <p:sp>
        <p:nvSpPr>
          <p:cNvPr id="54" name="文本框 53"/>
          <p:cNvSpPr txBox="1"/>
          <p:nvPr/>
        </p:nvSpPr>
        <p:spPr>
          <a:xfrm>
            <a:off x="2075865" y="4198536"/>
            <a:ext cx="837348" cy="1323439"/>
          </a:xfrm>
          <a:prstGeom prst="rect">
            <a:avLst/>
          </a:prstGeom>
          <a:noFill/>
        </p:spPr>
        <p:txBody>
          <a:bodyPr wrap="square" rtlCol="0">
            <a:spAutoFit/>
          </a:bodyPr>
          <a:lstStyle/>
          <a:p>
            <a:pPr algn="ctr"/>
            <a:r>
              <a:rPr kumimoji="1" lang="zh-CN" altLang="en-US" sz="1600" dirty="0">
                <a:latin typeface="+mn-lt"/>
                <a:ea typeface="+mn-ea"/>
                <a:cs typeface="+mn-ea"/>
                <a:sym typeface="+mn-lt"/>
              </a:rPr>
              <a:t>国外顶级商学院、研究等合作机构</a:t>
            </a:r>
            <a:endParaRPr kumimoji="1" lang="en-US" altLang="zh-CN" sz="1600" dirty="0">
              <a:latin typeface="+mn-lt"/>
              <a:ea typeface="+mn-ea"/>
              <a:cs typeface="+mn-ea"/>
              <a:sym typeface="+mn-lt"/>
            </a:endParaRPr>
          </a:p>
        </p:txBody>
      </p:sp>
      <p:sp>
        <p:nvSpPr>
          <p:cNvPr id="55" name="上下箭头 33"/>
          <p:cNvSpPr/>
          <p:nvPr/>
        </p:nvSpPr>
        <p:spPr>
          <a:xfrm rot="5400000">
            <a:off x="3060788" y="4594984"/>
            <a:ext cx="158980" cy="371564"/>
          </a:xfrm>
          <a:prstGeom prst="upDownArrow">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nchor="ctr">
            <a:spAutoFit/>
          </a:bodyPr>
          <a:lstStyle/>
          <a:p>
            <a:pPr algn="ctr"/>
            <a:endParaRPr kumimoji="1" lang="zh-CN" altLang="en-US" dirty="0">
              <a:solidFill>
                <a:schemeClr val="bg1"/>
              </a:solidFill>
              <a:cs typeface="+mn-ea"/>
              <a:sym typeface="+mn-lt"/>
            </a:endParaRPr>
          </a:p>
        </p:txBody>
      </p:sp>
      <p:sp>
        <p:nvSpPr>
          <p:cNvPr id="56" name="任意形状 34"/>
          <p:cNvSpPr/>
          <p:nvPr/>
        </p:nvSpPr>
        <p:spPr>
          <a:xfrm>
            <a:off x="9337557" y="3479188"/>
            <a:ext cx="840806" cy="2729100"/>
          </a:xfrm>
          <a:custGeom>
            <a:avLst/>
            <a:gdLst>
              <a:gd name="connsiteX0" fmla="*/ 0 w 2112119"/>
              <a:gd name="connsiteY0" fmla="*/ 138873 h 1388731"/>
              <a:gd name="connsiteX1" fmla="*/ 138873 w 2112119"/>
              <a:gd name="connsiteY1" fmla="*/ 0 h 1388731"/>
              <a:gd name="connsiteX2" fmla="*/ 1973246 w 2112119"/>
              <a:gd name="connsiteY2" fmla="*/ 0 h 1388731"/>
              <a:gd name="connsiteX3" fmla="*/ 2112119 w 2112119"/>
              <a:gd name="connsiteY3" fmla="*/ 138873 h 1388731"/>
              <a:gd name="connsiteX4" fmla="*/ 2112119 w 2112119"/>
              <a:gd name="connsiteY4" fmla="*/ 1249858 h 1388731"/>
              <a:gd name="connsiteX5" fmla="*/ 1973246 w 2112119"/>
              <a:gd name="connsiteY5" fmla="*/ 1388731 h 1388731"/>
              <a:gd name="connsiteX6" fmla="*/ 138873 w 2112119"/>
              <a:gd name="connsiteY6" fmla="*/ 1388731 h 1388731"/>
              <a:gd name="connsiteX7" fmla="*/ 0 w 2112119"/>
              <a:gd name="connsiteY7" fmla="*/ 1249858 h 1388731"/>
              <a:gd name="connsiteX8" fmla="*/ 0 w 2112119"/>
              <a:gd name="connsiteY8" fmla="*/ 138873 h 138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119" h="1388731">
                <a:moveTo>
                  <a:pt x="0" y="138873"/>
                </a:moveTo>
                <a:cubicBezTo>
                  <a:pt x="0" y="62176"/>
                  <a:pt x="62176" y="0"/>
                  <a:pt x="138873" y="0"/>
                </a:cubicBezTo>
                <a:lnTo>
                  <a:pt x="1973246" y="0"/>
                </a:lnTo>
                <a:cubicBezTo>
                  <a:pt x="2049943" y="0"/>
                  <a:pt x="2112119" y="62176"/>
                  <a:pt x="2112119" y="138873"/>
                </a:cubicBezTo>
                <a:lnTo>
                  <a:pt x="2112119" y="1249858"/>
                </a:lnTo>
                <a:cubicBezTo>
                  <a:pt x="2112119" y="1326555"/>
                  <a:pt x="2049943" y="1388731"/>
                  <a:pt x="1973246" y="1388731"/>
                </a:cubicBezTo>
                <a:lnTo>
                  <a:pt x="138873" y="1388731"/>
                </a:lnTo>
                <a:cubicBezTo>
                  <a:pt x="62176" y="1388731"/>
                  <a:pt x="0" y="1326555"/>
                  <a:pt x="0" y="1249858"/>
                </a:cubicBezTo>
                <a:lnTo>
                  <a:pt x="0" y="138873"/>
                </a:lnTo>
                <a:close/>
              </a:path>
            </a:pathLst>
          </a:custGeom>
          <a:ln>
            <a:solidFill>
              <a:srgbClr val="C00000"/>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9745" tIns="219745" rIns="219745" bIns="219745" numCol="1" spcCol="1270" anchor="ctr" anchorCtr="0">
            <a:noAutofit/>
          </a:bodyPr>
          <a:lstStyle/>
          <a:p>
            <a:pPr marL="0" lvl="0" indent="0" algn="ctr" defTabSz="2089150">
              <a:lnSpc>
                <a:spcPct val="90000"/>
              </a:lnSpc>
              <a:spcBef>
                <a:spcPct val="0"/>
              </a:spcBef>
              <a:spcAft>
                <a:spcPct val="35000"/>
              </a:spcAft>
              <a:buNone/>
            </a:pPr>
            <a:endParaRPr lang="zh-CN" altLang="en-US" sz="4700" kern="1200">
              <a:cs typeface="+mn-ea"/>
              <a:sym typeface="+mn-lt"/>
            </a:endParaRPr>
          </a:p>
        </p:txBody>
      </p:sp>
      <p:sp>
        <p:nvSpPr>
          <p:cNvPr id="57" name="文本框 56"/>
          <p:cNvSpPr txBox="1"/>
          <p:nvPr/>
        </p:nvSpPr>
        <p:spPr>
          <a:xfrm>
            <a:off x="9304351" y="4242575"/>
            <a:ext cx="981755" cy="1323439"/>
          </a:xfrm>
          <a:prstGeom prst="rect">
            <a:avLst/>
          </a:prstGeom>
          <a:noFill/>
        </p:spPr>
        <p:txBody>
          <a:bodyPr wrap="square" rtlCol="0">
            <a:spAutoFit/>
          </a:bodyPr>
          <a:lstStyle/>
          <a:p>
            <a:pPr algn="ctr"/>
            <a:r>
              <a:rPr kumimoji="1" lang="zh-CN" altLang="en-US" sz="1600" dirty="0">
                <a:latin typeface="+mn-lt"/>
                <a:ea typeface="+mn-ea"/>
                <a:cs typeface="+mn-ea"/>
                <a:sym typeface="+mn-lt"/>
              </a:rPr>
              <a:t>国内顶级商学院、研究等合作机构</a:t>
            </a:r>
            <a:endParaRPr kumimoji="1" lang="en-US" altLang="zh-CN" sz="1600" dirty="0">
              <a:latin typeface="+mn-lt"/>
              <a:ea typeface="+mn-ea"/>
              <a:cs typeface="+mn-ea"/>
              <a:sym typeface="+mn-lt"/>
            </a:endParaRPr>
          </a:p>
        </p:txBody>
      </p:sp>
      <p:sp>
        <p:nvSpPr>
          <p:cNvPr id="58" name="上下箭头 36"/>
          <p:cNvSpPr/>
          <p:nvPr/>
        </p:nvSpPr>
        <p:spPr>
          <a:xfrm rot="5400000">
            <a:off x="8990436" y="4664430"/>
            <a:ext cx="158980" cy="371564"/>
          </a:xfrm>
          <a:prstGeom prst="upDownArrow">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nchor="ctr">
            <a:spAutoFit/>
          </a:bodyPr>
          <a:lstStyle/>
          <a:p>
            <a:pPr algn="ctr"/>
            <a:endParaRPr kumimoji="1" lang="zh-CN" altLang="en-US" dirty="0">
              <a:solidFill>
                <a:schemeClr val="bg1"/>
              </a:solidFill>
              <a:cs typeface="+mn-ea"/>
              <a:sym typeface="+mn-lt"/>
            </a:endParaRPr>
          </a:p>
        </p:txBody>
      </p:sp>
      <p:sp>
        <p:nvSpPr>
          <p:cNvPr id="28" name="椭圆 27"/>
          <p:cNvSpPr/>
          <p:nvPr/>
        </p:nvSpPr>
        <p:spPr>
          <a:xfrm>
            <a:off x="7465325" y="528390"/>
            <a:ext cx="920262" cy="423538"/>
          </a:xfrm>
          <a:prstGeom prst="ellipse">
            <a:avLst/>
          </a:prstGeom>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52DF7D90-B49A-4800-BC0D-FE9A7C3546DE}" type="slidenum">
              <a:rPr lang="zh-CN" altLang="en-US" smtClean="0">
                <a:latin typeface="+mn-lt"/>
                <a:ea typeface="+mn-ea"/>
                <a:cs typeface="+mn-ea"/>
                <a:sym typeface="+mn-lt"/>
              </a:rPr>
            </a:fld>
            <a:endParaRPr lang="en-US" altLang="zh-CN">
              <a:latin typeface="+mn-lt"/>
              <a:ea typeface="+mn-ea"/>
              <a:cs typeface="+mn-ea"/>
              <a:sym typeface="+mn-lt"/>
            </a:endParaRPr>
          </a:p>
        </p:txBody>
      </p:sp>
      <p:sp>
        <p:nvSpPr>
          <p:cNvPr id="7" name="标题 1"/>
          <p:cNvSpPr txBox="1"/>
          <p:nvPr/>
        </p:nvSpPr>
        <p:spPr>
          <a:xfrm>
            <a:off x="680915" y="311221"/>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en-US" altLang="zh-CN" dirty="0">
                <a:latin typeface="+mn-lt"/>
                <a:ea typeface="+mn-ea"/>
                <a:cs typeface="+mn-ea"/>
                <a:sym typeface="+mn-lt"/>
              </a:rPr>
              <a:t>O</a:t>
            </a:r>
            <a:r>
              <a:rPr lang="zh-CN" altLang="en-US" dirty="0">
                <a:latin typeface="+mn-lt"/>
                <a:ea typeface="+mn-ea"/>
                <a:cs typeface="+mn-ea"/>
                <a:sym typeface="+mn-lt"/>
              </a:rPr>
              <a:t> 优势</a:t>
            </a:r>
            <a:r>
              <a:rPr lang="en-US" altLang="zh-CN" dirty="0">
                <a:latin typeface="+mn-lt"/>
                <a:ea typeface="+mn-ea"/>
                <a:cs typeface="+mn-ea"/>
                <a:sym typeface="+mn-lt"/>
              </a:rPr>
              <a:t>4-</a:t>
            </a:r>
            <a:r>
              <a:rPr lang="zh-CN" altLang="zh-CN" dirty="0"/>
              <a:t>对外合作与社会影响持续提升</a:t>
            </a:r>
            <a:endParaRPr lang="zh-CN" altLang="zh-CN" dirty="0"/>
          </a:p>
        </p:txBody>
      </p:sp>
      <p:sp>
        <p:nvSpPr>
          <p:cNvPr id="32" name="标题 2"/>
          <p:cNvSpPr>
            <a:spLocks noGrp="1"/>
          </p:cNvSpPr>
          <p:nvPr>
            <p:ph type="title"/>
          </p:nvPr>
        </p:nvSpPr>
        <p:spPr>
          <a:xfrm>
            <a:off x="645360" y="980552"/>
            <a:ext cx="11302410" cy="685522"/>
          </a:xfrm>
        </p:spPr>
        <p:txBody>
          <a:bodyPr>
            <a:noAutofit/>
          </a:bodyPr>
          <a:lstStyle/>
          <a:p>
            <a:r>
              <a:rPr kumimoji="1" lang="zh-CN" altLang="en-US" sz="1800" dirty="0">
                <a:latin typeface="+mn-lt"/>
                <a:ea typeface="+mn-ea"/>
                <a:cs typeface="+mn-ea"/>
                <a:sym typeface="+mn-lt"/>
              </a:rPr>
              <a:t>优势</a:t>
            </a:r>
            <a:r>
              <a:rPr kumimoji="1" lang="en-US" altLang="zh-CN" sz="1800" dirty="0">
                <a:latin typeface="+mn-lt"/>
                <a:ea typeface="+mn-ea"/>
                <a:cs typeface="+mn-ea"/>
                <a:sym typeface="+mn-lt"/>
              </a:rPr>
              <a:t>4:</a:t>
            </a:r>
            <a:r>
              <a:rPr kumimoji="1" lang="zh-CN" altLang="en-US" sz="1800" dirty="0">
                <a:latin typeface="+mn-lt"/>
                <a:ea typeface="+mn-ea"/>
                <a:cs typeface="+mn-ea"/>
                <a:sym typeface="+mn-lt"/>
              </a:rPr>
              <a:t>打造了</a:t>
            </a:r>
            <a:r>
              <a:rPr lang="zh-CN" altLang="en-US" sz="1800" dirty="0">
                <a:latin typeface="+mn-lt"/>
                <a:ea typeface="+mn-ea"/>
                <a:cs typeface="+mn-ea"/>
                <a:sym typeface="+mn-lt"/>
              </a:rPr>
              <a:t>“一带一路”研修班 、“惠政学堂”、“全球金融论坛”等项目</a:t>
            </a:r>
            <a:r>
              <a:rPr kumimoji="1" lang="zh-CN" altLang="en-US" sz="1800" dirty="0">
                <a:latin typeface="+mn-lt"/>
                <a:ea typeface="+mn-ea"/>
                <a:cs typeface="+mn-ea"/>
                <a:sym typeface="+mn-lt"/>
              </a:rPr>
              <a:t>，探索了对外合作办学模式，</a:t>
            </a:r>
            <a:r>
              <a:rPr lang="zh-CN" altLang="en-US" sz="1800" dirty="0">
                <a:latin typeface="+mn-lt"/>
                <a:ea typeface="+mn-ea"/>
                <a:cs typeface="+mn-ea"/>
                <a:sym typeface="+mn-lt"/>
              </a:rPr>
              <a:t>以培训力量为业务拓展开辟新场景。</a:t>
            </a:r>
            <a:endParaRPr kumimoji="1" lang="zh-CN" altLang="en-US" sz="1800" dirty="0">
              <a:latin typeface="+mn-lt"/>
              <a:ea typeface="+mn-ea"/>
              <a:cs typeface="+mn-ea"/>
              <a:sym typeface="+mn-lt"/>
            </a:endParaRPr>
          </a:p>
        </p:txBody>
      </p:sp>
      <p:grpSp>
        <p:nvGrpSpPr>
          <p:cNvPr id="33" name="组合 32"/>
          <p:cNvGrpSpPr/>
          <p:nvPr/>
        </p:nvGrpSpPr>
        <p:grpSpPr>
          <a:xfrm>
            <a:off x="1616375" y="2004492"/>
            <a:ext cx="8877955" cy="4556403"/>
            <a:chOff x="531682" y="1374558"/>
            <a:chExt cx="8877955" cy="4556403"/>
          </a:xfrm>
        </p:grpSpPr>
        <p:sp>
          <p:nvSpPr>
            <p:cNvPr id="34" name="任意形状 18"/>
            <p:cNvSpPr/>
            <p:nvPr/>
          </p:nvSpPr>
          <p:spPr>
            <a:xfrm>
              <a:off x="4292599" y="2768599"/>
              <a:ext cx="1320800" cy="1320800"/>
            </a:xfrm>
            <a:custGeom>
              <a:avLst/>
              <a:gdLst>
                <a:gd name="connsiteX0" fmla="*/ 0 w 1320800"/>
                <a:gd name="connsiteY0" fmla="*/ 220138 h 1320800"/>
                <a:gd name="connsiteX1" fmla="*/ 220138 w 1320800"/>
                <a:gd name="connsiteY1" fmla="*/ 0 h 1320800"/>
                <a:gd name="connsiteX2" fmla="*/ 1100662 w 1320800"/>
                <a:gd name="connsiteY2" fmla="*/ 0 h 1320800"/>
                <a:gd name="connsiteX3" fmla="*/ 1320800 w 1320800"/>
                <a:gd name="connsiteY3" fmla="*/ 220138 h 1320800"/>
                <a:gd name="connsiteX4" fmla="*/ 1320800 w 1320800"/>
                <a:gd name="connsiteY4" fmla="*/ 1100662 h 1320800"/>
                <a:gd name="connsiteX5" fmla="*/ 1100662 w 1320800"/>
                <a:gd name="connsiteY5" fmla="*/ 1320800 h 1320800"/>
                <a:gd name="connsiteX6" fmla="*/ 220138 w 1320800"/>
                <a:gd name="connsiteY6" fmla="*/ 1320800 h 1320800"/>
                <a:gd name="connsiteX7" fmla="*/ 0 w 1320800"/>
                <a:gd name="connsiteY7" fmla="*/ 1100662 h 1320800"/>
                <a:gd name="connsiteX8" fmla="*/ 0 w 1320800"/>
                <a:gd name="connsiteY8" fmla="*/ 220138 h 132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0800" h="1320800">
                  <a:moveTo>
                    <a:pt x="0" y="220138"/>
                  </a:moveTo>
                  <a:cubicBezTo>
                    <a:pt x="0" y="98559"/>
                    <a:pt x="98559" y="0"/>
                    <a:pt x="220138" y="0"/>
                  </a:cubicBezTo>
                  <a:lnTo>
                    <a:pt x="1100662" y="0"/>
                  </a:lnTo>
                  <a:cubicBezTo>
                    <a:pt x="1222241" y="0"/>
                    <a:pt x="1320800" y="98559"/>
                    <a:pt x="1320800" y="220138"/>
                  </a:cubicBezTo>
                  <a:lnTo>
                    <a:pt x="1320800" y="1100662"/>
                  </a:lnTo>
                  <a:cubicBezTo>
                    <a:pt x="1320800" y="1222241"/>
                    <a:pt x="1222241" y="1320800"/>
                    <a:pt x="1100662" y="1320800"/>
                  </a:cubicBezTo>
                  <a:lnTo>
                    <a:pt x="220138" y="1320800"/>
                  </a:lnTo>
                  <a:cubicBezTo>
                    <a:pt x="98559" y="1320800"/>
                    <a:pt x="0" y="1222241"/>
                    <a:pt x="0" y="1100662"/>
                  </a:cubicBezTo>
                  <a:lnTo>
                    <a:pt x="0" y="220138"/>
                  </a:lnTo>
                  <a:close/>
                </a:path>
              </a:pathLst>
            </a:custGeom>
            <a:solidFill>
              <a:srgbClr val="C0000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376" tIns="153376" rIns="153376" bIns="153376" numCol="1" spcCol="1270" anchor="ctr" anchorCtr="0">
              <a:noAutofit/>
            </a:bodyPr>
            <a:lstStyle/>
            <a:p>
              <a:pPr marL="0" lvl="0" indent="0" algn="ctr" defTabSz="1555750" rtl="0">
                <a:lnSpc>
                  <a:spcPct val="90000"/>
                </a:lnSpc>
                <a:spcBef>
                  <a:spcPct val="0"/>
                </a:spcBef>
                <a:spcAft>
                  <a:spcPct val="35000"/>
                </a:spcAft>
                <a:buNone/>
              </a:pPr>
              <a:endParaRPr lang="zh-CN" altLang="en-US" sz="3500" kern="1200" dirty="0">
                <a:cs typeface="+mn-ea"/>
                <a:sym typeface="+mn-lt"/>
              </a:endParaRPr>
            </a:p>
          </p:txBody>
        </p:sp>
        <p:sp>
          <p:nvSpPr>
            <p:cNvPr id="35" name="任意形状 19"/>
            <p:cNvSpPr/>
            <p:nvPr/>
          </p:nvSpPr>
          <p:spPr>
            <a:xfrm rot="16200000">
              <a:off x="4625190" y="2440789"/>
              <a:ext cx="655619" cy="0"/>
            </a:xfrm>
            <a:custGeom>
              <a:avLst/>
              <a:gdLst/>
              <a:ahLst/>
              <a:cxnLst/>
              <a:rect l="0" t="0" r="0" b="0"/>
              <a:pathLst>
                <a:path>
                  <a:moveTo>
                    <a:pt x="0" y="0"/>
                  </a:moveTo>
                  <a:lnTo>
                    <a:pt x="655619" y="0"/>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zh-CN" altLang="en-US">
                <a:cs typeface="+mn-ea"/>
                <a:sym typeface="+mn-lt"/>
              </a:endParaRPr>
            </a:p>
          </p:txBody>
        </p:sp>
        <p:sp>
          <p:nvSpPr>
            <p:cNvPr id="36" name="任意形状 20"/>
            <p:cNvSpPr/>
            <p:nvPr/>
          </p:nvSpPr>
          <p:spPr>
            <a:xfrm>
              <a:off x="3366234" y="1374558"/>
              <a:ext cx="3140619" cy="725895"/>
            </a:xfrm>
            <a:custGeom>
              <a:avLst/>
              <a:gdLst>
                <a:gd name="connsiteX0" fmla="*/ 0 w 884936"/>
                <a:gd name="connsiteY0" fmla="*/ 147492 h 884936"/>
                <a:gd name="connsiteX1" fmla="*/ 147492 w 884936"/>
                <a:gd name="connsiteY1" fmla="*/ 0 h 884936"/>
                <a:gd name="connsiteX2" fmla="*/ 737444 w 884936"/>
                <a:gd name="connsiteY2" fmla="*/ 0 h 884936"/>
                <a:gd name="connsiteX3" fmla="*/ 884936 w 884936"/>
                <a:gd name="connsiteY3" fmla="*/ 147492 h 884936"/>
                <a:gd name="connsiteX4" fmla="*/ 884936 w 884936"/>
                <a:gd name="connsiteY4" fmla="*/ 737444 h 884936"/>
                <a:gd name="connsiteX5" fmla="*/ 737444 w 884936"/>
                <a:gd name="connsiteY5" fmla="*/ 884936 h 884936"/>
                <a:gd name="connsiteX6" fmla="*/ 147492 w 884936"/>
                <a:gd name="connsiteY6" fmla="*/ 884936 h 884936"/>
                <a:gd name="connsiteX7" fmla="*/ 0 w 884936"/>
                <a:gd name="connsiteY7" fmla="*/ 737444 h 884936"/>
                <a:gd name="connsiteX8" fmla="*/ 0 w 884936"/>
                <a:gd name="connsiteY8" fmla="*/ 147492 h 884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4936" h="884936">
                  <a:moveTo>
                    <a:pt x="0" y="147492"/>
                  </a:moveTo>
                  <a:cubicBezTo>
                    <a:pt x="0" y="66034"/>
                    <a:pt x="66034" y="0"/>
                    <a:pt x="147492" y="0"/>
                  </a:cubicBezTo>
                  <a:lnTo>
                    <a:pt x="737444" y="0"/>
                  </a:lnTo>
                  <a:cubicBezTo>
                    <a:pt x="818902" y="0"/>
                    <a:pt x="884936" y="66034"/>
                    <a:pt x="884936" y="147492"/>
                  </a:cubicBezTo>
                  <a:lnTo>
                    <a:pt x="884936" y="737444"/>
                  </a:lnTo>
                  <a:cubicBezTo>
                    <a:pt x="884936" y="818902"/>
                    <a:pt x="818902" y="884936"/>
                    <a:pt x="737444" y="884936"/>
                  </a:cubicBezTo>
                  <a:lnTo>
                    <a:pt x="147492" y="884936"/>
                  </a:lnTo>
                  <a:cubicBezTo>
                    <a:pt x="66034" y="884936"/>
                    <a:pt x="0" y="818902"/>
                    <a:pt x="0" y="737444"/>
                  </a:cubicBezTo>
                  <a:lnTo>
                    <a:pt x="0" y="147492"/>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101619" tIns="101619" rIns="101619" bIns="101619" numCol="1" spcCol="1270" anchor="ctr" anchorCtr="0">
              <a:noAutofit/>
            </a:bodyPr>
            <a:lstStyle/>
            <a:p>
              <a:pPr marL="0" lvl="0" indent="0" algn="ctr" defTabSz="1022350">
                <a:lnSpc>
                  <a:spcPct val="90000"/>
                </a:lnSpc>
                <a:spcBef>
                  <a:spcPct val="0"/>
                </a:spcBef>
                <a:spcAft>
                  <a:spcPct val="35000"/>
                </a:spcAft>
                <a:buNone/>
              </a:pPr>
              <a:endParaRPr lang="zh-CN" altLang="en-US" sz="2300" kern="1200">
                <a:cs typeface="+mn-ea"/>
                <a:sym typeface="+mn-lt"/>
              </a:endParaRPr>
            </a:p>
          </p:txBody>
        </p:sp>
        <p:sp>
          <p:nvSpPr>
            <p:cNvPr id="37" name="任意形状 21"/>
            <p:cNvSpPr/>
            <p:nvPr/>
          </p:nvSpPr>
          <p:spPr>
            <a:xfrm>
              <a:off x="5613400" y="3428999"/>
              <a:ext cx="655619" cy="0"/>
            </a:xfrm>
            <a:custGeom>
              <a:avLst/>
              <a:gdLst/>
              <a:ahLst/>
              <a:cxnLst/>
              <a:rect l="0" t="0" r="0" b="0"/>
              <a:pathLst>
                <a:path>
                  <a:moveTo>
                    <a:pt x="0" y="0"/>
                  </a:moveTo>
                  <a:lnTo>
                    <a:pt x="655619" y="0"/>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zh-CN" altLang="en-US">
                <a:cs typeface="+mn-ea"/>
                <a:sym typeface="+mn-lt"/>
              </a:endParaRPr>
            </a:p>
          </p:txBody>
        </p:sp>
        <p:sp>
          <p:nvSpPr>
            <p:cNvPr id="38" name="任意形状 22"/>
            <p:cNvSpPr/>
            <p:nvPr/>
          </p:nvSpPr>
          <p:spPr>
            <a:xfrm>
              <a:off x="6269018" y="2620065"/>
              <a:ext cx="3140619" cy="1569968"/>
            </a:xfrm>
            <a:custGeom>
              <a:avLst/>
              <a:gdLst>
                <a:gd name="connsiteX0" fmla="*/ 0 w 884936"/>
                <a:gd name="connsiteY0" fmla="*/ 147492 h 884936"/>
                <a:gd name="connsiteX1" fmla="*/ 147492 w 884936"/>
                <a:gd name="connsiteY1" fmla="*/ 0 h 884936"/>
                <a:gd name="connsiteX2" fmla="*/ 737444 w 884936"/>
                <a:gd name="connsiteY2" fmla="*/ 0 h 884936"/>
                <a:gd name="connsiteX3" fmla="*/ 884936 w 884936"/>
                <a:gd name="connsiteY3" fmla="*/ 147492 h 884936"/>
                <a:gd name="connsiteX4" fmla="*/ 884936 w 884936"/>
                <a:gd name="connsiteY4" fmla="*/ 737444 h 884936"/>
                <a:gd name="connsiteX5" fmla="*/ 737444 w 884936"/>
                <a:gd name="connsiteY5" fmla="*/ 884936 h 884936"/>
                <a:gd name="connsiteX6" fmla="*/ 147492 w 884936"/>
                <a:gd name="connsiteY6" fmla="*/ 884936 h 884936"/>
                <a:gd name="connsiteX7" fmla="*/ 0 w 884936"/>
                <a:gd name="connsiteY7" fmla="*/ 737444 h 884936"/>
                <a:gd name="connsiteX8" fmla="*/ 0 w 884936"/>
                <a:gd name="connsiteY8" fmla="*/ 147492 h 884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4936" h="884936">
                  <a:moveTo>
                    <a:pt x="0" y="147492"/>
                  </a:moveTo>
                  <a:cubicBezTo>
                    <a:pt x="0" y="66034"/>
                    <a:pt x="66034" y="0"/>
                    <a:pt x="147492" y="0"/>
                  </a:cubicBezTo>
                  <a:lnTo>
                    <a:pt x="737444" y="0"/>
                  </a:lnTo>
                  <a:cubicBezTo>
                    <a:pt x="818902" y="0"/>
                    <a:pt x="884936" y="66034"/>
                    <a:pt x="884936" y="147492"/>
                  </a:cubicBezTo>
                  <a:lnTo>
                    <a:pt x="884936" y="737444"/>
                  </a:lnTo>
                  <a:cubicBezTo>
                    <a:pt x="884936" y="818902"/>
                    <a:pt x="818902" y="884936"/>
                    <a:pt x="737444" y="884936"/>
                  </a:cubicBezTo>
                  <a:lnTo>
                    <a:pt x="147492" y="884936"/>
                  </a:lnTo>
                  <a:cubicBezTo>
                    <a:pt x="66034" y="884936"/>
                    <a:pt x="0" y="818902"/>
                    <a:pt x="0" y="737444"/>
                  </a:cubicBezTo>
                  <a:lnTo>
                    <a:pt x="0" y="147492"/>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101619" tIns="101619" rIns="101619" bIns="101619" numCol="1" spcCol="1270" anchor="ctr" anchorCtr="0">
              <a:noAutofit/>
            </a:bodyPr>
            <a:lstStyle/>
            <a:p>
              <a:pPr marL="0" lvl="0" indent="0" algn="ctr" defTabSz="1022350">
                <a:lnSpc>
                  <a:spcPct val="90000"/>
                </a:lnSpc>
                <a:spcBef>
                  <a:spcPct val="0"/>
                </a:spcBef>
                <a:spcAft>
                  <a:spcPct val="35000"/>
                </a:spcAft>
                <a:buNone/>
              </a:pPr>
              <a:endParaRPr lang="zh-CN" altLang="en-US" sz="2300" kern="1200">
                <a:cs typeface="+mn-ea"/>
                <a:sym typeface="+mn-lt"/>
              </a:endParaRPr>
            </a:p>
          </p:txBody>
        </p:sp>
        <p:sp>
          <p:nvSpPr>
            <p:cNvPr id="39" name="任意形状 23"/>
            <p:cNvSpPr/>
            <p:nvPr/>
          </p:nvSpPr>
          <p:spPr>
            <a:xfrm rot="5400000">
              <a:off x="4625190" y="4417209"/>
              <a:ext cx="655619" cy="0"/>
            </a:xfrm>
            <a:custGeom>
              <a:avLst/>
              <a:gdLst/>
              <a:ahLst/>
              <a:cxnLst/>
              <a:rect l="0" t="0" r="0" b="0"/>
              <a:pathLst>
                <a:path>
                  <a:moveTo>
                    <a:pt x="0" y="0"/>
                  </a:moveTo>
                  <a:lnTo>
                    <a:pt x="655619" y="0"/>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zh-CN" altLang="en-US">
                <a:cs typeface="+mn-ea"/>
                <a:sym typeface="+mn-lt"/>
              </a:endParaRPr>
            </a:p>
          </p:txBody>
        </p:sp>
        <p:sp>
          <p:nvSpPr>
            <p:cNvPr id="40" name="任意形状 24"/>
            <p:cNvSpPr/>
            <p:nvPr/>
          </p:nvSpPr>
          <p:spPr>
            <a:xfrm>
              <a:off x="3059919" y="4563914"/>
              <a:ext cx="3743233" cy="1367047"/>
            </a:xfrm>
            <a:custGeom>
              <a:avLst/>
              <a:gdLst>
                <a:gd name="connsiteX0" fmla="*/ 0 w 884936"/>
                <a:gd name="connsiteY0" fmla="*/ 147492 h 884936"/>
                <a:gd name="connsiteX1" fmla="*/ 147492 w 884936"/>
                <a:gd name="connsiteY1" fmla="*/ 0 h 884936"/>
                <a:gd name="connsiteX2" fmla="*/ 737444 w 884936"/>
                <a:gd name="connsiteY2" fmla="*/ 0 h 884936"/>
                <a:gd name="connsiteX3" fmla="*/ 884936 w 884936"/>
                <a:gd name="connsiteY3" fmla="*/ 147492 h 884936"/>
                <a:gd name="connsiteX4" fmla="*/ 884936 w 884936"/>
                <a:gd name="connsiteY4" fmla="*/ 737444 h 884936"/>
                <a:gd name="connsiteX5" fmla="*/ 737444 w 884936"/>
                <a:gd name="connsiteY5" fmla="*/ 884936 h 884936"/>
                <a:gd name="connsiteX6" fmla="*/ 147492 w 884936"/>
                <a:gd name="connsiteY6" fmla="*/ 884936 h 884936"/>
                <a:gd name="connsiteX7" fmla="*/ 0 w 884936"/>
                <a:gd name="connsiteY7" fmla="*/ 737444 h 884936"/>
                <a:gd name="connsiteX8" fmla="*/ 0 w 884936"/>
                <a:gd name="connsiteY8" fmla="*/ 147492 h 884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4936" h="884936">
                  <a:moveTo>
                    <a:pt x="0" y="147492"/>
                  </a:moveTo>
                  <a:cubicBezTo>
                    <a:pt x="0" y="66034"/>
                    <a:pt x="66034" y="0"/>
                    <a:pt x="147492" y="0"/>
                  </a:cubicBezTo>
                  <a:lnTo>
                    <a:pt x="737444" y="0"/>
                  </a:lnTo>
                  <a:cubicBezTo>
                    <a:pt x="818902" y="0"/>
                    <a:pt x="884936" y="66034"/>
                    <a:pt x="884936" y="147492"/>
                  </a:cubicBezTo>
                  <a:lnTo>
                    <a:pt x="884936" y="737444"/>
                  </a:lnTo>
                  <a:cubicBezTo>
                    <a:pt x="884936" y="818902"/>
                    <a:pt x="818902" y="884936"/>
                    <a:pt x="737444" y="884936"/>
                  </a:cubicBezTo>
                  <a:lnTo>
                    <a:pt x="147492" y="884936"/>
                  </a:lnTo>
                  <a:cubicBezTo>
                    <a:pt x="66034" y="884936"/>
                    <a:pt x="0" y="818902"/>
                    <a:pt x="0" y="737444"/>
                  </a:cubicBezTo>
                  <a:lnTo>
                    <a:pt x="0" y="147492"/>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101619" tIns="101619" rIns="101619" bIns="101619" numCol="1" spcCol="1270" anchor="ctr" anchorCtr="0">
              <a:noAutofit/>
            </a:bodyPr>
            <a:lstStyle/>
            <a:p>
              <a:pPr marL="0" lvl="0" indent="0" algn="ctr" defTabSz="1022350">
                <a:lnSpc>
                  <a:spcPct val="90000"/>
                </a:lnSpc>
                <a:spcBef>
                  <a:spcPct val="0"/>
                </a:spcBef>
                <a:spcAft>
                  <a:spcPct val="35000"/>
                </a:spcAft>
                <a:buNone/>
              </a:pPr>
              <a:endParaRPr lang="zh-CN" altLang="en-US" sz="2300" kern="1200" dirty="0">
                <a:cs typeface="+mn-ea"/>
                <a:sym typeface="+mn-lt"/>
              </a:endParaRPr>
            </a:p>
          </p:txBody>
        </p:sp>
        <p:sp>
          <p:nvSpPr>
            <p:cNvPr id="41" name="任意形状 25"/>
            <p:cNvSpPr/>
            <p:nvPr/>
          </p:nvSpPr>
          <p:spPr>
            <a:xfrm rot="10800000">
              <a:off x="3636980" y="3428999"/>
              <a:ext cx="655619" cy="0"/>
            </a:xfrm>
            <a:custGeom>
              <a:avLst/>
              <a:gdLst/>
              <a:ahLst/>
              <a:cxnLst/>
              <a:rect l="0" t="0" r="0" b="0"/>
              <a:pathLst>
                <a:path>
                  <a:moveTo>
                    <a:pt x="0" y="0"/>
                  </a:moveTo>
                  <a:lnTo>
                    <a:pt x="655619" y="0"/>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zh-CN" altLang="en-US">
                <a:cs typeface="+mn-ea"/>
                <a:sym typeface="+mn-lt"/>
              </a:endParaRPr>
            </a:p>
          </p:txBody>
        </p:sp>
        <p:sp>
          <p:nvSpPr>
            <p:cNvPr id="42" name="任意形状 26"/>
            <p:cNvSpPr/>
            <p:nvPr/>
          </p:nvSpPr>
          <p:spPr>
            <a:xfrm>
              <a:off x="531682" y="2620065"/>
              <a:ext cx="3533110" cy="1569968"/>
            </a:xfrm>
            <a:custGeom>
              <a:avLst/>
              <a:gdLst>
                <a:gd name="connsiteX0" fmla="*/ 0 w 884936"/>
                <a:gd name="connsiteY0" fmla="*/ 147492 h 884936"/>
                <a:gd name="connsiteX1" fmla="*/ 147492 w 884936"/>
                <a:gd name="connsiteY1" fmla="*/ 0 h 884936"/>
                <a:gd name="connsiteX2" fmla="*/ 737444 w 884936"/>
                <a:gd name="connsiteY2" fmla="*/ 0 h 884936"/>
                <a:gd name="connsiteX3" fmla="*/ 884936 w 884936"/>
                <a:gd name="connsiteY3" fmla="*/ 147492 h 884936"/>
                <a:gd name="connsiteX4" fmla="*/ 884936 w 884936"/>
                <a:gd name="connsiteY4" fmla="*/ 737444 h 884936"/>
                <a:gd name="connsiteX5" fmla="*/ 737444 w 884936"/>
                <a:gd name="connsiteY5" fmla="*/ 884936 h 884936"/>
                <a:gd name="connsiteX6" fmla="*/ 147492 w 884936"/>
                <a:gd name="connsiteY6" fmla="*/ 884936 h 884936"/>
                <a:gd name="connsiteX7" fmla="*/ 0 w 884936"/>
                <a:gd name="connsiteY7" fmla="*/ 737444 h 884936"/>
                <a:gd name="connsiteX8" fmla="*/ 0 w 884936"/>
                <a:gd name="connsiteY8" fmla="*/ 147492 h 884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4936" h="884936">
                  <a:moveTo>
                    <a:pt x="0" y="147492"/>
                  </a:moveTo>
                  <a:cubicBezTo>
                    <a:pt x="0" y="66034"/>
                    <a:pt x="66034" y="0"/>
                    <a:pt x="147492" y="0"/>
                  </a:cubicBezTo>
                  <a:lnTo>
                    <a:pt x="737444" y="0"/>
                  </a:lnTo>
                  <a:cubicBezTo>
                    <a:pt x="818902" y="0"/>
                    <a:pt x="884936" y="66034"/>
                    <a:pt x="884936" y="147492"/>
                  </a:cubicBezTo>
                  <a:lnTo>
                    <a:pt x="884936" y="737444"/>
                  </a:lnTo>
                  <a:cubicBezTo>
                    <a:pt x="884936" y="818902"/>
                    <a:pt x="818902" y="884936"/>
                    <a:pt x="737444" y="884936"/>
                  </a:cubicBezTo>
                  <a:lnTo>
                    <a:pt x="147492" y="884936"/>
                  </a:lnTo>
                  <a:cubicBezTo>
                    <a:pt x="66034" y="884936"/>
                    <a:pt x="0" y="818902"/>
                    <a:pt x="0" y="737444"/>
                  </a:cubicBezTo>
                  <a:lnTo>
                    <a:pt x="0" y="147492"/>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134639" tIns="134639" rIns="134639" bIns="134639" numCol="1" spcCol="1270" anchor="ctr" anchorCtr="0">
              <a:noAutofit/>
            </a:bodyPr>
            <a:lstStyle/>
            <a:p>
              <a:pPr marL="0" lvl="0" indent="0" algn="ctr" defTabSz="1600200" rtl="0">
                <a:lnSpc>
                  <a:spcPct val="90000"/>
                </a:lnSpc>
                <a:spcBef>
                  <a:spcPct val="0"/>
                </a:spcBef>
                <a:spcAft>
                  <a:spcPct val="35000"/>
                </a:spcAft>
                <a:buNone/>
              </a:pPr>
              <a:endParaRPr lang="zh-CN" altLang="en-US" sz="3600" kern="1200" dirty="0">
                <a:cs typeface="+mn-ea"/>
                <a:sym typeface="+mn-lt"/>
              </a:endParaRPr>
            </a:p>
          </p:txBody>
        </p:sp>
      </p:grpSp>
      <p:sp>
        <p:nvSpPr>
          <p:cNvPr id="43" name="文本框 42"/>
          <p:cNvSpPr txBox="1"/>
          <p:nvPr/>
        </p:nvSpPr>
        <p:spPr>
          <a:xfrm>
            <a:off x="5543820" y="3860965"/>
            <a:ext cx="1011815" cy="338554"/>
          </a:xfrm>
          <a:prstGeom prst="rect">
            <a:avLst/>
          </a:prstGeom>
          <a:noFill/>
        </p:spPr>
        <p:txBody>
          <a:bodyPr wrap="none" rtlCol="0">
            <a:spAutoFit/>
          </a:bodyPr>
          <a:lstStyle/>
          <a:p>
            <a:r>
              <a:rPr kumimoji="1" lang="zh-CN" altLang="en-US" sz="1600" dirty="0">
                <a:solidFill>
                  <a:schemeClr val="bg1"/>
                </a:solidFill>
                <a:latin typeface="+mn-lt"/>
                <a:ea typeface="+mn-ea"/>
                <a:cs typeface="+mn-ea"/>
                <a:sym typeface="+mn-lt"/>
              </a:rPr>
              <a:t>中银大学</a:t>
            </a:r>
            <a:endParaRPr kumimoji="1" lang="zh-CN" altLang="en-US" sz="1600" dirty="0">
              <a:solidFill>
                <a:schemeClr val="bg1"/>
              </a:solidFill>
              <a:latin typeface="+mn-lt"/>
              <a:ea typeface="+mn-ea"/>
              <a:cs typeface="+mn-ea"/>
              <a:sym typeface="+mn-lt"/>
            </a:endParaRPr>
          </a:p>
        </p:txBody>
      </p:sp>
      <p:sp>
        <p:nvSpPr>
          <p:cNvPr id="44" name="矩形 43"/>
          <p:cNvSpPr/>
          <p:nvPr/>
        </p:nvSpPr>
        <p:spPr>
          <a:xfrm>
            <a:off x="4144613" y="5352668"/>
            <a:ext cx="3813873" cy="1077218"/>
          </a:xfrm>
          <a:prstGeom prst="rect">
            <a:avLst/>
          </a:prstGeom>
        </p:spPr>
        <p:txBody>
          <a:bodyPr wrap="square">
            <a:spAutoFit/>
          </a:bodyPr>
          <a:lstStyle/>
          <a:p>
            <a:r>
              <a:rPr lang="en-US" altLang="zh-CN" sz="1600" b="0" dirty="0">
                <a:latin typeface="+mn-lt"/>
                <a:ea typeface="+mn-ea"/>
                <a:cs typeface="+mn-ea"/>
                <a:sym typeface="+mn-lt"/>
              </a:rPr>
              <a:t>·</a:t>
            </a:r>
            <a:r>
              <a:rPr lang="zh-CN" altLang="en-US" sz="1600" b="0" dirty="0">
                <a:latin typeface="+mn-lt"/>
                <a:ea typeface="+mn-ea"/>
                <a:cs typeface="+mn-ea"/>
                <a:sym typeface="+mn-lt"/>
              </a:rPr>
              <a:t>联合清华大学五道口金融学院成功举办“清华五道口全球金融论坛”</a:t>
            </a:r>
            <a:endParaRPr lang="en-US" altLang="zh-CN" sz="1600" b="0" dirty="0">
              <a:latin typeface="+mn-lt"/>
              <a:ea typeface="+mn-ea"/>
              <a:cs typeface="+mn-ea"/>
              <a:sym typeface="+mn-lt"/>
            </a:endParaRPr>
          </a:p>
          <a:p>
            <a:r>
              <a:rPr lang="en-US" altLang="zh-CN" sz="1600" b="0" dirty="0">
                <a:latin typeface="+mn-lt"/>
                <a:ea typeface="+mn-ea"/>
                <a:cs typeface="+mn-ea"/>
                <a:sym typeface="+mn-lt"/>
              </a:rPr>
              <a:t>·</a:t>
            </a:r>
            <a:r>
              <a:rPr lang="zh-CN" altLang="en-US" sz="1600" b="0" dirty="0">
                <a:latin typeface="+mn-lt"/>
                <a:ea typeface="+mn-ea"/>
                <a:cs typeface="+mn-ea"/>
                <a:sym typeface="+mn-lt"/>
              </a:rPr>
              <a:t>协调行内相关单位，参加新加坡绿色金融中心建设，我行成为创始核心成员</a:t>
            </a:r>
            <a:endParaRPr lang="zh-CN" altLang="en-US" sz="1600" b="0" dirty="0">
              <a:latin typeface="+mn-lt"/>
              <a:ea typeface="+mn-ea"/>
              <a:cs typeface="+mn-ea"/>
              <a:sym typeface="+mn-lt"/>
            </a:endParaRPr>
          </a:p>
        </p:txBody>
      </p:sp>
      <p:sp>
        <p:nvSpPr>
          <p:cNvPr id="45" name="矩形 44"/>
          <p:cNvSpPr/>
          <p:nvPr/>
        </p:nvSpPr>
        <p:spPr>
          <a:xfrm>
            <a:off x="7753320" y="3750119"/>
            <a:ext cx="2212715" cy="584775"/>
          </a:xfrm>
          <a:prstGeom prst="rect">
            <a:avLst/>
          </a:prstGeom>
        </p:spPr>
        <p:txBody>
          <a:bodyPr wrap="square">
            <a:spAutoFit/>
          </a:bodyPr>
          <a:lstStyle/>
          <a:p>
            <a:pPr algn="ctr"/>
            <a:r>
              <a:rPr lang="zh-CN" altLang="en-US" sz="1600" dirty="0">
                <a:latin typeface="+mn-lt"/>
                <a:ea typeface="+mn-ea"/>
                <a:cs typeface="+mn-ea"/>
                <a:sym typeface="+mn-lt"/>
              </a:rPr>
              <a:t>“一带一路”国际金融交流合作研修班</a:t>
            </a:r>
            <a:endParaRPr lang="zh-CN" altLang="en-US" sz="1600" dirty="0">
              <a:latin typeface="+mn-lt"/>
              <a:ea typeface="+mn-ea"/>
              <a:cs typeface="+mn-ea"/>
              <a:sym typeface="+mn-lt"/>
            </a:endParaRPr>
          </a:p>
        </p:txBody>
      </p:sp>
      <p:sp>
        <p:nvSpPr>
          <p:cNvPr id="46" name="矩形 45"/>
          <p:cNvSpPr/>
          <p:nvPr/>
        </p:nvSpPr>
        <p:spPr>
          <a:xfrm>
            <a:off x="1788908" y="3279593"/>
            <a:ext cx="3170571" cy="1569660"/>
          </a:xfrm>
          <a:prstGeom prst="rect">
            <a:avLst/>
          </a:prstGeom>
        </p:spPr>
        <p:txBody>
          <a:bodyPr wrap="square">
            <a:spAutoFit/>
          </a:bodyPr>
          <a:lstStyle/>
          <a:p>
            <a:r>
              <a:rPr lang="en-US" altLang="zh-CN" sz="1600" b="0" dirty="0">
                <a:latin typeface="+mn-lt"/>
                <a:ea typeface="+mn-ea"/>
                <a:cs typeface="+mn-ea"/>
                <a:sym typeface="+mn-lt"/>
              </a:rPr>
              <a:t>·</a:t>
            </a:r>
            <a:r>
              <a:rPr lang="zh-CN" altLang="en-US" sz="1600" b="0" dirty="0">
                <a:latin typeface="+mn-lt"/>
                <a:ea typeface="+mn-ea"/>
                <a:cs typeface="+mn-ea"/>
                <a:sym typeface="+mn-lt"/>
              </a:rPr>
              <a:t>参加新加坡绿色金融中心建设</a:t>
            </a:r>
            <a:endParaRPr lang="en-US" altLang="zh-CN" sz="1600" b="0" dirty="0">
              <a:latin typeface="+mn-lt"/>
              <a:ea typeface="+mn-ea"/>
              <a:cs typeface="+mn-ea"/>
              <a:sym typeface="+mn-lt"/>
            </a:endParaRPr>
          </a:p>
          <a:p>
            <a:r>
              <a:rPr lang="en-US" altLang="zh-CN" sz="1600" b="0" dirty="0">
                <a:latin typeface="+mn-lt"/>
                <a:ea typeface="+mn-ea"/>
                <a:cs typeface="+mn-ea"/>
                <a:sym typeface="+mn-lt"/>
              </a:rPr>
              <a:t>·</a:t>
            </a:r>
            <a:r>
              <a:rPr lang="zh-CN" altLang="en-US" sz="1600" b="0" dirty="0">
                <a:latin typeface="+mn-lt"/>
                <a:ea typeface="+mn-ea"/>
                <a:cs typeface="+mn-ea"/>
                <a:sym typeface="+mn-lt"/>
              </a:rPr>
              <a:t>协助中国驻芬兰大使馆举办“数字货币”专题讲座</a:t>
            </a:r>
            <a:endParaRPr lang="en-US" altLang="zh-CN" sz="1600" b="0" dirty="0">
              <a:latin typeface="+mn-lt"/>
              <a:ea typeface="+mn-ea"/>
              <a:cs typeface="+mn-ea"/>
              <a:sym typeface="+mn-lt"/>
            </a:endParaRPr>
          </a:p>
          <a:p>
            <a:r>
              <a:rPr lang="en-US" altLang="zh-CN" sz="1600" b="0" dirty="0">
                <a:latin typeface="+mn-lt"/>
                <a:ea typeface="+mn-ea"/>
                <a:cs typeface="+mn-ea"/>
                <a:sym typeface="+mn-lt"/>
              </a:rPr>
              <a:t>·</a:t>
            </a:r>
            <a:r>
              <a:rPr lang="zh-CN" altLang="en-US" sz="1600" b="0" dirty="0">
                <a:latin typeface="+mn-lt"/>
                <a:ea typeface="+mn-ea"/>
                <a:cs typeface="+mn-ea"/>
                <a:sym typeface="+mn-lt"/>
              </a:rPr>
              <a:t>响应香港金融管理局邀请，组织实施 </a:t>
            </a:r>
            <a:r>
              <a:rPr lang="en-US" altLang="zh-CN" sz="1600" b="0" dirty="0">
                <a:latin typeface="+mn-lt"/>
                <a:ea typeface="+mn-ea"/>
                <a:cs typeface="+mn-ea"/>
                <a:sym typeface="+mn-lt"/>
              </a:rPr>
              <a:t>2020 </a:t>
            </a:r>
            <a:r>
              <a:rPr lang="zh-CN" altLang="en-US" sz="1600" b="0" dirty="0">
                <a:latin typeface="+mn-lt"/>
                <a:ea typeface="+mn-ea"/>
                <a:cs typeface="+mn-ea"/>
                <a:sym typeface="+mn-lt"/>
              </a:rPr>
              <a:t>年度 “银行业人才启动计划”</a:t>
            </a:r>
            <a:endParaRPr lang="zh-CN" altLang="en-US" sz="1600" b="0" dirty="0">
              <a:latin typeface="+mn-lt"/>
              <a:ea typeface="+mn-ea"/>
              <a:cs typeface="+mn-ea"/>
              <a:sym typeface="+mn-lt"/>
            </a:endParaRPr>
          </a:p>
        </p:txBody>
      </p:sp>
      <p:sp>
        <p:nvSpPr>
          <p:cNvPr id="47" name="矩形 46"/>
          <p:cNvSpPr/>
          <p:nvPr/>
        </p:nvSpPr>
        <p:spPr>
          <a:xfrm>
            <a:off x="4705216" y="2047530"/>
            <a:ext cx="2632040" cy="584775"/>
          </a:xfrm>
          <a:prstGeom prst="rect">
            <a:avLst/>
          </a:prstGeom>
        </p:spPr>
        <p:txBody>
          <a:bodyPr wrap="square">
            <a:spAutoFit/>
          </a:bodyPr>
          <a:lstStyle/>
          <a:p>
            <a:pPr algn="ctr"/>
            <a:r>
              <a:rPr lang="zh-CN" altLang="en-US" sz="1600" dirty="0">
                <a:latin typeface="+mn-lt"/>
                <a:ea typeface="+mn-ea"/>
                <a:cs typeface="+mn-ea"/>
                <a:sym typeface="+mn-lt"/>
              </a:rPr>
              <a:t>协助湖北省政府举办“慧政学堂”高级研修班</a:t>
            </a:r>
            <a:endParaRPr lang="zh-CN" altLang="en-US" sz="1600" dirty="0">
              <a:latin typeface="+mn-lt"/>
              <a:ea typeface="+mn-ea"/>
              <a:cs typeface="+mn-ea"/>
              <a:sym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a:xfrm>
            <a:off x="9407770" y="6649713"/>
            <a:ext cx="2540000" cy="170496"/>
          </a:xfrm>
        </p:spPr>
        <p:txBody>
          <a:bodyPr/>
          <a:lstStyle/>
          <a:p>
            <a:pP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
        <p:nvSpPr>
          <p:cNvPr id="101" name="标题 1"/>
          <p:cNvSpPr txBox="1"/>
          <p:nvPr/>
        </p:nvSpPr>
        <p:spPr>
          <a:xfrm>
            <a:off x="689709" y="257148"/>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en-US" altLang="zh-CN" dirty="0">
                <a:latin typeface="+mn-lt"/>
                <a:ea typeface="+mn-ea"/>
                <a:cs typeface="+mn-ea"/>
                <a:sym typeface="+mn-lt"/>
              </a:rPr>
              <a:t>T</a:t>
            </a:r>
            <a:r>
              <a:rPr lang="zh-CN" altLang="en-US" dirty="0">
                <a:latin typeface="+mn-lt"/>
                <a:ea typeface="+mn-ea"/>
                <a:cs typeface="+mn-ea"/>
                <a:sym typeface="+mn-lt"/>
              </a:rPr>
              <a:t> 劣势</a:t>
            </a:r>
            <a:r>
              <a:rPr lang="en-US" altLang="zh-CN" dirty="0">
                <a:latin typeface="+mn-lt"/>
                <a:ea typeface="+mn-ea"/>
                <a:cs typeface="+mn-ea"/>
                <a:sym typeface="+mn-lt"/>
              </a:rPr>
              <a:t>1-</a:t>
            </a:r>
            <a:r>
              <a:rPr lang="zh-CN" altLang="zh-CN" dirty="0"/>
              <a:t>培训工作的角色转型任重道远，对战略与业务的支持不够</a:t>
            </a:r>
            <a:endParaRPr lang="zh-CN" altLang="zh-CN" dirty="0"/>
          </a:p>
        </p:txBody>
      </p:sp>
      <p:sp>
        <p:nvSpPr>
          <p:cNvPr id="102" name="标题 2"/>
          <p:cNvSpPr>
            <a:spLocks noGrp="1"/>
          </p:cNvSpPr>
          <p:nvPr>
            <p:ph type="title"/>
          </p:nvPr>
        </p:nvSpPr>
        <p:spPr>
          <a:xfrm>
            <a:off x="468849" y="901097"/>
            <a:ext cx="11621792" cy="685522"/>
          </a:xfrm>
        </p:spPr>
        <p:txBody>
          <a:bodyPr>
            <a:noAutofit/>
          </a:bodyPr>
          <a:lstStyle/>
          <a:p>
            <a:r>
              <a:rPr kumimoji="1" lang="zh-CN" altLang="en-US" sz="1800" dirty="0">
                <a:latin typeface="+mn-lt"/>
                <a:ea typeface="+mn-ea"/>
                <a:cs typeface="+mn-ea"/>
                <a:sym typeface="+mn-lt"/>
              </a:rPr>
              <a:t>发现</a:t>
            </a:r>
            <a:r>
              <a:rPr kumimoji="1" lang="en-US" altLang="zh-CN" sz="1800" dirty="0">
                <a:latin typeface="+mn-lt"/>
                <a:ea typeface="+mn-ea"/>
                <a:cs typeface="+mn-ea"/>
                <a:sym typeface="+mn-lt"/>
              </a:rPr>
              <a:t>1</a:t>
            </a:r>
            <a:r>
              <a:rPr kumimoji="1" lang="zh-CN" altLang="en-US" sz="1800" dirty="0">
                <a:latin typeface="+mn-lt"/>
                <a:ea typeface="+mn-ea"/>
                <a:cs typeface="+mn-ea"/>
                <a:sym typeface="+mn-lt"/>
              </a:rPr>
              <a:t>：在企业大学的主要角色中，由于诸多客观和现实原因，中银培训队伍现阶段实际工作角色仍然是培训事务专家。需要实现由培训事务专家向员工发展顾问、业务合作伙伴、战略落地的推动者角色转型。</a:t>
            </a:r>
            <a:endParaRPr kumimoji="1" lang="zh-CN" altLang="en-US" sz="1800" dirty="0">
              <a:latin typeface="+mn-lt"/>
              <a:ea typeface="+mn-ea"/>
              <a:cs typeface="+mn-ea"/>
              <a:sym typeface="+mn-lt"/>
            </a:endParaRPr>
          </a:p>
        </p:txBody>
      </p:sp>
      <p:sp>
        <p:nvSpPr>
          <p:cNvPr id="163" name="圆角矩形 42"/>
          <p:cNvSpPr/>
          <p:nvPr/>
        </p:nvSpPr>
        <p:spPr bwMode="auto">
          <a:xfrm>
            <a:off x="9093532" y="2174101"/>
            <a:ext cx="2426347" cy="4263105"/>
          </a:xfrm>
          <a:prstGeom prst="roundRect">
            <a:avLst>
              <a:gd name="adj" fmla="val 7684"/>
            </a:avLst>
          </a:prstGeom>
          <a:solidFill>
            <a:srgbClr val="B2D2DE">
              <a:lumMod val="75000"/>
            </a:srgbClr>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90204"/>
              <a:ea typeface="宋体"/>
              <a:cs typeface="+mn-cs"/>
            </a:endParaRPr>
          </a:p>
        </p:txBody>
      </p:sp>
      <p:sp>
        <p:nvSpPr>
          <p:cNvPr id="164" name="圆角矩形 43"/>
          <p:cNvSpPr/>
          <p:nvPr/>
        </p:nvSpPr>
        <p:spPr bwMode="auto">
          <a:xfrm>
            <a:off x="6572113" y="2382859"/>
            <a:ext cx="2450114" cy="4070870"/>
          </a:xfrm>
          <a:prstGeom prst="roundRect">
            <a:avLst>
              <a:gd name="adj" fmla="val 7684"/>
            </a:avLst>
          </a:prstGeom>
          <a:solidFill>
            <a:srgbClr val="B2D2DE">
              <a:lumMod val="60000"/>
              <a:lumOff val="40000"/>
            </a:srgbClr>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90204"/>
              <a:ea typeface="宋体"/>
              <a:cs typeface="+mn-cs"/>
            </a:endParaRPr>
          </a:p>
        </p:txBody>
      </p:sp>
      <p:sp>
        <p:nvSpPr>
          <p:cNvPr id="165" name="圆角矩形 44"/>
          <p:cNvSpPr/>
          <p:nvPr/>
        </p:nvSpPr>
        <p:spPr bwMode="auto">
          <a:xfrm>
            <a:off x="4070502" y="2591615"/>
            <a:ext cx="2456054" cy="3878635"/>
          </a:xfrm>
          <a:prstGeom prst="roundRect">
            <a:avLst>
              <a:gd name="adj" fmla="val 7684"/>
            </a:avLst>
          </a:prstGeom>
          <a:solidFill>
            <a:srgbClr val="B2D2DE">
              <a:lumMod val="40000"/>
              <a:lumOff val="60000"/>
            </a:srgbClr>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90204"/>
              <a:ea typeface="宋体"/>
              <a:cs typeface="+mn-cs"/>
            </a:endParaRPr>
          </a:p>
        </p:txBody>
      </p:sp>
      <p:sp>
        <p:nvSpPr>
          <p:cNvPr id="166" name="圆角矩形 45"/>
          <p:cNvSpPr/>
          <p:nvPr/>
        </p:nvSpPr>
        <p:spPr bwMode="auto">
          <a:xfrm>
            <a:off x="1434203" y="2800373"/>
            <a:ext cx="2594705" cy="3686399"/>
          </a:xfrm>
          <a:prstGeom prst="roundRect">
            <a:avLst>
              <a:gd name="adj" fmla="val 7684"/>
            </a:avLst>
          </a:prstGeom>
          <a:solidFill>
            <a:srgbClr val="B2D2DE">
              <a:lumMod val="20000"/>
              <a:lumOff val="80000"/>
            </a:srgbClr>
          </a:solidFill>
          <a:ln w="25400" cap="flat" cmpd="sng" algn="ctr">
            <a:noFill/>
            <a:prstDash val="solid"/>
          </a:ln>
          <a:effectLst/>
        </p:spPr>
        <p:txBody>
          <a:bodyPr anchor="ctr"/>
          <a:lstStyle/>
          <a:p>
            <a:pPr marL="0" marR="0" lvl="0" indent="0" algn="ctr" defTabSz="914400" eaLnBrk="0" fontAlgn="auto" latinLnBrk="0" hangingPunct="0">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rgbClr val="FFFFFF"/>
              </a:solidFill>
              <a:effectLst/>
              <a:uLnTx/>
              <a:uFillTx/>
              <a:latin typeface="Arial" panose="020B0604020202090204"/>
              <a:ea typeface="宋体"/>
              <a:cs typeface="+mn-cs"/>
            </a:endParaRPr>
          </a:p>
        </p:txBody>
      </p:sp>
      <p:sp>
        <p:nvSpPr>
          <p:cNvPr id="167" name="Freeform 19"/>
          <p:cNvSpPr/>
          <p:nvPr/>
        </p:nvSpPr>
        <p:spPr bwMode="auto">
          <a:xfrm rot="248351">
            <a:off x="1630290" y="2384393"/>
            <a:ext cx="2426347" cy="460494"/>
          </a:xfrm>
          <a:custGeom>
            <a:avLst/>
            <a:gdLst>
              <a:gd name="T0" fmla="*/ 0 w 1849"/>
              <a:gd name="T1" fmla="*/ 320802675 h 726"/>
              <a:gd name="T2" fmla="*/ 464285348 w 1849"/>
              <a:gd name="T3" fmla="*/ 120190667 h 726"/>
              <a:gd name="T4" fmla="*/ 1055665177 w 1849"/>
              <a:gd name="T5" fmla="*/ 12372775 h 726"/>
              <a:gd name="T6" fmla="*/ 1598627314 w 1849"/>
              <a:gd name="T7" fmla="*/ 46397408 h 726"/>
              <a:gd name="T8" fmla="*/ 0 60000 65536"/>
              <a:gd name="T9" fmla="*/ 0 60000 65536"/>
              <a:gd name="T10" fmla="*/ 0 60000 65536"/>
              <a:gd name="T11" fmla="*/ 0 60000 65536"/>
              <a:gd name="T12" fmla="*/ 0 w 1849"/>
              <a:gd name="T13" fmla="*/ 0 h 726"/>
              <a:gd name="T14" fmla="*/ 1849 w 1849"/>
              <a:gd name="T15" fmla="*/ 726 h 726"/>
            </a:gdLst>
            <a:ahLst/>
            <a:cxnLst>
              <a:cxn ang="T8">
                <a:pos x="T0" y="T1"/>
              </a:cxn>
              <a:cxn ang="T9">
                <a:pos x="T2" y="T3"/>
              </a:cxn>
              <a:cxn ang="T10">
                <a:pos x="T4" y="T5"/>
              </a:cxn>
              <a:cxn ang="T11">
                <a:pos x="T6" y="T7"/>
              </a:cxn>
            </a:cxnLst>
            <a:rect l="T12" t="T13" r="T14" b="T15"/>
            <a:pathLst>
              <a:path w="1849" h="726">
                <a:moveTo>
                  <a:pt x="0" y="726"/>
                </a:moveTo>
                <a:cubicBezTo>
                  <a:pt x="167" y="557"/>
                  <a:pt x="334" y="388"/>
                  <a:pt x="537" y="272"/>
                </a:cubicBezTo>
                <a:cubicBezTo>
                  <a:pt x="740" y="156"/>
                  <a:pt x="1002" y="56"/>
                  <a:pt x="1221" y="28"/>
                </a:cubicBezTo>
                <a:cubicBezTo>
                  <a:pt x="1440" y="0"/>
                  <a:pt x="1695" y="56"/>
                  <a:pt x="1849" y="105"/>
                </a:cubicBezTo>
              </a:path>
            </a:pathLst>
          </a:custGeom>
          <a:solidFill>
            <a:srgbClr val="FFFFFF">
              <a:lumMod val="75000"/>
            </a:srgbClr>
          </a:solidFill>
          <a:ln w="9525">
            <a:solidFill>
              <a:srgbClr val="FFFFFF">
                <a:lumMod val="40000"/>
                <a:lumOff val="60000"/>
              </a:srgbClr>
            </a:solidFill>
            <a:round/>
          </a:ln>
          <a:scene3d>
            <a:camera prst="legacyObliqueTopRight"/>
            <a:lightRig rig="legacyFlat3" dir="b"/>
          </a:scene3d>
          <a:sp3d extrusionH="227000" prstMaterial="legacyMatte">
            <a:bevelT w="13500" h="13500" prst="angle"/>
            <a:bevelB w="13500" h="13500" prst="angle"/>
            <a:extrusionClr>
              <a:srgbClr val="366B7E"/>
            </a:extrusionClr>
          </a:sp3d>
        </p:spPr>
        <p:txBody>
          <a:bodyPr wrap="none" anchor="ctr">
            <a:flatTx/>
          </a:bodyP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68" name="Freeform 20"/>
          <p:cNvSpPr/>
          <p:nvPr/>
        </p:nvSpPr>
        <p:spPr bwMode="auto">
          <a:xfrm rot="248351">
            <a:off x="4110114" y="2155681"/>
            <a:ext cx="2426347" cy="460494"/>
          </a:xfrm>
          <a:custGeom>
            <a:avLst/>
            <a:gdLst>
              <a:gd name="T0" fmla="*/ 0 w 1849"/>
              <a:gd name="T1" fmla="*/ 320802675 h 726"/>
              <a:gd name="T2" fmla="*/ 464285348 w 1849"/>
              <a:gd name="T3" fmla="*/ 120190667 h 726"/>
              <a:gd name="T4" fmla="*/ 1055665177 w 1849"/>
              <a:gd name="T5" fmla="*/ 12372775 h 726"/>
              <a:gd name="T6" fmla="*/ 1598627314 w 1849"/>
              <a:gd name="T7" fmla="*/ 46397408 h 726"/>
              <a:gd name="T8" fmla="*/ 0 60000 65536"/>
              <a:gd name="T9" fmla="*/ 0 60000 65536"/>
              <a:gd name="T10" fmla="*/ 0 60000 65536"/>
              <a:gd name="T11" fmla="*/ 0 60000 65536"/>
              <a:gd name="T12" fmla="*/ 0 w 1849"/>
              <a:gd name="T13" fmla="*/ 0 h 726"/>
              <a:gd name="T14" fmla="*/ 1849 w 1849"/>
              <a:gd name="T15" fmla="*/ 726 h 726"/>
            </a:gdLst>
            <a:ahLst/>
            <a:cxnLst>
              <a:cxn ang="T8">
                <a:pos x="T0" y="T1"/>
              </a:cxn>
              <a:cxn ang="T9">
                <a:pos x="T2" y="T3"/>
              </a:cxn>
              <a:cxn ang="T10">
                <a:pos x="T4" y="T5"/>
              </a:cxn>
              <a:cxn ang="T11">
                <a:pos x="T6" y="T7"/>
              </a:cxn>
            </a:cxnLst>
            <a:rect l="T12" t="T13" r="T14" b="T15"/>
            <a:pathLst>
              <a:path w="1849" h="726">
                <a:moveTo>
                  <a:pt x="0" y="726"/>
                </a:moveTo>
                <a:cubicBezTo>
                  <a:pt x="167" y="557"/>
                  <a:pt x="334" y="388"/>
                  <a:pt x="537" y="272"/>
                </a:cubicBezTo>
                <a:cubicBezTo>
                  <a:pt x="740" y="156"/>
                  <a:pt x="1002" y="56"/>
                  <a:pt x="1221" y="28"/>
                </a:cubicBezTo>
                <a:cubicBezTo>
                  <a:pt x="1440" y="0"/>
                  <a:pt x="1695" y="56"/>
                  <a:pt x="1849" y="105"/>
                </a:cubicBezTo>
              </a:path>
            </a:pathLst>
          </a:custGeom>
          <a:solidFill>
            <a:srgbClr val="FFFFFF">
              <a:lumMod val="75000"/>
            </a:srgbClr>
          </a:solidFill>
          <a:ln w="9525">
            <a:solidFill>
              <a:srgbClr val="FFFFFF">
                <a:lumMod val="40000"/>
                <a:lumOff val="60000"/>
              </a:srgbClr>
            </a:solidFill>
            <a:round/>
          </a:ln>
          <a:scene3d>
            <a:camera prst="legacyObliqueTopRight"/>
            <a:lightRig rig="legacyFlat3" dir="b"/>
          </a:scene3d>
          <a:sp3d extrusionH="227000" prstMaterial="legacyMatte">
            <a:bevelT w="13500" h="13500" prst="angle"/>
            <a:bevelB w="13500" h="13500" prst="angle"/>
            <a:extrusionClr>
              <a:srgbClr val="366B7E"/>
            </a:extrusionClr>
          </a:sp3d>
        </p:spPr>
        <p:txBody>
          <a:bodyPr wrap="none" anchor="ctr">
            <a:flatTx/>
          </a:bodyP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69" name="Freeform 19"/>
          <p:cNvSpPr/>
          <p:nvPr/>
        </p:nvSpPr>
        <p:spPr bwMode="auto">
          <a:xfrm rot="248351">
            <a:off x="6589939" y="1926969"/>
            <a:ext cx="2426347" cy="460494"/>
          </a:xfrm>
          <a:custGeom>
            <a:avLst/>
            <a:gdLst>
              <a:gd name="T0" fmla="*/ 0 w 1849"/>
              <a:gd name="T1" fmla="*/ 320802675 h 726"/>
              <a:gd name="T2" fmla="*/ 464285348 w 1849"/>
              <a:gd name="T3" fmla="*/ 120190667 h 726"/>
              <a:gd name="T4" fmla="*/ 1055665177 w 1849"/>
              <a:gd name="T5" fmla="*/ 12372775 h 726"/>
              <a:gd name="T6" fmla="*/ 1598627314 w 1849"/>
              <a:gd name="T7" fmla="*/ 46397408 h 726"/>
              <a:gd name="T8" fmla="*/ 0 60000 65536"/>
              <a:gd name="T9" fmla="*/ 0 60000 65536"/>
              <a:gd name="T10" fmla="*/ 0 60000 65536"/>
              <a:gd name="T11" fmla="*/ 0 60000 65536"/>
              <a:gd name="T12" fmla="*/ 0 w 1849"/>
              <a:gd name="T13" fmla="*/ 0 h 726"/>
              <a:gd name="T14" fmla="*/ 1849 w 1849"/>
              <a:gd name="T15" fmla="*/ 726 h 726"/>
            </a:gdLst>
            <a:ahLst/>
            <a:cxnLst>
              <a:cxn ang="T8">
                <a:pos x="T0" y="T1"/>
              </a:cxn>
              <a:cxn ang="T9">
                <a:pos x="T2" y="T3"/>
              </a:cxn>
              <a:cxn ang="T10">
                <a:pos x="T4" y="T5"/>
              </a:cxn>
              <a:cxn ang="T11">
                <a:pos x="T6" y="T7"/>
              </a:cxn>
            </a:cxnLst>
            <a:rect l="T12" t="T13" r="T14" b="T15"/>
            <a:pathLst>
              <a:path w="1849" h="726">
                <a:moveTo>
                  <a:pt x="0" y="726"/>
                </a:moveTo>
                <a:cubicBezTo>
                  <a:pt x="167" y="557"/>
                  <a:pt x="334" y="388"/>
                  <a:pt x="537" y="272"/>
                </a:cubicBezTo>
                <a:cubicBezTo>
                  <a:pt x="740" y="156"/>
                  <a:pt x="1002" y="56"/>
                  <a:pt x="1221" y="28"/>
                </a:cubicBezTo>
                <a:cubicBezTo>
                  <a:pt x="1440" y="0"/>
                  <a:pt x="1695" y="56"/>
                  <a:pt x="1849" y="105"/>
                </a:cubicBezTo>
              </a:path>
            </a:pathLst>
          </a:custGeom>
          <a:solidFill>
            <a:srgbClr val="FFFFFF">
              <a:lumMod val="75000"/>
            </a:srgbClr>
          </a:solidFill>
          <a:ln w="9525">
            <a:solidFill>
              <a:srgbClr val="FFFFFF">
                <a:lumMod val="40000"/>
                <a:lumOff val="60000"/>
              </a:srgbClr>
            </a:solidFill>
            <a:round/>
          </a:ln>
          <a:scene3d>
            <a:camera prst="legacyObliqueTopRight"/>
            <a:lightRig rig="legacyFlat3" dir="b"/>
          </a:scene3d>
          <a:sp3d extrusionH="227000" prstMaterial="legacyMatte">
            <a:bevelT w="13500" h="13500" prst="angle"/>
            <a:bevelB w="13500" h="13500" prst="angle"/>
            <a:extrusionClr>
              <a:srgbClr val="366B7E"/>
            </a:extrusionClr>
          </a:sp3d>
        </p:spPr>
        <p:txBody>
          <a:bodyPr wrap="none" anchor="ctr">
            <a:flatTx/>
          </a:bodyP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70" name="Freeform 20"/>
          <p:cNvSpPr/>
          <p:nvPr/>
        </p:nvSpPr>
        <p:spPr bwMode="auto">
          <a:xfrm rot="248351">
            <a:off x="9069764" y="1672496"/>
            <a:ext cx="2426347" cy="460494"/>
          </a:xfrm>
          <a:custGeom>
            <a:avLst/>
            <a:gdLst>
              <a:gd name="T0" fmla="*/ 0 w 1849"/>
              <a:gd name="T1" fmla="*/ 320802675 h 726"/>
              <a:gd name="T2" fmla="*/ 464285348 w 1849"/>
              <a:gd name="T3" fmla="*/ 120190667 h 726"/>
              <a:gd name="T4" fmla="*/ 1055665177 w 1849"/>
              <a:gd name="T5" fmla="*/ 12372775 h 726"/>
              <a:gd name="T6" fmla="*/ 1598627314 w 1849"/>
              <a:gd name="T7" fmla="*/ 46397408 h 726"/>
              <a:gd name="T8" fmla="*/ 0 60000 65536"/>
              <a:gd name="T9" fmla="*/ 0 60000 65536"/>
              <a:gd name="T10" fmla="*/ 0 60000 65536"/>
              <a:gd name="T11" fmla="*/ 0 60000 65536"/>
              <a:gd name="T12" fmla="*/ 0 w 1849"/>
              <a:gd name="T13" fmla="*/ 0 h 726"/>
              <a:gd name="T14" fmla="*/ 1849 w 1849"/>
              <a:gd name="T15" fmla="*/ 726 h 726"/>
            </a:gdLst>
            <a:ahLst/>
            <a:cxnLst>
              <a:cxn ang="T8">
                <a:pos x="T0" y="T1"/>
              </a:cxn>
              <a:cxn ang="T9">
                <a:pos x="T2" y="T3"/>
              </a:cxn>
              <a:cxn ang="T10">
                <a:pos x="T4" y="T5"/>
              </a:cxn>
              <a:cxn ang="T11">
                <a:pos x="T6" y="T7"/>
              </a:cxn>
            </a:cxnLst>
            <a:rect l="T12" t="T13" r="T14" b="T15"/>
            <a:pathLst>
              <a:path w="1849" h="726">
                <a:moveTo>
                  <a:pt x="0" y="726"/>
                </a:moveTo>
                <a:cubicBezTo>
                  <a:pt x="167" y="557"/>
                  <a:pt x="334" y="388"/>
                  <a:pt x="537" y="272"/>
                </a:cubicBezTo>
                <a:cubicBezTo>
                  <a:pt x="740" y="156"/>
                  <a:pt x="1002" y="56"/>
                  <a:pt x="1221" y="28"/>
                </a:cubicBezTo>
                <a:cubicBezTo>
                  <a:pt x="1440" y="0"/>
                  <a:pt x="1695" y="56"/>
                  <a:pt x="1849" y="105"/>
                </a:cubicBezTo>
              </a:path>
            </a:pathLst>
          </a:custGeom>
          <a:solidFill>
            <a:srgbClr val="FFFFFF">
              <a:lumMod val="75000"/>
            </a:srgbClr>
          </a:solidFill>
          <a:ln w="9525">
            <a:solidFill>
              <a:srgbClr val="FFFFFF">
                <a:lumMod val="40000"/>
                <a:lumOff val="60000"/>
              </a:srgbClr>
            </a:solidFill>
            <a:round/>
          </a:ln>
          <a:scene3d>
            <a:camera prst="legacyObliqueTopRight"/>
            <a:lightRig rig="legacyFlat3" dir="b"/>
          </a:scene3d>
          <a:sp3d extrusionH="227000" prstMaterial="legacyMatte">
            <a:bevelT w="13500" h="13500" prst="angle"/>
            <a:bevelB w="13500" h="13500" prst="angle"/>
            <a:extrusionClr>
              <a:srgbClr val="366B7E"/>
            </a:extrusionClr>
          </a:sp3d>
        </p:spPr>
        <p:txBody>
          <a:bodyPr wrap="none" anchor="ctr">
            <a:flatTx/>
          </a:bodyPr>
          <a:lstStyle/>
          <a:p>
            <a:pPr marL="0" marR="0" lvl="0" indent="0" defTabSz="914400" eaLnBrk="0" fontAlgn="auto" latinLnBrk="0" hangingPunct="0">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171" name="TextBox 8"/>
          <p:cNvSpPr txBox="1">
            <a:spLocks noChangeArrowheads="1"/>
          </p:cNvSpPr>
          <p:nvPr/>
        </p:nvSpPr>
        <p:spPr bwMode="auto">
          <a:xfrm>
            <a:off x="311150" y="2876732"/>
            <a:ext cx="15469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角色定位</a:t>
            </a:r>
            <a:endParaRPr kumimoji="0" lang="zh-CN" altLang="en-US" sz="14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72" name="TextBox 9"/>
          <p:cNvSpPr txBox="1">
            <a:spLocks noChangeArrowheads="1"/>
          </p:cNvSpPr>
          <p:nvPr/>
        </p:nvSpPr>
        <p:spPr bwMode="auto">
          <a:xfrm>
            <a:off x="311150" y="5893459"/>
            <a:ext cx="15469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00000"/>
              </a:lnSpc>
              <a:spcBef>
                <a:spcPts val="0"/>
              </a:spcBef>
              <a:spcAft>
                <a:spcPts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效用价值</a:t>
            </a:r>
            <a:endParaRPr kumimoji="0" lang="zh-CN" altLang="en-US" sz="14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73" name="TextBox 11"/>
          <p:cNvSpPr txBox="1">
            <a:spLocks noChangeArrowheads="1"/>
          </p:cNvSpPr>
          <p:nvPr/>
        </p:nvSpPr>
        <p:spPr bwMode="auto">
          <a:xfrm>
            <a:off x="311150" y="3529489"/>
            <a:ext cx="15469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00000"/>
              </a:lnSpc>
              <a:spcBef>
                <a:spcPts val="0"/>
              </a:spcBef>
              <a:spcAft>
                <a:spcPts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战略定位</a:t>
            </a:r>
            <a:endParaRPr kumimoji="0" lang="zh-CN" altLang="en-US" sz="14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74" name="TextBox 12"/>
          <p:cNvSpPr txBox="1">
            <a:spLocks noChangeArrowheads="1"/>
          </p:cNvSpPr>
          <p:nvPr/>
        </p:nvSpPr>
        <p:spPr bwMode="auto">
          <a:xfrm>
            <a:off x="1535217" y="2892121"/>
            <a:ext cx="24263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0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培训事务专家</a:t>
            </a:r>
            <a:endPar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75" name="TextBox 13"/>
          <p:cNvSpPr txBox="1">
            <a:spLocks noChangeArrowheads="1"/>
          </p:cNvSpPr>
          <p:nvPr/>
        </p:nvSpPr>
        <p:spPr bwMode="auto">
          <a:xfrm>
            <a:off x="4036830" y="2892121"/>
            <a:ext cx="24243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0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员工发展顾问</a:t>
            </a:r>
            <a:endPar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76" name="TextBox 14"/>
          <p:cNvSpPr txBox="1">
            <a:spLocks noChangeArrowheads="1"/>
          </p:cNvSpPr>
          <p:nvPr/>
        </p:nvSpPr>
        <p:spPr bwMode="auto">
          <a:xfrm>
            <a:off x="6546364" y="2892121"/>
            <a:ext cx="242436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0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业务合作伙伴</a:t>
            </a:r>
            <a:endPar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77" name="TextBox 15"/>
          <p:cNvSpPr txBox="1">
            <a:spLocks noChangeArrowheads="1"/>
          </p:cNvSpPr>
          <p:nvPr/>
        </p:nvSpPr>
        <p:spPr bwMode="auto">
          <a:xfrm>
            <a:off x="9057879" y="2892121"/>
            <a:ext cx="24263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0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战略落地推动者</a:t>
            </a:r>
            <a:endPar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78" name="TextBox 16"/>
          <p:cNvSpPr txBox="1">
            <a:spLocks noChangeArrowheads="1"/>
          </p:cNvSpPr>
          <p:nvPr/>
        </p:nvSpPr>
        <p:spPr bwMode="auto">
          <a:xfrm>
            <a:off x="2283918" y="2482632"/>
            <a:ext cx="13171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非系统化</a:t>
            </a:r>
            <a:endParaRPr kumimoji="0" lang="zh-CN" altLang="en-US" sz="14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79" name="TextBox 17"/>
          <p:cNvSpPr txBox="1">
            <a:spLocks noChangeArrowheads="1"/>
          </p:cNvSpPr>
          <p:nvPr/>
        </p:nvSpPr>
        <p:spPr bwMode="auto">
          <a:xfrm>
            <a:off x="4502291" y="2276945"/>
            <a:ext cx="17192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体系化</a:t>
            </a:r>
            <a:endParaRPr kumimoji="0" lang="zh-CN" altLang="en-US" sz="14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80" name="TextBox 18"/>
          <p:cNvSpPr txBox="1">
            <a:spLocks noChangeArrowheads="1"/>
          </p:cNvSpPr>
          <p:nvPr/>
        </p:nvSpPr>
        <p:spPr bwMode="auto">
          <a:xfrm>
            <a:off x="6958347" y="2071257"/>
            <a:ext cx="17192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专业化</a:t>
            </a:r>
            <a:endParaRPr kumimoji="0" lang="zh-CN" altLang="en-US" sz="14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81" name="TextBox 19"/>
          <p:cNvSpPr txBox="1">
            <a:spLocks noChangeArrowheads="1"/>
          </p:cNvSpPr>
          <p:nvPr/>
        </p:nvSpPr>
        <p:spPr bwMode="auto">
          <a:xfrm>
            <a:off x="9493631" y="1865570"/>
            <a:ext cx="17192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战略联动</a:t>
            </a:r>
            <a:endParaRPr kumimoji="0" lang="zh-CN" altLang="en-US" sz="14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82" name="TextBox 20"/>
          <p:cNvSpPr txBox="1">
            <a:spLocks noChangeArrowheads="1"/>
          </p:cNvSpPr>
          <p:nvPr/>
        </p:nvSpPr>
        <p:spPr bwMode="auto">
          <a:xfrm>
            <a:off x="311150" y="4432058"/>
            <a:ext cx="15489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00000"/>
              </a:lnSpc>
              <a:spcBef>
                <a:spcPts val="0"/>
              </a:spcBef>
              <a:spcAft>
                <a:spcPts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组织管理</a:t>
            </a:r>
            <a:endParaRPr kumimoji="0" lang="zh-CN" altLang="en-US" sz="14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83" name="TextBox 22"/>
          <p:cNvSpPr txBox="1">
            <a:spLocks noChangeArrowheads="1"/>
          </p:cNvSpPr>
          <p:nvPr/>
        </p:nvSpPr>
        <p:spPr bwMode="auto">
          <a:xfrm>
            <a:off x="311150" y="5087595"/>
            <a:ext cx="15469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00000"/>
              </a:lnSpc>
              <a:spcBef>
                <a:spcPts val="0"/>
              </a:spcBef>
              <a:spcAft>
                <a:spcPts val="0"/>
              </a:spcAft>
              <a:buClrTx/>
              <a:buSzTx/>
              <a:buFontTx/>
              <a:buNone/>
              <a:defRPr/>
            </a:pPr>
            <a:r>
              <a:rPr kumimoji="0" lang="zh-CN" altLang="en-US" sz="14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运营实施</a:t>
            </a:r>
            <a:endParaRPr kumimoji="0" lang="zh-CN" altLang="en-US" sz="14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84" name="TextBox 9"/>
          <p:cNvSpPr txBox="1">
            <a:spLocks noChangeArrowheads="1"/>
          </p:cNvSpPr>
          <p:nvPr/>
        </p:nvSpPr>
        <p:spPr bwMode="auto">
          <a:xfrm>
            <a:off x="1535217" y="5828990"/>
            <a:ext cx="2521420" cy="613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注重于学习过程评估</a:t>
            </a:r>
            <a:endParaRPr kumimoji="0" lang="en-US" altLang="zh-CN"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未能营造良好的学习氛围</a:t>
            </a:r>
            <a:endPar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85" name="TextBox 11"/>
          <p:cNvSpPr txBox="1">
            <a:spLocks noChangeArrowheads="1"/>
          </p:cNvSpPr>
          <p:nvPr/>
        </p:nvSpPr>
        <p:spPr bwMode="auto">
          <a:xfrm>
            <a:off x="1535217" y="3219423"/>
            <a:ext cx="2426347" cy="891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无战略关联度</a:t>
            </a:r>
            <a:endParaRPr kumimoji="0" lang="en-US" altLang="zh-CN"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零散提升个人技能</a:t>
            </a:r>
            <a:endParaRPr kumimoji="0" lang="en-US" altLang="zh-CN"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无员工绩效咨询</a:t>
            </a:r>
            <a:endPar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86" name="TextBox 20"/>
          <p:cNvSpPr txBox="1">
            <a:spLocks noChangeArrowheads="1"/>
          </p:cNvSpPr>
          <p:nvPr/>
        </p:nvSpPr>
        <p:spPr bwMode="auto">
          <a:xfrm>
            <a:off x="1535217" y="4172646"/>
            <a:ext cx="242436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培训功能较为孤立</a:t>
            </a:r>
            <a:endParaRPr kumimoji="0" lang="en-US" altLang="zh-CN"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实施</a:t>
            </a:r>
            <a:r>
              <a:rPr kumimoji="0" lang="en-US" altLang="zh-CN"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e-learning</a:t>
            </a: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系统</a:t>
            </a:r>
            <a:endPar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87" name="TextBox 22"/>
          <p:cNvSpPr txBox="1">
            <a:spLocks noChangeArrowheads="1"/>
          </p:cNvSpPr>
          <p:nvPr/>
        </p:nvSpPr>
        <p:spPr bwMode="auto">
          <a:xfrm>
            <a:off x="1535217" y="4841998"/>
            <a:ext cx="2487747" cy="890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缺乏成熟的项目开发团队</a:t>
            </a:r>
            <a:endParaRPr kumimoji="0" lang="en-US" altLang="zh-CN"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供应商管理不健全</a:t>
            </a:r>
            <a:endParaRPr kumimoji="0" lang="en-US" altLang="zh-CN"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无成熟讲师队伍</a:t>
            </a:r>
            <a:endPar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88" name="TextBox 9"/>
          <p:cNvSpPr txBox="1">
            <a:spLocks noChangeArrowheads="1"/>
          </p:cNvSpPr>
          <p:nvPr/>
        </p:nvSpPr>
        <p:spPr bwMode="auto">
          <a:xfrm>
            <a:off x="4036830" y="5828990"/>
            <a:ext cx="2594705" cy="613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侧重个人学习成果评估</a:t>
            </a:r>
            <a:endParaRPr kumimoji="0" lang="en-US" altLang="zh-CN"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营造业务单元级学习氛围</a:t>
            </a:r>
            <a:endPar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89" name="TextBox 11"/>
          <p:cNvSpPr txBox="1">
            <a:spLocks noChangeArrowheads="1"/>
          </p:cNvSpPr>
          <p:nvPr/>
        </p:nvSpPr>
        <p:spPr bwMode="auto">
          <a:xfrm>
            <a:off x="4020984" y="3219423"/>
            <a:ext cx="2664028" cy="891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与战略间接关联</a:t>
            </a:r>
            <a:endParaRPr kumimoji="0" lang="en-US" altLang="zh-CN"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系统提升个人技能</a:t>
            </a:r>
            <a:endParaRPr kumimoji="0" lang="en-US" altLang="zh-CN"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提供员工能力测评与反馈</a:t>
            </a:r>
            <a:endPar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90" name="TextBox 20"/>
          <p:cNvSpPr txBox="1">
            <a:spLocks noChangeArrowheads="1"/>
          </p:cNvSpPr>
          <p:nvPr/>
        </p:nvSpPr>
        <p:spPr bwMode="auto">
          <a:xfrm>
            <a:off x="4036830" y="4172646"/>
            <a:ext cx="2527361" cy="613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学习发展与职业生涯集成</a:t>
            </a:r>
            <a:endParaRPr kumimoji="0" lang="en-US" altLang="zh-CN"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实施学习管理系统</a:t>
            </a:r>
            <a:endPar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91" name="TextBox 22"/>
          <p:cNvSpPr txBox="1">
            <a:spLocks noChangeArrowheads="1"/>
          </p:cNvSpPr>
          <p:nvPr/>
        </p:nvSpPr>
        <p:spPr bwMode="auto">
          <a:xfrm>
            <a:off x="4036830" y="4841998"/>
            <a:ext cx="2545187" cy="893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具有良好的课程设计团队</a:t>
            </a:r>
            <a:endParaRPr kumimoji="0" lang="en-US" altLang="zh-CN"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较完善的合作伙伴管理</a:t>
            </a:r>
            <a:endParaRPr kumimoji="0" lang="en-US" altLang="zh-CN"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构建内部讲师平台</a:t>
            </a:r>
            <a:endPar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92" name="TextBox 9"/>
          <p:cNvSpPr txBox="1">
            <a:spLocks noChangeArrowheads="1"/>
          </p:cNvSpPr>
          <p:nvPr/>
        </p:nvSpPr>
        <p:spPr bwMode="auto">
          <a:xfrm>
            <a:off x="6546364" y="5828990"/>
            <a:ext cx="2529342" cy="613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具有明晰的培训收益衡量</a:t>
            </a:r>
            <a:endParaRPr kumimoji="0" lang="en-US" altLang="zh-CN"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塑造全公司范围学习氛围</a:t>
            </a:r>
            <a:endPar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93" name="TextBox 11"/>
          <p:cNvSpPr txBox="1">
            <a:spLocks noChangeArrowheads="1"/>
          </p:cNvSpPr>
          <p:nvPr/>
        </p:nvSpPr>
        <p:spPr bwMode="auto">
          <a:xfrm>
            <a:off x="6546364" y="3219423"/>
            <a:ext cx="2529342" cy="891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与战略直接关联</a:t>
            </a:r>
            <a:endParaRPr kumimoji="0" lang="en-US" altLang="zh-CN"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提升企业组织能力</a:t>
            </a:r>
            <a:endParaRPr kumimoji="0" lang="en-US" altLang="zh-CN"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提供业务问题诊断与咨询</a:t>
            </a:r>
            <a:endParaRPr kumimoji="0" lang="en-US" altLang="zh-CN"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94" name="TextBox 20"/>
          <p:cNvSpPr txBox="1">
            <a:spLocks noChangeArrowheads="1"/>
          </p:cNvSpPr>
          <p:nvPr/>
        </p:nvSpPr>
        <p:spPr bwMode="auto">
          <a:xfrm>
            <a:off x="6546364" y="4172646"/>
            <a:ext cx="242436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集成人才管理</a:t>
            </a:r>
            <a:endParaRPr kumimoji="0" lang="en-US" altLang="zh-CN"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实施人才管理系统</a:t>
            </a:r>
            <a:endPar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95" name="TextBox 22"/>
          <p:cNvSpPr txBox="1">
            <a:spLocks noChangeArrowheads="1"/>
          </p:cNvSpPr>
          <p:nvPr/>
        </p:nvSpPr>
        <p:spPr bwMode="auto">
          <a:xfrm>
            <a:off x="6546364" y="4841998"/>
            <a:ext cx="2545188" cy="893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成熟完整的项目开发团队</a:t>
            </a:r>
            <a:endParaRPr kumimoji="0" lang="en-US" altLang="zh-CN"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构建内外部良好伙伴关系</a:t>
            </a:r>
            <a:endParaRPr kumimoji="0" lang="en-US" altLang="zh-CN"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形成内训师品牌</a:t>
            </a:r>
            <a:endPar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96" name="TextBox 9"/>
          <p:cNvSpPr txBox="1">
            <a:spLocks noChangeArrowheads="1"/>
          </p:cNvSpPr>
          <p:nvPr/>
        </p:nvSpPr>
        <p:spPr bwMode="auto">
          <a:xfrm>
            <a:off x="9057879" y="5828990"/>
            <a:ext cx="2426347" cy="62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关注未来组织收益</a:t>
            </a:r>
            <a:endParaRPr kumimoji="0" lang="en-US" altLang="zh-CN"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rPr>
              <a:t>构建学习型组织</a:t>
            </a:r>
            <a:endParaRPr kumimoji="0" lang="zh-CN" altLang="en-US" sz="1200" b="1" i="0" u="none" strike="noStrike" kern="0" cap="none" spc="0" normalizeH="0" baseline="0" noProof="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97" name="TextBox 11"/>
          <p:cNvSpPr txBox="1">
            <a:spLocks noChangeArrowheads="1"/>
          </p:cNvSpPr>
          <p:nvPr/>
        </p:nvSpPr>
        <p:spPr bwMode="auto">
          <a:xfrm>
            <a:off x="9057878" y="3096625"/>
            <a:ext cx="2539999" cy="890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帮助思考企业战略未来</a:t>
            </a:r>
            <a:endParaRPr kumimoji="0" lang="en-US" altLang="zh-CN"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lang="zh-CN" altLang="en-US" sz="1200" kern="0" dirty="0">
                <a:latin typeface="华文中宋" panose="02010600040101010101" pitchFamily="2" charset="-122"/>
                <a:ea typeface="华文中宋" panose="02010600040101010101" pitchFamily="2" charset="-122"/>
              </a:rPr>
              <a:t>推动企业正能量落地和组织变革</a:t>
            </a:r>
            <a:endParaRPr kumimoji="0" lang="en-US" altLang="zh-CN"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提供组织能力咨询</a:t>
            </a:r>
            <a:endPar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98" name="TextBox 20"/>
          <p:cNvSpPr txBox="1">
            <a:spLocks noChangeArrowheads="1"/>
          </p:cNvSpPr>
          <p:nvPr/>
        </p:nvSpPr>
        <p:spPr bwMode="auto">
          <a:xfrm>
            <a:off x="9069764" y="4153351"/>
            <a:ext cx="242634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成为企业管理的一部分</a:t>
            </a:r>
            <a:endParaRPr kumimoji="0" lang="en-US" altLang="zh-CN"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实现按需学习</a:t>
            </a:r>
            <a:endPar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199" name="TextBox 22"/>
          <p:cNvSpPr txBox="1">
            <a:spLocks noChangeArrowheads="1"/>
          </p:cNvSpPr>
          <p:nvPr/>
        </p:nvSpPr>
        <p:spPr bwMode="auto">
          <a:xfrm>
            <a:off x="9057879" y="4841998"/>
            <a:ext cx="2426347" cy="893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b="1">
                <a:solidFill>
                  <a:srgbClr val="000000"/>
                </a:solidFill>
                <a:latin typeface="Arial" panose="020B0604020202090204" pitchFamily="34" charset="0"/>
                <a:ea typeface="宋体" pitchFamily="2" charset="-122"/>
              </a:defRPr>
            </a:lvl1pPr>
            <a:lvl2pPr marL="742950" indent="-285750">
              <a:defRPr sz="1300" b="1">
                <a:solidFill>
                  <a:srgbClr val="000000"/>
                </a:solidFill>
                <a:latin typeface="Arial" panose="020B0604020202090204" pitchFamily="34" charset="0"/>
                <a:ea typeface="宋体" pitchFamily="2" charset="-122"/>
              </a:defRPr>
            </a:lvl2pPr>
            <a:lvl3pPr marL="1143000" indent="-228600">
              <a:defRPr sz="1300" b="1">
                <a:solidFill>
                  <a:srgbClr val="000000"/>
                </a:solidFill>
                <a:latin typeface="Arial" panose="020B0604020202090204" pitchFamily="34" charset="0"/>
                <a:ea typeface="宋体" pitchFamily="2" charset="-122"/>
              </a:defRPr>
            </a:lvl3pPr>
            <a:lvl4pPr marL="1600200" indent="-228600">
              <a:defRPr sz="1300" b="1">
                <a:solidFill>
                  <a:srgbClr val="000000"/>
                </a:solidFill>
                <a:latin typeface="Arial" panose="020B0604020202090204" pitchFamily="34" charset="0"/>
                <a:ea typeface="宋体" pitchFamily="2" charset="-122"/>
              </a:defRPr>
            </a:lvl4pPr>
            <a:lvl5pPr marL="2057400" indent="-22860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针对公司未来命题开发</a:t>
            </a:r>
            <a:endParaRPr kumimoji="0" lang="en-US" altLang="zh-CN"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成为决策层助手</a:t>
            </a:r>
            <a:endParaRPr kumimoji="0" lang="en-US" altLang="zh-CN"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a:p>
            <a:pPr marL="0" marR="0" lvl="0" indent="0" defTabSz="914400" eaLnBrk="0" fontAlgn="auto" latinLnBrk="0" hangingPunct="0">
              <a:lnSpc>
                <a:spcPct val="150000"/>
              </a:lnSpc>
              <a:spcBef>
                <a:spcPts val="0"/>
              </a:spcBef>
              <a:spcAft>
                <a:spcPts val="0"/>
              </a:spcAft>
              <a:buClrTx/>
              <a:buSzTx/>
              <a:buFont typeface="Wingdings" panose="05000000000000000000" pitchFamily="2" charset="2"/>
              <a:buChar char="ü"/>
              <a:defRPr/>
            </a:pPr>
            <a:r>
              <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rPr>
              <a:t>构建内部促动师队伍</a:t>
            </a:r>
            <a:endParaRPr kumimoji="0" lang="zh-CN" altLang="en-US" sz="1200" b="1"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endParaRPr>
          </a:p>
        </p:txBody>
      </p:sp>
      <p:sp>
        <p:nvSpPr>
          <p:cNvPr id="200" name="矩形 199"/>
          <p:cNvSpPr/>
          <p:nvPr/>
        </p:nvSpPr>
        <p:spPr>
          <a:xfrm>
            <a:off x="1535217" y="2881727"/>
            <a:ext cx="2424365" cy="282436"/>
          </a:xfrm>
          <a:prstGeom prst="rect">
            <a:avLst/>
          </a:prstGeom>
          <a:ln w="19050">
            <a:solidFill>
              <a:schemeClr val="accent3"/>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01" name="矩形 200"/>
          <p:cNvSpPr/>
          <p:nvPr/>
        </p:nvSpPr>
        <p:spPr>
          <a:xfrm>
            <a:off x="4070502" y="3274127"/>
            <a:ext cx="2424365" cy="282436"/>
          </a:xfrm>
          <a:prstGeom prst="rect">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02" name="矩形 201"/>
          <p:cNvSpPr/>
          <p:nvPr/>
        </p:nvSpPr>
        <p:spPr>
          <a:xfrm>
            <a:off x="6578055" y="3542930"/>
            <a:ext cx="2424365" cy="282436"/>
          </a:xfrm>
          <a:prstGeom prst="rect">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03" name="矩形 202"/>
          <p:cNvSpPr/>
          <p:nvPr/>
        </p:nvSpPr>
        <p:spPr>
          <a:xfrm>
            <a:off x="9085608" y="3144805"/>
            <a:ext cx="2424365" cy="805824"/>
          </a:xfrm>
          <a:prstGeom prst="rect">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04" name="矩形 203"/>
          <p:cNvSpPr/>
          <p:nvPr/>
        </p:nvSpPr>
        <p:spPr>
          <a:xfrm>
            <a:off x="4070502" y="3581401"/>
            <a:ext cx="2424365" cy="282436"/>
          </a:xfrm>
          <a:prstGeom prst="rect">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05" name="矩形 204"/>
          <p:cNvSpPr/>
          <p:nvPr/>
        </p:nvSpPr>
        <p:spPr>
          <a:xfrm>
            <a:off x="6589939" y="3839181"/>
            <a:ext cx="2424365" cy="282436"/>
          </a:xfrm>
          <a:prstGeom prst="rect">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06" name="矩形 205"/>
          <p:cNvSpPr/>
          <p:nvPr/>
        </p:nvSpPr>
        <p:spPr>
          <a:xfrm>
            <a:off x="1535217" y="4218696"/>
            <a:ext cx="2424365" cy="282436"/>
          </a:xfrm>
          <a:prstGeom prst="rect">
            <a:avLst/>
          </a:prstGeom>
          <a:ln w="19050">
            <a:solidFill>
              <a:schemeClr val="accent3"/>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07" name="矩形 206"/>
          <p:cNvSpPr/>
          <p:nvPr/>
        </p:nvSpPr>
        <p:spPr>
          <a:xfrm>
            <a:off x="9095513" y="4476341"/>
            <a:ext cx="2424365" cy="282436"/>
          </a:xfrm>
          <a:prstGeom prst="rect">
            <a:avLst/>
          </a:prstGeom>
          <a:ln w="19050">
            <a:solidFill>
              <a:schemeClr val="accent3"/>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08" name="矩形 207"/>
          <p:cNvSpPr/>
          <p:nvPr/>
        </p:nvSpPr>
        <p:spPr>
          <a:xfrm>
            <a:off x="4070502" y="4497828"/>
            <a:ext cx="2424365" cy="282436"/>
          </a:xfrm>
          <a:prstGeom prst="rect">
            <a:avLst/>
          </a:prstGeom>
          <a:ln w="19050">
            <a:solidFill>
              <a:schemeClr val="accent3"/>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09" name="矩形 208"/>
          <p:cNvSpPr/>
          <p:nvPr/>
        </p:nvSpPr>
        <p:spPr>
          <a:xfrm>
            <a:off x="1549082" y="4872697"/>
            <a:ext cx="2424365" cy="282436"/>
          </a:xfrm>
          <a:prstGeom prst="rect">
            <a:avLst/>
          </a:prstGeom>
          <a:ln w="19050">
            <a:solidFill>
              <a:schemeClr val="accent3"/>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10" name="矩形 209"/>
          <p:cNvSpPr/>
          <p:nvPr/>
        </p:nvSpPr>
        <p:spPr>
          <a:xfrm>
            <a:off x="1560966" y="5175088"/>
            <a:ext cx="2424365" cy="282436"/>
          </a:xfrm>
          <a:prstGeom prst="rect">
            <a:avLst/>
          </a:prstGeom>
          <a:ln w="19050">
            <a:solidFill>
              <a:schemeClr val="accent3"/>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11" name="矩形 210"/>
          <p:cNvSpPr/>
          <p:nvPr/>
        </p:nvSpPr>
        <p:spPr>
          <a:xfrm>
            <a:off x="4086346" y="5469403"/>
            <a:ext cx="2424365" cy="282436"/>
          </a:xfrm>
          <a:prstGeom prst="rect">
            <a:avLst/>
          </a:prstGeom>
          <a:ln w="19050">
            <a:solidFill>
              <a:schemeClr val="accent3"/>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12" name="矩形 211"/>
          <p:cNvSpPr/>
          <p:nvPr/>
        </p:nvSpPr>
        <p:spPr>
          <a:xfrm>
            <a:off x="1576356" y="5872950"/>
            <a:ext cx="2424365" cy="282436"/>
          </a:xfrm>
          <a:prstGeom prst="rect">
            <a:avLst/>
          </a:prstGeom>
          <a:ln w="19050">
            <a:solidFill>
              <a:schemeClr val="accent3"/>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13" name="矩形 212"/>
          <p:cNvSpPr/>
          <p:nvPr/>
        </p:nvSpPr>
        <p:spPr>
          <a:xfrm>
            <a:off x="1562948" y="6167846"/>
            <a:ext cx="2424365" cy="282436"/>
          </a:xfrm>
          <a:prstGeom prst="rect">
            <a:avLst/>
          </a:prstGeom>
          <a:ln w="19050">
            <a:solidFill>
              <a:schemeClr val="accent3"/>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14" name="矩形 213"/>
          <p:cNvSpPr/>
          <p:nvPr/>
        </p:nvSpPr>
        <p:spPr>
          <a:xfrm>
            <a:off x="1535217" y="3260494"/>
            <a:ext cx="2424365" cy="282436"/>
          </a:xfrm>
          <a:prstGeom prst="rect">
            <a:avLst/>
          </a:prstGeom>
          <a:ln w="19050">
            <a:solidFill>
              <a:schemeClr val="accent3"/>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15" name="矩形 214"/>
          <p:cNvSpPr/>
          <p:nvPr/>
        </p:nvSpPr>
        <p:spPr>
          <a:xfrm>
            <a:off x="1535217" y="3542556"/>
            <a:ext cx="2424365" cy="282436"/>
          </a:xfrm>
          <a:prstGeom prst="rect">
            <a:avLst/>
          </a:prstGeom>
          <a:ln w="19050">
            <a:solidFill>
              <a:schemeClr val="accent3"/>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16" name="矩形 215"/>
          <p:cNvSpPr/>
          <p:nvPr/>
        </p:nvSpPr>
        <p:spPr>
          <a:xfrm>
            <a:off x="1535217" y="3824618"/>
            <a:ext cx="2424365" cy="282436"/>
          </a:xfrm>
          <a:prstGeom prst="rect">
            <a:avLst/>
          </a:prstGeom>
          <a:ln w="19050">
            <a:solidFill>
              <a:schemeClr val="accent3"/>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17" name="矩形 216"/>
          <p:cNvSpPr/>
          <p:nvPr/>
        </p:nvSpPr>
        <p:spPr>
          <a:xfrm>
            <a:off x="4102193" y="2881312"/>
            <a:ext cx="2424365" cy="282436"/>
          </a:xfrm>
          <a:prstGeom prst="rect">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18" name="矩形 217"/>
          <p:cNvSpPr/>
          <p:nvPr/>
        </p:nvSpPr>
        <p:spPr>
          <a:xfrm>
            <a:off x="6605785" y="2881727"/>
            <a:ext cx="2424365" cy="282436"/>
          </a:xfrm>
          <a:prstGeom prst="rect">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19" name="矩形 218"/>
          <p:cNvSpPr/>
          <p:nvPr/>
        </p:nvSpPr>
        <p:spPr>
          <a:xfrm>
            <a:off x="9077685" y="2882143"/>
            <a:ext cx="2424365" cy="282436"/>
          </a:xfrm>
          <a:prstGeom prst="rect">
            <a:avLst/>
          </a:prstGeom>
          <a:ln>
            <a:solidFill>
              <a:srgbClr val="C00000"/>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52DF7D90-B49A-4800-BC0D-FE9A7C3546DE}" type="slidenum">
              <a:rPr lang="zh-CN" altLang="en-US" smtClean="0">
                <a:latin typeface="+mn-lt"/>
                <a:ea typeface="+mn-ea"/>
                <a:cs typeface="+mn-ea"/>
                <a:sym typeface="+mn-lt"/>
              </a:rPr>
            </a:fld>
            <a:endParaRPr lang="en-US" altLang="zh-CN">
              <a:latin typeface="+mn-lt"/>
              <a:ea typeface="+mn-ea"/>
              <a:cs typeface="+mn-ea"/>
              <a:sym typeface="+mn-lt"/>
            </a:endParaRPr>
          </a:p>
        </p:txBody>
      </p:sp>
      <p:sp>
        <p:nvSpPr>
          <p:cNvPr id="4" name="标题 1"/>
          <p:cNvSpPr txBox="1"/>
          <p:nvPr/>
        </p:nvSpPr>
        <p:spPr>
          <a:xfrm>
            <a:off x="689708" y="287947"/>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en-US" altLang="zh-CN" dirty="0">
                <a:latin typeface="+mn-lt"/>
                <a:ea typeface="+mn-ea"/>
                <a:cs typeface="+mn-ea"/>
                <a:sym typeface="+mn-lt"/>
              </a:rPr>
              <a:t>T</a:t>
            </a:r>
            <a:r>
              <a:rPr lang="zh-CN" altLang="en-US" dirty="0">
                <a:latin typeface="+mn-lt"/>
                <a:ea typeface="+mn-ea"/>
                <a:cs typeface="+mn-ea"/>
                <a:sym typeface="+mn-lt"/>
              </a:rPr>
              <a:t> 劣势</a:t>
            </a:r>
            <a:r>
              <a:rPr lang="en-US" altLang="zh-CN" dirty="0">
                <a:latin typeface="+mn-lt"/>
                <a:ea typeface="+mn-ea"/>
                <a:cs typeface="+mn-ea"/>
                <a:sym typeface="+mn-lt"/>
              </a:rPr>
              <a:t>2-</a:t>
            </a:r>
            <a:r>
              <a:rPr lang="zh-CN" altLang="zh-CN" dirty="0"/>
              <a:t>专业学院建设缺乏有效机制，价值未能充分体现</a:t>
            </a:r>
            <a:endParaRPr lang="zh-CN" altLang="zh-CN" dirty="0"/>
          </a:p>
        </p:txBody>
      </p:sp>
      <p:sp>
        <p:nvSpPr>
          <p:cNvPr id="30" name="标题 2"/>
          <p:cNvSpPr>
            <a:spLocks noGrp="1"/>
          </p:cNvSpPr>
          <p:nvPr>
            <p:ph type="title"/>
          </p:nvPr>
        </p:nvSpPr>
        <p:spPr>
          <a:xfrm>
            <a:off x="465012" y="853721"/>
            <a:ext cx="11305334" cy="1088846"/>
          </a:xfrm>
        </p:spPr>
        <p:txBody>
          <a:bodyPr>
            <a:noAutofit/>
          </a:bodyPr>
          <a:lstStyle/>
          <a:p>
            <a:r>
              <a:rPr kumimoji="1" lang="zh-CN" altLang="en-US" sz="1800" dirty="0">
                <a:latin typeface="+mn-lt"/>
                <a:ea typeface="+mn-ea"/>
                <a:cs typeface="+mn-ea"/>
                <a:sym typeface="+mn-lt"/>
              </a:rPr>
              <a:t>发现</a:t>
            </a:r>
            <a:r>
              <a:rPr kumimoji="1" lang="en-US" altLang="zh-CN" sz="1800" dirty="0">
                <a:latin typeface="+mn-lt"/>
                <a:ea typeface="+mn-ea"/>
                <a:cs typeface="+mn-ea"/>
                <a:sym typeface="+mn-lt"/>
              </a:rPr>
              <a:t>2</a:t>
            </a:r>
            <a:r>
              <a:rPr kumimoji="1" lang="zh-CN" altLang="en-US" sz="1800" dirty="0">
                <a:latin typeface="+mn-lt"/>
                <a:ea typeface="+mn-ea"/>
                <a:cs typeface="+mn-ea"/>
                <a:sym typeface="+mn-lt"/>
              </a:rPr>
              <a:t>：由于专业学院建设工作缺乏有效机制，业务牵头部门对建设专业学院的共识不深、投入不足，九大专业学院发展不同程度遇到阻力，需要在落地中加大对业务部门的支持和影响。通过调研访谈发现，具体表现在以下四个方面：</a:t>
            </a:r>
            <a:endParaRPr kumimoji="1" lang="zh-CN" altLang="en-US" sz="1800" dirty="0">
              <a:latin typeface="+mn-lt"/>
              <a:ea typeface="+mn-ea"/>
              <a:cs typeface="+mn-ea"/>
              <a:sym typeface="+mn-lt"/>
            </a:endParaRPr>
          </a:p>
        </p:txBody>
      </p:sp>
      <p:grpSp>
        <p:nvGrpSpPr>
          <p:cNvPr id="8" name="组合 7"/>
          <p:cNvGrpSpPr/>
          <p:nvPr/>
        </p:nvGrpSpPr>
        <p:grpSpPr>
          <a:xfrm>
            <a:off x="689708" y="2221763"/>
            <a:ext cx="9816996" cy="4193630"/>
            <a:chOff x="1692104" y="2490865"/>
            <a:chExt cx="8814600" cy="3928340"/>
          </a:xfrm>
        </p:grpSpPr>
        <p:sp>
          <p:nvSpPr>
            <p:cNvPr id="31" name="矩形 30"/>
            <p:cNvSpPr/>
            <p:nvPr/>
          </p:nvSpPr>
          <p:spPr bwMode="auto">
            <a:xfrm>
              <a:off x="2858209" y="4647482"/>
              <a:ext cx="7229853" cy="164118"/>
            </a:xfrm>
            <a:prstGeom prst="rect">
              <a:avLst/>
            </a:prstGeom>
            <a:solidFill>
              <a:schemeClr val="bg1">
                <a:lumMod val="85000"/>
              </a:schemeClr>
            </a:solidFill>
            <a:ln w="3175" cap="flat" cmpd="sng" algn="ctr">
              <a:noFill/>
              <a:prstDash val="solid"/>
              <a:round/>
              <a:headEnd type="none" w="med" len="med"/>
              <a:tailEnd type="none" w="med" len="med"/>
            </a:ln>
            <a:effectLst/>
          </p:spPr>
          <p:txBody>
            <a:bodyPr wrap="none" lIns="45720" rIns="45720"/>
            <a:lstStyle/>
            <a:p>
              <a:pPr algn="ctr">
                <a:defRPr/>
              </a:pPr>
              <a:endParaRPr lang="zh-CN" altLang="en-US">
                <a:latin typeface="+mn-lt"/>
                <a:ea typeface="+mn-ea"/>
                <a:cs typeface="+mn-ea"/>
                <a:sym typeface="+mn-lt"/>
              </a:endParaRPr>
            </a:p>
          </p:txBody>
        </p:sp>
        <p:sp>
          <p:nvSpPr>
            <p:cNvPr id="32" name="矩形 31"/>
            <p:cNvSpPr/>
            <p:nvPr/>
          </p:nvSpPr>
          <p:spPr bwMode="auto">
            <a:xfrm>
              <a:off x="1692104" y="4289013"/>
              <a:ext cx="1166105" cy="1059453"/>
            </a:xfrm>
            <a:prstGeom prst="rect">
              <a:avLst/>
            </a:prstGeom>
            <a:solidFill>
              <a:srgbClr val="C00000"/>
            </a:solidFill>
            <a:ln w="9525">
              <a:solidFill>
                <a:schemeClr val="accent2">
                  <a:lumMod val="50000"/>
                </a:schemeClr>
              </a:solidFill>
              <a:miter lim="800000"/>
            </a:ln>
          </p:spPr>
          <p:txBody>
            <a:bodyPr wrap="none" anchor="ctr"/>
            <a:lstStyle/>
            <a:p>
              <a:pPr algn="ctr">
                <a:defRPr/>
              </a:pPr>
              <a:r>
                <a:rPr lang="zh-CN" altLang="en-US" sz="1600" b="1" dirty="0">
                  <a:solidFill>
                    <a:schemeClr val="bg1"/>
                  </a:solidFill>
                  <a:latin typeface="+mn-lt"/>
                  <a:ea typeface="+mn-ea"/>
                  <a:cs typeface="+mn-ea"/>
                  <a:sym typeface="+mn-lt"/>
                </a:rPr>
                <a:t>九大学院落地</a:t>
              </a:r>
              <a:endParaRPr lang="en-US" altLang="zh-CN" sz="1600" b="1" dirty="0">
                <a:solidFill>
                  <a:schemeClr val="bg1"/>
                </a:solidFill>
                <a:latin typeface="+mn-lt"/>
                <a:ea typeface="+mn-ea"/>
                <a:cs typeface="+mn-ea"/>
                <a:sym typeface="+mn-lt"/>
              </a:endParaRPr>
            </a:p>
            <a:p>
              <a:pPr algn="ctr">
                <a:defRPr/>
              </a:pPr>
              <a:r>
                <a:rPr lang="zh-CN" altLang="en-US" sz="1600" b="1" dirty="0">
                  <a:solidFill>
                    <a:schemeClr val="bg1"/>
                  </a:solidFill>
                  <a:latin typeface="+mn-lt"/>
                  <a:ea typeface="+mn-ea"/>
                  <a:cs typeface="+mn-ea"/>
                  <a:sym typeface="+mn-lt"/>
                </a:rPr>
                <a:t>发展存在问题</a:t>
              </a:r>
              <a:endParaRPr lang="en-US" altLang="zh-CN" sz="1600" b="1" dirty="0">
                <a:solidFill>
                  <a:schemeClr val="bg1"/>
                </a:solidFill>
                <a:latin typeface="+mn-lt"/>
                <a:ea typeface="+mn-ea"/>
                <a:cs typeface="+mn-ea"/>
                <a:sym typeface="+mn-lt"/>
              </a:endParaRPr>
            </a:p>
          </p:txBody>
        </p:sp>
        <p:grpSp>
          <p:nvGrpSpPr>
            <p:cNvPr id="33" name="组合 32"/>
            <p:cNvGrpSpPr/>
            <p:nvPr/>
          </p:nvGrpSpPr>
          <p:grpSpPr>
            <a:xfrm>
              <a:off x="3124795" y="4181874"/>
              <a:ext cx="1636773" cy="1343656"/>
              <a:chOff x="1497001" y="2527892"/>
              <a:chExt cx="1636773" cy="1343656"/>
            </a:xfrm>
          </p:grpSpPr>
          <p:sp>
            <p:nvSpPr>
              <p:cNvPr id="34" name="矩形 38"/>
              <p:cNvSpPr>
                <a:spLocks noChangeArrowheads="1"/>
              </p:cNvSpPr>
              <p:nvPr/>
            </p:nvSpPr>
            <p:spPr bwMode="auto">
              <a:xfrm rot="5400000">
                <a:off x="1719740" y="3080295"/>
                <a:ext cx="1281882" cy="177075"/>
              </a:xfrm>
              <a:prstGeom prst="rect">
                <a:avLst/>
              </a:prstGeom>
              <a:solidFill>
                <a:srgbClr val="D9D9D9"/>
              </a:solidFill>
              <a:ln w="3175" algn="ctr">
                <a:noFill/>
                <a:round/>
              </a:ln>
            </p:spPr>
            <p:txBody>
              <a:bodyPr rot="10800000" vert="eaVert" wrap="none" lIns="45720" rIns="45720"/>
              <a:lstStyle/>
              <a:p>
                <a:pPr algn="ctr"/>
                <a:endParaRPr lang="zh-CN" altLang="en-US">
                  <a:latin typeface="+mn-lt"/>
                  <a:ea typeface="+mn-ea"/>
                  <a:cs typeface="+mn-ea"/>
                  <a:sym typeface="+mn-lt"/>
                </a:endParaRPr>
              </a:p>
            </p:txBody>
          </p:sp>
          <p:sp>
            <p:nvSpPr>
              <p:cNvPr id="41" name="矩形 45"/>
              <p:cNvSpPr>
                <a:spLocks noChangeArrowheads="1"/>
              </p:cNvSpPr>
              <p:nvPr/>
            </p:nvSpPr>
            <p:spPr bwMode="auto">
              <a:xfrm>
                <a:off x="1497001" y="3348961"/>
                <a:ext cx="1636773" cy="522587"/>
              </a:xfrm>
              <a:prstGeom prst="rect">
                <a:avLst/>
              </a:prstGeom>
              <a:solidFill>
                <a:schemeClr val="accent2">
                  <a:lumMod val="60000"/>
                  <a:lumOff val="40000"/>
                </a:schemeClr>
              </a:solidFill>
              <a:ln w="3175" algn="ctr">
                <a:noFill/>
                <a:round/>
              </a:ln>
            </p:spPr>
            <p:txBody>
              <a:bodyPr wrap="none" lIns="45720" rIns="45720" anchor="ctr"/>
              <a:lstStyle/>
              <a:p>
                <a:pPr algn="ctr"/>
                <a:r>
                  <a:rPr lang="zh-CN" altLang="en-US" sz="1600" dirty="0">
                    <a:latin typeface="+mn-lt"/>
                    <a:ea typeface="+mn-ea"/>
                    <a:cs typeface="+mn-ea"/>
                    <a:sym typeface="+mn-lt"/>
                  </a:rPr>
                  <a:t>业务牵头部门</a:t>
                </a:r>
                <a:endParaRPr lang="en-US" altLang="zh-CN" sz="1600" dirty="0">
                  <a:latin typeface="+mn-lt"/>
                  <a:ea typeface="+mn-ea"/>
                  <a:cs typeface="+mn-ea"/>
                  <a:sym typeface="+mn-lt"/>
                </a:endParaRPr>
              </a:p>
              <a:p>
                <a:pPr algn="ctr"/>
                <a:r>
                  <a:rPr lang="zh-CN" altLang="en-US" sz="1600" dirty="0">
                    <a:latin typeface="+mn-lt"/>
                    <a:ea typeface="+mn-ea"/>
                    <a:cs typeface="+mn-ea"/>
                    <a:sym typeface="+mn-lt"/>
                  </a:rPr>
                  <a:t>主导作用未显现</a:t>
                </a:r>
                <a:endParaRPr lang="zh-CN" altLang="en-US" sz="1600" b="1" dirty="0">
                  <a:latin typeface="+mn-lt"/>
                  <a:ea typeface="+mn-ea"/>
                  <a:cs typeface="+mn-ea"/>
                  <a:sym typeface="+mn-lt"/>
                </a:endParaRPr>
              </a:p>
            </p:txBody>
          </p:sp>
          <p:sp>
            <p:nvSpPr>
              <p:cNvPr id="46" name="椭圆 45"/>
              <p:cNvSpPr/>
              <p:nvPr/>
            </p:nvSpPr>
            <p:spPr bwMode="auto">
              <a:xfrm>
                <a:off x="2262066" y="2981983"/>
                <a:ext cx="177076" cy="164118"/>
              </a:xfrm>
              <a:prstGeom prst="ellipse">
                <a:avLst/>
              </a:prstGeom>
              <a:solidFill>
                <a:srgbClr val="FFC000"/>
              </a:solidFill>
              <a:ln w="3175" cap="flat" cmpd="sng" algn="ctr">
                <a:solidFill>
                  <a:schemeClr val="accent2">
                    <a:lumMod val="50000"/>
                  </a:schemeClr>
                </a:solidFill>
                <a:prstDash val="solid"/>
                <a:round/>
                <a:headEnd type="none" w="med" len="med"/>
                <a:tailEnd type="none" w="med" len="med"/>
              </a:ln>
              <a:effectLst/>
            </p:spPr>
            <p:txBody>
              <a:bodyPr wrap="none" lIns="45720" rIns="45720"/>
              <a:lstStyle/>
              <a:p>
                <a:pPr algn="ctr">
                  <a:defRPr/>
                </a:pPr>
                <a:endParaRPr lang="zh-CN" altLang="en-US">
                  <a:latin typeface="+mn-lt"/>
                  <a:ea typeface="+mn-ea"/>
                  <a:cs typeface="+mn-ea"/>
                  <a:sym typeface="+mn-lt"/>
                </a:endParaRPr>
              </a:p>
            </p:txBody>
          </p:sp>
        </p:grpSp>
        <p:grpSp>
          <p:nvGrpSpPr>
            <p:cNvPr id="52" name="组合 51"/>
            <p:cNvGrpSpPr/>
            <p:nvPr/>
          </p:nvGrpSpPr>
          <p:grpSpPr>
            <a:xfrm>
              <a:off x="5027187" y="4181874"/>
              <a:ext cx="1554004" cy="1343656"/>
              <a:chOff x="3428963" y="2527892"/>
              <a:chExt cx="1554004" cy="1343656"/>
            </a:xfrm>
          </p:grpSpPr>
          <p:sp>
            <p:nvSpPr>
              <p:cNvPr id="54" name="矩形 39"/>
              <p:cNvSpPr>
                <a:spLocks noChangeArrowheads="1"/>
              </p:cNvSpPr>
              <p:nvPr/>
            </p:nvSpPr>
            <p:spPr bwMode="auto">
              <a:xfrm rot="5400000">
                <a:off x="3567578" y="3079575"/>
                <a:ext cx="1281882" cy="178515"/>
              </a:xfrm>
              <a:prstGeom prst="rect">
                <a:avLst/>
              </a:prstGeom>
              <a:solidFill>
                <a:srgbClr val="D9D9D9"/>
              </a:solidFill>
              <a:ln w="3175" algn="ctr">
                <a:noFill/>
                <a:round/>
              </a:ln>
            </p:spPr>
            <p:txBody>
              <a:bodyPr rot="10800000" vert="eaVert" wrap="none" lIns="45720" rIns="45720"/>
              <a:lstStyle/>
              <a:p>
                <a:pPr algn="ctr"/>
                <a:endParaRPr lang="zh-CN" altLang="en-US">
                  <a:latin typeface="+mn-lt"/>
                  <a:ea typeface="+mn-ea"/>
                  <a:cs typeface="+mn-ea"/>
                  <a:sym typeface="+mn-lt"/>
                </a:endParaRPr>
              </a:p>
            </p:txBody>
          </p:sp>
          <p:sp>
            <p:nvSpPr>
              <p:cNvPr id="55" name="矩形 46"/>
              <p:cNvSpPr>
                <a:spLocks noChangeArrowheads="1"/>
              </p:cNvSpPr>
              <p:nvPr/>
            </p:nvSpPr>
            <p:spPr bwMode="auto">
              <a:xfrm>
                <a:off x="3428963" y="3348961"/>
                <a:ext cx="1554004" cy="522587"/>
              </a:xfrm>
              <a:prstGeom prst="rect">
                <a:avLst/>
              </a:prstGeom>
              <a:solidFill>
                <a:schemeClr val="accent2">
                  <a:lumMod val="60000"/>
                  <a:lumOff val="40000"/>
                </a:schemeClr>
              </a:solidFill>
              <a:ln w="3175" algn="ctr">
                <a:noFill/>
                <a:round/>
              </a:ln>
            </p:spPr>
            <p:txBody>
              <a:bodyPr wrap="none" lIns="45720" rIns="45720" anchor="ctr"/>
              <a:lstStyle/>
              <a:p>
                <a:pPr algn="ctr"/>
                <a:r>
                  <a:rPr lang="zh-CN" altLang="en-US" sz="1600" dirty="0">
                    <a:latin typeface="+mn-lt"/>
                    <a:ea typeface="+mn-ea"/>
                    <a:cs typeface="+mn-ea"/>
                    <a:sym typeface="+mn-lt"/>
                  </a:rPr>
                  <a:t>培养需求难以</a:t>
                </a:r>
                <a:endParaRPr lang="en-US" altLang="zh-CN" sz="1600" dirty="0">
                  <a:latin typeface="+mn-lt"/>
                  <a:ea typeface="+mn-ea"/>
                  <a:cs typeface="+mn-ea"/>
                  <a:sym typeface="+mn-lt"/>
                </a:endParaRPr>
              </a:p>
              <a:p>
                <a:pPr algn="ctr"/>
                <a:r>
                  <a:rPr lang="zh-CN" altLang="en-US" sz="1600" dirty="0">
                    <a:latin typeface="+mn-lt"/>
                    <a:ea typeface="+mn-ea"/>
                    <a:cs typeface="+mn-ea"/>
                    <a:sym typeface="+mn-lt"/>
                  </a:rPr>
                  <a:t>高效获取</a:t>
                </a:r>
                <a:endParaRPr lang="zh-CN" altLang="en-US" sz="1600" dirty="0">
                  <a:latin typeface="+mn-lt"/>
                  <a:ea typeface="+mn-ea"/>
                  <a:cs typeface="+mn-ea"/>
                  <a:sym typeface="+mn-lt"/>
                </a:endParaRPr>
              </a:p>
            </p:txBody>
          </p:sp>
          <p:sp>
            <p:nvSpPr>
              <p:cNvPr id="56" name="椭圆 55"/>
              <p:cNvSpPr/>
              <p:nvPr/>
            </p:nvSpPr>
            <p:spPr bwMode="auto">
              <a:xfrm>
                <a:off x="4109184" y="2987741"/>
                <a:ext cx="177075" cy="162678"/>
              </a:xfrm>
              <a:prstGeom prst="ellipse">
                <a:avLst/>
              </a:prstGeom>
              <a:solidFill>
                <a:srgbClr val="FFC000"/>
              </a:solidFill>
              <a:ln w="3175" cap="flat" cmpd="sng" algn="ctr">
                <a:solidFill>
                  <a:schemeClr val="accent2">
                    <a:lumMod val="50000"/>
                  </a:schemeClr>
                </a:solidFill>
                <a:prstDash val="solid"/>
                <a:round/>
                <a:headEnd type="none" w="med" len="med"/>
                <a:tailEnd type="none" w="med" len="med"/>
              </a:ln>
              <a:effectLst/>
            </p:spPr>
            <p:txBody>
              <a:bodyPr wrap="none" lIns="45720" rIns="45720"/>
              <a:lstStyle/>
              <a:p>
                <a:pPr algn="ctr">
                  <a:defRPr/>
                </a:pPr>
                <a:endParaRPr lang="zh-CN" altLang="en-US">
                  <a:latin typeface="+mn-lt"/>
                  <a:ea typeface="+mn-ea"/>
                  <a:cs typeface="+mn-ea"/>
                  <a:sym typeface="+mn-lt"/>
                </a:endParaRPr>
              </a:p>
            </p:txBody>
          </p:sp>
        </p:grpSp>
        <p:grpSp>
          <p:nvGrpSpPr>
            <p:cNvPr id="57" name="组合 56"/>
            <p:cNvGrpSpPr/>
            <p:nvPr/>
          </p:nvGrpSpPr>
          <p:grpSpPr>
            <a:xfrm>
              <a:off x="6874934" y="4181874"/>
              <a:ext cx="1554004" cy="1343656"/>
              <a:chOff x="4795739" y="2527892"/>
              <a:chExt cx="1554004" cy="1343656"/>
            </a:xfrm>
          </p:grpSpPr>
          <p:sp>
            <p:nvSpPr>
              <p:cNvPr id="58" name="矩形 40"/>
              <p:cNvSpPr>
                <a:spLocks noChangeArrowheads="1"/>
              </p:cNvSpPr>
              <p:nvPr/>
            </p:nvSpPr>
            <p:spPr bwMode="auto">
              <a:xfrm rot="5400000">
                <a:off x="4919396" y="3079575"/>
                <a:ext cx="1281882" cy="178515"/>
              </a:xfrm>
              <a:prstGeom prst="rect">
                <a:avLst/>
              </a:prstGeom>
              <a:solidFill>
                <a:srgbClr val="D9D9D9"/>
              </a:solidFill>
              <a:ln w="3175" algn="ctr">
                <a:noFill/>
                <a:round/>
              </a:ln>
            </p:spPr>
            <p:txBody>
              <a:bodyPr rot="10800000" vert="eaVert" wrap="none" lIns="45720" rIns="45720"/>
              <a:lstStyle/>
              <a:p>
                <a:pPr algn="ctr"/>
                <a:endParaRPr lang="zh-CN" altLang="en-US">
                  <a:latin typeface="+mn-lt"/>
                  <a:ea typeface="+mn-ea"/>
                  <a:cs typeface="+mn-ea"/>
                  <a:sym typeface="+mn-lt"/>
                </a:endParaRPr>
              </a:p>
            </p:txBody>
          </p:sp>
          <p:sp>
            <p:nvSpPr>
              <p:cNvPr id="59" name="矩形 48"/>
              <p:cNvSpPr>
                <a:spLocks noChangeArrowheads="1"/>
              </p:cNvSpPr>
              <p:nvPr/>
            </p:nvSpPr>
            <p:spPr bwMode="auto">
              <a:xfrm>
                <a:off x="4795739" y="3348961"/>
                <a:ext cx="1554004" cy="522587"/>
              </a:xfrm>
              <a:prstGeom prst="rect">
                <a:avLst/>
              </a:prstGeom>
              <a:solidFill>
                <a:schemeClr val="accent2">
                  <a:lumMod val="60000"/>
                  <a:lumOff val="40000"/>
                </a:schemeClr>
              </a:solidFill>
              <a:ln w="3175" algn="ctr">
                <a:noFill/>
                <a:round/>
              </a:ln>
            </p:spPr>
            <p:txBody>
              <a:bodyPr wrap="none" lIns="45720" rIns="45720" anchor="ctr"/>
              <a:lstStyle/>
              <a:p>
                <a:pPr algn="ctr"/>
                <a:r>
                  <a:rPr lang="zh-CN" altLang="en-US" sz="1600" dirty="0">
                    <a:latin typeface="+mn-lt"/>
                    <a:ea typeface="+mn-ea"/>
                    <a:cs typeface="+mn-ea"/>
                    <a:sym typeface="+mn-lt"/>
                  </a:rPr>
                  <a:t>与业务部门的合</a:t>
                </a:r>
                <a:endParaRPr lang="en-US" altLang="zh-CN" sz="1600" dirty="0">
                  <a:latin typeface="+mn-lt"/>
                  <a:ea typeface="+mn-ea"/>
                  <a:cs typeface="+mn-ea"/>
                  <a:sym typeface="+mn-lt"/>
                </a:endParaRPr>
              </a:p>
              <a:p>
                <a:pPr algn="ctr"/>
                <a:r>
                  <a:rPr lang="zh-CN" altLang="en-US" sz="1600" dirty="0">
                    <a:latin typeface="+mn-lt"/>
                    <a:ea typeface="+mn-ea"/>
                    <a:cs typeface="+mn-ea"/>
                    <a:sym typeface="+mn-lt"/>
                  </a:rPr>
                  <a:t>作和协同不深</a:t>
                </a:r>
                <a:endParaRPr lang="zh-CN" altLang="en-US" sz="1600" dirty="0">
                  <a:latin typeface="+mn-lt"/>
                  <a:ea typeface="+mn-ea"/>
                  <a:cs typeface="+mn-ea"/>
                  <a:sym typeface="+mn-lt"/>
                </a:endParaRPr>
              </a:p>
            </p:txBody>
          </p:sp>
          <p:sp>
            <p:nvSpPr>
              <p:cNvPr id="60" name="椭圆 59"/>
              <p:cNvSpPr/>
              <p:nvPr/>
            </p:nvSpPr>
            <p:spPr bwMode="auto">
              <a:xfrm>
                <a:off x="5461002" y="2981983"/>
                <a:ext cx="177076" cy="164118"/>
              </a:xfrm>
              <a:prstGeom prst="ellipse">
                <a:avLst/>
              </a:prstGeom>
              <a:solidFill>
                <a:srgbClr val="FFC000"/>
              </a:solidFill>
              <a:ln w="3175" cap="flat" cmpd="sng" algn="ctr">
                <a:solidFill>
                  <a:schemeClr val="accent2">
                    <a:lumMod val="50000"/>
                  </a:schemeClr>
                </a:solidFill>
                <a:prstDash val="solid"/>
                <a:round/>
                <a:headEnd type="none" w="med" len="med"/>
                <a:tailEnd type="none" w="med" len="med"/>
              </a:ln>
              <a:effectLst/>
            </p:spPr>
            <p:txBody>
              <a:bodyPr wrap="none" lIns="45720" rIns="45720"/>
              <a:lstStyle/>
              <a:p>
                <a:pPr algn="ctr">
                  <a:defRPr/>
                </a:pPr>
                <a:endParaRPr lang="zh-CN" altLang="en-US">
                  <a:latin typeface="+mn-lt"/>
                  <a:ea typeface="+mn-ea"/>
                  <a:cs typeface="+mn-ea"/>
                  <a:sym typeface="+mn-lt"/>
                </a:endParaRPr>
              </a:p>
            </p:txBody>
          </p:sp>
        </p:grpSp>
        <p:grpSp>
          <p:nvGrpSpPr>
            <p:cNvPr id="61" name="组合 60"/>
            <p:cNvGrpSpPr/>
            <p:nvPr/>
          </p:nvGrpSpPr>
          <p:grpSpPr>
            <a:xfrm>
              <a:off x="8661724" y="4181873"/>
              <a:ext cx="1554003" cy="1343657"/>
              <a:chOff x="6162519" y="2527891"/>
              <a:chExt cx="1554003" cy="1343657"/>
            </a:xfrm>
          </p:grpSpPr>
          <p:sp>
            <p:nvSpPr>
              <p:cNvPr id="62" name="矩形 41"/>
              <p:cNvSpPr>
                <a:spLocks noChangeArrowheads="1"/>
              </p:cNvSpPr>
              <p:nvPr/>
            </p:nvSpPr>
            <p:spPr bwMode="auto">
              <a:xfrm rot="5400000">
                <a:off x="6271215" y="3081014"/>
                <a:ext cx="1281882" cy="175636"/>
              </a:xfrm>
              <a:prstGeom prst="rect">
                <a:avLst/>
              </a:prstGeom>
              <a:solidFill>
                <a:srgbClr val="D9D9D9"/>
              </a:solidFill>
              <a:ln w="3175" algn="ctr">
                <a:noFill/>
                <a:round/>
              </a:ln>
            </p:spPr>
            <p:txBody>
              <a:bodyPr rot="10800000" vert="eaVert" wrap="none" lIns="45720" rIns="45720"/>
              <a:lstStyle/>
              <a:p>
                <a:pPr algn="ctr"/>
                <a:endParaRPr lang="zh-CN" altLang="en-US">
                  <a:latin typeface="+mn-lt"/>
                  <a:ea typeface="+mn-ea"/>
                  <a:cs typeface="+mn-ea"/>
                  <a:sym typeface="+mn-lt"/>
                </a:endParaRPr>
              </a:p>
            </p:txBody>
          </p:sp>
          <p:sp>
            <p:nvSpPr>
              <p:cNvPr id="63" name="矩形 47"/>
              <p:cNvSpPr>
                <a:spLocks noChangeArrowheads="1"/>
              </p:cNvSpPr>
              <p:nvPr/>
            </p:nvSpPr>
            <p:spPr bwMode="auto">
              <a:xfrm>
                <a:off x="6162519" y="3348961"/>
                <a:ext cx="1554003" cy="522587"/>
              </a:xfrm>
              <a:prstGeom prst="rect">
                <a:avLst/>
              </a:prstGeom>
              <a:solidFill>
                <a:schemeClr val="accent2">
                  <a:lumMod val="60000"/>
                  <a:lumOff val="40000"/>
                </a:schemeClr>
              </a:solidFill>
              <a:ln w="3175" algn="ctr">
                <a:noFill/>
                <a:round/>
              </a:ln>
            </p:spPr>
            <p:txBody>
              <a:bodyPr wrap="none" lIns="45720" rIns="45720" anchor="ctr"/>
              <a:lstStyle/>
              <a:p>
                <a:pPr algn="ctr"/>
                <a:r>
                  <a:rPr lang="zh-CN" altLang="en-US" sz="1600" dirty="0">
                    <a:latin typeface="+mn-lt"/>
                    <a:ea typeface="+mn-ea"/>
                    <a:cs typeface="+mn-ea"/>
                    <a:sym typeface="+mn-lt"/>
                  </a:rPr>
                  <a:t>体系与产品设计</a:t>
                </a:r>
                <a:endParaRPr lang="en-US" altLang="zh-CN" sz="1600" dirty="0">
                  <a:latin typeface="+mn-lt"/>
                  <a:ea typeface="+mn-ea"/>
                  <a:cs typeface="+mn-ea"/>
                  <a:sym typeface="+mn-lt"/>
                </a:endParaRPr>
              </a:p>
              <a:p>
                <a:pPr algn="ctr"/>
                <a:r>
                  <a:rPr lang="zh-CN" altLang="en-US" sz="1600" dirty="0">
                    <a:latin typeface="+mn-lt"/>
                    <a:ea typeface="+mn-ea"/>
                    <a:cs typeface="+mn-ea"/>
                    <a:sym typeface="+mn-lt"/>
                  </a:rPr>
                  <a:t>配套不足</a:t>
                </a:r>
                <a:endParaRPr lang="zh-CN" altLang="en-US" sz="1600" dirty="0">
                  <a:latin typeface="+mn-lt"/>
                  <a:ea typeface="+mn-ea"/>
                  <a:cs typeface="+mn-ea"/>
                  <a:sym typeface="+mn-lt"/>
                </a:endParaRPr>
              </a:p>
            </p:txBody>
          </p:sp>
          <p:sp>
            <p:nvSpPr>
              <p:cNvPr id="64" name="椭圆 63"/>
              <p:cNvSpPr/>
              <p:nvPr/>
            </p:nvSpPr>
            <p:spPr bwMode="auto">
              <a:xfrm>
                <a:off x="6812821" y="2981983"/>
                <a:ext cx="178515" cy="164118"/>
              </a:xfrm>
              <a:prstGeom prst="ellipse">
                <a:avLst/>
              </a:prstGeom>
              <a:solidFill>
                <a:srgbClr val="FFC000"/>
              </a:solidFill>
              <a:ln w="3175" cap="flat" cmpd="sng" algn="ctr">
                <a:solidFill>
                  <a:schemeClr val="accent2">
                    <a:lumMod val="50000"/>
                  </a:schemeClr>
                </a:solidFill>
                <a:prstDash val="solid"/>
                <a:round/>
                <a:headEnd type="none" w="med" len="med"/>
                <a:tailEnd type="none" w="med" len="med"/>
              </a:ln>
              <a:effectLst/>
            </p:spPr>
            <p:txBody>
              <a:bodyPr wrap="none" lIns="45720" rIns="45720"/>
              <a:lstStyle/>
              <a:p>
                <a:pPr algn="ctr">
                  <a:defRPr/>
                </a:pPr>
                <a:endParaRPr lang="zh-CN" altLang="en-US">
                  <a:latin typeface="+mn-lt"/>
                  <a:ea typeface="+mn-ea"/>
                  <a:cs typeface="+mn-ea"/>
                  <a:sym typeface="+mn-lt"/>
                </a:endParaRPr>
              </a:p>
            </p:txBody>
          </p:sp>
        </p:grpSp>
        <p:sp>
          <p:nvSpPr>
            <p:cNvPr id="65" name="文本框 64"/>
            <p:cNvSpPr txBox="1"/>
            <p:nvPr/>
          </p:nvSpPr>
          <p:spPr>
            <a:xfrm>
              <a:off x="3017431" y="5583116"/>
              <a:ext cx="1937559" cy="836089"/>
            </a:xfrm>
            <a:prstGeom prst="rect">
              <a:avLst/>
            </a:prstGeom>
            <a:noFill/>
          </p:spPr>
          <p:txBody>
            <a:bodyPr wrap="square" rtlCol="0">
              <a:spAutoFit/>
            </a:bodyPr>
            <a:lstStyle/>
            <a:p>
              <a:r>
                <a:rPr kumimoji="1" lang="zh-CN" altLang="en-US" b="0" dirty="0">
                  <a:latin typeface="+mn-lt"/>
                  <a:ea typeface="+mn-ea"/>
                  <a:cs typeface="+mn-ea"/>
                  <a:sym typeface="+mn-lt"/>
                </a:rPr>
                <a:t>相关业务部门对牵头建设专业学院缺少共识，导致教研组与对接部门难以建立沟通衔接渠道</a:t>
              </a:r>
              <a:endParaRPr kumimoji="1" lang="zh-CN" altLang="en-US" b="0" dirty="0">
                <a:latin typeface="+mn-lt"/>
                <a:ea typeface="+mn-ea"/>
                <a:cs typeface="+mn-ea"/>
                <a:sym typeface="+mn-lt"/>
              </a:endParaRPr>
            </a:p>
          </p:txBody>
        </p:sp>
        <p:sp>
          <p:nvSpPr>
            <p:cNvPr id="66" name="文本框 65"/>
            <p:cNvSpPr txBox="1"/>
            <p:nvPr/>
          </p:nvSpPr>
          <p:spPr>
            <a:xfrm>
              <a:off x="5027187" y="5583116"/>
              <a:ext cx="1714591" cy="648689"/>
            </a:xfrm>
            <a:prstGeom prst="rect">
              <a:avLst/>
            </a:prstGeom>
            <a:noFill/>
          </p:spPr>
          <p:txBody>
            <a:bodyPr wrap="square" rtlCol="0">
              <a:spAutoFit/>
            </a:bodyPr>
            <a:lstStyle/>
            <a:p>
              <a:r>
                <a:rPr kumimoji="1" lang="zh-CN" altLang="en-US" b="0" dirty="0">
                  <a:latin typeface="+mn-lt"/>
                  <a:ea typeface="+mn-ea"/>
                  <a:cs typeface="+mn-ea"/>
                  <a:sym typeface="+mn-lt"/>
                </a:rPr>
                <a:t>因沟通机制尚未建立，业务部门专业深层需求难以实时有效获取</a:t>
              </a:r>
              <a:endParaRPr kumimoji="1" lang="zh-CN" altLang="en-US" b="0" dirty="0">
                <a:latin typeface="+mn-lt"/>
                <a:ea typeface="+mn-ea"/>
                <a:cs typeface="+mn-ea"/>
                <a:sym typeface="+mn-lt"/>
              </a:endParaRPr>
            </a:p>
          </p:txBody>
        </p:sp>
        <p:sp>
          <p:nvSpPr>
            <p:cNvPr id="67" name="文本框 66"/>
            <p:cNvSpPr txBox="1"/>
            <p:nvPr/>
          </p:nvSpPr>
          <p:spPr>
            <a:xfrm>
              <a:off x="6874935" y="5583116"/>
              <a:ext cx="1714591" cy="836089"/>
            </a:xfrm>
            <a:prstGeom prst="rect">
              <a:avLst/>
            </a:prstGeom>
            <a:noFill/>
          </p:spPr>
          <p:txBody>
            <a:bodyPr wrap="square" rtlCol="0">
              <a:spAutoFit/>
            </a:bodyPr>
            <a:lstStyle/>
            <a:p>
              <a:r>
                <a:rPr kumimoji="1" lang="zh-CN" altLang="en-US" b="0" dirty="0">
                  <a:latin typeface="+mn-lt"/>
                  <a:ea typeface="+mn-ea"/>
                  <a:cs typeface="+mn-ea"/>
                  <a:sym typeface="+mn-lt"/>
                </a:rPr>
                <a:t>培训和业务部门的合作处于较低层次，日常联络和培训支持之外，合作不深</a:t>
              </a:r>
              <a:endParaRPr kumimoji="1" lang="zh-CN" altLang="en-US" b="0" dirty="0">
                <a:latin typeface="+mn-lt"/>
                <a:ea typeface="+mn-ea"/>
                <a:cs typeface="+mn-ea"/>
                <a:sym typeface="+mn-lt"/>
              </a:endParaRPr>
            </a:p>
          </p:txBody>
        </p:sp>
        <p:sp>
          <p:nvSpPr>
            <p:cNvPr id="68" name="文本框 67"/>
            <p:cNvSpPr txBox="1"/>
            <p:nvPr/>
          </p:nvSpPr>
          <p:spPr>
            <a:xfrm>
              <a:off x="8661723" y="5583116"/>
              <a:ext cx="1844981" cy="836089"/>
            </a:xfrm>
            <a:prstGeom prst="rect">
              <a:avLst/>
            </a:prstGeom>
            <a:noFill/>
          </p:spPr>
          <p:txBody>
            <a:bodyPr wrap="square" rtlCol="0">
              <a:spAutoFit/>
            </a:bodyPr>
            <a:lstStyle/>
            <a:p>
              <a:r>
                <a:rPr kumimoji="1" lang="zh-CN" altLang="en-US" b="0" dirty="0">
                  <a:latin typeface="+mn-lt"/>
                  <a:ea typeface="+mn-ea"/>
                  <a:cs typeface="+mn-ea"/>
                  <a:sym typeface="+mn-lt"/>
                </a:rPr>
                <a:t>培训部门缺少业务专家，难以深入业务进行系统的人才培养体系和关键培养项目设计</a:t>
              </a:r>
              <a:endParaRPr kumimoji="1" lang="zh-CN" altLang="en-US" b="0" dirty="0">
                <a:latin typeface="+mn-lt"/>
                <a:ea typeface="+mn-ea"/>
                <a:cs typeface="+mn-ea"/>
                <a:sym typeface="+mn-lt"/>
              </a:endParaRPr>
            </a:p>
          </p:txBody>
        </p:sp>
        <p:pic>
          <p:nvPicPr>
            <p:cNvPr id="69" name="图片 68"/>
            <p:cNvPicPr/>
            <p:nvPr/>
          </p:nvPicPr>
          <p:blipFill rotWithShape="1">
            <a:blip r:embed="rId1" cstate="print">
              <a:extLst>
                <a:ext uri="{28A0092B-C50C-407E-A947-70E740481C1C}">
                  <a14:useLocalDpi xmlns:a14="http://schemas.microsoft.com/office/drawing/2010/main" val="0"/>
                </a:ext>
              </a:extLst>
            </a:blip>
            <a:srcRect l="16554" t="34375" r="12980" b="35117"/>
            <a:stretch>
              <a:fillRect/>
            </a:stretch>
          </p:blipFill>
          <p:spPr bwMode="auto">
            <a:xfrm>
              <a:off x="3504526" y="2490865"/>
              <a:ext cx="6261100" cy="1662215"/>
            </a:xfrm>
            <a:prstGeom prst="rect">
              <a:avLst/>
            </a:prstGeom>
            <a:noFill/>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52DF7D90-B49A-4800-BC0D-FE9A7C3546DE}" type="slidenum">
              <a:rPr lang="zh-CN" altLang="en-US" smtClean="0"/>
            </a:fld>
            <a:endParaRPr lang="en-US" altLang="zh-CN"/>
          </a:p>
        </p:txBody>
      </p:sp>
      <p:sp>
        <p:nvSpPr>
          <p:cNvPr id="3" name="标题 2"/>
          <p:cNvSpPr>
            <a:spLocks noGrp="1"/>
          </p:cNvSpPr>
          <p:nvPr>
            <p:ph type="title"/>
          </p:nvPr>
        </p:nvSpPr>
        <p:spPr>
          <a:xfrm>
            <a:off x="793749" y="916984"/>
            <a:ext cx="11154021" cy="685522"/>
          </a:xfrm>
        </p:spPr>
        <p:txBody>
          <a:bodyPr>
            <a:noAutofit/>
          </a:bodyPr>
          <a:lstStyle/>
          <a:p>
            <a:r>
              <a:rPr kumimoji="1" lang="zh-CN" altLang="en-US" sz="1800" dirty="0"/>
              <a:t>发现</a:t>
            </a:r>
            <a:r>
              <a:rPr kumimoji="1" lang="en-US" altLang="zh-CN" sz="1800" dirty="0"/>
              <a:t>3</a:t>
            </a:r>
            <a:r>
              <a:rPr kumimoji="1" lang="zh-CN" altLang="en-US" sz="1800" dirty="0"/>
              <a:t>：在企业大学成熟度维度中，中银大学诸多方面达到国内优秀水平，但总体培训成熟度不高，在业务密联、组织有效性、内容契合等维度与标杆水平差距明显。</a:t>
            </a:r>
            <a:endParaRPr kumimoji="1" lang="zh-CN" altLang="en-US" sz="1800" dirty="0"/>
          </a:p>
        </p:txBody>
      </p:sp>
      <p:sp>
        <p:nvSpPr>
          <p:cNvPr id="38" name="标题 1"/>
          <p:cNvSpPr txBox="1"/>
          <p:nvPr/>
        </p:nvSpPr>
        <p:spPr>
          <a:xfrm>
            <a:off x="689708" y="401593"/>
            <a:ext cx="10830169" cy="184666"/>
          </a:xfrm>
          <a:prstGeom prst="rect">
            <a:avLst/>
          </a:prstGeom>
        </p:spPr>
        <p:txBody>
          <a:bodyPr vert="horz" lIns="91440" tIns="45720" rIns="91440" bIns="45720" rtlCol="0" anchor="ctr">
            <a:noAutofit/>
          </a:bodyPr>
          <a:lstStyle>
            <a:lvl1pPr algn="l" rtl="0" eaLnBrk="0" fontAlgn="base" hangingPunct="0">
              <a:spcBef>
                <a:spcPct val="0"/>
              </a:spcBef>
              <a:spcAft>
                <a:spcPct val="0"/>
              </a:spcAft>
              <a:defRPr sz="2200" b="1">
                <a:solidFill>
                  <a:srgbClr val="000000"/>
                </a:solidFill>
                <a:latin typeface="STZhongsong" panose="02010600040101010101" pitchFamily="2" charset="-122"/>
                <a:ea typeface="STZhongsong" panose="02010600040101010101" pitchFamily="2" charset="-122"/>
                <a:cs typeface="+mj-cs"/>
              </a:defRPr>
            </a:lvl1pPr>
            <a:lvl2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2pPr>
            <a:lvl3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3pPr>
            <a:lvl4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4pPr>
            <a:lvl5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5pPr>
            <a:lvl6pPr marL="457200" algn="l" rtl="0" fontAlgn="base">
              <a:spcBef>
                <a:spcPct val="0"/>
              </a:spcBef>
              <a:spcAft>
                <a:spcPct val="0"/>
              </a:spcAft>
              <a:defRPr sz="1900" b="1">
                <a:solidFill>
                  <a:srgbClr val="000000"/>
                </a:solidFill>
                <a:latin typeface="Arial" panose="020B0604020202090204" pitchFamily="34" charset="0"/>
                <a:ea typeface="윤고딕130" pitchFamily="18" charset="-127"/>
              </a:defRPr>
            </a:lvl6pPr>
            <a:lvl7pPr marL="914400" algn="l" rtl="0" fontAlgn="base">
              <a:spcBef>
                <a:spcPct val="0"/>
              </a:spcBef>
              <a:spcAft>
                <a:spcPct val="0"/>
              </a:spcAft>
              <a:defRPr sz="1900" b="1">
                <a:solidFill>
                  <a:srgbClr val="000000"/>
                </a:solidFill>
                <a:latin typeface="Arial" panose="020B0604020202090204" pitchFamily="34" charset="0"/>
                <a:ea typeface="윤고딕130" pitchFamily="18" charset="-127"/>
              </a:defRPr>
            </a:lvl7pPr>
            <a:lvl8pPr marL="1371600" algn="l" rtl="0" fontAlgn="base">
              <a:spcBef>
                <a:spcPct val="0"/>
              </a:spcBef>
              <a:spcAft>
                <a:spcPct val="0"/>
              </a:spcAft>
              <a:defRPr sz="1900" b="1">
                <a:solidFill>
                  <a:srgbClr val="000000"/>
                </a:solidFill>
                <a:latin typeface="Arial" panose="020B0604020202090204" pitchFamily="34" charset="0"/>
                <a:ea typeface="윤고딕130" pitchFamily="18" charset="-127"/>
              </a:defRPr>
            </a:lvl8pPr>
            <a:lvl9pPr marL="1828800" algn="l" rtl="0" fontAlgn="base">
              <a:spcBef>
                <a:spcPct val="0"/>
              </a:spcBef>
              <a:spcAft>
                <a:spcPct val="0"/>
              </a:spcAft>
              <a:defRPr sz="1900" b="1">
                <a:solidFill>
                  <a:srgbClr val="000000"/>
                </a:solidFill>
                <a:latin typeface="Arial" panose="020B0604020202090204" pitchFamily="34" charset="0"/>
                <a:ea typeface="윤고딕130" pitchFamily="18" charset="-127"/>
              </a:defRPr>
            </a:lvl9pPr>
          </a:lstStyle>
          <a:p>
            <a:r>
              <a:rPr lang="en-US" altLang="zh-CN" sz="2000" dirty="0">
                <a:cs typeface="+mn-ea"/>
                <a:sym typeface="+mn-lt"/>
              </a:rPr>
              <a:t>T</a:t>
            </a:r>
            <a:r>
              <a:rPr lang="zh-CN" altLang="en-US" sz="2000" dirty="0">
                <a:cs typeface="+mn-ea"/>
                <a:sym typeface="+mn-lt"/>
              </a:rPr>
              <a:t> 劣势</a:t>
            </a:r>
            <a:r>
              <a:rPr lang="en-US" altLang="zh-CN" sz="2000" dirty="0">
                <a:cs typeface="+mn-ea"/>
                <a:sym typeface="+mn-lt"/>
              </a:rPr>
              <a:t>3-</a:t>
            </a:r>
            <a:r>
              <a:rPr lang="zh-CN" altLang="zh-CN" sz="2000" dirty="0"/>
              <a:t>教育培训体系成熟度有待提高，长短板明显</a:t>
            </a:r>
            <a:endParaRPr lang="zh-CN" altLang="zh-CN" sz="2000" dirty="0"/>
          </a:p>
        </p:txBody>
      </p:sp>
      <p:sp>
        <p:nvSpPr>
          <p:cNvPr id="39" name="文本框 38"/>
          <p:cNvSpPr txBox="1"/>
          <p:nvPr/>
        </p:nvSpPr>
        <p:spPr>
          <a:xfrm>
            <a:off x="7993863" y="6547208"/>
            <a:ext cx="2582758" cy="261610"/>
          </a:xfrm>
          <a:prstGeom prst="rect">
            <a:avLst/>
          </a:prstGeom>
          <a:noFill/>
        </p:spPr>
        <p:txBody>
          <a:bodyPr wrap="none" rtlCol="0">
            <a:spAutoFit/>
          </a:bodyPr>
          <a:lstStyle/>
          <a:p>
            <a:r>
              <a:rPr kumimoji="1" lang="zh-CN" altLang="en-US" sz="1100" b="0" dirty="0">
                <a:latin typeface="宋体" pitchFamily="2" charset="-122"/>
                <a:ea typeface="宋体" pitchFamily="2" charset="-122"/>
              </a:rPr>
              <a:t>来源：模型来自上海交大海外教育学院</a:t>
            </a:r>
            <a:endParaRPr kumimoji="1" lang="zh-CN" altLang="en-US" sz="1100" b="0" dirty="0">
              <a:latin typeface="宋体" pitchFamily="2" charset="-122"/>
              <a:ea typeface="宋体" pitchFamily="2" charset="-122"/>
            </a:endParaRPr>
          </a:p>
        </p:txBody>
      </p:sp>
      <p:graphicFrame>
        <p:nvGraphicFramePr>
          <p:cNvPr id="16" name="表格 15"/>
          <p:cNvGraphicFramePr>
            <a:graphicFrameLocks noGrp="1"/>
          </p:cNvGraphicFramePr>
          <p:nvPr/>
        </p:nvGraphicFramePr>
        <p:xfrm>
          <a:off x="1414171" y="1786677"/>
          <a:ext cx="5450676" cy="4832282"/>
        </p:xfrm>
        <a:graphic>
          <a:graphicData uri="http://schemas.openxmlformats.org/drawingml/2006/table">
            <a:tbl>
              <a:tblPr/>
              <a:tblGrid>
                <a:gridCol w="2576437"/>
                <a:gridCol w="1333535"/>
                <a:gridCol w="1540704"/>
              </a:tblGrid>
              <a:tr h="208550">
                <a:tc>
                  <a:txBody>
                    <a:bodyPr/>
                    <a:lstStyle/>
                    <a:p>
                      <a:pPr algn="ctr" fontAlgn="ctr"/>
                      <a:r>
                        <a:rPr lang="zh-CN" altLang="en-US" sz="1600" b="1" i="0" u="none" strike="noStrike" dirty="0">
                          <a:solidFill>
                            <a:srgbClr val="000000"/>
                          </a:solidFill>
                          <a:effectLst/>
                          <a:latin typeface="DengXian" panose="02010600030101010101" pitchFamily="2" charset="-122"/>
                          <a:ea typeface="DengXian" panose="02010600030101010101" pitchFamily="2" charset="-122"/>
                        </a:rPr>
                        <a:t>一级指标</a:t>
                      </a:r>
                      <a:endParaRPr lang="zh-CN" altLang="en-US" sz="1600" b="1"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A5A5A5"/>
                    </a:solidFill>
                  </a:tcPr>
                </a:tc>
                <a:tc>
                  <a:txBody>
                    <a:bodyPr/>
                    <a:lstStyle/>
                    <a:p>
                      <a:pPr algn="ctr" fontAlgn="ctr"/>
                      <a:r>
                        <a:rPr lang="zh-CN" altLang="en-US" sz="1600" b="1" i="0" u="none" strike="noStrike">
                          <a:solidFill>
                            <a:srgbClr val="000000"/>
                          </a:solidFill>
                          <a:effectLst/>
                          <a:latin typeface="DengXian" panose="02010600030101010101" pitchFamily="2" charset="-122"/>
                          <a:ea typeface="DengXian" panose="02010600030101010101" pitchFamily="2" charset="-122"/>
                        </a:rPr>
                        <a:t>二级指标</a:t>
                      </a:r>
                      <a:endParaRPr lang="zh-CN" altLang="en-US" sz="1600" b="1"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A5A5A5"/>
                    </a:solidFill>
                  </a:tcPr>
                </a:tc>
                <a:tc>
                  <a:txBody>
                    <a:bodyPr/>
                    <a:lstStyle/>
                    <a:p>
                      <a:pPr algn="ctr" fontAlgn="ctr"/>
                      <a:r>
                        <a:rPr lang="zh-CN" altLang="en-US" sz="1600" b="1" i="0" u="none" strike="noStrike" dirty="0">
                          <a:solidFill>
                            <a:srgbClr val="000000"/>
                          </a:solidFill>
                          <a:effectLst/>
                          <a:latin typeface="DengXian" panose="02010600030101010101" pitchFamily="2" charset="-122"/>
                          <a:ea typeface="DengXian" panose="02010600030101010101" pitchFamily="2" charset="-122"/>
                        </a:rPr>
                        <a:t>三级指标</a:t>
                      </a:r>
                      <a:endParaRPr lang="zh-CN" altLang="en-US" sz="1600" b="1"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A5A5A5"/>
                    </a:solidFill>
                  </a:tcPr>
                </a:tc>
              </a:tr>
              <a:tr h="208550">
                <a:tc rowSpan="8">
                  <a:txBody>
                    <a:bodyPr/>
                    <a:lstStyle/>
                    <a:p>
                      <a:pPr algn="ctr" fontAlgn="ctr"/>
                      <a:r>
                        <a:rPr lang="zh-CN" altLang="en-US" sz="1400" b="0" i="0" u="none" strike="noStrike" dirty="0">
                          <a:solidFill>
                            <a:srgbClr val="000000"/>
                          </a:solidFill>
                          <a:effectLst/>
                          <a:latin typeface="DengXian" panose="02010600030101010101" pitchFamily="2" charset="-122"/>
                          <a:ea typeface="DengXian" panose="02010600030101010101" pitchFamily="2" charset="-122"/>
                        </a:rPr>
                        <a:t>战略对接</a:t>
                      </a:r>
                      <a:br>
                        <a:rPr lang="zh-CN" altLang="en-US" sz="1400" b="0" i="0" u="none" strike="noStrike" dirty="0">
                          <a:solidFill>
                            <a:srgbClr val="000000"/>
                          </a:solidFill>
                          <a:effectLst/>
                          <a:latin typeface="DengXian" panose="02010600030101010101" pitchFamily="2" charset="-122"/>
                          <a:ea typeface="DengXian" panose="02010600030101010101" pitchFamily="2" charset="-122"/>
                        </a:rPr>
                      </a:br>
                      <a:r>
                        <a:rPr lang="zh-CN" altLang="en-US" sz="1400" b="0" i="0" u="none" strike="noStrike" dirty="0">
                          <a:solidFill>
                            <a:srgbClr val="000000"/>
                          </a:solidFill>
                          <a:effectLst/>
                          <a:latin typeface="DengXian" panose="02010600030101010101" pitchFamily="2" charset="-122"/>
                          <a:ea typeface="DengXian" panose="02010600030101010101" pitchFamily="2" charset="-122"/>
                        </a:rPr>
                        <a:t>（在对接战略主题、密联业务发展、推动人才成长方面表现卓越）</a:t>
                      </a:r>
                      <a:endParaRPr lang="zh-CN" altLang="en-US" sz="1400" b="0"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c rowSpan="2">
                  <a:txBody>
                    <a:bodyPr/>
                    <a:lstStyle/>
                    <a:p>
                      <a:pPr algn="ctr" fontAlgn="ctr"/>
                      <a:r>
                        <a:rPr lang="zh-CN" altLang="en-US" sz="1300" b="0" i="0" u="none" strike="noStrike" dirty="0">
                          <a:solidFill>
                            <a:srgbClr val="000000"/>
                          </a:solidFill>
                          <a:effectLst/>
                          <a:latin typeface="DengXian" panose="02010600030101010101" pitchFamily="2" charset="-122"/>
                          <a:ea typeface="DengXian" panose="02010600030101010101" pitchFamily="2" charset="-122"/>
                        </a:rPr>
                        <a:t>规划引领</a:t>
                      </a:r>
                      <a:endParaRPr lang="zh-CN" altLang="en-US" sz="1300" b="0"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c>
                  <a:txBody>
                    <a:bodyPr/>
                    <a:lstStyle/>
                    <a:p>
                      <a:pPr algn="ctr" fontAlgn="ctr"/>
                      <a:r>
                        <a:rPr lang="zh-CN" altLang="en-US" sz="1300" b="0" i="0" u="none" strike="noStrike" dirty="0">
                          <a:solidFill>
                            <a:srgbClr val="000000"/>
                          </a:solidFill>
                          <a:effectLst/>
                          <a:latin typeface="DengXian" panose="02010600030101010101" pitchFamily="2" charset="-122"/>
                          <a:ea typeface="DengXian" panose="02010600030101010101" pitchFamily="2" charset="-122"/>
                        </a:rPr>
                        <a:t>前瞻研究</a:t>
                      </a:r>
                      <a:endParaRPr lang="zh-CN" altLang="en-US" sz="1300" b="0"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208550">
                <a:tc vMerge="1">
                  <a:tcPr/>
                </a:tc>
                <a:tc vMerge="1">
                  <a:tcPr/>
                </a:tc>
                <a:tc>
                  <a:txBody>
                    <a:bodyPr/>
                    <a:lstStyle/>
                    <a:p>
                      <a:pPr algn="ctr" fontAlgn="ctr"/>
                      <a:r>
                        <a:rPr lang="zh-CN" altLang="en-US" sz="1300" b="0" i="0" u="none" strike="noStrike" dirty="0">
                          <a:solidFill>
                            <a:srgbClr val="000000"/>
                          </a:solidFill>
                          <a:effectLst/>
                          <a:latin typeface="DengXian" panose="02010600030101010101" pitchFamily="2" charset="-122"/>
                          <a:ea typeface="DengXian" panose="02010600030101010101" pitchFamily="2" charset="-122"/>
                        </a:rPr>
                        <a:t>有效覆盖</a:t>
                      </a:r>
                      <a:endParaRPr lang="zh-CN" altLang="en-US" sz="1300" b="0"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208550">
                <a:tc vMerge="1">
                  <a:tcPr/>
                </a:tc>
                <a:tc rowSpan="2">
                  <a:txBody>
                    <a:bodyPr/>
                    <a:lstStyle/>
                    <a:p>
                      <a:pPr algn="ctr" fontAlgn="ctr"/>
                      <a:r>
                        <a:rPr lang="zh-CN" altLang="en-US" sz="1300" b="0" i="0" u="none" strike="noStrike">
                          <a:solidFill>
                            <a:srgbClr val="000000"/>
                          </a:solidFill>
                          <a:effectLst/>
                          <a:latin typeface="DengXian" panose="02010600030101010101" pitchFamily="2" charset="-122"/>
                          <a:ea typeface="DengXian" panose="02010600030101010101" pitchFamily="2" charset="-122"/>
                        </a:rPr>
                        <a:t>业务密联</a:t>
                      </a:r>
                      <a:endParaRPr lang="zh-CN" altLang="en-US" sz="1300" b="0"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c>
                  <a:txBody>
                    <a:bodyPr/>
                    <a:lstStyle/>
                    <a:p>
                      <a:pPr algn="ctr" fontAlgn="ctr"/>
                      <a:r>
                        <a:rPr lang="zh-CN" altLang="en-US" sz="1300" b="0" i="0" u="none" strike="noStrike">
                          <a:solidFill>
                            <a:srgbClr val="000000"/>
                          </a:solidFill>
                          <a:effectLst/>
                          <a:latin typeface="DengXian" panose="02010600030101010101" pitchFamily="2" charset="-122"/>
                          <a:ea typeface="DengXian" panose="02010600030101010101" pitchFamily="2" charset="-122"/>
                        </a:rPr>
                        <a:t>需求对接</a:t>
                      </a:r>
                      <a:endParaRPr lang="zh-CN" altLang="en-US" sz="1300" b="0"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208550">
                <a:tc vMerge="1">
                  <a:tcPr/>
                </a:tc>
                <a:tc vMerge="1">
                  <a:tcPr/>
                </a:tc>
                <a:tc>
                  <a:txBody>
                    <a:bodyPr/>
                    <a:lstStyle/>
                    <a:p>
                      <a:pPr algn="ctr" fontAlgn="ctr"/>
                      <a:r>
                        <a:rPr lang="zh-CN" altLang="en-US" sz="1300" b="0" i="0" u="none" strike="noStrike">
                          <a:solidFill>
                            <a:srgbClr val="000000"/>
                          </a:solidFill>
                          <a:effectLst/>
                          <a:latin typeface="DengXian" panose="02010600030101010101" pitchFamily="2" charset="-122"/>
                          <a:ea typeface="DengXian" panose="02010600030101010101" pitchFamily="2" charset="-122"/>
                        </a:rPr>
                        <a:t>有效支撑</a:t>
                      </a:r>
                      <a:endParaRPr lang="zh-CN" altLang="en-US" sz="1300" b="0"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208550">
                <a:tc vMerge="1">
                  <a:tcPr/>
                </a:tc>
                <a:tc rowSpan="2">
                  <a:txBody>
                    <a:bodyPr/>
                    <a:lstStyle/>
                    <a:p>
                      <a:pPr algn="ctr" fontAlgn="ctr"/>
                      <a:r>
                        <a:rPr lang="zh-CN" altLang="en-US" sz="1300" b="0" i="0" u="none" strike="noStrike">
                          <a:solidFill>
                            <a:srgbClr val="000000"/>
                          </a:solidFill>
                          <a:effectLst/>
                          <a:latin typeface="DengXian" panose="02010600030101010101" pitchFamily="2" charset="-122"/>
                          <a:ea typeface="DengXian" panose="02010600030101010101" pitchFamily="2" charset="-122"/>
                        </a:rPr>
                        <a:t>能力匹配</a:t>
                      </a:r>
                      <a:endParaRPr lang="zh-CN" altLang="en-US" sz="1300" b="0"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c>
                  <a:txBody>
                    <a:bodyPr/>
                    <a:lstStyle/>
                    <a:p>
                      <a:pPr algn="ctr" fontAlgn="ctr"/>
                      <a:r>
                        <a:rPr lang="zh-CN" altLang="en-US" sz="1300" b="0" i="0" u="none" strike="noStrike">
                          <a:solidFill>
                            <a:srgbClr val="000000"/>
                          </a:solidFill>
                          <a:effectLst/>
                          <a:latin typeface="DengXian" panose="02010600030101010101" pitchFamily="2" charset="-122"/>
                          <a:ea typeface="DengXian" panose="02010600030101010101" pitchFamily="2" charset="-122"/>
                        </a:rPr>
                        <a:t>高端项目</a:t>
                      </a:r>
                      <a:endParaRPr lang="zh-CN" altLang="en-US" sz="1300" b="0"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208550">
                <a:tc vMerge="1">
                  <a:tcPr/>
                </a:tc>
                <a:tc vMerge="1">
                  <a:tcPr/>
                </a:tc>
                <a:tc>
                  <a:txBody>
                    <a:bodyPr/>
                    <a:lstStyle/>
                    <a:p>
                      <a:pPr algn="ctr" fontAlgn="ctr"/>
                      <a:r>
                        <a:rPr lang="zh-CN" altLang="en-US" sz="1300" b="0" i="0" u="none" strike="noStrike">
                          <a:solidFill>
                            <a:srgbClr val="000000"/>
                          </a:solidFill>
                          <a:effectLst/>
                          <a:latin typeface="DengXian" panose="02010600030101010101" pitchFamily="2" charset="-122"/>
                          <a:ea typeface="DengXian" panose="02010600030101010101" pitchFamily="2" charset="-122"/>
                        </a:rPr>
                        <a:t>专业影响</a:t>
                      </a:r>
                      <a:endParaRPr lang="zh-CN" altLang="en-US" sz="1300" b="0"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208550">
                <a:tc vMerge="1">
                  <a:tcPr/>
                </a:tc>
                <a:tc rowSpan="2">
                  <a:txBody>
                    <a:bodyPr/>
                    <a:lstStyle/>
                    <a:p>
                      <a:pPr algn="ctr" fontAlgn="ctr"/>
                      <a:r>
                        <a:rPr lang="zh-CN" altLang="en-US" sz="1300" b="0" i="0" u="none" strike="noStrike" dirty="0">
                          <a:solidFill>
                            <a:srgbClr val="000000"/>
                          </a:solidFill>
                          <a:effectLst/>
                          <a:latin typeface="DengXian" panose="02010600030101010101" pitchFamily="2" charset="-122"/>
                          <a:ea typeface="DengXian" panose="02010600030101010101" pitchFamily="2" charset="-122"/>
                        </a:rPr>
                        <a:t>跨界整合</a:t>
                      </a:r>
                      <a:endParaRPr lang="zh-CN" altLang="en-US" sz="1300" b="0"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c>
                  <a:txBody>
                    <a:bodyPr/>
                    <a:lstStyle/>
                    <a:p>
                      <a:pPr algn="ctr" fontAlgn="ctr"/>
                      <a:r>
                        <a:rPr lang="zh-CN" altLang="en-US" sz="1300" b="0" i="0" u="none" strike="noStrike">
                          <a:solidFill>
                            <a:srgbClr val="000000"/>
                          </a:solidFill>
                          <a:effectLst/>
                          <a:latin typeface="DengXian" panose="02010600030101010101" pitchFamily="2" charset="-122"/>
                          <a:ea typeface="DengXian" panose="02010600030101010101" pitchFamily="2" charset="-122"/>
                        </a:rPr>
                        <a:t>内部整合</a:t>
                      </a:r>
                      <a:endParaRPr lang="zh-CN" altLang="en-US" sz="1300" b="0"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208550">
                <a:tc vMerge="1">
                  <a:tcPr/>
                </a:tc>
                <a:tc vMerge="1">
                  <a:tcPr/>
                </a:tc>
                <a:tc>
                  <a:txBody>
                    <a:bodyPr/>
                    <a:lstStyle/>
                    <a:p>
                      <a:pPr algn="ctr" fontAlgn="ctr"/>
                      <a:r>
                        <a:rPr lang="zh-CN" altLang="en-US" sz="1300" b="0" i="0" u="none" strike="noStrike" dirty="0">
                          <a:solidFill>
                            <a:srgbClr val="000000"/>
                          </a:solidFill>
                          <a:effectLst/>
                          <a:latin typeface="DengXian" panose="02010600030101010101" pitchFamily="2" charset="-122"/>
                          <a:ea typeface="DengXian" panose="02010600030101010101" pitchFamily="2" charset="-122"/>
                        </a:rPr>
                        <a:t>外部整合</a:t>
                      </a:r>
                      <a:endParaRPr lang="zh-CN" altLang="en-US" sz="1300" b="0"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208550">
                <a:tc rowSpan="6">
                  <a:txBody>
                    <a:bodyPr/>
                    <a:lstStyle/>
                    <a:p>
                      <a:pPr algn="ctr" fontAlgn="ctr"/>
                      <a:r>
                        <a:rPr lang="zh-CN" altLang="en-US" sz="1400" b="0" i="0" u="none" strike="noStrike" dirty="0">
                          <a:solidFill>
                            <a:srgbClr val="000000"/>
                          </a:solidFill>
                          <a:effectLst/>
                          <a:latin typeface="DengXian" panose="02010600030101010101" pitchFamily="2" charset="-122"/>
                          <a:ea typeface="DengXian" panose="02010600030101010101" pitchFamily="2" charset="-122"/>
                        </a:rPr>
                        <a:t>组织协同</a:t>
                      </a:r>
                      <a:br>
                        <a:rPr lang="zh-CN" altLang="en-US" sz="1400" b="0" i="0" u="none" strike="noStrike" dirty="0">
                          <a:solidFill>
                            <a:srgbClr val="000000"/>
                          </a:solidFill>
                          <a:effectLst/>
                          <a:latin typeface="DengXian" panose="02010600030101010101" pitchFamily="2" charset="-122"/>
                          <a:ea typeface="DengXian" panose="02010600030101010101" pitchFamily="2" charset="-122"/>
                        </a:rPr>
                      </a:br>
                      <a:r>
                        <a:rPr lang="zh-CN" altLang="en-US" sz="1400" b="0" i="0" u="none" strike="noStrike" dirty="0">
                          <a:solidFill>
                            <a:srgbClr val="000000"/>
                          </a:solidFill>
                          <a:effectLst/>
                          <a:latin typeface="DengXian" panose="02010600030101010101" pitchFamily="2" charset="-122"/>
                          <a:ea typeface="DengXian" panose="02010600030101010101" pitchFamily="2" charset="-122"/>
                        </a:rPr>
                        <a:t>（组织模式、管理机制、职能行使与其定位的匹配性和有效性）</a:t>
                      </a:r>
                      <a:endParaRPr lang="zh-CN" altLang="en-US" sz="1400" b="0"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rowSpan="2">
                  <a:txBody>
                    <a:bodyPr/>
                    <a:lstStyle/>
                    <a:p>
                      <a:pPr algn="ctr" fontAlgn="ctr"/>
                      <a:r>
                        <a:rPr lang="zh-CN" altLang="en-US" sz="1300" b="0" i="0" u="none" strike="noStrike">
                          <a:solidFill>
                            <a:srgbClr val="000000"/>
                          </a:solidFill>
                          <a:effectLst/>
                          <a:latin typeface="DengXian" panose="02010600030101010101" pitchFamily="2" charset="-122"/>
                          <a:ea typeface="DengXian" panose="02010600030101010101" pitchFamily="2" charset="-122"/>
                        </a:rPr>
                        <a:t>纵向一体</a:t>
                      </a:r>
                      <a:endParaRPr lang="zh-CN" altLang="en-US" sz="1300" b="0"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300" b="0" i="0" u="none" strike="noStrike">
                          <a:solidFill>
                            <a:srgbClr val="000000"/>
                          </a:solidFill>
                          <a:effectLst/>
                          <a:latin typeface="DengXian" panose="02010600030101010101" pitchFamily="2" charset="-122"/>
                          <a:ea typeface="DengXian" panose="02010600030101010101" pitchFamily="2" charset="-122"/>
                        </a:rPr>
                        <a:t>顶层驱动</a:t>
                      </a:r>
                      <a:endParaRPr lang="zh-CN" altLang="en-US" sz="1300" b="0"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08550">
                <a:tc vMerge="1">
                  <a:tcPr/>
                </a:tc>
                <a:tc vMerge="1">
                  <a:tcPr/>
                </a:tc>
                <a:tc>
                  <a:txBody>
                    <a:bodyPr/>
                    <a:lstStyle/>
                    <a:p>
                      <a:pPr algn="ctr" fontAlgn="ctr"/>
                      <a:r>
                        <a:rPr lang="zh-CN" altLang="en-US" sz="1300" b="0" i="0" u="none" strike="noStrike">
                          <a:solidFill>
                            <a:srgbClr val="000000"/>
                          </a:solidFill>
                          <a:effectLst/>
                          <a:latin typeface="DengXian" panose="02010600030101010101" pitchFamily="2" charset="-122"/>
                          <a:ea typeface="DengXian" panose="02010600030101010101" pitchFamily="2" charset="-122"/>
                        </a:rPr>
                        <a:t>体制理顺</a:t>
                      </a:r>
                      <a:endParaRPr lang="zh-CN" altLang="en-US" sz="1300" b="0"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08550">
                <a:tc vMerge="1">
                  <a:tcPr/>
                </a:tc>
                <a:tc rowSpan="2">
                  <a:txBody>
                    <a:bodyPr/>
                    <a:lstStyle/>
                    <a:p>
                      <a:pPr algn="ctr" fontAlgn="ctr"/>
                      <a:r>
                        <a:rPr lang="zh-CN" altLang="en-US" sz="1300" b="0" i="0" u="none" strike="noStrike">
                          <a:solidFill>
                            <a:srgbClr val="000000"/>
                          </a:solidFill>
                          <a:effectLst/>
                          <a:latin typeface="DengXian" panose="02010600030101010101" pitchFamily="2" charset="-122"/>
                          <a:ea typeface="DengXian" panose="02010600030101010101" pitchFamily="2" charset="-122"/>
                        </a:rPr>
                        <a:t>横向协调</a:t>
                      </a:r>
                      <a:endParaRPr lang="zh-CN" altLang="en-US" sz="1300" b="0"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300" b="0" i="0" u="none" strike="noStrike">
                          <a:solidFill>
                            <a:srgbClr val="000000"/>
                          </a:solidFill>
                          <a:effectLst/>
                          <a:latin typeface="DengXian" panose="02010600030101010101" pitchFamily="2" charset="-122"/>
                          <a:ea typeface="DengXian" panose="02010600030101010101" pitchFamily="2" charset="-122"/>
                        </a:rPr>
                        <a:t>跨界沟通</a:t>
                      </a:r>
                      <a:endParaRPr lang="zh-CN" altLang="en-US" sz="1300" b="0"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08550">
                <a:tc vMerge="1">
                  <a:tcPr/>
                </a:tc>
                <a:tc vMerge="1">
                  <a:tcPr/>
                </a:tc>
                <a:tc>
                  <a:txBody>
                    <a:bodyPr/>
                    <a:lstStyle/>
                    <a:p>
                      <a:pPr algn="ctr" fontAlgn="ctr"/>
                      <a:r>
                        <a:rPr lang="zh-CN" altLang="en-US" sz="1300" b="0" i="0" u="none" strike="noStrike">
                          <a:solidFill>
                            <a:srgbClr val="000000"/>
                          </a:solidFill>
                          <a:effectLst/>
                          <a:latin typeface="DengXian" panose="02010600030101010101" pitchFamily="2" charset="-122"/>
                          <a:ea typeface="DengXian" panose="02010600030101010101" pitchFamily="2" charset="-122"/>
                        </a:rPr>
                        <a:t>管理集成</a:t>
                      </a:r>
                      <a:endParaRPr lang="zh-CN" altLang="en-US" sz="1300" b="0"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08550">
                <a:tc vMerge="1">
                  <a:tcPr/>
                </a:tc>
                <a:tc rowSpan="2">
                  <a:txBody>
                    <a:bodyPr/>
                    <a:lstStyle/>
                    <a:p>
                      <a:pPr algn="ctr" fontAlgn="ctr"/>
                      <a:r>
                        <a:rPr lang="zh-CN" altLang="en-US" sz="1300" b="0" i="0" u="none" strike="noStrike">
                          <a:solidFill>
                            <a:srgbClr val="000000"/>
                          </a:solidFill>
                          <a:effectLst/>
                          <a:latin typeface="DengXian" panose="02010600030101010101" pitchFamily="2" charset="-122"/>
                          <a:ea typeface="DengXian" panose="02010600030101010101" pitchFamily="2" charset="-122"/>
                        </a:rPr>
                        <a:t>组织有效</a:t>
                      </a:r>
                      <a:endParaRPr lang="zh-CN" altLang="en-US" sz="1300" b="0"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300" b="0" i="0" u="none" strike="noStrike">
                          <a:solidFill>
                            <a:srgbClr val="000000"/>
                          </a:solidFill>
                          <a:effectLst/>
                          <a:latin typeface="DengXian" panose="02010600030101010101" pitchFamily="2" charset="-122"/>
                          <a:ea typeface="DengXian" panose="02010600030101010101" pitchFamily="2" charset="-122"/>
                        </a:rPr>
                        <a:t>职能匹配</a:t>
                      </a:r>
                      <a:endParaRPr lang="zh-CN" altLang="en-US" sz="1300" b="0"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08550">
                <a:tc vMerge="1">
                  <a:tcPr/>
                </a:tc>
                <a:tc vMerge="1">
                  <a:tcPr/>
                </a:tc>
                <a:tc>
                  <a:txBody>
                    <a:bodyPr/>
                    <a:lstStyle/>
                    <a:p>
                      <a:pPr algn="ctr" fontAlgn="ctr"/>
                      <a:r>
                        <a:rPr lang="zh-CN" altLang="en-US" sz="1300" b="0" i="0" u="none" strike="noStrike">
                          <a:solidFill>
                            <a:srgbClr val="000000"/>
                          </a:solidFill>
                          <a:effectLst/>
                          <a:latin typeface="DengXian" panose="02010600030101010101" pitchFamily="2" charset="-122"/>
                          <a:ea typeface="DengXian" panose="02010600030101010101" pitchFamily="2" charset="-122"/>
                        </a:rPr>
                        <a:t>团队胜任</a:t>
                      </a:r>
                      <a:endParaRPr lang="zh-CN" altLang="en-US" sz="1300" b="0"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08550">
                <a:tc rowSpan="8">
                  <a:txBody>
                    <a:bodyPr/>
                    <a:lstStyle/>
                    <a:p>
                      <a:pPr algn="ctr" fontAlgn="ctr"/>
                      <a:r>
                        <a:rPr lang="zh-CN" altLang="en-US" sz="1400" b="0" i="0" u="none" strike="noStrike" dirty="0">
                          <a:solidFill>
                            <a:srgbClr val="000000"/>
                          </a:solidFill>
                          <a:effectLst/>
                          <a:latin typeface="DengXian" panose="02010600030101010101" pitchFamily="2" charset="-122"/>
                          <a:ea typeface="DengXian" panose="02010600030101010101" pitchFamily="2" charset="-122"/>
                        </a:rPr>
                        <a:t>业务完备</a:t>
                      </a:r>
                      <a:br>
                        <a:rPr lang="zh-CN" altLang="en-US" sz="1400" b="0" i="0" u="none" strike="noStrike" dirty="0">
                          <a:solidFill>
                            <a:srgbClr val="000000"/>
                          </a:solidFill>
                          <a:effectLst/>
                          <a:latin typeface="DengXian" panose="02010600030101010101" pitchFamily="2" charset="-122"/>
                          <a:ea typeface="DengXian" panose="02010600030101010101" pitchFamily="2" charset="-122"/>
                        </a:rPr>
                      </a:br>
                      <a:r>
                        <a:rPr lang="zh-CN" altLang="en-US" sz="1400" b="0" i="0" u="none" strike="noStrike" dirty="0">
                          <a:solidFill>
                            <a:srgbClr val="000000"/>
                          </a:solidFill>
                          <a:effectLst/>
                          <a:latin typeface="DengXian" panose="02010600030101010101" pitchFamily="2" charset="-122"/>
                          <a:ea typeface="DengXian" panose="02010600030101010101" pitchFamily="2" charset="-122"/>
                        </a:rPr>
                        <a:t>（建立了系统、领先、实效的人才培养工具、内容和方法）</a:t>
                      </a:r>
                      <a:endParaRPr lang="zh-CN" altLang="en-US" sz="1400" b="0"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c rowSpan="3">
                  <a:txBody>
                    <a:bodyPr/>
                    <a:lstStyle/>
                    <a:p>
                      <a:pPr algn="ctr" fontAlgn="ctr"/>
                      <a:r>
                        <a:rPr lang="zh-CN" altLang="en-US" sz="1300" b="0" i="0" u="none" strike="noStrike" dirty="0">
                          <a:solidFill>
                            <a:srgbClr val="000000"/>
                          </a:solidFill>
                          <a:effectLst/>
                          <a:latin typeface="DengXian" panose="02010600030101010101" pitchFamily="2" charset="-122"/>
                          <a:ea typeface="DengXian" panose="02010600030101010101" pitchFamily="2" charset="-122"/>
                        </a:rPr>
                        <a:t>工具完备</a:t>
                      </a:r>
                      <a:endParaRPr lang="zh-CN" altLang="en-US" sz="1300" b="0"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c>
                  <a:txBody>
                    <a:bodyPr/>
                    <a:lstStyle/>
                    <a:p>
                      <a:pPr algn="ctr" fontAlgn="ctr"/>
                      <a:r>
                        <a:rPr lang="zh-CN" altLang="en-US" sz="1300" b="0" i="0" u="none" strike="noStrike" dirty="0">
                          <a:solidFill>
                            <a:srgbClr val="000000"/>
                          </a:solidFill>
                          <a:effectLst/>
                          <a:latin typeface="DengXian" panose="02010600030101010101" pitchFamily="2" charset="-122"/>
                          <a:ea typeface="DengXian" panose="02010600030101010101" pitchFamily="2" charset="-122"/>
                        </a:rPr>
                        <a:t>通道明确</a:t>
                      </a:r>
                      <a:endParaRPr lang="zh-CN" altLang="en-US" sz="1300" b="0"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208550">
                <a:tc vMerge="1">
                  <a:tcPr/>
                </a:tc>
                <a:tc vMerge="1">
                  <a:tcPr/>
                </a:tc>
                <a:tc>
                  <a:txBody>
                    <a:bodyPr/>
                    <a:lstStyle/>
                    <a:p>
                      <a:pPr algn="ctr" fontAlgn="ctr"/>
                      <a:r>
                        <a:rPr lang="zh-CN" altLang="en-US" sz="1300" b="0" i="0" u="none" strike="noStrike" dirty="0">
                          <a:solidFill>
                            <a:srgbClr val="000000"/>
                          </a:solidFill>
                          <a:effectLst/>
                          <a:latin typeface="DengXian" panose="02010600030101010101" pitchFamily="2" charset="-122"/>
                          <a:ea typeface="DengXian" panose="02010600030101010101" pitchFamily="2" charset="-122"/>
                        </a:rPr>
                        <a:t>标准清晰</a:t>
                      </a:r>
                      <a:endParaRPr lang="zh-CN" altLang="en-US" sz="1300" b="0"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208550">
                <a:tc vMerge="1">
                  <a:tcPr/>
                </a:tc>
                <a:tc vMerge="1">
                  <a:tcPr/>
                </a:tc>
                <a:tc>
                  <a:txBody>
                    <a:bodyPr/>
                    <a:lstStyle/>
                    <a:p>
                      <a:pPr algn="ctr" fontAlgn="ctr"/>
                      <a:r>
                        <a:rPr lang="zh-CN" altLang="en-US" sz="1300" b="0" i="0" u="none" strike="noStrike" dirty="0">
                          <a:solidFill>
                            <a:srgbClr val="000000"/>
                          </a:solidFill>
                          <a:effectLst/>
                          <a:latin typeface="DengXian" panose="02010600030101010101" pitchFamily="2" charset="-122"/>
                          <a:ea typeface="DengXian" panose="02010600030101010101" pitchFamily="2" charset="-122"/>
                        </a:rPr>
                        <a:t>评定完善</a:t>
                      </a:r>
                      <a:endParaRPr lang="zh-CN" altLang="en-US" sz="1300" b="0"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208550">
                <a:tc vMerge="1">
                  <a:tcPr/>
                </a:tc>
                <a:tc rowSpan="3">
                  <a:txBody>
                    <a:bodyPr/>
                    <a:lstStyle/>
                    <a:p>
                      <a:pPr algn="ctr" fontAlgn="ctr"/>
                      <a:r>
                        <a:rPr lang="zh-CN" altLang="en-US" sz="1300" b="0" i="0" u="none" strike="noStrike" dirty="0">
                          <a:solidFill>
                            <a:srgbClr val="000000"/>
                          </a:solidFill>
                          <a:effectLst/>
                          <a:latin typeface="DengXian" panose="02010600030101010101" pitchFamily="2" charset="-122"/>
                          <a:ea typeface="DengXian" panose="02010600030101010101" pitchFamily="2" charset="-122"/>
                        </a:rPr>
                        <a:t>内容契合</a:t>
                      </a:r>
                      <a:endParaRPr lang="zh-CN" altLang="en-US" sz="1300" b="0"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c>
                  <a:txBody>
                    <a:bodyPr/>
                    <a:lstStyle/>
                    <a:p>
                      <a:pPr algn="ctr" fontAlgn="ctr"/>
                      <a:r>
                        <a:rPr lang="zh-CN" altLang="en-US" sz="1300" b="0" i="0" u="none" strike="noStrike">
                          <a:solidFill>
                            <a:srgbClr val="000000"/>
                          </a:solidFill>
                          <a:effectLst/>
                          <a:latin typeface="DengXian" panose="02010600030101010101" pitchFamily="2" charset="-122"/>
                          <a:ea typeface="DengXian" panose="02010600030101010101" pitchFamily="2" charset="-122"/>
                        </a:rPr>
                        <a:t>标准衔接</a:t>
                      </a:r>
                      <a:endParaRPr lang="zh-CN" altLang="en-US" sz="1300" b="0"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208550">
                <a:tc vMerge="1">
                  <a:tcPr/>
                </a:tc>
                <a:tc vMerge="1">
                  <a:tcPr/>
                </a:tc>
                <a:tc>
                  <a:txBody>
                    <a:bodyPr/>
                    <a:lstStyle/>
                    <a:p>
                      <a:pPr algn="ctr" fontAlgn="ctr"/>
                      <a:r>
                        <a:rPr lang="zh-CN" altLang="en-US" sz="1300" b="0" i="0" u="none" strike="noStrike" dirty="0">
                          <a:solidFill>
                            <a:srgbClr val="000000"/>
                          </a:solidFill>
                          <a:effectLst/>
                          <a:latin typeface="DengXian" panose="02010600030101010101" pitchFamily="2" charset="-122"/>
                          <a:ea typeface="DengXian" panose="02010600030101010101" pitchFamily="2" charset="-122"/>
                        </a:rPr>
                        <a:t>实践对接</a:t>
                      </a:r>
                      <a:endParaRPr lang="zh-CN" altLang="en-US" sz="1300" b="0"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208550">
                <a:tc vMerge="1">
                  <a:tcPr/>
                </a:tc>
                <a:tc vMerge="1">
                  <a:tcPr/>
                </a:tc>
                <a:tc>
                  <a:txBody>
                    <a:bodyPr/>
                    <a:lstStyle/>
                    <a:p>
                      <a:pPr algn="ctr" fontAlgn="ctr"/>
                      <a:r>
                        <a:rPr lang="zh-CN" altLang="en-US" sz="1300" b="0" i="0" u="none" strike="noStrike" dirty="0">
                          <a:solidFill>
                            <a:srgbClr val="000000"/>
                          </a:solidFill>
                          <a:effectLst/>
                          <a:latin typeface="DengXian" panose="02010600030101010101" pitchFamily="2" charset="-122"/>
                          <a:ea typeface="DengXian" panose="02010600030101010101" pitchFamily="2" charset="-122"/>
                        </a:rPr>
                        <a:t>要素统一</a:t>
                      </a:r>
                      <a:endParaRPr lang="zh-CN" altLang="en-US" sz="1300" b="0"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208550">
                <a:tc vMerge="1">
                  <a:tcPr/>
                </a:tc>
                <a:tc rowSpan="2">
                  <a:txBody>
                    <a:bodyPr/>
                    <a:lstStyle/>
                    <a:p>
                      <a:pPr algn="ctr" fontAlgn="ctr"/>
                      <a:r>
                        <a:rPr lang="zh-CN" altLang="en-US" sz="1300" b="0" i="0" u="none" strike="noStrike">
                          <a:solidFill>
                            <a:srgbClr val="000000"/>
                          </a:solidFill>
                          <a:effectLst/>
                          <a:latin typeface="DengXian" panose="02010600030101010101" pitchFamily="2" charset="-122"/>
                          <a:ea typeface="DengXian" panose="02010600030101010101" pitchFamily="2" charset="-122"/>
                        </a:rPr>
                        <a:t>方法先进</a:t>
                      </a:r>
                      <a:endParaRPr lang="zh-CN" altLang="en-US" sz="1300" b="0"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c>
                  <a:txBody>
                    <a:bodyPr/>
                    <a:lstStyle/>
                    <a:p>
                      <a:pPr algn="ctr" fontAlgn="ctr"/>
                      <a:r>
                        <a:rPr lang="zh-CN" altLang="en-US" sz="1300" b="0" i="0" u="none" strike="noStrike" dirty="0">
                          <a:solidFill>
                            <a:srgbClr val="000000"/>
                          </a:solidFill>
                          <a:effectLst/>
                          <a:latin typeface="DengXian" panose="02010600030101010101" pitchFamily="2" charset="-122"/>
                          <a:ea typeface="DengXian" panose="02010600030101010101" pitchFamily="2" charset="-122"/>
                        </a:rPr>
                        <a:t>多元匹配</a:t>
                      </a:r>
                      <a:endParaRPr lang="zh-CN" altLang="en-US" sz="1300" b="0"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208550">
                <a:tc vMerge="1">
                  <a:tcPr/>
                </a:tc>
                <a:tc vMerge="1">
                  <a:tcPr/>
                </a:tc>
                <a:tc>
                  <a:txBody>
                    <a:bodyPr/>
                    <a:lstStyle/>
                    <a:p>
                      <a:pPr algn="ctr" fontAlgn="ctr"/>
                      <a:r>
                        <a:rPr lang="zh-CN" altLang="en-US" sz="1300" b="0" i="0" u="none" strike="noStrike" dirty="0">
                          <a:solidFill>
                            <a:srgbClr val="000000"/>
                          </a:solidFill>
                          <a:effectLst/>
                          <a:latin typeface="DengXian" panose="02010600030101010101" pitchFamily="2" charset="-122"/>
                          <a:ea typeface="DengXian" panose="02010600030101010101" pitchFamily="2" charset="-122"/>
                        </a:rPr>
                        <a:t>特色彰显</a:t>
                      </a:r>
                      <a:endParaRPr lang="zh-CN" altLang="en-US" sz="1300" b="0"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bl>
          </a:graphicData>
        </a:graphic>
      </p:graphicFrame>
      <p:sp>
        <p:nvSpPr>
          <p:cNvPr id="68" name="矩形 67"/>
          <p:cNvSpPr/>
          <p:nvPr/>
        </p:nvSpPr>
        <p:spPr>
          <a:xfrm>
            <a:off x="7166997" y="4703879"/>
            <a:ext cx="3956325" cy="830997"/>
          </a:xfrm>
          <a:prstGeom prst="rect">
            <a:avLst/>
          </a:prstGeom>
          <a:solidFill>
            <a:schemeClr val="bg2"/>
          </a:solidFill>
        </p:spPr>
        <p:txBody>
          <a:bodyPr wrap="square">
            <a:spAutoFit/>
          </a:bodyPr>
          <a:lstStyle/>
          <a:p>
            <a:r>
              <a:rPr lang="zh-CN" altLang="en-US" sz="1600" dirty="0"/>
              <a:t>培养项目的开发和实施与人才培养标准、经营管理实践紧密对接，并将成功因素进行标准化推广</a:t>
            </a:r>
            <a:endParaRPr lang="zh-CN" altLang="en-US" sz="1600" dirty="0"/>
          </a:p>
        </p:txBody>
      </p:sp>
      <p:sp>
        <p:nvSpPr>
          <p:cNvPr id="69" name="文本框 68"/>
          <p:cNvSpPr txBox="1"/>
          <p:nvPr/>
        </p:nvSpPr>
        <p:spPr>
          <a:xfrm>
            <a:off x="7059557" y="4359304"/>
            <a:ext cx="1218603" cy="338554"/>
          </a:xfrm>
          <a:prstGeom prst="rect">
            <a:avLst/>
          </a:prstGeom>
          <a:noFill/>
        </p:spPr>
        <p:txBody>
          <a:bodyPr wrap="none" rtlCol="0">
            <a:spAutoFit/>
          </a:bodyPr>
          <a:lstStyle/>
          <a:p>
            <a:r>
              <a:rPr kumimoji="1" lang="zh-CN" altLang="en-US" sz="1600" dirty="0">
                <a:latin typeface="宋体" pitchFamily="2" charset="-122"/>
                <a:ea typeface="宋体" pitchFamily="2" charset="-122"/>
              </a:rPr>
              <a:t>标杆做法：</a:t>
            </a:r>
            <a:endParaRPr kumimoji="1" lang="zh-CN" altLang="en-US" sz="1600" dirty="0">
              <a:latin typeface="宋体" pitchFamily="2" charset="-122"/>
              <a:ea typeface="宋体" pitchFamily="2" charset="-122"/>
            </a:endParaRPr>
          </a:p>
        </p:txBody>
      </p:sp>
      <p:sp>
        <p:nvSpPr>
          <p:cNvPr id="71" name="矩形 70"/>
          <p:cNvSpPr/>
          <p:nvPr/>
        </p:nvSpPr>
        <p:spPr>
          <a:xfrm>
            <a:off x="7176233" y="3407775"/>
            <a:ext cx="3964962" cy="830997"/>
          </a:xfrm>
          <a:prstGeom prst="rect">
            <a:avLst/>
          </a:prstGeom>
          <a:solidFill>
            <a:schemeClr val="bg2"/>
          </a:solidFill>
        </p:spPr>
        <p:txBody>
          <a:bodyPr wrap="square">
            <a:spAutoFit/>
          </a:bodyPr>
          <a:lstStyle/>
          <a:p>
            <a:r>
              <a:rPr lang="zh-CN" altLang="en-US" sz="1600" dirty="0"/>
              <a:t>职能设置及运行匹配企业大学的功能定位及能力要求，运营管理团队理念先进，能力胜任</a:t>
            </a:r>
            <a:endParaRPr lang="zh-CN" altLang="en-US" sz="1600" dirty="0"/>
          </a:p>
        </p:txBody>
      </p:sp>
      <p:sp>
        <p:nvSpPr>
          <p:cNvPr id="72" name="文本框 71"/>
          <p:cNvSpPr txBox="1"/>
          <p:nvPr/>
        </p:nvSpPr>
        <p:spPr>
          <a:xfrm>
            <a:off x="7079396" y="3050883"/>
            <a:ext cx="1218603" cy="338554"/>
          </a:xfrm>
          <a:prstGeom prst="rect">
            <a:avLst/>
          </a:prstGeom>
          <a:noFill/>
        </p:spPr>
        <p:txBody>
          <a:bodyPr wrap="none" rtlCol="0">
            <a:spAutoFit/>
          </a:bodyPr>
          <a:lstStyle/>
          <a:p>
            <a:r>
              <a:rPr kumimoji="1" lang="zh-CN" altLang="en-US" sz="1600" dirty="0">
                <a:latin typeface="宋体" pitchFamily="2" charset="-122"/>
                <a:ea typeface="宋体" pitchFamily="2" charset="-122"/>
              </a:rPr>
              <a:t>标杆做法：</a:t>
            </a:r>
            <a:endParaRPr kumimoji="1" lang="zh-CN" altLang="en-US" sz="1600" dirty="0">
              <a:latin typeface="宋体" pitchFamily="2" charset="-122"/>
              <a:ea typeface="宋体" pitchFamily="2" charset="-122"/>
            </a:endParaRPr>
          </a:p>
        </p:txBody>
      </p:sp>
      <p:sp>
        <p:nvSpPr>
          <p:cNvPr id="73" name="矩形 72"/>
          <p:cNvSpPr/>
          <p:nvPr/>
        </p:nvSpPr>
        <p:spPr>
          <a:xfrm>
            <a:off x="7166997" y="2314297"/>
            <a:ext cx="3964962" cy="584775"/>
          </a:xfrm>
          <a:prstGeom prst="rect">
            <a:avLst/>
          </a:prstGeom>
          <a:solidFill>
            <a:schemeClr val="bg2"/>
          </a:solidFill>
        </p:spPr>
        <p:txBody>
          <a:bodyPr wrap="square">
            <a:spAutoFit/>
          </a:bodyPr>
          <a:lstStyle/>
          <a:p>
            <a:r>
              <a:rPr lang="zh-CN" altLang="en-US" sz="1600" dirty="0"/>
              <a:t>对接企业业务发展及管理改善的关键需求和绩效提升，提供问题解决型学习方案</a:t>
            </a:r>
            <a:endParaRPr lang="zh-CN" altLang="en-US" sz="1600" dirty="0"/>
          </a:p>
        </p:txBody>
      </p:sp>
      <p:sp>
        <p:nvSpPr>
          <p:cNvPr id="74" name="文本框 73"/>
          <p:cNvSpPr txBox="1"/>
          <p:nvPr/>
        </p:nvSpPr>
        <p:spPr>
          <a:xfrm>
            <a:off x="7133861" y="1957271"/>
            <a:ext cx="1218603" cy="338554"/>
          </a:xfrm>
          <a:prstGeom prst="rect">
            <a:avLst/>
          </a:prstGeom>
          <a:noFill/>
        </p:spPr>
        <p:txBody>
          <a:bodyPr wrap="none" rtlCol="0">
            <a:spAutoFit/>
          </a:bodyPr>
          <a:lstStyle/>
          <a:p>
            <a:r>
              <a:rPr kumimoji="1" lang="zh-CN" altLang="en-US" sz="1600" dirty="0">
                <a:latin typeface="宋体" pitchFamily="2" charset="-122"/>
                <a:ea typeface="宋体" pitchFamily="2" charset="-122"/>
              </a:rPr>
              <a:t>标杆做法：</a:t>
            </a:r>
            <a:endParaRPr kumimoji="1" lang="zh-CN" altLang="en-US" sz="1600" dirty="0">
              <a:latin typeface="宋体" pitchFamily="2" charset="-122"/>
              <a:ea typeface="宋体" pitchFamily="2" charset="-122"/>
            </a:endParaRPr>
          </a:p>
        </p:txBody>
      </p:sp>
      <p:sp>
        <p:nvSpPr>
          <p:cNvPr id="75" name="圆角矩形 74"/>
          <p:cNvSpPr/>
          <p:nvPr/>
        </p:nvSpPr>
        <p:spPr>
          <a:xfrm>
            <a:off x="3911651" y="2462933"/>
            <a:ext cx="2953195" cy="323493"/>
          </a:xfrm>
          <a:prstGeom prst="roundRect">
            <a:avLst/>
          </a:prstGeom>
          <a:noFill/>
          <a:ln>
            <a:solidFill>
              <a:srgbClr val="C00000"/>
            </a:solidFill>
          </a:ln>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76" name="圆角矩形 75"/>
          <p:cNvSpPr/>
          <p:nvPr/>
        </p:nvSpPr>
        <p:spPr>
          <a:xfrm>
            <a:off x="3911651" y="4549899"/>
            <a:ext cx="2953195" cy="323493"/>
          </a:xfrm>
          <a:prstGeom prst="roundRect">
            <a:avLst/>
          </a:prstGeom>
          <a:noFill/>
          <a:ln>
            <a:solidFill>
              <a:srgbClr val="C00000"/>
            </a:solidFill>
          </a:ln>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77" name="圆角矩形 76"/>
          <p:cNvSpPr/>
          <p:nvPr/>
        </p:nvSpPr>
        <p:spPr>
          <a:xfrm>
            <a:off x="3922254" y="5625612"/>
            <a:ext cx="2953195" cy="323493"/>
          </a:xfrm>
          <a:prstGeom prst="roundRect">
            <a:avLst/>
          </a:prstGeom>
          <a:noFill/>
          <a:ln>
            <a:solidFill>
              <a:srgbClr val="C00000"/>
            </a:solidFill>
          </a:ln>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52DF7D90-B49A-4800-BC0D-FE9A7C3546DE}" type="slidenum">
              <a:rPr lang="zh-CN" altLang="en-US" smtClean="0"/>
            </a:fld>
            <a:endParaRPr lang="en-US" altLang="zh-CN"/>
          </a:p>
        </p:txBody>
      </p:sp>
      <p:sp>
        <p:nvSpPr>
          <p:cNvPr id="3" name="标题 2"/>
          <p:cNvSpPr>
            <a:spLocks noGrp="1"/>
          </p:cNvSpPr>
          <p:nvPr>
            <p:ph type="title"/>
          </p:nvPr>
        </p:nvSpPr>
        <p:spPr>
          <a:xfrm>
            <a:off x="689708" y="688285"/>
            <a:ext cx="10515600" cy="685522"/>
          </a:xfrm>
        </p:spPr>
        <p:txBody>
          <a:bodyPr>
            <a:normAutofit/>
          </a:bodyPr>
          <a:lstStyle/>
          <a:p>
            <a:r>
              <a:rPr kumimoji="1" lang="zh-CN" altLang="en-US" sz="1800" dirty="0"/>
              <a:t>发现</a:t>
            </a:r>
            <a:r>
              <a:rPr kumimoji="1" lang="en-US" altLang="zh-CN" sz="1800" dirty="0"/>
              <a:t>3</a:t>
            </a:r>
            <a:r>
              <a:rPr kumimoji="1" lang="zh-CN" altLang="en-US" sz="1800" dirty="0"/>
              <a:t>：续 </a:t>
            </a:r>
            <a:endParaRPr kumimoji="1" lang="zh-CN" altLang="en-US" sz="1800" dirty="0"/>
          </a:p>
        </p:txBody>
      </p:sp>
      <p:sp>
        <p:nvSpPr>
          <p:cNvPr id="38" name="标题 1"/>
          <p:cNvSpPr txBox="1"/>
          <p:nvPr/>
        </p:nvSpPr>
        <p:spPr>
          <a:xfrm>
            <a:off x="689708" y="428889"/>
            <a:ext cx="10830169" cy="184666"/>
          </a:xfrm>
          <a:prstGeom prst="rect">
            <a:avLst/>
          </a:prstGeom>
        </p:spPr>
        <p:txBody>
          <a:bodyPr vert="horz" lIns="91440" tIns="45720" rIns="91440" bIns="45720" rtlCol="0" anchor="ctr">
            <a:noAutofit/>
          </a:bodyPr>
          <a:lstStyle>
            <a:lvl1pPr algn="l" rtl="0" eaLnBrk="0" fontAlgn="base" hangingPunct="0">
              <a:spcBef>
                <a:spcPct val="0"/>
              </a:spcBef>
              <a:spcAft>
                <a:spcPct val="0"/>
              </a:spcAft>
              <a:defRPr sz="2200" b="1">
                <a:solidFill>
                  <a:srgbClr val="000000"/>
                </a:solidFill>
                <a:latin typeface="STZhongsong" panose="02010600040101010101" pitchFamily="2" charset="-122"/>
                <a:ea typeface="STZhongsong" panose="02010600040101010101" pitchFamily="2" charset="-122"/>
                <a:cs typeface="+mj-cs"/>
              </a:defRPr>
            </a:lvl1pPr>
            <a:lvl2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2pPr>
            <a:lvl3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3pPr>
            <a:lvl4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4pPr>
            <a:lvl5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5pPr>
            <a:lvl6pPr marL="457200" algn="l" rtl="0" fontAlgn="base">
              <a:spcBef>
                <a:spcPct val="0"/>
              </a:spcBef>
              <a:spcAft>
                <a:spcPct val="0"/>
              </a:spcAft>
              <a:defRPr sz="1900" b="1">
                <a:solidFill>
                  <a:srgbClr val="000000"/>
                </a:solidFill>
                <a:latin typeface="Arial" panose="020B0604020202090204" pitchFamily="34" charset="0"/>
                <a:ea typeface="윤고딕130" pitchFamily="18" charset="-127"/>
              </a:defRPr>
            </a:lvl6pPr>
            <a:lvl7pPr marL="914400" algn="l" rtl="0" fontAlgn="base">
              <a:spcBef>
                <a:spcPct val="0"/>
              </a:spcBef>
              <a:spcAft>
                <a:spcPct val="0"/>
              </a:spcAft>
              <a:defRPr sz="1900" b="1">
                <a:solidFill>
                  <a:srgbClr val="000000"/>
                </a:solidFill>
                <a:latin typeface="Arial" panose="020B0604020202090204" pitchFamily="34" charset="0"/>
                <a:ea typeface="윤고딕130" pitchFamily="18" charset="-127"/>
              </a:defRPr>
            </a:lvl7pPr>
            <a:lvl8pPr marL="1371600" algn="l" rtl="0" fontAlgn="base">
              <a:spcBef>
                <a:spcPct val="0"/>
              </a:spcBef>
              <a:spcAft>
                <a:spcPct val="0"/>
              </a:spcAft>
              <a:defRPr sz="1900" b="1">
                <a:solidFill>
                  <a:srgbClr val="000000"/>
                </a:solidFill>
                <a:latin typeface="Arial" panose="020B0604020202090204" pitchFamily="34" charset="0"/>
                <a:ea typeface="윤고딕130" pitchFamily="18" charset="-127"/>
              </a:defRPr>
            </a:lvl8pPr>
            <a:lvl9pPr marL="1828800" algn="l" rtl="0" fontAlgn="base">
              <a:spcBef>
                <a:spcPct val="0"/>
              </a:spcBef>
              <a:spcAft>
                <a:spcPct val="0"/>
              </a:spcAft>
              <a:defRPr sz="1900" b="1">
                <a:solidFill>
                  <a:srgbClr val="000000"/>
                </a:solidFill>
                <a:latin typeface="Arial" panose="020B0604020202090204" pitchFamily="34" charset="0"/>
                <a:ea typeface="윤고딕130" pitchFamily="18" charset="-127"/>
              </a:defRPr>
            </a:lvl9pPr>
          </a:lstStyle>
          <a:p>
            <a:r>
              <a:rPr lang="en-US" altLang="zh-CN" sz="2000" dirty="0">
                <a:cs typeface="+mn-ea"/>
                <a:sym typeface="+mn-lt"/>
              </a:rPr>
              <a:t>T</a:t>
            </a:r>
            <a:r>
              <a:rPr lang="zh-CN" altLang="en-US" sz="2000" dirty="0">
                <a:cs typeface="+mn-ea"/>
                <a:sym typeface="+mn-lt"/>
              </a:rPr>
              <a:t> 劣势</a:t>
            </a:r>
            <a:r>
              <a:rPr lang="en-US" altLang="zh-CN" sz="2000" dirty="0">
                <a:cs typeface="+mn-ea"/>
                <a:sym typeface="+mn-lt"/>
              </a:rPr>
              <a:t>3-</a:t>
            </a:r>
            <a:r>
              <a:rPr lang="zh-CN" altLang="zh-CN" sz="2000" dirty="0"/>
              <a:t>教育培训体系成熟度有待提高，长短板明显</a:t>
            </a:r>
            <a:endParaRPr lang="zh-CN" altLang="zh-CN" sz="2000" dirty="0"/>
          </a:p>
        </p:txBody>
      </p:sp>
      <p:sp>
        <p:nvSpPr>
          <p:cNvPr id="39" name="文本框 38"/>
          <p:cNvSpPr txBox="1"/>
          <p:nvPr/>
        </p:nvSpPr>
        <p:spPr>
          <a:xfrm>
            <a:off x="7958693" y="6547208"/>
            <a:ext cx="2582758" cy="261610"/>
          </a:xfrm>
          <a:prstGeom prst="rect">
            <a:avLst/>
          </a:prstGeom>
          <a:noFill/>
        </p:spPr>
        <p:txBody>
          <a:bodyPr wrap="none" rtlCol="0">
            <a:spAutoFit/>
          </a:bodyPr>
          <a:lstStyle/>
          <a:p>
            <a:r>
              <a:rPr kumimoji="1" lang="zh-CN" altLang="en-US" sz="1100" b="0" dirty="0">
                <a:latin typeface="宋体" pitchFamily="2" charset="-122"/>
                <a:ea typeface="宋体" pitchFamily="2" charset="-122"/>
              </a:rPr>
              <a:t>来源：模型来自上海交大海外教育学院</a:t>
            </a:r>
            <a:endParaRPr kumimoji="1" lang="zh-CN" altLang="en-US" sz="1100" b="0" dirty="0">
              <a:latin typeface="宋体" pitchFamily="2" charset="-122"/>
              <a:ea typeface="宋体" pitchFamily="2" charset="-122"/>
            </a:endParaRPr>
          </a:p>
        </p:txBody>
      </p:sp>
      <p:graphicFrame>
        <p:nvGraphicFramePr>
          <p:cNvPr id="16" name="表格 15"/>
          <p:cNvGraphicFramePr>
            <a:graphicFrameLocks noGrp="1"/>
          </p:cNvGraphicFramePr>
          <p:nvPr/>
        </p:nvGraphicFramePr>
        <p:xfrm>
          <a:off x="1492188" y="1344004"/>
          <a:ext cx="5450676" cy="208550"/>
        </p:xfrm>
        <a:graphic>
          <a:graphicData uri="http://schemas.openxmlformats.org/drawingml/2006/table">
            <a:tbl>
              <a:tblPr/>
              <a:tblGrid>
                <a:gridCol w="2576437"/>
                <a:gridCol w="1333535"/>
                <a:gridCol w="1540704"/>
              </a:tblGrid>
              <a:tr h="208550">
                <a:tc>
                  <a:txBody>
                    <a:bodyPr/>
                    <a:lstStyle/>
                    <a:p>
                      <a:pPr algn="ctr" fontAlgn="ctr"/>
                      <a:r>
                        <a:rPr lang="zh-CN" altLang="en-US" sz="1300" b="1" i="0" u="none" strike="noStrike" dirty="0">
                          <a:solidFill>
                            <a:srgbClr val="000000"/>
                          </a:solidFill>
                          <a:effectLst/>
                          <a:latin typeface="DengXian" panose="02010600030101010101" pitchFamily="2" charset="-122"/>
                          <a:ea typeface="DengXian" panose="02010600030101010101" pitchFamily="2" charset="-122"/>
                        </a:rPr>
                        <a:t>一级指标</a:t>
                      </a:r>
                      <a:endParaRPr lang="zh-CN" altLang="en-US" sz="1300" b="1"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A5A5A5"/>
                    </a:solidFill>
                  </a:tcPr>
                </a:tc>
                <a:tc>
                  <a:txBody>
                    <a:bodyPr/>
                    <a:lstStyle/>
                    <a:p>
                      <a:pPr algn="ctr" fontAlgn="ctr"/>
                      <a:r>
                        <a:rPr lang="zh-CN" altLang="en-US" sz="1300" b="1" i="0" u="none" strike="noStrike">
                          <a:solidFill>
                            <a:srgbClr val="000000"/>
                          </a:solidFill>
                          <a:effectLst/>
                          <a:latin typeface="DengXian" panose="02010600030101010101" pitchFamily="2" charset="-122"/>
                          <a:ea typeface="DengXian" panose="02010600030101010101" pitchFamily="2" charset="-122"/>
                        </a:rPr>
                        <a:t>二级指标</a:t>
                      </a:r>
                      <a:endParaRPr lang="zh-CN" altLang="en-US" sz="1300" b="1" i="0" u="none" strike="noStrike">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A5A5A5"/>
                    </a:solidFill>
                  </a:tcPr>
                </a:tc>
                <a:tc>
                  <a:txBody>
                    <a:bodyPr/>
                    <a:lstStyle/>
                    <a:p>
                      <a:pPr algn="ctr" fontAlgn="ctr"/>
                      <a:r>
                        <a:rPr lang="zh-CN" altLang="en-US" sz="1300" b="1" i="0" u="none" strike="noStrike" dirty="0">
                          <a:solidFill>
                            <a:srgbClr val="000000"/>
                          </a:solidFill>
                          <a:effectLst/>
                          <a:latin typeface="DengXian" panose="02010600030101010101" pitchFamily="2" charset="-122"/>
                          <a:ea typeface="DengXian" panose="02010600030101010101" pitchFamily="2" charset="-122"/>
                        </a:rPr>
                        <a:t>三级指标</a:t>
                      </a:r>
                      <a:endParaRPr lang="zh-CN" altLang="en-US" sz="1300" b="1" i="0" u="none" strike="noStrike" dirty="0">
                        <a:solidFill>
                          <a:srgbClr val="000000"/>
                        </a:solidFill>
                        <a:effectLst/>
                        <a:latin typeface="DengXian" panose="02010600030101010101" pitchFamily="2" charset="-122"/>
                        <a:ea typeface="DengXian" panose="02010600030101010101" pitchFamily="2" charset="-122"/>
                      </a:endParaRPr>
                    </a:p>
                  </a:txBody>
                  <a:tcPr marL="421" marR="421" marT="342"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A5A5A5"/>
                    </a:solidFill>
                  </a:tcPr>
                </a:tc>
              </a:tr>
            </a:tbl>
          </a:graphicData>
        </a:graphic>
      </p:graphicFrame>
      <p:graphicFrame>
        <p:nvGraphicFramePr>
          <p:cNvPr id="21" name="表格 20"/>
          <p:cNvGraphicFramePr>
            <a:graphicFrameLocks noGrp="1"/>
          </p:cNvGraphicFramePr>
          <p:nvPr/>
        </p:nvGraphicFramePr>
        <p:xfrm>
          <a:off x="1492187" y="1567420"/>
          <a:ext cx="5450676" cy="5128508"/>
        </p:xfrm>
        <a:graphic>
          <a:graphicData uri="http://schemas.openxmlformats.org/drawingml/2006/table">
            <a:tbl>
              <a:tblPr/>
              <a:tblGrid>
                <a:gridCol w="2576438"/>
                <a:gridCol w="1333537"/>
                <a:gridCol w="1540701"/>
              </a:tblGrid>
              <a:tr h="177784">
                <a:tc rowSpan="6">
                  <a:txBody>
                    <a:bodyPr/>
                    <a:lstStyle/>
                    <a:p>
                      <a:pPr algn="ctr" fontAlgn="ctr"/>
                      <a:r>
                        <a:rPr lang="zh-CN" altLang="en-US" sz="1400" b="0" i="0" u="none" strike="noStrike" dirty="0">
                          <a:solidFill>
                            <a:srgbClr val="000000"/>
                          </a:solidFill>
                          <a:effectLst/>
                          <a:latin typeface="DengXian" panose="02010600030101010101" pitchFamily="2" charset="-122"/>
                          <a:ea typeface="DengXian" panose="02010600030101010101" pitchFamily="2" charset="-122"/>
                        </a:rPr>
                        <a:t>知识集成</a:t>
                      </a:r>
                      <a:br>
                        <a:rPr lang="zh-CN" altLang="en-US" sz="1400" b="0" i="0" u="none" strike="noStrike" dirty="0">
                          <a:solidFill>
                            <a:srgbClr val="000000"/>
                          </a:solidFill>
                          <a:effectLst/>
                          <a:latin typeface="DengXian" panose="02010600030101010101" pitchFamily="2" charset="-122"/>
                          <a:ea typeface="DengXian" panose="02010600030101010101" pitchFamily="2" charset="-122"/>
                        </a:rPr>
                      </a:br>
                      <a:r>
                        <a:rPr lang="zh-CN" altLang="en-US" sz="1400" b="0" i="0" u="none" strike="noStrike" dirty="0">
                          <a:solidFill>
                            <a:srgbClr val="000000"/>
                          </a:solidFill>
                          <a:effectLst/>
                          <a:latin typeface="DengXian" panose="02010600030101010101" pitchFamily="2" charset="-122"/>
                          <a:ea typeface="DengXian" panose="02010600030101010101" pitchFamily="2" charset="-122"/>
                        </a:rPr>
                        <a:t>（推动员工知识生产、存储、分享、应用和创新并成为人才培养最佳实践）</a:t>
                      </a:r>
                      <a:endParaRPr lang="zh-CN" altLang="en-US" sz="14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rowSpan="2">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知识管理</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载体建设</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177784">
                <a:tc vMerge="1">
                  <a:tcPr/>
                </a:tc>
                <a:tc vMerge="1">
                  <a:tcPr/>
                </a:tc>
                <a:tc>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机制匹配</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177784">
                <a:tc vMerge="1">
                  <a:tcPr/>
                </a:tc>
                <a:tc rowSpan="2">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知识创新</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主动参与</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177784">
                <a:tc vMerge="1">
                  <a:tcPr/>
                </a:tc>
                <a:tc vMerge="1">
                  <a:tcPr/>
                </a:tc>
                <a:tc>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知识沉淀</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177784">
                <a:tc vMerge="1">
                  <a:tcPr/>
                </a:tc>
                <a:tc rowSpan="2">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知识运营</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应用密度</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177784">
                <a:tc vMerge="1">
                  <a:tcPr/>
                </a:tc>
                <a:tc vMerge="1">
                  <a:tcPr/>
                </a:tc>
                <a:tc>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应用深度</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177784">
                <a:tc rowSpan="6">
                  <a:txBody>
                    <a:bodyPr/>
                    <a:lstStyle/>
                    <a:p>
                      <a:pPr algn="ctr" fontAlgn="ctr"/>
                      <a:r>
                        <a:rPr lang="zh-CN" altLang="en-US" sz="1400" b="0" i="0" u="none" strike="noStrike" dirty="0">
                          <a:solidFill>
                            <a:srgbClr val="000000"/>
                          </a:solidFill>
                          <a:effectLst/>
                          <a:latin typeface="DengXian" panose="02010600030101010101" pitchFamily="2" charset="-122"/>
                          <a:ea typeface="DengXian" panose="02010600030101010101" pitchFamily="2" charset="-122"/>
                        </a:rPr>
                        <a:t>资源匹配</a:t>
                      </a:r>
                      <a:br>
                        <a:rPr lang="zh-CN" altLang="en-US" sz="1400" b="0" i="0" u="none" strike="noStrike" dirty="0">
                          <a:solidFill>
                            <a:srgbClr val="000000"/>
                          </a:solidFill>
                          <a:effectLst/>
                          <a:latin typeface="DengXian" panose="02010600030101010101" pitchFamily="2" charset="-122"/>
                          <a:ea typeface="DengXian" panose="02010600030101010101" pitchFamily="2" charset="-122"/>
                        </a:rPr>
                      </a:br>
                      <a:r>
                        <a:rPr lang="zh-CN" altLang="en-US" sz="1400" b="0" i="0" u="none" strike="noStrike" dirty="0">
                          <a:solidFill>
                            <a:srgbClr val="000000"/>
                          </a:solidFill>
                          <a:effectLst/>
                          <a:latin typeface="DengXian" panose="02010600030101010101" pitchFamily="2" charset="-122"/>
                          <a:ea typeface="DengXian" panose="02010600030101010101" pitchFamily="2" charset="-122"/>
                        </a:rPr>
                        <a:t>（师资队伍、实训设施、基础设施满足需求并有效利用）</a:t>
                      </a:r>
                      <a:endParaRPr lang="zh-CN" altLang="en-US" sz="14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c rowSpan="3">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师资雄厚</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c>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机制完善</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177784">
                <a:tc vMerge="1">
                  <a:tcPr/>
                </a:tc>
                <a:tc vMerge="1">
                  <a:tcPr/>
                </a:tc>
                <a:tc>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结构合理</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177784">
                <a:tc vMerge="1">
                  <a:tcPr/>
                </a:tc>
                <a:tc vMerge="1">
                  <a:tcPr/>
                </a:tc>
                <a:tc>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品牌师资</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177784">
                <a:tc vMerge="1">
                  <a:tcPr/>
                </a:tc>
                <a:tc rowSpan="3">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服务完善</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c>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实施匹配</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177784">
                <a:tc vMerge="1">
                  <a:tcPr/>
                </a:tc>
                <a:tc vMerge="1">
                  <a:tcPr/>
                </a:tc>
                <a:tc>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基础完善</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177784">
                <a:tc vMerge="1">
                  <a:tcPr/>
                </a:tc>
                <a:tc vMerge="1">
                  <a:tcPr/>
                </a:tc>
                <a:tc>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有效服务</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177784">
                <a:tc rowSpan="6">
                  <a:txBody>
                    <a:bodyPr/>
                    <a:lstStyle/>
                    <a:p>
                      <a:pPr algn="ctr" fontAlgn="ctr"/>
                      <a:r>
                        <a:rPr lang="zh-CN" altLang="en-US" sz="1400" b="0" i="0" u="none" strike="noStrike" dirty="0">
                          <a:solidFill>
                            <a:srgbClr val="000000"/>
                          </a:solidFill>
                          <a:effectLst/>
                          <a:latin typeface="DengXian" panose="02010600030101010101" pitchFamily="2" charset="-122"/>
                          <a:ea typeface="DengXian" panose="02010600030101010101" pitchFamily="2" charset="-122"/>
                        </a:rPr>
                        <a:t>精益运营</a:t>
                      </a:r>
                      <a:br>
                        <a:rPr lang="zh-CN" altLang="en-US" sz="1400" b="0" i="0" u="none" strike="noStrike" dirty="0">
                          <a:solidFill>
                            <a:srgbClr val="000000"/>
                          </a:solidFill>
                          <a:effectLst/>
                          <a:latin typeface="DengXian" panose="02010600030101010101" pitchFamily="2" charset="-122"/>
                          <a:ea typeface="DengXian" panose="02010600030101010101" pitchFamily="2" charset="-122"/>
                        </a:rPr>
                      </a:br>
                      <a:r>
                        <a:rPr lang="zh-CN" altLang="en-US" sz="1400" b="0" i="0" u="none" strike="noStrike" dirty="0">
                          <a:solidFill>
                            <a:srgbClr val="000000"/>
                          </a:solidFill>
                          <a:effectLst/>
                          <a:latin typeface="DengXian" panose="02010600030101010101" pitchFamily="2" charset="-122"/>
                          <a:ea typeface="DengXian" panose="02010600030101010101" pitchFamily="2" charset="-122"/>
                        </a:rPr>
                        <a:t>（创新形成培训项目精益开发、实施的模式与做法）</a:t>
                      </a:r>
                      <a:endParaRPr lang="zh-CN" altLang="en-US" sz="14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rowSpan="2">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精致开发</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方式创新</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177784">
                <a:tc vMerge="1">
                  <a:tcPr/>
                </a:tc>
                <a:tc vMerge="1">
                  <a:tcPr/>
                </a:tc>
                <a:tc>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标杆项目</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177784">
                <a:tc vMerge="1">
                  <a:tcPr/>
                </a:tc>
                <a:tc rowSpan="2">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精细实施</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优化实施</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177784">
                <a:tc vMerge="1">
                  <a:tcPr/>
                </a:tc>
                <a:tc vMerge="1">
                  <a:tcPr/>
                </a:tc>
                <a:tc>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创新评估</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177784">
                <a:tc vMerge="1">
                  <a:tcPr/>
                </a:tc>
                <a:tc rowSpan="2">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高效支撑</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平台建设</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177784">
                <a:tc vMerge="1">
                  <a:tcPr/>
                </a:tc>
                <a:tc vMerge="1">
                  <a:tcPr/>
                </a:tc>
                <a:tc>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有效运用</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177784">
                <a:tc rowSpan="10">
                  <a:txBody>
                    <a:bodyPr/>
                    <a:lstStyle/>
                    <a:p>
                      <a:pPr algn="ctr" fontAlgn="ctr"/>
                      <a:r>
                        <a:rPr lang="zh-CN" altLang="en-US" sz="1400" b="0" i="0" u="none" strike="noStrike" dirty="0">
                          <a:solidFill>
                            <a:srgbClr val="000000"/>
                          </a:solidFill>
                          <a:effectLst/>
                          <a:latin typeface="DengXian" panose="02010600030101010101" pitchFamily="2" charset="-122"/>
                          <a:ea typeface="DengXian" panose="02010600030101010101" pitchFamily="2" charset="-122"/>
                        </a:rPr>
                        <a:t>价值彰显</a:t>
                      </a:r>
                      <a:br>
                        <a:rPr lang="zh-CN" altLang="en-US" sz="1400" b="0" i="0" u="none" strike="noStrike" dirty="0">
                          <a:solidFill>
                            <a:srgbClr val="000000"/>
                          </a:solidFill>
                          <a:effectLst/>
                          <a:latin typeface="DengXian" panose="02010600030101010101" pitchFamily="2" charset="-122"/>
                          <a:ea typeface="DengXian" panose="02010600030101010101" pitchFamily="2" charset="-122"/>
                        </a:rPr>
                      </a:br>
                      <a:r>
                        <a:rPr lang="zh-CN" altLang="en-US" sz="1400" b="0" i="0" u="none" strike="noStrike" dirty="0">
                          <a:solidFill>
                            <a:srgbClr val="000000"/>
                          </a:solidFill>
                          <a:effectLst/>
                          <a:latin typeface="DengXian" panose="02010600030101010101" pitchFamily="2" charset="-122"/>
                          <a:ea typeface="DengXian" panose="02010600030101010101" pitchFamily="2" charset="-122"/>
                        </a:rPr>
                        <a:t>（在员工和组织能力、绩效提升以及学习品牌塑造方面的价值显著）</a:t>
                      </a:r>
                      <a:endParaRPr lang="zh-CN" altLang="en-US" sz="14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rowSpan="2">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人才成长</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c>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能力成长</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177784">
                <a:tc vMerge="1">
                  <a:tcPr/>
                </a:tc>
                <a:tc vMerge="1">
                  <a:tcPr/>
                </a:tc>
                <a:tc>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结构优化</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177784">
                <a:tc vMerge="1">
                  <a:tcPr/>
                </a:tc>
                <a:tc rowSpan="3">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绩效贡献</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c>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组织影响</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177784">
                <a:tc vMerge="1">
                  <a:tcPr/>
                </a:tc>
                <a:tc vMerge="1">
                  <a:tcPr/>
                </a:tc>
                <a:tc>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问题解决</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177784">
                <a:tc vMerge="1">
                  <a:tcPr/>
                </a:tc>
                <a:tc vMerge="1">
                  <a:tcPr/>
                </a:tc>
                <a:tc>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效益提升</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177784">
                <a:tc vMerge="1">
                  <a:tcPr/>
                </a:tc>
                <a:tc rowSpan="2">
                  <a:txBody>
                    <a:bodyPr/>
                    <a:lstStyle/>
                    <a:p>
                      <a:pPr algn="ctr" fontAlgn="ctr"/>
                      <a:r>
                        <a:rPr lang="zh-CN" altLang="en-US" sz="1200" b="0" i="0" u="none" strike="noStrike">
                          <a:solidFill>
                            <a:srgbClr val="000000"/>
                          </a:solidFill>
                          <a:effectLst/>
                          <a:latin typeface="DengXian" panose="02010600030101010101" pitchFamily="2" charset="-122"/>
                          <a:ea typeface="DengXian" panose="02010600030101010101" pitchFamily="2" charset="-122"/>
                        </a:rPr>
                        <a:t>文化推动</a:t>
                      </a:r>
                      <a:endParaRPr lang="zh-CN" altLang="en-US" sz="1200" b="0" i="0" u="none" strike="noStrike">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c>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氛围积极</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177784">
                <a:tc vMerge="1">
                  <a:tcPr/>
                </a:tc>
                <a:tc vMerge="1">
                  <a:tcPr/>
                </a:tc>
                <a:tc>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文化认同</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177784">
                <a:tc vMerge="1">
                  <a:tcPr/>
                </a:tc>
                <a:tc rowSpan="3">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品牌影响</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成果输出</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177784">
                <a:tc vMerge="1">
                  <a:tcPr/>
                </a:tc>
                <a:tc vMerge="1">
                  <a:tcPr/>
                </a:tc>
                <a:tc>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人才品牌</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accent2">
                        <a:lumMod val="20000"/>
                        <a:lumOff val="80000"/>
                      </a:schemeClr>
                    </a:solidFill>
                  </a:tcPr>
                </a:tc>
              </a:tr>
              <a:tr h="177784">
                <a:tc vMerge="1">
                  <a:tcPr/>
                </a:tc>
                <a:tc vMerge="1">
                  <a:tcPr/>
                </a:tc>
                <a:tc>
                  <a:txBody>
                    <a:bodyPr/>
                    <a:lstStyle/>
                    <a:p>
                      <a:pPr algn="ctr" fontAlgn="ctr"/>
                      <a:r>
                        <a:rPr lang="zh-CN" altLang="en-US" sz="1200" b="0" i="0" u="none" strike="noStrike" dirty="0">
                          <a:solidFill>
                            <a:srgbClr val="000000"/>
                          </a:solidFill>
                          <a:effectLst/>
                          <a:latin typeface="DengXian" panose="02010600030101010101" pitchFamily="2" charset="-122"/>
                          <a:ea typeface="DengXian" panose="02010600030101010101" pitchFamily="2" charset="-122"/>
                        </a:rPr>
                        <a:t>社会影响</a:t>
                      </a:r>
                      <a:endParaRPr lang="zh-CN" altLang="en-US" sz="1200" b="0" i="0" u="none" strike="noStrike" dirty="0">
                        <a:solidFill>
                          <a:srgbClr val="000000"/>
                        </a:solidFill>
                        <a:effectLst/>
                        <a:latin typeface="DengXian" panose="02010600030101010101" pitchFamily="2" charset="-122"/>
                        <a:ea typeface="DengXian" panose="02010600030101010101" pitchFamily="2" charset="-122"/>
                      </a:endParaRPr>
                    </a:p>
                  </a:txBody>
                  <a:tcPr marL="346" marR="346" marT="281"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r>
            </a:tbl>
          </a:graphicData>
        </a:graphic>
      </p:graphicFrame>
      <p:sp>
        <p:nvSpPr>
          <p:cNvPr id="10" name="矩形 9"/>
          <p:cNvSpPr/>
          <p:nvPr/>
        </p:nvSpPr>
        <p:spPr>
          <a:xfrm>
            <a:off x="7088377" y="1469642"/>
            <a:ext cx="4444811" cy="584775"/>
          </a:xfrm>
          <a:prstGeom prst="rect">
            <a:avLst/>
          </a:prstGeom>
          <a:solidFill>
            <a:schemeClr val="bg2"/>
          </a:solidFill>
        </p:spPr>
        <p:txBody>
          <a:bodyPr wrap="square">
            <a:spAutoFit/>
          </a:bodyPr>
          <a:lstStyle/>
          <a:p>
            <a:r>
              <a:rPr lang="zh-CN" altLang="en-US" sz="1600" dirty="0"/>
              <a:t>形成推动员工进行知识沉淀、分享与应用的标准、模板与信息化 平台</a:t>
            </a:r>
            <a:endParaRPr lang="zh-CN" altLang="en-US" sz="1600" dirty="0"/>
          </a:p>
        </p:txBody>
      </p:sp>
      <p:sp>
        <p:nvSpPr>
          <p:cNvPr id="12" name="文本框 11"/>
          <p:cNvSpPr txBox="1"/>
          <p:nvPr/>
        </p:nvSpPr>
        <p:spPr>
          <a:xfrm>
            <a:off x="7085717" y="1137419"/>
            <a:ext cx="1218603" cy="338554"/>
          </a:xfrm>
          <a:prstGeom prst="rect">
            <a:avLst/>
          </a:prstGeom>
          <a:noFill/>
        </p:spPr>
        <p:txBody>
          <a:bodyPr wrap="none" rtlCol="0">
            <a:spAutoFit/>
          </a:bodyPr>
          <a:lstStyle/>
          <a:p>
            <a:r>
              <a:rPr kumimoji="1" lang="zh-CN" altLang="en-US" sz="1600" dirty="0">
                <a:latin typeface="宋体" pitchFamily="2" charset="-122"/>
                <a:ea typeface="宋体" pitchFamily="2" charset="-122"/>
              </a:rPr>
              <a:t>标杆做法：</a:t>
            </a:r>
            <a:endParaRPr kumimoji="1" lang="zh-CN" altLang="en-US" sz="1600" dirty="0">
              <a:latin typeface="宋体" pitchFamily="2" charset="-122"/>
              <a:ea typeface="宋体" pitchFamily="2" charset="-122"/>
            </a:endParaRPr>
          </a:p>
        </p:txBody>
      </p:sp>
      <p:sp>
        <p:nvSpPr>
          <p:cNvPr id="13" name="圆角矩形 12"/>
          <p:cNvSpPr/>
          <p:nvPr/>
        </p:nvSpPr>
        <p:spPr>
          <a:xfrm>
            <a:off x="3989668" y="1578431"/>
            <a:ext cx="2953195" cy="323493"/>
          </a:xfrm>
          <a:prstGeom prst="roundRect">
            <a:avLst/>
          </a:prstGeom>
          <a:noFill/>
          <a:ln>
            <a:solidFill>
              <a:srgbClr val="C00000"/>
            </a:solidFill>
          </a:ln>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19" name="矩形 18"/>
          <p:cNvSpPr/>
          <p:nvPr/>
        </p:nvSpPr>
        <p:spPr>
          <a:xfrm>
            <a:off x="7088377" y="5440844"/>
            <a:ext cx="4444811" cy="830997"/>
          </a:xfrm>
          <a:prstGeom prst="rect">
            <a:avLst/>
          </a:prstGeom>
          <a:solidFill>
            <a:schemeClr val="bg2"/>
          </a:solidFill>
        </p:spPr>
        <p:txBody>
          <a:bodyPr wrap="square">
            <a:spAutoFit/>
          </a:bodyPr>
          <a:lstStyle/>
          <a:p>
            <a:r>
              <a:rPr lang="zh-CN" altLang="en-US" sz="1600" dirty="0"/>
              <a:t>企业大学对学员及师资形成明显的吸引力，公司企业文化传播在学员及师资行为中的彰显程度</a:t>
            </a:r>
            <a:endParaRPr lang="zh-CN" altLang="en-US" sz="1600" dirty="0"/>
          </a:p>
        </p:txBody>
      </p:sp>
      <p:sp>
        <p:nvSpPr>
          <p:cNvPr id="20" name="文本框 19"/>
          <p:cNvSpPr txBox="1"/>
          <p:nvPr/>
        </p:nvSpPr>
        <p:spPr>
          <a:xfrm>
            <a:off x="7085718" y="5109926"/>
            <a:ext cx="1218603" cy="338554"/>
          </a:xfrm>
          <a:prstGeom prst="rect">
            <a:avLst/>
          </a:prstGeom>
          <a:noFill/>
        </p:spPr>
        <p:txBody>
          <a:bodyPr wrap="none" rtlCol="0">
            <a:spAutoFit/>
          </a:bodyPr>
          <a:lstStyle/>
          <a:p>
            <a:r>
              <a:rPr kumimoji="1" lang="zh-CN" altLang="en-US" sz="1600" dirty="0">
                <a:latin typeface="宋体" pitchFamily="2" charset="-122"/>
                <a:ea typeface="宋体" pitchFamily="2" charset="-122"/>
              </a:rPr>
              <a:t>标杆做法：</a:t>
            </a:r>
            <a:endParaRPr kumimoji="1" lang="zh-CN" altLang="en-US" sz="1600" dirty="0">
              <a:latin typeface="宋体" pitchFamily="2" charset="-122"/>
              <a:ea typeface="宋体" pitchFamily="2" charset="-122"/>
            </a:endParaRPr>
          </a:p>
        </p:txBody>
      </p:sp>
      <p:sp>
        <p:nvSpPr>
          <p:cNvPr id="22" name="矩形 21"/>
          <p:cNvSpPr/>
          <p:nvPr/>
        </p:nvSpPr>
        <p:spPr>
          <a:xfrm>
            <a:off x="7088377" y="4033663"/>
            <a:ext cx="4444811" cy="830997"/>
          </a:xfrm>
          <a:prstGeom prst="rect">
            <a:avLst/>
          </a:prstGeom>
          <a:solidFill>
            <a:schemeClr val="bg2"/>
          </a:solidFill>
        </p:spPr>
        <p:txBody>
          <a:bodyPr wrap="square">
            <a:spAutoFit/>
          </a:bodyPr>
          <a:lstStyle/>
          <a:p>
            <a:r>
              <a:rPr lang="zh-CN" altLang="en-US" sz="1600" dirty="0"/>
              <a:t>建立低成本高效率的项目实施程序、方法与机制，形成了特色有效的项目实施效益的评估方式，支撑项目升级</a:t>
            </a:r>
            <a:endParaRPr lang="zh-CN" altLang="en-US" sz="1600" dirty="0"/>
          </a:p>
        </p:txBody>
      </p:sp>
      <p:sp>
        <p:nvSpPr>
          <p:cNvPr id="23" name="文本框 22"/>
          <p:cNvSpPr txBox="1"/>
          <p:nvPr/>
        </p:nvSpPr>
        <p:spPr>
          <a:xfrm>
            <a:off x="7085718" y="3688446"/>
            <a:ext cx="1218603" cy="338554"/>
          </a:xfrm>
          <a:prstGeom prst="rect">
            <a:avLst/>
          </a:prstGeom>
          <a:noFill/>
        </p:spPr>
        <p:txBody>
          <a:bodyPr wrap="none" rtlCol="0">
            <a:spAutoFit/>
          </a:bodyPr>
          <a:lstStyle/>
          <a:p>
            <a:r>
              <a:rPr kumimoji="1" lang="zh-CN" altLang="en-US" sz="1600" dirty="0">
                <a:latin typeface="宋体" pitchFamily="2" charset="-122"/>
                <a:ea typeface="宋体" pitchFamily="2" charset="-122"/>
              </a:rPr>
              <a:t>标杆做法：</a:t>
            </a:r>
            <a:endParaRPr kumimoji="1" lang="zh-CN" altLang="en-US" sz="1600" dirty="0">
              <a:latin typeface="宋体" pitchFamily="2" charset="-122"/>
              <a:ea typeface="宋体" pitchFamily="2" charset="-122"/>
            </a:endParaRPr>
          </a:p>
        </p:txBody>
      </p:sp>
      <p:sp>
        <p:nvSpPr>
          <p:cNvPr id="26" name="圆角矩形 25"/>
          <p:cNvSpPr/>
          <p:nvPr/>
        </p:nvSpPr>
        <p:spPr>
          <a:xfrm>
            <a:off x="3989949" y="5813434"/>
            <a:ext cx="2953195" cy="323493"/>
          </a:xfrm>
          <a:prstGeom prst="roundRect">
            <a:avLst/>
          </a:prstGeom>
          <a:noFill/>
          <a:ln>
            <a:solidFill>
              <a:srgbClr val="C00000"/>
            </a:solidFill>
          </a:ln>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7" name="圆角矩形 26"/>
          <p:cNvSpPr/>
          <p:nvPr/>
        </p:nvSpPr>
        <p:spPr>
          <a:xfrm>
            <a:off x="3989667" y="4142330"/>
            <a:ext cx="2953195" cy="323493"/>
          </a:xfrm>
          <a:prstGeom prst="roundRect">
            <a:avLst/>
          </a:prstGeom>
          <a:noFill/>
          <a:ln>
            <a:solidFill>
              <a:srgbClr val="C00000"/>
            </a:solidFill>
          </a:ln>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8" name="矩形 27"/>
          <p:cNvSpPr/>
          <p:nvPr/>
        </p:nvSpPr>
        <p:spPr>
          <a:xfrm>
            <a:off x="7088377" y="2613288"/>
            <a:ext cx="4444811" cy="830997"/>
          </a:xfrm>
          <a:prstGeom prst="rect">
            <a:avLst/>
          </a:prstGeom>
          <a:solidFill>
            <a:schemeClr val="bg2"/>
          </a:solidFill>
        </p:spPr>
        <p:txBody>
          <a:bodyPr wrap="square">
            <a:spAutoFit/>
          </a:bodyPr>
          <a:lstStyle/>
          <a:p>
            <a:r>
              <a:rPr lang="zh-CN" altLang="en-US" sz="1600" dirty="0"/>
              <a:t>建立了系统科学的师资队伍，形成了序列、层次、能力结构合理、需求匹配体系和机制，在行业内外具有一定的影响力</a:t>
            </a:r>
            <a:endParaRPr lang="zh-CN" altLang="en-US" sz="1600" dirty="0"/>
          </a:p>
        </p:txBody>
      </p:sp>
      <p:sp>
        <p:nvSpPr>
          <p:cNvPr id="29" name="文本框 28"/>
          <p:cNvSpPr txBox="1"/>
          <p:nvPr/>
        </p:nvSpPr>
        <p:spPr>
          <a:xfrm>
            <a:off x="7088377" y="2233140"/>
            <a:ext cx="1218603" cy="338554"/>
          </a:xfrm>
          <a:prstGeom prst="rect">
            <a:avLst/>
          </a:prstGeom>
          <a:noFill/>
        </p:spPr>
        <p:txBody>
          <a:bodyPr wrap="none" rtlCol="0">
            <a:spAutoFit/>
          </a:bodyPr>
          <a:lstStyle/>
          <a:p>
            <a:r>
              <a:rPr kumimoji="1" lang="zh-CN" altLang="en-US" sz="1600" dirty="0">
                <a:latin typeface="宋体" pitchFamily="2" charset="-122"/>
                <a:ea typeface="宋体" pitchFamily="2" charset="-122"/>
              </a:rPr>
              <a:t>标杆做法：</a:t>
            </a:r>
            <a:endParaRPr kumimoji="1" lang="zh-CN" altLang="en-US" sz="1600" dirty="0">
              <a:latin typeface="宋体" pitchFamily="2" charset="-122"/>
              <a:ea typeface="宋体" pitchFamily="2" charset="-122"/>
            </a:endParaRPr>
          </a:p>
        </p:txBody>
      </p:sp>
      <p:sp>
        <p:nvSpPr>
          <p:cNvPr id="30" name="圆角矩形 29"/>
          <p:cNvSpPr/>
          <p:nvPr/>
        </p:nvSpPr>
        <p:spPr>
          <a:xfrm>
            <a:off x="3989666" y="2688233"/>
            <a:ext cx="2953195" cy="323493"/>
          </a:xfrm>
          <a:prstGeom prst="roundRect">
            <a:avLst/>
          </a:prstGeom>
          <a:noFill/>
          <a:ln>
            <a:solidFill>
              <a:srgbClr val="C00000"/>
            </a:solidFill>
          </a:ln>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23282" t="15037" r="25634" b="9218"/>
          <a:stretch>
            <a:fillRect/>
          </a:stretch>
        </p:blipFill>
        <p:spPr bwMode="auto">
          <a:xfrm>
            <a:off x="4010876" y="2583867"/>
            <a:ext cx="364236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 name="椭圆 50"/>
          <p:cNvSpPr/>
          <p:nvPr/>
        </p:nvSpPr>
        <p:spPr>
          <a:xfrm>
            <a:off x="5368230" y="3811937"/>
            <a:ext cx="927652" cy="927652"/>
          </a:xfrm>
          <a:prstGeom prst="ellipse">
            <a:avLst/>
          </a:prstGeom>
          <a:solidFill>
            <a:srgbClr val="C00000"/>
          </a:solidFill>
        </p:spPr>
        <p:style>
          <a:lnRef idx="3">
            <a:schemeClr val="lt1"/>
          </a:lnRef>
          <a:fillRef idx="1">
            <a:schemeClr val="accent5"/>
          </a:fillRef>
          <a:effectRef idx="1">
            <a:schemeClr val="accent5"/>
          </a:effectRef>
          <a:fontRef idx="minor">
            <a:schemeClr val="lt1"/>
          </a:fontRef>
        </p:style>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52" name="文本框 51"/>
          <p:cNvSpPr txBox="1"/>
          <p:nvPr/>
        </p:nvSpPr>
        <p:spPr>
          <a:xfrm>
            <a:off x="5368230" y="4121874"/>
            <a:ext cx="902811" cy="307777"/>
          </a:xfrm>
          <a:prstGeom prst="rect">
            <a:avLst/>
          </a:prstGeom>
          <a:noFill/>
        </p:spPr>
        <p:txBody>
          <a:bodyPr wrap="none" rtlCol="0">
            <a:spAutoFit/>
          </a:bodyPr>
          <a:lstStyle/>
          <a:p>
            <a:r>
              <a:rPr kumimoji="1" lang="zh-CN" altLang="en-US" sz="1400" dirty="0">
                <a:solidFill>
                  <a:schemeClr val="bg1"/>
                </a:solidFill>
                <a:latin typeface="华文中宋" panose="02010600040101010101" pitchFamily="2" charset="-122"/>
                <a:ea typeface="华文中宋" panose="02010600040101010101" pitchFamily="2" charset="-122"/>
              </a:rPr>
              <a:t>学习发展</a:t>
            </a:r>
            <a:endParaRPr kumimoji="1" lang="zh-CN" altLang="en-US" sz="1400" dirty="0">
              <a:solidFill>
                <a:schemeClr val="bg1"/>
              </a:solidFill>
              <a:latin typeface="华文中宋" panose="02010600040101010101" pitchFamily="2" charset="-122"/>
              <a:ea typeface="华文中宋" panose="02010600040101010101" pitchFamily="2" charset="-122"/>
            </a:endParaRPr>
          </a:p>
        </p:txBody>
      </p:sp>
      <p:sp>
        <p:nvSpPr>
          <p:cNvPr id="53" name="椭圆 52"/>
          <p:cNvSpPr/>
          <p:nvPr/>
        </p:nvSpPr>
        <p:spPr>
          <a:xfrm>
            <a:off x="4010876" y="3878726"/>
            <a:ext cx="763082" cy="763082"/>
          </a:xfrm>
          <a:prstGeom prst="ellipse">
            <a:avLst/>
          </a:prstGeom>
          <a:solidFill>
            <a:srgbClr val="C00000"/>
          </a:solidFill>
        </p:spPr>
        <p:style>
          <a:lnRef idx="3">
            <a:schemeClr val="lt1"/>
          </a:lnRef>
          <a:fillRef idx="1">
            <a:schemeClr val="accent5"/>
          </a:fillRef>
          <a:effectRef idx="1">
            <a:schemeClr val="accent5"/>
          </a:effectRef>
          <a:fontRef idx="minor">
            <a:schemeClr val="lt1"/>
          </a:fontRef>
        </p:style>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54" name="文本框 53"/>
          <p:cNvSpPr txBox="1"/>
          <p:nvPr/>
        </p:nvSpPr>
        <p:spPr>
          <a:xfrm>
            <a:off x="4010876" y="4015102"/>
            <a:ext cx="857145" cy="523220"/>
          </a:xfrm>
          <a:prstGeom prst="rect">
            <a:avLst/>
          </a:prstGeom>
          <a:noFill/>
        </p:spPr>
        <p:txBody>
          <a:bodyPr wrap="square" rtlCol="0">
            <a:spAutoFit/>
          </a:bodyPr>
          <a:lstStyle/>
          <a:p>
            <a:r>
              <a:rPr kumimoji="1" lang="zh-CN" altLang="en-US" sz="1400" dirty="0">
                <a:solidFill>
                  <a:schemeClr val="bg1"/>
                </a:solidFill>
                <a:latin typeface="华文中宋" panose="02010600040101010101" pitchFamily="2" charset="-122"/>
                <a:ea typeface="华文中宋" panose="02010600040101010101" pitchFamily="2" charset="-122"/>
              </a:rPr>
              <a:t>员工职业发展</a:t>
            </a:r>
            <a:endParaRPr kumimoji="1" lang="zh-CN" altLang="en-US" sz="1400" dirty="0">
              <a:solidFill>
                <a:schemeClr val="bg1"/>
              </a:solidFill>
              <a:latin typeface="华文中宋" panose="02010600040101010101" pitchFamily="2" charset="-122"/>
              <a:ea typeface="华文中宋" panose="02010600040101010101" pitchFamily="2" charset="-122"/>
            </a:endParaRPr>
          </a:p>
        </p:txBody>
      </p:sp>
      <p:sp>
        <p:nvSpPr>
          <p:cNvPr id="55" name="椭圆 54"/>
          <p:cNvSpPr/>
          <p:nvPr/>
        </p:nvSpPr>
        <p:spPr>
          <a:xfrm>
            <a:off x="4744569" y="5151466"/>
            <a:ext cx="763082" cy="763082"/>
          </a:xfrm>
          <a:prstGeom prst="ellipse">
            <a:avLst/>
          </a:prstGeom>
          <a:solidFill>
            <a:srgbClr val="C00000"/>
          </a:solidFill>
        </p:spPr>
        <p:style>
          <a:lnRef idx="3">
            <a:schemeClr val="lt1"/>
          </a:lnRef>
          <a:fillRef idx="1">
            <a:schemeClr val="accent5"/>
          </a:fillRef>
          <a:effectRef idx="1">
            <a:schemeClr val="accent5"/>
          </a:effectRef>
          <a:fontRef idx="minor">
            <a:schemeClr val="lt1"/>
          </a:fontRef>
        </p:style>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56" name="文本框 55"/>
          <p:cNvSpPr txBox="1"/>
          <p:nvPr/>
        </p:nvSpPr>
        <p:spPr>
          <a:xfrm>
            <a:off x="4744569" y="5287842"/>
            <a:ext cx="857145" cy="523220"/>
          </a:xfrm>
          <a:prstGeom prst="rect">
            <a:avLst/>
          </a:prstGeom>
          <a:noFill/>
        </p:spPr>
        <p:txBody>
          <a:bodyPr wrap="square" rtlCol="0">
            <a:spAutoFit/>
          </a:bodyPr>
          <a:lstStyle/>
          <a:p>
            <a:r>
              <a:rPr kumimoji="1" lang="zh-CN" altLang="en-US" sz="1400" dirty="0">
                <a:solidFill>
                  <a:schemeClr val="bg1"/>
                </a:solidFill>
                <a:latin typeface="华文中宋" panose="02010600040101010101" pitchFamily="2" charset="-122"/>
                <a:ea typeface="华文中宋" panose="02010600040101010101" pitchFamily="2" charset="-122"/>
              </a:rPr>
              <a:t>人才继任规划</a:t>
            </a:r>
            <a:endParaRPr kumimoji="1" lang="zh-CN" altLang="en-US" sz="1400" dirty="0">
              <a:solidFill>
                <a:schemeClr val="bg1"/>
              </a:solidFill>
              <a:latin typeface="华文中宋" panose="02010600040101010101" pitchFamily="2" charset="-122"/>
              <a:ea typeface="华文中宋" panose="02010600040101010101" pitchFamily="2" charset="-122"/>
            </a:endParaRPr>
          </a:p>
        </p:txBody>
      </p:sp>
      <p:sp>
        <p:nvSpPr>
          <p:cNvPr id="57" name="椭圆 56"/>
          <p:cNvSpPr/>
          <p:nvPr/>
        </p:nvSpPr>
        <p:spPr>
          <a:xfrm>
            <a:off x="6198902" y="5156380"/>
            <a:ext cx="763082" cy="763082"/>
          </a:xfrm>
          <a:prstGeom prst="ellipse">
            <a:avLst/>
          </a:prstGeom>
          <a:solidFill>
            <a:srgbClr val="C00000"/>
          </a:solidFill>
        </p:spPr>
        <p:style>
          <a:lnRef idx="3">
            <a:schemeClr val="lt1"/>
          </a:lnRef>
          <a:fillRef idx="1">
            <a:schemeClr val="accent5"/>
          </a:fillRef>
          <a:effectRef idx="1">
            <a:schemeClr val="accent5"/>
          </a:effectRef>
          <a:fontRef idx="minor">
            <a:schemeClr val="lt1"/>
          </a:fontRef>
        </p:style>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58" name="文本框 57"/>
          <p:cNvSpPr txBox="1"/>
          <p:nvPr/>
        </p:nvSpPr>
        <p:spPr>
          <a:xfrm>
            <a:off x="6335407" y="5287842"/>
            <a:ext cx="694156" cy="523220"/>
          </a:xfrm>
          <a:prstGeom prst="rect">
            <a:avLst/>
          </a:prstGeom>
          <a:noFill/>
        </p:spPr>
        <p:txBody>
          <a:bodyPr wrap="square" rtlCol="0">
            <a:spAutoFit/>
          </a:bodyPr>
          <a:lstStyle/>
          <a:p>
            <a:r>
              <a:rPr kumimoji="1" lang="zh-CN" altLang="en-US" sz="1400" dirty="0">
                <a:solidFill>
                  <a:schemeClr val="bg1"/>
                </a:solidFill>
                <a:latin typeface="华文中宋" panose="02010600040101010101" pitchFamily="2" charset="-122"/>
                <a:ea typeface="华文中宋" panose="02010600040101010101" pitchFamily="2" charset="-122"/>
              </a:rPr>
              <a:t>人才盘点</a:t>
            </a:r>
            <a:endParaRPr kumimoji="1" lang="zh-CN" altLang="en-US" sz="1400" dirty="0">
              <a:solidFill>
                <a:schemeClr val="bg1"/>
              </a:solidFill>
              <a:latin typeface="华文中宋" panose="02010600040101010101" pitchFamily="2" charset="-122"/>
              <a:ea typeface="华文中宋" panose="02010600040101010101" pitchFamily="2" charset="-122"/>
            </a:endParaRPr>
          </a:p>
        </p:txBody>
      </p:sp>
      <p:sp>
        <p:nvSpPr>
          <p:cNvPr id="59" name="椭圆 58"/>
          <p:cNvSpPr/>
          <p:nvPr/>
        </p:nvSpPr>
        <p:spPr>
          <a:xfrm>
            <a:off x="6890154" y="3878726"/>
            <a:ext cx="763082" cy="763082"/>
          </a:xfrm>
          <a:prstGeom prst="ellipse">
            <a:avLst/>
          </a:prstGeom>
          <a:solidFill>
            <a:srgbClr val="C00000"/>
          </a:solidFill>
        </p:spPr>
        <p:style>
          <a:lnRef idx="3">
            <a:schemeClr val="lt1"/>
          </a:lnRef>
          <a:fillRef idx="1">
            <a:schemeClr val="accent5"/>
          </a:fillRef>
          <a:effectRef idx="1">
            <a:schemeClr val="accent5"/>
          </a:effectRef>
          <a:fontRef idx="minor">
            <a:schemeClr val="lt1"/>
          </a:fontRef>
        </p:style>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60" name="文本框 59"/>
          <p:cNvSpPr txBox="1"/>
          <p:nvPr/>
        </p:nvSpPr>
        <p:spPr>
          <a:xfrm>
            <a:off x="7026659" y="4010188"/>
            <a:ext cx="694156" cy="523220"/>
          </a:xfrm>
          <a:prstGeom prst="rect">
            <a:avLst/>
          </a:prstGeom>
          <a:noFill/>
        </p:spPr>
        <p:txBody>
          <a:bodyPr wrap="square" rtlCol="0">
            <a:spAutoFit/>
          </a:bodyPr>
          <a:lstStyle/>
          <a:p>
            <a:r>
              <a:rPr kumimoji="1" lang="zh-CN" altLang="en-US" sz="1400" dirty="0">
                <a:solidFill>
                  <a:schemeClr val="bg1"/>
                </a:solidFill>
                <a:latin typeface="华文中宋" panose="02010600040101010101" pitchFamily="2" charset="-122"/>
                <a:ea typeface="华文中宋" panose="02010600040101010101" pitchFamily="2" charset="-122"/>
              </a:rPr>
              <a:t>组织能力</a:t>
            </a:r>
            <a:endParaRPr kumimoji="1" lang="zh-CN" altLang="en-US" sz="1400" dirty="0">
              <a:solidFill>
                <a:schemeClr val="bg1"/>
              </a:solidFill>
              <a:latin typeface="华文中宋" panose="02010600040101010101" pitchFamily="2" charset="-122"/>
              <a:ea typeface="华文中宋" panose="02010600040101010101" pitchFamily="2" charset="-122"/>
            </a:endParaRPr>
          </a:p>
        </p:txBody>
      </p:sp>
      <p:sp>
        <p:nvSpPr>
          <p:cNvPr id="61" name="椭圆 60"/>
          <p:cNvSpPr/>
          <p:nvPr/>
        </p:nvSpPr>
        <p:spPr>
          <a:xfrm>
            <a:off x="6188309" y="2553465"/>
            <a:ext cx="763082" cy="763082"/>
          </a:xfrm>
          <a:prstGeom prst="ellipse">
            <a:avLst/>
          </a:prstGeom>
          <a:solidFill>
            <a:srgbClr val="C00000"/>
          </a:solidFill>
        </p:spPr>
        <p:style>
          <a:lnRef idx="3">
            <a:schemeClr val="lt1"/>
          </a:lnRef>
          <a:fillRef idx="1">
            <a:schemeClr val="accent5"/>
          </a:fillRef>
          <a:effectRef idx="1">
            <a:schemeClr val="accent5"/>
          </a:effectRef>
          <a:fontRef idx="minor">
            <a:schemeClr val="lt1"/>
          </a:fontRef>
        </p:style>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62" name="文本框 61"/>
          <p:cNvSpPr txBox="1"/>
          <p:nvPr/>
        </p:nvSpPr>
        <p:spPr>
          <a:xfrm>
            <a:off x="6324814" y="2684927"/>
            <a:ext cx="694156" cy="523220"/>
          </a:xfrm>
          <a:prstGeom prst="rect">
            <a:avLst/>
          </a:prstGeom>
          <a:noFill/>
        </p:spPr>
        <p:txBody>
          <a:bodyPr wrap="square" rtlCol="0">
            <a:spAutoFit/>
          </a:bodyPr>
          <a:lstStyle/>
          <a:p>
            <a:r>
              <a:rPr kumimoji="1" lang="zh-CN" altLang="en-US" sz="1400" dirty="0">
                <a:solidFill>
                  <a:schemeClr val="bg1"/>
                </a:solidFill>
                <a:latin typeface="华文中宋" panose="02010600040101010101" pitchFamily="2" charset="-122"/>
                <a:ea typeface="华文中宋" panose="02010600040101010101" pitchFamily="2" charset="-122"/>
              </a:rPr>
              <a:t>能力模型</a:t>
            </a:r>
            <a:endParaRPr kumimoji="1" lang="zh-CN" altLang="en-US" sz="1400" dirty="0">
              <a:solidFill>
                <a:schemeClr val="bg1"/>
              </a:solidFill>
              <a:latin typeface="华文中宋" panose="02010600040101010101" pitchFamily="2" charset="-122"/>
              <a:ea typeface="华文中宋" panose="02010600040101010101" pitchFamily="2" charset="-122"/>
            </a:endParaRPr>
          </a:p>
        </p:txBody>
      </p:sp>
      <p:sp>
        <p:nvSpPr>
          <p:cNvPr id="63" name="椭圆 62"/>
          <p:cNvSpPr/>
          <p:nvPr/>
        </p:nvSpPr>
        <p:spPr>
          <a:xfrm>
            <a:off x="4723382" y="2587012"/>
            <a:ext cx="763082" cy="763082"/>
          </a:xfrm>
          <a:prstGeom prst="ellipse">
            <a:avLst/>
          </a:prstGeom>
          <a:solidFill>
            <a:srgbClr val="C00000"/>
          </a:solidFill>
        </p:spPr>
        <p:style>
          <a:lnRef idx="3">
            <a:schemeClr val="lt1"/>
          </a:lnRef>
          <a:fillRef idx="1">
            <a:schemeClr val="accent5"/>
          </a:fillRef>
          <a:effectRef idx="1">
            <a:schemeClr val="accent5"/>
          </a:effectRef>
          <a:fontRef idx="minor">
            <a:schemeClr val="lt1"/>
          </a:fontRef>
        </p:style>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64" name="文本框 63"/>
          <p:cNvSpPr txBox="1"/>
          <p:nvPr/>
        </p:nvSpPr>
        <p:spPr>
          <a:xfrm>
            <a:off x="4859887" y="2718474"/>
            <a:ext cx="694156" cy="523220"/>
          </a:xfrm>
          <a:prstGeom prst="rect">
            <a:avLst/>
          </a:prstGeom>
          <a:noFill/>
        </p:spPr>
        <p:txBody>
          <a:bodyPr wrap="square" rtlCol="0">
            <a:spAutoFit/>
          </a:bodyPr>
          <a:lstStyle/>
          <a:p>
            <a:r>
              <a:rPr kumimoji="1" lang="zh-CN" altLang="en-US" sz="1400" dirty="0">
                <a:solidFill>
                  <a:schemeClr val="bg1"/>
                </a:solidFill>
                <a:latin typeface="华文中宋" panose="02010600040101010101" pitchFamily="2" charset="-122"/>
                <a:ea typeface="华文中宋" panose="02010600040101010101" pitchFamily="2" charset="-122"/>
              </a:rPr>
              <a:t>能力评估</a:t>
            </a:r>
            <a:endParaRPr kumimoji="1" lang="zh-CN" altLang="en-US" sz="1400" dirty="0">
              <a:solidFill>
                <a:schemeClr val="bg1"/>
              </a:solidFill>
              <a:latin typeface="华文中宋" panose="02010600040101010101" pitchFamily="2" charset="-122"/>
              <a:ea typeface="华文中宋" panose="02010600040101010101" pitchFamily="2" charset="-122"/>
            </a:endParaRPr>
          </a:p>
        </p:txBody>
      </p:sp>
      <p:sp>
        <p:nvSpPr>
          <p:cNvPr id="2" name="灯片编号占位符 1"/>
          <p:cNvSpPr>
            <a:spLocks noGrp="1"/>
          </p:cNvSpPr>
          <p:nvPr>
            <p:ph type="sldNum" sz="quarter" idx="10"/>
          </p:nvPr>
        </p:nvSpPr>
        <p:spPr/>
        <p:txBody>
          <a:bodyPr/>
          <a:lstStyle/>
          <a:p>
            <a:pPr>
              <a:defRPr/>
            </a:pPr>
            <a:fld id="{52DF7D90-B49A-4800-BC0D-FE9A7C3546DE}" type="slidenum">
              <a:rPr lang="zh-CN" altLang="en-US" smtClean="0">
                <a:latin typeface="+mn-lt"/>
                <a:ea typeface="+mn-ea"/>
                <a:cs typeface="+mn-ea"/>
                <a:sym typeface="+mn-lt"/>
              </a:rPr>
            </a:fld>
            <a:endParaRPr lang="en-US" altLang="zh-CN">
              <a:latin typeface="+mn-lt"/>
              <a:ea typeface="+mn-ea"/>
              <a:cs typeface="+mn-ea"/>
              <a:sym typeface="+mn-lt"/>
            </a:endParaRPr>
          </a:p>
        </p:txBody>
      </p:sp>
      <p:sp>
        <p:nvSpPr>
          <p:cNvPr id="4" name="标题 1"/>
          <p:cNvSpPr txBox="1"/>
          <p:nvPr/>
        </p:nvSpPr>
        <p:spPr>
          <a:xfrm>
            <a:off x="654539" y="288696"/>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en-US" altLang="zh-CN" dirty="0">
                <a:latin typeface="+mn-lt"/>
                <a:ea typeface="+mn-ea"/>
                <a:cs typeface="+mn-ea"/>
                <a:sym typeface="+mn-lt"/>
              </a:rPr>
              <a:t>T</a:t>
            </a:r>
            <a:r>
              <a:rPr lang="zh-CN" altLang="en-US" dirty="0">
                <a:latin typeface="+mn-lt"/>
                <a:ea typeface="+mn-ea"/>
                <a:cs typeface="+mn-ea"/>
                <a:sym typeface="+mn-lt"/>
              </a:rPr>
              <a:t> 劣势</a:t>
            </a:r>
            <a:r>
              <a:rPr lang="en-US" altLang="zh-CN" dirty="0">
                <a:latin typeface="+mn-lt"/>
                <a:ea typeface="+mn-ea"/>
                <a:cs typeface="+mn-ea"/>
                <a:sym typeface="+mn-lt"/>
              </a:rPr>
              <a:t>4-</a:t>
            </a:r>
            <a:r>
              <a:rPr lang="zh-CN" altLang="zh-CN" dirty="0"/>
              <a:t>教育培训结果在应用端的价值未能充分体现</a:t>
            </a:r>
            <a:endParaRPr lang="zh-CN" altLang="zh-CN" dirty="0"/>
          </a:p>
        </p:txBody>
      </p:sp>
      <p:sp>
        <p:nvSpPr>
          <p:cNvPr id="28" name="标题 2"/>
          <p:cNvSpPr>
            <a:spLocks noGrp="1"/>
          </p:cNvSpPr>
          <p:nvPr>
            <p:ph type="title"/>
          </p:nvPr>
        </p:nvSpPr>
        <p:spPr>
          <a:xfrm>
            <a:off x="787400" y="957928"/>
            <a:ext cx="11160370" cy="685522"/>
          </a:xfrm>
        </p:spPr>
        <p:txBody>
          <a:bodyPr>
            <a:noAutofit/>
          </a:bodyPr>
          <a:lstStyle/>
          <a:p>
            <a:r>
              <a:rPr kumimoji="1" lang="zh-CN" altLang="en-US" sz="1800" dirty="0">
                <a:latin typeface="+mn-lt"/>
                <a:ea typeface="+mn-ea"/>
                <a:cs typeface="+mn-ea"/>
                <a:sym typeface="+mn-lt"/>
              </a:rPr>
              <a:t>发现</a:t>
            </a:r>
            <a:r>
              <a:rPr kumimoji="1" lang="en-US" altLang="zh-CN" sz="1800" dirty="0">
                <a:latin typeface="+mn-lt"/>
                <a:ea typeface="+mn-ea"/>
                <a:cs typeface="+mn-ea"/>
                <a:sym typeface="+mn-lt"/>
              </a:rPr>
              <a:t>4</a:t>
            </a:r>
            <a:r>
              <a:rPr kumimoji="1" lang="zh-CN" altLang="en-US" sz="1800" dirty="0">
                <a:latin typeface="+mn-lt"/>
                <a:ea typeface="+mn-ea"/>
                <a:cs typeface="+mn-ea"/>
                <a:sym typeface="+mn-lt"/>
              </a:rPr>
              <a:t>：员工学习发展的结果没有和能力评估、职位调整、人才盘点、继任计划、职业发展等进行有效关联，</a:t>
            </a:r>
            <a:r>
              <a:rPr lang="zh-CN" altLang="en-US" sz="1800" dirty="0">
                <a:latin typeface="+mn-lt"/>
                <a:ea typeface="+mn-ea"/>
                <a:cs typeface="+mn-ea"/>
                <a:sym typeface="+mn-lt"/>
              </a:rPr>
              <a:t>通过访谈发现，在与各模块衔接中的存在的部分问题表现如下：</a:t>
            </a:r>
            <a:endParaRPr kumimoji="1" lang="zh-CN" altLang="en-US" sz="1800" dirty="0">
              <a:latin typeface="+mn-lt"/>
              <a:ea typeface="+mn-ea"/>
              <a:cs typeface="+mn-ea"/>
              <a:sym typeface="+mn-lt"/>
            </a:endParaRPr>
          </a:p>
        </p:txBody>
      </p:sp>
      <p:sp>
        <p:nvSpPr>
          <p:cNvPr id="30" name="文本框 29"/>
          <p:cNvSpPr txBox="1"/>
          <p:nvPr/>
        </p:nvSpPr>
        <p:spPr>
          <a:xfrm>
            <a:off x="7174984" y="2160102"/>
            <a:ext cx="3825113" cy="830997"/>
          </a:xfrm>
          <a:prstGeom prst="rect">
            <a:avLst/>
          </a:prstGeom>
          <a:noFill/>
        </p:spPr>
        <p:txBody>
          <a:bodyPr wrap="square" rtlCol="0">
            <a:spAutoFit/>
          </a:bodyPr>
          <a:lstStyle/>
          <a:p>
            <a:r>
              <a:rPr kumimoji="1" lang="zh-CN" altLang="en-US" sz="1600" dirty="0">
                <a:latin typeface="+mn-lt"/>
                <a:ea typeface="+mn-ea"/>
                <a:cs typeface="+mn-ea"/>
                <a:sym typeface="+mn-lt"/>
              </a:rPr>
              <a:t>问题表现：</a:t>
            </a:r>
            <a:r>
              <a:rPr kumimoji="1" lang="zh-CN" altLang="en-US" sz="1600" b="0" dirty="0">
                <a:latin typeface="+mn-lt"/>
                <a:ea typeface="+mn-ea"/>
                <a:cs typeface="+mn-ea"/>
                <a:sym typeface="+mn-lt"/>
              </a:rPr>
              <a:t>关键人群没有建立统一的能力素质模型；同时培训项目的开展没有和能力发展有机结合。</a:t>
            </a:r>
            <a:endParaRPr kumimoji="1" lang="zh-CN" altLang="en-US" sz="1600" b="0" dirty="0">
              <a:latin typeface="+mn-lt"/>
              <a:ea typeface="+mn-ea"/>
              <a:cs typeface="+mn-ea"/>
              <a:sym typeface="+mn-lt"/>
            </a:endParaRPr>
          </a:p>
        </p:txBody>
      </p:sp>
      <p:sp>
        <p:nvSpPr>
          <p:cNvPr id="31" name="文本框 30"/>
          <p:cNvSpPr txBox="1"/>
          <p:nvPr/>
        </p:nvSpPr>
        <p:spPr>
          <a:xfrm>
            <a:off x="7817012" y="3752082"/>
            <a:ext cx="3223825" cy="1077218"/>
          </a:xfrm>
          <a:prstGeom prst="rect">
            <a:avLst/>
          </a:prstGeom>
          <a:noFill/>
        </p:spPr>
        <p:txBody>
          <a:bodyPr wrap="square" rtlCol="0">
            <a:spAutoFit/>
          </a:bodyPr>
          <a:lstStyle/>
          <a:p>
            <a:r>
              <a:rPr kumimoji="1" lang="zh-CN" altLang="en-US" sz="1600" dirty="0">
                <a:latin typeface="+mn-lt"/>
                <a:ea typeface="+mn-ea"/>
                <a:cs typeface="+mn-ea"/>
                <a:sym typeface="+mn-lt"/>
              </a:rPr>
              <a:t>问题表现：</a:t>
            </a:r>
            <a:r>
              <a:rPr kumimoji="1" lang="zh-CN" altLang="en-US" sz="1600" b="0" dirty="0">
                <a:latin typeface="+mn-lt"/>
                <a:ea typeface="+mn-ea"/>
                <a:cs typeface="+mn-ea"/>
                <a:sym typeface="+mn-lt"/>
              </a:rPr>
              <a:t>缺少从战略到组织能力的有效分解，学习发展项目设计和培养内容与组织能力发展的关联度不够。</a:t>
            </a:r>
            <a:endParaRPr kumimoji="1" lang="zh-CN" altLang="en-US" sz="1600" b="0" dirty="0">
              <a:latin typeface="+mn-lt"/>
              <a:ea typeface="+mn-ea"/>
              <a:cs typeface="+mn-ea"/>
              <a:sym typeface="+mn-lt"/>
            </a:endParaRPr>
          </a:p>
        </p:txBody>
      </p:sp>
      <p:sp>
        <p:nvSpPr>
          <p:cNvPr id="46" name="文本框 45"/>
          <p:cNvSpPr txBox="1"/>
          <p:nvPr/>
        </p:nvSpPr>
        <p:spPr>
          <a:xfrm>
            <a:off x="7219009" y="5429220"/>
            <a:ext cx="3590018" cy="830997"/>
          </a:xfrm>
          <a:prstGeom prst="rect">
            <a:avLst/>
          </a:prstGeom>
          <a:noFill/>
        </p:spPr>
        <p:txBody>
          <a:bodyPr wrap="square" rtlCol="0">
            <a:spAutoFit/>
          </a:bodyPr>
          <a:lstStyle/>
          <a:p>
            <a:r>
              <a:rPr kumimoji="1" lang="zh-CN" altLang="en-US" sz="1600" dirty="0">
                <a:latin typeface="+mn-lt"/>
                <a:ea typeface="+mn-ea"/>
                <a:cs typeface="+mn-ea"/>
                <a:sym typeface="+mn-lt"/>
              </a:rPr>
              <a:t>问题表现：</a:t>
            </a:r>
            <a:r>
              <a:rPr kumimoji="1" lang="zh-CN" altLang="en-US" sz="1600" b="0" dirty="0">
                <a:latin typeface="+mn-lt"/>
                <a:ea typeface="+mn-ea"/>
                <a:cs typeface="+mn-ea"/>
                <a:sym typeface="+mn-lt"/>
              </a:rPr>
              <a:t>学习发展的成效和应用没有和人才盘点结合，在培训学习中，缺少有效的人才发现和筛选机制。</a:t>
            </a:r>
            <a:endParaRPr kumimoji="1" lang="zh-CN" altLang="en-US" sz="1600" b="0" dirty="0">
              <a:latin typeface="+mn-lt"/>
              <a:ea typeface="+mn-ea"/>
              <a:cs typeface="+mn-ea"/>
              <a:sym typeface="+mn-lt"/>
            </a:endParaRPr>
          </a:p>
        </p:txBody>
      </p:sp>
      <p:sp>
        <p:nvSpPr>
          <p:cNvPr id="47" name="文本框 46"/>
          <p:cNvSpPr txBox="1"/>
          <p:nvPr/>
        </p:nvSpPr>
        <p:spPr>
          <a:xfrm>
            <a:off x="1375909" y="5306329"/>
            <a:ext cx="3223825" cy="1077218"/>
          </a:xfrm>
          <a:prstGeom prst="rect">
            <a:avLst/>
          </a:prstGeom>
          <a:noFill/>
        </p:spPr>
        <p:txBody>
          <a:bodyPr wrap="square" rtlCol="0">
            <a:spAutoFit/>
          </a:bodyPr>
          <a:lstStyle/>
          <a:p>
            <a:r>
              <a:rPr kumimoji="1" lang="zh-CN" altLang="en-US" sz="1600" dirty="0">
                <a:latin typeface="+mn-lt"/>
                <a:ea typeface="+mn-ea"/>
                <a:cs typeface="+mn-ea"/>
                <a:sym typeface="+mn-lt"/>
              </a:rPr>
              <a:t>问题表现：</a:t>
            </a:r>
            <a:r>
              <a:rPr kumimoji="1" lang="zh-CN" altLang="en-US" sz="1600" b="0" dirty="0">
                <a:latin typeface="+mn-lt"/>
                <a:ea typeface="+mn-ea"/>
                <a:cs typeface="+mn-ea"/>
                <a:sym typeface="+mn-lt"/>
              </a:rPr>
              <a:t>部分人群建立了系统的人才培养项目，但人才培养没有和干部人才继任结合，未建立系统的后备人才梯队。</a:t>
            </a:r>
            <a:endParaRPr kumimoji="1" lang="zh-CN" altLang="en-US" sz="1600" b="0" dirty="0">
              <a:latin typeface="+mn-lt"/>
              <a:ea typeface="+mn-ea"/>
              <a:cs typeface="+mn-ea"/>
              <a:sym typeface="+mn-lt"/>
            </a:endParaRPr>
          </a:p>
        </p:txBody>
      </p:sp>
      <p:sp>
        <p:nvSpPr>
          <p:cNvPr id="48" name="文本框 47"/>
          <p:cNvSpPr txBox="1"/>
          <p:nvPr/>
        </p:nvSpPr>
        <p:spPr>
          <a:xfrm>
            <a:off x="680206" y="3846066"/>
            <a:ext cx="3223825" cy="830997"/>
          </a:xfrm>
          <a:prstGeom prst="rect">
            <a:avLst/>
          </a:prstGeom>
          <a:noFill/>
        </p:spPr>
        <p:txBody>
          <a:bodyPr wrap="square" rtlCol="0">
            <a:spAutoFit/>
          </a:bodyPr>
          <a:lstStyle/>
          <a:p>
            <a:r>
              <a:rPr kumimoji="1" lang="zh-CN" altLang="en-US" sz="1600" dirty="0">
                <a:latin typeface="+mn-lt"/>
                <a:ea typeface="+mn-ea"/>
                <a:cs typeface="+mn-ea"/>
                <a:sym typeface="+mn-lt"/>
              </a:rPr>
              <a:t>问题表现：</a:t>
            </a:r>
            <a:r>
              <a:rPr kumimoji="1" lang="zh-CN" altLang="en-US" sz="1600" b="0" dirty="0">
                <a:latin typeface="+mn-lt"/>
                <a:ea typeface="+mn-ea"/>
                <a:cs typeface="+mn-ea"/>
                <a:sym typeface="+mn-lt"/>
              </a:rPr>
              <a:t>学习员工成长路径，尤其是学习与员工职业发展通道的联系，没有进行系统考虑。</a:t>
            </a:r>
            <a:endParaRPr kumimoji="1" lang="zh-CN" altLang="en-US" sz="1600" b="0" dirty="0">
              <a:latin typeface="+mn-lt"/>
              <a:ea typeface="+mn-ea"/>
              <a:cs typeface="+mn-ea"/>
              <a:sym typeface="+mn-lt"/>
            </a:endParaRPr>
          </a:p>
        </p:txBody>
      </p:sp>
      <p:sp>
        <p:nvSpPr>
          <p:cNvPr id="49" name="文本框 48"/>
          <p:cNvSpPr txBox="1"/>
          <p:nvPr/>
        </p:nvSpPr>
        <p:spPr>
          <a:xfrm>
            <a:off x="1351630" y="2425937"/>
            <a:ext cx="3223825" cy="830997"/>
          </a:xfrm>
          <a:prstGeom prst="rect">
            <a:avLst/>
          </a:prstGeom>
          <a:noFill/>
        </p:spPr>
        <p:txBody>
          <a:bodyPr wrap="square" rtlCol="0">
            <a:spAutoFit/>
          </a:bodyPr>
          <a:lstStyle/>
          <a:p>
            <a:r>
              <a:rPr kumimoji="1" lang="zh-CN" altLang="en-US" sz="1600" dirty="0">
                <a:latin typeface="+mn-lt"/>
                <a:ea typeface="+mn-ea"/>
                <a:cs typeface="+mn-ea"/>
                <a:sym typeface="+mn-lt"/>
              </a:rPr>
              <a:t>问题表现：</a:t>
            </a:r>
            <a:r>
              <a:rPr kumimoji="1" lang="zh-CN" altLang="en-US" sz="1600" b="0" dirty="0">
                <a:latin typeface="+mn-lt"/>
                <a:ea typeface="+mn-ea"/>
                <a:cs typeface="+mn-ea"/>
                <a:sym typeface="+mn-lt"/>
              </a:rPr>
              <a:t>在人才培养项目中，没有对能力评估进行整体考虑，对能力的现状和发展缺少跟进。</a:t>
            </a:r>
            <a:endParaRPr kumimoji="1" lang="zh-CN" altLang="en-US" sz="1600" b="0" dirty="0">
              <a:latin typeface="+mn-lt"/>
              <a:ea typeface="+mn-ea"/>
              <a:cs typeface="+mn-ea"/>
              <a:sym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a:xfrm>
            <a:off x="9407770" y="6595121"/>
            <a:ext cx="2540000" cy="170496"/>
          </a:xfrm>
        </p:spPr>
        <p:txBody>
          <a:bodyPr/>
          <a:lstStyle/>
          <a:p>
            <a:pPr>
              <a:defRPr/>
            </a:pPr>
            <a:fld id="{52DF7D90-B49A-4800-BC0D-FE9A7C3546DE}" type="slidenum">
              <a:rPr lang="zh-CN" altLang="en-US" smtClean="0">
                <a:latin typeface="+mn-lt"/>
                <a:ea typeface="+mn-ea"/>
                <a:cs typeface="+mn-ea"/>
                <a:sym typeface="+mn-lt"/>
              </a:rPr>
            </a:fld>
            <a:endParaRPr lang="en-US" altLang="zh-CN">
              <a:latin typeface="+mn-lt"/>
              <a:ea typeface="+mn-ea"/>
              <a:cs typeface="+mn-ea"/>
              <a:sym typeface="+mn-lt"/>
            </a:endParaRPr>
          </a:p>
        </p:txBody>
      </p:sp>
      <p:sp>
        <p:nvSpPr>
          <p:cNvPr id="4" name="标题 1"/>
          <p:cNvSpPr txBox="1"/>
          <p:nvPr/>
        </p:nvSpPr>
        <p:spPr>
          <a:xfrm>
            <a:off x="654539" y="300894"/>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en-US" altLang="zh-CN" dirty="0">
                <a:latin typeface="+mn-lt"/>
                <a:ea typeface="+mn-ea"/>
                <a:cs typeface="+mn-ea"/>
                <a:sym typeface="+mn-lt"/>
              </a:rPr>
              <a:t>T</a:t>
            </a:r>
            <a:r>
              <a:rPr lang="zh-CN" altLang="en-US" dirty="0">
                <a:latin typeface="+mn-lt"/>
                <a:ea typeface="+mn-ea"/>
                <a:cs typeface="+mn-ea"/>
                <a:sym typeface="+mn-lt"/>
              </a:rPr>
              <a:t> 劣势</a:t>
            </a:r>
            <a:r>
              <a:rPr lang="en-US" altLang="zh-CN" dirty="0">
                <a:latin typeface="+mn-lt"/>
                <a:ea typeface="+mn-ea"/>
                <a:cs typeface="+mn-ea"/>
                <a:sym typeface="+mn-lt"/>
              </a:rPr>
              <a:t>5-</a:t>
            </a:r>
            <a:r>
              <a:rPr lang="zh-CN" altLang="zh-CN" dirty="0"/>
              <a:t>培训组织管理专业化水平有待提升</a:t>
            </a:r>
            <a:endParaRPr lang="zh-CN" altLang="zh-CN" dirty="0"/>
          </a:p>
        </p:txBody>
      </p:sp>
      <p:sp>
        <p:nvSpPr>
          <p:cNvPr id="22" name="标题 2"/>
          <p:cNvSpPr>
            <a:spLocks noGrp="1"/>
          </p:cNvSpPr>
          <p:nvPr>
            <p:ph type="title"/>
          </p:nvPr>
        </p:nvSpPr>
        <p:spPr>
          <a:xfrm>
            <a:off x="695325" y="1087953"/>
            <a:ext cx="11433330" cy="685522"/>
          </a:xfrm>
        </p:spPr>
        <p:txBody>
          <a:bodyPr>
            <a:noAutofit/>
          </a:bodyPr>
          <a:lstStyle/>
          <a:p>
            <a:r>
              <a:rPr kumimoji="1" lang="zh-CN" altLang="en-US" sz="1800" dirty="0">
                <a:latin typeface="+mn-lt"/>
                <a:ea typeface="+mn-ea"/>
                <a:cs typeface="+mn-ea"/>
                <a:sym typeface="+mn-lt"/>
              </a:rPr>
              <a:t>发现</a:t>
            </a:r>
            <a:r>
              <a:rPr kumimoji="1" lang="en-US" altLang="zh-CN" sz="1800" dirty="0">
                <a:latin typeface="+mn-lt"/>
                <a:ea typeface="+mn-ea"/>
                <a:cs typeface="+mn-ea"/>
                <a:sym typeface="+mn-lt"/>
              </a:rPr>
              <a:t>5</a:t>
            </a:r>
            <a:r>
              <a:rPr kumimoji="1" lang="zh-CN" altLang="en-US" sz="1800" dirty="0">
                <a:latin typeface="+mn-lt"/>
                <a:ea typeface="+mn-ea"/>
                <a:cs typeface="+mn-ea"/>
                <a:sym typeface="+mn-lt"/>
              </a:rPr>
              <a:t>：通过对访谈的整体分析，对标“麦肯锡组织能力九因素模型”，全行教育培训系统在“核心能力建设”、“责权</a:t>
            </a:r>
            <a:r>
              <a:rPr kumimoji="1" lang="en-US" altLang="zh-CN" sz="1800" dirty="0">
                <a:latin typeface="+mn-lt"/>
                <a:ea typeface="+mn-ea"/>
                <a:cs typeface="+mn-ea"/>
                <a:sym typeface="+mn-lt"/>
              </a:rPr>
              <a:t>”</a:t>
            </a:r>
            <a:r>
              <a:rPr kumimoji="1" lang="zh-CN" altLang="en-US" sz="1800" dirty="0">
                <a:latin typeface="+mn-lt"/>
                <a:ea typeface="+mn-ea"/>
                <a:cs typeface="+mn-ea"/>
                <a:sym typeface="+mn-lt"/>
              </a:rPr>
              <a:t>和“体制制度建设”、“协调与控制”等方面存在较为突出的问题。四个方面具体情形描述如下：</a:t>
            </a:r>
            <a:endParaRPr kumimoji="1" lang="zh-CN" altLang="en-US" sz="1800" dirty="0">
              <a:latin typeface="+mn-lt"/>
              <a:ea typeface="+mn-ea"/>
              <a:cs typeface="+mn-ea"/>
              <a:sym typeface="+mn-lt"/>
            </a:endParaRPr>
          </a:p>
        </p:txBody>
      </p:sp>
      <p:grpSp>
        <p:nvGrpSpPr>
          <p:cNvPr id="27" name="Group 77"/>
          <p:cNvGrpSpPr/>
          <p:nvPr/>
        </p:nvGrpSpPr>
        <p:grpSpPr bwMode="auto">
          <a:xfrm>
            <a:off x="4220432" y="2328842"/>
            <a:ext cx="3728852" cy="3443844"/>
            <a:chOff x="1734" y="605"/>
            <a:chExt cx="1416" cy="1623"/>
          </a:xfrm>
          <a:solidFill>
            <a:srgbClr val="B4A697"/>
          </a:solidFill>
        </p:grpSpPr>
        <p:sp>
          <p:nvSpPr>
            <p:cNvPr id="28" name="DirectionOut2"/>
            <p:cNvSpPr>
              <a:spLocks noChangeArrowheads="1"/>
            </p:cNvSpPr>
            <p:nvPr/>
          </p:nvSpPr>
          <p:spPr bwMode="gray">
            <a:xfrm>
              <a:off x="2265" y="605"/>
              <a:ext cx="362" cy="415"/>
            </a:xfrm>
            <a:prstGeom prst="rect">
              <a:avLst/>
            </a:prstGeom>
            <a:solidFill>
              <a:srgbClr val="FFC000"/>
            </a:solidFill>
            <a:ln w="9525">
              <a:solidFill>
                <a:schemeClr val="tx1"/>
              </a:solidFill>
              <a:miter lim="800000"/>
              <a:headEnd type="none" w="sm" len="sm"/>
              <a:tailEnd type="none" w="sm" len="sm"/>
            </a:ln>
            <a:effectLst>
              <a:outerShdw dist="35921" dir="2700000" algn="ctr" rotWithShape="0">
                <a:schemeClr val="bg2"/>
              </a:outerShdw>
            </a:effectLst>
          </p:spPr>
          <p:txBody>
            <a:bodyPr wrap="none" lIns="47893" tIns="47893" rIns="47893" bIns="47893"/>
            <a:lstStyle/>
            <a:p>
              <a:pPr algn="ctr" defTabSz="958850">
                <a:buSzPct val="120000"/>
              </a:pPr>
              <a:r>
                <a:rPr lang="zh-CN" altLang="en-US" sz="1400" dirty="0">
                  <a:latin typeface="+mn-lt"/>
                  <a:ea typeface="+mn-ea"/>
                  <a:cs typeface="+mn-ea"/>
                  <a:sym typeface="+mn-lt"/>
                </a:rPr>
                <a:t>发展方向</a:t>
              </a:r>
              <a:endParaRPr lang="en-US" altLang="zh-CN" sz="1400" dirty="0">
                <a:latin typeface="+mn-lt"/>
                <a:ea typeface="+mn-ea"/>
                <a:cs typeface="+mn-ea"/>
                <a:sym typeface="+mn-lt"/>
              </a:endParaRPr>
            </a:p>
          </p:txBody>
        </p:sp>
        <p:sp>
          <p:nvSpPr>
            <p:cNvPr id="29" name="ExternalOut2"/>
            <p:cNvSpPr>
              <a:spLocks noChangeAspect="1" noChangeArrowheads="1"/>
            </p:cNvSpPr>
            <p:nvPr/>
          </p:nvSpPr>
          <p:spPr bwMode="auto">
            <a:xfrm>
              <a:off x="1734" y="1212"/>
              <a:ext cx="345" cy="413"/>
            </a:xfrm>
            <a:prstGeom prst="rect">
              <a:avLst/>
            </a:prstGeom>
            <a:solidFill>
              <a:srgbClr val="FFC000"/>
            </a:solidFill>
            <a:ln w="9525">
              <a:solidFill>
                <a:schemeClr val="tx1"/>
              </a:solidFill>
              <a:miter lim="800000"/>
              <a:headEnd type="none" w="sm" len="sm"/>
              <a:tailEnd type="none" w="sm" len="sm"/>
            </a:ln>
            <a:effectLst>
              <a:outerShdw dist="35921" dir="2700000" algn="ctr" rotWithShape="0">
                <a:schemeClr val="bg2"/>
              </a:outerShdw>
            </a:effectLst>
          </p:spPr>
          <p:txBody>
            <a:bodyPr wrap="none" lIns="47893" tIns="47893" rIns="47893" bIns="47893" anchor="ctr"/>
            <a:lstStyle/>
            <a:p>
              <a:pPr algn="ctr" defTabSz="958850">
                <a:buSzPct val="120000"/>
              </a:pPr>
              <a:r>
                <a:rPr lang="zh-CN" altLang="en-US" sz="1400" dirty="0">
                  <a:latin typeface="+mn-lt"/>
                  <a:ea typeface="+mn-ea"/>
                  <a:cs typeface="+mn-ea"/>
                  <a:sym typeface="+mn-lt"/>
                </a:rPr>
                <a:t>外部适应力</a:t>
              </a:r>
              <a:endParaRPr lang="en-US" altLang="zh-CN" sz="1400" dirty="0">
                <a:latin typeface="+mn-lt"/>
                <a:ea typeface="+mn-ea"/>
                <a:cs typeface="+mn-ea"/>
                <a:sym typeface="+mn-lt"/>
              </a:endParaRPr>
            </a:p>
          </p:txBody>
        </p:sp>
        <p:sp>
          <p:nvSpPr>
            <p:cNvPr id="30" name="InnovationOut2"/>
            <p:cNvSpPr>
              <a:spLocks noChangeAspect="1" noChangeArrowheads="1"/>
            </p:cNvSpPr>
            <p:nvPr/>
          </p:nvSpPr>
          <p:spPr bwMode="auto">
            <a:xfrm>
              <a:off x="2802" y="1212"/>
              <a:ext cx="348" cy="413"/>
            </a:xfrm>
            <a:prstGeom prst="rect">
              <a:avLst/>
            </a:prstGeom>
            <a:solidFill>
              <a:srgbClr val="FFC000"/>
            </a:solidFill>
            <a:ln w="9525">
              <a:solidFill>
                <a:schemeClr val="tx1"/>
              </a:solidFill>
              <a:miter lim="800000"/>
              <a:headEnd type="none" w="sm" len="sm"/>
              <a:tailEnd type="none" w="sm" len="sm"/>
            </a:ln>
            <a:effectLst>
              <a:outerShdw dist="35921" dir="2700000" algn="ctr" rotWithShape="0">
                <a:schemeClr val="bg2"/>
              </a:outerShdw>
            </a:effectLst>
          </p:spPr>
          <p:txBody>
            <a:bodyPr wrap="none" lIns="47893" tIns="47893" rIns="47893" bIns="47893" anchor="ctr"/>
            <a:lstStyle/>
            <a:p>
              <a:pPr algn="ctr" defTabSz="958850">
                <a:buSzPct val="120000"/>
              </a:pPr>
              <a:r>
                <a:rPr lang="zh-CN" altLang="en-US" sz="1400" dirty="0">
                  <a:latin typeface="+mn-lt"/>
                  <a:ea typeface="+mn-ea"/>
                  <a:cs typeface="+mn-ea"/>
                  <a:sym typeface="+mn-lt"/>
                </a:rPr>
                <a:t>创新与学习</a:t>
              </a:r>
              <a:endParaRPr lang="en-US" altLang="zh-CN" sz="1400" dirty="0">
                <a:latin typeface="+mn-lt"/>
                <a:ea typeface="+mn-ea"/>
                <a:cs typeface="+mn-ea"/>
                <a:sym typeface="+mn-lt"/>
              </a:endParaRPr>
            </a:p>
          </p:txBody>
        </p:sp>
        <p:sp>
          <p:nvSpPr>
            <p:cNvPr id="31" name="EnvironmentOut2"/>
            <p:cNvSpPr>
              <a:spLocks noChangeAspect="1" noChangeArrowheads="1"/>
            </p:cNvSpPr>
            <p:nvPr/>
          </p:nvSpPr>
          <p:spPr bwMode="auto">
            <a:xfrm>
              <a:off x="2265" y="1815"/>
              <a:ext cx="345" cy="413"/>
            </a:xfrm>
            <a:prstGeom prst="rect">
              <a:avLst/>
            </a:prstGeom>
            <a:solidFill>
              <a:srgbClr val="FFC000"/>
            </a:solidFill>
            <a:ln w="9525">
              <a:solidFill>
                <a:schemeClr val="tx1"/>
              </a:solidFill>
              <a:miter lim="800000"/>
              <a:headEnd type="none" w="sm" len="sm"/>
              <a:tailEnd type="none" w="sm" len="sm"/>
            </a:ln>
            <a:effectLst>
              <a:outerShdw dist="35921" dir="2700000" algn="ctr" rotWithShape="0">
                <a:schemeClr val="bg2"/>
              </a:outerShdw>
            </a:effectLst>
          </p:spPr>
          <p:txBody>
            <a:bodyPr lIns="47893" tIns="47893" rIns="47893" bIns="47893" anchor="b"/>
            <a:lstStyle/>
            <a:p>
              <a:pPr algn="ctr" defTabSz="958850">
                <a:buSzPct val="120000"/>
              </a:pPr>
              <a:r>
                <a:rPr lang="zh-CN" altLang="en-US" sz="1400" dirty="0">
                  <a:latin typeface="+mn-lt"/>
                  <a:ea typeface="+mn-ea"/>
                  <a:cs typeface="+mn-ea"/>
                  <a:sym typeface="+mn-lt"/>
                </a:rPr>
                <a:t>资源整合</a:t>
              </a:r>
              <a:endParaRPr lang="en-US" altLang="zh-CN" sz="1400" dirty="0">
                <a:latin typeface="+mn-lt"/>
                <a:ea typeface="+mn-ea"/>
                <a:cs typeface="+mn-ea"/>
                <a:sym typeface="+mn-lt"/>
              </a:endParaRPr>
            </a:p>
          </p:txBody>
        </p:sp>
        <p:sp>
          <p:nvSpPr>
            <p:cNvPr id="32" name="AccountabilityOut2"/>
            <p:cNvSpPr>
              <a:spLocks noChangeAspect="1" noChangeArrowheads="1"/>
            </p:cNvSpPr>
            <p:nvPr/>
          </p:nvSpPr>
          <p:spPr bwMode="auto">
            <a:xfrm>
              <a:off x="1996" y="904"/>
              <a:ext cx="347" cy="412"/>
            </a:xfrm>
            <a:prstGeom prst="rect">
              <a:avLst/>
            </a:prstGeom>
            <a:grpFill/>
            <a:ln w="9525">
              <a:solidFill>
                <a:schemeClr val="tx1"/>
              </a:solidFill>
              <a:miter lim="800000"/>
              <a:headEnd type="none" w="sm" len="sm"/>
              <a:tailEnd type="none" w="sm" len="sm"/>
            </a:ln>
            <a:effectLst>
              <a:outerShdw dist="35921" dir="2700000" algn="ctr" rotWithShape="0">
                <a:schemeClr val="bg2"/>
              </a:outerShdw>
            </a:effectLst>
          </p:spPr>
          <p:txBody>
            <a:bodyPr wrap="none" lIns="47893" tIns="47893" rIns="47893" bIns="47893"/>
            <a:lstStyle/>
            <a:p>
              <a:pPr algn="ctr" defTabSz="958850">
                <a:buSzPct val="120000"/>
              </a:pPr>
              <a:r>
                <a:rPr lang="zh-CN" altLang="en-US" sz="1400" dirty="0">
                  <a:latin typeface="+mn-lt"/>
                  <a:ea typeface="+mn-ea"/>
                  <a:cs typeface="+mn-ea"/>
                  <a:sym typeface="+mn-lt"/>
                </a:rPr>
                <a:t>责权</a:t>
              </a:r>
              <a:endParaRPr lang="en-US" altLang="zh-CN" sz="1400" dirty="0">
                <a:latin typeface="+mn-lt"/>
                <a:ea typeface="+mn-ea"/>
                <a:cs typeface="+mn-ea"/>
                <a:sym typeface="+mn-lt"/>
              </a:endParaRPr>
            </a:p>
          </p:txBody>
        </p:sp>
        <p:sp>
          <p:nvSpPr>
            <p:cNvPr id="33" name="CoordinationOut2"/>
            <p:cNvSpPr>
              <a:spLocks noChangeAspect="1" noChangeArrowheads="1"/>
            </p:cNvSpPr>
            <p:nvPr/>
          </p:nvSpPr>
          <p:spPr bwMode="gray">
            <a:xfrm>
              <a:off x="2537" y="904"/>
              <a:ext cx="345" cy="412"/>
            </a:xfrm>
            <a:prstGeom prst="rect">
              <a:avLst/>
            </a:prstGeom>
            <a:grpFill/>
            <a:ln w="9525">
              <a:solidFill>
                <a:schemeClr val="tx1"/>
              </a:solidFill>
              <a:miter lim="800000"/>
              <a:headEnd type="none" w="sm" len="sm"/>
              <a:tailEnd type="none" w="sm" len="sm"/>
            </a:ln>
            <a:effectLst>
              <a:outerShdw dist="35921" dir="2700000" algn="ctr" rotWithShape="0">
                <a:schemeClr val="bg2"/>
              </a:outerShdw>
            </a:effectLst>
          </p:spPr>
          <p:txBody>
            <a:bodyPr lIns="47893" tIns="47893" rIns="47893" bIns="47893"/>
            <a:lstStyle/>
            <a:p>
              <a:pPr algn="ctr" defTabSz="958850">
                <a:buSzPct val="120000"/>
              </a:pPr>
              <a:r>
                <a:rPr lang="zh-CN" altLang="en-US" sz="1400" dirty="0">
                  <a:latin typeface="+mn-lt"/>
                  <a:ea typeface="+mn-ea"/>
                  <a:cs typeface="+mn-ea"/>
                  <a:sym typeface="+mn-lt"/>
                </a:rPr>
                <a:t>协调与   控制</a:t>
              </a:r>
              <a:endParaRPr lang="en-US" altLang="zh-CN" sz="1400" dirty="0">
                <a:latin typeface="+mn-lt"/>
                <a:ea typeface="+mn-ea"/>
                <a:cs typeface="+mn-ea"/>
                <a:sym typeface="+mn-lt"/>
              </a:endParaRPr>
            </a:p>
          </p:txBody>
        </p:sp>
        <p:sp>
          <p:nvSpPr>
            <p:cNvPr id="34" name="CapabilitiesOut2"/>
            <p:cNvSpPr>
              <a:spLocks noChangeAspect="1" noChangeArrowheads="1"/>
            </p:cNvSpPr>
            <p:nvPr/>
          </p:nvSpPr>
          <p:spPr bwMode="gray">
            <a:xfrm>
              <a:off x="1996" y="1510"/>
              <a:ext cx="347" cy="414"/>
            </a:xfrm>
            <a:prstGeom prst="rect">
              <a:avLst/>
            </a:prstGeom>
            <a:grpFill/>
            <a:ln w="9525">
              <a:solidFill>
                <a:schemeClr val="tx1"/>
              </a:solidFill>
              <a:miter lim="800000"/>
              <a:headEnd type="none" w="sm" len="sm"/>
              <a:tailEnd type="none" w="sm" len="sm"/>
            </a:ln>
            <a:effectLst>
              <a:outerShdw dist="35921" dir="2700000" algn="ctr" rotWithShape="0">
                <a:schemeClr val="bg2"/>
              </a:outerShdw>
            </a:effectLst>
          </p:spPr>
          <p:txBody>
            <a:bodyPr wrap="none" lIns="47893" tIns="47893" rIns="47893" bIns="47893" anchor="b" anchorCtr="1"/>
            <a:lstStyle/>
            <a:p>
              <a:pPr algn="ctr" defTabSz="958850">
                <a:buSzPct val="120000"/>
              </a:pPr>
              <a:r>
                <a:rPr lang="zh-CN" altLang="en-US" sz="1400" dirty="0">
                  <a:latin typeface="+mn-lt"/>
                  <a:ea typeface="+mn-ea"/>
                  <a:cs typeface="+mn-ea"/>
                  <a:sym typeface="+mn-lt"/>
                </a:rPr>
                <a:t>核心能力</a:t>
              </a:r>
              <a:endParaRPr lang="en-US" altLang="zh-CN" sz="1400" dirty="0">
                <a:latin typeface="+mn-lt"/>
                <a:ea typeface="+mn-ea"/>
                <a:cs typeface="+mn-ea"/>
                <a:sym typeface="+mn-lt"/>
              </a:endParaRPr>
            </a:p>
          </p:txBody>
        </p:sp>
        <p:sp>
          <p:nvSpPr>
            <p:cNvPr id="35" name="MotivationOut2"/>
            <p:cNvSpPr>
              <a:spLocks noChangeAspect="1" noChangeArrowheads="1"/>
            </p:cNvSpPr>
            <p:nvPr/>
          </p:nvSpPr>
          <p:spPr bwMode="gray">
            <a:xfrm>
              <a:off x="2537" y="1510"/>
              <a:ext cx="345" cy="414"/>
            </a:xfrm>
            <a:prstGeom prst="rect">
              <a:avLst/>
            </a:prstGeom>
            <a:grpFill/>
            <a:ln w="9525">
              <a:solidFill>
                <a:schemeClr val="tx1"/>
              </a:solidFill>
              <a:miter lim="800000"/>
              <a:headEnd type="none" w="sm" len="sm"/>
              <a:tailEnd type="none" w="sm" len="sm"/>
            </a:ln>
            <a:effectLst>
              <a:outerShdw dist="35921" dir="2700000" algn="ctr" rotWithShape="0">
                <a:schemeClr val="bg2"/>
              </a:outerShdw>
            </a:effectLst>
          </p:spPr>
          <p:txBody>
            <a:bodyPr wrap="none" lIns="47893" tIns="47893" rIns="47893" bIns="47893" anchor="b" anchorCtr="1"/>
            <a:lstStyle/>
            <a:p>
              <a:pPr algn="ctr" defTabSz="958850">
                <a:buSzPct val="120000"/>
              </a:pPr>
              <a:r>
                <a:rPr lang="zh-CN" altLang="en-US" sz="1400" dirty="0">
                  <a:latin typeface="+mn-lt"/>
                  <a:ea typeface="+mn-ea"/>
                  <a:cs typeface="+mn-ea"/>
                  <a:sym typeface="+mn-lt"/>
                </a:rPr>
                <a:t>体制制度</a:t>
              </a:r>
              <a:endParaRPr lang="en-US" altLang="zh-CN" sz="1400" dirty="0">
                <a:latin typeface="+mn-lt"/>
                <a:ea typeface="+mn-ea"/>
                <a:cs typeface="+mn-ea"/>
                <a:sym typeface="+mn-lt"/>
              </a:endParaRPr>
            </a:p>
          </p:txBody>
        </p:sp>
      </p:grpSp>
      <p:sp>
        <p:nvSpPr>
          <p:cNvPr id="36" name="等腰三角形 11"/>
          <p:cNvSpPr/>
          <p:nvPr/>
        </p:nvSpPr>
        <p:spPr bwMode="auto">
          <a:xfrm>
            <a:off x="5456512" y="3533151"/>
            <a:ext cx="1277759" cy="876345"/>
          </a:xfrm>
          <a:prstGeom prst="triangle">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lstStyle/>
          <a:p>
            <a:pPr algn="ctr" defTabSz="914400" eaLnBrk="0" hangingPunct="0"/>
            <a:r>
              <a:rPr lang="zh-CN" altLang="en-US" sz="1400" dirty="0">
                <a:solidFill>
                  <a:schemeClr val="tx1"/>
                </a:solidFill>
                <a:latin typeface="+mn-lt"/>
                <a:ea typeface="+mn-ea"/>
                <a:cs typeface="+mn-ea"/>
                <a:sym typeface="+mn-lt"/>
              </a:rPr>
              <a:t>领导</a:t>
            </a:r>
            <a:endParaRPr lang="en-US" altLang="zh-CN" sz="1400" dirty="0">
              <a:solidFill>
                <a:schemeClr val="tx1"/>
              </a:solidFill>
              <a:latin typeface="+mn-lt"/>
              <a:ea typeface="+mn-ea"/>
              <a:cs typeface="+mn-ea"/>
              <a:sym typeface="+mn-lt"/>
            </a:endParaRPr>
          </a:p>
          <a:p>
            <a:pPr algn="ctr" defTabSz="914400" eaLnBrk="0" hangingPunct="0"/>
            <a:r>
              <a:rPr lang="zh-CN" altLang="en-US" sz="1400" dirty="0">
                <a:solidFill>
                  <a:schemeClr val="tx1"/>
                </a:solidFill>
                <a:latin typeface="+mn-lt"/>
                <a:ea typeface="+mn-ea"/>
                <a:cs typeface="+mn-ea"/>
                <a:sym typeface="+mn-lt"/>
              </a:rPr>
              <a:t>方式</a:t>
            </a:r>
            <a:endParaRPr lang="zh-CN" altLang="en-US" sz="1400" dirty="0">
              <a:solidFill>
                <a:schemeClr val="tx1"/>
              </a:solidFill>
              <a:latin typeface="+mn-lt"/>
              <a:ea typeface="+mn-ea"/>
              <a:cs typeface="+mn-ea"/>
              <a:sym typeface="+mn-lt"/>
            </a:endParaRPr>
          </a:p>
        </p:txBody>
      </p:sp>
      <p:sp>
        <p:nvSpPr>
          <p:cNvPr id="37" name="Rectangle 28"/>
          <p:cNvSpPr>
            <a:spLocks noChangeArrowheads="1"/>
          </p:cNvSpPr>
          <p:nvPr/>
        </p:nvSpPr>
        <p:spPr bwMode="auto">
          <a:xfrm>
            <a:off x="1079653" y="2381568"/>
            <a:ext cx="3537784"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lvl="1" defTabSz="957580">
              <a:spcBef>
                <a:spcPts val="0"/>
              </a:spcBef>
              <a:buClr>
                <a:schemeClr val="accent1"/>
              </a:buClr>
            </a:pPr>
            <a:r>
              <a:rPr lang="zh-CN" altLang="en-US" sz="1600" dirty="0">
                <a:solidFill>
                  <a:schemeClr val="tx1"/>
                </a:solidFill>
                <a:latin typeface="+mn-lt"/>
                <a:ea typeface="+mn-ea"/>
                <a:cs typeface="+mn-ea"/>
                <a:sym typeface="+mn-lt"/>
              </a:rPr>
              <a:t>责权：</a:t>
            </a:r>
            <a:r>
              <a:rPr lang="zh-CN" altLang="en-US" sz="1600" b="0" dirty="0">
                <a:solidFill>
                  <a:schemeClr val="tx1"/>
                </a:solidFill>
                <a:latin typeface="+mn-lt"/>
                <a:ea typeface="+mn-ea"/>
                <a:cs typeface="+mn-ea"/>
                <a:sym typeface="+mn-lt"/>
              </a:rPr>
              <a:t>整合了内外部共建力量，在总行部门、综合公司、境内外机构的职责方面，尚未形成系统的角色定位、流程和制度体系</a:t>
            </a:r>
            <a:endParaRPr lang="en-US" sz="1600" b="0" dirty="0">
              <a:solidFill>
                <a:schemeClr val="tx1"/>
              </a:solidFill>
              <a:latin typeface="+mn-lt"/>
              <a:ea typeface="+mn-ea"/>
              <a:cs typeface="+mn-ea"/>
              <a:sym typeface="+mn-lt"/>
            </a:endParaRPr>
          </a:p>
        </p:txBody>
      </p:sp>
      <p:sp>
        <p:nvSpPr>
          <p:cNvPr id="39" name="Rectangle 33"/>
          <p:cNvSpPr>
            <a:spLocks noChangeArrowheads="1"/>
          </p:cNvSpPr>
          <p:nvPr/>
        </p:nvSpPr>
        <p:spPr bwMode="auto">
          <a:xfrm>
            <a:off x="1079653" y="4892089"/>
            <a:ext cx="3468472"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lvl="1" defTabSz="957580">
              <a:spcBef>
                <a:spcPts val="0"/>
              </a:spcBef>
              <a:buClr>
                <a:schemeClr val="accent1"/>
              </a:buClr>
            </a:pPr>
            <a:r>
              <a:rPr lang="zh-CN" altLang="en-US" sz="1600" dirty="0">
                <a:solidFill>
                  <a:schemeClr val="tx1"/>
                </a:solidFill>
                <a:latin typeface="+mn-lt"/>
                <a:ea typeface="+mn-ea"/>
                <a:cs typeface="+mn-ea"/>
                <a:sym typeface="+mn-lt"/>
              </a:rPr>
              <a:t>核心能力：</a:t>
            </a:r>
            <a:r>
              <a:rPr lang="zh-CN" altLang="en-US" sz="1600" b="0" dirty="0">
                <a:solidFill>
                  <a:schemeClr val="tx1"/>
                </a:solidFill>
                <a:latin typeface="+mn-lt"/>
                <a:ea typeface="+mn-ea"/>
                <a:cs typeface="+mn-ea"/>
                <a:sym typeface="+mn-lt"/>
              </a:rPr>
              <a:t>在体系规划、项目设计、课程资源开发，特别是应用学习技术进行业务赋能，助力业务解决问题和提升绩效方面，存在明显的能力短板。</a:t>
            </a:r>
            <a:endParaRPr lang="en-US" sz="1600" b="0" dirty="0">
              <a:solidFill>
                <a:schemeClr val="tx1"/>
              </a:solidFill>
              <a:latin typeface="+mn-lt"/>
              <a:ea typeface="+mn-ea"/>
              <a:cs typeface="+mn-ea"/>
              <a:sym typeface="+mn-lt"/>
            </a:endParaRPr>
          </a:p>
        </p:txBody>
      </p:sp>
      <p:sp>
        <p:nvSpPr>
          <p:cNvPr id="40" name="Rectangle 34"/>
          <p:cNvSpPr>
            <a:spLocks noChangeArrowheads="1"/>
          </p:cNvSpPr>
          <p:nvPr/>
        </p:nvSpPr>
        <p:spPr bwMode="auto">
          <a:xfrm>
            <a:off x="7549100" y="5004797"/>
            <a:ext cx="3396649"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lvl="1" defTabSz="957580">
              <a:spcBef>
                <a:spcPts val="0"/>
              </a:spcBef>
              <a:buClr>
                <a:schemeClr val="accent1"/>
              </a:buClr>
            </a:pPr>
            <a:r>
              <a:rPr lang="zh-CN" altLang="en-US" sz="1600" dirty="0">
                <a:latin typeface="+mn-lt"/>
                <a:ea typeface="+mn-ea"/>
                <a:cs typeface="+mn-ea"/>
                <a:sym typeface="+mn-lt"/>
              </a:rPr>
              <a:t>体制制度</a:t>
            </a:r>
            <a:r>
              <a:rPr lang="zh-CN" altLang="en-US" sz="1600" b="0" dirty="0">
                <a:latin typeface="+mn-lt"/>
                <a:ea typeface="+mn-ea"/>
                <a:cs typeface="+mn-ea"/>
                <a:sym typeface="+mn-lt"/>
              </a:rPr>
              <a:t>：中银大学持续进行制度建设，但在人员的具体职责、绩效考核等方面，相对关注过程，较少对成果性严格约束和奖惩措施。</a:t>
            </a:r>
            <a:endParaRPr lang="en-US" sz="1600" b="0" dirty="0">
              <a:latin typeface="+mn-lt"/>
              <a:ea typeface="+mn-ea"/>
              <a:cs typeface="+mn-ea"/>
              <a:sym typeface="+mn-lt"/>
            </a:endParaRPr>
          </a:p>
        </p:txBody>
      </p:sp>
      <p:sp>
        <p:nvSpPr>
          <p:cNvPr id="41" name="文本框 40"/>
          <p:cNvSpPr txBox="1"/>
          <p:nvPr/>
        </p:nvSpPr>
        <p:spPr>
          <a:xfrm>
            <a:off x="5060705" y="5907794"/>
            <a:ext cx="2159566" cy="261610"/>
          </a:xfrm>
          <a:prstGeom prst="rect">
            <a:avLst/>
          </a:prstGeom>
          <a:noFill/>
        </p:spPr>
        <p:txBody>
          <a:bodyPr wrap="none" rtlCol="0">
            <a:spAutoFit/>
          </a:bodyPr>
          <a:lstStyle/>
          <a:p>
            <a:r>
              <a:rPr kumimoji="1" lang="zh-CN" altLang="en-US" sz="1100" b="0" dirty="0">
                <a:latin typeface="+mn-lt"/>
                <a:ea typeface="+mn-ea"/>
                <a:cs typeface="+mn-ea"/>
                <a:sym typeface="+mn-lt"/>
              </a:rPr>
              <a:t>图：麦肯锡组织能力九因素模型</a:t>
            </a:r>
            <a:endParaRPr kumimoji="1" lang="zh-CN" altLang="en-US" sz="1100" b="0" dirty="0">
              <a:latin typeface="+mn-lt"/>
              <a:ea typeface="+mn-ea"/>
              <a:cs typeface="+mn-ea"/>
              <a:sym typeface="+mn-lt"/>
            </a:endParaRPr>
          </a:p>
        </p:txBody>
      </p:sp>
      <p:sp>
        <p:nvSpPr>
          <p:cNvPr id="42" name="Rectangle 32"/>
          <p:cNvSpPr>
            <a:spLocks noChangeArrowheads="1"/>
          </p:cNvSpPr>
          <p:nvPr/>
        </p:nvSpPr>
        <p:spPr bwMode="auto">
          <a:xfrm>
            <a:off x="7549101" y="2367920"/>
            <a:ext cx="3573828"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lvl="1" defTabSz="957580">
              <a:spcBef>
                <a:spcPts val="0"/>
              </a:spcBef>
              <a:buClr>
                <a:schemeClr val="accent1"/>
              </a:buClr>
            </a:pPr>
            <a:r>
              <a:rPr lang="zh-CN" altLang="en-US" sz="1600" dirty="0">
                <a:solidFill>
                  <a:schemeClr val="tx1"/>
                </a:solidFill>
                <a:latin typeface="+mn-lt"/>
                <a:ea typeface="+mn-ea"/>
                <a:cs typeface="+mn-ea"/>
                <a:sym typeface="+mn-lt"/>
              </a:rPr>
              <a:t>协调控制</a:t>
            </a:r>
            <a:r>
              <a:rPr lang="zh-CN" altLang="en-US" sz="1600" b="0" dirty="0">
                <a:solidFill>
                  <a:schemeClr val="tx1"/>
                </a:solidFill>
                <a:latin typeface="+mn-lt"/>
                <a:ea typeface="+mn-ea"/>
                <a:cs typeface="+mn-ea"/>
                <a:sym typeface="+mn-lt"/>
              </a:rPr>
              <a:t>：中银大学总部在对分支机构，特别是分行培训机构和海外培训机构的指导性与规范性方面，协调管控不足。</a:t>
            </a:r>
            <a:endParaRPr lang="en-US" sz="1600" b="0" dirty="0">
              <a:solidFill>
                <a:schemeClr val="tx1"/>
              </a:solidFill>
              <a:latin typeface="+mn-lt"/>
              <a:ea typeface="+mn-ea"/>
              <a:cs typeface="+mn-ea"/>
              <a:sym typeface="+mn-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52DF7D90-B49A-4800-BC0D-FE9A7C3546DE}" type="slidenum">
              <a:rPr lang="zh-CN" altLang="en-US" smtClean="0">
                <a:latin typeface="+mn-lt"/>
                <a:ea typeface="+mn-ea"/>
                <a:cs typeface="+mn-ea"/>
                <a:sym typeface="+mn-lt"/>
              </a:rPr>
            </a:fld>
            <a:endParaRPr lang="en-US" altLang="zh-CN">
              <a:latin typeface="+mn-lt"/>
              <a:ea typeface="+mn-ea"/>
              <a:cs typeface="+mn-ea"/>
              <a:sym typeface="+mn-lt"/>
            </a:endParaRPr>
          </a:p>
        </p:txBody>
      </p:sp>
      <p:sp>
        <p:nvSpPr>
          <p:cNvPr id="24" name="标题 1"/>
          <p:cNvSpPr txBox="1"/>
          <p:nvPr/>
        </p:nvSpPr>
        <p:spPr>
          <a:xfrm>
            <a:off x="703419" y="315159"/>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zh-CN" altLang="en-US" dirty="0">
                <a:latin typeface="+mn-lt"/>
                <a:ea typeface="+mn-ea"/>
                <a:cs typeface="+mn-ea"/>
                <a:sym typeface="+mn-lt"/>
              </a:rPr>
              <a:t>优劣势小结：</a:t>
            </a:r>
            <a:r>
              <a:rPr lang="zh-CN" altLang="en-US" dirty="0">
                <a:cs typeface="+mn-ea"/>
                <a:sym typeface="+mn-lt"/>
              </a:rPr>
              <a:t>教育培训工作的优势明显，但劣势同样凸显。</a:t>
            </a:r>
            <a:endParaRPr lang="zh-CN" altLang="en-US" dirty="0">
              <a:latin typeface="+mn-lt"/>
              <a:ea typeface="+mn-ea"/>
              <a:cs typeface="+mn-ea"/>
              <a:sym typeface="+mn-lt"/>
            </a:endParaRPr>
          </a:p>
        </p:txBody>
      </p:sp>
      <p:graphicFrame>
        <p:nvGraphicFramePr>
          <p:cNvPr id="4" name="表格 3"/>
          <p:cNvGraphicFramePr>
            <a:graphicFrameLocks noGrp="1"/>
          </p:cNvGraphicFramePr>
          <p:nvPr/>
        </p:nvGraphicFramePr>
        <p:xfrm>
          <a:off x="717067" y="1024553"/>
          <a:ext cx="10857522" cy="5253417"/>
        </p:xfrm>
        <a:graphic>
          <a:graphicData uri="http://schemas.openxmlformats.org/drawingml/2006/table">
            <a:tbl>
              <a:tblPr/>
              <a:tblGrid>
                <a:gridCol w="10857522"/>
              </a:tblGrid>
              <a:tr h="404109">
                <a:tc>
                  <a:txBody>
                    <a:bodyPr/>
                    <a:lstStyle/>
                    <a:p>
                      <a:pPr algn="ctr" fontAlgn="ctr"/>
                      <a:r>
                        <a:rPr lang="zh-CN" altLang="en-US" sz="1600" b="1" i="0" u="none" strike="noStrike" dirty="0">
                          <a:solidFill>
                            <a:schemeClr val="bg1"/>
                          </a:solidFill>
                          <a:effectLst/>
                          <a:latin typeface="+mn-lt"/>
                          <a:ea typeface="+mn-ea"/>
                          <a:cs typeface="+mn-ea"/>
                          <a:sym typeface="+mn-lt"/>
                        </a:rPr>
                        <a:t>中银教育培训内部因素评价</a:t>
                      </a:r>
                      <a:endParaRPr lang="zh-CN" altLang="en-US" sz="1600" b="1" i="0" u="none" strike="noStrike" dirty="0">
                        <a:solidFill>
                          <a:schemeClr val="bg1"/>
                        </a:solidFill>
                        <a:effectLst/>
                        <a:latin typeface="+mn-lt"/>
                        <a:ea typeface="+mn-ea"/>
                        <a:cs typeface="+mn-ea"/>
                        <a:sym typeface="+mn-lt"/>
                      </a:endParaRPr>
                    </a:p>
                  </a:txBody>
                  <a:tcPr marL="743" marR="743" marT="74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r>
              <a:tr h="404109">
                <a:tc>
                  <a:txBody>
                    <a:bodyPr/>
                    <a:lstStyle/>
                    <a:p>
                      <a:pPr algn="ctr" fontAlgn="ctr"/>
                      <a:r>
                        <a:rPr lang="zh-CN" altLang="en-US" sz="1600" b="1" i="0" u="none" strike="noStrike" dirty="0">
                          <a:solidFill>
                            <a:srgbClr val="000000"/>
                          </a:solidFill>
                          <a:effectLst/>
                          <a:latin typeface="+mn-lt"/>
                          <a:ea typeface="+mn-ea"/>
                          <a:cs typeface="+mn-ea"/>
                          <a:sym typeface="+mn-lt"/>
                        </a:rPr>
                        <a:t>关键内部因素</a:t>
                      </a:r>
                      <a:endParaRPr lang="zh-CN" altLang="en-US" sz="1600" b="1" i="0" u="none" strike="noStrike" dirty="0">
                        <a:solidFill>
                          <a:srgbClr val="000000"/>
                        </a:solidFill>
                        <a:effectLst/>
                        <a:latin typeface="+mn-lt"/>
                        <a:ea typeface="+mn-ea"/>
                        <a:cs typeface="+mn-ea"/>
                        <a:sym typeface="+mn-lt"/>
                      </a:endParaRPr>
                    </a:p>
                  </a:txBody>
                  <a:tcPr marL="743" marR="743" marT="74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4109">
                <a:tc>
                  <a:txBody>
                    <a:bodyPr/>
                    <a:lstStyle/>
                    <a:p>
                      <a:pPr algn="ctr" fontAlgn="ctr"/>
                      <a:r>
                        <a:rPr lang="zh-CN" altLang="en-US" sz="1600" b="0" i="0" u="none" strike="noStrike" dirty="0">
                          <a:solidFill>
                            <a:srgbClr val="000000"/>
                          </a:solidFill>
                          <a:effectLst/>
                          <a:latin typeface="+mn-lt"/>
                          <a:ea typeface="+mn-ea"/>
                          <a:cs typeface="+mn-ea"/>
                          <a:sym typeface="+mn-lt"/>
                        </a:rPr>
                        <a:t>优势</a:t>
                      </a:r>
                      <a:endParaRPr lang="zh-CN" altLang="en-US" sz="1600" b="0" i="0" u="none" strike="noStrike" dirty="0">
                        <a:solidFill>
                          <a:srgbClr val="000000"/>
                        </a:solidFill>
                        <a:effectLst/>
                        <a:latin typeface="+mn-lt"/>
                        <a:ea typeface="+mn-ea"/>
                        <a:cs typeface="+mn-ea"/>
                        <a:sym typeface="+mn-lt"/>
                      </a:endParaRPr>
                    </a:p>
                  </a:txBody>
                  <a:tcPr marL="743" marR="743" marT="74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r>
              <a:tr h="404109">
                <a:tc>
                  <a:txBody>
                    <a:bodyPr/>
                    <a:lstStyle/>
                    <a:p>
                      <a:pPr algn="l" fontAlgn="ctr"/>
                      <a:r>
                        <a:rPr lang="en-US" altLang="zh-CN" sz="1600" b="0" i="0" u="none" strike="noStrike" dirty="0">
                          <a:solidFill>
                            <a:srgbClr val="000000"/>
                          </a:solidFill>
                          <a:effectLst/>
                          <a:latin typeface="+mn-lt"/>
                          <a:ea typeface="+mn-ea"/>
                          <a:cs typeface="+mn-ea"/>
                          <a:sym typeface="+mn-lt"/>
                        </a:rPr>
                        <a:t>1.</a:t>
                      </a:r>
                      <a:r>
                        <a:rPr lang="zh-CN" altLang="en-US" sz="1600" b="0" i="0" u="none" strike="noStrike" dirty="0">
                          <a:solidFill>
                            <a:srgbClr val="000000"/>
                          </a:solidFill>
                          <a:effectLst/>
                          <a:latin typeface="+mn-lt"/>
                          <a:ea typeface="+mn-ea"/>
                          <a:cs typeface="+mn-ea"/>
                          <a:sym typeface="+mn-lt"/>
                        </a:rPr>
                        <a:t>按照“</a:t>
                      </a:r>
                      <a:r>
                        <a:rPr lang="en-US" altLang="zh-CN" sz="1600" b="0" i="0" u="none" strike="noStrike" dirty="0">
                          <a:solidFill>
                            <a:srgbClr val="000000"/>
                          </a:solidFill>
                          <a:effectLst/>
                          <a:latin typeface="+mn-lt"/>
                          <a:ea typeface="+mn-ea"/>
                          <a:cs typeface="+mn-ea"/>
                          <a:sym typeface="+mn-lt"/>
                        </a:rPr>
                        <a:t>1+9+</a:t>
                      </a:r>
                      <a:r>
                        <a:rPr lang="en-US" sz="1600" b="0" i="0" u="none" strike="noStrike" dirty="0">
                          <a:solidFill>
                            <a:srgbClr val="000000"/>
                          </a:solidFill>
                          <a:effectLst/>
                          <a:latin typeface="+mn-lt"/>
                          <a:ea typeface="+mn-ea"/>
                          <a:cs typeface="+mn-ea"/>
                          <a:sym typeface="+mn-lt"/>
                        </a:rPr>
                        <a:t>N”</a:t>
                      </a:r>
                      <a:r>
                        <a:rPr lang="zh-CN" altLang="en-US" sz="1600" b="0" i="0" u="none" strike="noStrike" dirty="0">
                          <a:solidFill>
                            <a:srgbClr val="000000"/>
                          </a:solidFill>
                          <a:effectLst/>
                          <a:latin typeface="+mn-lt"/>
                          <a:ea typeface="+mn-ea"/>
                          <a:cs typeface="+mn-ea"/>
                          <a:sym typeface="+mn-lt"/>
                        </a:rPr>
                        <a:t>的组织架构， 建立了中银大学完善的治理体系和管理制度，激发了内部活力；</a:t>
                      </a:r>
                      <a:endParaRPr lang="zh-CN" altLang="en-US" sz="1600" b="0" i="0" u="none" strike="noStrike" dirty="0">
                        <a:solidFill>
                          <a:srgbClr val="000000"/>
                        </a:solidFill>
                        <a:effectLst/>
                        <a:latin typeface="+mn-lt"/>
                        <a:ea typeface="+mn-ea"/>
                        <a:cs typeface="+mn-ea"/>
                        <a:sym typeface="+mn-lt"/>
                      </a:endParaRPr>
                    </a:p>
                  </a:txBody>
                  <a:tcPr marL="743" marR="743" marT="74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04109">
                <a:tc>
                  <a:txBody>
                    <a:bodyPr/>
                    <a:lstStyle/>
                    <a:p>
                      <a:pPr algn="l" fontAlgn="ctr"/>
                      <a:r>
                        <a:rPr lang="en-US" altLang="zh-CN" sz="1600" b="0" i="0" u="none" strike="noStrike" dirty="0">
                          <a:solidFill>
                            <a:srgbClr val="000000"/>
                          </a:solidFill>
                          <a:effectLst/>
                          <a:latin typeface="+mn-lt"/>
                          <a:ea typeface="+mn-ea"/>
                          <a:cs typeface="+mn-ea"/>
                          <a:sym typeface="+mn-lt"/>
                        </a:rPr>
                        <a:t>2.</a:t>
                      </a:r>
                      <a:r>
                        <a:rPr lang="zh-CN" altLang="en-US" sz="1600" b="0" i="0" u="none" strike="noStrike" dirty="0">
                          <a:solidFill>
                            <a:srgbClr val="000000"/>
                          </a:solidFill>
                          <a:effectLst/>
                          <a:latin typeface="+mn-lt"/>
                          <a:ea typeface="+mn-ea"/>
                          <a:cs typeface="+mn-ea"/>
                          <a:sym typeface="+mn-lt"/>
                        </a:rPr>
                        <a:t>中银大学云平台经历四次更新迭代，在新技术应用、平台功能和体验升级以及学习内容扩充上，取得长足进步；</a:t>
                      </a:r>
                      <a:endParaRPr lang="zh-CN" altLang="en-US" sz="1600" b="0" i="0" u="none" strike="noStrike" dirty="0">
                        <a:solidFill>
                          <a:srgbClr val="000000"/>
                        </a:solidFill>
                        <a:effectLst/>
                        <a:latin typeface="+mn-lt"/>
                        <a:ea typeface="+mn-ea"/>
                        <a:cs typeface="+mn-ea"/>
                        <a:sym typeface="+mn-lt"/>
                      </a:endParaRPr>
                    </a:p>
                  </a:txBody>
                  <a:tcPr marL="743" marR="743" marT="74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04109">
                <a:tc>
                  <a:txBody>
                    <a:bodyPr/>
                    <a:lstStyle/>
                    <a:p>
                      <a:pPr algn="l" fontAlgn="ctr"/>
                      <a:r>
                        <a:rPr lang="en-US" altLang="zh-CN" sz="1600" b="0" i="0" u="none" strike="noStrike" dirty="0">
                          <a:solidFill>
                            <a:srgbClr val="000000"/>
                          </a:solidFill>
                          <a:effectLst/>
                          <a:latin typeface="+mn-lt"/>
                          <a:ea typeface="+mn-ea"/>
                          <a:cs typeface="+mn-ea"/>
                          <a:sym typeface="+mn-lt"/>
                        </a:rPr>
                        <a:t>3.</a:t>
                      </a:r>
                      <a:r>
                        <a:rPr lang="zh-CN" altLang="en-US" sz="1600" b="0" i="0" u="none" strike="noStrike" dirty="0">
                          <a:solidFill>
                            <a:srgbClr val="000000"/>
                          </a:solidFill>
                          <a:effectLst/>
                          <a:latin typeface="+mn-lt"/>
                          <a:ea typeface="+mn-ea"/>
                          <a:cs typeface="+mn-ea"/>
                          <a:sym typeface="+mn-lt"/>
                        </a:rPr>
                        <a:t>建立了遍布全球的培训机构，为人才落地培养和全球化人才库建设提供了硬件平台保障；</a:t>
                      </a:r>
                      <a:endParaRPr lang="zh-CN" altLang="en-US" sz="1600" b="0" i="0" u="none" strike="noStrike" dirty="0">
                        <a:solidFill>
                          <a:srgbClr val="000000"/>
                        </a:solidFill>
                        <a:effectLst/>
                        <a:latin typeface="+mn-lt"/>
                        <a:ea typeface="+mn-ea"/>
                        <a:cs typeface="+mn-ea"/>
                        <a:sym typeface="+mn-lt"/>
                      </a:endParaRPr>
                    </a:p>
                  </a:txBody>
                  <a:tcPr marL="743" marR="743" marT="74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04109">
                <a:tc>
                  <a:txBody>
                    <a:bodyPr/>
                    <a:lstStyle/>
                    <a:p>
                      <a:pPr algn="l" fontAlgn="ctr"/>
                      <a:r>
                        <a:rPr lang="en-US" altLang="zh-CN" sz="1600" b="0" i="0" u="none" strike="noStrike" dirty="0">
                          <a:solidFill>
                            <a:srgbClr val="000000"/>
                          </a:solidFill>
                          <a:effectLst/>
                          <a:latin typeface="+mn-lt"/>
                          <a:ea typeface="+mn-ea"/>
                          <a:cs typeface="+mn-ea"/>
                          <a:sym typeface="+mn-lt"/>
                        </a:rPr>
                        <a:t>4.</a:t>
                      </a:r>
                      <a:r>
                        <a:rPr lang="zh-CN" altLang="en-US" sz="1600" b="0" i="0" u="none" strike="noStrike" dirty="0">
                          <a:solidFill>
                            <a:srgbClr val="000000"/>
                          </a:solidFill>
                          <a:effectLst/>
                          <a:latin typeface="+mn-lt"/>
                          <a:ea typeface="+mn-ea"/>
                          <a:cs typeface="+mn-ea"/>
                          <a:sym typeface="+mn-lt"/>
                        </a:rPr>
                        <a:t>与国各类顶尖机构建立多层面的合作关系，探索对外合作办学模式，以培训力量为业务拓展开辟新场景。</a:t>
                      </a:r>
                      <a:endParaRPr lang="zh-CN" altLang="en-US" sz="1600" b="0" i="0" u="none" strike="noStrike" dirty="0">
                        <a:solidFill>
                          <a:srgbClr val="000000"/>
                        </a:solidFill>
                        <a:effectLst/>
                        <a:latin typeface="+mn-lt"/>
                        <a:ea typeface="+mn-ea"/>
                        <a:cs typeface="+mn-ea"/>
                        <a:sym typeface="+mn-lt"/>
                      </a:endParaRPr>
                    </a:p>
                  </a:txBody>
                  <a:tcPr marL="743" marR="743" marT="74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04109">
                <a:tc>
                  <a:txBody>
                    <a:bodyPr/>
                    <a:lstStyle/>
                    <a:p>
                      <a:pPr algn="ctr" fontAlgn="ctr"/>
                      <a:r>
                        <a:rPr lang="zh-CN" altLang="en-US" sz="1600" b="0" i="0" u="none" strike="noStrike" dirty="0">
                          <a:solidFill>
                            <a:srgbClr val="000000"/>
                          </a:solidFill>
                          <a:effectLst/>
                          <a:latin typeface="+mn-lt"/>
                          <a:ea typeface="+mn-ea"/>
                          <a:cs typeface="+mn-ea"/>
                          <a:sym typeface="+mn-lt"/>
                        </a:rPr>
                        <a:t>劣势</a:t>
                      </a:r>
                      <a:endParaRPr lang="zh-CN" altLang="en-US" sz="1600" b="0" i="0" u="none" strike="noStrike" dirty="0">
                        <a:solidFill>
                          <a:srgbClr val="000000"/>
                        </a:solidFill>
                        <a:effectLst/>
                        <a:latin typeface="+mn-lt"/>
                        <a:ea typeface="+mn-ea"/>
                        <a:cs typeface="+mn-ea"/>
                        <a:sym typeface="+mn-lt"/>
                      </a:endParaRPr>
                    </a:p>
                  </a:txBody>
                  <a:tcPr marL="743" marR="743" marT="74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DBDB"/>
                    </a:solidFill>
                  </a:tcPr>
                </a:tc>
              </a:tr>
              <a:tr h="404109">
                <a:tc>
                  <a:txBody>
                    <a:bodyPr/>
                    <a:lstStyle/>
                    <a:p>
                      <a:pPr marL="0" marR="0" indent="0" algn="l" defTabSz="1125220" rtl="0" eaLnBrk="1" fontAlgn="ctr" latinLnBrk="0" hangingPunct="1">
                        <a:lnSpc>
                          <a:spcPct val="100000"/>
                        </a:lnSpc>
                        <a:spcBef>
                          <a:spcPts val="0"/>
                        </a:spcBef>
                        <a:spcAft>
                          <a:spcPts val="0"/>
                        </a:spcAft>
                        <a:buClrTx/>
                        <a:buSzTx/>
                        <a:buFontTx/>
                        <a:buNone/>
                        <a:defRPr/>
                      </a:pPr>
                      <a:r>
                        <a:rPr lang="en-US" altLang="zh-CN" sz="1600" b="0" i="0" u="none" strike="noStrike" dirty="0">
                          <a:solidFill>
                            <a:srgbClr val="000000"/>
                          </a:solidFill>
                          <a:effectLst/>
                          <a:latin typeface="+mn-lt"/>
                          <a:ea typeface="+mn-ea"/>
                          <a:cs typeface="+mn-ea"/>
                          <a:sym typeface="+mn-lt"/>
                        </a:rPr>
                        <a:t>1.</a:t>
                      </a:r>
                      <a:r>
                        <a:rPr lang="zh-CN" altLang="en-US" sz="1600" b="0" i="0" u="none" strike="noStrike" dirty="0">
                          <a:solidFill>
                            <a:srgbClr val="000000"/>
                          </a:solidFill>
                          <a:effectLst/>
                          <a:latin typeface="+mn-lt"/>
                          <a:ea typeface="+mn-ea"/>
                          <a:cs typeface="+mn-ea"/>
                          <a:sym typeface="+mn-lt"/>
                        </a:rPr>
                        <a:t>中银教育培训系统的</a:t>
                      </a:r>
                      <a:r>
                        <a:rPr lang="zh-CN" altLang="en-US" sz="1600" dirty="0">
                          <a:latin typeface="+mn-lt"/>
                          <a:ea typeface="+mn-ea"/>
                          <a:cs typeface="+mn-ea"/>
                          <a:sym typeface="+mn-lt"/>
                        </a:rPr>
                        <a:t>战略定位不够清晰</a:t>
                      </a:r>
                      <a:r>
                        <a:rPr lang="zh-CN" altLang="en-US" sz="1600" b="0" i="0" u="none" strike="noStrike" dirty="0">
                          <a:solidFill>
                            <a:srgbClr val="000000"/>
                          </a:solidFill>
                          <a:effectLst/>
                          <a:latin typeface="+mn-lt"/>
                          <a:ea typeface="+mn-ea"/>
                          <a:cs typeface="+mn-ea"/>
                          <a:sym typeface="+mn-lt"/>
                        </a:rPr>
                        <a:t>，目前仍然主要是培训事务专家；</a:t>
                      </a:r>
                      <a:endParaRPr lang="zh-CN" altLang="en-US" sz="1600" b="0" i="0" u="none" strike="noStrike" dirty="0">
                        <a:solidFill>
                          <a:srgbClr val="000000"/>
                        </a:solidFill>
                        <a:effectLst/>
                        <a:latin typeface="+mn-lt"/>
                        <a:ea typeface="+mn-ea"/>
                        <a:cs typeface="+mn-ea"/>
                        <a:sym typeface="+mn-lt"/>
                      </a:endParaRPr>
                    </a:p>
                  </a:txBody>
                  <a:tcPr marL="743" marR="743" marT="74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04109">
                <a:tc>
                  <a:txBody>
                    <a:bodyPr/>
                    <a:lstStyle/>
                    <a:p>
                      <a:pPr marL="0" marR="0" indent="0" algn="l" defTabSz="1125220" rtl="0" eaLnBrk="1" fontAlgn="ctr" latinLnBrk="0" hangingPunct="1">
                        <a:lnSpc>
                          <a:spcPct val="100000"/>
                        </a:lnSpc>
                        <a:spcBef>
                          <a:spcPts val="0"/>
                        </a:spcBef>
                        <a:spcAft>
                          <a:spcPts val="0"/>
                        </a:spcAft>
                        <a:buClrTx/>
                        <a:buSzTx/>
                        <a:buFontTx/>
                        <a:buNone/>
                        <a:defRPr/>
                      </a:pPr>
                      <a:r>
                        <a:rPr lang="en-US" altLang="zh-CN" sz="1600" b="0" i="0" u="none" strike="noStrike" dirty="0">
                          <a:solidFill>
                            <a:srgbClr val="000000"/>
                          </a:solidFill>
                          <a:effectLst/>
                          <a:latin typeface="+mn-lt"/>
                          <a:ea typeface="+mn-ea"/>
                          <a:cs typeface="+mn-ea"/>
                          <a:sym typeface="+mn-lt"/>
                        </a:rPr>
                        <a:t>2.</a:t>
                      </a:r>
                      <a:r>
                        <a:rPr lang="zh-CN" altLang="en-US" sz="1600" b="0" i="0" u="none" strike="noStrike" dirty="0">
                          <a:solidFill>
                            <a:srgbClr val="000000"/>
                          </a:solidFill>
                          <a:effectLst/>
                          <a:latin typeface="+mn-lt"/>
                          <a:ea typeface="+mn-ea"/>
                          <a:cs typeface="+mn-ea"/>
                          <a:sym typeface="+mn-lt"/>
                        </a:rPr>
                        <a:t>九大专业学院</a:t>
                      </a:r>
                      <a:r>
                        <a:rPr lang="zh-CN" altLang="en-US" sz="1600" dirty="0">
                          <a:latin typeface="+mn-lt"/>
                          <a:ea typeface="+mn-ea"/>
                          <a:cs typeface="+mn-ea"/>
                          <a:sym typeface="+mn-lt"/>
                        </a:rPr>
                        <a:t>专业学院建设缺乏有效机制</a:t>
                      </a:r>
                      <a:r>
                        <a:rPr lang="zh-CN" altLang="en-US" sz="1600" b="0" i="0" u="none" strike="noStrike" dirty="0">
                          <a:solidFill>
                            <a:srgbClr val="000000"/>
                          </a:solidFill>
                          <a:effectLst/>
                          <a:latin typeface="+mn-lt"/>
                          <a:ea typeface="+mn-ea"/>
                          <a:cs typeface="+mn-ea"/>
                          <a:sym typeface="+mn-lt"/>
                        </a:rPr>
                        <a:t>，专业学院发展不同程度地遇到阻力；</a:t>
                      </a:r>
                      <a:endParaRPr lang="zh-CN" altLang="en-US" sz="1600" b="0" i="0" u="none" strike="noStrike" dirty="0">
                        <a:solidFill>
                          <a:srgbClr val="000000"/>
                        </a:solidFill>
                        <a:effectLst/>
                        <a:latin typeface="+mn-lt"/>
                        <a:ea typeface="+mn-ea"/>
                        <a:cs typeface="+mn-ea"/>
                        <a:sym typeface="+mn-lt"/>
                      </a:endParaRPr>
                    </a:p>
                  </a:txBody>
                  <a:tcPr marL="743" marR="743" marT="74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04109">
                <a:tc>
                  <a:txBody>
                    <a:bodyPr/>
                    <a:lstStyle/>
                    <a:p>
                      <a:pPr algn="l" fontAlgn="ctr"/>
                      <a:r>
                        <a:rPr lang="en-US" altLang="zh-CN" sz="1600" b="0" i="0" u="none" strike="noStrike" dirty="0">
                          <a:solidFill>
                            <a:srgbClr val="000000"/>
                          </a:solidFill>
                          <a:effectLst/>
                          <a:latin typeface="+mn-lt"/>
                          <a:ea typeface="+mn-ea"/>
                          <a:cs typeface="+mn-ea"/>
                          <a:sym typeface="+mn-lt"/>
                        </a:rPr>
                        <a:t>3.</a:t>
                      </a:r>
                      <a:r>
                        <a:rPr lang="zh-CN" altLang="en-US" sz="1600" b="0" i="0" u="none" strike="noStrike" dirty="0">
                          <a:solidFill>
                            <a:srgbClr val="000000"/>
                          </a:solidFill>
                          <a:effectLst/>
                          <a:latin typeface="+mn-lt"/>
                          <a:ea typeface="+mn-ea"/>
                          <a:cs typeface="+mn-ea"/>
                          <a:sym typeface="+mn-lt"/>
                        </a:rPr>
                        <a:t>总体培训成熟度不高，部分维度与标杆水平差距明显；</a:t>
                      </a:r>
                      <a:endParaRPr lang="zh-CN" altLang="en-US" sz="1600" b="0" i="0" u="none" strike="noStrike" dirty="0">
                        <a:solidFill>
                          <a:srgbClr val="000000"/>
                        </a:solidFill>
                        <a:effectLst/>
                        <a:latin typeface="+mn-lt"/>
                        <a:ea typeface="+mn-ea"/>
                        <a:cs typeface="+mn-ea"/>
                        <a:sym typeface="+mn-lt"/>
                      </a:endParaRPr>
                    </a:p>
                  </a:txBody>
                  <a:tcPr marL="743" marR="743" marT="74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04109">
                <a:tc>
                  <a:txBody>
                    <a:bodyPr/>
                    <a:lstStyle/>
                    <a:p>
                      <a:pPr algn="l" fontAlgn="ctr"/>
                      <a:r>
                        <a:rPr lang="en-US" altLang="zh-CN" sz="1600" b="0" i="0" u="none" strike="noStrike" dirty="0">
                          <a:solidFill>
                            <a:srgbClr val="000000"/>
                          </a:solidFill>
                          <a:effectLst/>
                          <a:latin typeface="+mn-lt"/>
                          <a:ea typeface="+mn-ea"/>
                          <a:cs typeface="+mn-ea"/>
                          <a:sym typeface="+mn-lt"/>
                        </a:rPr>
                        <a:t>4.</a:t>
                      </a:r>
                      <a:r>
                        <a:rPr kumimoji="1" lang="zh-CN" altLang="en-US" sz="1600" dirty="0">
                          <a:latin typeface="+mn-lt"/>
                          <a:ea typeface="+mn-ea"/>
                          <a:cs typeface="+mn-ea"/>
                          <a:sym typeface="+mn-lt"/>
                        </a:rPr>
                        <a:t>员工学习发展的结果没有和能力评估、职位调整、人才盘点、继任计划、职业发展等进行有效关联；</a:t>
                      </a:r>
                      <a:endParaRPr lang="zh-CN" altLang="en-US" sz="1600" b="0" i="0" u="none" strike="noStrike" dirty="0">
                        <a:solidFill>
                          <a:srgbClr val="000000"/>
                        </a:solidFill>
                        <a:effectLst/>
                        <a:latin typeface="+mn-lt"/>
                        <a:ea typeface="+mn-ea"/>
                        <a:cs typeface="+mn-ea"/>
                        <a:sym typeface="+mn-lt"/>
                      </a:endParaRPr>
                    </a:p>
                  </a:txBody>
                  <a:tcPr marL="743" marR="743" marT="74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04109">
                <a:tc>
                  <a:txBody>
                    <a:bodyPr/>
                    <a:lstStyle/>
                    <a:p>
                      <a:pPr marL="0" marR="0" indent="0" algn="l" defTabSz="1125220" rtl="0" eaLnBrk="1" fontAlgn="ctr" latinLnBrk="0" hangingPunct="1">
                        <a:lnSpc>
                          <a:spcPct val="100000"/>
                        </a:lnSpc>
                        <a:spcBef>
                          <a:spcPts val="0"/>
                        </a:spcBef>
                        <a:spcAft>
                          <a:spcPts val="0"/>
                        </a:spcAft>
                        <a:buClrTx/>
                        <a:buSzTx/>
                        <a:buFontTx/>
                        <a:buNone/>
                        <a:defRPr/>
                      </a:pPr>
                      <a:r>
                        <a:rPr lang="en-US" altLang="zh-CN" sz="1600" b="0" i="0" u="none" strike="noStrike" dirty="0">
                          <a:solidFill>
                            <a:srgbClr val="000000"/>
                          </a:solidFill>
                          <a:effectLst/>
                          <a:latin typeface="+mn-lt"/>
                          <a:ea typeface="+mn-ea"/>
                          <a:cs typeface="+mn-ea"/>
                          <a:sym typeface="+mn-lt"/>
                        </a:rPr>
                        <a:t>5.</a:t>
                      </a:r>
                      <a:r>
                        <a:rPr lang="zh-CN" altLang="en-US" sz="1600" dirty="0">
                          <a:latin typeface="+mn-lt"/>
                          <a:ea typeface="+mn-ea"/>
                          <a:cs typeface="+mn-ea"/>
                          <a:sym typeface="+mn-lt"/>
                        </a:rPr>
                        <a:t>培训组织管理专业化水平有待提升，</a:t>
                      </a:r>
                      <a:r>
                        <a:rPr lang="zh-CN" altLang="en-US" sz="1600" b="0" i="0" u="none" strike="noStrike" dirty="0">
                          <a:solidFill>
                            <a:srgbClr val="000000"/>
                          </a:solidFill>
                          <a:effectLst/>
                          <a:latin typeface="+mn-lt"/>
                          <a:ea typeface="+mn-ea"/>
                          <a:cs typeface="+mn-ea"/>
                          <a:sym typeface="+mn-lt"/>
                        </a:rPr>
                        <a:t>在团队核心能力建设、责权和制度构建等组织能力建设方面，存在较为突出的问题。</a:t>
                      </a:r>
                      <a:endParaRPr lang="zh-CN" altLang="en-US" sz="1600" b="0" i="0" u="none" strike="noStrike" dirty="0">
                        <a:solidFill>
                          <a:srgbClr val="000000"/>
                        </a:solidFill>
                        <a:effectLst/>
                        <a:latin typeface="+mn-lt"/>
                        <a:ea typeface="+mn-ea"/>
                        <a:cs typeface="+mn-ea"/>
                        <a:sym typeface="+mn-lt"/>
                      </a:endParaRPr>
                    </a:p>
                  </a:txBody>
                  <a:tcPr marL="743" marR="743" marT="74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52DF7D90-B49A-4800-BC0D-FE9A7C3546DE}" type="slidenum">
              <a:rPr lang="zh-CN" altLang="en-US" smtClean="0">
                <a:latin typeface="+mn-lt"/>
                <a:ea typeface="+mn-ea"/>
                <a:cs typeface="+mn-ea"/>
                <a:sym typeface="+mn-lt"/>
              </a:rPr>
            </a:fld>
            <a:endParaRPr lang="en-US" altLang="zh-CN">
              <a:latin typeface="+mn-lt"/>
              <a:ea typeface="+mn-ea"/>
              <a:cs typeface="+mn-ea"/>
              <a:sym typeface="+mn-lt"/>
            </a:endParaRPr>
          </a:p>
        </p:txBody>
      </p:sp>
      <p:sp>
        <p:nvSpPr>
          <p:cNvPr id="38" name="标题 1"/>
          <p:cNvSpPr txBox="1"/>
          <p:nvPr/>
        </p:nvSpPr>
        <p:spPr>
          <a:xfrm>
            <a:off x="636465" y="331575"/>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en-US" altLang="zh-CN" dirty="0">
                <a:latin typeface="+mn-lt"/>
                <a:ea typeface="+mn-ea"/>
                <a:cs typeface="+mn-ea"/>
                <a:sym typeface="+mn-lt"/>
              </a:rPr>
              <a:t>SWOT</a:t>
            </a:r>
            <a:r>
              <a:rPr lang="zh-CN" altLang="en-US" dirty="0">
                <a:latin typeface="+mn-lt"/>
                <a:ea typeface="+mn-ea"/>
                <a:cs typeface="+mn-ea"/>
                <a:sym typeface="+mn-lt"/>
              </a:rPr>
              <a:t>分析</a:t>
            </a:r>
            <a:r>
              <a:rPr lang="en-US" altLang="zh-CN" dirty="0">
                <a:latin typeface="+mn-lt"/>
                <a:ea typeface="+mn-ea"/>
                <a:cs typeface="+mn-ea"/>
                <a:sym typeface="+mn-lt"/>
              </a:rPr>
              <a:t>-</a:t>
            </a:r>
            <a:r>
              <a:rPr lang="zh-CN" altLang="en-US" dirty="0">
                <a:latin typeface="+mn-lt"/>
                <a:ea typeface="+mn-ea"/>
                <a:cs typeface="+mn-ea"/>
                <a:sym typeface="+mn-lt"/>
              </a:rPr>
              <a:t>战略打法组合的选择</a:t>
            </a:r>
            <a:endParaRPr lang="zh-CN" altLang="en-US" dirty="0">
              <a:latin typeface="+mn-lt"/>
              <a:ea typeface="+mn-ea"/>
              <a:cs typeface="+mn-ea"/>
              <a:sym typeface="+mn-lt"/>
            </a:endParaRPr>
          </a:p>
        </p:txBody>
      </p:sp>
      <p:sp>
        <p:nvSpPr>
          <p:cNvPr id="41" name="标题 2"/>
          <p:cNvSpPr>
            <a:spLocks noGrp="1"/>
          </p:cNvSpPr>
          <p:nvPr>
            <p:ph type="title"/>
          </p:nvPr>
        </p:nvSpPr>
        <p:spPr>
          <a:xfrm>
            <a:off x="803931" y="870844"/>
            <a:ext cx="11160370" cy="1131671"/>
          </a:xfrm>
        </p:spPr>
        <p:txBody>
          <a:bodyPr>
            <a:noAutofit/>
          </a:bodyPr>
          <a:lstStyle/>
          <a:p>
            <a:pPr>
              <a:lnSpc>
                <a:spcPct val="150000"/>
              </a:lnSpc>
            </a:pPr>
            <a:r>
              <a:rPr lang="zh-CN" altLang="zh-CN" sz="1800" dirty="0"/>
              <a:t>从外部形势看，</a:t>
            </a:r>
            <a:r>
              <a:rPr lang="zh-CN" altLang="en-US" sz="1800" dirty="0"/>
              <a:t>中银既面临</a:t>
            </a:r>
            <a:r>
              <a:rPr lang="zh-CN" altLang="zh-CN" sz="1800" dirty="0"/>
              <a:t>机遇</a:t>
            </a:r>
            <a:r>
              <a:rPr lang="zh-CN" altLang="en-US" sz="1800" dirty="0"/>
              <a:t>也面临</a:t>
            </a:r>
            <a:r>
              <a:rPr lang="zh-CN" altLang="zh-CN" sz="1800" dirty="0"/>
              <a:t>挑战，总体</a:t>
            </a:r>
            <a:r>
              <a:rPr lang="zh-CN" altLang="en-US" sz="1800" dirty="0"/>
              <a:t>上</a:t>
            </a:r>
            <a:r>
              <a:rPr lang="zh-CN" altLang="zh-CN" sz="1800" dirty="0"/>
              <a:t>机遇大于挑战；</a:t>
            </a:r>
            <a:br>
              <a:rPr lang="en-US" altLang="zh-CN" sz="1800" dirty="0"/>
            </a:br>
            <a:r>
              <a:rPr lang="zh-CN" altLang="zh-CN" sz="1800" dirty="0"/>
              <a:t>从内部要求看，</a:t>
            </a:r>
            <a:r>
              <a:rPr lang="zh-CN" altLang="en-US" sz="1800" dirty="0"/>
              <a:t>中银既具</a:t>
            </a:r>
            <a:r>
              <a:rPr lang="zh-CN" altLang="zh-CN" sz="1800" dirty="0"/>
              <a:t>有优势</a:t>
            </a:r>
            <a:r>
              <a:rPr lang="zh-CN" altLang="en-US" sz="1800" dirty="0"/>
              <a:t>也存在</a:t>
            </a:r>
            <a:r>
              <a:rPr lang="zh-CN" altLang="zh-CN" sz="1800" dirty="0"/>
              <a:t>不足，总体</a:t>
            </a:r>
            <a:r>
              <a:rPr lang="zh-CN" altLang="en-US" sz="1800" dirty="0"/>
              <a:t>上</a:t>
            </a:r>
            <a:r>
              <a:rPr lang="zh-CN" altLang="zh-CN" sz="1800" dirty="0"/>
              <a:t>改革调整压力较大。</a:t>
            </a:r>
            <a:br>
              <a:rPr lang="zh-CN" altLang="zh-CN" sz="1800" dirty="0"/>
            </a:br>
            <a:r>
              <a:rPr lang="zh-CN" altLang="zh-CN" sz="1800" dirty="0"/>
              <a:t>综上，宜</a:t>
            </a:r>
            <a:r>
              <a:rPr kumimoji="1" lang="zh-CN" altLang="en-US" sz="1800" dirty="0">
                <a:latin typeface="+mn-lt"/>
                <a:ea typeface="+mn-ea"/>
                <a:cs typeface="+mn-ea"/>
                <a:sym typeface="+mn-lt"/>
              </a:rPr>
              <a:t>采用总体渗透型兼局部扩张型发展战略。</a:t>
            </a:r>
            <a:endParaRPr kumimoji="1" lang="zh-CN" altLang="en-US" sz="1800" dirty="0">
              <a:latin typeface="+mn-lt"/>
              <a:ea typeface="+mn-ea"/>
              <a:cs typeface="+mn-ea"/>
              <a:sym typeface="+mn-lt"/>
            </a:endParaRPr>
          </a:p>
        </p:txBody>
      </p:sp>
      <p:sp>
        <p:nvSpPr>
          <p:cNvPr id="64" name="矩形 63"/>
          <p:cNvSpPr/>
          <p:nvPr/>
        </p:nvSpPr>
        <p:spPr>
          <a:xfrm>
            <a:off x="7263545" y="2317968"/>
            <a:ext cx="4595946" cy="830997"/>
          </a:xfrm>
          <a:prstGeom prst="rect">
            <a:avLst/>
          </a:prstGeom>
        </p:spPr>
        <p:txBody>
          <a:bodyPr wrap="square">
            <a:spAutoFit/>
          </a:bodyPr>
          <a:lstStyle/>
          <a:p>
            <a:r>
              <a:rPr kumimoji="1" lang="zh-CN" altLang="en-US" sz="1600" dirty="0">
                <a:latin typeface="+mn-lt"/>
                <a:ea typeface="+mn-ea"/>
                <a:cs typeface="+mn-ea"/>
                <a:sym typeface="+mn-lt"/>
              </a:rPr>
              <a:t>扩张型战略：</a:t>
            </a:r>
            <a:r>
              <a:rPr kumimoji="1" lang="zh-CN" altLang="en-US" sz="1600" b="0" dirty="0">
                <a:latin typeface="+mn-lt"/>
                <a:ea typeface="+mn-ea"/>
                <a:cs typeface="+mn-ea"/>
                <a:sym typeface="+mn-lt"/>
              </a:rPr>
              <a:t>存在明显核心优势时，面对机会，通过高效执行，积极利用现有优势和机会，进一步提升结构性优势，加速增长。</a:t>
            </a:r>
            <a:endParaRPr kumimoji="1" lang="en-US" altLang="zh-CN" sz="1600" b="0" dirty="0">
              <a:latin typeface="+mn-lt"/>
              <a:ea typeface="+mn-ea"/>
              <a:cs typeface="+mn-ea"/>
              <a:sym typeface="+mn-lt"/>
            </a:endParaRPr>
          </a:p>
        </p:txBody>
      </p:sp>
      <p:sp>
        <p:nvSpPr>
          <p:cNvPr id="67" name="矩形 66"/>
          <p:cNvSpPr/>
          <p:nvPr/>
        </p:nvSpPr>
        <p:spPr>
          <a:xfrm>
            <a:off x="7263545" y="3241708"/>
            <a:ext cx="4595946" cy="830997"/>
          </a:xfrm>
          <a:prstGeom prst="rect">
            <a:avLst/>
          </a:prstGeom>
        </p:spPr>
        <p:txBody>
          <a:bodyPr wrap="square">
            <a:spAutoFit/>
          </a:bodyPr>
          <a:lstStyle/>
          <a:p>
            <a:r>
              <a:rPr kumimoji="1" lang="zh-CN" altLang="en-US" sz="1600" dirty="0">
                <a:latin typeface="+mn-lt"/>
                <a:ea typeface="+mn-ea"/>
                <a:cs typeface="+mn-ea"/>
                <a:sym typeface="+mn-lt"/>
              </a:rPr>
              <a:t>渗透型战略：</a:t>
            </a:r>
            <a:r>
              <a:rPr kumimoji="1" lang="zh-CN" altLang="en-US" sz="1600" b="0" dirty="0">
                <a:latin typeface="+mn-lt"/>
                <a:ea typeface="+mn-ea"/>
                <a:cs typeface="+mn-ea"/>
                <a:sym typeface="+mn-lt"/>
              </a:rPr>
              <a:t>在外部机会条件下，即使存在明显劣势，也积极获取资源，提高投入，抢占机遇，弥补劣势。</a:t>
            </a:r>
            <a:endParaRPr kumimoji="1" lang="en-US" altLang="zh-CN" sz="1600" b="0" dirty="0">
              <a:latin typeface="+mn-lt"/>
              <a:ea typeface="+mn-ea"/>
              <a:cs typeface="+mn-ea"/>
              <a:sym typeface="+mn-lt"/>
            </a:endParaRPr>
          </a:p>
        </p:txBody>
      </p:sp>
      <p:sp>
        <p:nvSpPr>
          <p:cNvPr id="68" name="矩形 67"/>
          <p:cNvSpPr/>
          <p:nvPr/>
        </p:nvSpPr>
        <p:spPr>
          <a:xfrm>
            <a:off x="7263545" y="4261341"/>
            <a:ext cx="4677344" cy="830997"/>
          </a:xfrm>
          <a:prstGeom prst="rect">
            <a:avLst/>
          </a:prstGeom>
        </p:spPr>
        <p:txBody>
          <a:bodyPr wrap="square">
            <a:spAutoFit/>
          </a:bodyPr>
          <a:lstStyle/>
          <a:p>
            <a:r>
              <a:rPr kumimoji="1" lang="zh-CN" altLang="en-US" sz="1600" dirty="0">
                <a:latin typeface="+mn-lt"/>
                <a:ea typeface="+mn-ea"/>
                <a:cs typeface="+mn-ea"/>
                <a:sym typeface="+mn-lt"/>
              </a:rPr>
              <a:t>稳定型战略：</a:t>
            </a:r>
            <a:r>
              <a:rPr kumimoji="1" lang="zh-CN" altLang="en-US" sz="1600" b="0" dirty="0">
                <a:latin typeface="+mn-lt"/>
                <a:ea typeface="+mn-ea"/>
                <a:cs typeface="+mn-ea"/>
                <a:sym typeface="+mn-lt"/>
              </a:rPr>
              <a:t>在面对外部关键威胁，即使存在内部优势，考虑风险加大，应采取稳定性的投入策略，在保证常态增长的同时，规避风险。</a:t>
            </a:r>
            <a:endParaRPr kumimoji="1" lang="en-US" altLang="zh-CN" sz="1600" b="0" dirty="0">
              <a:latin typeface="+mn-lt"/>
              <a:ea typeface="+mn-ea"/>
              <a:cs typeface="+mn-ea"/>
              <a:sym typeface="+mn-lt"/>
            </a:endParaRPr>
          </a:p>
        </p:txBody>
      </p:sp>
      <p:sp>
        <p:nvSpPr>
          <p:cNvPr id="69" name="矩形 68"/>
          <p:cNvSpPr/>
          <p:nvPr/>
        </p:nvSpPr>
        <p:spPr>
          <a:xfrm>
            <a:off x="7272797" y="5296339"/>
            <a:ext cx="4595946" cy="830997"/>
          </a:xfrm>
          <a:prstGeom prst="rect">
            <a:avLst/>
          </a:prstGeom>
        </p:spPr>
        <p:txBody>
          <a:bodyPr wrap="square">
            <a:spAutoFit/>
          </a:bodyPr>
          <a:lstStyle/>
          <a:p>
            <a:r>
              <a:rPr kumimoji="1" lang="zh-CN" altLang="en-US" sz="1600" dirty="0">
                <a:latin typeface="+mn-lt"/>
                <a:ea typeface="+mn-ea"/>
                <a:cs typeface="+mn-ea"/>
                <a:sym typeface="+mn-lt"/>
              </a:rPr>
              <a:t>收缩型战略：</a:t>
            </a:r>
            <a:r>
              <a:rPr kumimoji="1" lang="zh-CN" altLang="en-US" sz="1600" b="0" dirty="0">
                <a:latin typeface="+mn-lt"/>
                <a:ea typeface="+mn-ea"/>
                <a:cs typeface="+mn-ea"/>
                <a:sym typeface="+mn-lt"/>
              </a:rPr>
              <a:t>内部存在明显劣势，且外部又无可利用的最佳机会，应考虑收缩战线，扬长避短，在劣势领域少投入或不投入，避免不必要的损失。</a:t>
            </a:r>
            <a:endParaRPr kumimoji="1" lang="en-US" altLang="zh-CN" sz="1600" b="0" dirty="0">
              <a:latin typeface="+mn-lt"/>
              <a:ea typeface="+mn-ea"/>
              <a:cs typeface="+mn-ea"/>
              <a:sym typeface="+mn-lt"/>
            </a:endParaRPr>
          </a:p>
        </p:txBody>
      </p:sp>
      <p:sp>
        <p:nvSpPr>
          <p:cNvPr id="76" name="矩形 75"/>
          <p:cNvSpPr/>
          <p:nvPr/>
        </p:nvSpPr>
        <p:spPr>
          <a:xfrm>
            <a:off x="581836" y="2123501"/>
            <a:ext cx="6528647" cy="4460400"/>
          </a:xfrm>
          <a:prstGeom prst="rect">
            <a:avLst/>
          </a:prstGeom>
          <a:solidFill>
            <a:schemeClr val="accent5">
              <a:lumMod val="20000"/>
              <a:lumOff val="80000"/>
            </a:schemeClr>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77" name="矩形 76"/>
          <p:cNvSpPr/>
          <p:nvPr/>
        </p:nvSpPr>
        <p:spPr>
          <a:xfrm>
            <a:off x="940473" y="2572417"/>
            <a:ext cx="5906530" cy="3521676"/>
          </a:xfrm>
          <a:prstGeom prst="rect">
            <a:avLst/>
          </a:prstGeom>
          <a:ln>
            <a:solidFill>
              <a:schemeClr val="tx1">
                <a:lumMod val="65000"/>
                <a:lumOff val="35000"/>
              </a:schemeClr>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cxnSp>
        <p:nvCxnSpPr>
          <p:cNvPr id="78" name="直线连接符 5"/>
          <p:cNvCxnSpPr/>
          <p:nvPr/>
        </p:nvCxnSpPr>
        <p:spPr bwMode="auto">
          <a:xfrm>
            <a:off x="928116" y="4333255"/>
            <a:ext cx="5918886" cy="0"/>
          </a:xfrm>
          <a:prstGeom prst="line">
            <a:avLst/>
          </a:prstGeom>
          <a:solidFill>
            <a:schemeClr val="bg1"/>
          </a:solidFill>
          <a:ln w="9525" cap="flat" cmpd="sng" algn="ctr">
            <a:solidFill>
              <a:schemeClr val="tx1"/>
            </a:solidFill>
            <a:prstDash val="solid"/>
            <a:round/>
            <a:headEnd type="none" w="med" len="med"/>
            <a:tailEnd type="none" w="med" len="med"/>
          </a:ln>
        </p:spPr>
      </p:cxnSp>
      <p:cxnSp>
        <p:nvCxnSpPr>
          <p:cNvPr id="79" name="直线连接符 6"/>
          <p:cNvCxnSpPr>
            <a:stCxn id="77" idx="0"/>
            <a:endCxn id="77" idx="2"/>
          </p:cNvCxnSpPr>
          <p:nvPr/>
        </p:nvCxnSpPr>
        <p:spPr bwMode="auto">
          <a:xfrm>
            <a:off x="3893738" y="2572417"/>
            <a:ext cx="0" cy="3521676"/>
          </a:xfrm>
          <a:prstGeom prst="line">
            <a:avLst/>
          </a:prstGeom>
          <a:solidFill>
            <a:schemeClr val="bg1"/>
          </a:solidFill>
          <a:ln w="9525" cap="flat" cmpd="sng" algn="ctr">
            <a:solidFill>
              <a:schemeClr val="tx1"/>
            </a:solidFill>
            <a:prstDash val="solid"/>
            <a:round/>
            <a:headEnd type="none" w="med" len="med"/>
            <a:tailEnd type="none" w="med" len="med"/>
          </a:ln>
        </p:spPr>
      </p:cxnSp>
      <p:sp>
        <p:nvSpPr>
          <p:cNvPr id="80" name="文本框 79"/>
          <p:cNvSpPr txBox="1"/>
          <p:nvPr/>
        </p:nvSpPr>
        <p:spPr>
          <a:xfrm>
            <a:off x="531812" y="4032421"/>
            <a:ext cx="424590" cy="492443"/>
          </a:xfrm>
          <a:prstGeom prst="rect">
            <a:avLst/>
          </a:prstGeom>
          <a:noFill/>
        </p:spPr>
        <p:txBody>
          <a:bodyPr wrap="square" rtlCol="0">
            <a:spAutoFit/>
          </a:bodyPr>
          <a:lstStyle/>
          <a:p>
            <a:r>
              <a:rPr kumimoji="1" lang="zh-CN" altLang="en-US" dirty="0">
                <a:latin typeface="华文中宋" panose="02010600040101010101" pitchFamily="2" charset="-122"/>
                <a:ea typeface="华文中宋" panose="02010600040101010101" pitchFamily="2" charset="-122"/>
              </a:rPr>
              <a:t>外部</a:t>
            </a:r>
            <a:endParaRPr kumimoji="1" lang="zh-CN" altLang="en-US" dirty="0">
              <a:latin typeface="华文中宋" panose="02010600040101010101" pitchFamily="2" charset="-122"/>
              <a:ea typeface="华文中宋" panose="02010600040101010101" pitchFamily="2" charset="-122"/>
            </a:endParaRPr>
          </a:p>
        </p:txBody>
      </p:sp>
      <p:sp>
        <p:nvSpPr>
          <p:cNvPr id="81" name="文本框 80"/>
          <p:cNvSpPr txBox="1"/>
          <p:nvPr/>
        </p:nvSpPr>
        <p:spPr>
          <a:xfrm>
            <a:off x="3307781" y="6175258"/>
            <a:ext cx="1175359" cy="292388"/>
          </a:xfrm>
          <a:prstGeom prst="rect">
            <a:avLst/>
          </a:prstGeom>
          <a:noFill/>
        </p:spPr>
        <p:txBody>
          <a:bodyPr wrap="square" rtlCol="0">
            <a:spAutoFit/>
          </a:bodyPr>
          <a:lstStyle/>
          <a:p>
            <a:pPr algn="ctr"/>
            <a:r>
              <a:rPr kumimoji="1" lang="zh-CN" altLang="en-US" dirty="0">
                <a:latin typeface="华文中宋" panose="02010600040101010101" pitchFamily="2" charset="-122"/>
                <a:ea typeface="华文中宋" panose="02010600040101010101" pitchFamily="2" charset="-122"/>
              </a:rPr>
              <a:t>内部</a:t>
            </a:r>
            <a:endParaRPr kumimoji="1" lang="zh-CN" altLang="en-US" dirty="0">
              <a:latin typeface="华文中宋" panose="02010600040101010101" pitchFamily="2" charset="-122"/>
              <a:ea typeface="华文中宋" panose="02010600040101010101" pitchFamily="2" charset="-122"/>
            </a:endParaRPr>
          </a:p>
        </p:txBody>
      </p:sp>
      <p:sp>
        <p:nvSpPr>
          <p:cNvPr id="82" name="文本框 81"/>
          <p:cNvSpPr txBox="1"/>
          <p:nvPr/>
        </p:nvSpPr>
        <p:spPr>
          <a:xfrm>
            <a:off x="3560690" y="2572688"/>
            <a:ext cx="424590" cy="492443"/>
          </a:xfrm>
          <a:prstGeom prst="rect">
            <a:avLst/>
          </a:prstGeom>
          <a:noFill/>
        </p:spPr>
        <p:txBody>
          <a:bodyPr wrap="square" rtlCol="0">
            <a:spAutoFit/>
          </a:bodyPr>
          <a:lstStyle/>
          <a:p>
            <a:r>
              <a:rPr kumimoji="1" lang="zh-CN" altLang="en-US" dirty="0">
                <a:latin typeface="华文中宋" panose="02010600040101010101" pitchFamily="2" charset="-122"/>
                <a:ea typeface="华文中宋" panose="02010600040101010101" pitchFamily="2" charset="-122"/>
              </a:rPr>
              <a:t>机会</a:t>
            </a:r>
            <a:endParaRPr kumimoji="1" lang="zh-CN" altLang="en-US" dirty="0">
              <a:latin typeface="华文中宋" panose="02010600040101010101" pitchFamily="2" charset="-122"/>
              <a:ea typeface="华文中宋" panose="02010600040101010101" pitchFamily="2" charset="-122"/>
            </a:endParaRPr>
          </a:p>
        </p:txBody>
      </p:sp>
      <p:sp>
        <p:nvSpPr>
          <p:cNvPr id="83" name="文本框 82"/>
          <p:cNvSpPr txBox="1"/>
          <p:nvPr/>
        </p:nvSpPr>
        <p:spPr>
          <a:xfrm>
            <a:off x="1037276" y="2275610"/>
            <a:ext cx="669291" cy="292388"/>
          </a:xfrm>
          <a:prstGeom prst="rect">
            <a:avLst/>
          </a:prstGeom>
          <a:noFill/>
        </p:spPr>
        <p:txBody>
          <a:bodyPr wrap="square" rtlCol="0">
            <a:spAutoFit/>
          </a:bodyPr>
          <a:lstStyle/>
          <a:p>
            <a:r>
              <a:rPr kumimoji="1" lang="zh-CN" altLang="en-US" dirty="0">
                <a:latin typeface="华文中宋" panose="02010600040101010101" pitchFamily="2" charset="-122"/>
                <a:ea typeface="华文中宋" panose="02010600040101010101" pitchFamily="2" charset="-122"/>
              </a:rPr>
              <a:t>较高</a:t>
            </a:r>
            <a:endParaRPr kumimoji="1" lang="zh-CN" altLang="en-US" dirty="0">
              <a:latin typeface="华文中宋" panose="02010600040101010101" pitchFamily="2" charset="-122"/>
              <a:ea typeface="华文中宋" panose="02010600040101010101" pitchFamily="2" charset="-122"/>
            </a:endParaRPr>
          </a:p>
        </p:txBody>
      </p:sp>
      <p:sp>
        <p:nvSpPr>
          <p:cNvPr id="84" name="文本框 83"/>
          <p:cNvSpPr txBox="1"/>
          <p:nvPr/>
        </p:nvSpPr>
        <p:spPr>
          <a:xfrm>
            <a:off x="1815325" y="5733822"/>
            <a:ext cx="1042033" cy="292388"/>
          </a:xfrm>
          <a:prstGeom prst="rect">
            <a:avLst/>
          </a:prstGeom>
          <a:noFill/>
        </p:spPr>
        <p:txBody>
          <a:bodyPr wrap="square" rtlCol="0">
            <a:spAutoFit/>
          </a:bodyPr>
          <a:lstStyle/>
          <a:p>
            <a:pPr algn="ctr"/>
            <a:r>
              <a:rPr kumimoji="1" lang="zh-CN" altLang="en-US" dirty="0">
                <a:solidFill>
                  <a:srgbClr val="FF0000"/>
                </a:solidFill>
                <a:latin typeface="华文中宋" panose="02010600040101010101" pitchFamily="2" charset="-122"/>
                <a:ea typeface="华文中宋" panose="02010600040101010101" pitchFamily="2" charset="-122"/>
              </a:rPr>
              <a:t>劣势</a:t>
            </a:r>
            <a:r>
              <a:rPr kumimoji="1" lang="en-US" altLang="zh-CN" dirty="0">
                <a:solidFill>
                  <a:srgbClr val="FF0000"/>
                </a:solidFill>
                <a:latin typeface="华文中宋" panose="02010600040101010101" pitchFamily="2" charset="-122"/>
                <a:ea typeface="华文中宋" panose="02010600040101010101" pitchFamily="2" charset="-122"/>
              </a:rPr>
              <a:t>-</a:t>
            </a:r>
            <a:r>
              <a:rPr kumimoji="1" lang="zh-CN" altLang="en-US" dirty="0">
                <a:solidFill>
                  <a:srgbClr val="FF0000"/>
                </a:solidFill>
                <a:latin typeface="华文中宋" panose="02010600040101010101" pitchFamily="2" charset="-122"/>
                <a:ea typeface="华文中宋" panose="02010600040101010101" pitchFamily="2" charset="-122"/>
              </a:rPr>
              <a:t>威胁</a:t>
            </a:r>
            <a:endParaRPr kumimoji="1" lang="zh-CN" altLang="en-US" dirty="0">
              <a:solidFill>
                <a:srgbClr val="FF0000"/>
              </a:solidFill>
              <a:latin typeface="华文中宋" panose="02010600040101010101" pitchFamily="2" charset="-122"/>
              <a:ea typeface="华文中宋" panose="02010600040101010101" pitchFamily="2" charset="-122"/>
            </a:endParaRPr>
          </a:p>
        </p:txBody>
      </p:sp>
      <p:sp>
        <p:nvSpPr>
          <p:cNvPr id="85" name="文本框 84"/>
          <p:cNvSpPr txBox="1"/>
          <p:nvPr/>
        </p:nvSpPr>
        <p:spPr>
          <a:xfrm>
            <a:off x="5024204" y="5746753"/>
            <a:ext cx="1027246" cy="292388"/>
          </a:xfrm>
          <a:prstGeom prst="rect">
            <a:avLst/>
          </a:prstGeom>
          <a:noFill/>
        </p:spPr>
        <p:txBody>
          <a:bodyPr wrap="square" rtlCol="0">
            <a:spAutoFit/>
          </a:bodyPr>
          <a:lstStyle/>
          <a:p>
            <a:pPr algn="ctr"/>
            <a:r>
              <a:rPr kumimoji="1" lang="zh-CN" altLang="en-US" dirty="0">
                <a:solidFill>
                  <a:srgbClr val="FF0000"/>
                </a:solidFill>
                <a:latin typeface="华文中宋" panose="02010600040101010101" pitchFamily="2" charset="-122"/>
                <a:ea typeface="华文中宋" panose="02010600040101010101" pitchFamily="2" charset="-122"/>
              </a:rPr>
              <a:t>优势</a:t>
            </a:r>
            <a:r>
              <a:rPr kumimoji="1" lang="en-US" altLang="zh-CN" dirty="0">
                <a:solidFill>
                  <a:srgbClr val="FF0000"/>
                </a:solidFill>
                <a:latin typeface="华文中宋" panose="02010600040101010101" pitchFamily="2" charset="-122"/>
                <a:ea typeface="华文中宋" panose="02010600040101010101" pitchFamily="2" charset="-122"/>
              </a:rPr>
              <a:t>-</a:t>
            </a:r>
            <a:r>
              <a:rPr kumimoji="1" lang="zh-CN" altLang="en-US" dirty="0">
                <a:solidFill>
                  <a:srgbClr val="FF0000"/>
                </a:solidFill>
                <a:latin typeface="华文中宋" panose="02010600040101010101" pitchFamily="2" charset="-122"/>
                <a:ea typeface="华文中宋" panose="02010600040101010101" pitchFamily="2" charset="-122"/>
              </a:rPr>
              <a:t>威胁</a:t>
            </a:r>
            <a:endParaRPr kumimoji="1" lang="zh-CN" altLang="en-US" dirty="0">
              <a:solidFill>
                <a:srgbClr val="FF0000"/>
              </a:solidFill>
              <a:latin typeface="华文中宋" panose="02010600040101010101" pitchFamily="2" charset="-122"/>
              <a:ea typeface="华文中宋" panose="02010600040101010101" pitchFamily="2" charset="-122"/>
            </a:endParaRPr>
          </a:p>
        </p:txBody>
      </p:sp>
      <p:sp>
        <p:nvSpPr>
          <p:cNvPr id="86" name="文本框 85"/>
          <p:cNvSpPr txBox="1"/>
          <p:nvPr/>
        </p:nvSpPr>
        <p:spPr>
          <a:xfrm>
            <a:off x="1827188" y="2672716"/>
            <a:ext cx="1020586" cy="292388"/>
          </a:xfrm>
          <a:prstGeom prst="rect">
            <a:avLst/>
          </a:prstGeom>
          <a:noFill/>
        </p:spPr>
        <p:txBody>
          <a:bodyPr wrap="square" rtlCol="0">
            <a:spAutoFit/>
          </a:bodyPr>
          <a:lstStyle/>
          <a:p>
            <a:pPr algn="ctr"/>
            <a:r>
              <a:rPr kumimoji="1" lang="zh-CN" altLang="en-US" dirty="0">
                <a:solidFill>
                  <a:srgbClr val="FF0000"/>
                </a:solidFill>
                <a:latin typeface="华文中宋" panose="02010600040101010101" pitchFamily="2" charset="-122"/>
                <a:ea typeface="华文中宋" panose="02010600040101010101" pitchFamily="2" charset="-122"/>
              </a:rPr>
              <a:t>劣势</a:t>
            </a:r>
            <a:r>
              <a:rPr kumimoji="1" lang="en-US" altLang="zh-CN" dirty="0">
                <a:solidFill>
                  <a:srgbClr val="FF0000"/>
                </a:solidFill>
                <a:latin typeface="华文中宋" panose="02010600040101010101" pitchFamily="2" charset="-122"/>
                <a:ea typeface="华文中宋" panose="02010600040101010101" pitchFamily="2" charset="-122"/>
              </a:rPr>
              <a:t>-</a:t>
            </a:r>
            <a:r>
              <a:rPr kumimoji="1" lang="zh-CN" altLang="en-US" dirty="0">
                <a:solidFill>
                  <a:srgbClr val="FF0000"/>
                </a:solidFill>
                <a:latin typeface="华文中宋" panose="02010600040101010101" pitchFamily="2" charset="-122"/>
                <a:ea typeface="华文中宋" panose="02010600040101010101" pitchFamily="2" charset="-122"/>
              </a:rPr>
              <a:t>机会</a:t>
            </a:r>
            <a:endParaRPr kumimoji="1" lang="zh-CN" altLang="en-US" dirty="0">
              <a:solidFill>
                <a:srgbClr val="FF0000"/>
              </a:solidFill>
              <a:latin typeface="华文中宋" panose="02010600040101010101" pitchFamily="2" charset="-122"/>
              <a:ea typeface="华文中宋" panose="02010600040101010101" pitchFamily="2" charset="-122"/>
            </a:endParaRPr>
          </a:p>
        </p:txBody>
      </p:sp>
      <p:sp>
        <p:nvSpPr>
          <p:cNvPr id="87" name="文本框 86"/>
          <p:cNvSpPr txBox="1"/>
          <p:nvPr/>
        </p:nvSpPr>
        <p:spPr>
          <a:xfrm>
            <a:off x="5037095" y="2672926"/>
            <a:ext cx="1018149" cy="292388"/>
          </a:xfrm>
          <a:prstGeom prst="rect">
            <a:avLst/>
          </a:prstGeom>
          <a:noFill/>
        </p:spPr>
        <p:txBody>
          <a:bodyPr wrap="square" rtlCol="0">
            <a:spAutoFit/>
          </a:bodyPr>
          <a:lstStyle/>
          <a:p>
            <a:pPr algn="ctr"/>
            <a:r>
              <a:rPr kumimoji="1" lang="zh-CN" altLang="en-US" dirty="0">
                <a:solidFill>
                  <a:srgbClr val="FF0000"/>
                </a:solidFill>
                <a:latin typeface="华文中宋" panose="02010600040101010101" pitchFamily="2" charset="-122"/>
                <a:ea typeface="华文中宋" panose="02010600040101010101" pitchFamily="2" charset="-122"/>
              </a:rPr>
              <a:t>优势</a:t>
            </a:r>
            <a:r>
              <a:rPr kumimoji="1" lang="en-US" altLang="zh-CN" dirty="0">
                <a:solidFill>
                  <a:srgbClr val="FF0000"/>
                </a:solidFill>
                <a:latin typeface="华文中宋" panose="02010600040101010101" pitchFamily="2" charset="-122"/>
                <a:ea typeface="华文中宋" panose="02010600040101010101" pitchFamily="2" charset="-122"/>
              </a:rPr>
              <a:t>-</a:t>
            </a:r>
            <a:r>
              <a:rPr kumimoji="1" lang="zh-CN" altLang="en-US" dirty="0">
                <a:solidFill>
                  <a:srgbClr val="FF0000"/>
                </a:solidFill>
                <a:latin typeface="华文中宋" panose="02010600040101010101" pitchFamily="2" charset="-122"/>
                <a:ea typeface="华文中宋" panose="02010600040101010101" pitchFamily="2" charset="-122"/>
              </a:rPr>
              <a:t>机会</a:t>
            </a:r>
            <a:endParaRPr kumimoji="1" lang="zh-CN" altLang="en-US" dirty="0">
              <a:solidFill>
                <a:srgbClr val="FF0000"/>
              </a:solidFill>
              <a:latin typeface="华文中宋" panose="02010600040101010101" pitchFamily="2" charset="-122"/>
              <a:ea typeface="华文中宋" panose="02010600040101010101" pitchFamily="2" charset="-122"/>
            </a:endParaRPr>
          </a:p>
        </p:txBody>
      </p:sp>
      <p:sp>
        <p:nvSpPr>
          <p:cNvPr id="88" name="文本框 87"/>
          <p:cNvSpPr txBox="1"/>
          <p:nvPr/>
        </p:nvSpPr>
        <p:spPr>
          <a:xfrm>
            <a:off x="3169161" y="6585501"/>
            <a:ext cx="1693092" cy="292388"/>
          </a:xfrm>
          <a:prstGeom prst="rect">
            <a:avLst/>
          </a:prstGeom>
          <a:noFill/>
        </p:spPr>
        <p:txBody>
          <a:bodyPr wrap="none" rtlCol="0">
            <a:spAutoFit/>
          </a:bodyPr>
          <a:lstStyle/>
          <a:p>
            <a:r>
              <a:rPr kumimoji="1" lang="en-US" altLang="zh-CN" dirty="0">
                <a:latin typeface="华文中宋" panose="02010600040101010101" pitchFamily="2" charset="-122"/>
                <a:ea typeface="华文中宋" panose="02010600040101010101" pitchFamily="2" charset="-122"/>
              </a:rPr>
              <a:t>SWOT</a:t>
            </a:r>
            <a:r>
              <a:rPr kumimoji="1" lang="zh-CN" altLang="en-US" dirty="0">
                <a:latin typeface="华文中宋" panose="02010600040101010101" pitchFamily="2" charset="-122"/>
                <a:ea typeface="华文中宋" panose="02010600040101010101" pitchFamily="2" charset="-122"/>
              </a:rPr>
              <a:t>战略组合矩阵</a:t>
            </a:r>
            <a:endParaRPr kumimoji="1" lang="zh-CN" altLang="en-US" dirty="0">
              <a:latin typeface="华文中宋" panose="02010600040101010101" pitchFamily="2" charset="-122"/>
              <a:ea typeface="华文中宋" panose="02010600040101010101" pitchFamily="2" charset="-122"/>
            </a:endParaRPr>
          </a:p>
        </p:txBody>
      </p:sp>
      <p:sp>
        <p:nvSpPr>
          <p:cNvPr id="89" name="文本框 88"/>
          <p:cNvSpPr txBox="1"/>
          <p:nvPr/>
        </p:nvSpPr>
        <p:spPr>
          <a:xfrm>
            <a:off x="803931" y="4326057"/>
            <a:ext cx="1175359" cy="292388"/>
          </a:xfrm>
          <a:prstGeom prst="rect">
            <a:avLst/>
          </a:prstGeom>
          <a:noFill/>
        </p:spPr>
        <p:txBody>
          <a:bodyPr wrap="square" rtlCol="0">
            <a:spAutoFit/>
          </a:bodyPr>
          <a:lstStyle/>
          <a:p>
            <a:pPr algn="ctr"/>
            <a:r>
              <a:rPr kumimoji="1" lang="zh-CN" altLang="en-US" dirty="0">
                <a:latin typeface="华文中宋" panose="02010600040101010101" pitchFamily="2" charset="-122"/>
                <a:ea typeface="华文中宋" panose="02010600040101010101" pitchFamily="2" charset="-122"/>
              </a:rPr>
              <a:t>劣势</a:t>
            </a:r>
            <a:endParaRPr kumimoji="1" lang="zh-CN" altLang="en-US" dirty="0">
              <a:latin typeface="华文中宋" panose="02010600040101010101" pitchFamily="2" charset="-122"/>
              <a:ea typeface="华文中宋" panose="02010600040101010101" pitchFamily="2" charset="-122"/>
            </a:endParaRPr>
          </a:p>
        </p:txBody>
      </p:sp>
      <p:sp>
        <p:nvSpPr>
          <p:cNvPr id="90" name="文本框 89"/>
          <p:cNvSpPr txBox="1"/>
          <p:nvPr/>
        </p:nvSpPr>
        <p:spPr>
          <a:xfrm>
            <a:off x="3560690" y="5533767"/>
            <a:ext cx="424590" cy="492443"/>
          </a:xfrm>
          <a:prstGeom prst="rect">
            <a:avLst/>
          </a:prstGeom>
          <a:noFill/>
        </p:spPr>
        <p:txBody>
          <a:bodyPr wrap="square" rtlCol="0">
            <a:spAutoFit/>
          </a:bodyPr>
          <a:lstStyle/>
          <a:p>
            <a:r>
              <a:rPr kumimoji="1" lang="zh-CN" altLang="en-US" dirty="0">
                <a:latin typeface="华文中宋" panose="02010600040101010101" pitchFamily="2" charset="-122"/>
                <a:ea typeface="华文中宋" panose="02010600040101010101" pitchFamily="2" charset="-122"/>
              </a:rPr>
              <a:t>威胁</a:t>
            </a:r>
            <a:endParaRPr kumimoji="1" lang="zh-CN" altLang="en-US" dirty="0">
              <a:latin typeface="华文中宋" panose="02010600040101010101" pitchFamily="2" charset="-122"/>
              <a:ea typeface="华文中宋" panose="02010600040101010101" pitchFamily="2" charset="-122"/>
            </a:endParaRPr>
          </a:p>
        </p:txBody>
      </p:sp>
      <p:cxnSp>
        <p:nvCxnSpPr>
          <p:cNvPr id="91" name="直线连接符 19"/>
          <p:cNvCxnSpPr/>
          <p:nvPr/>
        </p:nvCxnSpPr>
        <p:spPr bwMode="auto">
          <a:xfrm>
            <a:off x="3899602" y="2965104"/>
            <a:ext cx="1445598" cy="1372601"/>
          </a:xfrm>
          <a:prstGeom prst="line">
            <a:avLst/>
          </a:prstGeom>
          <a:solidFill>
            <a:schemeClr val="bg1"/>
          </a:solidFill>
          <a:ln w="9525" cap="flat" cmpd="sng" algn="ctr">
            <a:solidFill>
              <a:schemeClr val="tx1"/>
            </a:solidFill>
            <a:prstDash val="solid"/>
            <a:round/>
            <a:headEnd type="none" w="med" len="med"/>
            <a:tailEnd type="none" w="med" len="med"/>
          </a:ln>
        </p:spPr>
      </p:cxnSp>
      <p:cxnSp>
        <p:nvCxnSpPr>
          <p:cNvPr id="92" name="直线连接符 20"/>
          <p:cNvCxnSpPr/>
          <p:nvPr/>
        </p:nvCxnSpPr>
        <p:spPr bwMode="auto">
          <a:xfrm flipV="1">
            <a:off x="3881059" y="4335532"/>
            <a:ext cx="1464141" cy="535551"/>
          </a:xfrm>
          <a:prstGeom prst="line">
            <a:avLst/>
          </a:prstGeom>
          <a:solidFill>
            <a:schemeClr val="bg1"/>
          </a:solidFill>
          <a:ln w="9525" cap="flat" cmpd="sng" algn="ctr">
            <a:solidFill>
              <a:schemeClr val="tx1"/>
            </a:solidFill>
            <a:prstDash val="solid"/>
            <a:round/>
            <a:headEnd type="none" w="med" len="med"/>
            <a:tailEnd type="none" w="med" len="med"/>
          </a:ln>
        </p:spPr>
      </p:cxnSp>
      <p:cxnSp>
        <p:nvCxnSpPr>
          <p:cNvPr id="93" name="直线连接符 21"/>
          <p:cNvCxnSpPr/>
          <p:nvPr/>
        </p:nvCxnSpPr>
        <p:spPr bwMode="auto">
          <a:xfrm flipH="1">
            <a:off x="1619824" y="2960394"/>
            <a:ext cx="2286271" cy="1365663"/>
          </a:xfrm>
          <a:prstGeom prst="line">
            <a:avLst/>
          </a:prstGeom>
          <a:solidFill>
            <a:schemeClr val="bg1"/>
          </a:solidFill>
          <a:ln w="9525" cap="flat" cmpd="sng" algn="ctr">
            <a:solidFill>
              <a:schemeClr val="tx1"/>
            </a:solidFill>
            <a:prstDash val="solid"/>
            <a:round/>
            <a:headEnd type="none" w="med" len="med"/>
            <a:tailEnd type="none" w="med" len="med"/>
          </a:ln>
        </p:spPr>
      </p:cxnSp>
      <p:cxnSp>
        <p:nvCxnSpPr>
          <p:cNvPr id="94" name="直线连接符 22"/>
          <p:cNvCxnSpPr/>
          <p:nvPr/>
        </p:nvCxnSpPr>
        <p:spPr bwMode="auto">
          <a:xfrm flipH="1" flipV="1">
            <a:off x="1610453" y="4326057"/>
            <a:ext cx="2270606" cy="545026"/>
          </a:xfrm>
          <a:prstGeom prst="line">
            <a:avLst/>
          </a:prstGeom>
          <a:solidFill>
            <a:schemeClr val="bg1"/>
          </a:solidFill>
          <a:ln w="9525" cap="flat" cmpd="sng" algn="ctr">
            <a:solidFill>
              <a:schemeClr val="tx1"/>
            </a:solidFill>
            <a:prstDash val="solid"/>
            <a:round/>
            <a:headEnd type="none" w="med" len="med"/>
            <a:tailEnd type="none" w="med" len="med"/>
          </a:ln>
        </p:spPr>
      </p:cxnSp>
      <p:sp>
        <p:nvSpPr>
          <p:cNvPr id="95" name="直角三角形 58"/>
          <p:cNvSpPr/>
          <p:nvPr/>
        </p:nvSpPr>
        <p:spPr>
          <a:xfrm rot="16200000">
            <a:off x="2117201" y="2554991"/>
            <a:ext cx="1331918" cy="2224609"/>
          </a:xfrm>
          <a:custGeom>
            <a:avLst/>
            <a:gdLst>
              <a:gd name="connsiteX0" fmla="*/ 0 w 1372861"/>
              <a:gd name="connsiteY0" fmla="*/ 2224606 h 2224606"/>
              <a:gd name="connsiteX1" fmla="*/ 0 w 1372861"/>
              <a:gd name="connsiteY1" fmla="*/ 0 h 2224606"/>
              <a:gd name="connsiteX2" fmla="*/ 1372861 w 1372861"/>
              <a:gd name="connsiteY2" fmla="*/ 2224606 h 2224606"/>
              <a:gd name="connsiteX3" fmla="*/ 0 w 1372861"/>
              <a:gd name="connsiteY3" fmla="*/ 2224606 h 2224606"/>
              <a:gd name="connsiteX0-1" fmla="*/ 0 w 1331918"/>
              <a:gd name="connsiteY0-2" fmla="*/ 2224606 h 2224609"/>
              <a:gd name="connsiteX1-3" fmla="*/ 0 w 1331918"/>
              <a:gd name="connsiteY1-4" fmla="*/ 0 h 2224609"/>
              <a:gd name="connsiteX2-5" fmla="*/ 1331918 w 1331918"/>
              <a:gd name="connsiteY2-6" fmla="*/ 2224609 h 2224609"/>
              <a:gd name="connsiteX3-7" fmla="*/ 0 w 1331918"/>
              <a:gd name="connsiteY3-8" fmla="*/ 2224606 h 2224609"/>
            </a:gdLst>
            <a:ahLst/>
            <a:cxnLst>
              <a:cxn ang="0">
                <a:pos x="connsiteX0-1" y="connsiteY0-2"/>
              </a:cxn>
              <a:cxn ang="0">
                <a:pos x="connsiteX1-3" y="connsiteY1-4"/>
              </a:cxn>
              <a:cxn ang="0">
                <a:pos x="connsiteX2-5" y="connsiteY2-6"/>
              </a:cxn>
              <a:cxn ang="0">
                <a:pos x="connsiteX3-7" y="connsiteY3-8"/>
              </a:cxn>
            </a:cxnLst>
            <a:rect l="l" t="t" r="r" b="b"/>
            <a:pathLst>
              <a:path w="1331918" h="2224609">
                <a:moveTo>
                  <a:pt x="0" y="2224606"/>
                </a:moveTo>
                <a:lnTo>
                  <a:pt x="0" y="0"/>
                </a:lnTo>
                <a:lnTo>
                  <a:pt x="1331918" y="2224609"/>
                </a:lnTo>
                <a:lnTo>
                  <a:pt x="0" y="2224606"/>
                </a:lnTo>
                <a:close/>
              </a:path>
            </a:pathLst>
          </a:custGeom>
          <a:solidFill>
            <a:srgbClr val="C00000"/>
          </a:solidFill>
          <a:ln>
            <a:noFill/>
          </a:ln>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96" name="矩形 95"/>
          <p:cNvSpPr/>
          <p:nvPr/>
        </p:nvSpPr>
        <p:spPr>
          <a:xfrm>
            <a:off x="2292541" y="4357219"/>
            <a:ext cx="1490796" cy="292388"/>
          </a:xfrm>
          <a:prstGeom prst="rect">
            <a:avLst/>
          </a:prstGeom>
        </p:spPr>
        <p:txBody>
          <a:bodyPr wrap="square">
            <a:spAutoFit/>
          </a:bodyPr>
          <a:lstStyle/>
          <a:p>
            <a:r>
              <a:rPr kumimoji="1" lang="zh-CN" altLang="en-US" dirty="0">
                <a:latin typeface="华文中宋" panose="02010600040101010101" pitchFamily="2" charset="-122"/>
                <a:ea typeface="华文中宋" panose="02010600040101010101" pitchFamily="2" charset="-122"/>
              </a:rPr>
              <a:t>收缩</a:t>
            </a:r>
            <a:r>
              <a:rPr kumimoji="1" lang="en-US" altLang="zh-CN" dirty="0">
                <a:latin typeface="华文中宋" panose="02010600040101010101" pitchFamily="2" charset="-122"/>
                <a:ea typeface="华文中宋" panose="02010600040101010101" pitchFamily="2" charset="-122"/>
              </a:rPr>
              <a:t>/</a:t>
            </a:r>
            <a:r>
              <a:rPr kumimoji="1" lang="zh-CN" altLang="en-US" dirty="0">
                <a:latin typeface="华文中宋" panose="02010600040101010101" pitchFamily="2" charset="-122"/>
                <a:ea typeface="华文中宋" panose="02010600040101010101" pitchFamily="2" charset="-122"/>
              </a:rPr>
              <a:t>规避型战略</a:t>
            </a:r>
            <a:endParaRPr kumimoji="1" lang="en-US" altLang="zh-CN" dirty="0">
              <a:latin typeface="华文中宋" panose="02010600040101010101" pitchFamily="2" charset="-122"/>
              <a:ea typeface="华文中宋" panose="02010600040101010101" pitchFamily="2" charset="-122"/>
            </a:endParaRPr>
          </a:p>
        </p:txBody>
      </p:sp>
      <p:sp>
        <p:nvSpPr>
          <p:cNvPr id="97" name="矩形 96"/>
          <p:cNvSpPr/>
          <p:nvPr/>
        </p:nvSpPr>
        <p:spPr>
          <a:xfrm>
            <a:off x="3881059" y="4378640"/>
            <a:ext cx="1199017" cy="292388"/>
          </a:xfrm>
          <a:prstGeom prst="rect">
            <a:avLst/>
          </a:prstGeom>
        </p:spPr>
        <p:txBody>
          <a:bodyPr wrap="square">
            <a:spAutoFit/>
          </a:bodyPr>
          <a:lstStyle/>
          <a:p>
            <a:r>
              <a:rPr kumimoji="1" lang="zh-CN" altLang="en-US" dirty="0">
                <a:latin typeface="华文中宋" panose="02010600040101010101" pitchFamily="2" charset="-122"/>
                <a:ea typeface="华文中宋" panose="02010600040101010101" pitchFamily="2" charset="-122"/>
              </a:rPr>
              <a:t>稳定型战略</a:t>
            </a:r>
            <a:endParaRPr kumimoji="1" lang="en-US" altLang="zh-CN" dirty="0">
              <a:latin typeface="华文中宋" panose="02010600040101010101" pitchFamily="2" charset="-122"/>
              <a:ea typeface="华文中宋" panose="02010600040101010101" pitchFamily="2" charset="-122"/>
            </a:endParaRPr>
          </a:p>
        </p:txBody>
      </p:sp>
      <p:sp>
        <p:nvSpPr>
          <p:cNvPr id="98" name="矩形 97"/>
          <p:cNvSpPr/>
          <p:nvPr/>
        </p:nvSpPr>
        <p:spPr>
          <a:xfrm>
            <a:off x="2670171" y="3744114"/>
            <a:ext cx="1018227" cy="356957"/>
          </a:xfrm>
          <a:prstGeom prst="rect">
            <a:avLst/>
          </a:prstGeom>
        </p:spPr>
        <p:txBody>
          <a:bodyPr wrap="none">
            <a:spAutoFit/>
          </a:bodyPr>
          <a:lstStyle/>
          <a:p>
            <a:pPr>
              <a:lnSpc>
                <a:spcPct val="150000"/>
              </a:lnSpc>
            </a:pPr>
            <a:r>
              <a:rPr kumimoji="1" lang="zh-CN" altLang="en-US" dirty="0">
                <a:solidFill>
                  <a:schemeClr val="bg1"/>
                </a:solidFill>
                <a:latin typeface="华文中宋" panose="02010600040101010101" pitchFamily="2" charset="-122"/>
                <a:ea typeface="华文中宋" panose="02010600040101010101" pitchFamily="2" charset="-122"/>
              </a:rPr>
              <a:t>渗透型战略</a:t>
            </a:r>
            <a:endParaRPr kumimoji="1" lang="en-US" altLang="zh-CN" dirty="0">
              <a:solidFill>
                <a:schemeClr val="bg1"/>
              </a:solidFill>
              <a:latin typeface="华文中宋" panose="02010600040101010101" pitchFamily="2" charset="-122"/>
              <a:ea typeface="华文中宋" panose="02010600040101010101" pitchFamily="2" charset="-122"/>
            </a:endParaRPr>
          </a:p>
        </p:txBody>
      </p:sp>
      <p:sp>
        <p:nvSpPr>
          <p:cNvPr id="99" name="直角三角形 67"/>
          <p:cNvSpPr/>
          <p:nvPr/>
        </p:nvSpPr>
        <p:spPr>
          <a:xfrm rot="5400000" flipH="1">
            <a:off x="3967539" y="2967402"/>
            <a:ext cx="1322789" cy="1408979"/>
          </a:xfrm>
          <a:custGeom>
            <a:avLst/>
            <a:gdLst>
              <a:gd name="connsiteX0" fmla="*/ 0 w 1399717"/>
              <a:gd name="connsiteY0" fmla="*/ 1037795 h 1037795"/>
              <a:gd name="connsiteX1" fmla="*/ 0 w 1399717"/>
              <a:gd name="connsiteY1" fmla="*/ 0 h 1037795"/>
              <a:gd name="connsiteX2" fmla="*/ 1399717 w 1399717"/>
              <a:gd name="connsiteY2" fmla="*/ 1037795 h 1037795"/>
              <a:gd name="connsiteX3" fmla="*/ 0 w 1399717"/>
              <a:gd name="connsiteY3" fmla="*/ 1037795 h 1037795"/>
              <a:gd name="connsiteX0-1" fmla="*/ 0 w 1331479"/>
              <a:gd name="connsiteY0-2" fmla="*/ 1037795 h 1037795"/>
              <a:gd name="connsiteX1-3" fmla="*/ 0 w 1331479"/>
              <a:gd name="connsiteY1-4" fmla="*/ 0 h 1037795"/>
              <a:gd name="connsiteX2-5" fmla="*/ 1331479 w 1331479"/>
              <a:gd name="connsiteY2-6" fmla="*/ 1037795 h 1037795"/>
              <a:gd name="connsiteX3-7" fmla="*/ 0 w 1331479"/>
              <a:gd name="connsiteY3-8" fmla="*/ 1037795 h 1037795"/>
              <a:gd name="connsiteX0-9" fmla="*/ 0 w 1331479"/>
              <a:gd name="connsiteY0-10" fmla="*/ 983204 h 983204"/>
              <a:gd name="connsiteX1-11" fmla="*/ 13648 w 1331479"/>
              <a:gd name="connsiteY1-12" fmla="*/ 0 h 983204"/>
              <a:gd name="connsiteX2-13" fmla="*/ 1331479 w 1331479"/>
              <a:gd name="connsiteY2-14" fmla="*/ 983204 h 983204"/>
              <a:gd name="connsiteX3-15" fmla="*/ 0 w 1331479"/>
              <a:gd name="connsiteY3-16" fmla="*/ 983204 h 983204"/>
              <a:gd name="connsiteX0-17" fmla="*/ 13649 w 1345128"/>
              <a:gd name="connsiteY0-18" fmla="*/ 942260 h 942260"/>
              <a:gd name="connsiteX1-19" fmla="*/ 0 w 1345128"/>
              <a:gd name="connsiteY1-20" fmla="*/ 0 h 942260"/>
              <a:gd name="connsiteX2-21" fmla="*/ 1345128 w 1345128"/>
              <a:gd name="connsiteY2-22" fmla="*/ 942260 h 942260"/>
              <a:gd name="connsiteX3-23" fmla="*/ 13649 w 1345128"/>
              <a:gd name="connsiteY3-24" fmla="*/ 942260 h 942260"/>
              <a:gd name="connsiteX0-25" fmla="*/ 1 w 1331480"/>
              <a:gd name="connsiteY0-26" fmla="*/ 887669 h 887669"/>
              <a:gd name="connsiteX1-27" fmla="*/ 0 w 1331480"/>
              <a:gd name="connsiteY1-28" fmla="*/ 0 h 887669"/>
              <a:gd name="connsiteX2-29" fmla="*/ 1331480 w 1331480"/>
              <a:gd name="connsiteY2-30" fmla="*/ 887669 h 887669"/>
              <a:gd name="connsiteX3-31" fmla="*/ 1 w 1331480"/>
              <a:gd name="connsiteY3-32" fmla="*/ 887669 h 887669"/>
              <a:gd name="connsiteX0-33" fmla="*/ 2 w 1331481"/>
              <a:gd name="connsiteY0-34" fmla="*/ 901317 h 901317"/>
              <a:gd name="connsiteX1-35" fmla="*/ 0 w 1331481"/>
              <a:gd name="connsiteY1-36" fmla="*/ 0 h 901317"/>
              <a:gd name="connsiteX2-37" fmla="*/ 1331481 w 1331481"/>
              <a:gd name="connsiteY2-38" fmla="*/ 901317 h 901317"/>
              <a:gd name="connsiteX3-39" fmla="*/ 2 w 1331481"/>
              <a:gd name="connsiteY3-40" fmla="*/ 901317 h 901317"/>
            </a:gdLst>
            <a:ahLst/>
            <a:cxnLst>
              <a:cxn ang="0">
                <a:pos x="connsiteX0-1" y="connsiteY0-2"/>
              </a:cxn>
              <a:cxn ang="0">
                <a:pos x="connsiteX1-3" y="connsiteY1-4"/>
              </a:cxn>
              <a:cxn ang="0">
                <a:pos x="connsiteX2-5" y="connsiteY2-6"/>
              </a:cxn>
              <a:cxn ang="0">
                <a:pos x="connsiteX3-7" y="connsiteY3-8"/>
              </a:cxn>
            </a:cxnLst>
            <a:rect l="l" t="t" r="r" b="b"/>
            <a:pathLst>
              <a:path w="1331481" h="901317">
                <a:moveTo>
                  <a:pt x="2" y="901317"/>
                </a:moveTo>
                <a:cubicBezTo>
                  <a:pt x="2" y="605427"/>
                  <a:pt x="0" y="295890"/>
                  <a:pt x="0" y="0"/>
                </a:cubicBezTo>
                <a:lnTo>
                  <a:pt x="1331481" y="901317"/>
                </a:lnTo>
                <a:lnTo>
                  <a:pt x="2" y="901317"/>
                </a:lnTo>
                <a:close/>
              </a:path>
            </a:pathLst>
          </a:custGeom>
          <a:solidFill>
            <a:srgbClr val="B4A697"/>
          </a:solidFill>
          <a:ln>
            <a:noFill/>
          </a:ln>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100" name="矩形 99"/>
          <p:cNvSpPr/>
          <p:nvPr/>
        </p:nvSpPr>
        <p:spPr>
          <a:xfrm>
            <a:off x="3950831" y="3744113"/>
            <a:ext cx="1127451" cy="356957"/>
          </a:xfrm>
          <a:prstGeom prst="rect">
            <a:avLst/>
          </a:prstGeom>
        </p:spPr>
        <p:txBody>
          <a:bodyPr wrap="square">
            <a:spAutoFit/>
          </a:bodyPr>
          <a:lstStyle/>
          <a:p>
            <a:pPr>
              <a:lnSpc>
                <a:spcPct val="150000"/>
              </a:lnSpc>
            </a:pPr>
            <a:r>
              <a:rPr kumimoji="1" lang="zh-CN" altLang="en-US" dirty="0">
                <a:latin typeface="华文中宋" panose="02010600040101010101" pitchFamily="2" charset="-122"/>
                <a:ea typeface="华文中宋" panose="02010600040101010101" pitchFamily="2" charset="-122"/>
              </a:rPr>
              <a:t>扩张型战略</a:t>
            </a:r>
            <a:endParaRPr kumimoji="1" lang="en-US" altLang="zh-CN" dirty="0">
              <a:latin typeface="华文中宋" panose="02010600040101010101" pitchFamily="2" charset="-122"/>
              <a:ea typeface="华文中宋" panose="02010600040101010101" pitchFamily="2" charset="-122"/>
            </a:endParaRPr>
          </a:p>
        </p:txBody>
      </p:sp>
      <p:sp>
        <p:nvSpPr>
          <p:cNvPr id="101" name="矩形 100"/>
          <p:cNvSpPr/>
          <p:nvPr/>
        </p:nvSpPr>
        <p:spPr>
          <a:xfrm>
            <a:off x="3120590" y="3452837"/>
            <a:ext cx="478016" cy="292388"/>
          </a:xfrm>
          <a:prstGeom prst="rect">
            <a:avLst/>
          </a:prstGeom>
        </p:spPr>
        <p:txBody>
          <a:bodyPr wrap="none">
            <a:spAutoFit/>
          </a:bodyPr>
          <a:lstStyle/>
          <a:p>
            <a:r>
              <a:rPr kumimoji="1" lang="en-US" altLang="zh-CN" dirty="0">
                <a:solidFill>
                  <a:schemeClr val="bg1"/>
                </a:solidFill>
                <a:latin typeface="华文中宋" panose="02010600040101010101" pitchFamily="2" charset="-122"/>
                <a:ea typeface="华文中宋" panose="02010600040101010101" pitchFamily="2" charset="-122"/>
              </a:rPr>
              <a:t>WO</a:t>
            </a:r>
            <a:endParaRPr lang="zh-CN" altLang="en-US" dirty="0">
              <a:solidFill>
                <a:schemeClr val="bg1"/>
              </a:solidFill>
              <a:latin typeface="华文中宋" panose="02010600040101010101" pitchFamily="2" charset="-122"/>
              <a:ea typeface="华文中宋" panose="02010600040101010101" pitchFamily="2" charset="-122"/>
            </a:endParaRPr>
          </a:p>
        </p:txBody>
      </p:sp>
      <p:sp>
        <p:nvSpPr>
          <p:cNvPr id="102" name="矩形 101"/>
          <p:cNvSpPr/>
          <p:nvPr/>
        </p:nvSpPr>
        <p:spPr>
          <a:xfrm>
            <a:off x="3915466" y="3442250"/>
            <a:ext cx="425116" cy="292388"/>
          </a:xfrm>
          <a:prstGeom prst="rect">
            <a:avLst/>
          </a:prstGeom>
        </p:spPr>
        <p:txBody>
          <a:bodyPr wrap="none">
            <a:spAutoFit/>
          </a:bodyPr>
          <a:lstStyle/>
          <a:p>
            <a:r>
              <a:rPr kumimoji="1" lang="en-US" altLang="zh-CN" dirty="0">
                <a:solidFill>
                  <a:srgbClr val="FF0000"/>
                </a:solidFill>
                <a:latin typeface="华文中宋" panose="02010600040101010101" pitchFamily="2" charset="-122"/>
                <a:ea typeface="华文中宋" panose="02010600040101010101" pitchFamily="2" charset="-122"/>
              </a:rPr>
              <a:t>SO</a:t>
            </a:r>
            <a:endParaRPr lang="zh-CN" altLang="en-US" dirty="0">
              <a:solidFill>
                <a:srgbClr val="FF0000"/>
              </a:solidFill>
              <a:latin typeface="华文中宋" panose="02010600040101010101" pitchFamily="2" charset="-122"/>
              <a:ea typeface="华文中宋" panose="02010600040101010101" pitchFamily="2" charset="-122"/>
            </a:endParaRPr>
          </a:p>
        </p:txBody>
      </p:sp>
      <p:sp>
        <p:nvSpPr>
          <p:cNvPr id="103" name="矩形 102"/>
          <p:cNvSpPr/>
          <p:nvPr/>
        </p:nvSpPr>
        <p:spPr>
          <a:xfrm>
            <a:off x="3123457" y="4792758"/>
            <a:ext cx="449162" cy="292388"/>
          </a:xfrm>
          <a:prstGeom prst="rect">
            <a:avLst/>
          </a:prstGeom>
        </p:spPr>
        <p:txBody>
          <a:bodyPr wrap="none">
            <a:spAutoFit/>
          </a:bodyPr>
          <a:lstStyle/>
          <a:p>
            <a:r>
              <a:rPr kumimoji="1" lang="en-US" altLang="zh-CN" dirty="0">
                <a:solidFill>
                  <a:srgbClr val="FF0000"/>
                </a:solidFill>
                <a:latin typeface="华文中宋" panose="02010600040101010101" pitchFamily="2" charset="-122"/>
                <a:ea typeface="华文中宋" panose="02010600040101010101" pitchFamily="2" charset="-122"/>
              </a:rPr>
              <a:t>WT</a:t>
            </a:r>
            <a:endParaRPr lang="zh-CN" altLang="en-US" dirty="0">
              <a:solidFill>
                <a:srgbClr val="FF0000"/>
              </a:solidFill>
              <a:latin typeface="华文中宋" panose="02010600040101010101" pitchFamily="2" charset="-122"/>
              <a:ea typeface="华文中宋" panose="02010600040101010101" pitchFamily="2" charset="-122"/>
            </a:endParaRPr>
          </a:p>
        </p:txBody>
      </p:sp>
      <p:sp>
        <p:nvSpPr>
          <p:cNvPr id="104" name="矩形 103"/>
          <p:cNvSpPr/>
          <p:nvPr/>
        </p:nvSpPr>
        <p:spPr>
          <a:xfrm>
            <a:off x="3918333" y="4782171"/>
            <a:ext cx="397866" cy="292388"/>
          </a:xfrm>
          <a:prstGeom prst="rect">
            <a:avLst/>
          </a:prstGeom>
        </p:spPr>
        <p:txBody>
          <a:bodyPr wrap="none">
            <a:spAutoFit/>
          </a:bodyPr>
          <a:lstStyle/>
          <a:p>
            <a:r>
              <a:rPr kumimoji="1" lang="en-US" altLang="zh-CN" dirty="0">
                <a:solidFill>
                  <a:srgbClr val="FF0000"/>
                </a:solidFill>
                <a:latin typeface="华文中宋" panose="02010600040101010101" pitchFamily="2" charset="-122"/>
                <a:ea typeface="华文中宋" panose="02010600040101010101" pitchFamily="2" charset="-122"/>
              </a:rPr>
              <a:t>ST</a:t>
            </a:r>
            <a:endParaRPr lang="zh-CN" altLang="en-US"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p:cNvSpPr txBox="1"/>
          <p:nvPr/>
        </p:nvSpPr>
        <p:spPr bwMode="auto">
          <a:xfrm>
            <a:off x="9932632" y="6606881"/>
            <a:ext cx="2063750" cy="138499"/>
          </a:xfrm>
          <a:prstGeom prst="rect">
            <a:avLst/>
          </a:prstGeom>
          <a:noFill/>
          <a:ln>
            <a:noFill/>
          </a:ln>
        </p:spPr>
        <p:txBody>
          <a:bodyPr vert="horz" wrap="square" lIns="0" tIns="0" rIns="0" bIns="0" numCol="1" anchor="t" anchorCtr="0" compatLnSpc="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52DF7D90-B49A-4800-BC0D-FE9A7C3546DE}" type="slidenum">
              <a:rPr kumimoji="0" lang="zh-CN" altLang="en-US" sz="1110" b="1" i="0" u="none" strike="noStrike" kern="1200" cap="none" spc="0" normalizeH="0" baseline="0" noProof="0" smtClean="0">
                <a:ln>
                  <a:noFill/>
                </a:ln>
                <a:solidFill>
                  <a:srgbClr val="333333"/>
                </a:solidFill>
                <a:effectLst/>
                <a:uLnTx/>
                <a:uFillTx/>
                <a:latin typeface="Arial" panose="020B0604020202090204" pitchFamily="34" charset="0"/>
                <a:ea typeface="윤고딕130" charset="0"/>
                <a:cs typeface="+mn-cs"/>
              </a:rPr>
            </a:fld>
            <a:endParaRPr kumimoji="0" lang="en-US" altLang="zh-CN" sz="1110" b="1" i="0" u="none" strike="noStrike" kern="1200" cap="none" spc="0" normalizeH="0" baseline="0" noProof="0" dirty="0">
              <a:ln>
                <a:noFill/>
              </a:ln>
              <a:solidFill>
                <a:srgbClr val="333333"/>
              </a:solidFill>
              <a:effectLst/>
              <a:uLnTx/>
              <a:uFillTx/>
              <a:latin typeface="Arial" panose="020B0604020202090204" pitchFamily="34" charset="0"/>
              <a:ea typeface="윤고딕130" charset="0"/>
              <a:cs typeface="+mn-cs"/>
            </a:endParaRPr>
          </a:p>
        </p:txBody>
      </p:sp>
      <p:sp>
        <p:nvSpPr>
          <p:cNvPr id="5" name="标题 2"/>
          <p:cNvSpPr txBox="1"/>
          <p:nvPr/>
        </p:nvSpPr>
        <p:spPr>
          <a:xfrm>
            <a:off x="695325" y="865241"/>
            <a:ext cx="10990615" cy="685522"/>
          </a:xfrm>
          <a:prstGeom prst="rect">
            <a:avLst/>
          </a:prstGeom>
        </p:spPr>
        <p:txBody>
          <a:bodyPr vert="horz" lIns="91440" tIns="45720" rIns="91440" bIns="45720" rtlCol="0" anchor="ctr">
            <a:normAutofit fontScale="975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STZhongsong" panose="02010600040101010101" pitchFamily="2" charset="-122"/>
                <a:ea typeface="STZhongsong" panose="02010600040101010101" pitchFamily="2" charset="-122"/>
                <a:cs typeface="+mj-cs"/>
              </a:rPr>
              <a:t>如果把中银的主要模块视为业务，在对业务和战略赋能的“占有率”和增长方面，目前“明星”业务太少，“问题”业务较多。</a:t>
            </a:r>
            <a:endParaRPr kumimoji="1" lang="zh-CN" altLang="en-US" sz="1800" b="1" i="0" u="none" strike="noStrike" kern="0" cap="none" spc="0" normalizeH="0" baseline="0" noProof="0" dirty="0">
              <a:ln>
                <a:noFill/>
              </a:ln>
              <a:solidFill>
                <a:srgbClr val="000000"/>
              </a:solidFill>
              <a:effectLst/>
              <a:uLnTx/>
              <a:uFillTx/>
              <a:latin typeface="STZhongsong" panose="02010600040101010101" pitchFamily="2" charset="-122"/>
              <a:ea typeface="STZhongsong" panose="02010600040101010101" pitchFamily="2" charset="-122"/>
              <a:cs typeface="+mj-cs"/>
            </a:endParaRPr>
          </a:p>
        </p:txBody>
      </p:sp>
      <p:sp>
        <p:nvSpPr>
          <p:cNvPr id="6" name="文本框 15"/>
          <p:cNvSpPr txBox="1"/>
          <p:nvPr/>
        </p:nvSpPr>
        <p:spPr>
          <a:xfrm>
            <a:off x="4424799" y="6314493"/>
            <a:ext cx="3185487" cy="292388"/>
          </a:xfrm>
          <a:prstGeom prst="rect">
            <a:avLst/>
          </a:prstGeom>
          <a:noFill/>
        </p:spPr>
        <p:txBody>
          <a:bodyPr wrap="none" rtlCol="0">
            <a:spAutoFit/>
          </a:bodyPr>
          <a:lstStyle/>
          <a:p>
            <a:r>
              <a:rPr kumimoji="1" lang="zh-CN" altLang="en-US" b="0" dirty="0">
                <a:latin typeface="宋体" pitchFamily="2" charset="-122"/>
                <a:ea typeface="宋体" pitchFamily="2" charset="-122"/>
              </a:rPr>
              <a:t>中银教育培训当前“业务”的波士顿矩阵</a:t>
            </a:r>
            <a:endParaRPr kumimoji="1" lang="zh-CN" altLang="en-US" b="0" dirty="0">
              <a:latin typeface="宋体" pitchFamily="2" charset="-122"/>
              <a:ea typeface="宋体" pitchFamily="2" charset="-122"/>
            </a:endParaRPr>
          </a:p>
        </p:txBody>
      </p:sp>
      <p:sp>
        <p:nvSpPr>
          <p:cNvPr id="8" name="矩形 7"/>
          <p:cNvSpPr/>
          <p:nvPr/>
        </p:nvSpPr>
        <p:spPr>
          <a:xfrm>
            <a:off x="1758769" y="1813219"/>
            <a:ext cx="8517549" cy="4462000"/>
          </a:xfrm>
          <a:prstGeom prst="rect">
            <a:avLst/>
          </a:prstGeom>
          <a:solidFill>
            <a:schemeClr val="bg2"/>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9" name="矩形 8"/>
          <p:cNvSpPr/>
          <p:nvPr/>
        </p:nvSpPr>
        <p:spPr>
          <a:xfrm>
            <a:off x="3064279" y="2283381"/>
            <a:ext cx="5906530" cy="3521676"/>
          </a:xfrm>
          <a:prstGeom prst="rect">
            <a:avLst/>
          </a:prstGeom>
          <a:ln>
            <a:solidFill>
              <a:schemeClr val="tx1">
                <a:lumMod val="65000"/>
                <a:lumOff val="35000"/>
              </a:schemeClr>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cxnSp>
        <p:nvCxnSpPr>
          <p:cNvPr id="10" name="直线连接符 41"/>
          <p:cNvCxnSpPr/>
          <p:nvPr/>
        </p:nvCxnSpPr>
        <p:spPr bwMode="auto">
          <a:xfrm>
            <a:off x="3064280" y="4765346"/>
            <a:ext cx="5918886" cy="0"/>
          </a:xfrm>
          <a:prstGeom prst="line">
            <a:avLst/>
          </a:prstGeom>
          <a:solidFill>
            <a:schemeClr val="bg1"/>
          </a:solidFill>
          <a:ln w="9525" cap="flat" cmpd="sng" algn="ctr">
            <a:solidFill>
              <a:schemeClr val="tx1"/>
            </a:solidFill>
            <a:prstDash val="solid"/>
            <a:round/>
            <a:headEnd type="none" w="med" len="med"/>
            <a:tailEnd type="none" w="med" len="med"/>
          </a:ln>
        </p:spPr>
      </p:cxnSp>
      <p:cxnSp>
        <p:nvCxnSpPr>
          <p:cNvPr id="11" name="直线连接符 42"/>
          <p:cNvCxnSpPr>
            <a:stCxn id="9" idx="0"/>
          </p:cNvCxnSpPr>
          <p:nvPr/>
        </p:nvCxnSpPr>
        <p:spPr bwMode="auto">
          <a:xfrm>
            <a:off x="6017544" y="2283381"/>
            <a:ext cx="0" cy="3521676"/>
          </a:xfrm>
          <a:prstGeom prst="line">
            <a:avLst/>
          </a:prstGeom>
          <a:solidFill>
            <a:schemeClr val="bg1"/>
          </a:solidFill>
          <a:ln w="9525" cap="flat" cmpd="sng" algn="ctr">
            <a:solidFill>
              <a:schemeClr val="tx1"/>
            </a:solidFill>
            <a:prstDash val="solid"/>
            <a:round/>
            <a:headEnd type="none" w="med" len="med"/>
            <a:tailEnd type="none" w="med" len="med"/>
          </a:ln>
        </p:spPr>
      </p:cxnSp>
      <p:sp>
        <p:nvSpPr>
          <p:cNvPr id="12" name="文本框 43"/>
          <p:cNvSpPr txBox="1"/>
          <p:nvPr/>
        </p:nvSpPr>
        <p:spPr>
          <a:xfrm>
            <a:off x="2688180" y="4378335"/>
            <a:ext cx="424590" cy="692497"/>
          </a:xfrm>
          <a:prstGeom prst="rect">
            <a:avLst/>
          </a:prstGeom>
          <a:noFill/>
        </p:spPr>
        <p:txBody>
          <a:bodyPr wrap="square" rtlCol="0">
            <a:spAutoFit/>
          </a:bodyPr>
          <a:lstStyle>
            <a:defPPr>
              <a:defRPr lang="en-US"/>
            </a:defPPr>
            <a:lvl1pPr>
              <a:defRPr kumimoji="1">
                <a:latin typeface="+mn-ea"/>
                <a:ea typeface="+mn-ea"/>
              </a:defRPr>
            </a:lvl1pPr>
          </a:lstStyle>
          <a:p>
            <a:r>
              <a:rPr lang="zh-CN" altLang="en-US" dirty="0"/>
              <a:t>增长率</a:t>
            </a:r>
            <a:endParaRPr lang="zh-CN" altLang="en-US" dirty="0"/>
          </a:p>
        </p:txBody>
      </p:sp>
      <p:sp>
        <p:nvSpPr>
          <p:cNvPr id="13" name="文本框 44"/>
          <p:cNvSpPr txBox="1"/>
          <p:nvPr/>
        </p:nvSpPr>
        <p:spPr>
          <a:xfrm>
            <a:off x="5073525" y="1964374"/>
            <a:ext cx="1815013" cy="292388"/>
          </a:xfrm>
          <a:prstGeom prst="rect">
            <a:avLst/>
          </a:prstGeom>
          <a:noFill/>
        </p:spPr>
        <p:txBody>
          <a:bodyPr wrap="square" rtlCol="0">
            <a:spAutoFit/>
          </a:bodyPr>
          <a:lstStyle>
            <a:defPPr>
              <a:defRPr lang="en-US"/>
            </a:defPPr>
            <a:lvl1pPr>
              <a:defRPr kumimoji="1">
                <a:latin typeface="+mn-ea"/>
                <a:ea typeface="+mn-ea"/>
              </a:defRPr>
            </a:lvl1pPr>
          </a:lstStyle>
          <a:p>
            <a:r>
              <a:rPr lang="zh-CN" altLang="en-US" dirty="0"/>
              <a:t>内部“市场”占有率</a:t>
            </a:r>
            <a:endParaRPr lang="zh-CN" altLang="en-US" dirty="0"/>
          </a:p>
        </p:txBody>
      </p:sp>
      <p:sp>
        <p:nvSpPr>
          <p:cNvPr id="14" name="文本框 45"/>
          <p:cNvSpPr txBox="1"/>
          <p:nvPr/>
        </p:nvSpPr>
        <p:spPr>
          <a:xfrm>
            <a:off x="2736671" y="2283653"/>
            <a:ext cx="424590" cy="492443"/>
          </a:xfrm>
          <a:prstGeom prst="rect">
            <a:avLst/>
          </a:prstGeom>
          <a:noFill/>
        </p:spPr>
        <p:txBody>
          <a:bodyPr wrap="square" rtlCol="0">
            <a:spAutoFit/>
          </a:bodyPr>
          <a:lstStyle/>
          <a:p>
            <a:r>
              <a:rPr kumimoji="1" lang="zh-CN" altLang="en-US" dirty="0">
                <a:latin typeface="+mn-ea"/>
                <a:ea typeface="+mn-ea"/>
              </a:rPr>
              <a:t>较高</a:t>
            </a:r>
            <a:endParaRPr kumimoji="1" lang="zh-CN" altLang="en-US" dirty="0">
              <a:latin typeface="+mn-ea"/>
              <a:ea typeface="+mn-ea"/>
            </a:endParaRPr>
          </a:p>
        </p:txBody>
      </p:sp>
      <p:sp>
        <p:nvSpPr>
          <p:cNvPr id="15" name="文本框 46"/>
          <p:cNvSpPr txBox="1"/>
          <p:nvPr/>
        </p:nvSpPr>
        <p:spPr>
          <a:xfrm>
            <a:off x="8619313" y="1990297"/>
            <a:ext cx="669291" cy="292388"/>
          </a:xfrm>
          <a:prstGeom prst="rect">
            <a:avLst/>
          </a:prstGeom>
          <a:noFill/>
        </p:spPr>
        <p:txBody>
          <a:bodyPr wrap="square" rtlCol="0">
            <a:spAutoFit/>
          </a:bodyPr>
          <a:lstStyle>
            <a:defPPr>
              <a:defRPr lang="en-US"/>
            </a:defPPr>
            <a:lvl1pPr>
              <a:defRPr kumimoji="1">
                <a:latin typeface="+mn-ea"/>
                <a:ea typeface="+mn-ea"/>
              </a:defRPr>
            </a:lvl1pPr>
          </a:lstStyle>
          <a:p>
            <a:r>
              <a:rPr lang="zh-CN" altLang="en-US" dirty="0"/>
              <a:t>较高</a:t>
            </a:r>
            <a:endParaRPr lang="zh-CN" altLang="en-US" dirty="0"/>
          </a:p>
        </p:txBody>
      </p:sp>
      <p:sp>
        <p:nvSpPr>
          <p:cNvPr id="16" name="文本框 47"/>
          <p:cNvSpPr txBox="1"/>
          <p:nvPr/>
        </p:nvSpPr>
        <p:spPr>
          <a:xfrm>
            <a:off x="3081450" y="4779102"/>
            <a:ext cx="592689" cy="492443"/>
          </a:xfrm>
          <a:prstGeom prst="rect">
            <a:avLst/>
          </a:prstGeom>
          <a:noFill/>
        </p:spPr>
        <p:txBody>
          <a:bodyPr wrap="square" rtlCol="0">
            <a:spAutoFit/>
          </a:bodyPr>
          <a:lstStyle>
            <a:defPPr>
              <a:defRPr lang="en-US"/>
            </a:defPPr>
            <a:lvl1pPr algn="ctr">
              <a:defRPr kumimoji="1">
                <a:solidFill>
                  <a:srgbClr val="FF0000"/>
                </a:solidFill>
                <a:latin typeface="+mn-ea"/>
                <a:ea typeface="+mn-ea"/>
              </a:defRPr>
            </a:lvl1pPr>
          </a:lstStyle>
          <a:p>
            <a:r>
              <a:rPr lang="zh-CN" altLang="en-US" dirty="0"/>
              <a:t>瘦狗业务</a:t>
            </a:r>
            <a:endParaRPr lang="zh-CN" altLang="en-US" dirty="0"/>
          </a:p>
        </p:txBody>
      </p:sp>
      <p:sp>
        <p:nvSpPr>
          <p:cNvPr id="17" name="文本框 48"/>
          <p:cNvSpPr txBox="1"/>
          <p:nvPr/>
        </p:nvSpPr>
        <p:spPr>
          <a:xfrm>
            <a:off x="8238076" y="4766739"/>
            <a:ext cx="745090" cy="492443"/>
          </a:xfrm>
          <a:prstGeom prst="rect">
            <a:avLst/>
          </a:prstGeom>
          <a:noFill/>
        </p:spPr>
        <p:txBody>
          <a:bodyPr wrap="square" rtlCol="0">
            <a:spAutoFit/>
          </a:bodyPr>
          <a:lstStyle>
            <a:defPPr>
              <a:defRPr lang="en-US"/>
            </a:defPPr>
            <a:lvl1pPr algn="ctr">
              <a:defRPr kumimoji="1">
                <a:solidFill>
                  <a:srgbClr val="FF0000"/>
                </a:solidFill>
                <a:latin typeface="+mn-ea"/>
                <a:ea typeface="+mn-ea"/>
              </a:defRPr>
            </a:lvl1pPr>
          </a:lstStyle>
          <a:p>
            <a:r>
              <a:rPr lang="zh-CN" altLang="en-US" dirty="0"/>
              <a:t>现金牛业务</a:t>
            </a:r>
            <a:endParaRPr lang="zh-CN" altLang="en-US" dirty="0"/>
          </a:p>
        </p:txBody>
      </p:sp>
      <p:sp>
        <p:nvSpPr>
          <p:cNvPr id="18" name="文本框 49"/>
          <p:cNvSpPr txBox="1"/>
          <p:nvPr/>
        </p:nvSpPr>
        <p:spPr>
          <a:xfrm>
            <a:off x="7944426" y="2309304"/>
            <a:ext cx="1020586" cy="292388"/>
          </a:xfrm>
          <a:prstGeom prst="rect">
            <a:avLst/>
          </a:prstGeom>
          <a:noFill/>
        </p:spPr>
        <p:txBody>
          <a:bodyPr wrap="square" rtlCol="0">
            <a:spAutoFit/>
          </a:bodyPr>
          <a:lstStyle/>
          <a:p>
            <a:pPr algn="ctr"/>
            <a:r>
              <a:rPr kumimoji="1" lang="zh-CN" altLang="en-US" dirty="0">
                <a:solidFill>
                  <a:srgbClr val="FF0000"/>
                </a:solidFill>
                <a:latin typeface="+mn-ea"/>
                <a:ea typeface="+mn-ea"/>
              </a:rPr>
              <a:t>明星业务</a:t>
            </a:r>
            <a:endParaRPr kumimoji="1" lang="zh-CN" altLang="en-US" dirty="0">
              <a:solidFill>
                <a:srgbClr val="FF0000"/>
              </a:solidFill>
              <a:latin typeface="+mn-ea"/>
              <a:ea typeface="+mn-ea"/>
            </a:endParaRPr>
          </a:p>
        </p:txBody>
      </p:sp>
      <p:sp>
        <p:nvSpPr>
          <p:cNvPr id="19" name="文本框 50"/>
          <p:cNvSpPr txBox="1"/>
          <p:nvPr/>
        </p:nvSpPr>
        <p:spPr>
          <a:xfrm>
            <a:off x="3107810" y="2343150"/>
            <a:ext cx="868649" cy="292388"/>
          </a:xfrm>
          <a:prstGeom prst="rect">
            <a:avLst/>
          </a:prstGeom>
          <a:noFill/>
        </p:spPr>
        <p:txBody>
          <a:bodyPr wrap="square" rtlCol="0">
            <a:spAutoFit/>
          </a:bodyPr>
          <a:lstStyle>
            <a:defPPr>
              <a:defRPr lang="en-US"/>
            </a:defPPr>
            <a:lvl1pPr algn="ctr">
              <a:defRPr kumimoji="1">
                <a:solidFill>
                  <a:srgbClr val="FF0000"/>
                </a:solidFill>
                <a:latin typeface="+mn-ea"/>
                <a:ea typeface="+mn-ea"/>
              </a:defRPr>
            </a:lvl1pPr>
          </a:lstStyle>
          <a:p>
            <a:r>
              <a:rPr lang="zh-CN" altLang="en-US" dirty="0"/>
              <a:t>问题业务</a:t>
            </a:r>
            <a:endParaRPr lang="zh-CN" altLang="en-US" dirty="0"/>
          </a:p>
        </p:txBody>
      </p:sp>
      <p:sp>
        <p:nvSpPr>
          <p:cNvPr id="20" name="文本框 51"/>
          <p:cNvSpPr txBox="1"/>
          <p:nvPr/>
        </p:nvSpPr>
        <p:spPr>
          <a:xfrm>
            <a:off x="5248222" y="3844502"/>
            <a:ext cx="703642" cy="492443"/>
          </a:xfrm>
          <a:prstGeom prst="rect">
            <a:avLst/>
          </a:prstGeom>
          <a:noFill/>
        </p:spPr>
        <p:txBody>
          <a:bodyPr wrap="square" rtlCol="0">
            <a:spAutoFit/>
          </a:bodyPr>
          <a:lstStyle>
            <a:defPPr>
              <a:defRPr lang="en-US"/>
            </a:defPPr>
            <a:lvl1pPr>
              <a:defRPr kumimoji="1">
                <a:latin typeface="+mn-ea"/>
                <a:ea typeface="+mn-ea"/>
              </a:defRPr>
            </a:lvl1pPr>
          </a:lstStyle>
          <a:p>
            <a:pPr algn="ctr"/>
            <a:r>
              <a:rPr lang="zh-CN" altLang="en-US" dirty="0"/>
              <a:t>语言文化培训</a:t>
            </a:r>
            <a:endParaRPr lang="zh-CN" altLang="en-US" dirty="0"/>
          </a:p>
        </p:txBody>
      </p:sp>
      <p:grpSp>
        <p:nvGrpSpPr>
          <p:cNvPr id="21" name="组合 20"/>
          <p:cNvGrpSpPr/>
          <p:nvPr/>
        </p:nvGrpSpPr>
        <p:grpSpPr>
          <a:xfrm>
            <a:off x="6374153" y="2689721"/>
            <a:ext cx="1199602" cy="550234"/>
            <a:chOff x="4976170" y="3712711"/>
            <a:chExt cx="1199602" cy="550234"/>
          </a:xfrm>
        </p:grpSpPr>
        <p:sp>
          <p:nvSpPr>
            <p:cNvPr id="22" name="椭圆 21"/>
            <p:cNvSpPr/>
            <p:nvPr/>
          </p:nvSpPr>
          <p:spPr>
            <a:xfrm>
              <a:off x="4976170" y="3712711"/>
              <a:ext cx="546848" cy="546848"/>
            </a:xfrm>
            <a:prstGeom prst="ellipse">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3" name="文本框 68"/>
            <p:cNvSpPr txBox="1"/>
            <p:nvPr/>
          </p:nvSpPr>
          <p:spPr>
            <a:xfrm>
              <a:off x="5409758" y="3770502"/>
              <a:ext cx="766014" cy="461665"/>
            </a:xfrm>
            <a:prstGeom prst="rect">
              <a:avLst/>
            </a:prstGeom>
            <a:noFill/>
          </p:spPr>
          <p:txBody>
            <a:bodyPr wrap="square" rtlCol="0">
              <a:spAutoFit/>
            </a:bodyPr>
            <a:lstStyle>
              <a:defPPr>
                <a:defRPr lang="en-US"/>
              </a:defPPr>
              <a:lvl1pPr>
                <a:defRPr kumimoji="1">
                  <a:latin typeface="+mn-ea"/>
                  <a:ea typeface="+mn-ea"/>
                </a:defRPr>
              </a:lvl1pPr>
            </a:lstStyle>
            <a:p>
              <a:pPr algn="ctr"/>
              <a:r>
                <a:rPr lang="zh-CN" altLang="en-US" dirty="0"/>
                <a:t>数字化学习</a:t>
              </a:r>
              <a:endParaRPr lang="zh-CN" altLang="en-US" dirty="0"/>
            </a:p>
          </p:txBody>
        </p:sp>
      </p:grpSp>
      <p:grpSp>
        <p:nvGrpSpPr>
          <p:cNvPr id="24" name="组合 23"/>
          <p:cNvGrpSpPr/>
          <p:nvPr/>
        </p:nvGrpSpPr>
        <p:grpSpPr>
          <a:xfrm>
            <a:off x="6045806" y="3187584"/>
            <a:ext cx="1062716" cy="537758"/>
            <a:chOff x="5161010" y="3624813"/>
            <a:chExt cx="1062716" cy="537758"/>
          </a:xfrm>
        </p:grpSpPr>
        <p:sp>
          <p:nvSpPr>
            <p:cNvPr id="25" name="椭圆 24"/>
            <p:cNvSpPr/>
            <p:nvPr/>
          </p:nvSpPr>
          <p:spPr>
            <a:xfrm>
              <a:off x="5161010" y="3624813"/>
              <a:ext cx="449905" cy="449905"/>
            </a:xfrm>
            <a:prstGeom prst="ellipse">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6" name="文本框 71"/>
            <p:cNvSpPr txBox="1"/>
            <p:nvPr/>
          </p:nvSpPr>
          <p:spPr>
            <a:xfrm>
              <a:off x="5457712" y="3670128"/>
              <a:ext cx="766014" cy="492443"/>
            </a:xfrm>
            <a:prstGeom prst="rect">
              <a:avLst/>
            </a:prstGeom>
            <a:noFill/>
          </p:spPr>
          <p:txBody>
            <a:bodyPr wrap="square" rtlCol="0">
              <a:spAutoFit/>
            </a:bodyPr>
            <a:lstStyle>
              <a:defPPr>
                <a:defRPr lang="en-US"/>
              </a:defPPr>
              <a:lvl1pPr>
                <a:defRPr kumimoji="1">
                  <a:latin typeface="+mn-ea"/>
                  <a:ea typeface="+mn-ea"/>
                </a:defRPr>
              </a:lvl1pPr>
            </a:lstStyle>
            <a:p>
              <a:pPr algn="ctr"/>
              <a:r>
                <a:rPr lang="zh-CN" altLang="en-US" dirty="0"/>
                <a:t>领导力发展</a:t>
              </a:r>
              <a:endParaRPr lang="zh-CN" altLang="en-US" dirty="0"/>
            </a:p>
          </p:txBody>
        </p:sp>
      </p:grpSp>
      <p:sp>
        <p:nvSpPr>
          <p:cNvPr id="27" name="椭圆 26"/>
          <p:cNvSpPr/>
          <p:nvPr/>
        </p:nvSpPr>
        <p:spPr>
          <a:xfrm>
            <a:off x="5079285" y="3941881"/>
            <a:ext cx="301792" cy="301792"/>
          </a:xfrm>
          <a:prstGeom prst="ellipse">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8" name="椭圆 27"/>
          <p:cNvSpPr/>
          <p:nvPr/>
        </p:nvSpPr>
        <p:spPr>
          <a:xfrm>
            <a:off x="6068187" y="4226248"/>
            <a:ext cx="403184" cy="403184"/>
          </a:xfrm>
          <a:prstGeom prst="ellipse">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9" name="文本框 74"/>
          <p:cNvSpPr txBox="1"/>
          <p:nvPr/>
        </p:nvSpPr>
        <p:spPr>
          <a:xfrm>
            <a:off x="6372336" y="4182417"/>
            <a:ext cx="620934" cy="492443"/>
          </a:xfrm>
          <a:prstGeom prst="rect">
            <a:avLst/>
          </a:prstGeom>
          <a:noFill/>
        </p:spPr>
        <p:txBody>
          <a:bodyPr wrap="square" rtlCol="0">
            <a:spAutoFit/>
          </a:bodyPr>
          <a:lstStyle>
            <a:defPPr>
              <a:defRPr lang="en-US"/>
            </a:defPPr>
            <a:lvl1pPr>
              <a:defRPr kumimoji="1">
                <a:latin typeface="+mn-ea"/>
                <a:ea typeface="+mn-ea"/>
              </a:defRPr>
            </a:lvl1pPr>
          </a:lstStyle>
          <a:p>
            <a:pPr algn="ctr"/>
            <a:r>
              <a:rPr lang="zh-CN" altLang="en-US" dirty="0"/>
              <a:t>党校培训</a:t>
            </a:r>
            <a:endParaRPr lang="zh-CN" altLang="en-US" dirty="0"/>
          </a:p>
        </p:txBody>
      </p:sp>
      <p:sp>
        <p:nvSpPr>
          <p:cNvPr id="30" name="文本框 75"/>
          <p:cNvSpPr txBox="1"/>
          <p:nvPr/>
        </p:nvSpPr>
        <p:spPr>
          <a:xfrm>
            <a:off x="4421081" y="3813261"/>
            <a:ext cx="741469" cy="492443"/>
          </a:xfrm>
          <a:prstGeom prst="rect">
            <a:avLst/>
          </a:prstGeom>
          <a:noFill/>
        </p:spPr>
        <p:txBody>
          <a:bodyPr wrap="square" rtlCol="0">
            <a:spAutoFit/>
          </a:bodyPr>
          <a:lstStyle>
            <a:defPPr>
              <a:defRPr lang="en-US"/>
            </a:defPPr>
            <a:lvl1pPr>
              <a:defRPr kumimoji="1">
                <a:latin typeface="+mn-ea"/>
                <a:ea typeface="+mn-ea"/>
              </a:defRPr>
            </a:lvl1pPr>
          </a:lstStyle>
          <a:p>
            <a:pPr algn="r"/>
            <a:r>
              <a:rPr lang="zh-CN" altLang="en-US" dirty="0"/>
              <a:t>组织发展培训</a:t>
            </a:r>
            <a:endParaRPr lang="zh-CN" altLang="en-US" dirty="0"/>
          </a:p>
        </p:txBody>
      </p:sp>
      <p:sp>
        <p:nvSpPr>
          <p:cNvPr id="31" name="椭圆 30"/>
          <p:cNvSpPr/>
          <p:nvPr/>
        </p:nvSpPr>
        <p:spPr>
          <a:xfrm>
            <a:off x="4339991" y="3979264"/>
            <a:ext cx="189239" cy="189239"/>
          </a:xfrm>
          <a:prstGeom prst="ellipse">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grpSp>
        <p:nvGrpSpPr>
          <p:cNvPr id="32" name="组合 31"/>
          <p:cNvGrpSpPr/>
          <p:nvPr/>
        </p:nvGrpSpPr>
        <p:grpSpPr>
          <a:xfrm>
            <a:off x="4823007" y="3317977"/>
            <a:ext cx="1169537" cy="492443"/>
            <a:chOff x="5946948" y="3459259"/>
            <a:chExt cx="1169537" cy="492443"/>
          </a:xfrm>
        </p:grpSpPr>
        <p:sp>
          <p:nvSpPr>
            <p:cNvPr id="33" name="文本框 78"/>
            <p:cNvSpPr txBox="1"/>
            <p:nvPr/>
          </p:nvSpPr>
          <p:spPr>
            <a:xfrm>
              <a:off x="6039797" y="3459259"/>
              <a:ext cx="1076688" cy="492443"/>
            </a:xfrm>
            <a:prstGeom prst="rect">
              <a:avLst/>
            </a:prstGeom>
            <a:noFill/>
          </p:spPr>
          <p:txBody>
            <a:bodyPr wrap="square" rtlCol="0">
              <a:spAutoFit/>
            </a:bodyPr>
            <a:lstStyle>
              <a:defPPr>
                <a:defRPr lang="en-US"/>
              </a:defPPr>
              <a:lvl1pPr>
                <a:defRPr kumimoji="1">
                  <a:latin typeface="+mn-ea"/>
                  <a:ea typeface="+mn-ea"/>
                </a:defRPr>
              </a:lvl1pPr>
            </a:lstStyle>
            <a:p>
              <a:pPr algn="ctr"/>
              <a:r>
                <a:rPr lang="zh-CN" altLang="en-US" dirty="0"/>
                <a:t>风险合规反洗钱培训</a:t>
              </a:r>
              <a:endParaRPr lang="zh-CN" altLang="en-US" dirty="0"/>
            </a:p>
          </p:txBody>
        </p:sp>
        <p:sp>
          <p:nvSpPr>
            <p:cNvPr id="34" name="椭圆 33"/>
            <p:cNvSpPr/>
            <p:nvPr/>
          </p:nvSpPr>
          <p:spPr>
            <a:xfrm>
              <a:off x="5946948" y="3626515"/>
              <a:ext cx="251934" cy="251934"/>
            </a:xfrm>
            <a:prstGeom prst="ellipse">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grpSp>
      <p:sp>
        <p:nvSpPr>
          <p:cNvPr id="35" name="文本框 80"/>
          <p:cNvSpPr txBox="1"/>
          <p:nvPr/>
        </p:nvSpPr>
        <p:spPr>
          <a:xfrm>
            <a:off x="6226584" y="3717646"/>
            <a:ext cx="611222" cy="492443"/>
          </a:xfrm>
          <a:prstGeom prst="rect">
            <a:avLst/>
          </a:prstGeom>
          <a:noFill/>
        </p:spPr>
        <p:txBody>
          <a:bodyPr wrap="square" rtlCol="0">
            <a:spAutoFit/>
          </a:bodyPr>
          <a:lstStyle>
            <a:defPPr>
              <a:defRPr lang="en-US"/>
            </a:defPPr>
            <a:lvl1pPr>
              <a:defRPr kumimoji="1">
                <a:latin typeface="+mn-ea"/>
                <a:ea typeface="+mn-ea"/>
              </a:defRPr>
            </a:lvl1pPr>
          </a:lstStyle>
          <a:p>
            <a:pPr algn="ctr"/>
            <a:r>
              <a:rPr lang="zh-CN" altLang="en-US" dirty="0"/>
              <a:t>案例学习</a:t>
            </a:r>
            <a:endParaRPr lang="zh-CN" altLang="en-US" dirty="0"/>
          </a:p>
        </p:txBody>
      </p:sp>
      <p:sp>
        <p:nvSpPr>
          <p:cNvPr id="36" name="椭圆 35"/>
          <p:cNvSpPr/>
          <p:nvPr/>
        </p:nvSpPr>
        <p:spPr>
          <a:xfrm>
            <a:off x="6071764" y="3823516"/>
            <a:ext cx="251934" cy="251934"/>
          </a:xfrm>
          <a:prstGeom prst="ellipse">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37" name="文本框 82"/>
          <p:cNvSpPr txBox="1"/>
          <p:nvPr/>
        </p:nvSpPr>
        <p:spPr>
          <a:xfrm>
            <a:off x="4139705" y="3373651"/>
            <a:ext cx="732866" cy="492443"/>
          </a:xfrm>
          <a:prstGeom prst="rect">
            <a:avLst/>
          </a:prstGeom>
          <a:noFill/>
        </p:spPr>
        <p:txBody>
          <a:bodyPr wrap="square" rtlCol="0">
            <a:spAutoFit/>
          </a:bodyPr>
          <a:lstStyle>
            <a:defPPr>
              <a:defRPr lang="en-US"/>
            </a:defPPr>
            <a:lvl1pPr>
              <a:defRPr kumimoji="1">
                <a:latin typeface="+mn-ea"/>
                <a:ea typeface="+mn-ea"/>
              </a:defRPr>
            </a:lvl1pPr>
          </a:lstStyle>
          <a:p>
            <a:pPr algn="r"/>
            <a:r>
              <a:rPr lang="zh-CN" altLang="en-US" dirty="0"/>
              <a:t>其他专业培训</a:t>
            </a:r>
            <a:endParaRPr lang="zh-CN" altLang="en-US" dirty="0"/>
          </a:p>
        </p:txBody>
      </p:sp>
      <p:sp>
        <p:nvSpPr>
          <p:cNvPr id="38" name="椭圆 37"/>
          <p:cNvSpPr/>
          <p:nvPr/>
        </p:nvSpPr>
        <p:spPr>
          <a:xfrm>
            <a:off x="4020134" y="3527125"/>
            <a:ext cx="189239" cy="189239"/>
          </a:xfrm>
          <a:prstGeom prst="ellipse">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39" name="标题 1"/>
          <p:cNvSpPr txBox="1"/>
          <p:nvPr/>
        </p:nvSpPr>
        <p:spPr>
          <a:xfrm>
            <a:off x="560388" y="319705"/>
            <a:ext cx="8799512" cy="184666"/>
          </a:xfrm>
          <a:prstGeom prst="rect">
            <a:avLst/>
          </a:prstGeom>
        </p:spPr>
        <p:txBody>
          <a:bodyPr vert="horz" lIns="91440" tIns="45720" rIns="91440" bIns="45720" rtlCol="0" anchor="ctr">
            <a:noAutofit/>
          </a:bodyPr>
          <a:lstStyle>
            <a:lvl1pPr algn="l" rtl="0" eaLnBrk="0" fontAlgn="base" hangingPunct="0">
              <a:spcBef>
                <a:spcPct val="0"/>
              </a:spcBef>
              <a:spcAft>
                <a:spcPct val="0"/>
              </a:spcAft>
              <a:defRPr sz="2200" b="1">
                <a:solidFill>
                  <a:srgbClr val="000000"/>
                </a:solidFill>
                <a:latin typeface="STZhongsong" panose="02010600040101010101" pitchFamily="2" charset="-122"/>
                <a:ea typeface="STZhongsong" panose="02010600040101010101" pitchFamily="2" charset="-122"/>
                <a:cs typeface="+mj-cs"/>
              </a:defRPr>
            </a:lvl1pPr>
            <a:lvl2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2pPr>
            <a:lvl3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3pPr>
            <a:lvl4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4pPr>
            <a:lvl5pPr algn="l" rtl="0" eaLnBrk="0" fontAlgn="base" hangingPunct="0">
              <a:spcBef>
                <a:spcPct val="0"/>
              </a:spcBef>
              <a:spcAft>
                <a:spcPct val="0"/>
              </a:spcAft>
              <a:defRPr sz="1900" b="1">
                <a:solidFill>
                  <a:srgbClr val="000000"/>
                </a:solidFill>
                <a:latin typeface="Arial" panose="020B0604020202090204" pitchFamily="34" charset="0"/>
                <a:ea typeface="윤고딕130" pitchFamily="18" charset="-127"/>
              </a:defRPr>
            </a:lvl5pPr>
            <a:lvl6pPr marL="457200" algn="l" rtl="0" fontAlgn="base">
              <a:spcBef>
                <a:spcPct val="0"/>
              </a:spcBef>
              <a:spcAft>
                <a:spcPct val="0"/>
              </a:spcAft>
              <a:defRPr sz="1900" b="1">
                <a:solidFill>
                  <a:srgbClr val="000000"/>
                </a:solidFill>
                <a:latin typeface="Arial" panose="020B0604020202090204" pitchFamily="34" charset="0"/>
                <a:ea typeface="윤고딕130" pitchFamily="18" charset="-127"/>
              </a:defRPr>
            </a:lvl6pPr>
            <a:lvl7pPr marL="914400" algn="l" rtl="0" fontAlgn="base">
              <a:spcBef>
                <a:spcPct val="0"/>
              </a:spcBef>
              <a:spcAft>
                <a:spcPct val="0"/>
              </a:spcAft>
              <a:defRPr sz="1900" b="1">
                <a:solidFill>
                  <a:srgbClr val="000000"/>
                </a:solidFill>
                <a:latin typeface="Arial" panose="020B0604020202090204" pitchFamily="34" charset="0"/>
                <a:ea typeface="윤고딕130" pitchFamily="18" charset="-127"/>
              </a:defRPr>
            </a:lvl7pPr>
            <a:lvl8pPr marL="1371600" algn="l" rtl="0" fontAlgn="base">
              <a:spcBef>
                <a:spcPct val="0"/>
              </a:spcBef>
              <a:spcAft>
                <a:spcPct val="0"/>
              </a:spcAft>
              <a:defRPr sz="1900" b="1">
                <a:solidFill>
                  <a:srgbClr val="000000"/>
                </a:solidFill>
                <a:latin typeface="Arial" panose="020B0604020202090204" pitchFamily="34" charset="0"/>
                <a:ea typeface="윤고딕130" pitchFamily="18" charset="-127"/>
              </a:defRPr>
            </a:lvl8pPr>
            <a:lvl9pPr marL="1828800" algn="l" rtl="0" fontAlgn="base">
              <a:spcBef>
                <a:spcPct val="0"/>
              </a:spcBef>
              <a:spcAft>
                <a:spcPct val="0"/>
              </a:spcAft>
              <a:defRPr sz="1900" b="1">
                <a:solidFill>
                  <a:srgbClr val="000000"/>
                </a:solidFill>
                <a:latin typeface="Arial" panose="020B0604020202090204" pitchFamily="34" charset="0"/>
                <a:ea typeface="윤고딕130" pitchFamily="18" charset="-127"/>
              </a:defRPr>
            </a:lvl9pPr>
          </a:lstStyle>
          <a:p>
            <a:r>
              <a:rPr kumimoji="1" lang="en-US" altLang="zh-CN" sz="2000" kern="0" dirty="0"/>
              <a:t>SWOT</a:t>
            </a:r>
            <a:r>
              <a:rPr kumimoji="1" lang="zh-CN" altLang="en-US" sz="2000" kern="0" dirty="0"/>
              <a:t>分析</a:t>
            </a:r>
            <a:r>
              <a:rPr kumimoji="1" lang="en-US" altLang="zh-CN" sz="2000" kern="0" dirty="0"/>
              <a:t>-</a:t>
            </a:r>
            <a:r>
              <a:rPr kumimoji="1" lang="zh-CN" altLang="en-US" sz="2000" kern="0" dirty="0"/>
              <a:t>中银教育培训业务分析</a:t>
            </a:r>
            <a:endParaRPr kumimoji="1" lang="zh-CN" altLang="en-US" sz="2000" kern="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标题 1"/>
          <p:cNvSpPr txBox="1"/>
          <p:nvPr/>
        </p:nvSpPr>
        <p:spPr>
          <a:xfrm>
            <a:off x="680915" y="298864"/>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en-US" altLang="zh-CN" dirty="0">
                <a:latin typeface="+mn-lt"/>
                <a:ea typeface="+mn-ea"/>
                <a:cs typeface="+mn-ea"/>
                <a:sym typeface="+mn-lt"/>
              </a:rPr>
              <a:t>SWOT</a:t>
            </a:r>
            <a:r>
              <a:rPr lang="zh-CN" altLang="en-US" dirty="0">
                <a:latin typeface="+mn-lt"/>
                <a:ea typeface="+mn-ea"/>
                <a:cs typeface="+mn-ea"/>
                <a:sym typeface="+mn-lt"/>
              </a:rPr>
              <a:t>分析</a:t>
            </a:r>
            <a:r>
              <a:rPr lang="en-US" altLang="zh-CN" dirty="0">
                <a:latin typeface="+mn-lt"/>
                <a:ea typeface="+mn-ea"/>
                <a:cs typeface="+mn-ea"/>
                <a:sym typeface="+mn-lt"/>
              </a:rPr>
              <a:t>-</a:t>
            </a:r>
            <a:r>
              <a:rPr lang="zh-CN" altLang="en-US" dirty="0">
                <a:latin typeface="+mn-lt"/>
                <a:ea typeface="+mn-ea"/>
                <a:cs typeface="+mn-ea"/>
                <a:sym typeface="+mn-lt"/>
              </a:rPr>
              <a:t>中银教育培训业务分析</a:t>
            </a:r>
            <a:endParaRPr lang="zh-CN" altLang="en-US" dirty="0">
              <a:latin typeface="+mn-lt"/>
              <a:ea typeface="+mn-ea"/>
              <a:cs typeface="+mn-ea"/>
              <a:sym typeface="+mn-lt"/>
            </a:endParaRPr>
          </a:p>
        </p:txBody>
      </p:sp>
      <p:sp>
        <p:nvSpPr>
          <p:cNvPr id="42" name="灯片编号占位符 1"/>
          <p:cNvSpPr>
            <a:spLocks noGrp="1"/>
          </p:cNvSpPr>
          <p:nvPr>
            <p:ph type="sldNum" sz="quarter" idx="10"/>
          </p:nvPr>
        </p:nvSpPr>
        <p:spPr>
          <a:xfrm>
            <a:off x="9921470" y="6524993"/>
            <a:ext cx="2063750" cy="138499"/>
          </a:xfrm>
        </p:spPr>
        <p:txBody>
          <a:bodyPr/>
          <a:lstStyle/>
          <a:p>
            <a:pPr>
              <a:defRPr/>
            </a:pPr>
            <a:fld id="{52DF7D90-B49A-4800-BC0D-FE9A7C3546DE}" type="slidenum">
              <a:rPr lang="zh-CN" altLang="en-US" smtClean="0"/>
            </a:fld>
            <a:endParaRPr lang="en-US" altLang="zh-CN" dirty="0"/>
          </a:p>
        </p:txBody>
      </p:sp>
      <p:sp>
        <p:nvSpPr>
          <p:cNvPr id="43" name="标题 2"/>
          <p:cNvSpPr>
            <a:spLocks noGrp="1"/>
          </p:cNvSpPr>
          <p:nvPr>
            <p:ph type="title"/>
          </p:nvPr>
        </p:nvSpPr>
        <p:spPr>
          <a:xfrm>
            <a:off x="680915" y="797689"/>
            <a:ext cx="11427958" cy="685522"/>
          </a:xfrm>
        </p:spPr>
        <p:txBody>
          <a:bodyPr>
            <a:noAutofit/>
          </a:bodyPr>
          <a:lstStyle/>
          <a:p>
            <a:r>
              <a:rPr kumimoji="1" lang="zh-CN" altLang="en-US" sz="1800" dirty="0"/>
              <a:t>结合总体渗透型兼局部扩张型发展战略，大力投入数字化学习，革新领导力学院，强化党校引领作用，重检九大学院工作方向和执行效果。</a:t>
            </a:r>
            <a:endParaRPr kumimoji="1" lang="zh-CN" altLang="en-US" sz="1800" dirty="0"/>
          </a:p>
        </p:txBody>
      </p:sp>
      <p:sp>
        <p:nvSpPr>
          <p:cNvPr id="44" name="矩形 43"/>
          <p:cNvSpPr/>
          <p:nvPr/>
        </p:nvSpPr>
        <p:spPr>
          <a:xfrm>
            <a:off x="1557470" y="1628993"/>
            <a:ext cx="8517549" cy="4462000"/>
          </a:xfrm>
          <a:prstGeom prst="rect">
            <a:avLst/>
          </a:prstGeom>
          <a:solidFill>
            <a:schemeClr val="bg2"/>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45" name="矩形 44"/>
          <p:cNvSpPr/>
          <p:nvPr/>
        </p:nvSpPr>
        <p:spPr>
          <a:xfrm>
            <a:off x="3064279" y="2201493"/>
            <a:ext cx="5906530" cy="3521676"/>
          </a:xfrm>
          <a:prstGeom prst="rect">
            <a:avLst/>
          </a:prstGeom>
          <a:ln>
            <a:solidFill>
              <a:schemeClr val="tx1">
                <a:lumMod val="65000"/>
                <a:lumOff val="35000"/>
              </a:schemeClr>
            </a:solidFill>
          </a:ln>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cxnSp>
        <p:nvCxnSpPr>
          <p:cNvPr id="46" name="直线连接符 5"/>
          <p:cNvCxnSpPr/>
          <p:nvPr/>
        </p:nvCxnSpPr>
        <p:spPr bwMode="auto">
          <a:xfrm>
            <a:off x="3064280" y="4683458"/>
            <a:ext cx="5918886" cy="0"/>
          </a:xfrm>
          <a:prstGeom prst="line">
            <a:avLst/>
          </a:prstGeom>
          <a:solidFill>
            <a:schemeClr val="bg1"/>
          </a:solidFill>
          <a:ln w="9525" cap="flat" cmpd="sng" algn="ctr">
            <a:solidFill>
              <a:schemeClr val="tx1"/>
            </a:solidFill>
            <a:prstDash val="solid"/>
            <a:round/>
            <a:headEnd type="none" w="med" len="med"/>
            <a:tailEnd type="none" w="med" len="med"/>
          </a:ln>
        </p:spPr>
      </p:cxnSp>
      <p:cxnSp>
        <p:nvCxnSpPr>
          <p:cNvPr id="47" name="直线连接符 6"/>
          <p:cNvCxnSpPr>
            <a:stCxn id="45" idx="0"/>
          </p:cNvCxnSpPr>
          <p:nvPr/>
        </p:nvCxnSpPr>
        <p:spPr bwMode="auto">
          <a:xfrm>
            <a:off x="6017544" y="2201493"/>
            <a:ext cx="0" cy="3521676"/>
          </a:xfrm>
          <a:prstGeom prst="line">
            <a:avLst/>
          </a:prstGeom>
          <a:solidFill>
            <a:schemeClr val="bg1"/>
          </a:solidFill>
          <a:ln w="9525" cap="flat" cmpd="sng" algn="ctr">
            <a:solidFill>
              <a:schemeClr val="tx1"/>
            </a:solidFill>
            <a:prstDash val="solid"/>
            <a:round/>
            <a:headEnd type="none" w="med" len="med"/>
            <a:tailEnd type="none" w="med" len="med"/>
          </a:ln>
        </p:spPr>
      </p:cxnSp>
      <p:sp>
        <p:nvSpPr>
          <p:cNvPr id="48" name="文本框 7"/>
          <p:cNvSpPr txBox="1"/>
          <p:nvPr/>
        </p:nvSpPr>
        <p:spPr>
          <a:xfrm>
            <a:off x="2688180" y="4296447"/>
            <a:ext cx="424590" cy="692497"/>
          </a:xfrm>
          <a:prstGeom prst="rect">
            <a:avLst/>
          </a:prstGeom>
          <a:noFill/>
        </p:spPr>
        <p:txBody>
          <a:bodyPr wrap="square" rtlCol="0">
            <a:spAutoFit/>
          </a:bodyPr>
          <a:lstStyle/>
          <a:p>
            <a:r>
              <a:rPr kumimoji="1" lang="zh-CN" altLang="en-US" dirty="0">
                <a:latin typeface="+mn-ea"/>
                <a:ea typeface="+mn-ea"/>
              </a:rPr>
              <a:t>增长率</a:t>
            </a:r>
            <a:endParaRPr kumimoji="1" lang="zh-CN" altLang="en-US" dirty="0">
              <a:latin typeface="+mn-ea"/>
              <a:ea typeface="+mn-ea"/>
            </a:endParaRPr>
          </a:p>
        </p:txBody>
      </p:sp>
      <p:sp>
        <p:nvSpPr>
          <p:cNvPr id="49" name="文本框 8"/>
          <p:cNvSpPr txBox="1"/>
          <p:nvPr/>
        </p:nvSpPr>
        <p:spPr>
          <a:xfrm>
            <a:off x="5138299" y="1882486"/>
            <a:ext cx="1815013" cy="292388"/>
          </a:xfrm>
          <a:prstGeom prst="rect">
            <a:avLst/>
          </a:prstGeom>
          <a:noFill/>
        </p:spPr>
        <p:txBody>
          <a:bodyPr wrap="square" rtlCol="0">
            <a:spAutoFit/>
          </a:bodyPr>
          <a:lstStyle/>
          <a:p>
            <a:r>
              <a:rPr kumimoji="1" lang="zh-CN" altLang="en-US" dirty="0">
                <a:latin typeface="+mn-ea"/>
                <a:ea typeface="+mn-ea"/>
              </a:rPr>
              <a:t>内部“市场”占有率</a:t>
            </a:r>
            <a:endParaRPr kumimoji="1" lang="zh-CN" altLang="en-US" dirty="0">
              <a:latin typeface="+mn-ea"/>
              <a:ea typeface="+mn-ea"/>
            </a:endParaRPr>
          </a:p>
        </p:txBody>
      </p:sp>
      <p:sp>
        <p:nvSpPr>
          <p:cNvPr id="50" name="文本框 9"/>
          <p:cNvSpPr txBox="1"/>
          <p:nvPr/>
        </p:nvSpPr>
        <p:spPr>
          <a:xfrm>
            <a:off x="2736671" y="2201765"/>
            <a:ext cx="424590" cy="492443"/>
          </a:xfrm>
          <a:prstGeom prst="rect">
            <a:avLst/>
          </a:prstGeom>
          <a:noFill/>
        </p:spPr>
        <p:txBody>
          <a:bodyPr wrap="square" rtlCol="0">
            <a:spAutoFit/>
          </a:bodyPr>
          <a:lstStyle/>
          <a:p>
            <a:r>
              <a:rPr kumimoji="1" lang="zh-CN" altLang="en-US" dirty="0">
                <a:latin typeface="+mn-ea"/>
                <a:ea typeface="+mn-ea"/>
              </a:rPr>
              <a:t>较高</a:t>
            </a:r>
            <a:endParaRPr kumimoji="1" lang="zh-CN" altLang="en-US" dirty="0">
              <a:latin typeface="+mn-ea"/>
              <a:ea typeface="+mn-ea"/>
            </a:endParaRPr>
          </a:p>
        </p:txBody>
      </p:sp>
      <p:sp>
        <p:nvSpPr>
          <p:cNvPr id="51" name="文本框 10"/>
          <p:cNvSpPr txBox="1"/>
          <p:nvPr/>
        </p:nvSpPr>
        <p:spPr>
          <a:xfrm>
            <a:off x="8619313" y="1908409"/>
            <a:ext cx="669291" cy="292388"/>
          </a:xfrm>
          <a:prstGeom prst="rect">
            <a:avLst/>
          </a:prstGeom>
          <a:noFill/>
        </p:spPr>
        <p:txBody>
          <a:bodyPr wrap="square" rtlCol="0">
            <a:spAutoFit/>
          </a:bodyPr>
          <a:lstStyle/>
          <a:p>
            <a:r>
              <a:rPr kumimoji="1" lang="zh-CN" altLang="en-US" dirty="0">
                <a:latin typeface="+mn-ea"/>
                <a:ea typeface="+mn-ea"/>
              </a:rPr>
              <a:t>较高</a:t>
            </a:r>
            <a:endParaRPr kumimoji="1" lang="zh-CN" altLang="en-US" dirty="0">
              <a:latin typeface="+mn-ea"/>
              <a:ea typeface="+mn-ea"/>
            </a:endParaRPr>
          </a:p>
        </p:txBody>
      </p:sp>
      <p:sp>
        <p:nvSpPr>
          <p:cNvPr id="52" name="文本框 11"/>
          <p:cNvSpPr txBox="1"/>
          <p:nvPr/>
        </p:nvSpPr>
        <p:spPr>
          <a:xfrm>
            <a:off x="3081450" y="4697214"/>
            <a:ext cx="592689" cy="492443"/>
          </a:xfrm>
          <a:prstGeom prst="rect">
            <a:avLst/>
          </a:prstGeom>
          <a:noFill/>
        </p:spPr>
        <p:txBody>
          <a:bodyPr wrap="square" rtlCol="0">
            <a:spAutoFit/>
          </a:bodyPr>
          <a:lstStyle/>
          <a:p>
            <a:pPr algn="ctr"/>
            <a:r>
              <a:rPr kumimoji="1" lang="zh-CN" altLang="en-US" dirty="0">
                <a:solidFill>
                  <a:srgbClr val="FF0000"/>
                </a:solidFill>
                <a:latin typeface="+mn-ea"/>
                <a:ea typeface="+mn-ea"/>
              </a:rPr>
              <a:t>瘦狗业务</a:t>
            </a:r>
            <a:endParaRPr kumimoji="1" lang="zh-CN" altLang="en-US" dirty="0">
              <a:solidFill>
                <a:srgbClr val="FF0000"/>
              </a:solidFill>
              <a:latin typeface="+mn-ea"/>
              <a:ea typeface="+mn-ea"/>
            </a:endParaRPr>
          </a:p>
        </p:txBody>
      </p:sp>
      <p:sp>
        <p:nvSpPr>
          <p:cNvPr id="53" name="文本框 12"/>
          <p:cNvSpPr txBox="1"/>
          <p:nvPr/>
        </p:nvSpPr>
        <p:spPr>
          <a:xfrm>
            <a:off x="8238076" y="4684851"/>
            <a:ext cx="745090" cy="492443"/>
          </a:xfrm>
          <a:prstGeom prst="rect">
            <a:avLst/>
          </a:prstGeom>
          <a:noFill/>
        </p:spPr>
        <p:txBody>
          <a:bodyPr wrap="square" rtlCol="0">
            <a:spAutoFit/>
          </a:bodyPr>
          <a:lstStyle/>
          <a:p>
            <a:pPr algn="ctr"/>
            <a:r>
              <a:rPr kumimoji="1" lang="zh-CN" altLang="en-US" dirty="0">
                <a:solidFill>
                  <a:srgbClr val="FF0000"/>
                </a:solidFill>
                <a:latin typeface="+mn-ea"/>
                <a:ea typeface="+mn-ea"/>
              </a:rPr>
              <a:t>现金牛业务</a:t>
            </a:r>
            <a:endParaRPr kumimoji="1" lang="zh-CN" altLang="en-US" dirty="0">
              <a:solidFill>
                <a:srgbClr val="FF0000"/>
              </a:solidFill>
              <a:latin typeface="+mn-ea"/>
              <a:ea typeface="+mn-ea"/>
            </a:endParaRPr>
          </a:p>
        </p:txBody>
      </p:sp>
      <p:sp>
        <p:nvSpPr>
          <p:cNvPr id="54" name="文本框 13"/>
          <p:cNvSpPr txBox="1"/>
          <p:nvPr/>
        </p:nvSpPr>
        <p:spPr>
          <a:xfrm>
            <a:off x="7944426" y="2227416"/>
            <a:ext cx="1020586" cy="292388"/>
          </a:xfrm>
          <a:prstGeom prst="rect">
            <a:avLst/>
          </a:prstGeom>
          <a:noFill/>
        </p:spPr>
        <p:txBody>
          <a:bodyPr wrap="square" rtlCol="0">
            <a:spAutoFit/>
          </a:bodyPr>
          <a:lstStyle/>
          <a:p>
            <a:pPr algn="ctr"/>
            <a:r>
              <a:rPr kumimoji="1" lang="zh-CN" altLang="en-US" dirty="0">
                <a:solidFill>
                  <a:srgbClr val="FF0000"/>
                </a:solidFill>
                <a:latin typeface="+mn-ea"/>
                <a:ea typeface="+mn-ea"/>
              </a:rPr>
              <a:t>明星业务</a:t>
            </a:r>
            <a:endParaRPr kumimoji="1" lang="zh-CN" altLang="en-US" dirty="0">
              <a:solidFill>
                <a:srgbClr val="FF0000"/>
              </a:solidFill>
              <a:latin typeface="+mn-ea"/>
              <a:ea typeface="+mn-ea"/>
            </a:endParaRPr>
          </a:p>
        </p:txBody>
      </p:sp>
      <p:sp>
        <p:nvSpPr>
          <p:cNvPr id="55" name="文本框 14"/>
          <p:cNvSpPr txBox="1"/>
          <p:nvPr/>
        </p:nvSpPr>
        <p:spPr>
          <a:xfrm>
            <a:off x="3107810" y="2261262"/>
            <a:ext cx="868649" cy="292388"/>
          </a:xfrm>
          <a:prstGeom prst="rect">
            <a:avLst/>
          </a:prstGeom>
          <a:noFill/>
        </p:spPr>
        <p:txBody>
          <a:bodyPr wrap="square" rtlCol="0">
            <a:spAutoFit/>
          </a:bodyPr>
          <a:lstStyle/>
          <a:p>
            <a:pPr algn="ctr"/>
            <a:r>
              <a:rPr kumimoji="1" lang="zh-CN" altLang="en-US" dirty="0">
                <a:solidFill>
                  <a:srgbClr val="FF0000"/>
                </a:solidFill>
                <a:latin typeface="+mn-ea"/>
                <a:ea typeface="+mn-ea"/>
              </a:rPr>
              <a:t>问题业务</a:t>
            </a:r>
            <a:endParaRPr kumimoji="1" lang="zh-CN" altLang="en-US" dirty="0">
              <a:solidFill>
                <a:srgbClr val="FF0000"/>
              </a:solidFill>
              <a:latin typeface="+mn-ea"/>
              <a:ea typeface="+mn-ea"/>
            </a:endParaRPr>
          </a:p>
        </p:txBody>
      </p:sp>
      <p:sp>
        <p:nvSpPr>
          <p:cNvPr id="56" name="文本框 15"/>
          <p:cNvSpPr txBox="1"/>
          <p:nvPr/>
        </p:nvSpPr>
        <p:spPr>
          <a:xfrm>
            <a:off x="4069951" y="6232605"/>
            <a:ext cx="3185487" cy="292388"/>
          </a:xfrm>
          <a:prstGeom prst="rect">
            <a:avLst/>
          </a:prstGeom>
          <a:noFill/>
        </p:spPr>
        <p:txBody>
          <a:bodyPr wrap="none" rtlCol="0">
            <a:spAutoFit/>
          </a:bodyPr>
          <a:lstStyle/>
          <a:p>
            <a:r>
              <a:rPr kumimoji="1" lang="zh-CN" altLang="en-US" b="0" dirty="0">
                <a:latin typeface="宋体" pitchFamily="2" charset="-122"/>
                <a:ea typeface="宋体" pitchFamily="2" charset="-122"/>
              </a:rPr>
              <a:t>中银教育培训当前“业务”的波士顿矩阵</a:t>
            </a:r>
            <a:endParaRPr kumimoji="1" lang="zh-CN" altLang="en-US" b="0" dirty="0">
              <a:latin typeface="宋体" pitchFamily="2" charset="-122"/>
              <a:ea typeface="宋体" pitchFamily="2" charset="-122"/>
            </a:endParaRPr>
          </a:p>
        </p:txBody>
      </p:sp>
      <p:sp>
        <p:nvSpPr>
          <p:cNvPr id="57" name="文本框 23"/>
          <p:cNvSpPr txBox="1"/>
          <p:nvPr/>
        </p:nvSpPr>
        <p:spPr>
          <a:xfrm>
            <a:off x="5248222" y="3762614"/>
            <a:ext cx="703642" cy="492443"/>
          </a:xfrm>
          <a:prstGeom prst="rect">
            <a:avLst/>
          </a:prstGeom>
          <a:noFill/>
        </p:spPr>
        <p:txBody>
          <a:bodyPr wrap="square" rtlCol="0">
            <a:spAutoFit/>
          </a:bodyPr>
          <a:lstStyle/>
          <a:p>
            <a:pPr algn="r"/>
            <a:r>
              <a:rPr kumimoji="1" lang="zh-CN" altLang="en-US" dirty="0">
                <a:latin typeface="+mn-ea"/>
                <a:ea typeface="+mn-ea"/>
              </a:rPr>
              <a:t>语言文化培训</a:t>
            </a:r>
            <a:endParaRPr kumimoji="1" lang="zh-CN" altLang="en-US" dirty="0">
              <a:latin typeface="+mn-ea"/>
              <a:ea typeface="+mn-ea"/>
            </a:endParaRPr>
          </a:p>
        </p:txBody>
      </p:sp>
      <p:grpSp>
        <p:nvGrpSpPr>
          <p:cNvPr id="58" name="组合 57"/>
          <p:cNvGrpSpPr/>
          <p:nvPr/>
        </p:nvGrpSpPr>
        <p:grpSpPr>
          <a:xfrm>
            <a:off x="6374153" y="2607833"/>
            <a:ext cx="1199602" cy="550234"/>
            <a:chOff x="4976170" y="3712711"/>
            <a:chExt cx="1199602" cy="550234"/>
          </a:xfrm>
        </p:grpSpPr>
        <p:sp>
          <p:nvSpPr>
            <p:cNvPr id="59" name="椭圆 58"/>
            <p:cNvSpPr/>
            <p:nvPr/>
          </p:nvSpPr>
          <p:spPr>
            <a:xfrm>
              <a:off x="4976170" y="3712711"/>
              <a:ext cx="546848" cy="546848"/>
            </a:xfrm>
            <a:prstGeom prst="ellipse">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60" name="文本框 29"/>
            <p:cNvSpPr txBox="1"/>
            <p:nvPr/>
          </p:nvSpPr>
          <p:spPr>
            <a:xfrm>
              <a:off x="5409758" y="3770502"/>
              <a:ext cx="766014" cy="492443"/>
            </a:xfrm>
            <a:prstGeom prst="rect">
              <a:avLst/>
            </a:prstGeom>
            <a:noFill/>
          </p:spPr>
          <p:txBody>
            <a:bodyPr wrap="square" rtlCol="0">
              <a:spAutoFit/>
            </a:bodyPr>
            <a:lstStyle/>
            <a:p>
              <a:pPr algn="ctr"/>
              <a:r>
                <a:rPr kumimoji="1" lang="zh-CN" altLang="en-US" dirty="0">
                  <a:latin typeface="+mn-ea"/>
                  <a:ea typeface="+mn-ea"/>
                </a:rPr>
                <a:t>数字化学习</a:t>
              </a:r>
              <a:endParaRPr kumimoji="1" lang="zh-CN" altLang="en-US" dirty="0">
                <a:latin typeface="+mn-ea"/>
                <a:ea typeface="+mn-ea"/>
              </a:endParaRPr>
            </a:p>
          </p:txBody>
        </p:sp>
      </p:grpSp>
      <p:grpSp>
        <p:nvGrpSpPr>
          <p:cNvPr id="61" name="组合 60"/>
          <p:cNvGrpSpPr/>
          <p:nvPr/>
        </p:nvGrpSpPr>
        <p:grpSpPr>
          <a:xfrm>
            <a:off x="6045806" y="3105696"/>
            <a:ext cx="1062716" cy="537758"/>
            <a:chOff x="5161010" y="3624813"/>
            <a:chExt cx="1062716" cy="537758"/>
          </a:xfrm>
        </p:grpSpPr>
        <p:sp>
          <p:nvSpPr>
            <p:cNvPr id="62" name="椭圆 61"/>
            <p:cNvSpPr/>
            <p:nvPr/>
          </p:nvSpPr>
          <p:spPr>
            <a:xfrm>
              <a:off x="5161010" y="3624813"/>
              <a:ext cx="449905" cy="449905"/>
            </a:xfrm>
            <a:prstGeom prst="ellipse">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63" name="文本框 55"/>
            <p:cNvSpPr txBox="1"/>
            <p:nvPr/>
          </p:nvSpPr>
          <p:spPr>
            <a:xfrm>
              <a:off x="5457712" y="3670128"/>
              <a:ext cx="766014" cy="492443"/>
            </a:xfrm>
            <a:prstGeom prst="rect">
              <a:avLst/>
            </a:prstGeom>
            <a:noFill/>
          </p:spPr>
          <p:txBody>
            <a:bodyPr wrap="square" rtlCol="0">
              <a:spAutoFit/>
            </a:bodyPr>
            <a:lstStyle/>
            <a:p>
              <a:pPr algn="ctr"/>
              <a:r>
                <a:rPr kumimoji="1" lang="zh-CN" altLang="en-US" dirty="0">
                  <a:latin typeface="+mn-ea"/>
                  <a:ea typeface="+mn-ea"/>
                </a:rPr>
                <a:t>领导</a:t>
              </a:r>
              <a:r>
                <a:rPr kumimoji="1" lang="zh-CN" altLang="en-US" dirty="0">
                  <a:solidFill>
                    <a:schemeClr val="tx1"/>
                  </a:solidFill>
                  <a:latin typeface="宋体" pitchFamily="2" charset="-122"/>
                </a:rPr>
                <a:t>力</a:t>
              </a:r>
              <a:r>
                <a:rPr kumimoji="1" lang="zh-CN" altLang="en-US" dirty="0">
                  <a:latin typeface="+mn-ea"/>
                  <a:ea typeface="+mn-ea"/>
                </a:rPr>
                <a:t>发展</a:t>
              </a:r>
              <a:endParaRPr kumimoji="1" lang="zh-CN" altLang="en-US" dirty="0">
                <a:latin typeface="+mn-ea"/>
                <a:ea typeface="+mn-ea"/>
              </a:endParaRPr>
            </a:p>
          </p:txBody>
        </p:sp>
      </p:grpSp>
      <p:sp>
        <p:nvSpPr>
          <p:cNvPr id="64" name="椭圆 63"/>
          <p:cNvSpPr/>
          <p:nvPr/>
        </p:nvSpPr>
        <p:spPr>
          <a:xfrm>
            <a:off x="5079285" y="3859993"/>
            <a:ext cx="301792" cy="301792"/>
          </a:xfrm>
          <a:prstGeom prst="ellipse">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65" name="椭圆 64"/>
          <p:cNvSpPr/>
          <p:nvPr/>
        </p:nvSpPr>
        <p:spPr>
          <a:xfrm>
            <a:off x="6068187" y="4144360"/>
            <a:ext cx="403184" cy="403184"/>
          </a:xfrm>
          <a:prstGeom prst="ellipse">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66" name="文本框 27"/>
          <p:cNvSpPr txBox="1"/>
          <p:nvPr/>
        </p:nvSpPr>
        <p:spPr>
          <a:xfrm>
            <a:off x="6372336" y="4100529"/>
            <a:ext cx="620934" cy="492443"/>
          </a:xfrm>
          <a:prstGeom prst="rect">
            <a:avLst/>
          </a:prstGeom>
          <a:noFill/>
        </p:spPr>
        <p:txBody>
          <a:bodyPr wrap="square" rtlCol="0">
            <a:spAutoFit/>
          </a:bodyPr>
          <a:lstStyle/>
          <a:p>
            <a:pPr algn="ctr"/>
            <a:r>
              <a:rPr kumimoji="1" lang="zh-CN" altLang="en-US" dirty="0">
                <a:latin typeface="+mn-ea"/>
                <a:ea typeface="+mn-ea"/>
              </a:rPr>
              <a:t>党校培训</a:t>
            </a:r>
            <a:endParaRPr kumimoji="1" lang="zh-CN" altLang="en-US" dirty="0">
              <a:latin typeface="+mn-ea"/>
              <a:ea typeface="+mn-ea"/>
            </a:endParaRPr>
          </a:p>
        </p:txBody>
      </p:sp>
      <p:sp>
        <p:nvSpPr>
          <p:cNvPr id="67" name="文本框 58"/>
          <p:cNvSpPr txBox="1"/>
          <p:nvPr/>
        </p:nvSpPr>
        <p:spPr>
          <a:xfrm>
            <a:off x="4421081" y="3731373"/>
            <a:ext cx="741469" cy="492443"/>
          </a:xfrm>
          <a:prstGeom prst="rect">
            <a:avLst/>
          </a:prstGeom>
          <a:noFill/>
        </p:spPr>
        <p:txBody>
          <a:bodyPr wrap="square" rtlCol="0">
            <a:spAutoFit/>
          </a:bodyPr>
          <a:lstStyle/>
          <a:p>
            <a:pPr algn="r"/>
            <a:r>
              <a:rPr kumimoji="1" lang="zh-CN" altLang="en-US" dirty="0">
                <a:latin typeface="+mn-ea"/>
                <a:ea typeface="+mn-ea"/>
              </a:rPr>
              <a:t>组织发展培训</a:t>
            </a:r>
            <a:endParaRPr kumimoji="1" lang="zh-CN" altLang="en-US" dirty="0">
              <a:latin typeface="+mn-ea"/>
              <a:ea typeface="+mn-ea"/>
            </a:endParaRPr>
          </a:p>
        </p:txBody>
      </p:sp>
      <p:sp>
        <p:nvSpPr>
          <p:cNvPr id="68" name="椭圆 67"/>
          <p:cNvSpPr/>
          <p:nvPr/>
        </p:nvSpPr>
        <p:spPr>
          <a:xfrm>
            <a:off x="4339991" y="3897376"/>
            <a:ext cx="189239" cy="189239"/>
          </a:xfrm>
          <a:prstGeom prst="ellipse">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grpSp>
        <p:nvGrpSpPr>
          <p:cNvPr id="69" name="组合 68"/>
          <p:cNvGrpSpPr/>
          <p:nvPr/>
        </p:nvGrpSpPr>
        <p:grpSpPr>
          <a:xfrm>
            <a:off x="4823007" y="3236089"/>
            <a:ext cx="1169537" cy="492443"/>
            <a:chOff x="5946948" y="3459259"/>
            <a:chExt cx="1169537" cy="492443"/>
          </a:xfrm>
        </p:grpSpPr>
        <p:sp>
          <p:nvSpPr>
            <p:cNvPr id="70" name="文本框 60"/>
            <p:cNvSpPr txBox="1"/>
            <p:nvPr/>
          </p:nvSpPr>
          <p:spPr>
            <a:xfrm>
              <a:off x="6039797" y="3459259"/>
              <a:ext cx="1076688" cy="492443"/>
            </a:xfrm>
            <a:prstGeom prst="rect">
              <a:avLst/>
            </a:prstGeom>
            <a:noFill/>
          </p:spPr>
          <p:txBody>
            <a:bodyPr wrap="square" rtlCol="0">
              <a:spAutoFit/>
            </a:bodyPr>
            <a:lstStyle/>
            <a:p>
              <a:pPr algn="ctr"/>
              <a:r>
                <a:rPr kumimoji="1" lang="zh-CN" altLang="en-US" dirty="0">
                  <a:latin typeface="+mn-ea"/>
                  <a:ea typeface="+mn-ea"/>
                </a:rPr>
                <a:t>风险合规反洗钱培训</a:t>
              </a:r>
              <a:endParaRPr kumimoji="1" lang="zh-CN" altLang="en-US" dirty="0">
                <a:latin typeface="+mn-ea"/>
                <a:ea typeface="+mn-ea"/>
              </a:endParaRPr>
            </a:p>
          </p:txBody>
        </p:sp>
        <p:sp>
          <p:nvSpPr>
            <p:cNvPr id="71" name="椭圆 70"/>
            <p:cNvSpPr/>
            <p:nvPr/>
          </p:nvSpPr>
          <p:spPr>
            <a:xfrm>
              <a:off x="5946948" y="3626515"/>
              <a:ext cx="251934" cy="251934"/>
            </a:xfrm>
            <a:prstGeom prst="ellipse">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grpSp>
      <p:sp>
        <p:nvSpPr>
          <p:cNvPr id="72" name="文本框 62"/>
          <p:cNvSpPr txBox="1"/>
          <p:nvPr/>
        </p:nvSpPr>
        <p:spPr>
          <a:xfrm>
            <a:off x="6226584" y="3635758"/>
            <a:ext cx="611222" cy="492443"/>
          </a:xfrm>
          <a:prstGeom prst="rect">
            <a:avLst/>
          </a:prstGeom>
          <a:noFill/>
        </p:spPr>
        <p:txBody>
          <a:bodyPr wrap="square" rtlCol="0">
            <a:spAutoFit/>
          </a:bodyPr>
          <a:lstStyle/>
          <a:p>
            <a:pPr algn="ctr"/>
            <a:r>
              <a:rPr kumimoji="1" lang="zh-CN" altLang="en-US" dirty="0">
                <a:latin typeface="+mn-ea"/>
                <a:ea typeface="+mn-ea"/>
              </a:rPr>
              <a:t>案例学习</a:t>
            </a:r>
            <a:endParaRPr kumimoji="1" lang="zh-CN" altLang="en-US" dirty="0">
              <a:latin typeface="+mn-ea"/>
              <a:ea typeface="+mn-ea"/>
            </a:endParaRPr>
          </a:p>
        </p:txBody>
      </p:sp>
      <p:sp>
        <p:nvSpPr>
          <p:cNvPr id="73" name="椭圆 72"/>
          <p:cNvSpPr/>
          <p:nvPr/>
        </p:nvSpPr>
        <p:spPr>
          <a:xfrm>
            <a:off x="6071764" y="3741628"/>
            <a:ext cx="251934" cy="251934"/>
          </a:xfrm>
          <a:prstGeom prst="ellipse">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74" name="文本框 64"/>
          <p:cNvSpPr txBox="1"/>
          <p:nvPr/>
        </p:nvSpPr>
        <p:spPr>
          <a:xfrm>
            <a:off x="4139705" y="3291763"/>
            <a:ext cx="732866" cy="492443"/>
          </a:xfrm>
          <a:prstGeom prst="rect">
            <a:avLst/>
          </a:prstGeom>
          <a:noFill/>
        </p:spPr>
        <p:txBody>
          <a:bodyPr wrap="square" rtlCol="0">
            <a:spAutoFit/>
          </a:bodyPr>
          <a:lstStyle/>
          <a:p>
            <a:pPr algn="r"/>
            <a:r>
              <a:rPr kumimoji="1" lang="zh-CN" altLang="en-US" dirty="0">
                <a:latin typeface="+mn-ea"/>
                <a:ea typeface="+mn-ea"/>
              </a:rPr>
              <a:t>其他专业培训</a:t>
            </a:r>
            <a:endParaRPr kumimoji="1" lang="zh-CN" altLang="en-US" dirty="0">
              <a:latin typeface="+mn-ea"/>
              <a:ea typeface="+mn-ea"/>
            </a:endParaRPr>
          </a:p>
        </p:txBody>
      </p:sp>
      <p:sp>
        <p:nvSpPr>
          <p:cNvPr id="75" name="椭圆 74"/>
          <p:cNvSpPr/>
          <p:nvPr/>
        </p:nvSpPr>
        <p:spPr>
          <a:xfrm>
            <a:off x="4020134" y="3445237"/>
            <a:ext cx="189239" cy="189239"/>
          </a:xfrm>
          <a:prstGeom prst="ellipse">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77" name="文本框 38"/>
          <p:cNvSpPr txBox="1"/>
          <p:nvPr/>
        </p:nvSpPr>
        <p:spPr>
          <a:xfrm>
            <a:off x="4157488" y="2201295"/>
            <a:ext cx="2289065" cy="919401"/>
          </a:xfrm>
          <a:prstGeom prst="wedgeRoundRectCallout">
            <a:avLst>
              <a:gd name="adj1" fmla="val 57596"/>
              <a:gd name="adj2" fmla="val -7386"/>
              <a:gd name="adj3" fmla="val 16667"/>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kumimoji="1" lang="zh-CN" altLang="en-US" sz="1200" b="0" dirty="0">
                <a:latin typeface="KaiTi" panose="02010609060101010101" pitchFamily="49" charset="-122"/>
                <a:ea typeface="KaiTi" panose="02010609060101010101" pitchFamily="49" charset="-122"/>
              </a:rPr>
              <a:t>在清晰的规划指引下，应大力投入产品开发和体验设计，尤其注重学习技术与平台技术的结合，关注学习体验是核心</a:t>
            </a:r>
            <a:endParaRPr kumimoji="1" lang="zh-CN" altLang="en-US" sz="1200" b="0" dirty="0">
              <a:latin typeface="KaiTi" panose="02010609060101010101" pitchFamily="49" charset="-122"/>
              <a:ea typeface="KaiTi" panose="02010609060101010101" pitchFamily="49" charset="-122"/>
            </a:endParaRPr>
          </a:p>
        </p:txBody>
      </p:sp>
      <p:sp>
        <p:nvSpPr>
          <p:cNvPr id="78" name="文本框 39"/>
          <p:cNvSpPr txBox="1"/>
          <p:nvPr/>
        </p:nvSpPr>
        <p:spPr>
          <a:xfrm>
            <a:off x="2006702" y="2815174"/>
            <a:ext cx="1825823" cy="1328023"/>
          </a:xfrm>
          <a:prstGeom prst="wedgeRoundRectCallout">
            <a:avLst>
              <a:gd name="adj1" fmla="val 65093"/>
              <a:gd name="adj2" fmla="val -14208"/>
              <a:gd name="adj3" fmla="val 16667"/>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kumimoji="1" lang="zh-CN" altLang="en-US" sz="1200" b="0" dirty="0">
                <a:latin typeface="KaiTi" panose="02010609060101010101" pitchFamily="49" charset="-122"/>
                <a:ea typeface="KaiTi" panose="02010609060101010101" pitchFamily="49" charset="-122"/>
              </a:rPr>
              <a:t>对九大学院定位和发展思路进行重新思考，从技术技能培训、专业任职资格、高端金融专业研修等，考虑建设专业培训一盘棋</a:t>
            </a:r>
            <a:endParaRPr kumimoji="1" lang="zh-CN" altLang="en-US" sz="1200" b="0" dirty="0">
              <a:latin typeface="KaiTi" panose="02010609060101010101" pitchFamily="49" charset="-122"/>
              <a:ea typeface="KaiTi" panose="02010609060101010101" pitchFamily="49" charset="-122"/>
            </a:endParaRPr>
          </a:p>
        </p:txBody>
      </p:sp>
      <p:sp>
        <p:nvSpPr>
          <p:cNvPr id="79" name="文本框 40"/>
          <p:cNvSpPr txBox="1"/>
          <p:nvPr/>
        </p:nvSpPr>
        <p:spPr>
          <a:xfrm>
            <a:off x="7172696" y="3056661"/>
            <a:ext cx="2190940" cy="919401"/>
          </a:xfrm>
          <a:prstGeom prst="wedgeRoundRectCallout">
            <a:avLst>
              <a:gd name="adj1" fmla="val -62520"/>
              <a:gd name="adj2" fmla="val -8687"/>
              <a:gd name="adj3" fmla="val 16667"/>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kumimoji="1" lang="zh-CN" altLang="en-US" sz="1200" b="0" dirty="0">
                <a:latin typeface="KaiTi" panose="02010609060101010101" pitchFamily="49" charset="-122"/>
                <a:ea typeface="KaiTi" panose="02010609060101010101" pitchFamily="49" charset="-122"/>
              </a:rPr>
              <a:t>敏杰系列项目仍应重点关注学习效用性，逐步提升内部资源占比；同时建立领导力梯队，密联人才管理</a:t>
            </a:r>
            <a:endParaRPr kumimoji="1" lang="zh-CN" altLang="en-US" sz="1200" b="0" dirty="0">
              <a:latin typeface="KaiTi" panose="02010609060101010101" pitchFamily="49" charset="-122"/>
              <a:ea typeface="KaiTi" panose="02010609060101010101" pitchFamily="49" charset="-122"/>
            </a:endParaRPr>
          </a:p>
        </p:txBody>
      </p:sp>
      <p:sp>
        <p:nvSpPr>
          <p:cNvPr id="80" name="文本框 41"/>
          <p:cNvSpPr txBox="1"/>
          <p:nvPr/>
        </p:nvSpPr>
        <p:spPr>
          <a:xfrm>
            <a:off x="6969389" y="3967530"/>
            <a:ext cx="2026419" cy="715089"/>
          </a:xfrm>
          <a:prstGeom prst="wedgeRoundRectCallout">
            <a:avLst>
              <a:gd name="adj1" fmla="val -61254"/>
              <a:gd name="adj2" fmla="val -66330"/>
              <a:gd name="adj3" fmla="val 16667"/>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kumimoji="1" lang="zh-CN" altLang="en-US" sz="1200" b="0" dirty="0">
                <a:latin typeface="KaiTi" panose="02010609060101010101" pitchFamily="49" charset="-122"/>
                <a:ea typeface="KaiTi" panose="02010609060101010101" pitchFamily="49" charset="-122"/>
              </a:rPr>
              <a:t>从知识创新应用和</a:t>
            </a:r>
            <a:r>
              <a:rPr kumimoji="1" lang="en-US" altLang="zh-CN" sz="1200" b="0" dirty="0">
                <a:latin typeface="KaiTi" panose="02010609060101010101" pitchFamily="49" charset="-122"/>
                <a:ea typeface="KaiTi" panose="02010609060101010101" pitchFamily="49" charset="-122"/>
              </a:rPr>
              <a:t>UGC</a:t>
            </a:r>
            <a:r>
              <a:rPr kumimoji="1" lang="zh-CN" altLang="en-US" sz="1200" b="0" dirty="0">
                <a:latin typeface="KaiTi" panose="02010609060101010101" pitchFamily="49" charset="-122"/>
                <a:ea typeface="KaiTi" panose="02010609060101010101" pitchFamily="49" charset="-122"/>
              </a:rPr>
              <a:t>等理念思考案例中心定位，如何与数字化平台深度融合</a:t>
            </a:r>
            <a:endParaRPr kumimoji="1" lang="zh-CN" altLang="en-US" sz="1200" b="0" dirty="0">
              <a:latin typeface="KaiTi" panose="02010609060101010101" pitchFamily="49" charset="-122"/>
              <a:ea typeface="KaiTi" panose="02010609060101010101" pitchFamily="49" charset="-122"/>
            </a:endParaRPr>
          </a:p>
        </p:txBody>
      </p:sp>
      <p:sp>
        <p:nvSpPr>
          <p:cNvPr id="81" name="文本框 42"/>
          <p:cNvSpPr txBox="1"/>
          <p:nvPr/>
        </p:nvSpPr>
        <p:spPr>
          <a:xfrm>
            <a:off x="4823008" y="4674761"/>
            <a:ext cx="1917960" cy="919401"/>
          </a:xfrm>
          <a:prstGeom prst="wedgeRoundRectCallout">
            <a:avLst>
              <a:gd name="adj1" fmla="val 23258"/>
              <a:gd name="adj2" fmla="val -64287"/>
              <a:gd name="adj3" fmla="val 16667"/>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kumimoji="1" lang="zh-CN" altLang="en-US" sz="1200" b="0" dirty="0">
                <a:latin typeface="KaiTi" panose="02010609060101010101" pitchFamily="49" charset="-122"/>
                <a:ea typeface="KaiTi" panose="02010609060101010101" pitchFamily="49" charset="-122"/>
              </a:rPr>
              <a:t>从组织建设、项目体系、课程资源、高层讲师、培训模式创新等角度，考虑做强党校</a:t>
            </a:r>
            <a:endParaRPr kumimoji="1" lang="zh-CN" altLang="en-US" sz="1200" b="0" dirty="0">
              <a:latin typeface="KaiTi" panose="02010609060101010101" pitchFamily="49" charset="-122"/>
              <a:ea typeface="KaiTi" panose="02010609060101010101" pitchFamily="49" charset="-122"/>
            </a:endParaRPr>
          </a:p>
        </p:txBody>
      </p:sp>
      <p:sp>
        <p:nvSpPr>
          <p:cNvPr id="82" name="椭圆 81"/>
          <p:cNvSpPr/>
          <p:nvPr/>
        </p:nvSpPr>
        <p:spPr>
          <a:xfrm>
            <a:off x="3894054" y="3143078"/>
            <a:ext cx="2017727" cy="1172305"/>
          </a:xfrm>
          <a:prstGeom prst="ellipse">
            <a:avLst/>
          </a:prstGeom>
          <a:ln>
            <a:solidFill>
              <a:srgbClr val="C00000"/>
            </a:solidFill>
          </a:ln>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grpSp>
        <p:nvGrpSpPr>
          <p:cNvPr id="83" name="组合 82"/>
          <p:cNvGrpSpPr/>
          <p:nvPr/>
        </p:nvGrpSpPr>
        <p:grpSpPr>
          <a:xfrm rot="19588121" flipH="1">
            <a:off x="5352676" y="3070375"/>
            <a:ext cx="262270" cy="233828"/>
            <a:chOff x="5009104" y="3834658"/>
            <a:chExt cx="518345" cy="186426"/>
          </a:xfrm>
        </p:grpSpPr>
        <p:cxnSp>
          <p:nvCxnSpPr>
            <p:cNvPr id="84" name="直线箭头连接符 45"/>
            <p:cNvCxnSpPr/>
            <p:nvPr/>
          </p:nvCxnSpPr>
          <p:spPr bwMode="auto">
            <a:xfrm flipH="1">
              <a:off x="5009104" y="3924988"/>
              <a:ext cx="488089" cy="0"/>
            </a:xfrm>
            <a:prstGeom prst="straightConnector1">
              <a:avLst/>
            </a:prstGeom>
            <a:solidFill>
              <a:schemeClr val="bg1"/>
            </a:solidFill>
            <a:ln w="9525" cap="flat" cmpd="sng" algn="ctr">
              <a:solidFill>
                <a:srgbClr val="C00000"/>
              </a:solidFill>
              <a:prstDash val="solid"/>
              <a:round/>
              <a:headEnd type="none" w="med" len="med"/>
              <a:tailEnd type="triangle"/>
            </a:ln>
          </p:spPr>
        </p:cxnSp>
        <p:cxnSp>
          <p:nvCxnSpPr>
            <p:cNvPr id="85" name="直线箭头连接符 46"/>
            <p:cNvCxnSpPr/>
            <p:nvPr/>
          </p:nvCxnSpPr>
          <p:spPr bwMode="auto">
            <a:xfrm flipH="1">
              <a:off x="5039360" y="4021084"/>
              <a:ext cx="488089" cy="0"/>
            </a:xfrm>
            <a:prstGeom prst="straightConnector1">
              <a:avLst/>
            </a:prstGeom>
            <a:solidFill>
              <a:schemeClr val="bg1"/>
            </a:solidFill>
            <a:ln w="9525" cap="flat" cmpd="sng" algn="ctr">
              <a:solidFill>
                <a:srgbClr val="C00000"/>
              </a:solidFill>
              <a:prstDash val="solid"/>
              <a:round/>
              <a:headEnd type="none" w="med" len="med"/>
              <a:tailEnd type="triangle"/>
            </a:ln>
          </p:spPr>
        </p:cxnSp>
        <p:cxnSp>
          <p:nvCxnSpPr>
            <p:cNvPr id="86" name="直线箭头连接符 47"/>
            <p:cNvCxnSpPr/>
            <p:nvPr/>
          </p:nvCxnSpPr>
          <p:spPr bwMode="auto">
            <a:xfrm flipH="1">
              <a:off x="5020119" y="3834658"/>
              <a:ext cx="488089" cy="0"/>
            </a:xfrm>
            <a:prstGeom prst="straightConnector1">
              <a:avLst/>
            </a:prstGeom>
            <a:solidFill>
              <a:schemeClr val="bg1"/>
            </a:solidFill>
            <a:ln w="9525" cap="flat" cmpd="sng" algn="ctr">
              <a:solidFill>
                <a:srgbClr val="C00000"/>
              </a:solidFill>
              <a:prstDash val="solid"/>
              <a:round/>
              <a:headEnd type="none" w="med" len="med"/>
              <a:tailEnd type="triangle"/>
            </a:ln>
          </p:spPr>
        </p:cxnSp>
      </p:grpSp>
      <p:cxnSp>
        <p:nvCxnSpPr>
          <p:cNvPr id="87" name="直线箭头连接符 48"/>
          <p:cNvCxnSpPr/>
          <p:nvPr/>
        </p:nvCxnSpPr>
        <p:spPr bwMode="auto">
          <a:xfrm>
            <a:off x="6299618" y="4152255"/>
            <a:ext cx="232577" cy="0"/>
          </a:xfrm>
          <a:prstGeom prst="straightConnector1">
            <a:avLst/>
          </a:prstGeom>
          <a:solidFill>
            <a:schemeClr val="bg1"/>
          </a:solidFill>
          <a:ln w="9525" cap="flat" cmpd="sng" algn="ctr">
            <a:solidFill>
              <a:srgbClr val="C00000"/>
            </a:solidFill>
            <a:prstDash val="solid"/>
            <a:round/>
            <a:headEnd type="none" w="med" len="med"/>
            <a:tailEnd type="triangle"/>
          </a:ln>
        </p:spPr>
      </p:cxnSp>
      <p:sp>
        <p:nvSpPr>
          <p:cNvPr id="88" name="矩形 87"/>
          <p:cNvSpPr/>
          <p:nvPr/>
        </p:nvSpPr>
        <p:spPr>
          <a:xfrm>
            <a:off x="5488359" y="2938843"/>
            <a:ext cx="822661" cy="292388"/>
          </a:xfrm>
          <a:prstGeom prst="rect">
            <a:avLst/>
          </a:prstGeom>
        </p:spPr>
        <p:txBody>
          <a:bodyPr wrap="none">
            <a:spAutoFit/>
          </a:bodyPr>
          <a:lstStyle/>
          <a:p>
            <a:pPr algn="ctr"/>
            <a:r>
              <a:rPr kumimoji="1" lang="en-US" altLang="zh-CN" dirty="0">
                <a:solidFill>
                  <a:srgbClr val="FF0000"/>
                </a:solidFill>
                <a:latin typeface="+mn-ea"/>
                <a:ea typeface="+mn-ea"/>
              </a:rPr>
              <a:t>SO+WO</a:t>
            </a:r>
            <a:endParaRPr kumimoji="1" lang="zh-CN" altLang="en-US" dirty="0">
              <a:solidFill>
                <a:srgbClr val="FF0000"/>
              </a:solidFill>
              <a:latin typeface="+mn-ea"/>
              <a:ea typeface="+mn-ea"/>
            </a:endParaRPr>
          </a:p>
        </p:txBody>
      </p:sp>
      <p:cxnSp>
        <p:nvCxnSpPr>
          <p:cNvPr id="123" name="直线箭头连接符 50"/>
          <p:cNvCxnSpPr/>
          <p:nvPr/>
        </p:nvCxnSpPr>
        <p:spPr bwMode="auto">
          <a:xfrm flipV="1">
            <a:off x="6342508" y="3861505"/>
            <a:ext cx="488089" cy="0"/>
          </a:xfrm>
          <a:prstGeom prst="straightConnector1">
            <a:avLst/>
          </a:prstGeom>
          <a:solidFill>
            <a:schemeClr val="bg1"/>
          </a:solidFill>
          <a:ln w="9525" cap="flat" cmpd="sng" algn="ctr">
            <a:solidFill>
              <a:srgbClr val="C00000"/>
            </a:solidFill>
            <a:prstDash val="solid"/>
            <a:round/>
            <a:headEnd type="none" w="med" len="med"/>
            <a:tailEnd type="triangle"/>
          </a:ln>
        </p:spPr>
      </p:cxnSp>
      <p:sp>
        <p:nvSpPr>
          <p:cNvPr id="124" name="矩形 123"/>
          <p:cNvSpPr/>
          <p:nvPr/>
        </p:nvSpPr>
        <p:spPr>
          <a:xfrm>
            <a:off x="6659693" y="3654386"/>
            <a:ext cx="478016" cy="292388"/>
          </a:xfrm>
          <a:prstGeom prst="rect">
            <a:avLst/>
          </a:prstGeom>
        </p:spPr>
        <p:txBody>
          <a:bodyPr wrap="none">
            <a:spAutoFit/>
          </a:bodyPr>
          <a:lstStyle/>
          <a:p>
            <a:r>
              <a:rPr kumimoji="1" lang="en-US" altLang="zh-CN" dirty="0">
                <a:solidFill>
                  <a:srgbClr val="FF0000"/>
                </a:solidFill>
                <a:latin typeface="+mn-ea"/>
                <a:ea typeface="+mn-ea"/>
              </a:rPr>
              <a:t>WO</a:t>
            </a:r>
            <a:endParaRPr kumimoji="1" lang="zh-CN" altLang="en-US" dirty="0">
              <a:solidFill>
                <a:srgbClr val="FF0000"/>
              </a:solidFill>
              <a:latin typeface="+mn-ea"/>
              <a:ea typeface="+mn-ea"/>
            </a:endParaRPr>
          </a:p>
        </p:txBody>
      </p:sp>
      <p:cxnSp>
        <p:nvCxnSpPr>
          <p:cNvPr id="125" name="直线箭头连接符 66"/>
          <p:cNvCxnSpPr/>
          <p:nvPr/>
        </p:nvCxnSpPr>
        <p:spPr bwMode="auto">
          <a:xfrm flipV="1">
            <a:off x="6446327" y="3197444"/>
            <a:ext cx="488089" cy="0"/>
          </a:xfrm>
          <a:prstGeom prst="straightConnector1">
            <a:avLst/>
          </a:prstGeom>
          <a:solidFill>
            <a:schemeClr val="bg1"/>
          </a:solidFill>
          <a:ln w="9525" cap="flat" cmpd="sng" algn="ctr">
            <a:solidFill>
              <a:srgbClr val="C00000"/>
            </a:solidFill>
            <a:prstDash val="solid"/>
            <a:round/>
            <a:headEnd type="none" w="med" len="med"/>
            <a:tailEnd type="triangle"/>
          </a:ln>
        </p:spPr>
      </p:cxnSp>
      <p:sp>
        <p:nvSpPr>
          <p:cNvPr id="126" name="矩形 125"/>
          <p:cNvSpPr/>
          <p:nvPr/>
        </p:nvSpPr>
        <p:spPr>
          <a:xfrm>
            <a:off x="6888538" y="3046257"/>
            <a:ext cx="478016" cy="292388"/>
          </a:xfrm>
          <a:prstGeom prst="rect">
            <a:avLst/>
          </a:prstGeom>
        </p:spPr>
        <p:txBody>
          <a:bodyPr wrap="none">
            <a:spAutoFit/>
          </a:bodyPr>
          <a:lstStyle/>
          <a:p>
            <a:r>
              <a:rPr kumimoji="1" lang="en-US" altLang="zh-CN" dirty="0">
                <a:solidFill>
                  <a:srgbClr val="FF0000"/>
                </a:solidFill>
                <a:latin typeface="+mn-ea"/>
                <a:ea typeface="+mn-ea"/>
              </a:rPr>
              <a:t>WO</a:t>
            </a:r>
            <a:endParaRPr kumimoji="1" lang="zh-CN" altLang="en-US" dirty="0">
              <a:solidFill>
                <a:srgbClr val="FF0000"/>
              </a:solidFill>
              <a:latin typeface="+mn-ea"/>
              <a:ea typeface="+mn-ea"/>
            </a:endParaRPr>
          </a:p>
        </p:txBody>
      </p:sp>
      <p:cxnSp>
        <p:nvCxnSpPr>
          <p:cNvPr id="127" name="直线箭头连接符 68"/>
          <p:cNvCxnSpPr/>
          <p:nvPr/>
        </p:nvCxnSpPr>
        <p:spPr bwMode="auto">
          <a:xfrm flipV="1">
            <a:off x="6793746" y="2501358"/>
            <a:ext cx="241758" cy="153266"/>
          </a:xfrm>
          <a:prstGeom prst="straightConnector1">
            <a:avLst/>
          </a:prstGeom>
          <a:solidFill>
            <a:schemeClr val="bg1"/>
          </a:solidFill>
          <a:ln w="9525" cap="flat" cmpd="sng" algn="ctr">
            <a:solidFill>
              <a:srgbClr val="C00000"/>
            </a:solidFill>
            <a:prstDash val="solid"/>
            <a:round/>
            <a:headEnd type="none" w="med" len="med"/>
            <a:tailEnd type="triangle"/>
          </a:ln>
        </p:spPr>
      </p:cxnSp>
      <p:sp>
        <p:nvSpPr>
          <p:cNvPr id="128" name="矩形 127"/>
          <p:cNvSpPr/>
          <p:nvPr/>
        </p:nvSpPr>
        <p:spPr>
          <a:xfrm>
            <a:off x="6978190" y="2331473"/>
            <a:ext cx="425116" cy="292388"/>
          </a:xfrm>
          <a:prstGeom prst="rect">
            <a:avLst/>
          </a:prstGeom>
        </p:spPr>
        <p:txBody>
          <a:bodyPr wrap="none">
            <a:spAutoFit/>
          </a:bodyPr>
          <a:lstStyle/>
          <a:p>
            <a:pPr algn="ctr"/>
            <a:r>
              <a:rPr kumimoji="1" lang="en-US" altLang="zh-CN" dirty="0">
                <a:solidFill>
                  <a:srgbClr val="FF0000"/>
                </a:solidFill>
                <a:latin typeface="+mn-ea"/>
                <a:ea typeface="+mn-ea"/>
              </a:rPr>
              <a:t>SO</a:t>
            </a:r>
            <a:endParaRPr kumimoji="1" lang="zh-CN" altLang="en-US" dirty="0">
              <a:solidFill>
                <a:srgbClr val="FF0000"/>
              </a:solidFill>
              <a:latin typeface="+mn-ea"/>
              <a:ea typeface="+mn-ea"/>
            </a:endParaRPr>
          </a:p>
        </p:txBody>
      </p:sp>
      <p:sp>
        <p:nvSpPr>
          <p:cNvPr id="129" name="矩形 128"/>
          <p:cNvSpPr/>
          <p:nvPr/>
        </p:nvSpPr>
        <p:spPr>
          <a:xfrm>
            <a:off x="6454167" y="3970243"/>
            <a:ext cx="478016" cy="292388"/>
          </a:xfrm>
          <a:prstGeom prst="rect">
            <a:avLst/>
          </a:prstGeom>
        </p:spPr>
        <p:txBody>
          <a:bodyPr wrap="none">
            <a:spAutoFit/>
          </a:bodyPr>
          <a:lstStyle/>
          <a:p>
            <a:r>
              <a:rPr kumimoji="1" lang="en-US" altLang="zh-CN" dirty="0">
                <a:solidFill>
                  <a:srgbClr val="FF0000"/>
                </a:solidFill>
                <a:latin typeface="+mn-ea"/>
                <a:ea typeface="+mn-ea"/>
              </a:rPr>
              <a:t>WO</a:t>
            </a:r>
            <a:endParaRPr kumimoji="1" lang="zh-CN" altLang="en-US" dirty="0">
              <a:solidFill>
                <a:srgbClr val="FF0000"/>
              </a:solidFill>
              <a:latin typeface="+mn-ea"/>
              <a:ea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3"/>
          <p:cNvCxnSpPr/>
          <p:nvPr/>
        </p:nvCxnSpPr>
        <p:spPr>
          <a:xfrm>
            <a:off x="2677241" y="1992092"/>
            <a:ext cx="0" cy="405324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 name="幻灯片编号占位符 3"/>
          <p:cNvSpPr>
            <a:spLocks noGrp="1"/>
          </p:cNvSpPr>
          <p:nvPr>
            <p:ph type="sldNum" sz="quarter" idx="10"/>
          </p:nvPr>
        </p:nvSpPr>
        <p:spPr/>
        <p:txBody>
          <a:bodyPr/>
          <a:lstStyle/>
          <a:p>
            <a:fld id="{54FC1700-FD45-9445-8980-62004CCA2937}" type="slidenum">
              <a:rPr lang="ko-KR" altLang="en-US" smtClean="0">
                <a:latin typeface="+mn-lt"/>
                <a:ea typeface="+mn-ea"/>
                <a:cs typeface="+mn-ea"/>
                <a:sym typeface="+mn-lt"/>
              </a:rPr>
            </a:fld>
            <a:endParaRPr lang="en-US" altLang="ko-KR">
              <a:latin typeface="+mn-lt"/>
              <a:ea typeface="+mn-ea"/>
              <a:cs typeface="+mn-ea"/>
              <a:sym typeface="+mn-lt"/>
            </a:endParaRPr>
          </a:p>
        </p:txBody>
      </p:sp>
      <p:sp>
        <p:nvSpPr>
          <p:cNvPr id="2" name="标题 1"/>
          <p:cNvSpPr>
            <a:spLocks noGrp="1"/>
          </p:cNvSpPr>
          <p:nvPr>
            <p:ph type="title"/>
          </p:nvPr>
        </p:nvSpPr>
        <p:spPr>
          <a:xfrm>
            <a:off x="688975" y="102754"/>
            <a:ext cx="10515600" cy="685522"/>
          </a:xfrm>
        </p:spPr>
        <p:txBody>
          <a:bodyPr vert="horz" lIns="91440" tIns="45720" rIns="91440" bIns="45720" rtlCol="0" anchor="ctr">
            <a:noAutofit/>
          </a:bodyPr>
          <a:lstStyle/>
          <a:p>
            <a:pPr eaLnBrk="0" fontAlgn="base" hangingPunct="0">
              <a:spcAft>
                <a:spcPct val="0"/>
              </a:spcAft>
            </a:pPr>
            <a:r>
              <a:rPr kumimoji="1" lang="zh-CN" altLang="en-US" sz="2000" b="1" dirty="0">
                <a:solidFill>
                  <a:srgbClr val="000000"/>
                </a:solidFill>
                <a:latin typeface="+mn-lt"/>
                <a:ea typeface="+mn-ea"/>
                <a:cs typeface="+mn-ea"/>
                <a:sym typeface="+mn-lt"/>
              </a:rPr>
              <a:t>目录</a:t>
            </a:r>
            <a:endParaRPr kumimoji="1" lang="zh-CN" altLang="en-US" sz="2000" b="1" dirty="0">
              <a:solidFill>
                <a:srgbClr val="000000"/>
              </a:solidFill>
              <a:latin typeface="+mn-lt"/>
              <a:ea typeface="+mn-ea"/>
              <a:cs typeface="+mn-ea"/>
              <a:sym typeface="+mn-lt"/>
            </a:endParaRPr>
          </a:p>
        </p:txBody>
      </p:sp>
      <p:sp>
        <p:nvSpPr>
          <p:cNvPr id="5" name="矩形 4"/>
          <p:cNvSpPr/>
          <p:nvPr/>
        </p:nvSpPr>
        <p:spPr>
          <a:xfrm>
            <a:off x="2033865" y="3366299"/>
            <a:ext cx="8643910" cy="50757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cs typeface="+mn-ea"/>
              <a:sym typeface="+mn-lt"/>
            </a:endParaRPr>
          </a:p>
        </p:txBody>
      </p:sp>
      <p:sp>
        <p:nvSpPr>
          <p:cNvPr id="6" name="文本框 5"/>
          <p:cNvSpPr txBox="1"/>
          <p:nvPr/>
        </p:nvSpPr>
        <p:spPr>
          <a:xfrm>
            <a:off x="3033141" y="2470098"/>
            <a:ext cx="7874745" cy="2137508"/>
          </a:xfrm>
          <a:prstGeom prst="rect">
            <a:avLst/>
          </a:prstGeom>
          <a:noFill/>
        </p:spPr>
        <p:txBody>
          <a:bodyPr wrap="square" rtlCol="0">
            <a:spAutoFit/>
          </a:bodyPr>
          <a:lstStyle/>
          <a:p>
            <a:pPr marL="633095" indent="-633095">
              <a:lnSpc>
                <a:spcPct val="200000"/>
              </a:lnSpc>
              <a:buFont typeface="+mj-ea"/>
              <a:buAutoNum type="ea1JpnChsDbPeriod"/>
            </a:pPr>
            <a:r>
              <a:rPr lang="zh-CN" altLang="en-US" sz="2215" dirty="0">
                <a:solidFill>
                  <a:schemeClr val="tx1"/>
                </a:solidFill>
                <a:latin typeface="+mn-lt"/>
                <a:ea typeface="+mn-ea"/>
                <a:cs typeface="+mn-ea"/>
                <a:sym typeface="+mn-lt"/>
              </a:rPr>
              <a:t>调研与现状总结（外部机会威胁与内部优劣势）</a:t>
            </a:r>
            <a:endParaRPr lang="en-US" altLang="zh-CN" sz="2215" dirty="0">
              <a:solidFill>
                <a:schemeClr val="tx1"/>
              </a:solidFill>
              <a:latin typeface="+mn-lt"/>
              <a:ea typeface="+mn-ea"/>
              <a:cs typeface="+mn-ea"/>
              <a:sym typeface="+mn-lt"/>
            </a:endParaRPr>
          </a:p>
          <a:p>
            <a:pPr marL="562610" indent="-562610">
              <a:lnSpc>
                <a:spcPct val="200000"/>
              </a:lnSpc>
              <a:buFont typeface="+mj-lt"/>
              <a:buAutoNum type="ea1JpnChsDbPeriod"/>
            </a:pPr>
            <a:r>
              <a:rPr lang="zh-CN" altLang="en-US" sz="2215" dirty="0">
                <a:solidFill>
                  <a:schemeClr val="bg1"/>
                </a:solidFill>
                <a:latin typeface="+mn-lt"/>
                <a:ea typeface="+mn-ea"/>
                <a:cs typeface="+mn-ea"/>
                <a:sym typeface="+mn-lt"/>
              </a:rPr>
              <a:t>战略规划（目标愿景、关键举措、重点任务）</a:t>
            </a:r>
            <a:endParaRPr lang="en-US" altLang="zh-CN" sz="2215" dirty="0">
              <a:solidFill>
                <a:schemeClr val="bg1"/>
              </a:solidFill>
              <a:latin typeface="+mn-lt"/>
              <a:ea typeface="+mn-ea"/>
              <a:cs typeface="+mn-ea"/>
              <a:sym typeface="+mn-lt"/>
            </a:endParaRPr>
          </a:p>
          <a:p>
            <a:pPr marL="562610" indent="-562610">
              <a:lnSpc>
                <a:spcPct val="200000"/>
              </a:lnSpc>
              <a:buFont typeface="+mj-lt"/>
              <a:buAutoNum type="ea1JpnChsDbPeriod"/>
            </a:pPr>
            <a:r>
              <a:rPr lang="zh-CN" altLang="en-US" sz="2215" dirty="0">
                <a:solidFill>
                  <a:schemeClr val="bg1">
                    <a:lumMod val="50000"/>
                  </a:schemeClr>
                </a:solidFill>
                <a:latin typeface="+mn-lt"/>
                <a:ea typeface="+mn-ea"/>
                <a:cs typeface="+mn-ea"/>
                <a:sym typeface="+mn-lt"/>
              </a:rPr>
              <a:t>十四五规划报告三级内容体系展示</a:t>
            </a:r>
            <a:endParaRPr lang="zh-CN" altLang="en-US" sz="2215" dirty="0">
              <a:solidFill>
                <a:schemeClr val="bg1">
                  <a:lumMod val="50000"/>
                </a:schemeClr>
              </a:solidFill>
              <a:latin typeface="+mn-lt"/>
              <a:ea typeface="+mn-ea"/>
              <a:cs typeface="+mn-ea"/>
              <a:sym typeface="+mn-lt"/>
            </a:endParaRPr>
          </a:p>
        </p:txBody>
      </p:sp>
      <p:sp>
        <p:nvSpPr>
          <p:cNvPr id="8" name="Text Box 4"/>
          <p:cNvSpPr txBox="1">
            <a:spLocks noChangeArrowheads="1"/>
          </p:cNvSpPr>
          <p:nvPr/>
        </p:nvSpPr>
        <p:spPr bwMode="auto">
          <a:xfrm>
            <a:off x="719258" y="738108"/>
            <a:ext cx="10828217" cy="359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1200">
                <a:solidFill>
                  <a:srgbClr val="000000"/>
                </a:solidFill>
                <a:latin typeface="Arial" panose="020B0604020202090204" pitchFamily="34" charset="0"/>
                <a:ea typeface="-윤고딕130" charset="0"/>
              </a:defRPr>
            </a:lvl1pPr>
            <a:lvl2pPr marL="742950" indent="-285750" eaLnBrk="0" hangingPunct="0">
              <a:defRPr sz="1200">
                <a:solidFill>
                  <a:srgbClr val="000000"/>
                </a:solidFill>
                <a:latin typeface="Arial" panose="020B0604020202090204" pitchFamily="34" charset="0"/>
                <a:ea typeface="-윤고딕130" charset="0"/>
              </a:defRPr>
            </a:lvl2pPr>
            <a:lvl3pPr marL="1143000" indent="-228600" eaLnBrk="0" hangingPunct="0">
              <a:defRPr sz="1200">
                <a:solidFill>
                  <a:srgbClr val="000000"/>
                </a:solidFill>
                <a:latin typeface="Arial" panose="020B0604020202090204" pitchFamily="34" charset="0"/>
                <a:ea typeface="-윤고딕130" charset="0"/>
              </a:defRPr>
            </a:lvl3pPr>
            <a:lvl4pPr marL="1600200" indent="-228600" eaLnBrk="0" hangingPunct="0">
              <a:defRPr sz="1200">
                <a:solidFill>
                  <a:srgbClr val="000000"/>
                </a:solidFill>
                <a:latin typeface="Arial" panose="020B0604020202090204" pitchFamily="34" charset="0"/>
                <a:ea typeface="-윤고딕130" charset="0"/>
              </a:defRPr>
            </a:lvl4pPr>
            <a:lvl5pPr marL="2057400" indent="-228600" eaLnBrk="0" hangingPunct="0">
              <a:defRPr sz="1200">
                <a:solidFill>
                  <a:srgbClr val="000000"/>
                </a:solidFill>
                <a:latin typeface="Arial" panose="020B0604020202090204" pitchFamily="34" charset="0"/>
                <a:ea typeface="-윤고딕130" charset="0"/>
              </a:defRPr>
            </a:lvl5pPr>
            <a:lvl6pPr marL="25146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6pPr>
            <a:lvl7pPr marL="29718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7pPr>
            <a:lvl8pPr marL="34290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8pPr>
            <a:lvl9pPr marL="38862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9pPr>
          </a:lstStyle>
          <a:p>
            <a:r>
              <a:rPr lang="en-US" altLang="zh-CN" sz="2340" dirty="0">
                <a:latin typeface="+mn-lt"/>
                <a:ea typeface="+mn-ea"/>
                <a:cs typeface="+mn-ea"/>
                <a:sym typeface="+mn-lt"/>
              </a:rPr>
              <a:t>Agenda </a:t>
            </a:r>
            <a:endParaRPr lang="en-US" altLang="zh-CN" sz="2340" dirty="0">
              <a:latin typeface="+mn-lt"/>
              <a:ea typeface="+mn-ea"/>
              <a:cs typeface="+mn-ea"/>
              <a:sym typeface="+mn-l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52DF7D90-B49A-4800-BC0D-FE9A7C3546DE}" type="slidenum">
              <a:rPr lang="zh-CN" altLang="en-US" smtClean="0">
                <a:latin typeface="+mn-lt"/>
                <a:ea typeface="+mn-ea"/>
                <a:cs typeface="+mn-ea"/>
                <a:sym typeface="+mn-lt"/>
              </a:rPr>
            </a:fld>
            <a:endParaRPr lang="en-US" altLang="zh-CN">
              <a:latin typeface="+mn-lt"/>
              <a:ea typeface="+mn-ea"/>
              <a:cs typeface="+mn-ea"/>
              <a:sym typeface="+mn-lt"/>
            </a:endParaRPr>
          </a:p>
        </p:txBody>
      </p:sp>
      <p:sp>
        <p:nvSpPr>
          <p:cNvPr id="46" name="标题 1"/>
          <p:cNvSpPr txBox="1"/>
          <p:nvPr/>
        </p:nvSpPr>
        <p:spPr>
          <a:xfrm>
            <a:off x="622861" y="258718"/>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zh-CN" altLang="en-US" dirty="0">
                <a:latin typeface="+mn-lt"/>
                <a:ea typeface="+mn-ea"/>
                <a:cs typeface="+mn-ea"/>
                <a:sym typeface="+mn-lt"/>
              </a:rPr>
              <a:t>“十四五”规划</a:t>
            </a:r>
            <a:r>
              <a:rPr lang="en-US" altLang="zh-CN" dirty="0">
                <a:latin typeface="+mn-lt"/>
                <a:ea typeface="+mn-ea"/>
                <a:cs typeface="+mn-ea"/>
                <a:sym typeface="+mn-lt"/>
              </a:rPr>
              <a:t>-</a:t>
            </a:r>
            <a:r>
              <a:rPr lang="zh-CN" altLang="en-US" dirty="0">
                <a:latin typeface="+mn-lt"/>
                <a:ea typeface="+mn-ea"/>
                <a:cs typeface="+mn-ea"/>
                <a:sym typeface="+mn-lt"/>
              </a:rPr>
              <a:t>发展里程碑</a:t>
            </a:r>
            <a:endParaRPr lang="zh-CN" altLang="en-US" dirty="0">
              <a:latin typeface="+mn-lt"/>
              <a:ea typeface="+mn-ea"/>
              <a:cs typeface="+mn-ea"/>
              <a:sym typeface="+mn-lt"/>
            </a:endParaRPr>
          </a:p>
        </p:txBody>
      </p:sp>
      <p:sp>
        <p:nvSpPr>
          <p:cNvPr id="45" name="标题 2"/>
          <p:cNvSpPr>
            <a:spLocks noGrp="1"/>
          </p:cNvSpPr>
          <p:nvPr>
            <p:ph type="title"/>
          </p:nvPr>
        </p:nvSpPr>
        <p:spPr>
          <a:xfrm>
            <a:off x="658813" y="938279"/>
            <a:ext cx="8543925" cy="685522"/>
          </a:xfrm>
        </p:spPr>
        <p:txBody>
          <a:bodyPr>
            <a:normAutofit/>
          </a:bodyPr>
          <a:lstStyle/>
          <a:p>
            <a:r>
              <a:rPr kumimoji="1" lang="zh-CN" altLang="en-US" sz="1800" dirty="0">
                <a:latin typeface="+mn-lt"/>
                <a:ea typeface="+mn-ea"/>
                <a:cs typeface="+mn-ea"/>
                <a:sym typeface="+mn-lt"/>
              </a:rPr>
              <a:t>“十四五”发展路径</a:t>
            </a:r>
            <a:endParaRPr kumimoji="1" lang="zh-CN" altLang="en-US" sz="1800" dirty="0">
              <a:latin typeface="+mn-lt"/>
              <a:ea typeface="+mn-ea"/>
              <a:cs typeface="+mn-ea"/>
              <a:sym typeface="+mn-lt"/>
            </a:endParaRPr>
          </a:p>
        </p:txBody>
      </p:sp>
      <p:grpSp>
        <p:nvGrpSpPr>
          <p:cNvPr id="10" name="组合 9"/>
          <p:cNvGrpSpPr/>
          <p:nvPr/>
        </p:nvGrpSpPr>
        <p:grpSpPr>
          <a:xfrm>
            <a:off x="207962" y="1732858"/>
            <a:ext cx="11838726" cy="4625300"/>
            <a:chOff x="207963" y="1732858"/>
            <a:chExt cx="9177656" cy="4625300"/>
          </a:xfrm>
        </p:grpSpPr>
        <p:grpSp>
          <p:nvGrpSpPr>
            <p:cNvPr id="47" name="组合 46"/>
            <p:cNvGrpSpPr/>
            <p:nvPr/>
          </p:nvGrpSpPr>
          <p:grpSpPr>
            <a:xfrm>
              <a:off x="207963" y="3285780"/>
              <a:ext cx="6608734" cy="1978182"/>
              <a:chOff x="207963" y="3285780"/>
              <a:chExt cx="5503543" cy="1978182"/>
            </a:xfrm>
          </p:grpSpPr>
          <p:grpSp>
            <p:nvGrpSpPr>
              <p:cNvPr id="48" name="组合 4"/>
              <p:cNvGrpSpPr/>
              <p:nvPr/>
            </p:nvGrpSpPr>
            <p:grpSpPr bwMode="auto">
              <a:xfrm>
                <a:off x="207963" y="4760166"/>
                <a:ext cx="1410598" cy="503796"/>
                <a:chOff x="1659444" y="4857187"/>
                <a:chExt cx="2270353" cy="684003"/>
              </a:xfrm>
            </p:grpSpPr>
            <p:grpSp>
              <p:nvGrpSpPr>
                <p:cNvPr id="62" name="组合 65"/>
                <p:cNvGrpSpPr/>
                <p:nvPr/>
              </p:nvGrpSpPr>
              <p:grpSpPr bwMode="auto">
                <a:xfrm>
                  <a:off x="1659444" y="4857187"/>
                  <a:ext cx="2270353" cy="684003"/>
                  <a:chOff x="2331797" y="4857187"/>
                  <a:chExt cx="2270353" cy="684003"/>
                </a:xfrm>
              </p:grpSpPr>
              <p:cxnSp>
                <p:nvCxnSpPr>
                  <p:cNvPr id="64" name="直接连接符 7"/>
                  <p:cNvCxnSpPr/>
                  <p:nvPr/>
                </p:nvCxnSpPr>
                <p:spPr bwMode="auto">
                  <a:xfrm>
                    <a:off x="2331797" y="5526357"/>
                    <a:ext cx="2268908" cy="2155"/>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65" name="直接连接符 8"/>
                  <p:cNvCxnSpPr/>
                  <p:nvPr/>
                </p:nvCxnSpPr>
                <p:spPr bwMode="auto">
                  <a:xfrm rot="16200000">
                    <a:off x="4246306" y="5199823"/>
                    <a:ext cx="683244" cy="0"/>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sp>
              <p:nvSpPr>
                <p:cNvPr id="63" name="TextBox 6"/>
                <p:cNvSpPr txBox="1">
                  <a:spLocks noChangeArrowheads="1"/>
                </p:cNvSpPr>
                <p:nvPr/>
              </p:nvSpPr>
              <p:spPr bwMode="auto">
                <a:xfrm>
                  <a:off x="1744975" y="4956573"/>
                  <a:ext cx="1978500" cy="459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eaLnBrk="1" hangingPunct="1"/>
                  <a:r>
                    <a:rPr lang="zh-CN" altLang="en-US" sz="1600" dirty="0">
                      <a:latin typeface="+mn-lt"/>
                      <a:ea typeface="+mn-ea"/>
                      <a:cs typeface="+mn-ea"/>
                      <a:sym typeface="+mn-lt"/>
                    </a:rPr>
                    <a:t>零散提升员工能力</a:t>
                  </a:r>
                  <a:endParaRPr lang="zh-CN" altLang="en-US" sz="1600" dirty="0">
                    <a:latin typeface="+mn-lt"/>
                    <a:ea typeface="+mn-ea"/>
                    <a:cs typeface="+mn-ea"/>
                    <a:sym typeface="+mn-lt"/>
                  </a:endParaRPr>
                </a:p>
              </p:txBody>
            </p:sp>
          </p:grpSp>
          <p:grpSp>
            <p:nvGrpSpPr>
              <p:cNvPr id="49" name="组合 9"/>
              <p:cNvGrpSpPr/>
              <p:nvPr/>
            </p:nvGrpSpPr>
            <p:grpSpPr bwMode="auto">
              <a:xfrm>
                <a:off x="1366052" y="4305520"/>
                <a:ext cx="1462529" cy="467166"/>
                <a:chOff x="1545837" y="4842838"/>
                <a:chExt cx="2427191" cy="689180"/>
              </a:xfrm>
            </p:grpSpPr>
            <p:grpSp>
              <p:nvGrpSpPr>
                <p:cNvPr id="58" name="组合 65"/>
                <p:cNvGrpSpPr/>
                <p:nvPr/>
              </p:nvGrpSpPr>
              <p:grpSpPr bwMode="auto">
                <a:xfrm>
                  <a:off x="1963271" y="4848018"/>
                  <a:ext cx="1995441" cy="684000"/>
                  <a:chOff x="2635624" y="4848018"/>
                  <a:chExt cx="1995441" cy="684000"/>
                </a:xfrm>
              </p:grpSpPr>
              <p:cxnSp>
                <p:nvCxnSpPr>
                  <p:cNvPr id="60" name="直接连接符 12"/>
                  <p:cNvCxnSpPr/>
                  <p:nvPr/>
                </p:nvCxnSpPr>
                <p:spPr bwMode="auto">
                  <a:xfrm>
                    <a:off x="2635760" y="5509968"/>
                    <a:ext cx="1989116" cy="2341"/>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61" name="直接连接符 13"/>
                  <p:cNvCxnSpPr/>
                  <p:nvPr/>
                </p:nvCxnSpPr>
                <p:spPr bwMode="auto">
                  <a:xfrm rot="16200000">
                    <a:off x="4285736" y="5188976"/>
                    <a:ext cx="686188" cy="2634"/>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sp>
              <p:nvSpPr>
                <p:cNvPr id="59" name="TextBox 11"/>
                <p:cNvSpPr txBox="1">
                  <a:spLocks noChangeArrowheads="1"/>
                </p:cNvSpPr>
                <p:nvPr/>
              </p:nvSpPr>
              <p:spPr bwMode="auto">
                <a:xfrm>
                  <a:off x="1545837" y="4842838"/>
                  <a:ext cx="2427191" cy="499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eaLnBrk="1" hangingPunct="1"/>
                  <a:r>
                    <a:rPr lang="zh-CN" altLang="en-US" sz="1600" dirty="0">
                      <a:latin typeface="+mn-lt"/>
                      <a:ea typeface="+mn-ea"/>
                      <a:cs typeface="+mn-ea"/>
                      <a:sym typeface="+mn-lt"/>
                    </a:rPr>
                    <a:t>成为员工职业生涯帮手</a:t>
                  </a:r>
                  <a:endParaRPr lang="zh-CN" altLang="en-US" sz="1600" dirty="0">
                    <a:latin typeface="+mn-lt"/>
                    <a:ea typeface="+mn-ea"/>
                    <a:cs typeface="+mn-ea"/>
                    <a:sym typeface="+mn-lt"/>
                  </a:endParaRPr>
                </a:p>
              </p:txBody>
            </p:sp>
          </p:grpSp>
          <p:grpSp>
            <p:nvGrpSpPr>
              <p:cNvPr id="50" name="组合 14"/>
              <p:cNvGrpSpPr/>
              <p:nvPr/>
            </p:nvGrpSpPr>
            <p:grpSpPr bwMode="auto">
              <a:xfrm>
                <a:off x="2700927" y="3814841"/>
                <a:ext cx="1557130" cy="503796"/>
                <a:chOff x="1801064" y="4857168"/>
                <a:chExt cx="2157648" cy="684000"/>
              </a:xfrm>
            </p:grpSpPr>
            <p:grpSp>
              <p:nvGrpSpPr>
                <p:cNvPr id="54" name="组合 65"/>
                <p:cNvGrpSpPr/>
                <p:nvPr/>
              </p:nvGrpSpPr>
              <p:grpSpPr bwMode="auto">
                <a:xfrm>
                  <a:off x="1963271" y="4857168"/>
                  <a:ext cx="1995441" cy="684000"/>
                  <a:chOff x="2635624" y="4857168"/>
                  <a:chExt cx="1995441" cy="684000"/>
                </a:xfrm>
              </p:grpSpPr>
              <p:cxnSp>
                <p:nvCxnSpPr>
                  <p:cNvPr id="56" name="直接连接符 17"/>
                  <p:cNvCxnSpPr/>
                  <p:nvPr/>
                </p:nvCxnSpPr>
                <p:spPr bwMode="auto">
                  <a:xfrm>
                    <a:off x="2635380" y="5525216"/>
                    <a:ext cx="1990755" cy="2155"/>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57" name="直接连接符 18"/>
                  <p:cNvCxnSpPr/>
                  <p:nvPr/>
                </p:nvCxnSpPr>
                <p:spPr bwMode="auto">
                  <a:xfrm rot="16200000">
                    <a:off x="4287814" y="5197583"/>
                    <a:ext cx="683241" cy="2199"/>
                  </a:xfrm>
                  <a:prstGeom prst="line">
                    <a:avLst/>
                  </a:prstGeom>
                  <a:solidFill>
                    <a:schemeClr val="accent1"/>
                  </a:solidFill>
                  <a:ln w="28575" cap="flat" cmpd="sng" algn="ctr">
                    <a:solidFill>
                      <a:srgbClr val="C00000"/>
                    </a:solidFill>
                    <a:prstDash val="solid"/>
                    <a:round/>
                    <a:headEnd type="none" w="med" len="med"/>
                    <a:tailEnd type="none" w="med" len="med"/>
                  </a:ln>
                  <a:effectLst/>
                </p:spPr>
              </p:cxnSp>
            </p:grpSp>
            <p:sp>
              <p:nvSpPr>
                <p:cNvPr id="55" name="TextBox 16"/>
                <p:cNvSpPr txBox="1">
                  <a:spLocks noChangeArrowheads="1"/>
                </p:cNvSpPr>
                <p:nvPr/>
              </p:nvSpPr>
              <p:spPr bwMode="auto">
                <a:xfrm>
                  <a:off x="1801064" y="4951984"/>
                  <a:ext cx="2118657" cy="459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eaLnBrk="1" hangingPunct="1"/>
                  <a:r>
                    <a:rPr lang="zh-CN" altLang="en-US" sz="1600" dirty="0">
                      <a:latin typeface="+mn-lt"/>
                      <a:ea typeface="+mn-ea"/>
                      <a:cs typeface="+mn-ea"/>
                      <a:sym typeface="+mn-lt"/>
                    </a:rPr>
                    <a:t>成为业务合作伙伴</a:t>
                  </a:r>
                  <a:endParaRPr lang="zh-CN" altLang="en-US" sz="1600" dirty="0">
                    <a:latin typeface="+mn-lt"/>
                    <a:ea typeface="+mn-ea"/>
                    <a:cs typeface="+mn-ea"/>
                    <a:sym typeface="+mn-lt"/>
                  </a:endParaRPr>
                </a:p>
              </p:txBody>
            </p:sp>
          </p:grpSp>
          <p:grpSp>
            <p:nvGrpSpPr>
              <p:cNvPr id="51" name="组合 19"/>
              <p:cNvGrpSpPr/>
              <p:nvPr/>
            </p:nvGrpSpPr>
            <p:grpSpPr bwMode="auto">
              <a:xfrm>
                <a:off x="3865845" y="3285780"/>
                <a:ext cx="1845661" cy="584775"/>
                <a:chOff x="1411891" y="5227584"/>
                <a:chExt cx="2603804" cy="318911"/>
              </a:xfrm>
            </p:grpSpPr>
            <p:cxnSp>
              <p:nvCxnSpPr>
                <p:cNvPr id="52" name="直接连接符 20"/>
                <p:cNvCxnSpPr/>
                <p:nvPr/>
              </p:nvCxnSpPr>
              <p:spPr bwMode="auto">
                <a:xfrm>
                  <a:off x="1964674" y="5526479"/>
                  <a:ext cx="1733449" cy="0"/>
                </a:xfrm>
                <a:prstGeom prst="line">
                  <a:avLst/>
                </a:prstGeom>
                <a:solidFill>
                  <a:schemeClr val="accent1"/>
                </a:solidFill>
                <a:ln w="28575" cap="flat" cmpd="sng" algn="ctr">
                  <a:solidFill>
                    <a:srgbClr val="C00000"/>
                  </a:solidFill>
                  <a:prstDash val="solid"/>
                  <a:round/>
                  <a:headEnd type="none" w="med" len="med"/>
                  <a:tailEnd type="none" w="med" len="med"/>
                </a:ln>
                <a:effectLst/>
              </p:spPr>
            </p:cxnSp>
            <p:sp>
              <p:nvSpPr>
                <p:cNvPr id="53" name="TextBox 21"/>
                <p:cNvSpPr txBox="1">
                  <a:spLocks noChangeArrowheads="1"/>
                </p:cNvSpPr>
                <p:nvPr/>
              </p:nvSpPr>
              <p:spPr bwMode="auto">
                <a:xfrm>
                  <a:off x="1411891" y="5227584"/>
                  <a:ext cx="2603804" cy="318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eaLnBrk="1" hangingPunct="1"/>
                  <a:r>
                    <a:rPr lang="zh-CN" altLang="en-US" sz="1600" dirty="0">
                      <a:latin typeface="+mn-lt"/>
                      <a:ea typeface="+mn-ea"/>
                      <a:cs typeface="+mn-ea"/>
                      <a:sym typeface="+mn-lt"/>
                    </a:rPr>
                    <a:t>助力业务问题解决，</a:t>
                  </a:r>
                  <a:endParaRPr lang="en-US" altLang="zh-CN" sz="1600" dirty="0">
                    <a:latin typeface="+mn-lt"/>
                    <a:ea typeface="+mn-ea"/>
                    <a:cs typeface="+mn-ea"/>
                    <a:sym typeface="+mn-lt"/>
                  </a:endParaRPr>
                </a:p>
                <a:p>
                  <a:pPr algn="ctr" eaLnBrk="1" hangingPunct="1"/>
                  <a:r>
                    <a:rPr lang="zh-CN" altLang="en-US" sz="1600" dirty="0">
                      <a:latin typeface="+mn-lt"/>
                      <a:ea typeface="+mn-ea"/>
                      <a:cs typeface="+mn-ea"/>
                      <a:sym typeface="+mn-lt"/>
                    </a:rPr>
                    <a:t>推动战略落地</a:t>
                  </a:r>
                  <a:endParaRPr lang="zh-CN" altLang="en-US" sz="1600" dirty="0">
                    <a:latin typeface="+mn-lt"/>
                    <a:ea typeface="+mn-ea"/>
                    <a:cs typeface="+mn-ea"/>
                    <a:sym typeface="+mn-lt"/>
                  </a:endParaRPr>
                </a:p>
              </p:txBody>
            </p:sp>
          </p:grpSp>
        </p:grpSp>
        <p:sp>
          <p:nvSpPr>
            <p:cNvPr id="66" name="Freeform 109"/>
            <p:cNvSpPr/>
            <p:nvPr/>
          </p:nvSpPr>
          <p:spPr bwMode="auto">
            <a:xfrm>
              <a:off x="6737921" y="3179875"/>
              <a:ext cx="220662" cy="1871663"/>
            </a:xfrm>
            <a:custGeom>
              <a:avLst/>
              <a:gdLst>
                <a:gd name="T0" fmla="*/ 0 w 268"/>
                <a:gd name="T1" fmla="*/ 0 h 1356"/>
                <a:gd name="T2" fmla="*/ 0 w 268"/>
                <a:gd name="T3" fmla="*/ 126 h 1356"/>
                <a:gd name="T4" fmla="*/ 0 w 268"/>
                <a:gd name="T5" fmla="*/ 126 h 1356"/>
                <a:gd name="T6" fmla="*/ 218 w 268"/>
                <a:gd name="T7" fmla="*/ 678 h 1356"/>
                <a:gd name="T8" fmla="*/ 0 w 268"/>
                <a:gd name="T9" fmla="*/ 1230 h 1356"/>
                <a:gd name="T10" fmla="*/ 0 w 268"/>
                <a:gd name="T11" fmla="*/ 1230 h 1356"/>
                <a:gd name="T12" fmla="*/ 0 w 268"/>
                <a:gd name="T13" fmla="*/ 1356 h 1356"/>
                <a:gd name="T14" fmla="*/ 268 w 268"/>
                <a:gd name="T15" fmla="*/ 678 h 1356"/>
                <a:gd name="T16" fmla="*/ 0 w 268"/>
                <a:gd name="T17" fmla="*/ 0 h 13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8"/>
                <a:gd name="T28" fmla="*/ 0 h 1356"/>
                <a:gd name="T29" fmla="*/ 268 w 268"/>
                <a:gd name="T30" fmla="*/ 1356 h 13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8" h="1356">
                  <a:moveTo>
                    <a:pt x="0" y="0"/>
                  </a:moveTo>
                  <a:lnTo>
                    <a:pt x="0" y="126"/>
                  </a:lnTo>
                  <a:lnTo>
                    <a:pt x="218" y="678"/>
                  </a:lnTo>
                  <a:lnTo>
                    <a:pt x="0" y="1230"/>
                  </a:lnTo>
                  <a:lnTo>
                    <a:pt x="0" y="1356"/>
                  </a:lnTo>
                  <a:lnTo>
                    <a:pt x="268" y="678"/>
                  </a:lnTo>
                  <a:lnTo>
                    <a:pt x="0" y="0"/>
                  </a:lnTo>
                  <a:close/>
                </a:path>
              </a:pathLst>
            </a:custGeom>
            <a:solidFill>
              <a:srgbClr val="366B7E"/>
            </a:solidFill>
            <a:ln w="1588">
              <a:solidFill>
                <a:srgbClr val="366B7E"/>
              </a:solidFill>
              <a:prstDash val="solid"/>
              <a:round/>
            </a:ln>
          </p:spPr>
          <p:txBody>
            <a:bodyPr/>
            <a:lstStyle/>
            <a:p>
              <a:endParaRPr lang="zh-CN" altLang="en-US">
                <a:latin typeface="+mn-lt"/>
                <a:ea typeface="+mn-ea"/>
                <a:cs typeface="+mn-ea"/>
                <a:sym typeface="+mn-lt"/>
              </a:endParaRPr>
            </a:p>
          </p:txBody>
        </p:sp>
        <p:sp>
          <p:nvSpPr>
            <p:cNvPr id="67" name="右箭头 6"/>
            <p:cNvSpPr/>
            <p:nvPr/>
          </p:nvSpPr>
          <p:spPr bwMode="auto">
            <a:xfrm rot="20586550">
              <a:off x="2587236" y="4716052"/>
              <a:ext cx="2455863" cy="263525"/>
            </a:xfrm>
            <a:prstGeom prst="rightArrow">
              <a:avLst/>
            </a:prstGeom>
            <a:solidFill>
              <a:schemeClr val="accent2">
                <a:lumMod val="75000"/>
              </a:schemeClr>
            </a:solidFill>
            <a:ln w="28575" cap="flat" cmpd="sng" algn="ctr">
              <a:noFill/>
              <a:prstDash val="solid"/>
              <a:round/>
              <a:headEnd type="none" w="med" len="med"/>
              <a:tailEnd type="none" w="med" len="med"/>
            </a:ln>
            <a:effectLst/>
          </p:spPr>
          <p:txBody>
            <a:bodyPr lIns="0" tIns="0" rIns="0" bIns="0"/>
            <a:lstStyle/>
            <a:p>
              <a:pPr algn="ctr" eaLnBrk="0" hangingPunct="0">
                <a:defRPr/>
              </a:pPr>
              <a:endParaRPr lang="zh-CN" altLang="en-US">
                <a:latin typeface="+mn-lt"/>
                <a:ea typeface="+mn-ea"/>
                <a:cs typeface="+mn-ea"/>
                <a:sym typeface="+mn-lt"/>
              </a:endParaRPr>
            </a:p>
          </p:txBody>
        </p:sp>
        <p:sp>
          <p:nvSpPr>
            <p:cNvPr id="68" name="矩形 67"/>
            <p:cNvSpPr/>
            <p:nvPr/>
          </p:nvSpPr>
          <p:spPr bwMode="auto">
            <a:xfrm>
              <a:off x="7192378" y="3531553"/>
              <a:ext cx="2193241" cy="943247"/>
            </a:xfrm>
            <a:prstGeom prst="rect">
              <a:avLst/>
            </a:prstGeom>
            <a:solidFill>
              <a:srgbClr val="FFC000"/>
            </a:solidFill>
            <a:ln w="12700" cap="flat" cmpd="sng" algn="ctr">
              <a:solidFill>
                <a:schemeClr val="accent2">
                  <a:lumMod val="50000"/>
                </a:schemeClr>
              </a:solidFill>
              <a:prstDash val="solid"/>
              <a:round/>
              <a:headEnd type="none" w="med" len="med"/>
              <a:tailEnd type="none" w="med" len="med"/>
            </a:ln>
            <a:effectLst/>
          </p:spPr>
          <p:txBody>
            <a:bodyPr lIns="0" tIns="0" rIns="0" bIns="0" anchor="ctr"/>
            <a:lstStyle/>
            <a:p>
              <a:pPr algn="ctr" eaLnBrk="0" hangingPunct="0">
                <a:defRPr/>
              </a:pPr>
              <a:r>
                <a:rPr lang="zh-CN" altLang="en-US" sz="1600" dirty="0">
                  <a:latin typeface="+mn-lt"/>
                  <a:ea typeface="+mn-ea"/>
                  <a:cs typeface="+mn-ea"/>
                  <a:sym typeface="+mn-lt"/>
                </a:rPr>
                <a:t>中银教育培训十四五期间</a:t>
              </a:r>
              <a:endParaRPr lang="en-US" altLang="zh-CN" sz="1600" dirty="0">
                <a:latin typeface="+mn-lt"/>
                <a:ea typeface="+mn-ea"/>
                <a:cs typeface="+mn-ea"/>
                <a:sym typeface="+mn-lt"/>
              </a:endParaRPr>
            </a:p>
            <a:p>
              <a:pPr algn="ctr" eaLnBrk="0" hangingPunct="0">
                <a:defRPr/>
              </a:pPr>
              <a:r>
                <a:rPr lang="zh-CN" altLang="en-US" sz="1600" dirty="0">
                  <a:latin typeface="+mn-lt"/>
                  <a:ea typeface="+mn-ea"/>
                  <a:cs typeface="+mn-ea"/>
                  <a:sym typeface="+mn-lt"/>
                </a:rPr>
                <a:t>教育培训目标与任务</a:t>
              </a:r>
              <a:endParaRPr lang="zh-CN" altLang="en-US" sz="1600" dirty="0">
                <a:latin typeface="+mn-lt"/>
                <a:ea typeface="+mn-ea"/>
                <a:cs typeface="+mn-ea"/>
                <a:sym typeface="+mn-lt"/>
              </a:endParaRPr>
            </a:p>
          </p:txBody>
        </p:sp>
        <p:grpSp>
          <p:nvGrpSpPr>
            <p:cNvPr id="69" name="组合 45"/>
            <p:cNvGrpSpPr/>
            <p:nvPr/>
          </p:nvGrpSpPr>
          <p:grpSpPr bwMode="auto">
            <a:xfrm>
              <a:off x="4158996" y="1732858"/>
              <a:ext cx="2416175" cy="1439862"/>
              <a:chOff x="3500659" y="1655410"/>
              <a:chExt cx="2415602" cy="1440000"/>
            </a:xfrm>
          </p:grpSpPr>
          <p:sp>
            <p:nvSpPr>
              <p:cNvPr id="70" name="AutoShape 5"/>
              <p:cNvSpPr>
                <a:spLocks noChangeArrowheads="1"/>
              </p:cNvSpPr>
              <p:nvPr/>
            </p:nvSpPr>
            <p:spPr bwMode="auto">
              <a:xfrm rot="16200000" flipH="1" flipV="1">
                <a:off x="3988460" y="1167609"/>
                <a:ext cx="1440000" cy="2415602"/>
              </a:xfrm>
              <a:prstGeom prst="homePlate">
                <a:avLst>
                  <a:gd name="adj" fmla="val 14008"/>
                </a:avLst>
              </a:prstGeom>
              <a:solidFill>
                <a:schemeClr val="bg1">
                  <a:lumMod val="75000"/>
                </a:schemeClr>
              </a:solidFill>
              <a:ln w="6350">
                <a:noFill/>
                <a:miter lim="800000"/>
              </a:ln>
              <a:effectLst>
                <a:outerShdw dist="38100" dir="2700000" algn="tl" rotWithShape="0">
                  <a:prstClr val="black"/>
                </a:outerShdw>
              </a:effectLst>
            </p:spPr>
            <p:txBody>
              <a:bodyPr lIns="45720" rIns="45720" anchor="ctr"/>
              <a:lstStyle/>
              <a:p>
                <a:pPr marL="114300" indent="-114300" algn="ctr">
                  <a:spcBef>
                    <a:spcPct val="30000"/>
                  </a:spcBef>
                  <a:buClr>
                    <a:schemeClr val="folHlink"/>
                  </a:buClr>
                  <a:defRPr/>
                </a:pPr>
                <a:endParaRPr lang="en-US" altLang="en-US" sz="1600" dirty="0">
                  <a:solidFill>
                    <a:schemeClr val="bg1"/>
                  </a:solidFill>
                  <a:latin typeface="+mn-lt"/>
                  <a:ea typeface="+mn-ea"/>
                  <a:cs typeface="+mn-ea"/>
                  <a:sym typeface="+mn-lt"/>
                </a:endParaRPr>
              </a:p>
            </p:txBody>
          </p:sp>
          <p:sp>
            <p:nvSpPr>
              <p:cNvPr id="71" name="TextBox 39"/>
              <p:cNvSpPr txBox="1">
                <a:spLocks noChangeArrowheads="1"/>
              </p:cNvSpPr>
              <p:nvPr/>
            </p:nvSpPr>
            <p:spPr bwMode="auto">
              <a:xfrm>
                <a:off x="3668100" y="1670700"/>
                <a:ext cx="2199753" cy="33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algn="ctr" eaLnBrk="1" hangingPunct="1"/>
                <a:r>
                  <a:rPr lang="zh-CN" altLang="en-US" sz="1600" dirty="0">
                    <a:solidFill>
                      <a:schemeClr val="tx1"/>
                    </a:solidFill>
                    <a:latin typeface="+mn-lt"/>
                    <a:ea typeface="+mn-ea"/>
                    <a:cs typeface="+mn-ea"/>
                    <a:sym typeface="+mn-lt"/>
                  </a:rPr>
                  <a:t>战略和组织能力要求</a:t>
                </a:r>
                <a:endParaRPr lang="zh-CN" altLang="en-US" sz="1600" dirty="0">
                  <a:solidFill>
                    <a:schemeClr val="tx1"/>
                  </a:solidFill>
                  <a:latin typeface="+mn-lt"/>
                  <a:ea typeface="+mn-ea"/>
                  <a:cs typeface="+mn-ea"/>
                  <a:sym typeface="+mn-lt"/>
                </a:endParaRPr>
              </a:p>
            </p:txBody>
          </p:sp>
          <p:sp>
            <p:nvSpPr>
              <p:cNvPr id="72" name="TextBox 41"/>
              <p:cNvSpPr txBox="1">
                <a:spLocks noChangeArrowheads="1"/>
              </p:cNvSpPr>
              <p:nvPr/>
            </p:nvSpPr>
            <p:spPr bwMode="auto">
              <a:xfrm>
                <a:off x="3576532" y="1999889"/>
                <a:ext cx="2268000" cy="738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eaLnBrk="1" hangingPunct="1">
                  <a:spcBef>
                    <a:spcPts val="300"/>
                  </a:spcBef>
                  <a:buFont typeface="Arial" panose="020B0604020202090204" pitchFamily="34" charset="0"/>
                  <a:buChar char="•"/>
                </a:pPr>
                <a:r>
                  <a:rPr lang="zh-CN" altLang="en-US" sz="1400" b="0" dirty="0">
                    <a:solidFill>
                      <a:schemeClr val="tx1"/>
                    </a:solidFill>
                    <a:latin typeface="+mn-lt"/>
                    <a:ea typeface="+mn-ea"/>
                    <a:cs typeface="+mn-ea"/>
                    <a:sym typeface="+mn-lt"/>
                  </a:rPr>
                  <a:t>中银战略和组织能力面临重大挑战，需要将教育培训纳入成为战略的一部分，帮助推动执行落地</a:t>
                </a:r>
                <a:endParaRPr lang="zh-CN" altLang="en-US" sz="1400" b="0" dirty="0">
                  <a:solidFill>
                    <a:schemeClr val="tx1"/>
                  </a:solidFill>
                  <a:latin typeface="+mn-lt"/>
                  <a:ea typeface="+mn-ea"/>
                  <a:cs typeface="+mn-ea"/>
                  <a:sym typeface="+mn-lt"/>
                </a:endParaRPr>
              </a:p>
            </p:txBody>
          </p:sp>
        </p:grpSp>
        <p:grpSp>
          <p:nvGrpSpPr>
            <p:cNvPr id="73" name="组合 44"/>
            <p:cNvGrpSpPr/>
            <p:nvPr/>
          </p:nvGrpSpPr>
          <p:grpSpPr bwMode="auto">
            <a:xfrm>
              <a:off x="1310812" y="2477586"/>
              <a:ext cx="2416812" cy="1583847"/>
              <a:chOff x="-172163" y="2806221"/>
              <a:chExt cx="2416784" cy="1583467"/>
            </a:xfrm>
          </p:grpSpPr>
          <p:sp>
            <p:nvSpPr>
              <p:cNvPr id="74" name="AutoShape 5"/>
              <p:cNvSpPr>
                <a:spLocks noChangeArrowheads="1"/>
              </p:cNvSpPr>
              <p:nvPr/>
            </p:nvSpPr>
            <p:spPr bwMode="auto">
              <a:xfrm rot="16200000" flipH="1" flipV="1">
                <a:off x="244495" y="2389563"/>
                <a:ext cx="1583467" cy="2416784"/>
              </a:xfrm>
              <a:prstGeom prst="homePlate">
                <a:avLst>
                  <a:gd name="adj" fmla="val 12423"/>
                </a:avLst>
              </a:prstGeom>
              <a:solidFill>
                <a:schemeClr val="bg1">
                  <a:lumMod val="75000"/>
                </a:schemeClr>
              </a:solidFill>
              <a:ln w="6350">
                <a:noFill/>
                <a:miter lim="800000"/>
              </a:ln>
              <a:effectLst>
                <a:outerShdw dist="38100" dir="2700000" algn="tl" rotWithShape="0">
                  <a:prstClr val="black"/>
                </a:outerShdw>
              </a:effectLst>
            </p:spPr>
            <p:txBody>
              <a:bodyPr lIns="45720" rIns="45720" anchor="ctr"/>
              <a:lstStyle/>
              <a:p>
                <a:pPr marL="114300" indent="-114300" algn="ctr">
                  <a:spcBef>
                    <a:spcPct val="30000"/>
                  </a:spcBef>
                  <a:buClr>
                    <a:schemeClr val="folHlink"/>
                  </a:buClr>
                  <a:defRPr/>
                </a:pPr>
                <a:endParaRPr lang="en-US" altLang="en-US" sz="1600" dirty="0">
                  <a:solidFill>
                    <a:schemeClr val="bg1"/>
                  </a:solidFill>
                  <a:latin typeface="+mn-lt"/>
                  <a:ea typeface="+mn-ea"/>
                  <a:cs typeface="+mn-ea"/>
                  <a:sym typeface="+mn-lt"/>
                </a:endParaRPr>
              </a:p>
            </p:txBody>
          </p:sp>
          <p:sp>
            <p:nvSpPr>
              <p:cNvPr id="75" name="TextBox 40"/>
              <p:cNvSpPr txBox="1">
                <a:spLocks noChangeArrowheads="1"/>
              </p:cNvSpPr>
              <p:nvPr/>
            </p:nvSpPr>
            <p:spPr bwMode="auto">
              <a:xfrm>
                <a:off x="264917" y="2850917"/>
                <a:ext cx="1841206" cy="338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eaLnBrk="1" hangingPunct="1"/>
                <a:r>
                  <a:rPr lang="zh-CN" altLang="en-US" sz="1600" dirty="0">
                    <a:latin typeface="+mn-lt"/>
                    <a:ea typeface="+mn-ea"/>
                    <a:cs typeface="+mn-ea"/>
                    <a:sym typeface="+mn-lt"/>
                  </a:rPr>
                  <a:t>中银教育培训现状</a:t>
                </a:r>
                <a:endParaRPr lang="zh-CN" altLang="en-US" sz="1600" dirty="0">
                  <a:latin typeface="+mn-lt"/>
                  <a:ea typeface="+mn-ea"/>
                  <a:cs typeface="+mn-ea"/>
                  <a:sym typeface="+mn-lt"/>
                </a:endParaRPr>
              </a:p>
            </p:txBody>
          </p:sp>
          <p:sp>
            <p:nvSpPr>
              <p:cNvPr id="76" name="TextBox 42"/>
              <p:cNvSpPr txBox="1">
                <a:spLocks noChangeArrowheads="1"/>
              </p:cNvSpPr>
              <p:nvPr/>
            </p:nvSpPr>
            <p:spPr bwMode="auto">
              <a:xfrm>
                <a:off x="-65483" y="3191697"/>
                <a:ext cx="2310103" cy="953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eaLnBrk="1" hangingPunct="1">
                  <a:spcBef>
                    <a:spcPts val="300"/>
                  </a:spcBef>
                  <a:buFont typeface="Arial" panose="020B0604020202090204" pitchFamily="34" charset="0"/>
                  <a:buChar char="•"/>
                </a:pPr>
                <a:r>
                  <a:rPr lang="zh-CN" altLang="en-US" sz="1400" b="0" dirty="0">
                    <a:solidFill>
                      <a:schemeClr val="tx1"/>
                    </a:solidFill>
                    <a:latin typeface="+mn-lt"/>
                    <a:ea typeface="+mn-ea"/>
                    <a:cs typeface="+mn-ea"/>
                    <a:sym typeface="+mn-lt"/>
                  </a:rPr>
                  <a:t>当前的学习体系重心集中于员工能力发展，在“战略集成”以及“绩效导向”上与标杆公司仍有一定差距，总体处于二阶段的发展水平</a:t>
                </a:r>
                <a:endParaRPr lang="en-US" altLang="zh-CN" sz="1400" b="0" dirty="0">
                  <a:solidFill>
                    <a:schemeClr val="tx1"/>
                  </a:solidFill>
                  <a:latin typeface="+mn-lt"/>
                  <a:ea typeface="+mn-ea"/>
                  <a:cs typeface="+mn-ea"/>
                  <a:sym typeface="+mn-lt"/>
                </a:endParaRPr>
              </a:p>
            </p:txBody>
          </p:sp>
        </p:grpSp>
        <p:grpSp>
          <p:nvGrpSpPr>
            <p:cNvPr id="77" name="组合 76"/>
            <p:cNvGrpSpPr/>
            <p:nvPr/>
          </p:nvGrpSpPr>
          <p:grpSpPr>
            <a:xfrm>
              <a:off x="2865500" y="5020762"/>
              <a:ext cx="2407946" cy="1337396"/>
              <a:chOff x="2124367" y="5264150"/>
              <a:chExt cx="2407946" cy="1337396"/>
            </a:xfrm>
          </p:grpSpPr>
          <p:sp>
            <p:nvSpPr>
              <p:cNvPr id="78" name="AutoShape 4"/>
              <p:cNvSpPr>
                <a:spLocks noChangeAspect="1" noChangeArrowheads="1"/>
              </p:cNvSpPr>
              <p:nvPr/>
            </p:nvSpPr>
            <p:spPr bwMode="auto">
              <a:xfrm rot="5400000" flipH="1">
                <a:off x="2660796" y="4727721"/>
                <a:ext cx="1335088" cy="2407946"/>
              </a:xfrm>
              <a:prstGeom prst="homePlate">
                <a:avLst>
                  <a:gd name="adj" fmla="val 12418"/>
                </a:avLst>
              </a:prstGeom>
              <a:solidFill>
                <a:schemeClr val="bg1">
                  <a:lumMod val="75000"/>
                </a:schemeClr>
              </a:solidFill>
              <a:ln w="6350">
                <a:noFill/>
                <a:miter lim="800000"/>
              </a:ln>
              <a:effectLst>
                <a:outerShdw dist="38100" dir="2700000" algn="tl" rotWithShape="0">
                  <a:prstClr val="black"/>
                </a:outerShdw>
              </a:effectLst>
            </p:spPr>
            <p:txBody>
              <a:bodyPr lIns="45720" rIns="45720" anchor="ctr"/>
              <a:lstStyle/>
              <a:p>
                <a:pPr marL="114300" indent="-114300" algn="ctr">
                  <a:spcBef>
                    <a:spcPct val="30000"/>
                  </a:spcBef>
                  <a:buClr>
                    <a:schemeClr val="folHlink"/>
                  </a:buClr>
                  <a:defRPr/>
                </a:pPr>
                <a:endParaRPr lang="en-US" altLang="en-US" sz="1600" dirty="0">
                  <a:solidFill>
                    <a:schemeClr val="bg1"/>
                  </a:solidFill>
                  <a:latin typeface="+mn-lt"/>
                  <a:ea typeface="+mn-ea"/>
                  <a:cs typeface="+mn-ea"/>
                  <a:sym typeface="+mn-lt"/>
                </a:endParaRPr>
              </a:p>
            </p:txBody>
          </p:sp>
          <p:sp>
            <p:nvSpPr>
              <p:cNvPr id="79" name="TextBox 38"/>
              <p:cNvSpPr txBox="1">
                <a:spLocks noChangeArrowheads="1"/>
              </p:cNvSpPr>
              <p:nvPr/>
            </p:nvSpPr>
            <p:spPr bwMode="auto">
              <a:xfrm>
                <a:off x="2665388" y="6261821"/>
                <a:ext cx="18399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eaLnBrk="1" hangingPunct="1"/>
                <a:r>
                  <a:rPr lang="zh-CN" altLang="en-US" sz="1600" dirty="0">
                    <a:latin typeface="+mn-lt"/>
                    <a:ea typeface="+mn-ea"/>
                    <a:cs typeface="+mn-ea"/>
                    <a:sym typeface="+mn-lt"/>
                  </a:rPr>
                  <a:t>标杆公司最佳实践</a:t>
                </a:r>
                <a:endParaRPr lang="zh-CN" altLang="en-US" sz="1600" dirty="0">
                  <a:latin typeface="+mn-lt"/>
                  <a:ea typeface="+mn-ea"/>
                  <a:cs typeface="+mn-ea"/>
                  <a:sym typeface="+mn-lt"/>
                </a:endParaRPr>
              </a:p>
            </p:txBody>
          </p:sp>
          <p:sp>
            <p:nvSpPr>
              <p:cNvPr id="80" name="TextBox 43"/>
              <p:cNvSpPr txBox="1">
                <a:spLocks noChangeArrowheads="1"/>
              </p:cNvSpPr>
              <p:nvPr/>
            </p:nvSpPr>
            <p:spPr bwMode="auto">
              <a:xfrm>
                <a:off x="2301876" y="5484253"/>
                <a:ext cx="21971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300" b="1">
                    <a:solidFill>
                      <a:srgbClr val="000000"/>
                    </a:solidFill>
                    <a:latin typeface="Arial" panose="020B0604020202090204" pitchFamily="34" charset="0"/>
                    <a:ea typeface="宋体" pitchFamily="2" charset="-122"/>
                  </a:defRPr>
                </a:lvl1pPr>
                <a:lvl2pPr marL="742950" indent="-285750" eaLnBrk="0" hangingPunct="0">
                  <a:defRPr sz="1300" b="1">
                    <a:solidFill>
                      <a:srgbClr val="000000"/>
                    </a:solidFill>
                    <a:latin typeface="Arial" panose="020B0604020202090204" pitchFamily="34" charset="0"/>
                    <a:ea typeface="宋体" pitchFamily="2" charset="-122"/>
                  </a:defRPr>
                </a:lvl2pPr>
                <a:lvl3pPr marL="1143000" indent="-228600" eaLnBrk="0" hangingPunct="0">
                  <a:defRPr sz="1300" b="1">
                    <a:solidFill>
                      <a:srgbClr val="000000"/>
                    </a:solidFill>
                    <a:latin typeface="Arial" panose="020B0604020202090204" pitchFamily="34" charset="0"/>
                    <a:ea typeface="宋体" pitchFamily="2" charset="-122"/>
                  </a:defRPr>
                </a:lvl3pPr>
                <a:lvl4pPr marL="1600200" indent="-228600" eaLnBrk="0" hangingPunct="0">
                  <a:defRPr sz="1300" b="1">
                    <a:solidFill>
                      <a:srgbClr val="000000"/>
                    </a:solidFill>
                    <a:latin typeface="Arial" panose="020B0604020202090204" pitchFamily="34" charset="0"/>
                    <a:ea typeface="宋体" pitchFamily="2" charset="-122"/>
                  </a:defRPr>
                </a:lvl4pPr>
                <a:lvl5pPr marL="2057400" indent="-228600" eaLnBrk="0" hangingPunct="0">
                  <a:defRPr sz="1300" b="1">
                    <a:solidFill>
                      <a:srgbClr val="000000"/>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1300" b="1">
                    <a:solidFill>
                      <a:srgbClr val="000000"/>
                    </a:solidFill>
                    <a:latin typeface="Arial" panose="020B0604020202090204" pitchFamily="34" charset="0"/>
                    <a:ea typeface="宋体" pitchFamily="2" charset="-122"/>
                  </a:defRPr>
                </a:lvl9pPr>
              </a:lstStyle>
              <a:p>
                <a:pPr eaLnBrk="1" hangingPunct="1">
                  <a:spcBef>
                    <a:spcPts val="300"/>
                  </a:spcBef>
                  <a:buFont typeface="Arial" panose="020B0604020202090204" pitchFamily="34" charset="0"/>
                  <a:buChar char="•"/>
                </a:pPr>
                <a:r>
                  <a:rPr lang="en-US" altLang="zh-CN" sz="1400" b="0" dirty="0">
                    <a:solidFill>
                      <a:schemeClr val="tx1"/>
                    </a:solidFill>
                    <a:latin typeface="+mn-lt"/>
                    <a:ea typeface="+mn-ea"/>
                    <a:cs typeface="+mn-ea"/>
                    <a:sym typeface="+mn-lt"/>
                  </a:rPr>
                  <a:t> </a:t>
                </a:r>
                <a:r>
                  <a:rPr lang="zh-CN" altLang="en-US" sz="1400" b="0" dirty="0">
                    <a:solidFill>
                      <a:schemeClr val="tx1"/>
                    </a:solidFill>
                    <a:latin typeface="+mn-lt"/>
                    <a:ea typeface="+mn-ea"/>
                    <a:cs typeface="+mn-ea"/>
                    <a:sym typeface="+mn-lt"/>
                  </a:rPr>
                  <a:t>参考借鉴标杆公司实现路径（包括学习战略、学习体系架构以及学习项目等）</a:t>
                </a:r>
                <a:endParaRPr lang="zh-CN" altLang="en-US" sz="1400" b="0" dirty="0">
                  <a:solidFill>
                    <a:schemeClr val="tx1"/>
                  </a:solidFill>
                  <a:latin typeface="+mn-lt"/>
                  <a:ea typeface="+mn-ea"/>
                  <a:cs typeface="+mn-ea"/>
                  <a:sym typeface="+mn-lt"/>
                </a:endParaRPr>
              </a:p>
            </p:txBody>
          </p:sp>
        </p:gr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标题 1"/>
          <p:cNvSpPr txBox="1"/>
          <p:nvPr/>
        </p:nvSpPr>
        <p:spPr>
          <a:xfrm>
            <a:off x="565638" y="268184"/>
            <a:ext cx="10830169" cy="227281"/>
          </a:xfrm>
          <a:prstGeom prst="rect">
            <a:avLst/>
          </a:prstGeom>
        </p:spPr>
        <p:txBody>
          <a:bodyPr vert="horz" lIns="91440" tIns="45720" rIns="91440" bIns="45720" rtlCol="0" anchor="ctr">
            <a:noAutofit/>
          </a:bodyPr>
          <a:lstStyle>
            <a:lvl1pPr eaLnBrk="0" hangingPunct="0">
              <a:defRPr kumimoji="1" sz="2000">
                <a:latin typeface="STZhongsong" panose="02010600040101010101" pitchFamily="2" charset="-122"/>
                <a:ea typeface="STZhongsong" panose="02010600040101010101" pitchFamily="2" charset="-122"/>
                <a:cs typeface="+mj-cs"/>
              </a:defRPr>
            </a:lvl1pPr>
            <a:lvl2pPr eaLnBrk="0" hangingPunct="0">
              <a:defRPr sz="2340">
                <a:ea typeface="윤고딕130" pitchFamily="18" charset="-127"/>
              </a:defRPr>
            </a:lvl2pPr>
            <a:lvl3pPr eaLnBrk="0" hangingPunct="0">
              <a:defRPr sz="2340">
                <a:ea typeface="윤고딕130" pitchFamily="18" charset="-127"/>
              </a:defRPr>
            </a:lvl3pPr>
            <a:lvl4pPr eaLnBrk="0" hangingPunct="0">
              <a:defRPr sz="2340">
                <a:ea typeface="윤고딕130" pitchFamily="18" charset="-127"/>
              </a:defRPr>
            </a:lvl4pPr>
            <a:lvl5pPr eaLnBrk="0" hangingPunct="0">
              <a:defRPr sz="2340">
                <a:ea typeface="윤고딕130" pitchFamily="18" charset="-127"/>
              </a:defRPr>
            </a:lvl5pPr>
            <a:lvl6pPr marL="562610" fontAlgn="base">
              <a:spcBef>
                <a:spcPct val="0"/>
              </a:spcBef>
              <a:spcAft>
                <a:spcPct val="0"/>
              </a:spcAft>
              <a:defRPr sz="2340">
                <a:ea typeface="윤고딕130" pitchFamily="18" charset="-127"/>
              </a:defRPr>
            </a:lvl6pPr>
            <a:lvl7pPr marL="1125220" fontAlgn="base">
              <a:spcBef>
                <a:spcPct val="0"/>
              </a:spcBef>
              <a:spcAft>
                <a:spcPct val="0"/>
              </a:spcAft>
              <a:defRPr sz="2340">
                <a:ea typeface="윤고딕130" pitchFamily="18" charset="-127"/>
              </a:defRPr>
            </a:lvl7pPr>
            <a:lvl8pPr marL="1688465" fontAlgn="base">
              <a:spcBef>
                <a:spcPct val="0"/>
              </a:spcBef>
              <a:spcAft>
                <a:spcPct val="0"/>
              </a:spcAft>
              <a:defRPr sz="2340">
                <a:ea typeface="윤고딕130" pitchFamily="18" charset="-127"/>
              </a:defRPr>
            </a:lvl8pPr>
            <a:lvl9pPr marL="2251075" fontAlgn="base">
              <a:spcBef>
                <a:spcPct val="0"/>
              </a:spcBef>
              <a:spcAft>
                <a:spcPct val="0"/>
              </a:spcAft>
              <a:defRPr sz="2340">
                <a:ea typeface="윤고딕130" pitchFamily="18" charset="-127"/>
              </a:defRPr>
            </a:lvl9pPr>
          </a:lstStyle>
          <a:p>
            <a:r>
              <a:rPr lang="zh-CN" altLang="en-US" dirty="0">
                <a:latin typeface="+mn-lt"/>
                <a:ea typeface="+mn-ea"/>
                <a:cs typeface="+mn-ea"/>
                <a:sym typeface="+mn-lt"/>
              </a:rPr>
              <a:t>中国银行教育培训“十四五”规划</a:t>
            </a:r>
            <a:r>
              <a:rPr lang="en-US" altLang="zh-CN" dirty="0">
                <a:latin typeface="+mn-lt"/>
                <a:ea typeface="+mn-ea"/>
                <a:cs typeface="+mn-ea"/>
                <a:sym typeface="+mn-lt"/>
              </a:rPr>
              <a:t>-</a:t>
            </a:r>
            <a:r>
              <a:rPr lang="zh-CN" altLang="en-US" dirty="0">
                <a:latin typeface="+mn-lt"/>
                <a:ea typeface="+mn-ea"/>
                <a:cs typeface="+mn-ea"/>
                <a:sym typeface="+mn-lt"/>
              </a:rPr>
              <a:t>重点任务图谱</a:t>
            </a:r>
            <a:endParaRPr lang="zh-CN" altLang="en-US" dirty="0">
              <a:latin typeface="+mn-lt"/>
              <a:ea typeface="+mn-ea"/>
              <a:cs typeface="+mn-ea"/>
              <a:sym typeface="+mn-lt"/>
            </a:endParaRPr>
          </a:p>
        </p:txBody>
      </p:sp>
      <p:sp>
        <p:nvSpPr>
          <p:cNvPr id="8" name="文本框 20"/>
          <p:cNvSpPr txBox="1">
            <a:spLocks noChangeArrowheads="1"/>
          </p:cNvSpPr>
          <p:nvPr/>
        </p:nvSpPr>
        <p:spPr bwMode="auto">
          <a:xfrm>
            <a:off x="-13648" y="2633542"/>
            <a:ext cx="44864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zh-CN" altLang="en-US" sz="1600" dirty="0">
                <a:solidFill>
                  <a:srgbClr val="000000"/>
                </a:solidFill>
                <a:latin typeface="+mn-ea"/>
                <a:ea typeface="+mn-ea"/>
              </a:rPr>
              <a:t>五大举措</a:t>
            </a:r>
            <a:endParaRPr lang="zh-CN" altLang="en-US" sz="1600" dirty="0">
              <a:solidFill>
                <a:srgbClr val="000000"/>
              </a:solidFill>
              <a:latin typeface="+mn-ea"/>
              <a:ea typeface="+mn-ea"/>
            </a:endParaRPr>
          </a:p>
        </p:txBody>
      </p:sp>
      <p:sp>
        <p:nvSpPr>
          <p:cNvPr id="10" name="文本框 20"/>
          <p:cNvSpPr txBox="1">
            <a:spLocks noChangeArrowheads="1"/>
          </p:cNvSpPr>
          <p:nvPr/>
        </p:nvSpPr>
        <p:spPr bwMode="auto">
          <a:xfrm>
            <a:off x="25604" y="4072198"/>
            <a:ext cx="440193"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r>
              <a:rPr lang="zh-CN" altLang="en-US" sz="1600" dirty="0">
                <a:solidFill>
                  <a:srgbClr val="000000"/>
                </a:solidFill>
                <a:latin typeface="+mn-ea"/>
                <a:ea typeface="+mn-ea"/>
              </a:rPr>
              <a:t>二十六项重点任务</a:t>
            </a:r>
            <a:endParaRPr lang="zh-CN" altLang="en-US" sz="1600" dirty="0">
              <a:solidFill>
                <a:srgbClr val="000000"/>
              </a:solidFill>
              <a:latin typeface="+mn-ea"/>
              <a:ea typeface="+mn-ea"/>
            </a:endParaRPr>
          </a:p>
        </p:txBody>
      </p:sp>
      <p:sp>
        <p:nvSpPr>
          <p:cNvPr id="13" name="圆角矩形 12"/>
          <p:cNvSpPr/>
          <p:nvPr/>
        </p:nvSpPr>
        <p:spPr>
          <a:xfrm>
            <a:off x="371928" y="1799041"/>
            <a:ext cx="11636324" cy="740768"/>
          </a:xfrm>
          <a:prstGeom prst="roundRect">
            <a:avLst>
              <a:gd name="adj" fmla="val 4642"/>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椭圆 13"/>
          <p:cNvSpPr/>
          <p:nvPr/>
        </p:nvSpPr>
        <p:spPr bwMode="auto">
          <a:xfrm>
            <a:off x="757968" y="1818903"/>
            <a:ext cx="2908820" cy="633889"/>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矩形 16"/>
          <p:cNvSpPr>
            <a:spLocks noChangeArrowheads="1"/>
          </p:cNvSpPr>
          <p:nvPr/>
        </p:nvSpPr>
        <p:spPr bwMode="auto">
          <a:xfrm>
            <a:off x="1083554" y="1951035"/>
            <a:ext cx="231451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600" dirty="0">
                <a:solidFill>
                  <a:schemeClr val="tx1"/>
                </a:solidFill>
                <a:latin typeface="+mn-ea"/>
                <a:ea typeface="+mn-ea"/>
              </a:rPr>
              <a:t>打造人才培养新高地</a:t>
            </a:r>
            <a:endParaRPr lang="zh-CN" altLang="en-US" sz="1600" dirty="0">
              <a:solidFill>
                <a:schemeClr val="tx1"/>
              </a:solidFill>
              <a:latin typeface="+mn-ea"/>
              <a:ea typeface="+mn-ea"/>
            </a:endParaRPr>
          </a:p>
        </p:txBody>
      </p:sp>
      <p:sp>
        <p:nvSpPr>
          <p:cNvPr id="16" name="椭圆 15"/>
          <p:cNvSpPr/>
          <p:nvPr/>
        </p:nvSpPr>
        <p:spPr bwMode="auto">
          <a:xfrm>
            <a:off x="4630097" y="1844455"/>
            <a:ext cx="2908820" cy="633889"/>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椭圆 16"/>
          <p:cNvSpPr/>
          <p:nvPr/>
        </p:nvSpPr>
        <p:spPr bwMode="auto">
          <a:xfrm>
            <a:off x="8391795" y="1858593"/>
            <a:ext cx="2906783" cy="633889"/>
          </a:xfrm>
          <a:prstGeom prst="ellipse">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8" name="矩形 17"/>
          <p:cNvSpPr>
            <a:spLocks noChangeArrowheads="1"/>
          </p:cNvSpPr>
          <p:nvPr/>
        </p:nvSpPr>
        <p:spPr bwMode="auto">
          <a:xfrm>
            <a:off x="8597502" y="1996489"/>
            <a:ext cx="270107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600" dirty="0">
                <a:solidFill>
                  <a:schemeClr val="tx1"/>
                </a:solidFill>
                <a:latin typeface="+mn-ea"/>
                <a:ea typeface="+mn-ea"/>
                <a:sym typeface="+mn-lt"/>
              </a:rPr>
              <a:t>激发员工干事创业新活力 </a:t>
            </a:r>
            <a:endParaRPr lang="zh-CN" altLang="en-US" sz="1600" dirty="0">
              <a:solidFill>
                <a:schemeClr val="tx1"/>
              </a:solidFill>
              <a:latin typeface="+mn-ea"/>
              <a:ea typeface="+mn-ea"/>
              <a:sym typeface="+mn-lt"/>
            </a:endParaRPr>
          </a:p>
        </p:txBody>
      </p:sp>
      <p:sp>
        <p:nvSpPr>
          <p:cNvPr id="20" name="矩形 19"/>
          <p:cNvSpPr/>
          <p:nvPr/>
        </p:nvSpPr>
        <p:spPr>
          <a:xfrm>
            <a:off x="13215" y="1952756"/>
            <a:ext cx="507046" cy="584775"/>
          </a:xfrm>
          <a:prstGeom prst="rect">
            <a:avLst/>
          </a:prstGeom>
        </p:spPr>
        <p:txBody>
          <a:bodyPr wrap="square">
            <a:spAutoFit/>
          </a:bodyPr>
          <a:lstStyle/>
          <a:p>
            <a:r>
              <a:rPr lang="zh-CN" altLang="en-US" sz="1600" dirty="0">
                <a:latin typeface="+mn-ea"/>
                <a:ea typeface="+mn-ea"/>
              </a:rPr>
              <a:t>使命</a:t>
            </a:r>
            <a:endParaRPr lang="zh-CN" altLang="en-US" sz="1600" dirty="0">
              <a:latin typeface="+mn-ea"/>
              <a:ea typeface="+mn-ea"/>
            </a:endParaRPr>
          </a:p>
        </p:txBody>
      </p:sp>
      <p:sp>
        <p:nvSpPr>
          <p:cNvPr id="27" name="矩形 16"/>
          <p:cNvSpPr>
            <a:spLocks noChangeArrowheads="1"/>
          </p:cNvSpPr>
          <p:nvPr/>
        </p:nvSpPr>
        <p:spPr bwMode="auto">
          <a:xfrm>
            <a:off x="4785817" y="1993552"/>
            <a:ext cx="260297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600" dirty="0">
                <a:solidFill>
                  <a:schemeClr val="tx1"/>
                </a:solidFill>
                <a:latin typeface="+mn-ea"/>
                <a:ea typeface="+mn-ea"/>
                <a:sym typeface="+mn-lt"/>
              </a:rPr>
              <a:t>培育开放共享学习新生态</a:t>
            </a:r>
            <a:endParaRPr lang="zh-CN" altLang="en-US" sz="1600" dirty="0">
              <a:solidFill>
                <a:schemeClr val="tx1"/>
              </a:solidFill>
              <a:latin typeface="+mn-ea"/>
              <a:ea typeface="+mn-ea"/>
            </a:endParaRPr>
          </a:p>
        </p:txBody>
      </p:sp>
      <p:sp>
        <p:nvSpPr>
          <p:cNvPr id="42" name="圆角矩形 41"/>
          <p:cNvSpPr/>
          <p:nvPr/>
        </p:nvSpPr>
        <p:spPr>
          <a:xfrm>
            <a:off x="371928" y="869440"/>
            <a:ext cx="11636324" cy="898516"/>
          </a:xfrm>
          <a:prstGeom prst="roundRect">
            <a:avLst>
              <a:gd name="adj" fmla="val 4642"/>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3" name="矩形 42"/>
          <p:cNvSpPr/>
          <p:nvPr/>
        </p:nvSpPr>
        <p:spPr>
          <a:xfrm>
            <a:off x="13215" y="814847"/>
            <a:ext cx="507046" cy="1077218"/>
          </a:xfrm>
          <a:prstGeom prst="rect">
            <a:avLst/>
          </a:prstGeom>
        </p:spPr>
        <p:txBody>
          <a:bodyPr wrap="square">
            <a:spAutoFit/>
          </a:bodyPr>
          <a:lstStyle/>
          <a:p>
            <a:r>
              <a:rPr lang="zh-CN" altLang="en-US" sz="1600" dirty="0">
                <a:latin typeface="+mn-ea"/>
                <a:ea typeface="+mn-ea"/>
              </a:rPr>
              <a:t>愿景目标</a:t>
            </a:r>
            <a:endParaRPr lang="zh-CN" altLang="en-US" sz="1600" dirty="0">
              <a:latin typeface="+mn-ea"/>
              <a:ea typeface="+mn-ea"/>
            </a:endParaRPr>
          </a:p>
        </p:txBody>
      </p:sp>
      <p:sp>
        <p:nvSpPr>
          <p:cNvPr id="44" name="圆角矩形 43"/>
          <p:cNvSpPr/>
          <p:nvPr/>
        </p:nvSpPr>
        <p:spPr bwMode="auto">
          <a:xfrm>
            <a:off x="703645" y="944459"/>
            <a:ext cx="10767919" cy="746857"/>
          </a:xfrm>
          <a:prstGeom prst="roundRect">
            <a:avLst/>
          </a:prstGeom>
          <a:solidFill>
            <a:schemeClr val="bg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5" name="矩形 16"/>
          <p:cNvSpPr>
            <a:spLocks noChangeArrowheads="1"/>
          </p:cNvSpPr>
          <p:nvPr/>
        </p:nvSpPr>
        <p:spPr bwMode="auto">
          <a:xfrm>
            <a:off x="2045566" y="941858"/>
            <a:ext cx="801476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a:r>
              <a:rPr lang="zh-CN" altLang="en-US" sz="2000" dirty="0">
                <a:solidFill>
                  <a:srgbClr val="000000"/>
                </a:solidFill>
                <a:latin typeface="+mn-ea"/>
                <a:ea typeface="+mn-ea"/>
              </a:rPr>
              <a:t>成为全球一流金融企业大学</a:t>
            </a:r>
            <a:endParaRPr lang="zh-CN" altLang="en-US" sz="2000" dirty="0">
              <a:solidFill>
                <a:srgbClr val="000000"/>
              </a:solidFill>
              <a:latin typeface="+mn-ea"/>
              <a:ea typeface="+mn-ea"/>
            </a:endParaRPr>
          </a:p>
          <a:p>
            <a:pPr algn="ctr"/>
            <a:endParaRPr lang="zh-CN" altLang="en-US" sz="1600" b="1" dirty="0">
              <a:latin typeface="宋体" pitchFamily="2" charset="-122"/>
            </a:endParaRPr>
          </a:p>
        </p:txBody>
      </p:sp>
      <p:sp>
        <p:nvSpPr>
          <p:cNvPr id="46" name="文本框 29"/>
          <p:cNvSpPr txBox="1">
            <a:spLocks noChangeArrowheads="1"/>
          </p:cNvSpPr>
          <p:nvPr/>
        </p:nvSpPr>
        <p:spPr bwMode="auto">
          <a:xfrm>
            <a:off x="943862" y="1328099"/>
            <a:ext cx="12388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a:r>
              <a:rPr lang="zh-CN" altLang="en-US" sz="1600" dirty="0">
                <a:latin typeface="+mn-ea"/>
                <a:ea typeface="+mn-ea"/>
              </a:rPr>
              <a:t>专业化</a:t>
            </a:r>
            <a:endParaRPr lang="zh-CN" altLang="en-US" sz="1600" dirty="0">
              <a:latin typeface="+mn-ea"/>
              <a:ea typeface="+mn-ea"/>
            </a:endParaRPr>
          </a:p>
        </p:txBody>
      </p:sp>
      <p:sp>
        <p:nvSpPr>
          <p:cNvPr id="47" name="文本框 29"/>
          <p:cNvSpPr txBox="1">
            <a:spLocks noChangeArrowheads="1"/>
          </p:cNvSpPr>
          <p:nvPr/>
        </p:nvSpPr>
        <p:spPr bwMode="auto">
          <a:xfrm>
            <a:off x="3067959" y="1325466"/>
            <a:ext cx="12388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600">
                <a:solidFill>
                  <a:schemeClr val="tx1"/>
                </a:solidFill>
                <a:latin typeface="+mn-ea"/>
                <a:ea typeface="+mn-ea"/>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r>
              <a:rPr lang="zh-CN" altLang="en-US" dirty="0"/>
              <a:t>数字化</a:t>
            </a:r>
            <a:endParaRPr lang="zh-CN" altLang="en-US" dirty="0"/>
          </a:p>
        </p:txBody>
      </p:sp>
      <p:sp>
        <p:nvSpPr>
          <p:cNvPr id="48" name="文本框 29"/>
          <p:cNvSpPr txBox="1">
            <a:spLocks noChangeArrowheads="1"/>
          </p:cNvSpPr>
          <p:nvPr/>
        </p:nvSpPr>
        <p:spPr bwMode="auto">
          <a:xfrm>
            <a:off x="5192056" y="1322833"/>
            <a:ext cx="12388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600">
                <a:solidFill>
                  <a:schemeClr val="tx1"/>
                </a:solidFill>
                <a:latin typeface="+mn-ea"/>
                <a:ea typeface="+mn-ea"/>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r>
              <a:rPr lang="zh-CN" altLang="en-US" dirty="0"/>
              <a:t>全球化</a:t>
            </a:r>
            <a:endParaRPr lang="zh-CN" altLang="en-US" dirty="0"/>
          </a:p>
        </p:txBody>
      </p:sp>
      <p:sp>
        <p:nvSpPr>
          <p:cNvPr id="49" name="文本框 29"/>
          <p:cNvSpPr txBox="1">
            <a:spLocks noChangeArrowheads="1"/>
          </p:cNvSpPr>
          <p:nvPr/>
        </p:nvSpPr>
        <p:spPr bwMode="auto">
          <a:xfrm>
            <a:off x="7316153" y="1320200"/>
            <a:ext cx="12388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600">
                <a:solidFill>
                  <a:schemeClr val="tx1"/>
                </a:solidFill>
                <a:latin typeface="+mn-ea"/>
                <a:ea typeface="+mn-ea"/>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r>
              <a:rPr lang="zh-CN" altLang="en-US" dirty="0"/>
              <a:t>平台化</a:t>
            </a:r>
            <a:endParaRPr lang="zh-CN" altLang="en-US" dirty="0"/>
          </a:p>
        </p:txBody>
      </p:sp>
      <p:sp>
        <p:nvSpPr>
          <p:cNvPr id="50" name="文本框 29"/>
          <p:cNvSpPr txBox="1">
            <a:spLocks noChangeArrowheads="1"/>
          </p:cNvSpPr>
          <p:nvPr/>
        </p:nvSpPr>
        <p:spPr bwMode="auto">
          <a:xfrm>
            <a:off x="9440248" y="1332159"/>
            <a:ext cx="12388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600">
                <a:solidFill>
                  <a:schemeClr val="tx1"/>
                </a:solidFill>
                <a:latin typeface="+mn-ea"/>
                <a:ea typeface="+mn-ea"/>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r>
              <a:rPr lang="zh-CN" altLang="en-US" dirty="0"/>
              <a:t>生态化</a:t>
            </a:r>
            <a:endParaRPr lang="zh-CN" altLang="en-US" dirty="0"/>
          </a:p>
        </p:txBody>
      </p:sp>
      <p:cxnSp>
        <p:nvCxnSpPr>
          <p:cNvPr id="51" name="直线连接符 137"/>
          <p:cNvCxnSpPr/>
          <p:nvPr/>
        </p:nvCxnSpPr>
        <p:spPr>
          <a:xfrm>
            <a:off x="2009956" y="1307140"/>
            <a:ext cx="0" cy="408500"/>
          </a:xfrm>
          <a:prstGeom prst="line">
            <a:avLst/>
          </a:prstGeom>
          <a:ln w="28575">
            <a:solidFill>
              <a:srgbClr val="C00000"/>
            </a:solidFill>
          </a:ln>
        </p:spPr>
        <p:style>
          <a:lnRef idx="3">
            <a:schemeClr val="dk1"/>
          </a:lnRef>
          <a:fillRef idx="0">
            <a:schemeClr val="dk1"/>
          </a:fillRef>
          <a:effectRef idx="2">
            <a:schemeClr val="dk1"/>
          </a:effectRef>
          <a:fontRef idx="minor">
            <a:schemeClr val="tx1"/>
          </a:fontRef>
        </p:style>
      </p:cxnSp>
      <p:cxnSp>
        <p:nvCxnSpPr>
          <p:cNvPr id="52" name="直线连接符 138"/>
          <p:cNvCxnSpPr/>
          <p:nvPr/>
        </p:nvCxnSpPr>
        <p:spPr>
          <a:xfrm>
            <a:off x="3285332" y="1310395"/>
            <a:ext cx="0" cy="408500"/>
          </a:xfrm>
          <a:prstGeom prst="line">
            <a:avLst/>
          </a:prstGeom>
          <a:ln w="28575">
            <a:solidFill>
              <a:srgbClr val="C00000"/>
            </a:solidFill>
          </a:ln>
        </p:spPr>
        <p:style>
          <a:lnRef idx="3">
            <a:schemeClr val="dk1"/>
          </a:lnRef>
          <a:fillRef idx="0">
            <a:schemeClr val="dk1"/>
          </a:fillRef>
          <a:effectRef idx="2">
            <a:schemeClr val="dk1"/>
          </a:effectRef>
          <a:fontRef idx="minor">
            <a:schemeClr val="tx1"/>
          </a:fontRef>
        </p:style>
      </p:cxnSp>
      <p:cxnSp>
        <p:nvCxnSpPr>
          <p:cNvPr id="53" name="直线连接符 139"/>
          <p:cNvCxnSpPr/>
          <p:nvPr/>
        </p:nvCxnSpPr>
        <p:spPr>
          <a:xfrm>
            <a:off x="4156658" y="1310395"/>
            <a:ext cx="0" cy="408500"/>
          </a:xfrm>
          <a:prstGeom prst="line">
            <a:avLst/>
          </a:prstGeom>
          <a:ln w="28575">
            <a:solidFill>
              <a:srgbClr val="C00000"/>
            </a:solidFill>
          </a:ln>
        </p:spPr>
        <p:style>
          <a:lnRef idx="3">
            <a:schemeClr val="dk1"/>
          </a:lnRef>
          <a:fillRef idx="0">
            <a:schemeClr val="dk1"/>
          </a:fillRef>
          <a:effectRef idx="2">
            <a:schemeClr val="dk1"/>
          </a:effectRef>
          <a:fontRef idx="minor">
            <a:schemeClr val="tx1"/>
          </a:fontRef>
        </p:style>
      </p:cxnSp>
      <p:cxnSp>
        <p:nvCxnSpPr>
          <p:cNvPr id="54" name="直线连接符 140"/>
          <p:cNvCxnSpPr/>
          <p:nvPr/>
        </p:nvCxnSpPr>
        <p:spPr>
          <a:xfrm>
            <a:off x="5335689" y="1297321"/>
            <a:ext cx="0" cy="408500"/>
          </a:xfrm>
          <a:prstGeom prst="line">
            <a:avLst/>
          </a:prstGeom>
          <a:ln w="28575">
            <a:solidFill>
              <a:srgbClr val="C00000"/>
            </a:solidFill>
          </a:ln>
        </p:spPr>
        <p:style>
          <a:lnRef idx="3">
            <a:schemeClr val="dk1"/>
          </a:lnRef>
          <a:fillRef idx="0">
            <a:schemeClr val="dk1"/>
          </a:fillRef>
          <a:effectRef idx="2">
            <a:schemeClr val="dk1"/>
          </a:effectRef>
          <a:fontRef idx="minor">
            <a:schemeClr val="tx1"/>
          </a:fontRef>
        </p:style>
      </p:cxnSp>
      <p:cxnSp>
        <p:nvCxnSpPr>
          <p:cNvPr id="55" name="直线连接符 141"/>
          <p:cNvCxnSpPr/>
          <p:nvPr/>
        </p:nvCxnSpPr>
        <p:spPr>
          <a:xfrm>
            <a:off x="6295073" y="1332159"/>
            <a:ext cx="0" cy="408500"/>
          </a:xfrm>
          <a:prstGeom prst="line">
            <a:avLst/>
          </a:prstGeom>
          <a:ln w="28575">
            <a:solidFill>
              <a:srgbClr val="C00000"/>
            </a:solidFill>
          </a:ln>
        </p:spPr>
        <p:style>
          <a:lnRef idx="3">
            <a:schemeClr val="dk1"/>
          </a:lnRef>
          <a:fillRef idx="0">
            <a:schemeClr val="dk1"/>
          </a:fillRef>
          <a:effectRef idx="2">
            <a:schemeClr val="dk1"/>
          </a:effectRef>
          <a:fontRef idx="minor">
            <a:schemeClr val="tx1"/>
          </a:fontRef>
        </p:style>
      </p:cxnSp>
      <p:cxnSp>
        <p:nvCxnSpPr>
          <p:cNvPr id="56" name="直线连接符 142"/>
          <p:cNvCxnSpPr/>
          <p:nvPr/>
        </p:nvCxnSpPr>
        <p:spPr>
          <a:xfrm>
            <a:off x="7475694" y="1297321"/>
            <a:ext cx="0" cy="408500"/>
          </a:xfrm>
          <a:prstGeom prst="line">
            <a:avLst/>
          </a:prstGeom>
          <a:ln w="28575">
            <a:solidFill>
              <a:srgbClr val="C00000"/>
            </a:solidFill>
          </a:ln>
        </p:spPr>
        <p:style>
          <a:lnRef idx="3">
            <a:schemeClr val="dk1"/>
          </a:lnRef>
          <a:fillRef idx="0">
            <a:schemeClr val="dk1"/>
          </a:fillRef>
          <a:effectRef idx="2">
            <a:schemeClr val="dk1"/>
          </a:effectRef>
          <a:fontRef idx="minor">
            <a:schemeClr val="tx1"/>
          </a:fontRef>
        </p:style>
      </p:cxnSp>
      <p:cxnSp>
        <p:nvCxnSpPr>
          <p:cNvPr id="57" name="直线连接符 143"/>
          <p:cNvCxnSpPr/>
          <p:nvPr/>
        </p:nvCxnSpPr>
        <p:spPr>
          <a:xfrm>
            <a:off x="8421270" y="1297321"/>
            <a:ext cx="0" cy="408500"/>
          </a:xfrm>
          <a:prstGeom prst="line">
            <a:avLst/>
          </a:prstGeom>
          <a:ln w="28575">
            <a:solidFill>
              <a:srgbClr val="C00000"/>
            </a:solidFill>
          </a:ln>
        </p:spPr>
        <p:style>
          <a:lnRef idx="3">
            <a:schemeClr val="dk1"/>
          </a:lnRef>
          <a:fillRef idx="0">
            <a:schemeClr val="dk1"/>
          </a:fillRef>
          <a:effectRef idx="2">
            <a:schemeClr val="dk1"/>
          </a:effectRef>
          <a:fontRef idx="minor">
            <a:schemeClr val="tx1"/>
          </a:fontRef>
        </p:style>
      </p:cxnSp>
      <p:cxnSp>
        <p:nvCxnSpPr>
          <p:cNvPr id="58" name="直线连接符 144"/>
          <p:cNvCxnSpPr/>
          <p:nvPr/>
        </p:nvCxnSpPr>
        <p:spPr>
          <a:xfrm>
            <a:off x="9632432" y="1332159"/>
            <a:ext cx="0" cy="408500"/>
          </a:xfrm>
          <a:prstGeom prst="line">
            <a:avLst/>
          </a:prstGeom>
          <a:ln w="28575">
            <a:solidFill>
              <a:srgbClr val="C00000"/>
            </a:solidFill>
          </a:ln>
        </p:spPr>
        <p:style>
          <a:lnRef idx="3">
            <a:schemeClr val="dk1"/>
          </a:lnRef>
          <a:fillRef idx="0">
            <a:schemeClr val="dk1"/>
          </a:fillRef>
          <a:effectRef idx="2">
            <a:schemeClr val="dk1"/>
          </a:effectRef>
          <a:fontRef idx="minor">
            <a:schemeClr val="tx1"/>
          </a:fontRef>
        </p:style>
      </p:cxnSp>
      <p:cxnSp>
        <p:nvCxnSpPr>
          <p:cNvPr id="59" name="直线连接符 145"/>
          <p:cNvCxnSpPr/>
          <p:nvPr/>
        </p:nvCxnSpPr>
        <p:spPr>
          <a:xfrm>
            <a:off x="10459970" y="1316905"/>
            <a:ext cx="0" cy="408500"/>
          </a:xfrm>
          <a:prstGeom prst="line">
            <a:avLst/>
          </a:prstGeom>
          <a:ln w="28575">
            <a:solidFill>
              <a:srgbClr val="C00000"/>
            </a:solidFill>
          </a:ln>
        </p:spPr>
        <p:style>
          <a:lnRef idx="3">
            <a:schemeClr val="dk1"/>
          </a:lnRef>
          <a:fillRef idx="0">
            <a:schemeClr val="dk1"/>
          </a:fillRef>
          <a:effectRef idx="2">
            <a:schemeClr val="dk1"/>
          </a:effectRef>
          <a:fontRef idx="minor">
            <a:schemeClr val="tx1"/>
          </a:fontRef>
        </p:style>
      </p:cxnSp>
      <p:cxnSp>
        <p:nvCxnSpPr>
          <p:cNvPr id="60" name="直线连接符 146"/>
          <p:cNvCxnSpPr/>
          <p:nvPr/>
        </p:nvCxnSpPr>
        <p:spPr>
          <a:xfrm>
            <a:off x="1115091" y="1297321"/>
            <a:ext cx="0" cy="408500"/>
          </a:xfrm>
          <a:prstGeom prst="line">
            <a:avLst/>
          </a:prstGeom>
          <a:ln w="28575">
            <a:solidFill>
              <a:srgbClr val="C00000"/>
            </a:solidFill>
          </a:ln>
        </p:spPr>
        <p:style>
          <a:lnRef idx="3">
            <a:schemeClr val="dk1"/>
          </a:lnRef>
          <a:fillRef idx="0">
            <a:schemeClr val="dk1"/>
          </a:fillRef>
          <a:effectRef idx="2">
            <a:schemeClr val="dk1"/>
          </a:effectRef>
          <a:fontRef idx="minor">
            <a:schemeClr val="tx1"/>
          </a:fontRef>
        </p:style>
      </p:cxnSp>
      <p:cxnSp>
        <p:nvCxnSpPr>
          <p:cNvPr id="61" name="直线连接符 147"/>
          <p:cNvCxnSpPr/>
          <p:nvPr/>
        </p:nvCxnSpPr>
        <p:spPr>
          <a:xfrm rot="5400000">
            <a:off x="3830638" y="597423"/>
            <a:ext cx="0" cy="1090612"/>
          </a:xfrm>
          <a:prstGeom prst="line">
            <a:avLst/>
          </a:prstGeom>
          <a:ln w="28575">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62" name="直线连接符 149"/>
          <p:cNvCxnSpPr/>
          <p:nvPr/>
        </p:nvCxnSpPr>
        <p:spPr>
          <a:xfrm rot="5400000">
            <a:off x="8257871" y="596607"/>
            <a:ext cx="0" cy="1090612"/>
          </a:xfrm>
          <a:prstGeom prst="line">
            <a:avLst/>
          </a:prstGeom>
          <a:ln w="28575">
            <a:solidFill>
              <a:schemeClr val="bg1">
                <a:lumMod val="50000"/>
              </a:schemeClr>
            </a:solidFill>
          </a:ln>
        </p:spPr>
        <p:style>
          <a:lnRef idx="3">
            <a:schemeClr val="dk1"/>
          </a:lnRef>
          <a:fillRef idx="0">
            <a:schemeClr val="dk1"/>
          </a:fillRef>
          <a:effectRef idx="2">
            <a:schemeClr val="dk1"/>
          </a:effectRef>
          <a:fontRef idx="minor">
            <a:schemeClr val="tx1"/>
          </a:fontRef>
        </p:style>
      </p:cxnSp>
      <p:sp>
        <p:nvSpPr>
          <p:cNvPr id="7" name="圆角矩形 6"/>
          <p:cNvSpPr/>
          <p:nvPr/>
        </p:nvSpPr>
        <p:spPr bwMode="auto">
          <a:xfrm>
            <a:off x="371927" y="2611870"/>
            <a:ext cx="11636325" cy="4259778"/>
          </a:xfrm>
          <a:prstGeom prst="roundRect">
            <a:avLst>
              <a:gd name="adj" fmla="val 4642"/>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4" name="圆角矩形 23"/>
          <p:cNvSpPr/>
          <p:nvPr/>
        </p:nvSpPr>
        <p:spPr bwMode="auto">
          <a:xfrm>
            <a:off x="404899" y="2665778"/>
            <a:ext cx="3665225" cy="4113374"/>
          </a:xfrm>
          <a:prstGeom prst="roundRect">
            <a:avLst>
              <a:gd name="adj" fmla="val 4403"/>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5" name="文本框 29"/>
          <p:cNvSpPr txBox="1">
            <a:spLocks noChangeArrowheads="1"/>
          </p:cNvSpPr>
          <p:nvPr/>
        </p:nvSpPr>
        <p:spPr bwMode="auto">
          <a:xfrm>
            <a:off x="1378486" y="2704118"/>
            <a:ext cx="2016540" cy="348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a:r>
              <a:rPr lang="en-US" altLang="zh-CN" sz="1600" b="1" dirty="0">
                <a:latin typeface="+mn-ea"/>
                <a:ea typeface="+mn-ea"/>
              </a:rPr>
              <a:t>I</a:t>
            </a:r>
            <a:r>
              <a:rPr lang="zh-CN" altLang="en-US" sz="1600" b="1" dirty="0">
                <a:latin typeface="+mn-ea"/>
                <a:ea typeface="+mn-ea"/>
              </a:rPr>
              <a:t> 项目建设</a:t>
            </a:r>
            <a:endParaRPr lang="zh-CN" altLang="en-US" sz="1600" b="1" dirty="0">
              <a:latin typeface="+mn-ea"/>
              <a:ea typeface="+mn-ea"/>
            </a:endParaRPr>
          </a:p>
        </p:txBody>
      </p:sp>
      <p:sp>
        <p:nvSpPr>
          <p:cNvPr id="26" name="文本框 121"/>
          <p:cNvSpPr txBox="1"/>
          <p:nvPr/>
        </p:nvSpPr>
        <p:spPr>
          <a:xfrm>
            <a:off x="1184556" y="2999677"/>
            <a:ext cx="2492990" cy="285468"/>
          </a:xfrm>
          <a:prstGeom prst="rect">
            <a:avLst/>
          </a:prstGeom>
          <a:noFill/>
        </p:spPr>
        <p:txBody>
          <a:bodyPr wrap="none" rtlCol="0">
            <a:spAutoFit/>
          </a:bodyPr>
          <a:lstStyle/>
          <a:p>
            <a:r>
              <a:rPr kumimoji="1" lang="zh-CN" altLang="en-US" sz="1200" dirty="0">
                <a:latin typeface="+mn-ea"/>
                <a:ea typeface="+mn-ea"/>
              </a:rPr>
              <a:t>塑造独特的中银教育培训产品体系</a:t>
            </a:r>
            <a:endParaRPr kumimoji="1" lang="zh-CN" altLang="en-US" sz="1200" dirty="0">
              <a:latin typeface="+mn-ea"/>
              <a:ea typeface="+mn-ea"/>
            </a:endParaRPr>
          </a:p>
        </p:txBody>
      </p:sp>
      <p:sp>
        <p:nvSpPr>
          <p:cNvPr id="64" name="文本框 19"/>
          <p:cNvSpPr txBox="1">
            <a:spLocks noChangeArrowheads="1"/>
          </p:cNvSpPr>
          <p:nvPr/>
        </p:nvSpPr>
        <p:spPr bwMode="auto">
          <a:xfrm>
            <a:off x="1622886" y="3580704"/>
            <a:ext cx="1328327" cy="1681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a:r>
              <a:rPr lang="en-US" altLang="zh-CN" sz="10000" dirty="0">
                <a:solidFill>
                  <a:schemeClr val="bg1"/>
                </a:solidFill>
              </a:rPr>
              <a:t>1</a:t>
            </a:r>
            <a:endParaRPr lang="zh-CN" altLang="en-US" sz="10000" dirty="0">
              <a:solidFill>
                <a:schemeClr val="bg1"/>
              </a:solidFill>
            </a:endParaRPr>
          </a:p>
        </p:txBody>
      </p:sp>
      <p:sp>
        <p:nvSpPr>
          <p:cNvPr id="63" name="文本框 62"/>
          <p:cNvSpPr txBox="1"/>
          <p:nvPr/>
        </p:nvSpPr>
        <p:spPr>
          <a:xfrm>
            <a:off x="547685" y="3369359"/>
            <a:ext cx="3631623" cy="2733056"/>
          </a:xfrm>
          <a:prstGeom prst="rect">
            <a:avLst/>
          </a:prstGeom>
          <a:noFill/>
        </p:spPr>
        <p:txBody>
          <a:bodyPr wrap="square">
            <a:spAutoFit/>
          </a:bodyPr>
          <a:lstStyle/>
          <a:p>
            <a:pPr>
              <a:lnSpc>
                <a:spcPct val="120000"/>
              </a:lnSpc>
            </a:pPr>
            <a:r>
              <a:rPr lang="en-US" altLang="zh-CN" sz="1100" b="0" dirty="0">
                <a:latin typeface="+mn-ea"/>
                <a:ea typeface="+mn-ea"/>
                <a:cs typeface="+mn-ea"/>
                <a:sym typeface="+mn-lt"/>
              </a:rPr>
              <a:t>1</a:t>
            </a:r>
            <a:r>
              <a:rPr lang="zh-CN" altLang="en-US" sz="1100" b="0" dirty="0">
                <a:latin typeface="+mn-ea"/>
                <a:ea typeface="+mn-ea"/>
                <a:cs typeface="+mn-ea"/>
                <a:sym typeface="+mn-lt"/>
              </a:rPr>
              <a:t>、强化党员党性教育，加强党务工作者能力建设</a:t>
            </a:r>
            <a:endParaRPr lang="en-US" altLang="zh-CN" sz="1100" b="0" dirty="0">
              <a:latin typeface="+mn-ea"/>
              <a:ea typeface="+mn-ea"/>
              <a:cs typeface="+mn-ea"/>
              <a:sym typeface="+mn-lt"/>
            </a:endParaRPr>
          </a:p>
          <a:p>
            <a:pPr>
              <a:lnSpc>
                <a:spcPct val="120000"/>
              </a:lnSpc>
            </a:pPr>
            <a:r>
              <a:rPr lang="en-US" altLang="zh-CN" sz="1100" b="0" dirty="0">
                <a:latin typeface="+mn-ea"/>
                <a:ea typeface="+mn-ea"/>
                <a:cs typeface="+mn-ea"/>
                <a:sym typeface="+mn-lt"/>
              </a:rPr>
              <a:t>2</a:t>
            </a:r>
            <a:r>
              <a:rPr lang="zh-CN" altLang="en-US" sz="1100" b="0" dirty="0">
                <a:latin typeface="+mn-ea"/>
                <a:ea typeface="+mn-ea"/>
                <a:cs typeface="+mn-ea"/>
                <a:sym typeface="+mn-lt"/>
              </a:rPr>
              <a:t>、</a:t>
            </a:r>
            <a:r>
              <a:rPr lang="zh-CN" altLang="zh-CN" sz="1100" b="0" dirty="0">
                <a:latin typeface="+mn-ea"/>
                <a:ea typeface="+mn-ea"/>
              </a:rPr>
              <a:t>建立和落实完善的任职资格标准培训体系</a:t>
            </a:r>
            <a:endParaRPr lang="en-US" altLang="zh-CN" sz="1100" b="0" dirty="0">
              <a:latin typeface="+mn-ea"/>
              <a:ea typeface="+mn-ea"/>
              <a:cs typeface="+mn-ea"/>
              <a:sym typeface="+mn-lt"/>
            </a:endParaRPr>
          </a:p>
          <a:p>
            <a:pPr>
              <a:lnSpc>
                <a:spcPct val="120000"/>
              </a:lnSpc>
            </a:pPr>
            <a:r>
              <a:rPr lang="en-US" altLang="zh-CN" sz="1100" b="0" dirty="0">
                <a:latin typeface="+mn-ea"/>
                <a:ea typeface="+mn-ea"/>
                <a:cs typeface="+mn-ea"/>
                <a:sym typeface="+mn-lt"/>
              </a:rPr>
              <a:t>3</a:t>
            </a:r>
            <a:r>
              <a:rPr lang="zh-CN" altLang="en-US" sz="1100" b="0" dirty="0">
                <a:latin typeface="+mn-ea"/>
                <a:ea typeface="+mn-ea"/>
                <a:cs typeface="+mn-ea"/>
                <a:sym typeface="+mn-lt"/>
              </a:rPr>
              <a:t>、</a:t>
            </a:r>
            <a:r>
              <a:rPr lang="zh-CN" altLang="zh-CN" sz="1100" b="0" dirty="0">
                <a:latin typeface="+mn-ea"/>
                <a:ea typeface="+mn-ea"/>
              </a:rPr>
              <a:t>实施金融专业人才工程，打造行业权威型专家队伍</a:t>
            </a:r>
            <a:endParaRPr lang="zh-CN" altLang="zh-CN" sz="1100" b="0" dirty="0">
              <a:latin typeface="+mn-ea"/>
              <a:ea typeface="+mn-ea"/>
            </a:endParaRPr>
          </a:p>
          <a:p>
            <a:pPr>
              <a:lnSpc>
                <a:spcPct val="120000"/>
              </a:lnSpc>
            </a:pPr>
            <a:r>
              <a:rPr lang="en-US" altLang="zh-CN" sz="1100" b="0" dirty="0">
                <a:latin typeface="+mn-ea"/>
                <a:ea typeface="+mn-ea"/>
              </a:rPr>
              <a:t>4</a:t>
            </a:r>
            <a:r>
              <a:rPr lang="zh-CN" altLang="en-US" sz="1100" b="0" dirty="0">
                <a:latin typeface="+mn-ea"/>
                <a:ea typeface="+mn-ea"/>
              </a:rPr>
              <a:t>、</a:t>
            </a:r>
            <a:r>
              <a:rPr lang="zh-CN" altLang="zh-CN" sz="1100" b="0" dirty="0">
                <a:latin typeface="+mn-ea"/>
                <a:ea typeface="+mn-ea"/>
              </a:rPr>
              <a:t>实施领导力建设工程，做优做精“敏杰”系列项目</a:t>
            </a:r>
            <a:endParaRPr lang="zh-CN" altLang="zh-CN" sz="1100" b="0" dirty="0">
              <a:latin typeface="+mn-ea"/>
              <a:ea typeface="+mn-ea"/>
            </a:endParaRPr>
          </a:p>
          <a:p>
            <a:pPr>
              <a:lnSpc>
                <a:spcPct val="120000"/>
              </a:lnSpc>
            </a:pPr>
            <a:r>
              <a:rPr lang="en-US" altLang="zh-CN" sz="1100" b="0" dirty="0">
                <a:latin typeface="+mn-ea"/>
                <a:ea typeface="+mn-ea"/>
              </a:rPr>
              <a:t>5</a:t>
            </a:r>
            <a:r>
              <a:rPr lang="zh-CN" altLang="en-US" sz="1100" b="0" dirty="0">
                <a:latin typeface="+mn-ea"/>
                <a:ea typeface="+mn-ea"/>
              </a:rPr>
              <a:t>、</a:t>
            </a:r>
            <a:r>
              <a:rPr lang="zh-CN" altLang="zh-CN" sz="1100" b="0" dirty="0">
                <a:latin typeface="+mn-ea"/>
                <a:ea typeface="+mn-ea"/>
              </a:rPr>
              <a:t>聚焦集团战略重点人才，实施数字化、全球化人才锻造工程</a:t>
            </a:r>
            <a:endParaRPr lang="zh-CN" altLang="zh-CN" sz="1100" b="0" dirty="0">
              <a:latin typeface="+mn-ea"/>
              <a:ea typeface="+mn-ea"/>
            </a:endParaRPr>
          </a:p>
          <a:p>
            <a:pPr>
              <a:lnSpc>
                <a:spcPct val="120000"/>
              </a:lnSpc>
            </a:pPr>
            <a:r>
              <a:rPr lang="en-US" altLang="zh-CN" sz="1100" b="0">
                <a:latin typeface="+mn-ea"/>
                <a:ea typeface="+mn-ea"/>
              </a:rPr>
              <a:t>6</a:t>
            </a:r>
            <a:r>
              <a:rPr lang="zh-CN" altLang="en-US" sz="1100" b="0">
                <a:latin typeface="+mn-ea"/>
                <a:ea typeface="+mn-ea"/>
              </a:rPr>
              <a:t>、</a:t>
            </a:r>
            <a:r>
              <a:rPr lang="zh-CN" altLang="zh-CN" sz="1100" b="0">
                <a:latin typeface="+mn-ea"/>
                <a:ea typeface="+mn-ea"/>
              </a:rPr>
              <a:t>基于未来银行核心胜任力打造工程</a:t>
            </a:r>
            <a:endParaRPr lang="zh-CN" altLang="zh-CN" sz="1100" b="0" dirty="0">
              <a:latin typeface="+mn-ea"/>
              <a:ea typeface="+mn-ea"/>
            </a:endParaRPr>
          </a:p>
          <a:p>
            <a:pPr>
              <a:lnSpc>
                <a:spcPct val="120000"/>
              </a:lnSpc>
            </a:pPr>
            <a:r>
              <a:rPr lang="en-US" altLang="zh-CN" sz="1100" b="0" dirty="0">
                <a:latin typeface="+mn-ea"/>
                <a:ea typeface="+mn-ea"/>
                <a:cs typeface="+mn-ea"/>
                <a:sym typeface="+mn-lt"/>
              </a:rPr>
              <a:t>7</a:t>
            </a:r>
            <a:r>
              <a:rPr lang="zh-CN" altLang="en-US" sz="1100" b="0" dirty="0">
                <a:latin typeface="+mn-ea"/>
                <a:ea typeface="+mn-ea"/>
                <a:cs typeface="+mn-ea"/>
                <a:sym typeface="+mn-lt"/>
              </a:rPr>
              <a:t>、</a:t>
            </a:r>
            <a:r>
              <a:rPr lang="zh-CN" altLang="zh-CN" sz="1100" b="0" dirty="0">
                <a:latin typeface="+mn-ea"/>
                <a:ea typeface="+mn-ea"/>
              </a:rPr>
              <a:t>实施密联业务的常态化、分散式、敏捷型日常业务支持培训</a:t>
            </a:r>
            <a:endParaRPr lang="zh-CN" altLang="zh-CN" sz="1100" b="0" dirty="0">
              <a:latin typeface="+mn-ea"/>
              <a:ea typeface="+mn-ea"/>
            </a:endParaRPr>
          </a:p>
          <a:p>
            <a:pPr>
              <a:lnSpc>
                <a:spcPct val="120000"/>
              </a:lnSpc>
            </a:pPr>
            <a:r>
              <a:rPr lang="en-US" altLang="zh-CN" sz="1100" b="0" dirty="0">
                <a:latin typeface="+mn-ea"/>
                <a:ea typeface="+mn-ea"/>
                <a:cs typeface="+mn-ea"/>
                <a:sym typeface="+mn-lt"/>
              </a:rPr>
              <a:t>8</a:t>
            </a:r>
            <a:r>
              <a:rPr lang="zh-CN" altLang="en-US" sz="1100" b="0" dirty="0">
                <a:latin typeface="+mn-ea"/>
                <a:ea typeface="+mn-ea"/>
                <a:cs typeface="+mn-ea"/>
                <a:sym typeface="+mn-lt"/>
              </a:rPr>
              <a:t>、</a:t>
            </a:r>
            <a:r>
              <a:rPr lang="zh-CN" altLang="zh-CN" sz="1100" b="0" dirty="0">
                <a:latin typeface="+mn-ea"/>
                <a:ea typeface="+mn-ea"/>
              </a:rPr>
              <a:t>开展全面风险管理体系培训，实施重点风险管控能力提升</a:t>
            </a:r>
            <a:endParaRPr lang="zh-CN" altLang="zh-CN" sz="1100" b="0" dirty="0">
              <a:latin typeface="+mn-ea"/>
              <a:ea typeface="+mn-ea"/>
            </a:endParaRPr>
          </a:p>
          <a:p>
            <a:pPr>
              <a:lnSpc>
                <a:spcPct val="120000"/>
              </a:lnSpc>
            </a:pPr>
            <a:r>
              <a:rPr lang="en-US" altLang="zh-CN" sz="1100" b="0" dirty="0">
                <a:latin typeface="+mn-ea"/>
                <a:ea typeface="+mn-ea"/>
              </a:rPr>
              <a:t>9</a:t>
            </a:r>
            <a:r>
              <a:rPr lang="zh-CN" altLang="en-US" sz="1100" b="0" dirty="0">
                <a:latin typeface="+mn-ea"/>
                <a:ea typeface="+mn-ea"/>
              </a:rPr>
              <a:t>、</a:t>
            </a:r>
            <a:r>
              <a:rPr lang="zh-CN" altLang="zh-CN" sz="1100" b="0" dirty="0">
                <a:latin typeface="+mn-ea"/>
                <a:ea typeface="+mn-ea"/>
              </a:rPr>
              <a:t>实施网点人才转型工程，进一步助推及夯实业务发展</a:t>
            </a:r>
            <a:endParaRPr lang="zh-CN" altLang="zh-CN" sz="1100" b="0" dirty="0">
              <a:latin typeface="+mn-ea"/>
              <a:ea typeface="+mn-ea"/>
            </a:endParaRPr>
          </a:p>
          <a:p>
            <a:pPr>
              <a:lnSpc>
                <a:spcPct val="120000"/>
              </a:lnSpc>
            </a:pPr>
            <a:r>
              <a:rPr lang="en-US" altLang="zh-CN" sz="1100" b="0" dirty="0">
                <a:latin typeface="+mn-ea"/>
                <a:ea typeface="+mn-ea"/>
              </a:rPr>
              <a:t>10</a:t>
            </a:r>
            <a:r>
              <a:rPr lang="zh-CN" altLang="en-US" sz="1100" b="0" dirty="0">
                <a:latin typeface="+mn-ea"/>
                <a:ea typeface="+mn-ea"/>
              </a:rPr>
              <a:t>、</a:t>
            </a:r>
            <a:r>
              <a:rPr lang="zh-CN" altLang="zh-CN" sz="1100" b="0" dirty="0">
                <a:latin typeface="+mn-ea"/>
                <a:ea typeface="+mn-ea"/>
              </a:rPr>
              <a:t>发展直接面向客户的培训，助推业务发展</a:t>
            </a:r>
            <a:endParaRPr lang="zh-CN" altLang="en-US" sz="1100" b="0" dirty="0">
              <a:latin typeface="+mn-ea"/>
              <a:ea typeface="+mn-ea"/>
              <a:cs typeface="+mn-ea"/>
              <a:sym typeface="+mn-lt"/>
            </a:endParaRPr>
          </a:p>
        </p:txBody>
      </p:sp>
      <p:sp>
        <p:nvSpPr>
          <p:cNvPr id="28" name="圆角矩形 27"/>
          <p:cNvSpPr/>
          <p:nvPr/>
        </p:nvSpPr>
        <p:spPr bwMode="auto">
          <a:xfrm>
            <a:off x="4126693" y="4648113"/>
            <a:ext cx="2628415" cy="2131039"/>
          </a:xfrm>
          <a:prstGeom prst="roundRect">
            <a:avLst>
              <a:gd name="adj" fmla="val 4403"/>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2" name="圆角矩形 31"/>
          <p:cNvSpPr/>
          <p:nvPr/>
        </p:nvSpPr>
        <p:spPr bwMode="auto">
          <a:xfrm>
            <a:off x="4120907" y="2662471"/>
            <a:ext cx="2645692" cy="1949661"/>
          </a:xfrm>
          <a:prstGeom prst="roundRect">
            <a:avLst>
              <a:gd name="adj" fmla="val 4403"/>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2" name="组合 2"/>
          <p:cNvGrpSpPr/>
          <p:nvPr/>
        </p:nvGrpSpPr>
        <p:grpSpPr>
          <a:xfrm>
            <a:off x="4177713" y="2641580"/>
            <a:ext cx="7730455" cy="4137572"/>
            <a:chOff x="3568124" y="2641580"/>
            <a:chExt cx="7730455" cy="4137572"/>
          </a:xfrm>
        </p:grpSpPr>
        <p:sp>
          <p:nvSpPr>
            <p:cNvPr id="21" name="圆角矩形 20"/>
            <p:cNvSpPr/>
            <p:nvPr/>
          </p:nvSpPr>
          <p:spPr bwMode="auto">
            <a:xfrm>
              <a:off x="8790639" y="2641580"/>
              <a:ext cx="2507940" cy="4114678"/>
            </a:xfrm>
            <a:prstGeom prst="roundRect">
              <a:avLst>
                <a:gd name="adj" fmla="val 4403"/>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 name="文本框 29"/>
            <p:cNvSpPr txBox="1">
              <a:spLocks noChangeArrowheads="1"/>
            </p:cNvSpPr>
            <p:nvPr/>
          </p:nvSpPr>
          <p:spPr bwMode="auto">
            <a:xfrm>
              <a:off x="9040043" y="2728366"/>
              <a:ext cx="2050262" cy="348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ctr">
                <a:defRPr sz="1600">
                  <a:solidFill>
                    <a:schemeClr val="tx1"/>
                  </a:solidFill>
                  <a:latin typeface="+mn-ea"/>
                  <a:ea typeface="+mn-ea"/>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r>
                <a:rPr lang="en-US" altLang="zh-CN" dirty="0"/>
                <a:t>V</a:t>
              </a:r>
              <a:r>
                <a:rPr lang="zh-CN" altLang="en-US" dirty="0"/>
                <a:t> 实施保障</a:t>
              </a:r>
              <a:endParaRPr lang="zh-CN" altLang="en-US" dirty="0"/>
            </a:p>
          </p:txBody>
        </p:sp>
        <p:sp>
          <p:nvSpPr>
            <p:cNvPr id="23" name="文本框 117"/>
            <p:cNvSpPr txBox="1"/>
            <p:nvPr/>
          </p:nvSpPr>
          <p:spPr>
            <a:xfrm>
              <a:off x="8984312" y="3079257"/>
              <a:ext cx="2185214" cy="285468"/>
            </a:xfrm>
            <a:prstGeom prst="rect">
              <a:avLst/>
            </a:prstGeom>
            <a:noFill/>
          </p:spPr>
          <p:txBody>
            <a:bodyPr wrap="none" rtlCol="0">
              <a:spAutoFit/>
            </a:bodyPr>
            <a:lstStyle>
              <a:defPPr>
                <a:defRPr lang="en-US"/>
              </a:defPPr>
              <a:lvl1pPr>
                <a:defRPr kumimoji="1" sz="1200">
                  <a:latin typeface="+mn-ea"/>
                  <a:ea typeface="+mn-ea"/>
                </a:defRPr>
              </a:lvl1pPr>
            </a:lstStyle>
            <a:p>
              <a:r>
                <a:rPr lang="zh-CN" altLang="en-US" dirty="0"/>
                <a:t>强化大学治理模式的高效落地</a:t>
              </a:r>
              <a:endParaRPr lang="zh-CN" altLang="en-US" dirty="0"/>
            </a:p>
          </p:txBody>
        </p:sp>
        <p:sp>
          <p:nvSpPr>
            <p:cNvPr id="34" name="文本框 29"/>
            <p:cNvSpPr txBox="1">
              <a:spLocks noChangeArrowheads="1"/>
            </p:cNvSpPr>
            <p:nvPr/>
          </p:nvSpPr>
          <p:spPr bwMode="auto">
            <a:xfrm>
              <a:off x="3814154" y="4685248"/>
              <a:ext cx="2067201" cy="348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ctr">
                <a:defRPr sz="1600">
                  <a:solidFill>
                    <a:schemeClr val="tx1"/>
                  </a:solidFill>
                  <a:latin typeface="+mn-ea"/>
                  <a:ea typeface="+mn-ea"/>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r>
                <a:rPr lang="en-US" altLang="zh-CN" dirty="0"/>
                <a:t>III</a:t>
              </a:r>
              <a:r>
                <a:rPr lang="zh-CN" altLang="en-US" dirty="0"/>
                <a:t> 平台建设</a:t>
              </a:r>
              <a:endParaRPr lang="zh-CN" altLang="en-US" dirty="0"/>
            </a:p>
          </p:txBody>
        </p:sp>
        <p:sp>
          <p:nvSpPr>
            <p:cNvPr id="35" name="文本框 32"/>
            <p:cNvSpPr txBox="1">
              <a:spLocks noChangeArrowheads="1"/>
            </p:cNvSpPr>
            <p:nvPr/>
          </p:nvSpPr>
          <p:spPr bwMode="auto">
            <a:xfrm>
              <a:off x="4273246" y="5037061"/>
              <a:ext cx="1168344" cy="1681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a:r>
                <a:rPr lang="en-US" altLang="zh-CN" sz="10000" dirty="0">
                  <a:solidFill>
                    <a:schemeClr val="bg1"/>
                  </a:solidFill>
                </a:rPr>
                <a:t>3</a:t>
              </a:r>
              <a:endParaRPr lang="zh-CN" altLang="en-US" sz="10000" dirty="0">
                <a:solidFill>
                  <a:schemeClr val="bg1"/>
                </a:solidFill>
              </a:endParaRPr>
            </a:p>
          </p:txBody>
        </p:sp>
        <p:sp>
          <p:nvSpPr>
            <p:cNvPr id="36" name="文本框 119"/>
            <p:cNvSpPr txBox="1"/>
            <p:nvPr/>
          </p:nvSpPr>
          <p:spPr>
            <a:xfrm>
              <a:off x="3720790" y="4978469"/>
              <a:ext cx="2185214" cy="285468"/>
            </a:xfrm>
            <a:prstGeom prst="rect">
              <a:avLst/>
            </a:prstGeom>
            <a:noFill/>
          </p:spPr>
          <p:txBody>
            <a:bodyPr wrap="none" rtlCol="0">
              <a:spAutoFit/>
            </a:bodyPr>
            <a:lstStyle>
              <a:defPPr>
                <a:defRPr lang="en-US"/>
              </a:defPPr>
              <a:lvl1pPr>
                <a:defRPr kumimoji="1" sz="1200">
                  <a:latin typeface="+mn-ea"/>
                  <a:ea typeface="+mn-ea"/>
                </a:defRPr>
              </a:lvl1pPr>
            </a:lstStyle>
            <a:p>
              <a:r>
                <a:rPr lang="zh-CN" altLang="en-US" dirty="0"/>
                <a:t>构建全网互联的智能学习阵地</a:t>
              </a:r>
              <a:endParaRPr lang="zh-CN" altLang="en-US" dirty="0"/>
            </a:p>
          </p:txBody>
        </p:sp>
        <p:sp>
          <p:nvSpPr>
            <p:cNvPr id="37" name="圆角矩形 36"/>
            <p:cNvSpPr/>
            <p:nvPr/>
          </p:nvSpPr>
          <p:spPr bwMode="auto">
            <a:xfrm>
              <a:off x="6207793" y="2641580"/>
              <a:ext cx="2520571" cy="4137572"/>
            </a:xfrm>
            <a:prstGeom prst="roundRect">
              <a:avLst>
                <a:gd name="adj" fmla="val 4403"/>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9" name="文本框 29"/>
            <p:cNvSpPr txBox="1">
              <a:spLocks noChangeArrowheads="1"/>
            </p:cNvSpPr>
            <p:nvPr/>
          </p:nvSpPr>
          <p:spPr bwMode="auto">
            <a:xfrm>
              <a:off x="6525028" y="2774269"/>
              <a:ext cx="2016540" cy="348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ctr">
                <a:defRPr sz="1600">
                  <a:solidFill>
                    <a:schemeClr val="tx1"/>
                  </a:solidFill>
                  <a:latin typeface="+mn-ea"/>
                  <a:ea typeface="+mn-ea"/>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r>
                <a:rPr lang="en-US" altLang="zh-CN" dirty="0"/>
                <a:t>IV</a:t>
              </a:r>
              <a:r>
                <a:rPr lang="zh-CN" altLang="en-US" dirty="0"/>
                <a:t> 资源建设</a:t>
              </a:r>
              <a:endParaRPr lang="zh-CN" altLang="en-US" dirty="0"/>
            </a:p>
          </p:txBody>
        </p:sp>
        <p:sp>
          <p:nvSpPr>
            <p:cNvPr id="40" name="文本框 32"/>
            <p:cNvSpPr txBox="1">
              <a:spLocks noChangeArrowheads="1"/>
            </p:cNvSpPr>
            <p:nvPr/>
          </p:nvSpPr>
          <p:spPr bwMode="auto">
            <a:xfrm>
              <a:off x="9492747" y="3578355"/>
              <a:ext cx="1168344" cy="1681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a:r>
                <a:rPr lang="en-US" altLang="zh-CN" sz="10000" dirty="0">
                  <a:solidFill>
                    <a:schemeClr val="bg1"/>
                  </a:solidFill>
                </a:rPr>
                <a:t>5</a:t>
              </a:r>
              <a:endParaRPr lang="zh-CN" altLang="en-US" sz="10000" dirty="0">
                <a:solidFill>
                  <a:schemeClr val="bg1"/>
                </a:solidFill>
              </a:endParaRPr>
            </a:p>
          </p:txBody>
        </p:sp>
        <p:sp>
          <p:nvSpPr>
            <p:cNvPr id="41" name="文本框 120"/>
            <p:cNvSpPr txBox="1"/>
            <p:nvPr/>
          </p:nvSpPr>
          <p:spPr>
            <a:xfrm>
              <a:off x="6380284" y="3081357"/>
              <a:ext cx="2339102" cy="285468"/>
            </a:xfrm>
            <a:prstGeom prst="rect">
              <a:avLst/>
            </a:prstGeom>
            <a:noFill/>
          </p:spPr>
          <p:txBody>
            <a:bodyPr wrap="none" rtlCol="0">
              <a:spAutoFit/>
            </a:bodyPr>
            <a:lstStyle>
              <a:defPPr>
                <a:defRPr lang="en-US"/>
              </a:defPPr>
              <a:lvl1pPr>
                <a:defRPr kumimoji="1" sz="1200">
                  <a:latin typeface="+mn-ea"/>
                  <a:ea typeface="+mn-ea"/>
                </a:defRPr>
              </a:lvl1pPr>
            </a:lstStyle>
            <a:p>
              <a:r>
                <a:rPr lang="zh-CN" altLang="en-US" dirty="0"/>
                <a:t>建立共享开放的培训资源生态链</a:t>
              </a:r>
              <a:endParaRPr lang="zh-CN" altLang="en-US" dirty="0"/>
            </a:p>
          </p:txBody>
        </p:sp>
        <p:sp>
          <p:nvSpPr>
            <p:cNvPr id="65" name="文本框 32"/>
            <p:cNvSpPr txBox="1">
              <a:spLocks noChangeArrowheads="1"/>
            </p:cNvSpPr>
            <p:nvPr/>
          </p:nvSpPr>
          <p:spPr bwMode="auto">
            <a:xfrm>
              <a:off x="4261797" y="3081357"/>
              <a:ext cx="1168344" cy="1681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a:r>
                <a:rPr lang="en-US" altLang="zh-CN" sz="10000" dirty="0">
                  <a:solidFill>
                    <a:schemeClr val="bg1"/>
                  </a:solidFill>
                </a:rPr>
                <a:t>2</a:t>
              </a:r>
              <a:endParaRPr lang="zh-CN" altLang="en-US" sz="10000" dirty="0">
                <a:solidFill>
                  <a:schemeClr val="bg1"/>
                </a:solidFill>
              </a:endParaRPr>
            </a:p>
          </p:txBody>
        </p:sp>
        <p:sp>
          <p:nvSpPr>
            <p:cNvPr id="67" name="文本框 32"/>
            <p:cNvSpPr txBox="1">
              <a:spLocks noChangeArrowheads="1"/>
            </p:cNvSpPr>
            <p:nvPr/>
          </p:nvSpPr>
          <p:spPr bwMode="auto">
            <a:xfrm>
              <a:off x="6777992" y="3580704"/>
              <a:ext cx="1168344" cy="1681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a:r>
                <a:rPr lang="en-US" altLang="zh-CN" sz="10000" dirty="0">
                  <a:solidFill>
                    <a:schemeClr val="bg1"/>
                  </a:solidFill>
                </a:rPr>
                <a:t>4</a:t>
              </a:r>
              <a:endParaRPr lang="zh-CN" altLang="en-US" sz="10000" dirty="0">
                <a:solidFill>
                  <a:schemeClr val="bg1"/>
                </a:solidFill>
              </a:endParaRPr>
            </a:p>
          </p:txBody>
        </p:sp>
        <p:sp>
          <p:nvSpPr>
            <p:cNvPr id="30" name="文本框 29"/>
            <p:cNvSpPr txBox="1">
              <a:spLocks noChangeArrowheads="1"/>
            </p:cNvSpPr>
            <p:nvPr/>
          </p:nvSpPr>
          <p:spPr bwMode="auto">
            <a:xfrm>
              <a:off x="3766609" y="2706537"/>
              <a:ext cx="2058061" cy="348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ctr">
                <a:defRPr sz="1600">
                  <a:solidFill>
                    <a:schemeClr val="tx1"/>
                  </a:solidFill>
                  <a:latin typeface="+mn-ea"/>
                  <a:ea typeface="+mn-ea"/>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r>
                <a:rPr lang="en-US" altLang="zh-CN" dirty="0"/>
                <a:t>II </a:t>
              </a:r>
              <a:r>
                <a:rPr lang="zh-CN" altLang="en-US" dirty="0"/>
                <a:t>队伍建设</a:t>
              </a:r>
              <a:endParaRPr lang="zh-CN" altLang="en-US" dirty="0"/>
            </a:p>
          </p:txBody>
        </p:sp>
        <p:sp>
          <p:nvSpPr>
            <p:cNvPr id="31" name="文本框 118"/>
            <p:cNvSpPr txBox="1"/>
            <p:nvPr/>
          </p:nvSpPr>
          <p:spPr>
            <a:xfrm>
              <a:off x="3752689" y="3019461"/>
              <a:ext cx="2185214" cy="285468"/>
            </a:xfrm>
            <a:prstGeom prst="rect">
              <a:avLst/>
            </a:prstGeom>
            <a:noFill/>
          </p:spPr>
          <p:txBody>
            <a:bodyPr wrap="none" rtlCol="0">
              <a:spAutoFit/>
            </a:bodyPr>
            <a:lstStyle>
              <a:defPPr>
                <a:defRPr lang="en-US"/>
              </a:defPPr>
              <a:lvl1pPr>
                <a:defRPr kumimoji="1" sz="1200">
                  <a:latin typeface="+mn-ea"/>
                  <a:ea typeface="+mn-ea"/>
                </a:defRPr>
              </a:lvl1pPr>
            </a:lstStyle>
            <a:p>
              <a:r>
                <a:rPr lang="zh-CN" altLang="en-US" dirty="0"/>
                <a:t>打造专业精深的教育培训队伍</a:t>
              </a:r>
              <a:endParaRPr lang="zh-CN" altLang="en-US" dirty="0"/>
            </a:p>
          </p:txBody>
        </p:sp>
        <p:sp>
          <p:nvSpPr>
            <p:cNvPr id="66" name="文本框 65"/>
            <p:cNvSpPr txBox="1"/>
            <p:nvPr/>
          </p:nvSpPr>
          <p:spPr>
            <a:xfrm>
              <a:off x="3568124" y="3256246"/>
              <a:ext cx="2556869" cy="1388265"/>
            </a:xfrm>
            <a:prstGeom prst="rect">
              <a:avLst/>
            </a:prstGeom>
            <a:noFill/>
          </p:spPr>
          <p:txBody>
            <a:bodyPr wrap="square">
              <a:spAutoFit/>
            </a:bodyPr>
            <a:lstStyle/>
            <a:p>
              <a:pPr>
                <a:lnSpc>
                  <a:spcPct val="130000"/>
                </a:lnSpc>
              </a:pPr>
              <a:r>
                <a:rPr lang="en-US" altLang="zh-CN" sz="1100" b="0" dirty="0">
                  <a:latin typeface="+mn-ea"/>
                  <a:ea typeface="+mn-ea"/>
                  <a:cs typeface="+mn-ea"/>
                  <a:sym typeface="+mn-lt"/>
                </a:rPr>
                <a:t>1</a:t>
              </a:r>
              <a:r>
                <a:rPr lang="zh-CN" altLang="en-US" sz="1100" b="0" dirty="0">
                  <a:latin typeface="+mn-ea"/>
                  <a:ea typeface="+mn-ea"/>
                  <a:cs typeface="+mn-ea"/>
                  <a:sym typeface="+mn-lt"/>
                </a:rPr>
                <a:t>、建立培训管理队伍专业成长阶梯，提升专业能力</a:t>
              </a:r>
              <a:endParaRPr lang="zh-CN" altLang="en-US" sz="1100" b="0" dirty="0">
                <a:latin typeface="+mn-ea"/>
                <a:ea typeface="+mn-ea"/>
                <a:cs typeface="+mn-ea"/>
                <a:sym typeface="+mn-lt"/>
              </a:endParaRPr>
            </a:p>
            <a:p>
              <a:pPr>
                <a:lnSpc>
                  <a:spcPct val="130000"/>
                </a:lnSpc>
              </a:pPr>
              <a:r>
                <a:rPr lang="en-US" altLang="zh-CN" sz="1100" b="0" dirty="0">
                  <a:latin typeface="+mn-ea"/>
                  <a:ea typeface="+mn-ea"/>
                  <a:cs typeface="+mn-ea"/>
                  <a:sym typeface="+mn-lt"/>
                </a:rPr>
                <a:t>2</a:t>
              </a:r>
              <a:r>
                <a:rPr lang="zh-CN" altLang="en-US" sz="1100" b="0" dirty="0">
                  <a:latin typeface="+mn-ea"/>
                  <a:ea typeface="+mn-ea"/>
                  <a:cs typeface="+mn-ea"/>
                  <a:sym typeface="+mn-lt"/>
                </a:rPr>
                <a:t>、统一及优化师资管理，加强内训师队伍的价值应用</a:t>
              </a:r>
              <a:endParaRPr lang="zh-CN" altLang="en-US" sz="1100" b="0" dirty="0">
                <a:latin typeface="+mn-ea"/>
                <a:ea typeface="+mn-ea"/>
                <a:cs typeface="+mn-ea"/>
                <a:sym typeface="+mn-lt"/>
              </a:endParaRPr>
            </a:p>
            <a:p>
              <a:pPr>
                <a:lnSpc>
                  <a:spcPct val="130000"/>
                </a:lnSpc>
              </a:pPr>
              <a:r>
                <a:rPr lang="en-US" altLang="zh-CN" sz="1100" b="0" dirty="0">
                  <a:latin typeface="+mn-ea"/>
                  <a:ea typeface="+mn-ea"/>
                  <a:cs typeface="+mn-ea"/>
                  <a:sym typeface="+mn-lt"/>
                </a:rPr>
                <a:t>3</a:t>
              </a:r>
              <a:r>
                <a:rPr lang="zh-CN" altLang="en-US" sz="1100" b="0" dirty="0">
                  <a:latin typeface="+mn-ea"/>
                  <a:ea typeface="+mn-ea"/>
                  <a:cs typeface="+mn-ea"/>
                  <a:sym typeface="+mn-lt"/>
                </a:rPr>
                <a:t>、加强教育发展专员队伍建设，增强业务支持能力</a:t>
              </a:r>
              <a:endParaRPr lang="zh-CN" altLang="en-US" sz="1100" b="0" dirty="0">
                <a:latin typeface="+mn-ea"/>
                <a:ea typeface="+mn-ea"/>
                <a:cs typeface="+mn-ea"/>
                <a:sym typeface="+mn-lt"/>
              </a:endParaRPr>
            </a:p>
          </p:txBody>
        </p:sp>
        <p:sp>
          <p:nvSpPr>
            <p:cNvPr id="70" name="文本框 69"/>
            <p:cNvSpPr txBox="1"/>
            <p:nvPr/>
          </p:nvSpPr>
          <p:spPr>
            <a:xfrm>
              <a:off x="6295368" y="3425238"/>
              <a:ext cx="2432995" cy="1831079"/>
            </a:xfrm>
            <a:prstGeom prst="rect">
              <a:avLst/>
            </a:prstGeom>
            <a:noFill/>
          </p:spPr>
          <p:txBody>
            <a:bodyPr wrap="square">
              <a:spAutoFit/>
            </a:bodyPr>
            <a:lstStyle/>
            <a:p>
              <a:pPr>
                <a:lnSpc>
                  <a:spcPct val="130000"/>
                </a:lnSpc>
              </a:pPr>
              <a:r>
                <a:rPr lang="en-US" altLang="zh-CN" sz="1100" b="0" dirty="0">
                  <a:latin typeface="+mn-lt"/>
                  <a:ea typeface="+mn-ea"/>
                  <a:cs typeface="+mn-ea"/>
                  <a:sym typeface="+mn-lt"/>
                </a:rPr>
                <a:t>1</a:t>
              </a:r>
              <a:r>
                <a:rPr lang="zh-CN" altLang="en-US" sz="1100" b="0" dirty="0">
                  <a:latin typeface="+mn-lt"/>
                  <a:ea typeface="+mn-ea"/>
                  <a:cs typeface="+mn-ea"/>
                  <a:sym typeface="+mn-lt"/>
                </a:rPr>
                <a:t>、四库一箱：建立共享共生内容健全的资源生态链</a:t>
              </a:r>
              <a:endParaRPr lang="zh-CN" altLang="en-US" sz="1100" b="0" dirty="0">
                <a:latin typeface="+mn-lt"/>
                <a:ea typeface="+mn-ea"/>
                <a:cs typeface="+mn-ea"/>
                <a:sym typeface="+mn-lt"/>
              </a:endParaRPr>
            </a:p>
            <a:p>
              <a:pPr>
                <a:lnSpc>
                  <a:spcPct val="130000"/>
                </a:lnSpc>
              </a:pPr>
              <a:r>
                <a:rPr lang="en-US" altLang="zh-CN" sz="1100" b="0" dirty="0">
                  <a:latin typeface="+mn-lt"/>
                  <a:ea typeface="+mn-ea"/>
                  <a:cs typeface="+mn-ea"/>
                  <a:sym typeface="+mn-lt"/>
                </a:rPr>
                <a:t>2</a:t>
              </a:r>
              <a:r>
                <a:rPr lang="zh-CN" altLang="en-US" sz="1100" b="0" dirty="0">
                  <a:latin typeface="+mn-lt"/>
                  <a:ea typeface="+mn-ea"/>
                  <a:cs typeface="+mn-ea"/>
                  <a:sym typeface="+mn-lt"/>
                </a:rPr>
                <a:t>、教学服务：持续升级匹配大学需求的硬件设施和服务水平</a:t>
              </a:r>
              <a:endParaRPr lang="zh-CN" altLang="en-US" sz="1100" b="0" dirty="0">
                <a:latin typeface="+mn-lt"/>
                <a:ea typeface="+mn-ea"/>
                <a:cs typeface="+mn-ea"/>
                <a:sym typeface="+mn-lt"/>
              </a:endParaRPr>
            </a:p>
            <a:p>
              <a:pPr>
                <a:lnSpc>
                  <a:spcPct val="130000"/>
                </a:lnSpc>
              </a:pPr>
              <a:r>
                <a:rPr lang="en-US" altLang="zh-CN" sz="1100" b="0" dirty="0">
                  <a:latin typeface="+mn-lt"/>
                  <a:ea typeface="+mn-ea"/>
                  <a:cs typeface="+mn-ea"/>
                  <a:sym typeface="+mn-lt"/>
                </a:rPr>
                <a:t>3</a:t>
              </a:r>
              <a:r>
                <a:rPr lang="zh-CN" altLang="en-US" sz="1100" b="0" dirty="0">
                  <a:latin typeface="+mn-lt"/>
                  <a:ea typeface="+mn-ea"/>
                  <a:cs typeface="+mn-ea"/>
                  <a:sym typeface="+mn-lt"/>
                </a:rPr>
                <a:t>、机构生态：建立共赢的外部合作体系，培育共生机构</a:t>
              </a:r>
              <a:endParaRPr lang="en-US" altLang="zh-CN" sz="1100" b="0" dirty="0">
                <a:latin typeface="+mn-lt"/>
                <a:ea typeface="+mn-ea"/>
                <a:cs typeface="+mn-ea"/>
                <a:sym typeface="+mn-lt"/>
              </a:endParaRPr>
            </a:p>
            <a:p>
              <a:pPr>
                <a:lnSpc>
                  <a:spcPct val="130000"/>
                </a:lnSpc>
              </a:pPr>
              <a:r>
                <a:rPr lang="en-US" altLang="zh-CN" sz="1100" b="0" dirty="0">
                  <a:latin typeface="+mn-lt"/>
                  <a:ea typeface="+mn-ea"/>
                  <a:cs typeface="+mn-ea"/>
                  <a:sym typeface="+mn-lt"/>
                </a:rPr>
                <a:t>4</a:t>
              </a:r>
              <a:r>
                <a:rPr lang="zh-CN" altLang="en-US" sz="1100" b="0" dirty="0">
                  <a:latin typeface="+mn-lt"/>
                  <a:ea typeface="+mn-ea"/>
                  <a:cs typeface="+mn-ea"/>
                  <a:sym typeface="+mn-lt"/>
                </a:rPr>
                <a:t>、费用生态：构建激励和约束机制，让资金发挥最大效用</a:t>
              </a:r>
              <a:endParaRPr lang="zh-CN" altLang="en-US" sz="1400" b="0" dirty="0">
                <a:latin typeface="+mn-lt"/>
                <a:ea typeface="+mn-ea"/>
                <a:cs typeface="+mn-ea"/>
                <a:sym typeface="+mn-lt"/>
              </a:endParaRPr>
            </a:p>
          </p:txBody>
        </p:sp>
        <p:sp>
          <p:nvSpPr>
            <p:cNvPr id="71" name="文本框 70"/>
            <p:cNvSpPr txBox="1"/>
            <p:nvPr/>
          </p:nvSpPr>
          <p:spPr>
            <a:xfrm>
              <a:off x="8779147" y="3436075"/>
              <a:ext cx="2404648" cy="2049985"/>
            </a:xfrm>
            <a:prstGeom prst="rect">
              <a:avLst/>
            </a:prstGeom>
            <a:noFill/>
          </p:spPr>
          <p:txBody>
            <a:bodyPr wrap="square">
              <a:spAutoFit/>
            </a:bodyPr>
            <a:lstStyle>
              <a:defPPr>
                <a:defRPr lang="en-US"/>
              </a:defPPr>
              <a:lvl1pPr>
                <a:lnSpc>
                  <a:spcPct val="130000"/>
                </a:lnSpc>
                <a:defRPr sz="1050">
                  <a:latin typeface="+mn-lt"/>
                  <a:ea typeface="+mn-ea"/>
                  <a:cs typeface="+mn-ea"/>
                </a:defRPr>
              </a:lvl1pPr>
            </a:lstStyle>
            <a:p>
              <a:r>
                <a:rPr lang="en-US" altLang="zh-CN" sz="1100" b="0" dirty="0">
                  <a:sym typeface="+mn-lt"/>
                </a:rPr>
                <a:t>1</a:t>
              </a:r>
              <a:r>
                <a:rPr lang="zh-CN" altLang="en-US" sz="1100" b="0" dirty="0">
                  <a:sym typeface="+mn-lt"/>
                </a:rPr>
                <a:t>、对接双循环发展新格局，推动产学研创一体化深入落地 </a:t>
              </a:r>
              <a:endParaRPr lang="zh-CN" altLang="en-US" sz="1100" b="0" dirty="0">
                <a:sym typeface="+mn-lt"/>
              </a:endParaRPr>
            </a:p>
            <a:p>
              <a:r>
                <a:rPr lang="en-US" altLang="zh-CN" sz="1100" b="0" dirty="0">
                  <a:sym typeface="+mn-lt"/>
                </a:rPr>
                <a:t>2</a:t>
              </a:r>
              <a:r>
                <a:rPr lang="zh-CN" altLang="en-US" sz="1100" b="0" dirty="0">
                  <a:sym typeface="+mn-lt"/>
                </a:rPr>
                <a:t>、重检专业学院发展规划，建立共赢合作的流程与机制</a:t>
              </a:r>
              <a:endParaRPr lang="zh-CN" altLang="en-US" sz="1100" b="0" dirty="0">
                <a:sym typeface="+mn-lt"/>
              </a:endParaRPr>
            </a:p>
            <a:p>
              <a:r>
                <a:rPr lang="en-US" altLang="zh-CN" sz="1100" b="0" dirty="0">
                  <a:sym typeface="+mn-lt"/>
                </a:rPr>
                <a:t>3</a:t>
              </a:r>
              <a:r>
                <a:rPr lang="zh-CN" altLang="en-US" sz="1100" b="0" dirty="0">
                  <a:sym typeface="+mn-lt"/>
                </a:rPr>
                <a:t>、明晰责权利，开展精细化内部管理</a:t>
              </a:r>
              <a:endParaRPr lang="zh-CN" altLang="en-US" sz="1100" b="0" dirty="0">
                <a:sym typeface="+mn-lt"/>
              </a:endParaRPr>
            </a:p>
            <a:p>
              <a:r>
                <a:rPr lang="en-US" altLang="zh-CN" sz="1100" b="0" dirty="0">
                  <a:sym typeface="+mn-lt"/>
                </a:rPr>
                <a:t>4</a:t>
              </a:r>
              <a:r>
                <a:rPr lang="zh-CN" altLang="en-US" sz="1100" b="0" dirty="0">
                  <a:sym typeface="+mn-lt"/>
                </a:rPr>
                <a:t>、强化配套机制建设，有效保证规划落地实施</a:t>
              </a:r>
              <a:endParaRPr lang="en-US" altLang="zh-CN" sz="1100" b="0" dirty="0">
                <a:sym typeface="+mn-lt"/>
              </a:endParaRPr>
            </a:p>
            <a:p>
              <a:endParaRPr lang="en-US" altLang="zh-CN" sz="1100" b="0" dirty="0">
                <a:sym typeface="+mn-lt"/>
              </a:endParaRPr>
            </a:p>
          </p:txBody>
        </p:sp>
      </p:grpSp>
      <p:sp>
        <p:nvSpPr>
          <p:cNvPr id="68" name="文本框 67"/>
          <p:cNvSpPr txBox="1"/>
          <p:nvPr/>
        </p:nvSpPr>
        <p:spPr>
          <a:xfrm>
            <a:off x="4135084" y="5214297"/>
            <a:ext cx="2769578" cy="1541961"/>
          </a:xfrm>
          <a:prstGeom prst="rect">
            <a:avLst/>
          </a:prstGeom>
          <a:noFill/>
        </p:spPr>
        <p:txBody>
          <a:bodyPr wrap="square">
            <a:spAutoFit/>
          </a:bodyPr>
          <a:lstStyle>
            <a:defPPr>
              <a:defRPr lang="en-US"/>
            </a:defPPr>
            <a:lvl1pPr>
              <a:lnSpc>
                <a:spcPct val="130000"/>
              </a:lnSpc>
              <a:defRPr sz="1050">
                <a:latin typeface="+mn-lt"/>
                <a:ea typeface="+mn-ea"/>
                <a:cs typeface="+mn-ea"/>
              </a:defRPr>
            </a:lvl1pPr>
          </a:lstStyle>
          <a:p>
            <a:r>
              <a:rPr lang="en-US" altLang="zh-CN" b="0" dirty="0">
                <a:sym typeface="+mn-lt"/>
              </a:rPr>
              <a:t>1</a:t>
            </a:r>
            <a:r>
              <a:rPr lang="zh-CN" altLang="en-US" b="0" dirty="0">
                <a:sym typeface="+mn-lt"/>
              </a:rPr>
              <a:t>、大力开展软硬件升级扩容，建立系统综合服务生态</a:t>
            </a:r>
            <a:endParaRPr lang="zh-CN" altLang="en-US" b="0" dirty="0">
              <a:sym typeface="+mn-lt"/>
            </a:endParaRPr>
          </a:p>
          <a:p>
            <a:r>
              <a:rPr lang="en-US" altLang="zh-CN" b="0" dirty="0">
                <a:sym typeface="+mn-lt"/>
              </a:rPr>
              <a:t>2</a:t>
            </a:r>
            <a:r>
              <a:rPr lang="zh-CN" altLang="en-US" b="0" dirty="0">
                <a:sym typeface="+mn-lt"/>
              </a:rPr>
              <a:t>、梳理现有学习体系，构建学习者为中心的线上学习地图</a:t>
            </a:r>
            <a:endParaRPr lang="zh-CN" altLang="en-US" b="0" dirty="0">
              <a:sym typeface="+mn-lt"/>
            </a:endParaRPr>
          </a:p>
          <a:p>
            <a:r>
              <a:rPr lang="en-US" altLang="zh-CN" b="0" dirty="0">
                <a:sym typeface="+mn-lt"/>
              </a:rPr>
              <a:t>3</a:t>
            </a:r>
            <a:r>
              <a:rPr lang="zh-CN" altLang="en-US" b="0" dirty="0">
                <a:sym typeface="+mn-lt"/>
              </a:rPr>
              <a:t>、开展数字化评估，推动数字化学习治理</a:t>
            </a:r>
            <a:endParaRPr lang="zh-CN" altLang="en-US" b="0" dirty="0">
              <a:sym typeface="+mn-lt"/>
            </a:endParaRPr>
          </a:p>
          <a:p>
            <a:r>
              <a:rPr lang="en-US" altLang="zh-CN" b="0" dirty="0">
                <a:sym typeface="+mn-lt"/>
              </a:rPr>
              <a:t>4</a:t>
            </a:r>
            <a:r>
              <a:rPr lang="zh-CN" altLang="en-US" b="0" dirty="0">
                <a:sym typeface="+mn-lt"/>
              </a:rPr>
              <a:t>、开展数字化的知识管理，推进知识创新和知识运营</a:t>
            </a:r>
            <a:endParaRPr lang="zh-CN" altLang="en-US" b="0" dirty="0">
              <a:sym typeface="+mn-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a:xfrm>
            <a:off x="231621" y="54592"/>
            <a:ext cx="10515600" cy="685522"/>
          </a:xfrm>
        </p:spPr>
        <p:txBody>
          <a:bodyPr>
            <a:normAutofit/>
          </a:bodyPr>
          <a:lstStyle/>
          <a:p>
            <a:r>
              <a:rPr lang="zh-CN" altLang="en-US" sz="2000" dirty="0">
                <a:latin typeface="华文中宋" panose="02010600040101010101" pitchFamily="2" charset="-122"/>
                <a:ea typeface="华文中宋" panose="02010600040101010101" pitchFamily="2" charset="-122"/>
              </a:rPr>
              <a:t>中银教育培训“十四五”规划报告内容框架</a:t>
            </a:r>
            <a:endParaRPr lang="zh-CN" altLang="en-US" sz="2000" dirty="0">
              <a:latin typeface="华文中宋" panose="02010600040101010101" pitchFamily="2" charset="-122"/>
              <a:ea typeface="华文中宋" panose="02010600040101010101" pitchFamily="2" charset="-122"/>
            </a:endParaRPr>
          </a:p>
        </p:txBody>
      </p:sp>
      <p:cxnSp>
        <p:nvCxnSpPr>
          <p:cNvPr id="11" name="直接连接符 10"/>
          <p:cNvCxnSpPr/>
          <p:nvPr/>
        </p:nvCxnSpPr>
        <p:spPr>
          <a:xfrm>
            <a:off x="3694470" y="1081106"/>
            <a:ext cx="0" cy="493656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436341" y="1081106"/>
            <a:ext cx="3050716" cy="3693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latin typeface="+mn-ea"/>
              </a:rPr>
              <a:t>整体内容框架</a:t>
            </a:r>
            <a:endParaRPr lang="zh-CN" altLang="en-US" sz="1800" b="1" dirty="0">
              <a:latin typeface="+mn-ea"/>
            </a:endParaRPr>
          </a:p>
        </p:txBody>
      </p:sp>
      <p:graphicFrame>
        <p:nvGraphicFramePr>
          <p:cNvPr id="16" name="表格 15"/>
          <p:cNvGraphicFramePr>
            <a:graphicFrameLocks noGrp="1"/>
          </p:cNvGraphicFramePr>
          <p:nvPr/>
        </p:nvGraphicFramePr>
        <p:xfrm>
          <a:off x="436342" y="1565564"/>
          <a:ext cx="3044370" cy="4452108"/>
        </p:xfrm>
        <a:graphic>
          <a:graphicData uri="http://schemas.openxmlformats.org/drawingml/2006/table">
            <a:tbl>
              <a:tblPr firstRow="1" firstCol="1" bandRow="1">
                <a:tableStyleId>{5940675A-B579-460E-94D1-54222C63F5DA}</a:tableStyleId>
              </a:tblPr>
              <a:tblGrid>
                <a:gridCol w="1058090"/>
                <a:gridCol w="1986280"/>
              </a:tblGrid>
              <a:tr h="742018">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zh-CN" sz="1600" b="1" kern="100" dirty="0">
                          <a:solidFill>
                            <a:schemeClr val="tx1"/>
                          </a:solidFill>
                          <a:effectLst/>
                          <a:latin typeface="+mn-ea"/>
                          <a:ea typeface="+mn-ea"/>
                          <a:cs typeface="+mn-cs"/>
                        </a:rPr>
                        <a:t>第一章</a:t>
                      </a:r>
                      <a:endParaRPr lang="zh-CN" altLang="zh-CN" sz="1600" b="1" kern="100" dirty="0">
                        <a:solidFill>
                          <a:schemeClr val="tx1"/>
                        </a:solidFill>
                        <a:effectLst/>
                        <a:latin typeface="+mn-ea"/>
                        <a:ea typeface="+mn-ea"/>
                        <a:cs typeface="+mn-cs"/>
                      </a:endParaRPr>
                    </a:p>
                  </a:txBody>
                  <a:tcPr marL="50270" marR="50270" marT="0" marB="0" anchor="ctr">
                    <a:noFill/>
                  </a:tcPr>
                </a:tc>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600" b="1" kern="100" dirty="0">
                          <a:solidFill>
                            <a:srgbClr val="C00000"/>
                          </a:solidFill>
                          <a:effectLst/>
                          <a:latin typeface="+mn-ea"/>
                          <a:ea typeface="+mn-ea"/>
                          <a:cs typeface="+mn-cs"/>
                        </a:rPr>
                        <a:t>发展环境</a:t>
                      </a:r>
                      <a:endParaRPr lang="zh-CN" altLang="zh-CN" sz="1600" b="1" kern="100" dirty="0">
                        <a:solidFill>
                          <a:srgbClr val="C00000"/>
                        </a:solidFill>
                        <a:effectLst/>
                        <a:latin typeface="+mn-ea"/>
                        <a:ea typeface="+mn-ea"/>
                        <a:cs typeface="+mn-cs"/>
                      </a:endParaRPr>
                    </a:p>
                  </a:txBody>
                  <a:tcPr marL="50270" marR="50270" marT="0" marB="0" anchor="ctr">
                    <a:noFill/>
                  </a:tcPr>
                </a:tc>
              </a:tr>
              <a:tr h="742018">
                <a:tc>
                  <a:txBody>
                    <a:bodyPr/>
                    <a:lstStyle/>
                    <a:p>
                      <a:pPr algn="ctr">
                        <a:lnSpc>
                          <a:spcPct val="130000"/>
                        </a:lnSpc>
                      </a:pPr>
                      <a:r>
                        <a:rPr lang="zh-CN" sz="1600" b="1" kern="100" dirty="0">
                          <a:effectLst/>
                          <a:latin typeface="+mn-ea"/>
                          <a:ea typeface="+mn-ea"/>
                        </a:rPr>
                        <a:t>第</a:t>
                      </a:r>
                      <a:r>
                        <a:rPr lang="zh-CN" altLang="en-US" sz="1600" b="1" kern="100" dirty="0">
                          <a:effectLst/>
                          <a:latin typeface="+mn-ea"/>
                          <a:ea typeface="+mn-ea"/>
                        </a:rPr>
                        <a:t>二</a:t>
                      </a:r>
                      <a:r>
                        <a:rPr lang="zh-CN" sz="1600" b="1" kern="100" dirty="0">
                          <a:effectLst/>
                          <a:latin typeface="+mn-ea"/>
                          <a:ea typeface="+mn-ea"/>
                        </a:rPr>
                        <a:t>章</a:t>
                      </a:r>
                      <a:endParaRPr lang="zh-CN" sz="1600" b="1" kern="100" dirty="0">
                        <a:effectLst/>
                        <a:latin typeface="+mn-ea"/>
                        <a:ea typeface="+mn-ea"/>
                      </a:endParaRPr>
                    </a:p>
                  </a:txBody>
                  <a:tcPr marL="50270" marR="50270" marT="0" marB="0" anchor="ctr"/>
                </a:tc>
                <a:tc>
                  <a:txBody>
                    <a:bodyPr/>
                    <a:lstStyle/>
                    <a:p>
                      <a:pPr algn="ctr">
                        <a:lnSpc>
                          <a:spcPct val="120000"/>
                        </a:lnSpc>
                      </a:pPr>
                      <a:r>
                        <a:rPr lang="zh-CN" altLang="en-US" sz="1600" b="1" kern="100" dirty="0">
                          <a:solidFill>
                            <a:srgbClr val="C00000"/>
                          </a:solidFill>
                          <a:effectLst/>
                          <a:latin typeface="+mn-ea"/>
                          <a:ea typeface="+mn-ea"/>
                        </a:rPr>
                        <a:t>总体布局</a:t>
                      </a:r>
                      <a:endParaRPr lang="zh-CN" sz="1600" b="1" kern="100" dirty="0">
                        <a:solidFill>
                          <a:srgbClr val="C00000"/>
                        </a:solidFill>
                        <a:effectLst/>
                        <a:latin typeface="+mn-ea"/>
                        <a:ea typeface="+mn-ea"/>
                      </a:endParaRPr>
                    </a:p>
                  </a:txBody>
                  <a:tcPr marL="50270" marR="50270" marT="0" marB="0" anchor="ctr"/>
                </a:tc>
              </a:tr>
              <a:tr h="742018">
                <a:tc>
                  <a:txBody>
                    <a:bodyPr/>
                    <a:lstStyle/>
                    <a:p>
                      <a:pPr algn="ctr">
                        <a:lnSpc>
                          <a:spcPct val="130000"/>
                        </a:lnSpc>
                      </a:pPr>
                      <a:r>
                        <a:rPr lang="zh-CN" altLang="en-US" sz="1600" b="1" kern="100" dirty="0">
                          <a:effectLst/>
                          <a:latin typeface="+mn-ea"/>
                          <a:ea typeface="+mn-ea"/>
                        </a:rPr>
                        <a:t>第三章</a:t>
                      </a:r>
                      <a:endParaRPr lang="zh-CN" sz="1600" b="1" kern="100" dirty="0">
                        <a:effectLst/>
                        <a:latin typeface="+mn-ea"/>
                        <a:ea typeface="+mn-ea"/>
                      </a:endParaRPr>
                    </a:p>
                  </a:txBody>
                  <a:tcPr marL="50270" marR="50270" marT="0" marB="0" anchor="ctr"/>
                </a:tc>
                <a:tc>
                  <a:txBody>
                    <a:bodyPr/>
                    <a:lstStyle/>
                    <a:p>
                      <a:pPr algn="ctr">
                        <a:lnSpc>
                          <a:spcPct val="120000"/>
                        </a:lnSpc>
                      </a:pPr>
                      <a:r>
                        <a:rPr lang="zh-CN" altLang="en-US" sz="1600" b="1" kern="100" dirty="0">
                          <a:solidFill>
                            <a:srgbClr val="C00000"/>
                          </a:solidFill>
                          <a:effectLst/>
                          <a:latin typeface="+mn-ea"/>
                          <a:ea typeface="+mn-ea"/>
                        </a:rPr>
                        <a:t>项目建设</a:t>
                      </a:r>
                      <a:endParaRPr lang="zh-CN" altLang="zh-CN" sz="1600" b="1" kern="100" dirty="0">
                        <a:solidFill>
                          <a:srgbClr val="C00000"/>
                        </a:solidFill>
                        <a:effectLst/>
                        <a:latin typeface="+mn-ea"/>
                        <a:ea typeface="+mn-ea"/>
                      </a:endParaRPr>
                    </a:p>
                  </a:txBody>
                  <a:tcPr marL="50270" marR="50270" marT="0" marB="0" anchor="ctr"/>
                </a:tc>
              </a:tr>
              <a:tr h="742018">
                <a:tc>
                  <a:txBody>
                    <a:bodyPr/>
                    <a:lstStyle/>
                    <a:p>
                      <a:pPr algn="ctr">
                        <a:lnSpc>
                          <a:spcPct val="130000"/>
                        </a:lnSpc>
                      </a:pPr>
                      <a:r>
                        <a:rPr lang="zh-CN" altLang="en-US" sz="1600" b="1" kern="100" dirty="0">
                          <a:effectLst/>
                          <a:latin typeface="+mn-ea"/>
                          <a:ea typeface="+mn-ea"/>
                          <a:cs typeface="Arial" panose="020B0604020202090204" pitchFamily="34" charset="0"/>
                        </a:rPr>
                        <a:t>第四章</a:t>
                      </a:r>
                      <a:endParaRPr lang="zh-CN" sz="1600" b="1" kern="100" dirty="0">
                        <a:effectLst/>
                        <a:latin typeface="+mn-ea"/>
                        <a:ea typeface="+mn-ea"/>
                        <a:cs typeface="Arial" panose="020B0604020202090204" pitchFamily="34" charset="0"/>
                      </a:endParaRPr>
                    </a:p>
                  </a:txBody>
                  <a:tcPr marL="50270" marR="50270" marT="0" marB="0" anchor="ctr"/>
                </a:tc>
                <a:tc>
                  <a:txBody>
                    <a:bodyPr/>
                    <a:lstStyle/>
                    <a:p>
                      <a:pPr algn="ctr">
                        <a:lnSpc>
                          <a:spcPct val="120000"/>
                        </a:lnSpc>
                      </a:pPr>
                      <a:r>
                        <a:rPr lang="zh-CN" altLang="en-US" sz="1600" b="1" kern="100" dirty="0">
                          <a:solidFill>
                            <a:srgbClr val="C00000"/>
                          </a:solidFill>
                          <a:effectLst/>
                          <a:latin typeface="+mn-ea"/>
                          <a:ea typeface="+mn-ea"/>
                        </a:rPr>
                        <a:t>能力建设</a:t>
                      </a:r>
                      <a:endParaRPr lang="zh-CN" sz="1600" b="1" kern="100" dirty="0">
                        <a:solidFill>
                          <a:srgbClr val="C00000"/>
                        </a:solidFill>
                        <a:effectLst/>
                        <a:latin typeface="+mn-ea"/>
                        <a:ea typeface="+mn-ea"/>
                        <a:cs typeface="Arial" panose="020B0604020202090204" pitchFamily="34" charset="0"/>
                      </a:endParaRPr>
                    </a:p>
                  </a:txBody>
                  <a:tcPr marL="50270" marR="50270" marT="0" marB="0" anchor="ctr"/>
                </a:tc>
              </a:tr>
              <a:tr h="742018">
                <a:tc>
                  <a:txBody>
                    <a:bodyPr/>
                    <a:lstStyle/>
                    <a:p>
                      <a:pPr algn="ctr">
                        <a:lnSpc>
                          <a:spcPct val="130000"/>
                        </a:lnSpc>
                      </a:pPr>
                      <a:r>
                        <a:rPr lang="zh-CN" sz="1600" b="1" kern="100" dirty="0">
                          <a:effectLst/>
                          <a:latin typeface="+mn-ea"/>
                          <a:ea typeface="+mn-ea"/>
                        </a:rPr>
                        <a:t>第</a:t>
                      </a:r>
                      <a:r>
                        <a:rPr lang="zh-CN" altLang="en-US" sz="1600" b="1" kern="100" dirty="0">
                          <a:effectLst/>
                          <a:latin typeface="+mn-ea"/>
                          <a:ea typeface="+mn-ea"/>
                        </a:rPr>
                        <a:t>五</a:t>
                      </a:r>
                      <a:r>
                        <a:rPr lang="zh-CN" sz="1600" b="1" kern="100" dirty="0">
                          <a:effectLst/>
                          <a:latin typeface="+mn-ea"/>
                          <a:ea typeface="+mn-ea"/>
                        </a:rPr>
                        <a:t>章</a:t>
                      </a:r>
                      <a:endParaRPr lang="zh-CN" sz="1600" b="1" kern="100" dirty="0">
                        <a:effectLst/>
                        <a:latin typeface="+mn-ea"/>
                        <a:ea typeface="+mn-ea"/>
                        <a:cs typeface="Arial" panose="020B0604020202090204" pitchFamily="34" charset="0"/>
                      </a:endParaRPr>
                    </a:p>
                  </a:txBody>
                  <a:tcPr marL="50270" marR="50270" marT="0" marB="0" anchor="ctr"/>
                </a:tc>
                <a:tc>
                  <a:txBody>
                    <a:bodyPr/>
                    <a:lstStyle/>
                    <a:p>
                      <a:pPr algn="ctr">
                        <a:lnSpc>
                          <a:spcPct val="120000"/>
                        </a:lnSpc>
                      </a:pPr>
                      <a:r>
                        <a:rPr lang="zh-CN" sz="1600" b="1" kern="100" dirty="0">
                          <a:solidFill>
                            <a:srgbClr val="C00000"/>
                          </a:solidFill>
                          <a:effectLst/>
                          <a:latin typeface="+mn-ea"/>
                          <a:ea typeface="+mn-ea"/>
                        </a:rPr>
                        <a:t>资源</a:t>
                      </a:r>
                      <a:r>
                        <a:rPr lang="zh-CN" altLang="en-US" sz="1600" b="1" kern="100" dirty="0">
                          <a:solidFill>
                            <a:srgbClr val="C00000"/>
                          </a:solidFill>
                          <a:effectLst/>
                          <a:latin typeface="+mn-ea"/>
                          <a:ea typeface="+mn-ea"/>
                        </a:rPr>
                        <a:t>建设</a:t>
                      </a:r>
                      <a:endParaRPr lang="zh-CN" sz="1600" b="1" kern="100" dirty="0">
                        <a:solidFill>
                          <a:srgbClr val="C00000"/>
                        </a:solidFill>
                        <a:effectLst/>
                        <a:latin typeface="+mn-ea"/>
                        <a:ea typeface="+mn-ea"/>
                        <a:cs typeface="Arial" panose="020B0604020202090204" pitchFamily="34" charset="0"/>
                      </a:endParaRPr>
                    </a:p>
                  </a:txBody>
                  <a:tcPr marL="50270" marR="50270" marT="0" marB="0" anchor="ctr"/>
                </a:tc>
              </a:tr>
              <a:tr h="742018">
                <a:tc>
                  <a:txBody>
                    <a:bodyPr/>
                    <a:lstStyle/>
                    <a:p>
                      <a:pPr algn="ctr">
                        <a:lnSpc>
                          <a:spcPct val="130000"/>
                        </a:lnSpc>
                      </a:pPr>
                      <a:r>
                        <a:rPr lang="zh-CN" sz="1600" b="1" kern="100" dirty="0">
                          <a:effectLst/>
                          <a:latin typeface="+mn-ea"/>
                          <a:ea typeface="+mn-ea"/>
                        </a:rPr>
                        <a:t>第</a:t>
                      </a:r>
                      <a:r>
                        <a:rPr lang="zh-CN" altLang="en-US" sz="1600" b="1" kern="100" dirty="0">
                          <a:effectLst/>
                          <a:latin typeface="+mn-ea"/>
                          <a:ea typeface="+mn-ea"/>
                        </a:rPr>
                        <a:t>六</a:t>
                      </a:r>
                      <a:r>
                        <a:rPr lang="zh-CN" sz="1600" b="1" kern="100" dirty="0">
                          <a:effectLst/>
                          <a:latin typeface="+mn-ea"/>
                          <a:ea typeface="+mn-ea"/>
                        </a:rPr>
                        <a:t>章</a:t>
                      </a:r>
                      <a:endParaRPr lang="zh-CN" sz="1600" b="1" kern="100" dirty="0">
                        <a:effectLst/>
                        <a:latin typeface="+mn-ea"/>
                        <a:ea typeface="+mn-ea"/>
                        <a:cs typeface="Arial" panose="020B0604020202090204" pitchFamily="34" charset="0"/>
                      </a:endParaRPr>
                    </a:p>
                  </a:txBody>
                  <a:tcPr marL="50270" marR="50270" marT="0" marB="0" anchor="ctr"/>
                </a:tc>
                <a:tc>
                  <a:txBody>
                    <a:bodyPr/>
                    <a:lstStyle/>
                    <a:p>
                      <a:pPr algn="ctr">
                        <a:lnSpc>
                          <a:spcPct val="120000"/>
                        </a:lnSpc>
                      </a:pPr>
                      <a:r>
                        <a:rPr lang="zh-CN" altLang="en-US" sz="1600" b="1" kern="100" dirty="0">
                          <a:solidFill>
                            <a:srgbClr val="C00000"/>
                          </a:solidFill>
                          <a:effectLst/>
                          <a:latin typeface="+mn-ea"/>
                          <a:ea typeface="+mn-ea"/>
                        </a:rPr>
                        <a:t>实施</a:t>
                      </a:r>
                      <a:r>
                        <a:rPr lang="zh-CN" sz="1600" b="1" kern="100" dirty="0">
                          <a:solidFill>
                            <a:srgbClr val="C00000"/>
                          </a:solidFill>
                          <a:effectLst/>
                          <a:latin typeface="+mn-ea"/>
                          <a:ea typeface="+mn-ea"/>
                        </a:rPr>
                        <a:t>保障</a:t>
                      </a:r>
                      <a:endParaRPr lang="zh-CN" sz="1600" b="1" kern="100" dirty="0">
                        <a:solidFill>
                          <a:srgbClr val="C00000"/>
                        </a:solidFill>
                        <a:effectLst/>
                        <a:latin typeface="+mn-ea"/>
                        <a:ea typeface="+mn-ea"/>
                        <a:cs typeface="Arial" panose="020B0604020202090204" pitchFamily="34" charset="0"/>
                      </a:endParaRPr>
                    </a:p>
                  </a:txBody>
                  <a:tcPr marL="50270" marR="50270" marT="0" marB="0" anchor="ctr"/>
                </a:tc>
              </a:tr>
            </a:tbl>
          </a:graphicData>
        </a:graphic>
      </p:graphicFrame>
      <p:sp>
        <p:nvSpPr>
          <p:cNvPr id="17" name="矩形 16"/>
          <p:cNvSpPr/>
          <p:nvPr/>
        </p:nvSpPr>
        <p:spPr>
          <a:xfrm>
            <a:off x="3901885" y="1081106"/>
            <a:ext cx="8160800" cy="3693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latin typeface="+mn-ea"/>
              </a:rPr>
              <a:t>规划思路与内容定位</a:t>
            </a:r>
            <a:endParaRPr lang="zh-CN" altLang="en-US" sz="1800" dirty="0">
              <a:latin typeface="+mn-ea"/>
            </a:endParaRPr>
          </a:p>
        </p:txBody>
      </p:sp>
      <p:graphicFrame>
        <p:nvGraphicFramePr>
          <p:cNvPr id="18" name="表格 17"/>
          <p:cNvGraphicFramePr>
            <a:graphicFrameLocks noGrp="1"/>
          </p:cNvGraphicFramePr>
          <p:nvPr/>
        </p:nvGraphicFramePr>
        <p:xfrm>
          <a:off x="3901885" y="1565564"/>
          <a:ext cx="8160804" cy="4452105"/>
        </p:xfrm>
        <a:graphic>
          <a:graphicData uri="http://schemas.openxmlformats.org/drawingml/2006/table">
            <a:tbl>
              <a:tblPr firstRow="1" firstCol="1" bandRow="1">
                <a:tableStyleId>{5940675A-B579-460E-94D1-54222C63F5DA}</a:tableStyleId>
              </a:tblPr>
              <a:tblGrid>
                <a:gridCol w="8160804"/>
              </a:tblGrid>
              <a:tr h="636015">
                <a:tc>
                  <a:txBody>
                    <a:bodyPr/>
                    <a:lstStyle/>
                    <a:p>
                      <a:pPr algn="just">
                        <a:lnSpc>
                          <a:spcPct val="130000"/>
                        </a:lnSpc>
                      </a:pPr>
                      <a:r>
                        <a:rPr lang="zh-CN" sz="1600" b="0" kern="100" dirty="0">
                          <a:effectLst/>
                          <a:latin typeface="+mn-ea"/>
                          <a:ea typeface="+mn-ea"/>
                        </a:rPr>
                        <a:t>从结构、生态、应用等层面</a:t>
                      </a:r>
                      <a:r>
                        <a:rPr lang="zh-CN" altLang="en-US" sz="1600" b="0" kern="100" dirty="0">
                          <a:effectLst/>
                          <a:latin typeface="+mn-ea"/>
                          <a:ea typeface="+mn-ea"/>
                        </a:rPr>
                        <a:t>分析教育培训面临的客观环境，中银教育培训工作当前优劣势</a:t>
                      </a:r>
                      <a:r>
                        <a:rPr lang="zh-CN" sz="1600" b="0" kern="100" dirty="0">
                          <a:effectLst/>
                          <a:latin typeface="+mn-ea"/>
                          <a:ea typeface="+mn-ea"/>
                        </a:rPr>
                        <a:t>。</a:t>
                      </a:r>
                      <a:endParaRPr lang="zh-CN" sz="1600" b="0" kern="100" dirty="0">
                        <a:effectLst/>
                        <a:latin typeface="+mn-ea"/>
                        <a:ea typeface="+mn-ea"/>
                        <a:cs typeface="Arial" panose="020B0604020202090204" pitchFamily="34" charset="0"/>
                      </a:endParaRPr>
                    </a:p>
                  </a:txBody>
                  <a:tcPr marL="50270" marR="50270" marT="0" marB="0" anchor="ctr">
                    <a:noFill/>
                  </a:tcPr>
                </a:tc>
              </a:tr>
              <a:tr h="636015">
                <a:tc>
                  <a:txBody>
                    <a:bodyPr/>
                    <a:lstStyle/>
                    <a:p>
                      <a:pPr algn="just">
                        <a:lnSpc>
                          <a:spcPct val="130000"/>
                        </a:lnSpc>
                      </a:pPr>
                      <a:r>
                        <a:rPr lang="zh-CN" altLang="en-US" sz="1600" b="0" kern="100" dirty="0">
                          <a:effectLst/>
                          <a:latin typeface="+mn-ea"/>
                          <a:ea typeface="+mn-ea"/>
                          <a:cs typeface="Arial" panose="020B0604020202090204" pitchFamily="34" charset="0"/>
                        </a:rPr>
                        <a:t>描述中银教育培训“十四五”规划的指导思想、基本原则、主要目标。</a:t>
                      </a:r>
                      <a:endParaRPr lang="zh-CN" sz="1600" b="0" kern="100" dirty="0">
                        <a:effectLst/>
                        <a:latin typeface="+mn-ea"/>
                        <a:ea typeface="+mn-ea"/>
                        <a:cs typeface="Arial" panose="020B0604020202090204" pitchFamily="34" charset="0"/>
                      </a:endParaRPr>
                    </a:p>
                  </a:txBody>
                  <a:tcPr marL="50270" marR="50270" marT="0" marB="0" anchor="ctr">
                    <a:noFill/>
                  </a:tcPr>
                </a:tc>
              </a:tr>
              <a:tr h="636015">
                <a:tc>
                  <a:txBody>
                    <a:bodyPr/>
                    <a:lstStyle/>
                    <a:p>
                      <a:pPr algn="just">
                        <a:lnSpc>
                          <a:spcPct val="130000"/>
                        </a:lnSpc>
                      </a:pPr>
                      <a:r>
                        <a:rPr lang="zh-CN" altLang="en-US" sz="1600" b="0" kern="100" dirty="0">
                          <a:effectLst/>
                          <a:latin typeface="+mn-ea"/>
                          <a:ea typeface="+mn-ea"/>
                        </a:rPr>
                        <a:t>规划</a:t>
                      </a:r>
                      <a:r>
                        <a:rPr lang="zh-CN" altLang="en-US" sz="1600" b="0" kern="100" dirty="0">
                          <a:effectLst/>
                          <a:latin typeface="+mn-ea"/>
                          <a:ea typeface="+mn-ea"/>
                          <a:cs typeface="Arial" panose="020B0604020202090204" pitchFamily="34" charset="0"/>
                        </a:rPr>
                        <a:t>中银教育培训“十四五”期间</a:t>
                      </a:r>
                      <a:r>
                        <a:rPr lang="zh-CN" altLang="zh-CN" sz="1600" b="0" kern="100" dirty="0">
                          <a:effectLst/>
                          <a:latin typeface="+mn-ea"/>
                          <a:ea typeface="+mn-ea"/>
                        </a:rPr>
                        <a:t>系统的培训解决方案（</a:t>
                      </a:r>
                      <a:r>
                        <a:rPr lang="zh-CN" altLang="en-US" sz="1600" b="0" kern="100" dirty="0">
                          <a:effectLst/>
                          <a:latin typeface="+mn-ea"/>
                          <a:ea typeface="+mn-ea"/>
                        </a:rPr>
                        <a:t>六类十大重点项目体系建设</a:t>
                      </a:r>
                      <a:r>
                        <a:rPr lang="zh-CN" altLang="zh-CN" sz="1600" b="0" kern="100" dirty="0">
                          <a:effectLst/>
                          <a:latin typeface="+mn-ea"/>
                          <a:ea typeface="+mn-ea"/>
                        </a:rPr>
                        <a:t>）</a:t>
                      </a:r>
                      <a:r>
                        <a:rPr lang="zh-CN" altLang="en-US" sz="1600" b="0" kern="100" dirty="0">
                          <a:effectLst/>
                          <a:latin typeface="+mn-ea"/>
                          <a:ea typeface="+mn-ea"/>
                        </a:rPr>
                        <a:t>，用以指导</a:t>
                      </a:r>
                      <a:r>
                        <a:rPr lang="zh-CN" altLang="zh-CN" sz="1600" b="0" kern="100" dirty="0">
                          <a:effectLst/>
                          <a:latin typeface="+mn-ea"/>
                          <a:ea typeface="+mn-ea"/>
                        </a:rPr>
                        <a:t>各专业学院、分支机构、培训</a:t>
                      </a:r>
                      <a:r>
                        <a:rPr lang="zh-CN" altLang="en-US" sz="1600" b="0" kern="100" dirty="0">
                          <a:effectLst/>
                          <a:latin typeface="+mn-ea"/>
                          <a:ea typeface="+mn-ea"/>
                        </a:rPr>
                        <a:t>中心开展</a:t>
                      </a:r>
                      <a:r>
                        <a:rPr lang="zh-CN" altLang="zh-CN" sz="1600" b="0" kern="100" dirty="0">
                          <a:effectLst/>
                          <a:latin typeface="+mn-ea"/>
                          <a:ea typeface="+mn-ea"/>
                        </a:rPr>
                        <a:t>培训</a:t>
                      </a:r>
                      <a:r>
                        <a:rPr lang="zh-CN" altLang="en-US" sz="1600" b="0" kern="100" dirty="0">
                          <a:effectLst/>
                          <a:latin typeface="+mn-ea"/>
                          <a:ea typeface="+mn-ea"/>
                        </a:rPr>
                        <a:t>工作。</a:t>
                      </a:r>
                      <a:endParaRPr lang="zh-CN" sz="1600" b="0" kern="100" dirty="0">
                        <a:effectLst/>
                        <a:latin typeface="+mn-ea"/>
                        <a:ea typeface="+mn-ea"/>
                        <a:cs typeface="Arial" panose="020B0604020202090204" pitchFamily="34" charset="0"/>
                      </a:endParaRPr>
                    </a:p>
                  </a:txBody>
                  <a:tcPr marL="50270" marR="50270" marT="0" marB="0" anchor="ctr">
                    <a:noFill/>
                  </a:tcPr>
                </a:tc>
              </a:tr>
              <a:tr h="636015">
                <a:tc>
                  <a:txBody>
                    <a:bodyPr/>
                    <a:lstStyle/>
                    <a:p>
                      <a:pPr algn="just">
                        <a:lnSpc>
                          <a:spcPct val="130000"/>
                        </a:lnSpc>
                      </a:pPr>
                      <a:r>
                        <a:rPr lang="zh-CN" altLang="en-US" sz="1600" b="0" kern="100" dirty="0">
                          <a:effectLst/>
                          <a:latin typeface="+mn-ea"/>
                          <a:ea typeface="+mn-ea"/>
                          <a:cs typeface="Arial" panose="020B0604020202090204" pitchFamily="34" charset="0"/>
                        </a:rPr>
                        <a:t>规划中银教育培训“十四五”期间队伍建设与平台建设，其中队伍建设又包括</a:t>
                      </a:r>
                      <a:r>
                        <a:rPr lang="zh-CN" altLang="en-US" sz="1600" b="0" kern="100" dirty="0">
                          <a:effectLst/>
                          <a:latin typeface="+mn-ea"/>
                          <a:ea typeface="+mn-ea"/>
                        </a:rPr>
                        <a:t>培训管理员队伍、内训师队与教育发展专员三支队伍。</a:t>
                      </a:r>
                      <a:endParaRPr lang="zh-CN" sz="1600" b="0" kern="100" dirty="0">
                        <a:effectLst/>
                        <a:latin typeface="+mn-ea"/>
                        <a:ea typeface="+mn-ea"/>
                        <a:cs typeface="Arial" panose="020B0604020202090204" pitchFamily="34" charset="0"/>
                      </a:endParaRPr>
                    </a:p>
                  </a:txBody>
                  <a:tcPr marL="50270" marR="50270" marT="0" marB="0" anchor="ctr">
                    <a:noFill/>
                  </a:tcPr>
                </a:tc>
              </a:tr>
              <a:tr h="636015">
                <a:tc>
                  <a:txBody>
                    <a:bodyPr/>
                    <a:lstStyle/>
                    <a:p>
                      <a:pPr algn="just">
                        <a:lnSpc>
                          <a:spcPct val="130000"/>
                        </a:lnSpc>
                      </a:pPr>
                      <a:r>
                        <a:rPr lang="zh-CN" altLang="en-US" sz="1600" b="0" kern="100" dirty="0">
                          <a:effectLst/>
                          <a:latin typeface="+mn-ea"/>
                          <a:ea typeface="+mn-ea"/>
                        </a:rPr>
                        <a:t>规划</a:t>
                      </a:r>
                      <a:r>
                        <a:rPr lang="zh-CN" altLang="en-US" sz="1600" b="0" kern="100" dirty="0">
                          <a:effectLst/>
                          <a:latin typeface="+mn-ea"/>
                          <a:ea typeface="+mn-ea"/>
                          <a:cs typeface="Arial" panose="020B0604020202090204" pitchFamily="34" charset="0"/>
                        </a:rPr>
                        <a:t>中银教育培训“十四五”期间</a:t>
                      </a:r>
                      <a:r>
                        <a:rPr lang="zh-CN" sz="1600" b="0" kern="100" dirty="0">
                          <a:effectLst/>
                          <a:latin typeface="+mn-ea"/>
                          <a:ea typeface="+mn-ea"/>
                        </a:rPr>
                        <a:t>资源</a:t>
                      </a:r>
                      <a:r>
                        <a:rPr lang="zh-CN" altLang="en-US" sz="1600" b="0" kern="100" dirty="0">
                          <a:effectLst/>
                          <a:latin typeface="+mn-ea"/>
                          <a:ea typeface="+mn-ea"/>
                        </a:rPr>
                        <a:t>建设</a:t>
                      </a:r>
                      <a:r>
                        <a:rPr lang="zh-CN" sz="1600" b="0" kern="100" dirty="0">
                          <a:effectLst/>
                          <a:latin typeface="+mn-ea"/>
                          <a:ea typeface="+mn-ea"/>
                        </a:rPr>
                        <a:t>。</a:t>
                      </a:r>
                      <a:r>
                        <a:rPr lang="zh-CN" altLang="en-US" sz="1600" b="0" kern="100" dirty="0">
                          <a:effectLst/>
                          <a:latin typeface="+mn-ea"/>
                          <a:ea typeface="+mn-ea"/>
                        </a:rPr>
                        <a:t>包括四库一箱</a:t>
                      </a:r>
                      <a:r>
                        <a:rPr lang="zh-CN" sz="1600" b="0" kern="100" dirty="0">
                          <a:effectLst/>
                          <a:latin typeface="+mn-ea"/>
                          <a:ea typeface="+mn-ea"/>
                        </a:rPr>
                        <a:t>、</a:t>
                      </a:r>
                      <a:r>
                        <a:rPr lang="zh-CN" altLang="en-US" sz="1600" b="0" kern="100" dirty="0">
                          <a:effectLst/>
                          <a:latin typeface="+mn-ea"/>
                          <a:ea typeface="+mn-ea"/>
                        </a:rPr>
                        <a:t>内部</a:t>
                      </a:r>
                      <a:r>
                        <a:rPr lang="zh-CN" altLang="zh-CN" sz="1600" b="0" kern="100" dirty="0">
                          <a:effectLst/>
                          <a:latin typeface="+mn-ea"/>
                          <a:ea typeface="+mn-ea"/>
                        </a:rPr>
                        <a:t>实体</a:t>
                      </a:r>
                      <a:r>
                        <a:rPr lang="zh-CN" altLang="en-US" sz="1600" b="0" kern="100" dirty="0">
                          <a:effectLst/>
                          <a:latin typeface="+mn-ea"/>
                          <a:ea typeface="+mn-ea"/>
                        </a:rPr>
                        <a:t>基地教学服务建设、外部合作生态体系构建等事项</a:t>
                      </a:r>
                      <a:r>
                        <a:rPr lang="zh-CN" sz="1600" b="0" kern="100" dirty="0">
                          <a:effectLst/>
                          <a:latin typeface="+mn-ea"/>
                          <a:ea typeface="+mn-ea"/>
                        </a:rPr>
                        <a:t>，是实现中国银行十四五战略落地的重要资源支撑。</a:t>
                      </a:r>
                      <a:endParaRPr lang="zh-CN" sz="1600" b="0" kern="100" dirty="0">
                        <a:effectLst/>
                        <a:latin typeface="+mn-ea"/>
                        <a:ea typeface="+mn-ea"/>
                        <a:cs typeface="Arial" panose="020B0604020202090204" pitchFamily="34" charset="0"/>
                      </a:endParaRPr>
                    </a:p>
                  </a:txBody>
                  <a:tcPr marL="50270" marR="50270" marT="0" marB="0" anchor="ctr"/>
                </a:tc>
              </a:tr>
              <a:tr h="636015">
                <a:tc>
                  <a:txBody>
                    <a:bodyPr/>
                    <a:lstStyle/>
                    <a:p>
                      <a:pPr algn="just">
                        <a:lnSpc>
                          <a:spcPct val="130000"/>
                        </a:lnSpc>
                      </a:pPr>
                      <a:r>
                        <a:rPr lang="zh-CN" sz="1600" b="0" kern="100" dirty="0">
                          <a:effectLst/>
                          <a:latin typeface="+mn-ea"/>
                          <a:ea typeface="+mn-ea"/>
                        </a:rPr>
                        <a:t>阐述</a:t>
                      </a:r>
                      <a:r>
                        <a:rPr lang="zh-CN" altLang="en-US" sz="1600" b="0" kern="100" dirty="0">
                          <a:effectLst/>
                          <a:latin typeface="+mn-ea"/>
                          <a:ea typeface="+mn-ea"/>
                          <a:cs typeface="Arial" panose="020B0604020202090204" pitchFamily="34" charset="0"/>
                        </a:rPr>
                        <a:t>中银教育培训“十四五”期间产学研创、配套机制建设、培训</a:t>
                      </a:r>
                      <a:r>
                        <a:rPr lang="zh-CN" altLang="en-US" sz="1600" b="0" kern="100" dirty="0">
                          <a:effectLst/>
                          <a:latin typeface="+mn-ea"/>
                          <a:ea typeface="+mn-ea"/>
                        </a:rPr>
                        <a:t>费用管理等</a:t>
                      </a:r>
                      <a:r>
                        <a:rPr lang="zh-CN" altLang="en-US" sz="1600" b="0" kern="100" dirty="0">
                          <a:effectLst/>
                          <a:latin typeface="+mn-ea"/>
                          <a:ea typeface="+mn-ea"/>
                          <a:cs typeface="Arial" panose="020B0604020202090204" pitchFamily="34" charset="0"/>
                        </a:rPr>
                        <a:t>落地支撑重点事项</a:t>
                      </a:r>
                      <a:r>
                        <a:rPr lang="zh-CN" altLang="en-US" sz="1600" b="0" kern="100" dirty="0">
                          <a:effectLst/>
                          <a:latin typeface="+mn-ea"/>
                          <a:ea typeface="+mn-ea"/>
                        </a:rPr>
                        <a:t>。</a:t>
                      </a:r>
                      <a:endParaRPr lang="zh-CN" sz="1600" b="0" kern="100" dirty="0">
                        <a:effectLst/>
                        <a:latin typeface="+mn-ea"/>
                        <a:ea typeface="+mn-ea"/>
                        <a:cs typeface="Arial" panose="020B0604020202090204" pitchFamily="34" charset="0"/>
                      </a:endParaRPr>
                    </a:p>
                  </a:txBody>
                  <a:tcPr marL="50270" marR="50270" marT="0" marB="0" anchor="ctr"/>
                </a:tc>
              </a:tr>
              <a:tr h="636015">
                <a:tc>
                  <a:txBody>
                    <a:bodyPr/>
                    <a:lstStyle/>
                    <a:p>
                      <a:pPr algn="l">
                        <a:lnSpc>
                          <a:spcPct val="130000"/>
                        </a:lnSpc>
                      </a:pPr>
                      <a:r>
                        <a:rPr lang="zh-CN" altLang="en-US" sz="1600" b="0" kern="100" dirty="0">
                          <a:effectLst/>
                          <a:latin typeface="+mn-ea"/>
                          <a:ea typeface="+mn-ea"/>
                          <a:cs typeface="Arial" panose="020B0604020202090204" pitchFamily="34" charset="0"/>
                        </a:rPr>
                        <a:t>围绕六大培训类型，细化各重点培训项目的目标、对象、范围等核心要素。</a:t>
                      </a:r>
                      <a:endParaRPr lang="en-US" altLang="zh-CN" sz="1600" b="0" kern="100" dirty="0">
                        <a:effectLst/>
                        <a:latin typeface="+mn-ea"/>
                        <a:ea typeface="+mn-ea"/>
                        <a:cs typeface="Arial" panose="020B0604020202090204" pitchFamily="34" charset="0"/>
                      </a:endParaRPr>
                    </a:p>
                    <a:p>
                      <a:pPr algn="l">
                        <a:lnSpc>
                          <a:spcPct val="130000"/>
                        </a:lnSpc>
                      </a:pPr>
                      <a:r>
                        <a:rPr lang="zh-CN" altLang="en-US" sz="1600" b="0" kern="100" dirty="0">
                          <a:effectLst/>
                          <a:latin typeface="+mn-ea"/>
                          <a:ea typeface="+mn-ea"/>
                          <a:cs typeface="Arial" panose="020B0604020202090204" pitchFamily="34" charset="0"/>
                        </a:rPr>
                        <a:t>细化中银教育培训“十四五”期间规划实施步骤与重点工作。</a:t>
                      </a:r>
                      <a:endParaRPr lang="zh-CN" sz="1600" b="0" kern="100" dirty="0">
                        <a:effectLst/>
                        <a:latin typeface="+mn-ea"/>
                        <a:ea typeface="+mn-ea"/>
                        <a:cs typeface="Arial" panose="020B0604020202090204" pitchFamily="34" charset="0"/>
                      </a:endParaRPr>
                    </a:p>
                  </a:txBody>
                  <a:tcPr marL="50270" marR="50270" marT="0" marB="0" anchor="ctr"/>
                </a:tc>
              </a:tr>
            </a:tbl>
          </a:graphicData>
        </a:graphic>
      </p:graphicFrame>
      <p:sp>
        <p:nvSpPr>
          <p:cNvPr id="9" name="灯片编号占位符 1"/>
          <p:cNvSpPr>
            <a:spLocks noGrp="1"/>
          </p:cNvSpPr>
          <p:nvPr>
            <p:ph type="sldNum" sz="quarter" idx="10"/>
          </p:nvPr>
        </p:nvSpPr>
        <p:spPr>
          <a:xfrm>
            <a:off x="9407770" y="6608769"/>
            <a:ext cx="2540000" cy="170496"/>
          </a:xfrm>
        </p:spPr>
        <p:txBody>
          <a:bodyPr/>
          <a:lstStyle/>
          <a:p>
            <a:pPr>
              <a:defRPr/>
            </a:pPr>
            <a:fld id="{52DF7D90-B49A-4800-BC0D-FE9A7C3546DE}" type="slidenum">
              <a:rPr lang="zh-CN" altLang="en-US" smtClean="0">
                <a:latin typeface="+mn-lt"/>
                <a:ea typeface="+mn-ea"/>
                <a:cs typeface="+mn-ea"/>
                <a:sym typeface="+mn-lt"/>
              </a:rPr>
            </a:fld>
            <a:endParaRPr lang="en-US" altLang="zh-CN">
              <a:latin typeface="+mn-lt"/>
              <a:ea typeface="+mn-ea"/>
              <a:cs typeface="+mn-ea"/>
              <a:sym typeface="+mn-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3"/>
          <p:cNvCxnSpPr/>
          <p:nvPr/>
        </p:nvCxnSpPr>
        <p:spPr>
          <a:xfrm>
            <a:off x="2677241" y="1992092"/>
            <a:ext cx="0" cy="405324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 name="幻灯片编号占位符 3"/>
          <p:cNvSpPr>
            <a:spLocks noGrp="1"/>
          </p:cNvSpPr>
          <p:nvPr>
            <p:ph type="sldNum" sz="quarter" idx="10"/>
          </p:nvPr>
        </p:nvSpPr>
        <p:spPr/>
        <p:txBody>
          <a:bodyPr/>
          <a:lstStyle/>
          <a:p>
            <a:fld id="{54FC1700-FD45-9445-8980-62004CCA2937}" type="slidenum">
              <a:rPr lang="ko-KR" altLang="en-US" smtClean="0">
                <a:latin typeface="+mn-lt"/>
                <a:ea typeface="+mn-ea"/>
                <a:cs typeface="+mn-ea"/>
                <a:sym typeface="+mn-lt"/>
              </a:rPr>
            </a:fld>
            <a:endParaRPr lang="en-US" altLang="ko-KR">
              <a:latin typeface="+mn-lt"/>
              <a:ea typeface="+mn-ea"/>
              <a:cs typeface="+mn-ea"/>
              <a:sym typeface="+mn-lt"/>
            </a:endParaRPr>
          </a:p>
        </p:txBody>
      </p:sp>
      <p:sp>
        <p:nvSpPr>
          <p:cNvPr id="2" name="标题 1"/>
          <p:cNvSpPr>
            <a:spLocks noGrp="1"/>
          </p:cNvSpPr>
          <p:nvPr>
            <p:ph type="title"/>
          </p:nvPr>
        </p:nvSpPr>
        <p:spPr>
          <a:xfrm>
            <a:off x="644525" y="93937"/>
            <a:ext cx="10515600" cy="685522"/>
          </a:xfrm>
        </p:spPr>
        <p:txBody>
          <a:bodyPr vert="horz" lIns="91440" tIns="45720" rIns="91440" bIns="45720" rtlCol="0" anchor="ctr">
            <a:noAutofit/>
          </a:bodyPr>
          <a:lstStyle/>
          <a:p>
            <a:pPr eaLnBrk="0" fontAlgn="base" hangingPunct="0">
              <a:spcAft>
                <a:spcPct val="0"/>
              </a:spcAft>
            </a:pPr>
            <a:r>
              <a:rPr kumimoji="1" lang="zh-CN" altLang="en-US" sz="2000" b="1" dirty="0">
                <a:solidFill>
                  <a:srgbClr val="000000"/>
                </a:solidFill>
                <a:latin typeface="+mn-lt"/>
                <a:ea typeface="+mn-ea"/>
                <a:cs typeface="+mn-ea"/>
                <a:sym typeface="+mn-lt"/>
              </a:rPr>
              <a:t>目录</a:t>
            </a:r>
            <a:endParaRPr kumimoji="1" lang="zh-CN" altLang="en-US" sz="2000" b="1" dirty="0">
              <a:solidFill>
                <a:srgbClr val="000000"/>
              </a:solidFill>
              <a:latin typeface="+mn-lt"/>
              <a:ea typeface="+mn-ea"/>
              <a:cs typeface="+mn-ea"/>
              <a:sym typeface="+mn-lt"/>
            </a:endParaRPr>
          </a:p>
        </p:txBody>
      </p:sp>
      <p:sp>
        <p:nvSpPr>
          <p:cNvPr id="5" name="矩形 4"/>
          <p:cNvSpPr/>
          <p:nvPr/>
        </p:nvSpPr>
        <p:spPr>
          <a:xfrm>
            <a:off x="2033865" y="4051337"/>
            <a:ext cx="8643910" cy="50757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cs typeface="+mn-ea"/>
              <a:sym typeface="+mn-lt"/>
            </a:endParaRPr>
          </a:p>
        </p:txBody>
      </p:sp>
      <p:sp>
        <p:nvSpPr>
          <p:cNvPr id="6" name="文本框 5"/>
          <p:cNvSpPr txBox="1"/>
          <p:nvPr/>
        </p:nvSpPr>
        <p:spPr>
          <a:xfrm>
            <a:off x="3033141" y="2470098"/>
            <a:ext cx="7874745" cy="2137508"/>
          </a:xfrm>
          <a:prstGeom prst="rect">
            <a:avLst/>
          </a:prstGeom>
          <a:noFill/>
        </p:spPr>
        <p:txBody>
          <a:bodyPr wrap="square" rtlCol="0">
            <a:spAutoFit/>
          </a:bodyPr>
          <a:lstStyle/>
          <a:p>
            <a:pPr marL="633095" indent="-633095">
              <a:lnSpc>
                <a:spcPct val="200000"/>
              </a:lnSpc>
              <a:buFont typeface="+mj-ea"/>
              <a:buAutoNum type="ea1JpnChsDbPeriod"/>
            </a:pPr>
            <a:r>
              <a:rPr lang="zh-CN" altLang="en-US" sz="2215" dirty="0">
                <a:solidFill>
                  <a:schemeClr val="tx1"/>
                </a:solidFill>
                <a:latin typeface="+mn-lt"/>
                <a:ea typeface="+mn-ea"/>
                <a:cs typeface="+mn-ea"/>
                <a:sym typeface="+mn-lt"/>
              </a:rPr>
              <a:t>调研与现状总结（外部机会威胁与内部优劣势）</a:t>
            </a:r>
            <a:endParaRPr lang="en-US" altLang="zh-CN" sz="2215" dirty="0">
              <a:solidFill>
                <a:schemeClr val="tx1"/>
              </a:solidFill>
              <a:latin typeface="+mn-lt"/>
              <a:ea typeface="+mn-ea"/>
              <a:cs typeface="+mn-ea"/>
              <a:sym typeface="+mn-lt"/>
            </a:endParaRPr>
          </a:p>
          <a:p>
            <a:pPr marL="562610" indent="-562610">
              <a:lnSpc>
                <a:spcPct val="200000"/>
              </a:lnSpc>
              <a:buFont typeface="+mj-lt"/>
              <a:buAutoNum type="ea1JpnChsDbPeriod"/>
            </a:pPr>
            <a:r>
              <a:rPr lang="zh-CN" altLang="en-US" sz="2215" dirty="0">
                <a:solidFill>
                  <a:schemeClr val="tx1"/>
                </a:solidFill>
                <a:latin typeface="+mn-lt"/>
                <a:ea typeface="+mn-ea"/>
                <a:cs typeface="+mn-ea"/>
                <a:sym typeface="+mn-lt"/>
              </a:rPr>
              <a:t>战略规划（目标愿景、关键举措、重点任务）</a:t>
            </a:r>
            <a:endParaRPr lang="en-US" altLang="zh-CN" sz="2215" dirty="0">
              <a:solidFill>
                <a:schemeClr val="tx1"/>
              </a:solidFill>
              <a:latin typeface="+mn-lt"/>
              <a:ea typeface="+mn-ea"/>
              <a:cs typeface="+mn-ea"/>
              <a:sym typeface="+mn-lt"/>
            </a:endParaRPr>
          </a:p>
          <a:p>
            <a:pPr marL="562610" indent="-562610">
              <a:lnSpc>
                <a:spcPct val="200000"/>
              </a:lnSpc>
              <a:buFont typeface="+mj-lt"/>
              <a:buAutoNum type="ea1JpnChsDbPeriod"/>
            </a:pPr>
            <a:r>
              <a:rPr lang="zh-CN" altLang="en-US" sz="2215" dirty="0">
                <a:solidFill>
                  <a:schemeClr val="bg1"/>
                </a:solidFill>
                <a:latin typeface="+mn-lt"/>
                <a:ea typeface="+mn-ea"/>
                <a:cs typeface="+mn-ea"/>
                <a:sym typeface="+mn-lt"/>
              </a:rPr>
              <a:t>十四五规划报告三级内容体系展示</a:t>
            </a:r>
            <a:endParaRPr lang="en-US" altLang="zh-CN" sz="2215" dirty="0">
              <a:solidFill>
                <a:schemeClr val="bg1"/>
              </a:solidFill>
              <a:latin typeface="+mn-lt"/>
              <a:ea typeface="+mn-ea"/>
              <a:cs typeface="+mn-ea"/>
              <a:sym typeface="+mn-lt"/>
            </a:endParaRPr>
          </a:p>
        </p:txBody>
      </p:sp>
      <p:sp>
        <p:nvSpPr>
          <p:cNvPr id="8" name="Text Box 4"/>
          <p:cNvSpPr txBox="1">
            <a:spLocks noChangeArrowheads="1"/>
          </p:cNvSpPr>
          <p:nvPr/>
        </p:nvSpPr>
        <p:spPr bwMode="auto">
          <a:xfrm>
            <a:off x="719258" y="735109"/>
            <a:ext cx="10828217" cy="359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1200">
                <a:solidFill>
                  <a:srgbClr val="000000"/>
                </a:solidFill>
                <a:latin typeface="Arial" panose="020B0604020202090204" pitchFamily="34" charset="0"/>
                <a:ea typeface="-윤고딕130" charset="0"/>
              </a:defRPr>
            </a:lvl1pPr>
            <a:lvl2pPr marL="742950" indent="-285750" eaLnBrk="0" hangingPunct="0">
              <a:defRPr sz="1200">
                <a:solidFill>
                  <a:srgbClr val="000000"/>
                </a:solidFill>
                <a:latin typeface="Arial" panose="020B0604020202090204" pitchFamily="34" charset="0"/>
                <a:ea typeface="-윤고딕130" charset="0"/>
              </a:defRPr>
            </a:lvl2pPr>
            <a:lvl3pPr marL="1143000" indent="-228600" eaLnBrk="0" hangingPunct="0">
              <a:defRPr sz="1200">
                <a:solidFill>
                  <a:srgbClr val="000000"/>
                </a:solidFill>
                <a:latin typeface="Arial" panose="020B0604020202090204" pitchFamily="34" charset="0"/>
                <a:ea typeface="-윤고딕130" charset="0"/>
              </a:defRPr>
            </a:lvl3pPr>
            <a:lvl4pPr marL="1600200" indent="-228600" eaLnBrk="0" hangingPunct="0">
              <a:defRPr sz="1200">
                <a:solidFill>
                  <a:srgbClr val="000000"/>
                </a:solidFill>
                <a:latin typeface="Arial" panose="020B0604020202090204" pitchFamily="34" charset="0"/>
                <a:ea typeface="-윤고딕130" charset="0"/>
              </a:defRPr>
            </a:lvl4pPr>
            <a:lvl5pPr marL="2057400" indent="-228600" eaLnBrk="0" hangingPunct="0">
              <a:defRPr sz="1200">
                <a:solidFill>
                  <a:srgbClr val="000000"/>
                </a:solidFill>
                <a:latin typeface="Arial" panose="020B0604020202090204" pitchFamily="34" charset="0"/>
                <a:ea typeface="-윤고딕130" charset="0"/>
              </a:defRPr>
            </a:lvl5pPr>
            <a:lvl6pPr marL="25146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6pPr>
            <a:lvl7pPr marL="29718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7pPr>
            <a:lvl8pPr marL="34290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8pPr>
            <a:lvl9pPr marL="38862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9pPr>
          </a:lstStyle>
          <a:p>
            <a:r>
              <a:rPr lang="en-US" altLang="zh-CN" sz="2340" dirty="0">
                <a:latin typeface="+mn-lt"/>
                <a:ea typeface="+mn-ea"/>
                <a:cs typeface="+mn-ea"/>
                <a:sym typeface="+mn-lt"/>
              </a:rPr>
              <a:t>Agenda </a:t>
            </a:r>
            <a:endParaRPr lang="en-US" altLang="zh-CN" sz="2340" dirty="0">
              <a:latin typeface="+mn-lt"/>
              <a:ea typeface="+mn-ea"/>
              <a:cs typeface="+mn-ea"/>
              <a:sym typeface="+mn-l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3571638" y="1435954"/>
            <a:ext cx="0" cy="493656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4321697" y="2037549"/>
            <a:ext cx="4791378" cy="1485407"/>
          </a:xfrm>
          <a:prstGeom prst="rect">
            <a:avLst/>
          </a:prstGeom>
          <a:noFill/>
        </p:spPr>
        <p:txBody>
          <a:bodyPr wrap="square" rtlCol="0">
            <a:spAutoFit/>
          </a:bodyPr>
          <a:lstStyle/>
          <a:p>
            <a:pPr>
              <a:lnSpc>
                <a:spcPct val="150000"/>
              </a:lnSpc>
            </a:pPr>
            <a:r>
              <a:rPr lang="zh-CN" altLang="en-US" sz="1600" b="1" dirty="0">
                <a:latin typeface="+mn-lt"/>
                <a:ea typeface="+mn-ea"/>
                <a:cs typeface="+mn-ea"/>
                <a:sym typeface="+mn-lt"/>
              </a:rPr>
              <a:t>一、教育培训形势</a:t>
            </a:r>
            <a:endParaRPr lang="en-US" altLang="zh-CN" sz="1600" b="1" dirty="0">
              <a:latin typeface="+mn-lt"/>
              <a:ea typeface="+mn-ea"/>
              <a:cs typeface="+mn-ea"/>
              <a:sym typeface="+mn-lt"/>
            </a:endParaRPr>
          </a:p>
          <a:p>
            <a:pPr>
              <a:lnSpc>
                <a:spcPct val="150000"/>
              </a:lnSpc>
            </a:pPr>
            <a:endParaRPr lang="en-US" altLang="zh-CN" sz="1600" b="1" dirty="0">
              <a:latin typeface="+mn-lt"/>
              <a:ea typeface="+mn-ea"/>
              <a:cs typeface="+mn-ea"/>
              <a:sym typeface="+mn-lt"/>
            </a:endParaRPr>
          </a:p>
          <a:p>
            <a:pPr>
              <a:lnSpc>
                <a:spcPct val="150000"/>
              </a:lnSpc>
            </a:pPr>
            <a:r>
              <a:rPr lang="zh-CN" altLang="en-US" sz="1600" b="1" dirty="0">
                <a:latin typeface="+mn-lt"/>
                <a:ea typeface="+mn-ea"/>
                <a:cs typeface="+mn-ea"/>
                <a:sym typeface="+mn-lt"/>
              </a:rPr>
              <a:t>二、面临机遇与挑战</a:t>
            </a:r>
            <a:endParaRPr lang="en-US" altLang="zh-CN" sz="1600" b="1" dirty="0">
              <a:latin typeface="+mn-lt"/>
              <a:ea typeface="+mn-ea"/>
              <a:cs typeface="+mn-ea"/>
              <a:sym typeface="+mn-lt"/>
            </a:endParaRPr>
          </a:p>
          <a:p>
            <a:pPr>
              <a:lnSpc>
                <a:spcPct val="150000"/>
              </a:lnSpc>
            </a:pPr>
            <a:endParaRPr lang="zh-CN" altLang="en-US" sz="1400" dirty="0">
              <a:latin typeface="+mn-lt"/>
              <a:ea typeface="+mn-ea"/>
              <a:cs typeface="+mn-ea"/>
              <a:sym typeface="+mn-lt"/>
            </a:endParaRPr>
          </a:p>
        </p:txBody>
      </p:sp>
      <p:sp>
        <p:nvSpPr>
          <p:cNvPr id="3" name="矩形 2"/>
          <p:cNvSpPr/>
          <p:nvPr/>
        </p:nvSpPr>
        <p:spPr>
          <a:xfrm>
            <a:off x="313509" y="1435954"/>
            <a:ext cx="3050716" cy="3693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cs typeface="+mn-ea"/>
                <a:sym typeface="+mn-lt"/>
              </a:rPr>
              <a:t>一级大纲</a:t>
            </a:r>
            <a:endParaRPr lang="zh-CN" altLang="en-US" sz="1800" b="1" dirty="0">
              <a:cs typeface="+mn-ea"/>
              <a:sym typeface="+mn-lt"/>
            </a:endParaRPr>
          </a:p>
        </p:txBody>
      </p:sp>
      <p:graphicFrame>
        <p:nvGraphicFramePr>
          <p:cNvPr id="4" name="表格 3"/>
          <p:cNvGraphicFramePr>
            <a:graphicFrameLocks noGrp="1"/>
          </p:cNvGraphicFramePr>
          <p:nvPr/>
        </p:nvGraphicFramePr>
        <p:xfrm>
          <a:off x="313510" y="1920412"/>
          <a:ext cx="3044370" cy="4452108"/>
        </p:xfrm>
        <a:graphic>
          <a:graphicData uri="http://schemas.openxmlformats.org/drawingml/2006/table">
            <a:tbl>
              <a:tblPr firstRow="1" firstCol="1" bandRow="1">
                <a:tableStyleId>{5940675A-B579-460E-94D1-54222C63F5DA}</a:tableStyleId>
              </a:tblPr>
              <a:tblGrid>
                <a:gridCol w="1058090"/>
                <a:gridCol w="1986280"/>
              </a:tblGrid>
              <a:tr h="742018">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zh-CN" sz="1800" b="1" kern="100" dirty="0">
                          <a:solidFill>
                            <a:schemeClr val="bg1"/>
                          </a:solidFill>
                          <a:effectLst/>
                          <a:latin typeface="+mn-lt"/>
                          <a:ea typeface="+mn-ea"/>
                          <a:cs typeface="+mn-ea"/>
                          <a:sym typeface="+mn-lt"/>
                        </a:rPr>
                        <a:t>第一章</a:t>
                      </a:r>
                      <a:endParaRPr lang="zh-CN" altLang="zh-CN" sz="1800" b="1" kern="100" dirty="0">
                        <a:solidFill>
                          <a:schemeClr val="bg1"/>
                        </a:solidFill>
                        <a:effectLst/>
                        <a:latin typeface="+mn-lt"/>
                        <a:ea typeface="+mn-ea"/>
                        <a:cs typeface="+mn-ea"/>
                        <a:sym typeface="+mn-lt"/>
                      </a:endParaRPr>
                    </a:p>
                  </a:txBody>
                  <a:tcPr marL="50270" marR="50270" marT="0" marB="0" anchor="ctr">
                    <a:solidFill>
                      <a:srgbClr val="C00000"/>
                    </a:solidFill>
                  </a:tcPr>
                </a:tc>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800" b="1" kern="100" dirty="0">
                          <a:solidFill>
                            <a:schemeClr val="bg1"/>
                          </a:solidFill>
                          <a:effectLst/>
                          <a:latin typeface="+mn-lt"/>
                          <a:ea typeface="+mn-ea"/>
                          <a:cs typeface="+mn-ea"/>
                          <a:sym typeface="+mn-lt"/>
                        </a:rPr>
                        <a:t>发展环境</a:t>
                      </a:r>
                      <a:endParaRPr lang="zh-CN" altLang="zh-CN" sz="1800" b="1" kern="100" dirty="0">
                        <a:solidFill>
                          <a:schemeClr val="bg1"/>
                        </a:solidFill>
                        <a:effectLst/>
                        <a:latin typeface="+mn-lt"/>
                        <a:ea typeface="+mn-ea"/>
                        <a:cs typeface="+mn-ea"/>
                        <a:sym typeface="+mn-lt"/>
                      </a:endParaRPr>
                    </a:p>
                  </a:txBody>
                  <a:tcPr marL="50270" marR="50270" marT="0" marB="0" anchor="ctr">
                    <a:solidFill>
                      <a:srgbClr val="C00000"/>
                    </a:solidFill>
                  </a:tcPr>
                </a:tc>
              </a:tr>
              <a:tr h="742018">
                <a:tc>
                  <a:txBody>
                    <a:bodyPr/>
                    <a:lstStyle/>
                    <a:p>
                      <a:pPr algn="ctr">
                        <a:lnSpc>
                          <a:spcPct val="130000"/>
                        </a:lnSpc>
                      </a:pPr>
                      <a:r>
                        <a:rPr lang="zh-CN" sz="1600" b="1" kern="100" dirty="0">
                          <a:effectLst/>
                          <a:latin typeface="+mn-lt"/>
                          <a:ea typeface="+mn-ea"/>
                          <a:cs typeface="+mn-ea"/>
                          <a:sym typeface="+mn-lt"/>
                        </a:rPr>
                        <a:t>第</a:t>
                      </a:r>
                      <a:r>
                        <a:rPr lang="zh-CN" altLang="en-US" sz="1600" b="1" kern="100" dirty="0">
                          <a:effectLst/>
                          <a:latin typeface="+mn-lt"/>
                          <a:ea typeface="+mn-ea"/>
                          <a:cs typeface="+mn-ea"/>
                          <a:sym typeface="+mn-lt"/>
                        </a:rPr>
                        <a:t>二</a:t>
                      </a:r>
                      <a:r>
                        <a:rPr lang="zh-CN" sz="1600" b="1" kern="100" dirty="0">
                          <a:effectLst/>
                          <a:latin typeface="+mn-lt"/>
                          <a:ea typeface="+mn-ea"/>
                          <a:cs typeface="+mn-ea"/>
                          <a:sym typeface="+mn-lt"/>
                        </a:rPr>
                        <a:t>章</a:t>
                      </a:r>
                      <a:endParaRPr lang="zh-CN" sz="1600" b="1" kern="100" dirty="0">
                        <a:effectLst/>
                        <a:latin typeface="+mn-lt"/>
                        <a:ea typeface="+mn-ea"/>
                        <a:cs typeface="+mn-ea"/>
                        <a:sym typeface="+mn-lt"/>
                      </a:endParaRPr>
                    </a:p>
                  </a:txBody>
                  <a:tcPr marL="50270" marR="50270" marT="0" marB="0" anchor="ctr"/>
                </a:tc>
                <a:tc>
                  <a:txBody>
                    <a:bodyPr/>
                    <a:lstStyle/>
                    <a:p>
                      <a:pPr algn="ctr">
                        <a:lnSpc>
                          <a:spcPct val="120000"/>
                        </a:lnSpc>
                      </a:pPr>
                      <a:r>
                        <a:rPr lang="zh-CN" altLang="en-US" sz="1600" b="1" kern="100" dirty="0">
                          <a:solidFill>
                            <a:srgbClr val="C00000"/>
                          </a:solidFill>
                          <a:effectLst/>
                          <a:latin typeface="+mn-lt"/>
                          <a:ea typeface="+mn-ea"/>
                          <a:cs typeface="+mn-ea"/>
                          <a:sym typeface="+mn-lt"/>
                        </a:rPr>
                        <a:t>总体布局</a:t>
                      </a:r>
                      <a:endParaRPr lang="zh-CN" sz="1600" b="1" kern="100" dirty="0">
                        <a:solidFill>
                          <a:srgbClr val="C00000"/>
                        </a:solidFill>
                        <a:effectLst/>
                        <a:latin typeface="+mn-lt"/>
                        <a:ea typeface="+mn-ea"/>
                        <a:cs typeface="+mn-ea"/>
                        <a:sym typeface="+mn-lt"/>
                      </a:endParaRPr>
                    </a:p>
                  </a:txBody>
                  <a:tcPr marL="50270" marR="50270" marT="0" marB="0" anchor="ctr"/>
                </a:tc>
              </a:tr>
              <a:tr h="742018">
                <a:tc>
                  <a:txBody>
                    <a:bodyPr/>
                    <a:lstStyle/>
                    <a:p>
                      <a:pPr algn="ctr">
                        <a:lnSpc>
                          <a:spcPct val="130000"/>
                        </a:lnSpc>
                      </a:pPr>
                      <a:r>
                        <a:rPr lang="zh-CN" altLang="en-US" sz="1600" b="1" kern="100" dirty="0">
                          <a:effectLst/>
                          <a:latin typeface="+mn-lt"/>
                          <a:ea typeface="+mn-ea"/>
                          <a:cs typeface="+mn-ea"/>
                          <a:sym typeface="+mn-lt"/>
                        </a:rPr>
                        <a:t>第三章</a:t>
                      </a:r>
                      <a:endParaRPr lang="zh-CN" sz="1600" b="1" kern="100" dirty="0">
                        <a:effectLst/>
                        <a:latin typeface="+mn-lt"/>
                        <a:ea typeface="+mn-ea"/>
                        <a:cs typeface="+mn-ea"/>
                        <a:sym typeface="+mn-lt"/>
                      </a:endParaRPr>
                    </a:p>
                  </a:txBody>
                  <a:tcPr marL="50270" marR="50270" marT="0" marB="0" anchor="ctr"/>
                </a:tc>
                <a:tc>
                  <a:txBody>
                    <a:bodyPr/>
                    <a:lstStyle/>
                    <a:p>
                      <a:pPr algn="ctr">
                        <a:lnSpc>
                          <a:spcPct val="120000"/>
                        </a:lnSpc>
                      </a:pPr>
                      <a:r>
                        <a:rPr lang="zh-CN" altLang="en-US" sz="1600" b="1" kern="100" dirty="0">
                          <a:solidFill>
                            <a:srgbClr val="C00000"/>
                          </a:solidFill>
                          <a:effectLst/>
                          <a:latin typeface="+mn-lt"/>
                          <a:ea typeface="+mn-ea"/>
                          <a:cs typeface="+mn-ea"/>
                          <a:sym typeface="+mn-lt"/>
                        </a:rPr>
                        <a:t>项目建设</a:t>
                      </a:r>
                      <a:endParaRPr lang="zh-CN" altLang="zh-CN" sz="1600" b="1" kern="100" dirty="0">
                        <a:solidFill>
                          <a:srgbClr val="C00000"/>
                        </a:solidFill>
                        <a:effectLst/>
                        <a:latin typeface="+mn-lt"/>
                        <a:ea typeface="+mn-ea"/>
                        <a:cs typeface="+mn-ea"/>
                        <a:sym typeface="+mn-lt"/>
                      </a:endParaRPr>
                    </a:p>
                  </a:txBody>
                  <a:tcPr marL="50270" marR="50270" marT="0" marB="0" anchor="ctr"/>
                </a:tc>
              </a:tr>
              <a:tr h="742018">
                <a:tc>
                  <a:txBody>
                    <a:bodyPr/>
                    <a:lstStyle/>
                    <a:p>
                      <a:pPr algn="ctr">
                        <a:lnSpc>
                          <a:spcPct val="130000"/>
                        </a:lnSpc>
                      </a:pPr>
                      <a:r>
                        <a:rPr lang="zh-CN" altLang="en-US" sz="1600" b="1" kern="100" dirty="0">
                          <a:effectLst/>
                          <a:latin typeface="+mn-lt"/>
                          <a:ea typeface="+mn-ea"/>
                          <a:cs typeface="+mn-ea"/>
                          <a:sym typeface="+mn-lt"/>
                        </a:rPr>
                        <a:t>第四章</a:t>
                      </a:r>
                      <a:endParaRPr lang="zh-CN" sz="1600" b="1" kern="100" dirty="0">
                        <a:effectLst/>
                        <a:latin typeface="+mn-lt"/>
                        <a:ea typeface="+mn-ea"/>
                        <a:cs typeface="+mn-ea"/>
                        <a:sym typeface="+mn-lt"/>
                      </a:endParaRPr>
                    </a:p>
                  </a:txBody>
                  <a:tcPr marL="50270" marR="50270" marT="0" marB="0" anchor="ctr"/>
                </a:tc>
                <a:tc>
                  <a:txBody>
                    <a:bodyPr/>
                    <a:lstStyle/>
                    <a:p>
                      <a:pPr algn="ctr">
                        <a:lnSpc>
                          <a:spcPct val="120000"/>
                        </a:lnSpc>
                      </a:pPr>
                      <a:r>
                        <a:rPr lang="zh-CN" altLang="en-US" sz="1600" b="1" kern="100" dirty="0">
                          <a:solidFill>
                            <a:srgbClr val="C00000"/>
                          </a:solidFill>
                          <a:effectLst/>
                          <a:latin typeface="+mn-lt"/>
                          <a:ea typeface="+mn-ea"/>
                          <a:cs typeface="+mn-ea"/>
                          <a:sym typeface="+mn-lt"/>
                        </a:rPr>
                        <a:t>能力建设</a:t>
                      </a:r>
                      <a:endParaRPr lang="zh-CN" sz="1600" b="1" kern="100" dirty="0">
                        <a:solidFill>
                          <a:srgbClr val="C00000"/>
                        </a:solidFill>
                        <a:effectLst/>
                        <a:latin typeface="+mn-lt"/>
                        <a:ea typeface="+mn-ea"/>
                        <a:cs typeface="+mn-ea"/>
                        <a:sym typeface="+mn-lt"/>
                      </a:endParaRPr>
                    </a:p>
                  </a:txBody>
                  <a:tcPr marL="50270" marR="50270" marT="0" marB="0" anchor="ctr"/>
                </a:tc>
              </a:tr>
              <a:tr h="742018">
                <a:tc>
                  <a:txBody>
                    <a:bodyPr/>
                    <a:lstStyle/>
                    <a:p>
                      <a:pPr algn="ctr">
                        <a:lnSpc>
                          <a:spcPct val="130000"/>
                        </a:lnSpc>
                      </a:pPr>
                      <a:r>
                        <a:rPr lang="zh-CN" sz="1600" b="1" kern="100" dirty="0">
                          <a:effectLst/>
                          <a:latin typeface="+mn-lt"/>
                          <a:ea typeface="+mn-ea"/>
                          <a:cs typeface="+mn-ea"/>
                          <a:sym typeface="+mn-lt"/>
                        </a:rPr>
                        <a:t>第</a:t>
                      </a:r>
                      <a:r>
                        <a:rPr lang="zh-CN" altLang="en-US" sz="1600" b="1" kern="100" dirty="0">
                          <a:effectLst/>
                          <a:latin typeface="+mn-lt"/>
                          <a:ea typeface="+mn-ea"/>
                          <a:cs typeface="+mn-ea"/>
                          <a:sym typeface="+mn-lt"/>
                        </a:rPr>
                        <a:t>五</a:t>
                      </a:r>
                      <a:r>
                        <a:rPr lang="zh-CN" sz="1600" b="1" kern="100" dirty="0">
                          <a:effectLst/>
                          <a:latin typeface="+mn-lt"/>
                          <a:ea typeface="+mn-ea"/>
                          <a:cs typeface="+mn-ea"/>
                          <a:sym typeface="+mn-lt"/>
                        </a:rPr>
                        <a:t>章</a:t>
                      </a:r>
                      <a:endParaRPr lang="zh-CN" sz="1600" b="1" kern="100" dirty="0">
                        <a:effectLst/>
                        <a:latin typeface="+mn-lt"/>
                        <a:ea typeface="+mn-ea"/>
                        <a:cs typeface="+mn-ea"/>
                        <a:sym typeface="+mn-lt"/>
                      </a:endParaRPr>
                    </a:p>
                  </a:txBody>
                  <a:tcPr marL="50270" marR="50270" marT="0" marB="0" anchor="ctr"/>
                </a:tc>
                <a:tc>
                  <a:txBody>
                    <a:bodyPr/>
                    <a:lstStyle/>
                    <a:p>
                      <a:pPr algn="ctr">
                        <a:lnSpc>
                          <a:spcPct val="120000"/>
                        </a:lnSpc>
                      </a:pPr>
                      <a:r>
                        <a:rPr lang="zh-CN" sz="1600" b="1" kern="100" dirty="0">
                          <a:solidFill>
                            <a:srgbClr val="C00000"/>
                          </a:solidFill>
                          <a:effectLst/>
                          <a:latin typeface="+mn-lt"/>
                          <a:ea typeface="+mn-ea"/>
                          <a:cs typeface="+mn-ea"/>
                          <a:sym typeface="+mn-lt"/>
                        </a:rPr>
                        <a:t>资源</a:t>
                      </a:r>
                      <a:r>
                        <a:rPr lang="zh-CN" altLang="en-US" sz="1600" b="1" kern="100" dirty="0">
                          <a:solidFill>
                            <a:srgbClr val="C00000"/>
                          </a:solidFill>
                          <a:effectLst/>
                          <a:latin typeface="+mn-lt"/>
                          <a:ea typeface="+mn-ea"/>
                          <a:cs typeface="+mn-ea"/>
                          <a:sym typeface="+mn-lt"/>
                        </a:rPr>
                        <a:t>建设</a:t>
                      </a:r>
                      <a:endParaRPr lang="zh-CN" sz="1600" b="1" kern="100" dirty="0">
                        <a:solidFill>
                          <a:srgbClr val="C00000"/>
                        </a:solidFill>
                        <a:effectLst/>
                        <a:latin typeface="+mn-lt"/>
                        <a:ea typeface="+mn-ea"/>
                        <a:cs typeface="+mn-ea"/>
                        <a:sym typeface="+mn-lt"/>
                      </a:endParaRPr>
                    </a:p>
                  </a:txBody>
                  <a:tcPr marL="50270" marR="50270" marT="0" marB="0" anchor="ctr"/>
                </a:tc>
              </a:tr>
              <a:tr h="742018">
                <a:tc>
                  <a:txBody>
                    <a:bodyPr/>
                    <a:lstStyle/>
                    <a:p>
                      <a:pPr algn="ctr">
                        <a:lnSpc>
                          <a:spcPct val="130000"/>
                        </a:lnSpc>
                      </a:pPr>
                      <a:r>
                        <a:rPr lang="zh-CN" sz="1600" b="1" kern="100" dirty="0">
                          <a:effectLst/>
                          <a:latin typeface="+mn-lt"/>
                          <a:ea typeface="+mn-ea"/>
                          <a:cs typeface="+mn-ea"/>
                          <a:sym typeface="+mn-lt"/>
                        </a:rPr>
                        <a:t>第</a:t>
                      </a:r>
                      <a:r>
                        <a:rPr lang="zh-CN" altLang="en-US" sz="1600" b="1" kern="100" dirty="0">
                          <a:effectLst/>
                          <a:latin typeface="+mn-lt"/>
                          <a:ea typeface="+mn-ea"/>
                          <a:cs typeface="+mn-ea"/>
                          <a:sym typeface="+mn-lt"/>
                        </a:rPr>
                        <a:t>六</a:t>
                      </a:r>
                      <a:r>
                        <a:rPr lang="zh-CN" sz="1600" b="1" kern="100" dirty="0">
                          <a:effectLst/>
                          <a:latin typeface="+mn-lt"/>
                          <a:ea typeface="+mn-ea"/>
                          <a:cs typeface="+mn-ea"/>
                          <a:sym typeface="+mn-lt"/>
                        </a:rPr>
                        <a:t>章</a:t>
                      </a:r>
                      <a:endParaRPr lang="zh-CN" sz="1600" b="1" kern="100" dirty="0">
                        <a:effectLst/>
                        <a:latin typeface="+mn-lt"/>
                        <a:ea typeface="+mn-ea"/>
                        <a:cs typeface="+mn-ea"/>
                        <a:sym typeface="+mn-lt"/>
                      </a:endParaRPr>
                    </a:p>
                  </a:txBody>
                  <a:tcPr marL="50270" marR="50270" marT="0" marB="0" anchor="ctr"/>
                </a:tc>
                <a:tc>
                  <a:txBody>
                    <a:bodyPr/>
                    <a:lstStyle/>
                    <a:p>
                      <a:pPr algn="ctr">
                        <a:lnSpc>
                          <a:spcPct val="120000"/>
                        </a:lnSpc>
                      </a:pPr>
                      <a:r>
                        <a:rPr lang="zh-CN" altLang="en-US" sz="1600" b="1" kern="100" dirty="0">
                          <a:solidFill>
                            <a:srgbClr val="C00000"/>
                          </a:solidFill>
                          <a:effectLst/>
                          <a:latin typeface="+mn-lt"/>
                          <a:ea typeface="+mn-ea"/>
                          <a:cs typeface="+mn-ea"/>
                          <a:sym typeface="+mn-lt"/>
                        </a:rPr>
                        <a:t>实施</a:t>
                      </a:r>
                      <a:r>
                        <a:rPr lang="zh-CN" sz="1600" b="1" kern="100" dirty="0">
                          <a:solidFill>
                            <a:srgbClr val="C00000"/>
                          </a:solidFill>
                          <a:effectLst/>
                          <a:latin typeface="+mn-lt"/>
                          <a:ea typeface="+mn-ea"/>
                          <a:cs typeface="+mn-ea"/>
                          <a:sym typeface="+mn-lt"/>
                        </a:rPr>
                        <a:t>保障</a:t>
                      </a:r>
                      <a:endParaRPr lang="zh-CN" sz="1600" b="1" kern="100" dirty="0">
                        <a:solidFill>
                          <a:srgbClr val="C00000"/>
                        </a:solidFill>
                        <a:effectLst/>
                        <a:latin typeface="+mn-lt"/>
                        <a:ea typeface="+mn-ea"/>
                        <a:cs typeface="+mn-ea"/>
                        <a:sym typeface="+mn-lt"/>
                      </a:endParaRPr>
                    </a:p>
                  </a:txBody>
                  <a:tcPr marL="50270" marR="50270" marT="0" marB="0" anchor="ctr"/>
                </a:tc>
              </a:tr>
            </a:tbl>
          </a:graphicData>
        </a:graphic>
      </p:graphicFrame>
      <p:sp>
        <p:nvSpPr>
          <p:cNvPr id="7" name="箭头: 五边形 6"/>
          <p:cNvSpPr/>
          <p:nvPr/>
        </p:nvSpPr>
        <p:spPr>
          <a:xfrm>
            <a:off x="3364225" y="1922276"/>
            <a:ext cx="489302" cy="369332"/>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矩形 17"/>
          <p:cNvSpPr/>
          <p:nvPr/>
        </p:nvSpPr>
        <p:spPr>
          <a:xfrm>
            <a:off x="3853526" y="1435954"/>
            <a:ext cx="7589533" cy="3693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a:cs typeface="+mn-ea"/>
                <a:sym typeface="+mn-lt"/>
              </a:rPr>
              <a:t>二</a:t>
            </a:r>
            <a:r>
              <a:rPr lang="en-US" altLang="zh-CN" sz="1800" dirty="0">
                <a:cs typeface="+mn-ea"/>
                <a:sym typeface="+mn-lt"/>
              </a:rPr>
              <a:t>/</a:t>
            </a:r>
            <a:r>
              <a:rPr lang="zh-CN" altLang="en-US" sz="1800" dirty="0">
                <a:cs typeface="+mn-ea"/>
                <a:sym typeface="+mn-lt"/>
              </a:rPr>
              <a:t>三级大纲（重点内容）</a:t>
            </a:r>
            <a:endParaRPr lang="zh-CN" altLang="en-US" sz="1800" dirty="0">
              <a:cs typeface="+mn-ea"/>
              <a:sym typeface="+mn-lt"/>
            </a:endParaRPr>
          </a:p>
        </p:txBody>
      </p:sp>
      <p:sp>
        <p:nvSpPr>
          <p:cNvPr id="9" name="文本框 8"/>
          <p:cNvSpPr txBox="1"/>
          <p:nvPr/>
        </p:nvSpPr>
        <p:spPr>
          <a:xfrm>
            <a:off x="488861" y="206936"/>
            <a:ext cx="9096865" cy="400110"/>
          </a:xfrm>
          <a:prstGeom prst="rect">
            <a:avLst/>
          </a:prstGeom>
          <a:noFill/>
        </p:spPr>
        <p:txBody>
          <a:bodyPr wrap="square" rtlCol="0">
            <a:spAutoFit/>
          </a:bodyPr>
          <a:lstStyle/>
          <a:p>
            <a:r>
              <a:rPr kumimoji="1" lang="en-US" altLang="zh-CN" sz="2000" dirty="0">
                <a:latin typeface="+mn-lt"/>
                <a:ea typeface="+mn-ea"/>
                <a:cs typeface="+mn-ea"/>
                <a:sym typeface="+mn-lt"/>
              </a:rPr>
              <a:t>【</a:t>
            </a:r>
            <a:r>
              <a:rPr kumimoji="1" lang="zh-CN" altLang="en-US" sz="2000" dirty="0">
                <a:latin typeface="+mn-lt"/>
                <a:ea typeface="+mn-ea"/>
                <a:cs typeface="+mn-ea"/>
                <a:sym typeface="+mn-lt"/>
              </a:rPr>
              <a:t>目录</a:t>
            </a:r>
            <a:r>
              <a:rPr kumimoji="1" lang="en-US" altLang="zh-CN" sz="2000" dirty="0">
                <a:latin typeface="+mn-lt"/>
                <a:ea typeface="+mn-ea"/>
                <a:cs typeface="+mn-ea"/>
                <a:sym typeface="+mn-lt"/>
              </a:rPr>
              <a:t>】</a:t>
            </a:r>
            <a:r>
              <a:rPr kumimoji="1" lang="zh-CN" altLang="en-US" sz="2000" dirty="0">
                <a:latin typeface="+mn-lt"/>
                <a:ea typeface="+mn-ea"/>
                <a:cs typeface="+mn-ea"/>
                <a:sym typeface="+mn-lt"/>
              </a:rPr>
              <a:t>中银教育培训“十四五”规划</a:t>
            </a:r>
            <a:endParaRPr kumimoji="1" lang="zh-CN" altLang="en-US" sz="2000" dirty="0">
              <a:latin typeface="+mn-lt"/>
              <a:ea typeface="+mn-ea"/>
              <a:cs typeface="+mn-ea"/>
              <a:sym typeface="+mn-lt"/>
            </a:endParaRPr>
          </a:p>
        </p:txBody>
      </p:sp>
      <p:sp>
        <p:nvSpPr>
          <p:cNvPr id="11"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3571638" y="1435954"/>
            <a:ext cx="0" cy="493656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313509" y="1435954"/>
            <a:ext cx="3050716" cy="3693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cs typeface="+mn-ea"/>
                <a:sym typeface="+mn-lt"/>
              </a:rPr>
              <a:t>一级大纲</a:t>
            </a:r>
            <a:endParaRPr lang="zh-CN" altLang="en-US" sz="1800" b="1" dirty="0">
              <a:cs typeface="+mn-ea"/>
              <a:sym typeface="+mn-lt"/>
            </a:endParaRPr>
          </a:p>
        </p:txBody>
      </p:sp>
      <p:graphicFrame>
        <p:nvGraphicFramePr>
          <p:cNvPr id="4" name="表格 3"/>
          <p:cNvGraphicFramePr>
            <a:graphicFrameLocks noGrp="1"/>
          </p:cNvGraphicFramePr>
          <p:nvPr/>
        </p:nvGraphicFramePr>
        <p:xfrm>
          <a:off x="313510" y="1920412"/>
          <a:ext cx="3044370" cy="4452108"/>
        </p:xfrm>
        <a:graphic>
          <a:graphicData uri="http://schemas.openxmlformats.org/drawingml/2006/table">
            <a:tbl>
              <a:tblPr firstRow="1" firstCol="1" bandRow="1">
                <a:tableStyleId>{5940675A-B579-460E-94D1-54222C63F5DA}</a:tableStyleId>
              </a:tblPr>
              <a:tblGrid>
                <a:gridCol w="1058090"/>
                <a:gridCol w="1986280"/>
              </a:tblGrid>
              <a:tr h="742018">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zh-CN" sz="1600" b="1" kern="100" dirty="0">
                          <a:solidFill>
                            <a:schemeClr val="tx1"/>
                          </a:solidFill>
                          <a:effectLst/>
                          <a:latin typeface="+mn-lt"/>
                          <a:ea typeface="+mn-ea"/>
                          <a:cs typeface="+mn-ea"/>
                          <a:sym typeface="+mn-lt"/>
                        </a:rPr>
                        <a:t>第一章</a:t>
                      </a:r>
                      <a:endParaRPr lang="zh-CN" altLang="zh-CN" sz="1600" b="1" kern="100" dirty="0">
                        <a:solidFill>
                          <a:schemeClr val="tx1"/>
                        </a:solidFill>
                        <a:effectLst/>
                        <a:latin typeface="+mn-lt"/>
                        <a:ea typeface="+mn-ea"/>
                        <a:cs typeface="+mn-ea"/>
                        <a:sym typeface="+mn-lt"/>
                      </a:endParaRPr>
                    </a:p>
                  </a:txBody>
                  <a:tcPr marL="50270" marR="50270" marT="0" marB="0" anchor="ctr">
                    <a:noFill/>
                  </a:tcPr>
                </a:tc>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600" b="1" kern="100" dirty="0">
                          <a:solidFill>
                            <a:srgbClr val="C00000"/>
                          </a:solidFill>
                          <a:effectLst/>
                          <a:latin typeface="+mn-lt"/>
                          <a:ea typeface="+mn-ea"/>
                          <a:cs typeface="+mn-ea"/>
                          <a:sym typeface="+mn-lt"/>
                        </a:rPr>
                        <a:t>发展环境</a:t>
                      </a:r>
                      <a:endParaRPr lang="zh-CN" altLang="zh-CN" sz="1600" b="1" kern="100" dirty="0">
                        <a:solidFill>
                          <a:srgbClr val="C00000"/>
                        </a:solidFill>
                        <a:effectLst/>
                        <a:latin typeface="+mn-lt"/>
                        <a:ea typeface="+mn-ea"/>
                        <a:cs typeface="+mn-ea"/>
                        <a:sym typeface="+mn-lt"/>
                      </a:endParaRPr>
                    </a:p>
                  </a:txBody>
                  <a:tcPr marL="50270" marR="50270" marT="0" marB="0" anchor="ctr">
                    <a:noFill/>
                  </a:tcPr>
                </a:tc>
              </a:tr>
              <a:tr h="742018">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en-US" sz="1800" b="1" kern="100" dirty="0">
                          <a:solidFill>
                            <a:schemeClr val="bg1"/>
                          </a:solidFill>
                          <a:effectLst/>
                          <a:latin typeface="+mn-lt"/>
                          <a:ea typeface="+mn-ea"/>
                          <a:cs typeface="+mn-ea"/>
                          <a:sym typeface="+mn-lt"/>
                        </a:rPr>
                        <a:t>第二章</a:t>
                      </a:r>
                      <a:endParaRPr lang="zh-CN" altLang="en-US" sz="1800" b="1" kern="100" dirty="0">
                        <a:solidFill>
                          <a:schemeClr val="bg1"/>
                        </a:solidFill>
                        <a:effectLst/>
                        <a:latin typeface="+mn-lt"/>
                        <a:ea typeface="+mn-ea"/>
                        <a:cs typeface="+mn-ea"/>
                        <a:sym typeface="+mn-lt"/>
                      </a:endParaRPr>
                    </a:p>
                  </a:txBody>
                  <a:tcPr marL="50270" marR="50270" marT="0" marB="0" anchor="ctr">
                    <a:solidFill>
                      <a:srgbClr val="C00000"/>
                    </a:solidFill>
                  </a:tcPr>
                </a:tc>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en-US" sz="1800" b="1" kern="100" dirty="0">
                          <a:solidFill>
                            <a:schemeClr val="bg1"/>
                          </a:solidFill>
                          <a:effectLst/>
                          <a:latin typeface="+mn-lt"/>
                          <a:ea typeface="+mn-ea"/>
                          <a:cs typeface="+mn-ea"/>
                          <a:sym typeface="+mn-lt"/>
                        </a:rPr>
                        <a:t>总体布局</a:t>
                      </a:r>
                      <a:endParaRPr lang="zh-CN" altLang="en-US" sz="1800" b="1" kern="100" dirty="0">
                        <a:solidFill>
                          <a:schemeClr val="bg1"/>
                        </a:solidFill>
                        <a:effectLst/>
                        <a:latin typeface="+mn-lt"/>
                        <a:ea typeface="+mn-ea"/>
                        <a:cs typeface="+mn-ea"/>
                        <a:sym typeface="+mn-lt"/>
                      </a:endParaRPr>
                    </a:p>
                  </a:txBody>
                  <a:tcPr marL="50270" marR="50270" marT="0" marB="0" anchor="ctr">
                    <a:solidFill>
                      <a:srgbClr val="C00000"/>
                    </a:solidFill>
                  </a:tcPr>
                </a:tc>
              </a:tr>
              <a:tr h="742018">
                <a:tc>
                  <a:txBody>
                    <a:bodyPr/>
                    <a:lstStyle/>
                    <a:p>
                      <a:pPr algn="ctr">
                        <a:lnSpc>
                          <a:spcPct val="130000"/>
                        </a:lnSpc>
                      </a:pPr>
                      <a:r>
                        <a:rPr lang="zh-CN" altLang="en-US" sz="1600" b="1" kern="100" dirty="0">
                          <a:effectLst/>
                          <a:latin typeface="+mn-lt"/>
                          <a:ea typeface="+mn-ea"/>
                          <a:cs typeface="+mn-ea"/>
                          <a:sym typeface="+mn-lt"/>
                        </a:rPr>
                        <a:t>第三章</a:t>
                      </a:r>
                      <a:endParaRPr lang="zh-CN" sz="1600" b="1" kern="100" dirty="0">
                        <a:effectLst/>
                        <a:latin typeface="+mn-lt"/>
                        <a:ea typeface="+mn-ea"/>
                        <a:cs typeface="+mn-ea"/>
                        <a:sym typeface="+mn-lt"/>
                      </a:endParaRPr>
                    </a:p>
                  </a:txBody>
                  <a:tcPr marL="50270" marR="50270" marT="0" marB="0" anchor="ctr"/>
                </a:tc>
                <a:tc>
                  <a:txBody>
                    <a:bodyPr/>
                    <a:lstStyle/>
                    <a:p>
                      <a:pPr algn="ctr">
                        <a:lnSpc>
                          <a:spcPct val="120000"/>
                        </a:lnSpc>
                      </a:pPr>
                      <a:r>
                        <a:rPr lang="zh-CN" altLang="en-US" sz="1600" b="1" kern="100" dirty="0">
                          <a:solidFill>
                            <a:srgbClr val="C00000"/>
                          </a:solidFill>
                          <a:effectLst/>
                          <a:latin typeface="+mn-lt"/>
                          <a:ea typeface="+mn-ea"/>
                          <a:cs typeface="+mn-ea"/>
                          <a:sym typeface="+mn-lt"/>
                        </a:rPr>
                        <a:t>项目建设</a:t>
                      </a:r>
                      <a:endParaRPr lang="zh-CN" altLang="zh-CN" sz="1600" b="1" kern="100" dirty="0">
                        <a:solidFill>
                          <a:srgbClr val="C00000"/>
                        </a:solidFill>
                        <a:effectLst/>
                        <a:latin typeface="+mn-lt"/>
                        <a:ea typeface="+mn-ea"/>
                        <a:cs typeface="+mn-ea"/>
                        <a:sym typeface="+mn-lt"/>
                      </a:endParaRPr>
                    </a:p>
                  </a:txBody>
                  <a:tcPr marL="50270" marR="50270" marT="0" marB="0" anchor="ctr"/>
                </a:tc>
              </a:tr>
              <a:tr h="742018">
                <a:tc>
                  <a:txBody>
                    <a:bodyPr/>
                    <a:lstStyle/>
                    <a:p>
                      <a:pPr algn="ctr">
                        <a:lnSpc>
                          <a:spcPct val="130000"/>
                        </a:lnSpc>
                      </a:pPr>
                      <a:r>
                        <a:rPr lang="zh-CN" altLang="en-US" sz="1600" b="1" kern="100" dirty="0">
                          <a:effectLst/>
                          <a:latin typeface="+mn-lt"/>
                          <a:ea typeface="+mn-ea"/>
                          <a:cs typeface="+mn-ea"/>
                          <a:sym typeface="+mn-lt"/>
                        </a:rPr>
                        <a:t>第四章</a:t>
                      </a:r>
                      <a:endParaRPr lang="zh-CN" sz="1600" b="1" kern="100" dirty="0">
                        <a:effectLst/>
                        <a:latin typeface="+mn-lt"/>
                        <a:ea typeface="+mn-ea"/>
                        <a:cs typeface="+mn-ea"/>
                        <a:sym typeface="+mn-lt"/>
                      </a:endParaRPr>
                    </a:p>
                  </a:txBody>
                  <a:tcPr marL="50270" marR="50270" marT="0" marB="0" anchor="ctr"/>
                </a:tc>
                <a:tc>
                  <a:txBody>
                    <a:bodyPr/>
                    <a:lstStyle/>
                    <a:p>
                      <a:pPr algn="ctr">
                        <a:lnSpc>
                          <a:spcPct val="120000"/>
                        </a:lnSpc>
                      </a:pPr>
                      <a:r>
                        <a:rPr lang="zh-CN" altLang="en-US" sz="1600" b="1" kern="100" dirty="0">
                          <a:solidFill>
                            <a:srgbClr val="C00000"/>
                          </a:solidFill>
                          <a:effectLst/>
                          <a:latin typeface="+mn-lt"/>
                          <a:ea typeface="+mn-ea"/>
                          <a:cs typeface="+mn-ea"/>
                          <a:sym typeface="+mn-lt"/>
                        </a:rPr>
                        <a:t>能力建设</a:t>
                      </a:r>
                      <a:endParaRPr lang="zh-CN" sz="1600" b="1" kern="100" dirty="0">
                        <a:solidFill>
                          <a:srgbClr val="C00000"/>
                        </a:solidFill>
                        <a:effectLst/>
                        <a:latin typeface="+mn-lt"/>
                        <a:ea typeface="+mn-ea"/>
                        <a:cs typeface="+mn-ea"/>
                        <a:sym typeface="+mn-lt"/>
                      </a:endParaRPr>
                    </a:p>
                  </a:txBody>
                  <a:tcPr marL="50270" marR="50270" marT="0" marB="0" anchor="ctr"/>
                </a:tc>
              </a:tr>
              <a:tr h="742018">
                <a:tc>
                  <a:txBody>
                    <a:bodyPr/>
                    <a:lstStyle/>
                    <a:p>
                      <a:pPr algn="ctr">
                        <a:lnSpc>
                          <a:spcPct val="130000"/>
                        </a:lnSpc>
                      </a:pPr>
                      <a:r>
                        <a:rPr lang="zh-CN" sz="1600" b="1" kern="100" dirty="0">
                          <a:effectLst/>
                          <a:latin typeface="+mn-lt"/>
                          <a:ea typeface="+mn-ea"/>
                          <a:cs typeface="+mn-ea"/>
                          <a:sym typeface="+mn-lt"/>
                        </a:rPr>
                        <a:t>第</a:t>
                      </a:r>
                      <a:r>
                        <a:rPr lang="zh-CN" altLang="en-US" sz="1600" b="1" kern="100" dirty="0">
                          <a:effectLst/>
                          <a:latin typeface="+mn-lt"/>
                          <a:ea typeface="+mn-ea"/>
                          <a:cs typeface="+mn-ea"/>
                          <a:sym typeface="+mn-lt"/>
                        </a:rPr>
                        <a:t>五</a:t>
                      </a:r>
                      <a:r>
                        <a:rPr lang="zh-CN" sz="1600" b="1" kern="100" dirty="0">
                          <a:effectLst/>
                          <a:latin typeface="+mn-lt"/>
                          <a:ea typeface="+mn-ea"/>
                          <a:cs typeface="+mn-ea"/>
                          <a:sym typeface="+mn-lt"/>
                        </a:rPr>
                        <a:t>章</a:t>
                      </a:r>
                      <a:endParaRPr lang="zh-CN" sz="1600" b="1" kern="100" dirty="0">
                        <a:effectLst/>
                        <a:latin typeface="+mn-lt"/>
                        <a:ea typeface="+mn-ea"/>
                        <a:cs typeface="+mn-ea"/>
                        <a:sym typeface="+mn-lt"/>
                      </a:endParaRPr>
                    </a:p>
                  </a:txBody>
                  <a:tcPr marL="50270" marR="50270" marT="0" marB="0" anchor="ctr"/>
                </a:tc>
                <a:tc>
                  <a:txBody>
                    <a:bodyPr/>
                    <a:lstStyle/>
                    <a:p>
                      <a:pPr algn="ctr">
                        <a:lnSpc>
                          <a:spcPct val="120000"/>
                        </a:lnSpc>
                      </a:pPr>
                      <a:r>
                        <a:rPr lang="zh-CN" sz="1600" b="1" kern="100" dirty="0">
                          <a:solidFill>
                            <a:srgbClr val="C00000"/>
                          </a:solidFill>
                          <a:effectLst/>
                          <a:latin typeface="+mn-lt"/>
                          <a:ea typeface="+mn-ea"/>
                          <a:cs typeface="+mn-ea"/>
                          <a:sym typeface="+mn-lt"/>
                        </a:rPr>
                        <a:t>资源</a:t>
                      </a:r>
                      <a:r>
                        <a:rPr lang="zh-CN" altLang="en-US" sz="1600" b="1" kern="100" dirty="0">
                          <a:solidFill>
                            <a:srgbClr val="C00000"/>
                          </a:solidFill>
                          <a:effectLst/>
                          <a:latin typeface="+mn-lt"/>
                          <a:ea typeface="+mn-ea"/>
                          <a:cs typeface="+mn-ea"/>
                          <a:sym typeface="+mn-lt"/>
                        </a:rPr>
                        <a:t>建设</a:t>
                      </a:r>
                      <a:endParaRPr lang="zh-CN" sz="1600" b="1" kern="100" dirty="0">
                        <a:solidFill>
                          <a:srgbClr val="C00000"/>
                        </a:solidFill>
                        <a:effectLst/>
                        <a:latin typeface="+mn-lt"/>
                        <a:ea typeface="+mn-ea"/>
                        <a:cs typeface="+mn-ea"/>
                        <a:sym typeface="+mn-lt"/>
                      </a:endParaRPr>
                    </a:p>
                  </a:txBody>
                  <a:tcPr marL="50270" marR="50270" marT="0" marB="0" anchor="ctr"/>
                </a:tc>
              </a:tr>
              <a:tr h="742018">
                <a:tc>
                  <a:txBody>
                    <a:bodyPr/>
                    <a:lstStyle/>
                    <a:p>
                      <a:pPr algn="ctr">
                        <a:lnSpc>
                          <a:spcPct val="130000"/>
                        </a:lnSpc>
                      </a:pPr>
                      <a:r>
                        <a:rPr lang="zh-CN" sz="1600" b="1" kern="100" dirty="0">
                          <a:effectLst/>
                          <a:latin typeface="+mn-lt"/>
                          <a:ea typeface="+mn-ea"/>
                          <a:cs typeface="+mn-ea"/>
                          <a:sym typeface="+mn-lt"/>
                        </a:rPr>
                        <a:t>第</a:t>
                      </a:r>
                      <a:r>
                        <a:rPr lang="zh-CN" altLang="en-US" sz="1600" b="1" kern="100" dirty="0">
                          <a:effectLst/>
                          <a:latin typeface="+mn-lt"/>
                          <a:ea typeface="+mn-ea"/>
                          <a:cs typeface="+mn-ea"/>
                          <a:sym typeface="+mn-lt"/>
                        </a:rPr>
                        <a:t>六</a:t>
                      </a:r>
                      <a:r>
                        <a:rPr lang="zh-CN" sz="1600" b="1" kern="100" dirty="0">
                          <a:effectLst/>
                          <a:latin typeface="+mn-lt"/>
                          <a:ea typeface="+mn-ea"/>
                          <a:cs typeface="+mn-ea"/>
                          <a:sym typeface="+mn-lt"/>
                        </a:rPr>
                        <a:t>章</a:t>
                      </a:r>
                      <a:endParaRPr lang="zh-CN" sz="1600" b="1" kern="100" dirty="0">
                        <a:effectLst/>
                        <a:latin typeface="+mn-lt"/>
                        <a:ea typeface="+mn-ea"/>
                        <a:cs typeface="+mn-ea"/>
                        <a:sym typeface="+mn-lt"/>
                      </a:endParaRPr>
                    </a:p>
                  </a:txBody>
                  <a:tcPr marL="50270" marR="50270" marT="0" marB="0" anchor="ctr"/>
                </a:tc>
                <a:tc>
                  <a:txBody>
                    <a:bodyPr/>
                    <a:lstStyle/>
                    <a:p>
                      <a:pPr algn="ctr">
                        <a:lnSpc>
                          <a:spcPct val="120000"/>
                        </a:lnSpc>
                      </a:pPr>
                      <a:r>
                        <a:rPr lang="zh-CN" altLang="en-US" sz="1600" b="1" kern="100" dirty="0">
                          <a:solidFill>
                            <a:srgbClr val="C00000"/>
                          </a:solidFill>
                          <a:effectLst/>
                          <a:latin typeface="+mn-lt"/>
                          <a:ea typeface="+mn-ea"/>
                          <a:cs typeface="+mn-ea"/>
                          <a:sym typeface="+mn-lt"/>
                        </a:rPr>
                        <a:t>实施</a:t>
                      </a:r>
                      <a:r>
                        <a:rPr lang="zh-CN" sz="1600" b="1" kern="100" dirty="0">
                          <a:solidFill>
                            <a:srgbClr val="C00000"/>
                          </a:solidFill>
                          <a:effectLst/>
                          <a:latin typeface="+mn-lt"/>
                          <a:ea typeface="+mn-ea"/>
                          <a:cs typeface="+mn-ea"/>
                          <a:sym typeface="+mn-lt"/>
                        </a:rPr>
                        <a:t>保障</a:t>
                      </a:r>
                      <a:endParaRPr lang="zh-CN" sz="1600" b="1" kern="100" dirty="0">
                        <a:solidFill>
                          <a:srgbClr val="C00000"/>
                        </a:solidFill>
                        <a:effectLst/>
                        <a:latin typeface="+mn-lt"/>
                        <a:ea typeface="+mn-ea"/>
                        <a:cs typeface="+mn-ea"/>
                        <a:sym typeface="+mn-lt"/>
                      </a:endParaRPr>
                    </a:p>
                  </a:txBody>
                  <a:tcPr marL="50270" marR="50270" marT="0" marB="0" anchor="ctr"/>
                </a:tc>
              </a:tr>
            </a:tbl>
          </a:graphicData>
        </a:graphic>
      </p:graphicFrame>
      <p:sp>
        <p:nvSpPr>
          <p:cNvPr id="7" name="箭头: 五边形 6"/>
          <p:cNvSpPr/>
          <p:nvPr/>
        </p:nvSpPr>
        <p:spPr>
          <a:xfrm>
            <a:off x="3364225" y="2693145"/>
            <a:ext cx="489302" cy="369332"/>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矩形 11"/>
          <p:cNvSpPr/>
          <p:nvPr/>
        </p:nvSpPr>
        <p:spPr>
          <a:xfrm>
            <a:off x="3853526" y="1435954"/>
            <a:ext cx="7589534" cy="3693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cs typeface="+mn-ea"/>
                <a:sym typeface="+mn-lt"/>
              </a:rPr>
              <a:t>二</a:t>
            </a:r>
            <a:r>
              <a:rPr lang="en-US" altLang="zh-CN" sz="1800" b="1" dirty="0">
                <a:cs typeface="+mn-ea"/>
                <a:sym typeface="+mn-lt"/>
              </a:rPr>
              <a:t>/</a:t>
            </a:r>
            <a:r>
              <a:rPr lang="zh-CN" altLang="en-US" sz="1800" b="1" dirty="0">
                <a:cs typeface="+mn-ea"/>
                <a:sym typeface="+mn-lt"/>
              </a:rPr>
              <a:t>三级大纲（重点内容）</a:t>
            </a:r>
            <a:endParaRPr lang="zh-CN" altLang="en-US" sz="1800" b="1" dirty="0">
              <a:cs typeface="+mn-ea"/>
              <a:sym typeface="+mn-lt"/>
            </a:endParaRPr>
          </a:p>
        </p:txBody>
      </p:sp>
      <p:sp>
        <p:nvSpPr>
          <p:cNvPr id="17" name="文本框 16"/>
          <p:cNvSpPr txBox="1"/>
          <p:nvPr/>
        </p:nvSpPr>
        <p:spPr>
          <a:xfrm>
            <a:off x="4351600" y="2082093"/>
            <a:ext cx="5925164" cy="1569660"/>
          </a:xfrm>
          <a:prstGeom prst="rect">
            <a:avLst/>
          </a:prstGeom>
          <a:noFill/>
        </p:spPr>
        <p:txBody>
          <a:bodyPr wrap="square" rtlCol="0">
            <a:spAutoFit/>
          </a:bodyPr>
          <a:lstStyle>
            <a:defPPr>
              <a:defRPr lang="zh-CN"/>
            </a:defPPr>
            <a:lvl1pPr>
              <a:lnSpc>
                <a:spcPct val="150000"/>
              </a:lnSpc>
              <a:defRPr sz="1400">
                <a:latin typeface="微软雅黑" charset="-122"/>
                <a:ea typeface="微软雅黑" charset="-122"/>
              </a:defRPr>
            </a:lvl1pPr>
          </a:lstStyle>
          <a:p>
            <a:r>
              <a:rPr lang="zh-CN" altLang="en-US" sz="1600" b="1" dirty="0">
                <a:latin typeface="+mn-lt"/>
                <a:ea typeface="+mn-ea"/>
                <a:cs typeface="+mn-ea"/>
                <a:sym typeface="+mn-lt"/>
              </a:rPr>
              <a:t>一</a:t>
            </a:r>
            <a:r>
              <a:rPr lang="zh-CN" altLang="en-US" sz="1600" b="1" dirty="0">
                <a:latin typeface="+mn-ea"/>
                <a:ea typeface="+mn-ea"/>
                <a:cs typeface="+mn-ea"/>
                <a:sym typeface="+mn-lt"/>
              </a:rPr>
              <a:t>、指导思想：一个指导思想</a:t>
            </a:r>
            <a:endParaRPr lang="en-US" altLang="zh-CN" sz="1600" b="1" dirty="0">
              <a:latin typeface="+mn-ea"/>
              <a:ea typeface="+mn-ea"/>
              <a:cs typeface="+mn-ea"/>
              <a:sym typeface="+mn-lt"/>
            </a:endParaRPr>
          </a:p>
          <a:p>
            <a:r>
              <a:rPr lang="zh-CN" altLang="en-US" sz="1600" b="1" dirty="0">
                <a:latin typeface="+mn-ea"/>
                <a:ea typeface="+mn-ea"/>
                <a:cs typeface="+mn-ea"/>
                <a:sym typeface="+mn-lt"/>
              </a:rPr>
              <a:t>二、基本原则：四项基本原则</a:t>
            </a:r>
            <a:endParaRPr lang="en-US" altLang="zh-CN" sz="1600" b="1" dirty="0">
              <a:latin typeface="+mn-ea"/>
              <a:ea typeface="+mn-ea"/>
              <a:cs typeface="+mn-ea"/>
              <a:sym typeface="+mn-lt"/>
            </a:endParaRPr>
          </a:p>
          <a:p>
            <a:r>
              <a:rPr lang="zh-CN" altLang="en-US" sz="1600" b="1" dirty="0">
                <a:latin typeface="+mn-ea"/>
                <a:ea typeface="+mn-ea"/>
                <a:cs typeface="+mn-ea"/>
                <a:sym typeface="+mn-lt"/>
              </a:rPr>
              <a:t>三、发展目标：</a:t>
            </a:r>
            <a:r>
              <a:rPr lang="zh-CN" altLang="en-US" sz="1600" dirty="0">
                <a:latin typeface="+mn-ea"/>
                <a:ea typeface="+mn-ea"/>
                <a:cs typeface="+mn-ea"/>
                <a:sym typeface="+mn-lt"/>
              </a:rPr>
              <a:t> “六化建设”</a:t>
            </a:r>
            <a:endParaRPr lang="en-US" altLang="zh-CN" sz="1600" b="1" dirty="0">
              <a:latin typeface="+mn-ea"/>
              <a:ea typeface="+mn-ea"/>
              <a:cs typeface="+mn-ea"/>
              <a:sym typeface="+mn-lt"/>
            </a:endParaRPr>
          </a:p>
          <a:p>
            <a:r>
              <a:rPr lang="zh-CN" altLang="en-US" sz="1600" dirty="0">
                <a:latin typeface="+mn-ea"/>
                <a:ea typeface="+mn-ea"/>
              </a:rPr>
              <a:t>四、</a:t>
            </a:r>
            <a:r>
              <a:rPr lang="zh-CN" altLang="zh-CN" sz="1600" dirty="0">
                <a:latin typeface="+mn-ea"/>
                <a:ea typeface="+mn-ea"/>
              </a:rPr>
              <a:t>关键举措：“四建设一保障”</a:t>
            </a:r>
            <a:r>
              <a:rPr lang="en-US" altLang="zh-CN" sz="1600" dirty="0">
                <a:latin typeface="+mn-ea"/>
                <a:ea typeface="+mn-ea"/>
              </a:rPr>
              <a:t>-</a:t>
            </a:r>
            <a:r>
              <a:rPr lang="zh-CN" altLang="en-US" sz="1600" dirty="0">
                <a:latin typeface="+mn-ea"/>
                <a:ea typeface="+mn-ea"/>
                <a:cs typeface="+mn-ea"/>
                <a:sym typeface="+mn-lt"/>
              </a:rPr>
              <a:t>二十六项重点工作任务</a:t>
            </a:r>
            <a:endParaRPr lang="zh-CN" altLang="en-US" sz="1600" dirty="0">
              <a:latin typeface="+mn-ea"/>
              <a:ea typeface="+mn-ea"/>
              <a:cs typeface="+mn-ea"/>
              <a:sym typeface="+mn-lt"/>
            </a:endParaRPr>
          </a:p>
        </p:txBody>
      </p:sp>
      <p:sp>
        <p:nvSpPr>
          <p:cNvPr id="9" name="文本框 8"/>
          <p:cNvSpPr txBox="1"/>
          <p:nvPr/>
        </p:nvSpPr>
        <p:spPr>
          <a:xfrm>
            <a:off x="488861" y="206936"/>
            <a:ext cx="9096865" cy="400110"/>
          </a:xfrm>
          <a:prstGeom prst="rect">
            <a:avLst/>
          </a:prstGeom>
          <a:noFill/>
        </p:spPr>
        <p:txBody>
          <a:bodyPr wrap="square" rtlCol="0">
            <a:spAutoFit/>
          </a:bodyPr>
          <a:lstStyle/>
          <a:p>
            <a:r>
              <a:rPr kumimoji="1" lang="en-US" altLang="zh-CN" sz="2000" dirty="0">
                <a:latin typeface="+mn-lt"/>
                <a:ea typeface="+mn-ea"/>
                <a:cs typeface="+mn-ea"/>
                <a:sym typeface="+mn-lt"/>
              </a:rPr>
              <a:t>【</a:t>
            </a:r>
            <a:r>
              <a:rPr kumimoji="1" lang="zh-CN" altLang="en-US" sz="2000" dirty="0">
                <a:latin typeface="+mn-lt"/>
                <a:ea typeface="+mn-ea"/>
                <a:cs typeface="+mn-ea"/>
                <a:sym typeface="+mn-lt"/>
              </a:rPr>
              <a:t>目录</a:t>
            </a:r>
            <a:r>
              <a:rPr kumimoji="1" lang="en-US" altLang="zh-CN" sz="2000" dirty="0">
                <a:latin typeface="+mn-lt"/>
                <a:ea typeface="+mn-ea"/>
                <a:cs typeface="+mn-ea"/>
                <a:sym typeface="+mn-lt"/>
              </a:rPr>
              <a:t>】</a:t>
            </a:r>
            <a:r>
              <a:rPr kumimoji="1" lang="zh-CN" altLang="en-US" sz="2000" dirty="0">
                <a:latin typeface="+mn-lt"/>
                <a:ea typeface="+mn-ea"/>
                <a:cs typeface="+mn-ea"/>
                <a:sym typeface="+mn-lt"/>
              </a:rPr>
              <a:t>中银教育培训“十四五”规划</a:t>
            </a:r>
            <a:endParaRPr kumimoji="1" lang="zh-CN" altLang="en-US" sz="2000" dirty="0">
              <a:latin typeface="+mn-lt"/>
              <a:ea typeface="+mn-ea"/>
              <a:cs typeface="+mn-ea"/>
              <a:sym typeface="+mn-lt"/>
            </a:endParaRPr>
          </a:p>
        </p:txBody>
      </p:sp>
      <p:sp>
        <p:nvSpPr>
          <p:cNvPr id="10"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95325" y="220603"/>
            <a:ext cx="6093822"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1</a:t>
            </a:r>
            <a:r>
              <a:rPr kumimoji="1" lang="zh-CN" altLang="en-US" sz="2000" dirty="0">
                <a:latin typeface="+mn-lt"/>
                <a:ea typeface="+mn-ea"/>
                <a:cs typeface="+mn-ea"/>
                <a:sym typeface="+mn-lt"/>
              </a:rPr>
              <a:t>、指导思想</a:t>
            </a:r>
            <a:endParaRPr kumimoji="1" lang="en-US" altLang="zh-CN" sz="2000" dirty="0">
              <a:latin typeface="+mn-lt"/>
              <a:ea typeface="+mn-ea"/>
              <a:cs typeface="+mn-ea"/>
              <a:sym typeface="+mn-lt"/>
            </a:endParaRPr>
          </a:p>
        </p:txBody>
      </p:sp>
      <p:sp>
        <p:nvSpPr>
          <p:cNvPr id="13" name="文本框 12"/>
          <p:cNvSpPr txBox="1"/>
          <p:nvPr/>
        </p:nvSpPr>
        <p:spPr>
          <a:xfrm>
            <a:off x="695325" y="1528554"/>
            <a:ext cx="10797638" cy="3077124"/>
          </a:xfrm>
          <a:prstGeom prst="rect">
            <a:avLst/>
          </a:prstGeom>
          <a:noFill/>
        </p:spPr>
        <p:txBody>
          <a:bodyPr wrap="square">
            <a:spAutoFit/>
          </a:bodyPr>
          <a:lstStyle/>
          <a:p>
            <a:pPr indent="361950" algn="just">
              <a:lnSpc>
                <a:spcPct val="200000"/>
              </a:lnSpc>
            </a:pPr>
            <a:r>
              <a:rPr lang="zh-CN" altLang="zh-CN" sz="2000" b="0" dirty="0">
                <a:latin typeface="+mn-ea"/>
                <a:ea typeface="+mn-ea"/>
              </a:rPr>
              <a:t>以习近平新时代中国特色社会主义等思想为指导，根据《</a:t>
            </a:r>
            <a:r>
              <a:rPr lang="en-US" altLang="zh-CN" sz="2000" b="0" dirty="0">
                <a:latin typeface="+mn-ea"/>
                <a:ea typeface="+mn-ea"/>
              </a:rPr>
              <a:t>2018-2022</a:t>
            </a:r>
            <a:r>
              <a:rPr lang="zh-CN" altLang="zh-CN" sz="2000" b="0" dirty="0">
                <a:latin typeface="+mn-ea"/>
                <a:ea typeface="+mn-ea"/>
              </a:rPr>
              <a:t>年全国干部教育培训规划》、《</a:t>
            </a:r>
            <a:r>
              <a:rPr lang="en-US" altLang="zh-CN" sz="2000" b="0" dirty="0">
                <a:latin typeface="+mn-ea"/>
                <a:ea typeface="+mn-ea"/>
              </a:rPr>
              <a:t>2019-2023</a:t>
            </a:r>
            <a:r>
              <a:rPr lang="zh-CN" altLang="zh-CN" sz="2000" b="0" dirty="0">
                <a:latin typeface="+mn-ea"/>
                <a:ea typeface="+mn-ea"/>
              </a:rPr>
              <a:t>年全国党政领导班子建设规划纲要》和《国家职业教育改革实施方案》相关要求，参照《中共中央关于制定国民经济和社会发展第十四个五年规划和二〇三五年远景目标的建议》，结合中国银行发展战略和对教育培训工作的总体要求，编制中国银行教育培训“十四五”规划</a:t>
            </a:r>
            <a:r>
              <a:rPr lang="zh-CN" altLang="en-US" sz="2000" b="0" dirty="0">
                <a:latin typeface="+mn-ea"/>
                <a:ea typeface="+mn-ea"/>
              </a:rPr>
              <a:t>，为建设全球一流现代化银行集团提供强有力的人才支撑和智力支持。</a:t>
            </a:r>
            <a:endParaRPr lang="zh-CN" altLang="zh-CN" sz="1400" b="0" kern="100" dirty="0">
              <a:effectLst/>
              <a:latin typeface="+mn-ea"/>
              <a:ea typeface="+mn-ea"/>
              <a:cs typeface="+mn-ea"/>
              <a:sym typeface="+mn-lt"/>
            </a:endParaRPr>
          </a:p>
        </p:txBody>
      </p:sp>
      <p:sp>
        <p:nvSpPr>
          <p:cNvPr id="4"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95325" y="265931"/>
            <a:ext cx="6093822"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2</a:t>
            </a:r>
            <a:r>
              <a:rPr kumimoji="1" lang="zh-CN" altLang="en-US" sz="2000" dirty="0">
                <a:latin typeface="+mn-lt"/>
                <a:ea typeface="+mn-ea"/>
                <a:cs typeface="+mn-ea"/>
                <a:sym typeface="+mn-lt"/>
              </a:rPr>
              <a:t>、基本原则</a:t>
            </a:r>
            <a:endParaRPr kumimoji="1" lang="en-US" altLang="zh-CN" sz="2000" dirty="0">
              <a:latin typeface="+mn-lt"/>
              <a:ea typeface="+mn-ea"/>
              <a:cs typeface="+mn-ea"/>
              <a:sym typeface="+mn-lt"/>
            </a:endParaRPr>
          </a:p>
        </p:txBody>
      </p:sp>
      <p:sp>
        <p:nvSpPr>
          <p:cNvPr id="15"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grpSp>
        <p:nvGrpSpPr>
          <p:cNvPr id="13" name="组合 12"/>
          <p:cNvGrpSpPr/>
          <p:nvPr/>
        </p:nvGrpSpPr>
        <p:grpSpPr>
          <a:xfrm>
            <a:off x="-2015727" y="1059754"/>
            <a:ext cx="5949416" cy="5669056"/>
            <a:chOff x="-184390" y="1029055"/>
            <a:chExt cx="5949416" cy="5669056"/>
          </a:xfrm>
        </p:grpSpPr>
        <p:sp>
          <p:nvSpPr>
            <p:cNvPr id="21" name="空心弧 20"/>
            <p:cNvSpPr/>
            <p:nvPr/>
          </p:nvSpPr>
          <p:spPr>
            <a:xfrm>
              <a:off x="-184390" y="1029055"/>
              <a:ext cx="5669056" cy="5669056"/>
            </a:xfrm>
            <a:prstGeom prst="blockArc">
              <a:avLst>
                <a:gd name="adj1" fmla="val 18900000"/>
                <a:gd name="adj2" fmla="val 2700000"/>
                <a:gd name="adj3" fmla="val 381"/>
              </a:avLst>
            </a:prstGeom>
            <a:ln>
              <a:solidFill>
                <a:schemeClr val="bg1">
                  <a:lumMod val="50000"/>
                </a:schemeClr>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zh-CN" altLang="en-US">
                <a:cs typeface="+mn-ea"/>
                <a:sym typeface="+mn-lt"/>
              </a:endParaRPr>
            </a:p>
          </p:txBody>
        </p:sp>
        <p:sp>
          <p:nvSpPr>
            <p:cNvPr id="23" name="椭圆 22"/>
            <p:cNvSpPr/>
            <p:nvPr/>
          </p:nvSpPr>
          <p:spPr>
            <a:xfrm>
              <a:off x="4715437" y="2082287"/>
              <a:ext cx="658024" cy="658024"/>
            </a:xfrm>
            <a:prstGeom prst="ellipse">
              <a:avLst/>
            </a:prstGeom>
            <a:solidFill>
              <a:srgbClr val="C00000"/>
            </a:solidFill>
            <a:ln w="38100">
              <a:solidFill>
                <a:srgbClr val="C00000"/>
              </a:solidFill>
            </a:ln>
            <a:effectLst>
              <a:outerShdw blurRad="50800" dist="38100" dir="5400000" algn="t" rotWithShape="0">
                <a:prstClr val="black">
                  <a:alpha val="40000"/>
                </a:prstClr>
              </a:outerShdw>
            </a:effectLst>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zh-CN" altLang="en-US">
                <a:cs typeface="+mn-ea"/>
                <a:sym typeface="+mn-lt"/>
              </a:endParaRPr>
            </a:p>
          </p:txBody>
        </p:sp>
        <p:sp>
          <p:nvSpPr>
            <p:cNvPr id="26" name="椭圆 25"/>
            <p:cNvSpPr/>
            <p:nvPr/>
          </p:nvSpPr>
          <p:spPr>
            <a:xfrm>
              <a:off x="5044449" y="2938344"/>
              <a:ext cx="658024" cy="658024"/>
            </a:xfrm>
            <a:prstGeom prst="ellipse">
              <a:avLst/>
            </a:prstGeom>
            <a:solidFill>
              <a:srgbClr val="C00000"/>
            </a:solidFill>
            <a:ln w="38100">
              <a:solidFill>
                <a:srgbClr val="C00000"/>
              </a:solidFill>
            </a:ln>
            <a:effectLst>
              <a:outerShdw blurRad="50800" dist="38100" dir="5400000" algn="t" rotWithShape="0">
                <a:prstClr val="black">
                  <a:alpha val="40000"/>
                </a:prstClr>
              </a:outerShdw>
            </a:effectLst>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zh-CN" altLang="en-US">
                <a:cs typeface="+mn-ea"/>
                <a:sym typeface="+mn-lt"/>
              </a:endParaRPr>
            </a:p>
          </p:txBody>
        </p:sp>
        <p:sp>
          <p:nvSpPr>
            <p:cNvPr id="27" name="椭圆 26"/>
            <p:cNvSpPr/>
            <p:nvPr/>
          </p:nvSpPr>
          <p:spPr>
            <a:xfrm>
              <a:off x="5107002" y="3931271"/>
              <a:ext cx="658024" cy="658024"/>
            </a:xfrm>
            <a:prstGeom prst="ellipse">
              <a:avLst/>
            </a:prstGeom>
            <a:solidFill>
              <a:srgbClr val="C00000"/>
            </a:solidFill>
            <a:ln w="38100">
              <a:solidFill>
                <a:srgbClr val="C00000"/>
              </a:solidFill>
            </a:ln>
            <a:effectLst>
              <a:outerShdw blurRad="50800" dist="38100" dir="5400000" algn="t" rotWithShape="0">
                <a:prstClr val="black">
                  <a:alpha val="40000"/>
                </a:prstClr>
              </a:outerShdw>
            </a:effectLst>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zh-CN" altLang="en-US">
                <a:cs typeface="+mn-ea"/>
                <a:sym typeface="+mn-lt"/>
              </a:endParaRPr>
            </a:p>
          </p:txBody>
        </p:sp>
        <p:sp>
          <p:nvSpPr>
            <p:cNvPr id="28" name="椭圆 27"/>
            <p:cNvSpPr/>
            <p:nvPr/>
          </p:nvSpPr>
          <p:spPr>
            <a:xfrm>
              <a:off x="4808139" y="4787328"/>
              <a:ext cx="658024" cy="658024"/>
            </a:xfrm>
            <a:prstGeom prst="ellipse">
              <a:avLst/>
            </a:prstGeom>
            <a:solidFill>
              <a:srgbClr val="C00000"/>
            </a:solidFill>
            <a:ln w="38100">
              <a:solidFill>
                <a:srgbClr val="C00000"/>
              </a:solidFill>
            </a:ln>
            <a:effectLst>
              <a:outerShdw blurRad="50800" dist="38100" dir="5400000" algn="t" rotWithShape="0">
                <a:prstClr val="black">
                  <a:alpha val="40000"/>
                </a:prstClr>
              </a:outerShdw>
            </a:effectLst>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zh-CN" altLang="en-US">
                <a:cs typeface="+mn-ea"/>
                <a:sym typeface="+mn-lt"/>
              </a:endParaRPr>
            </a:p>
          </p:txBody>
        </p:sp>
      </p:grpSp>
      <p:sp>
        <p:nvSpPr>
          <p:cNvPr id="29" name="文本框 28"/>
          <p:cNvSpPr txBox="1"/>
          <p:nvPr/>
        </p:nvSpPr>
        <p:spPr>
          <a:xfrm>
            <a:off x="3933689" y="2241943"/>
            <a:ext cx="3501669" cy="400110"/>
          </a:xfrm>
          <a:prstGeom prst="rect">
            <a:avLst/>
          </a:prstGeom>
          <a:noFill/>
        </p:spPr>
        <p:txBody>
          <a:bodyPr wrap="square">
            <a:spAutoFit/>
          </a:bodyPr>
          <a:lstStyle>
            <a:defPPr>
              <a:defRPr lang="en-US"/>
            </a:defPPr>
            <a:lvl1pPr>
              <a:defRPr sz="2000">
                <a:solidFill>
                  <a:srgbClr val="C00000"/>
                </a:solidFill>
                <a:effectLst/>
                <a:latin typeface="+mn-lt"/>
                <a:ea typeface="+mn-ea"/>
                <a:cs typeface="+mn-ea"/>
              </a:defRPr>
            </a:lvl1pPr>
          </a:lstStyle>
          <a:p>
            <a:r>
              <a:rPr lang="zh-CN" altLang="zh-CN" dirty="0"/>
              <a:t>需求导向，立足全球与未来</a:t>
            </a:r>
            <a:endParaRPr lang="zh-CN" altLang="en-US" dirty="0"/>
          </a:p>
        </p:txBody>
      </p:sp>
      <p:sp>
        <p:nvSpPr>
          <p:cNvPr id="30" name="文本框 29"/>
          <p:cNvSpPr txBox="1"/>
          <p:nvPr/>
        </p:nvSpPr>
        <p:spPr>
          <a:xfrm>
            <a:off x="4088943" y="3161607"/>
            <a:ext cx="3867702" cy="400110"/>
          </a:xfrm>
          <a:prstGeom prst="rect">
            <a:avLst/>
          </a:prstGeom>
          <a:noFill/>
        </p:spPr>
        <p:txBody>
          <a:bodyPr wrap="square">
            <a:spAutoFit/>
          </a:bodyPr>
          <a:lstStyle>
            <a:defPPr>
              <a:defRPr lang="en-US"/>
            </a:defPPr>
            <a:lvl1pPr>
              <a:defRPr sz="2000">
                <a:solidFill>
                  <a:srgbClr val="C00000"/>
                </a:solidFill>
                <a:effectLst/>
                <a:latin typeface="+mn-lt"/>
                <a:ea typeface="+mn-ea"/>
                <a:cs typeface="+mn-ea"/>
              </a:defRPr>
            </a:lvl1pPr>
          </a:lstStyle>
          <a:p>
            <a:r>
              <a:rPr lang="zh-CN" altLang="zh-CN" dirty="0"/>
              <a:t>服务全行，聚焦战略与关键人才 </a:t>
            </a:r>
            <a:endParaRPr lang="zh-CN" altLang="en-US" dirty="0"/>
          </a:p>
        </p:txBody>
      </p:sp>
      <p:sp>
        <p:nvSpPr>
          <p:cNvPr id="31" name="文本框 30"/>
          <p:cNvSpPr txBox="1"/>
          <p:nvPr/>
        </p:nvSpPr>
        <p:spPr>
          <a:xfrm>
            <a:off x="4088943" y="4090927"/>
            <a:ext cx="3501669" cy="400110"/>
          </a:xfrm>
          <a:prstGeom prst="rect">
            <a:avLst/>
          </a:prstGeom>
          <a:noFill/>
        </p:spPr>
        <p:txBody>
          <a:bodyPr wrap="square">
            <a:spAutoFit/>
          </a:bodyPr>
          <a:lstStyle>
            <a:defPPr>
              <a:defRPr lang="en-US"/>
            </a:defPPr>
            <a:lvl1pPr>
              <a:defRPr sz="2000">
                <a:solidFill>
                  <a:srgbClr val="C00000"/>
                </a:solidFill>
                <a:effectLst/>
                <a:latin typeface="+mn-lt"/>
                <a:ea typeface="+mn-ea"/>
                <a:cs typeface="+mn-ea"/>
              </a:defRPr>
            </a:lvl1pPr>
          </a:lstStyle>
          <a:p>
            <a:r>
              <a:rPr lang="zh-CN" altLang="zh-CN" dirty="0"/>
              <a:t>以人为本，赋能成长与发展 </a:t>
            </a:r>
            <a:endParaRPr lang="zh-CN" altLang="en-US" dirty="0"/>
          </a:p>
        </p:txBody>
      </p:sp>
      <p:sp>
        <p:nvSpPr>
          <p:cNvPr id="32" name="文本框 31"/>
          <p:cNvSpPr txBox="1"/>
          <p:nvPr/>
        </p:nvSpPr>
        <p:spPr>
          <a:xfrm>
            <a:off x="3933689" y="5020247"/>
            <a:ext cx="3501669" cy="400110"/>
          </a:xfrm>
          <a:prstGeom prst="rect">
            <a:avLst/>
          </a:prstGeom>
          <a:noFill/>
        </p:spPr>
        <p:txBody>
          <a:bodyPr wrap="square">
            <a:spAutoFit/>
          </a:bodyPr>
          <a:lstStyle>
            <a:defPPr>
              <a:defRPr lang="en-US"/>
            </a:defPPr>
            <a:lvl1pPr>
              <a:defRPr sz="2000">
                <a:solidFill>
                  <a:srgbClr val="C00000"/>
                </a:solidFill>
                <a:effectLst/>
                <a:latin typeface="+mn-lt"/>
                <a:ea typeface="+mn-ea"/>
                <a:cs typeface="+mn-ea"/>
              </a:defRPr>
            </a:lvl1pPr>
          </a:lstStyle>
          <a:p>
            <a:r>
              <a:rPr lang="zh-CN" altLang="zh-CN" dirty="0"/>
              <a:t>开放融合，服务场景与社会 </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963100" y="1852690"/>
            <a:ext cx="4183613" cy="4560138"/>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695325" y="222248"/>
            <a:ext cx="6093822"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3</a:t>
            </a:r>
            <a:r>
              <a:rPr kumimoji="1" lang="zh-CN" altLang="en-US" sz="2000" dirty="0">
                <a:latin typeface="+mn-lt"/>
                <a:ea typeface="+mn-ea"/>
                <a:cs typeface="+mn-ea"/>
                <a:sym typeface="+mn-lt"/>
              </a:rPr>
              <a:t>、发展目标：“六化”</a:t>
            </a:r>
            <a:endParaRPr kumimoji="1" lang="en-US" altLang="zh-CN" sz="2000" dirty="0">
              <a:latin typeface="+mn-lt"/>
              <a:ea typeface="+mn-ea"/>
              <a:cs typeface="+mn-ea"/>
              <a:sym typeface="+mn-lt"/>
            </a:endParaRPr>
          </a:p>
        </p:txBody>
      </p:sp>
      <p:sp>
        <p:nvSpPr>
          <p:cNvPr id="12" name="任意形状 10"/>
          <p:cNvSpPr/>
          <p:nvPr/>
        </p:nvSpPr>
        <p:spPr>
          <a:xfrm>
            <a:off x="1814208" y="1761991"/>
            <a:ext cx="3423744" cy="676950"/>
          </a:xfrm>
          <a:custGeom>
            <a:avLst/>
            <a:gdLst>
              <a:gd name="connsiteX0" fmla="*/ 0 w 2031503"/>
              <a:gd name="connsiteY0" fmla="*/ 169295 h 1015751"/>
              <a:gd name="connsiteX1" fmla="*/ 169295 w 2031503"/>
              <a:gd name="connsiteY1" fmla="*/ 0 h 1015751"/>
              <a:gd name="connsiteX2" fmla="*/ 1862208 w 2031503"/>
              <a:gd name="connsiteY2" fmla="*/ 0 h 1015751"/>
              <a:gd name="connsiteX3" fmla="*/ 2031503 w 2031503"/>
              <a:gd name="connsiteY3" fmla="*/ 169295 h 1015751"/>
              <a:gd name="connsiteX4" fmla="*/ 2031503 w 2031503"/>
              <a:gd name="connsiteY4" fmla="*/ 846456 h 1015751"/>
              <a:gd name="connsiteX5" fmla="*/ 1862208 w 2031503"/>
              <a:gd name="connsiteY5" fmla="*/ 1015751 h 1015751"/>
              <a:gd name="connsiteX6" fmla="*/ 169295 w 2031503"/>
              <a:gd name="connsiteY6" fmla="*/ 1015751 h 1015751"/>
              <a:gd name="connsiteX7" fmla="*/ 0 w 2031503"/>
              <a:gd name="connsiteY7" fmla="*/ 846456 h 1015751"/>
              <a:gd name="connsiteX8" fmla="*/ 0 w 2031503"/>
              <a:gd name="connsiteY8" fmla="*/ 169295 h 101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503" h="1015751">
                <a:moveTo>
                  <a:pt x="0" y="169295"/>
                </a:moveTo>
                <a:cubicBezTo>
                  <a:pt x="0" y="75796"/>
                  <a:pt x="75796" y="0"/>
                  <a:pt x="169295" y="0"/>
                </a:cubicBezTo>
                <a:lnTo>
                  <a:pt x="1862208" y="0"/>
                </a:lnTo>
                <a:cubicBezTo>
                  <a:pt x="1955707" y="0"/>
                  <a:pt x="2031503" y="75796"/>
                  <a:pt x="2031503" y="169295"/>
                </a:cubicBezTo>
                <a:lnTo>
                  <a:pt x="2031503" y="846456"/>
                </a:lnTo>
                <a:cubicBezTo>
                  <a:pt x="2031503" y="939955"/>
                  <a:pt x="1955707" y="1015751"/>
                  <a:pt x="1862208" y="1015751"/>
                </a:cubicBezTo>
                <a:lnTo>
                  <a:pt x="169295" y="1015751"/>
                </a:lnTo>
                <a:cubicBezTo>
                  <a:pt x="75796" y="1015751"/>
                  <a:pt x="0" y="939955"/>
                  <a:pt x="0" y="846456"/>
                </a:cubicBezTo>
                <a:lnTo>
                  <a:pt x="0" y="169295"/>
                </a:lnTo>
                <a:close/>
              </a:path>
            </a:pathLst>
          </a:custGeom>
          <a:ln>
            <a:solidFill>
              <a:srgbClr val="C0000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1505" tIns="171505" rIns="171505" bIns="171505" numCol="1" spcCol="1270" anchor="ctr" anchorCtr="0">
            <a:noAutofit/>
          </a:bodyPr>
          <a:lstStyle/>
          <a:p>
            <a:pPr marL="0" lvl="0" indent="0" algn="ctr" defTabSz="1422400" rtl="0">
              <a:lnSpc>
                <a:spcPct val="90000"/>
              </a:lnSpc>
              <a:spcBef>
                <a:spcPct val="0"/>
              </a:spcBef>
              <a:spcAft>
                <a:spcPct val="35000"/>
              </a:spcAft>
              <a:buNone/>
            </a:pPr>
            <a:r>
              <a:rPr lang="zh-CN" altLang="en-US" sz="2000" kern="1200" dirty="0">
                <a:latin typeface="+mn-ea"/>
                <a:cs typeface="+mn-ea"/>
                <a:sym typeface="+mn-lt"/>
              </a:rPr>
              <a:t>专业化</a:t>
            </a:r>
            <a:endParaRPr lang="zh-CN" altLang="en-US" sz="2000" kern="1200" dirty="0">
              <a:latin typeface="+mn-ea"/>
              <a:cs typeface="+mn-ea"/>
              <a:sym typeface="+mn-lt"/>
            </a:endParaRPr>
          </a:p>
        </p:txBody>
      </p:sp>
      <p:sp>
        <p:nvSpPr>
          <p:cNvPr id="34" name="矩形: 圆角 33"/>
          <p:cNvSpPr/>
          <p:nvPr/>
        </p:nvSpPr>
        <p:spPr>
          <a:xfrm>
            <a:off x="1017699" y="1931350"/>
            <a:ext cx="763709" cy="355917"/>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n-ea"/>
                <a:cs typeface="+mn-ea"/>
                <a:sym typeface="+mn-lt"/>
              </a:rPr>
              <a:t>01</a:t>
            </a:r>
            <a:endParaRPr lang="zh-CN" altLang="en-US" sz="2000" b="1" dirty="0">
              <a:solidFill>
                <a:schemeClr val="bg1"/>
              </a:solidFill>
              <a:latin typeface="+mn-ea"/>
              <a:cs typeface="+mn-ea"/>
              <a:sym typeface="+mn-lt"/>
            </a:endParaRPr>
          </a:p>
        </p:txBody>
      </p:sp>
      <p:sp>
        <p:nvSpPr>
          <p:cNvPr id="24" name="任意形状 10"/>
          <p:cNvSpPr/>
          <p:nvPr/>
        </p:nvSpPr>
        <p:spPr>
          <a:xfrm>
            <a:off x="1814208" y="2487888"/>
            <a:ext cx="3423744" cy="676950"/>
          </a:xfrm>
          <a:custGeom>
            <a:avLst/>
            <a:gdLst>
              <a:gd name="connsiteX0" fmla="*/ 0 w 2031503"/>
              <a:gd name="connsiteY0" fmla="*/ 169295 h 1015751"/>
              <a:gd name="connsiteX1" fmla="*/ 169295 w 2031503"/>
              <a:gd name="connsiteY1" fmla="*/ 0 h 1015751"/>
              <a:gd name="connsiteX2" fmla="*/ 1862208 w 2031503"/>
              <a:gd name="connsiteY2" fmla="*/ 0 h 1015751"/>
              <a:gd name="connsiteX3" fmla="*/ 2031503 w 2031503"/>
              <a:gd name="connsiteY3" fmla="*/ 169295 h 1015751"/>
              <a:gd name="connsiteX4" fmla="*/ 2031503 w 2031503"/>
              <a:gd name="connsiteY4" fmla="*/ 846456 h 1015751"/>
              <a:gd name="connsiteX5" fmla="*/ 1862208 w 2031503"/>
              <a:gd name="connsiteY5" fmla="*/ 1015751 h 1015751"/>
              <a:gd name="connsiteX6" fmla="*/ 169295 w 2031503"/>
              <a:gd name="connsiteY6" fmla="*/ 1015751 h 1015751"/>
              <a:gd name="connsiteX7" fmla="*/ 0 w 2031503"/>
              <a:gd name="connsiteY7" fmla="*/ 846456 h 1015751"/>
              <a:gd name="connsiteX8" fmla="*/ 0 w 2031503"/>
              <a:gd name="connsiteY8" fmla="*/ 169295 h 101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503" h="1015751">
                <a:moveTo>
                  <a:pt x="0" y="169295"/>
                </a:moveTo>
                <a:cubicBezTo>
                  <a:pt x="0" y="75796"/>
                  <a:pt x="75796" y="0"/>
                  <a:pt x="169295" y="0"/>
                </a:cubicBezTo>
                <a:lnTo>
                  <a:pt x="1862208" y="0"/>
                </a:lnTo>
                <a:cubicBezTo>
                  <a:pt x="1955707" y="0"/>
                  <a:pt x="2031503" y="75796"/>
                  <a:pt x="2031503" y="169295"/>
                </a:cubicBezTo>
                <a:lnTo>
                  <a:pt x="2031503" y="846456"/>
                </a:lnTo>
                <a:cubicBezTo>
                  <a:pt x="2031503" y="939955"/>
                  <a:pt x="1955707" y="1015751"/>
                  <a:pt x="1862208" y="1015751"/>
                </a:cubicBezTo>
                <a:lnTo>
                  <a:pt x="169295" y="1015751"/>
                </a:lnTo>
                <a:cubicBezTo>
                  <a:pt x="75796" y="1015751"/>
                  <a:pt x="0" y="939955"/>
                  <a:pt x="0" y="846456"/>
                </a:cubicBezTo>
                <a:lnTo>
                  <a:pt x="0" y="169295"/>
                </a:lnTo>
                <a:close/>
              </a:path>
            </a:pathLst>
          </a:custGeom>
          <a:ln>
            <a:solidFill>
              <a:srgbClr val="C0000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1505" tIns="171505" rIns="171505" bIns="171505" numCol="1" spcCol="1270" anchor="ctr" anchorCtr="0">
            <a:noAutofit/>
          </a:bodyPr>
          <a:lstStyle/>
          <a:p>
            <a:pPr marL="0" lvl="0" indent="0" algn="ctr" defTabSz="1422400" rtl="0">
              <a:lnSpc>
                <a:spcPct val="90000"/>
              </a:lnSpc>
              <a:spcBef>
                <a:spcPct val="0"/>
              </a:spcBef>
              <a:spcAft>
                <a:spcPct val="35000"/>
              </a:spcAft>
              <a:buNone/>
            </a:pPr>
            <a:r>
              <a:rPr lang="zh-CN" altLang="en-US" sz="2000" kern="1200" dirty="0">
                <a:latin typeface="+mn-ea"/>
                <a:cs typeface="+mn-ea"/>
                <a:sym typeface="+mn-lt"/>
              </a:rPr>
              <a:t>数字化</a:t>
            </a:r>
            <a:endParaRPr lang="zh-CN" altLang="en-US" sz="2000" kern="1200" dirty="0">
              <a:latin typeface="+mn-ea"/>
              <a:cs typeface="+mn-ea"/>
              <a:sym typeface="+mn-lt"/>
            </a:endParaRPr>
          </a:p>
        </p:txBody>
      </p:sp>
      <p:sp>
        <p:nvSpPr>
          <p:cNvPr id="25" name="矩形: 圆角 24"/>
          <p:cNvSpPr/>
          <p:nvPr/>
        </p:nvSpPr>
        <p:spPr>
          <a:xfrm>
            <a:off x="1017699" y="2657247"/>
            <a:ext cx="763709" cy="355917"/>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n-ea"/>
                <a:cs typeface="+mn-ea"/>
                <a:sym typeface="+mn-lt"/>
              </a:rPr>
              <a:t>02</a:t>
            </a:r>
            <a:endParaRPr lang="zh-CN" altLang="en-US" sz="2000" b="1" dirty="0">
              <a:solidFill>
                <a:schemeClr val="bg1"/>
              </a:solidFill>
              <a:latin typeface="+mn-ea"/>
              <a:cs typeface="+mn-ea"/>
              <a:sym typeface="+mn-lt"/>
            </a:endParaRPr>
          </a:p>
        </p:txBody>
      </p:sp>
      <p:sp>
        <p:nvSpPr>
          <p:cNvPr id="26" name="任意形状 10"/>
          <p:cNvSpPr/>
          <p:nvPr/>
        </p:nvSpPr>
        <p:spPr>
          <a:xfrm>
            <a:off x="1814208" y="3243498"/>
            <a:ext cx="3423744" cy="676950"/>
          </a:xfrm>
          <a:custGeom>
            <a:avLst/>
            <a:gdLst>
              <a:gd name="connsiteX0" fmla="*/ 0 w 2031503"/>
              <a:gd name="connsiteY0" fmla="*/ 169295 h 1015751"/>
              <a:gd name="connsiteX1" fmla="*/ 169295 w 2031503"/>
              <a:gd name="connsiteY1" fmla="*/ 0 h 1015751"/>
              <a:gd name="connsiteX2" fmla="*/ 1862208 w 2031503"/>
              <a:gd name="connsiteY2" fmla="*/ 0 h 1015751"/>
              <a:gd name="connsiteX3" fmla="*/ 2031503 w 2031503"/>
              <a:gd name="connsiteY3" fmla="*/ 169295 h 1015751"/>
              <a:gd name="connsiteX4" fmla="*/ 2031503 w 2031503"/>
              <a:gd name="connsiteY4" fmla="*/ 846456 h 1015751"/>
              <a:gd name="connsiteX5" fmla="*/ 1862208 w 2031503"/>
              <a:gd name="connsiteY5" fmla="*/ 1015751 h 1015751"/>
              <a:gd name="connsiteX6" fmla="*/ 169295 w 2031503"/>
              <a:gd name="connsiteY6" fmla="*/ 1015751 h 1015751"/>
              <a:gd name="connsiteX7" fmla="*/ 0 w 2031503"/>
              <a:gd name="connsiteY7" fmla="*/ 846456 h 1015751"/>
              <a:gd name="connsiteX8" fmla="*/ 0 w 2031503"/>
              <a:gd name="connsiteY8" fmla="*/ 169295 h 101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503" h="1015751">
                <a:moveTo>
                  <a:pt x="0" y="169295"/>
                </a:moveTo>
                <a:cubicBezTo>
                  <a:pt x="0" y="75796"/>
                  <a:pt x="75796" y="0"/>
                  <a:pt x="169295" y="0"/>
                </a:cubicBezTo>
                <a:lnTo>
                  <a:pt x="1862208" y="0"/>
                </a:lnTo>
                <a:cubicBezTo>
                  <a:pt x="1955707" y="0"/>
                  <a:pt x="2031503" y="75796"/>
                  <a:pt x="2031503" y="169295"/>
                </a:cubicBezTo>
                <a:lnTo>
                  <a:pt x="2031503" y="846456"/>
                </a:lnTo>
                <a:cubicBezTo>
                  <a:pt x="2031503" y="939955"/>
                  <a:pt x="1955707" y="1015751"/>
                  <a:pt x="1862208" y="1015751"/>
                </a:cubicBezTo>
                <a:lnTo>
                  <a:pt x="169295" y="1015751"/>
                </a:lnTo>
                <a:cubicBezTo>
                  <a:pt x="75796" y="1015751"/>
                  <a:pt x="0" y="939955"/>
                  <a:pt x="0" y="846456"/>
                </a:cubicBezTo>
                <a:lnTo>
                  <a:pt x="0" y="169295"/>
                </a:lnTo>
                <a:close/>
              </a:path>
            </a:pathLst>
          </a:custGeom>
          <a:ln>
            <a:solidFill>
              <a:srgbClr val="C0000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1505" tIns="171505" rIns="171505" bIns="171505" numCol="1" spcCol="1270" anchor="ctr" anchorCtr="0">
            <a:noAutofit/>
          </a:bodyPr>
          <a:lstStyle/>
          <a:p>
            <a:pPr marL="0" lvl="0" indent="0" algn="ctr" defTabSz="1422400" rtl="0">
              <a:lnSpc>
                <a:spcPct val="90000"/>
              </a:lnSpc>
              <a:spcBef>
                <a:spcPct val="0"/>
              </a:spcBef>
              <a:spcAft>
                <a:spcPct val="35000"/>
              </a:spcAft>
              <a:buNone/>
            </a:pPr>
            <a:r>
              <a:rPr lang="zh-CN" altLang="en-US" sz="2000" kern="1200" dirty="0">
                <a:latin typeface="+mn-ea"/>
                <a:cs typeface="+mn-ea"/>
                <a:sym typeface="+mn-lt"/>
              </a:rPr>
              <a:t>全球化</a:t>
            </a:r>
            <a:endParaRPr lang="zh-CN" altLang="en-US" sz="2000" kern="1200" dirty="0">
              <a:latin typeface="+mn-ea"/>
              <a:cs typeface="+mn-ea"/>
              <a:sym typeface="+mn-lt"/>
            </a:endParaRPr>
          </a:p>
        </p:txBody>
      </p:sp>
      <p:sp>
        <p:nvSpPr>
          <p:cNvPr id="27" name="矩形: 圆角 26"/>
          <p:cNvSpPr/>
          <p:nvPr/>
        </p:nvSpPr>
        <p:spPr>
          <a:xfrm>
            <a:off x="1017699" y="3412857"/>
            <a:ext cx="763709" cy="355917"/>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n-ea"/>
                <a:cs typeface="+mn-ea"/>
                <a:sym typeface="+mn-lt"/>
              </a:rPr>
              <a:t>03</a:t>
            </a:r>
            <a:endParaRPr lang="zh-CN" altLang="en-US" sz="2000" b="1" dirty="0">
              <a:solidFill>
                <a:schemeClr val="bg1"/>
              </a:solidFill>
              <a:latin typeface="+mn-ea"/>
              <a:cs typeface="+mn-ea"/>
              <a:sym typeface="+mn-lt"/>
            </a:endParaRPr>
          </a:p>
        </p:txBody>
      </p:sp>
      <p:sp>
        <p:nvSpPr>
          <p:cNvPr id="33" name="任意形状 10"/>
          <p:cNvSpPr/>
          <p:nvPr/>
        </p:nvSpPr>
        <p:spPr>
          <a:xfrm>
            <a:off x="1814208" y="3969395"/>
            <a:ext cx="3423744" cy="676950"/>
          </a:xfrm>
          <a:custGeom>
            <a:avLst/>
            <a:gdLst>
              <a:gd name="connsiteX0" fmla="*/ 0 w 2031503"/>
              <a:gd name="connsiteY0" fmla="*/ 169295 h 1015751"/>
              <a:gd name="connsiteX1" fmla="*/ 169295 w 2031503"/>
              <a:gd name="connsiteY1" fmla="*/ 0 h 1015751"/>
              <a:gd name="connsiteX2" fmla="*/ 1862208 w 2031503"/>
              <a:gd name="connsiteY2" fmla="*/ 0 h 1015751"/>
              <a:gd name="connsiteX3" fmla="*/ 2031503 w 2031503"/>
              <a:gd name="connsiteY3" fmla="*/ 169295 h 1015751"/>
              <a:gd name="connsiteX4" fmla="*/ 2031503 w 2031503"/>
              <a:gd name="connsiteY4" fmla="*/ 846456 h 1015751"/>
              <a:gd name="connsiteX5" fmla="*/ 1862208 w 2031503"/>
              <a:gd name="connsiteY5" fmla="*/ 1015751 h 1015751"/>
              <a:gd name="connsiteX6" fmla="*/ 169295 w 2031503"/>
              <a:gd name="connsiteY6" fmla="*/ 1015751 h 1015751"/>
              <a:gd name="connsiteX7" fmla="*/ 0 w 2031503"/>
              <a:gd name="connsiteY7" fmla="*/ 846456 h 1015751"/>
              <a:gd name="connsiteX8" fmla="*/ 0 w 2031503"/>
              <a:gd name="connsiteY8" fmla="*/ 169295 h 101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503" h="1015751">
                <a:moveTo>
                  <a:pt x="0" y="169295"/>
                </a:moveTo>
                <a:cubicBezTo>
                  <a:pt x="0" y="75796"/>
                  <a:pt x="75796" y="0"/>
                  <a:pt x="169295" y="0"/>
                </a:cubicBezTo>
                <a:lnTo>
                  <a:pt x="1862208" y="0"/>
                </a:lnTo>
                <a:cubicBezTo>
                  <a:pt x="1955707" y="0"/>
                  <a:pt x="2031503" y="75796"/>
                  <a:pt x="2031503" y="169295"/>
                </a:cubicBezTo>
                <a:lnTo>
                  <a:pt x="2031503" y="846456"/>
                </a:lnTo>
                <a:cubicBezTo>
                  <a:pt x="2031503" y="939955"/>
                  <a:pt x="1955707" y="1015751"/>
                  <a:pt x="1862208" y="1015751"/>
                </a:cubicBezTo>
                <a:lnTo>
                  <a:pt x="169295" y="1015751"/>
                </a:lnTo>
                <a:cubicBezTo>
                  <a:pt x="75796" y="1015751"/>
                  <a:pt x="0" y="939955"/>
                  <a:pt x="0" y="846456"/>
                </a:cubicBezTo>
                <a:lnTo>
                  <a:pt x="0" y="169295"/>
                </a:lnTo>
                <a:close/>
              </a:path>
            </a:pathLst>
          </a:custGeom>
          <a:ln>
            <a:solidFill>
              <a:srgbClr val="C0000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1505" tIns="171505" rIns="171505" bIns="171505" numCol="1" spcCol="1270" anchor="ctr" anchorCtr="0">
            <a:noAutofit/>
          </a:bodyPr>
          <a:lstStyle/>
          <a:p>
            <a:pPr marL="0" lvl="0" indent="0" algn="ctr" defTabSz="1422400" rtl="0">
              <a:lnSpc>
                <a:spcPct val="90000"/>
              </a:lnSpc>
              <a:spcBef>
                <a:spcPct val="0"/>
              </a:spcBef>
              <a:spcAft>
                <a:spcPct val="35000"/>
              </a:spcAft>
              <a:buNone/>
            </a:pPr>
            <a:r>
              <a:rPr lang="zh-CN" altLang="en-US" sz="2000" kern="1200" dirty="0">
                <a:latin typeface="+mn-ea"/>
                <a:cs typeface="+mn-ea"/>
                <a:sym typeface="+mn-lt"/>
              </a:rPr>
              <a:t>综合化</a:t>
            </a:r>
            <a:endParaRPr lang="zh-CN" altLang="en-US" sz="2000" kern="1200" dirty="0">
              <a:latin typeface="+mn-ea"/>
              <a:cs typeface="+mn-ea"/>
              <a:sym typeface="+mn-lt"/>
            </a:endParaRPr>
          </a:p>
        </p:txBody>
      </p:sp>
      <p:sp>
        <p:nvSpPr>
          <p:cNvPr id="39" name="矩形: 圆角 38"/>
          <p:cNvSpPr/>
          <p:nvPr/>
        </p:nvSpPr>
        <p:spPr>
          <a:xfrm>
            <a:off x="1017699" y="4138754"/>
            <a:ext cx="763709" cy="355917"/>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n-ea"/>
                <a:cs typeface="+mn-ea"/>
                <a:sym typeface="+mn-lt"/>
              </a:rPr>
              <a:t>04</a:t>
            </a:r>
            <a:endParaRPr lang="zh-CN" altLang="en-US" sz="2000" b="1" dirty="0">
              <a:solidFill>
                <a:schemeClr val="bg1"/>
              </a:solidFill>
              <a:latin typeface="+mn-ea"/>
              <a:cs typeface="+mn-ea"/>
              <a:sym typeface="+mn-lt"/>
            </a:endParaRPr>
          </a:p>
        </p:txBody>
      </p:sp>
      <p:sp>
        <p:nvSpPr>
          <p:cNvPr id="40" name="任意形状 10"/>
          <p:cNvSpPr/>
          <p:nvPr/>
        </p:nvSpPr>
        <p:spPr>
          <a:xfrm>
            <a:off x="1805158" y="4702025"/>
            <a:ext cx="3423744" cy="676950"/>
          </a:xfrm>
          <a:custGeom>
            <a:avLst/>
            <a:gdLst>
              <a:gd name="connsiteX0" fmla="*/ 0 w 2031503"/>
              <a:gd name="connsiteY0" fmla="*/ 169295 h 1015751"/>
              <a:gd name="connsiteX1" fmla="*/ 169295 w 2031503"/>
              <a:gd name="connsiteY1" fmla="*/ 0 h 1015751"/>
              <a:gd name="connsiteX2" fmla="*/ 1862208 w 2031503"/>
              <a:gd name="connsiteY2" fmla="*/ 0 h 1015751"/>
              <a:gd name="connsiteX3" fmla="*/ 2031503 w 2031503"/>
              <a:gd name="connsiteY3" fmla="*/ 169295 h 1015751"/>
              <a:gd name="connsiteX4" fmla="*/ 2031503 w 2031503"/>
              <a:gd name="connsiteY4" fmla="*/ 846456 h 1015751"/>
              <a:gd name="connsiteX5" fmla="*/ 1862208 w 2031503"/>
              <a:gd name="connsiteY5" fmla="*/ 1015751 h 1015751"/>
              <a:gd name="connsiteX6" fmla="*/ 169295 w 2031503"/>
              <a:gd name="connsiteY6" fmla="*/ 1015751 h 1015751"/>
              <a:gd name="connsiteX7" fmla="*/ 0 w 2031503"/>
              <a:gd name="connsiteY7" fmla="*/ 846456 h 1015751"/>
              <a:gd name="connsiteX8" fmla="*/ 0 w 2031503"/>
              <a:gd name="connsiteY8" fmla="*/ 169295 h 101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503" h="1015751">
                <a:moveTo>
                  <a:pt x="0" y="169295"/>
                </a:moveTo>
                <a:cubicBezTo>
                  <a:pt x="0" y="75796"/>
                  <a:pt x="75796" y="0"/>
                  <a:pt x="169295" y="0"/>
                </a:cubicBezTo>
                <a:lnTo>
                  <a:pt x="1862208" y="0"/>
                </a:lnTo>
                <a:cubicBezTo>
                  <a:pt x="1955707" y="0"/>
                  <a:pt x="2031503" y="75796"/>
                  <a:pt x="2031503" y="169295"/>
                </a:cubicBezTo>
                <a:lnTo>
                  <a:pt x="2031503" y="846456"/>
                </a:lnTo>
                <a:cubicBezTo>
                  <a:pt x="2031503" y="939955"/>
                  <a:pt x="1955707" y="1015751"/>
                  <a:pt x="1862208" y="1015751"/>
                </a:cubicBezTo>
                <a:lnTo>
                  <a:pt x="169295" y="1015751"/>
                </a:lnTo>
                <a:cubicBezTo>
                  <a:pt x="75796" y="1015751"/>
                  <a:pt x="0" y="939955"/>
                  <a:pt x="0" y="846456"/>
                </a:cubicBezTo>
                <a:lnTo>
                  <a:pt x="0" y="169295"/>
                </a:lnTo>
                <a:close/>
              </a:path>
            </a:pathLst>
          </a:custGeom>
          <a:ln>
            <a:solidFill>
              <a:srgbClr val="C0000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1505" tIns="171505" rIns="171505" bIns="171505" numCol="1" spcCol="1270" anchor="ctr" anchorCtr="0">
            <a:noAutofit/>
          </a:bodyPr>
          <a:lstStyle/>
          <a:p>
            <a:pPr marL="0" lvl="0" indent="0" algn="ctr" defTabSz="1422400" rtl="0">
              <a:lnSpc>
                <a:spcPct val="90000"/>
              </a:lnSpc>
              <a:spcBef>
                <a:spcPct val="0"/>
              </a:spcBef>
              <a:spcAft>
                <a:spcPct val="35000"/>
              </a:spcAft>
              <a:buNone/>
            </a:pPr>
            <a:r>
              <a:rPr lang="zh-CN" altLang="en-US" sz="2000" kern="1200" dirty="0">
                <a:latin typeface="+mn-ea"/>
                <a:cs typeface="+mn-ea"/>
                <a:sym typeface="+mn-lt"/>
              </a:rPr>
              <a:t>平台化</a:t>
            </a:r>
            <a:endParaRPr lang="zh-CN" altLang="en-US" sz="2000" kern="1200" dirty="0">
              <a:latin typeface="+mn-ea"/>
              <a:cs typeface="+mn-ea"/>
              <a:sym typeface="+mn-lt"/>
            </a:endParaRPr>
          </a:p>
        </p:txBody>
      </p:sp>
      <p:sp>
        <p:nvSpPr>
          <p:cNvPr id="41" name="矩形: 圆角 40"/>
          <p:cNvSpPr/>
          <p:nvPr/>
        </p:nvSpPr>
        <p:spPr>
          <a:xfrm>
            <a:off x="1008649" y="4871384"/>
            <a:ext cx="763709" cy="355917"/>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n-ea"/>
                <a:cs typeface="+mn-ea"/>
                <a:sym typeface="+mn-lt"/>
              </a:rPr>
              <a:t>05</a:t>
            </a:r>
            <a:endParaRPr lang="zh-CN" altLang="en-US" sz="2000" b="1" dirty="0">
              <a:solidFill>
                <a:schemeClr val="bg1"/>
              </a:solidFill>
              <a:latin typeface="+mn-ea"/>
              <a:cs typeface="+mn-ea"/>
              <a:sym typeface="+mn-lt"/>
            </a:endParaRPr>
          </a:p>
        </p:txBody>
      </p:sp>
      <p:sp>
        <p:nvSpPr>
          <p:cNvPr id="15" name="任意形状 10"/>
          <p:cNvSpPr/>
          <p:nvPr/>
        </p:nvSpPr>
        <p:spPr>
          <a:xfrm>
            <a:off x="1805158" y="5464945"/>
            <a:ext cx="3423744" cy="676950"/>
          </a:xfrm>
          <a:custGeom>
            <a:avLst/>
            <a:gdLst>
              <a:gd name="connsiteX0" fmla="*/ 0 w 2031503"/>
              <a:gd name="connsiteY0" fmla="*/ 169295 h 1015751"/>
              <a:gd name="connsiteX1" fmla="*/ 169295 w 2031503"/>
              <a:gd name="connsiteY1" fmla="*/ 0 h 1015751"/>
              <a:gd name="connsiteX2" fmla="*/ 1862208 w 2031503"/>
              <a:gd name="connsiteY2" fmla="*/ 0 h 1015751"/>
              <a:gd name="connsiteX3" fmla="*/ 2031503 w 2031503"/>
              <a:gd name="connsiteY3" fmla="*/ 169295 h 1015751"/>
              <a:gd name="connsiteX4" fmla="*/ 2031503 w 2031503"/>
              <a:gd name="connsiteY4" fmla="*/ 846456 h 1015751"/>
              <a:gd name="connsiteX5" fmla="*/ 1862208 w 2031503"/>
              <a:gd name="connsiteY5" fmla="*/ 1015751 h 1015751"/>
              <a:gd name="connsiteX6" fmla="*/ 169295 w 2031503"/>
              <a:gd name="connsiteY6" fmla="*/ 1015751 h 1015751"/>
              <a:gd name="connsiteX7" fmla="*/ 0 w 2031503"/>
              <a:gd name="connsiteY7" fmla="*/ 846456 h 1015751"/>
              <a:gd name="connsiteX8" fmla="*/ 0 w 2031503"/>
              <a:gd name="connsiteY8" fmla="*/ 169295 h 101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503" h="1015751">
                <a:moveTo>
                  <a:pt x="0" y="169295"/>
                </a:moveTo>
                <a:cubicBezTo>
                  <a:pt x="0" y="75796"/>
                  <a:pt x="75796" y="0"/>
                  <a:pt x="169295" y="0"/>
                </a:cubicBezTo>
                <a:lnTo>
                  <a:pt x="1862208" y="0"/>
                </a:lnTo>
                <a:cubicBezTo>
                  <a:pt x="1955707" y="0"/>
                  <a:pt x="2031503" y="75796"/>
                  <a:pt x="2031503" y="169295"/>
                </a:cubicBezTo>
                <a:lnTo>
                  <a:pt x="2031503" y="846456"/>
                </a:lnTo>
                <a:cubicBezTo>
                  <a:pt x="2031503" y="939955"/>
                  <a:pt x="1955707" y="1015751"/>
                  <a:pt x="1862208" y="1015751"/>
                </a:cubicBezTo>
                <a:lnTo>
                  <a:pt x="169295" y="1015751"/>
                </a:lnTo>
                <a:cubicBezTo>
                  <a:pt x="75796" y="1015751"/>
                  <a:pt x="0" y="939955"/>
                  <a:pt x="0" y="846456"/>
                </a:cubicBezTo>
                <a:lnTo>
                  <a:pt x="0" y="169295"/>
                </a:lnTo>
                <a:close/>
              </a:path>
            </a:pathLst>
          </a:custGeom>
          <a:ln>
            <a:solidFill>
              <a:srgbClr val="C0000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1505" tIns="171505" rIns="171505" bIns="171505" numCol="1" spcCol="1270" anchor="ctr" anchorCtr="0">
            <a:noAutofit/>
          </a:bodyPr>
          <a:lstStyle/>
          <a:p>
            <a:pPr marL="0" lvl="0" indent="0" algn="ctr" defTabSz="1422400" rtl="0">
              <a:lnSpc>
                <a:spcPct val="90000"/>
              </a:lnSpc>
              <a:spcBef>
                <a:spcPct val="0"/>
              </a:spcBef>
              <a:spcAft>
                <a:spcPct val="35000"/>
              </a:spcAft>
              <a:buNone/>
            </a:pPr>
            <a:r>
              <a:rPr lang="zh-CN" altLang="en-US" sz="2000" kern="1200" dirty="0">
                <a:latin typeface="+mn-ea"/>
                <a:cs typeface="+mn-ea"/>
                <a:sym typeface="+mn-lt"/>
              </a:rPr>
              <a:t>生态化</a:t>
            </a:r>
            <a:endParaRPr lang="zh-CN" altLang="en-US" sz="2000" kern="1200" dirty="0">
              <a:latin typeface="+mn-ea"/>
              <a:cs typeface="+mn-ea"/>
              <a:sym typeface="+mn-lt"/>
            </a:endParaRPr>
          </a:p>
        </p:txBody>
      </p:sp>
      <p:sp>
        <p:nvSpPr>
          <p:cNvPr id="16" name="矩形: 圆角 15"/>
          <p:cNvSpPr/>
          <p:nvPr/>
        </p:nvSpPr>
        <p:spPr>
          <a:xfrm>
            <a:off x="1008649" y="5634304"/>
            <a:ext cx="763709" cy="355917"/>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n-ea"/>
                <a:cs typeface="+mn-ea"/>
                <a:sym typeface="+mn-lt"/>
              </a:rPr>
              <a:t>06</a:t>
            </a:r>
            <a:endParaRPr lang="zh-CN" altLang="en-US" sz="2000" b="1" dirty="0">
              <a:solidFill>
                <a:schemeClr val="bg1"/>
              </a:solidFill>
              <a:latin typeface="+mn-ea"/>
              <a:cs typeface="+mn-ea"/>
              <a:sym typeface="+mn-lt"/>
            </a:endParaRPr>
          </a:p>
        </p:txBody>
      </p:sp>
      <p:sp>
        <p:nvSpPr>
          <p:cNvPr id="17"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58893" y="248310"/>
            <a:ext cx="7420205"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4</a:t>
            </a:r>
            <a:r>
              <a:rPr kumimoji="1" lang="zh-CN" altLang="en-US" sz="2000" dirty="0">
                <a:latin typeface="+mn-lt"/>
                <a:ea typeface="+mn-ea"/>
                <a:cs typeface="+mn-ea"/>
                <a:sym typeface="+mn-lt"/>
              </a:rPr>
              <a:t>、五大重点举措：“四建设一保障”</a:t>
            </a:r>
            <a:endParaRPr kumimoji="1" lang="en-US" altLang="zh-CN" sz="2000" dirty="0">
              <a:latin typeface="+mn-lt"/>
              <a:ea typeface="+mn-ea"/>
              <a:cs typeface="+mn-ea"/>
              <a:sym typeface="+mn-lt"/>
            </a:endParaRPr>
          </a:p>
        </p:txBody>
      </p:sp>
      <p:sp>
        <p:nvSpPr>
          <p:cNvPr id="12" name="任意形状 10"/>
          <p:cNvSpPr/>
          <p:nvPr/>
        </p:nvSpPr>
        <p:spPr>
          <a:xfrm>
            <a:off x="1378122" y="3277120"/>
            <a:ext cx="3848078" cy="834545"/>
          </a:xfrm>
          <a:custGeom>
            <a:avLst/>
            <a:gdLst>
              <a:gd name="connsiteX0" fmla="*/ 0 w 2031503"/>
              <a:gd name="connsiteY0" fmla="*/ 169295 h 1015751"/>
              <a:gd name="connsiteX1" fmla="*/ 169295 w 2031503"/>
              <a:gd name="connsiteY1" fmla="*/ 0 h 1015751"/>
              <a:gd name="connsiteX2" fmla="*/ 1862208 w 2031503"/>
              <a:gd name="connsiteY2" fmla="*/ 0 h 1015751"/>
              <a:gd name="connsiteX3" fmla="*/ 2031503 w 2031503"/>
              <a:gd name="connsiteY3" fmla="*/ 169295 h 1015751"/>
              <a:gd name="connsiteX4" fmla="*/ 2031503 w 2031503"/>
              <a:gd name="connsiteY4" fmla="*/ 846456 h 1015751"/>
              <a:gd name="connsiteX5" fmla="*/ 1862208 w 2031503"/>
              <a:gd name="connsiteY5" fmla="*/ 1015751 h 1015751"/>
              <a:gd name="connsiteX6" fmla="*/ 169295 w 2031503"/>
              <a:gd name="connsiteY6" fmla="*/ 1015751 h 1015751"/>
              <a:gd name="connsiteX7" fmla="*/ 0 w 2031503"/>
              <a:gd name="connsiteY7" fmla="*/ 846456 h 1015751"/>
              <a:gd name="connsiteX8" fmla="*/ 0 w 2031503"/>
              <a:gd name="connsiteY8" fmla="*/ 169295 h 101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503" h="1015751">
                <a:moveTo>
                  <a:pt x="0" y="169295"/>
                </a:moveTo>
                <a:cubicBezTo>
                  <a:pt x="0" y="75796"/>
                  <a:pt x="75796" y="0"/>
                  <a:pt x="169295" y="0"/>
                </a:cubicBezTo>
                <a:lnTo>
                  <a:pt x="1862208" y="0"/>
                </a:lnTo>
                <a:cubicBezTo>
                  <a:pt x="1955707" y="0"/>
                  <a:pt x="2031503" y="75796"/>
                  <a:pt x="2031503" y="169295"/>
                </a:cubicBezTo>
                <a:lnTo>
                  <a:pt x="2031503" y="846456"/>
                </a:lnTo>
                <a:cubicBezTo>
                  <a:pt x="2031503" y="939955"/>
                  <a:pt x="1955707" y="1015751"/>
                  <a:pt x="1862208" y="1015751"/>
                </a:cubicBezTo>
                <a:lnTo>
                  <a:pt x="169295" y="1015751"/>
                </a:lnTo>
                <a:cubicBezTo>
                  <a:pt x="75796" y="1015751"/>
                  <a:pt x="0" y="939955"/>
                  <a:pt x="0" y="846456"/>
                </a:cubicBezTo>
                <a:lnTo>
                  <a:pt x="0" y="169295"/>
                </a:lnTo>
                <a:close/>
              </a:path>
            </a:pathLst>
          </a:custGeom>
          <a:ln>
            <a:solidFill>
              <a:srgbClr val="C0000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1505" tIns="171505" rIns="171505" bIns="171505" numCol="1" spcCol="1270" anchor="ctr" anchorCtr="0">
            <a:noAutofit/>
          </a:bodyPr>
          <a:lstStyle/>
          <a:p>
            <a:pPr marL="0" lvl="0" indent="0" algn="ctr" defTabSz="1422400" rtl="0">
              <a:lnSpc>
                <a:spcPct val="90000"/>
              </a:lnSpc>
              <a:spcBef>
                <a:spcPct val="0"/>
              </a:spcBef>
              <a:spcAft>
                <a:spcPct val="35000"/>
              </a:spcAft>
              <a:buNone/>
            </a:pPr>
            <a:endParaRPr lang="zh-CN" altLang="en-US" sz="3200" kern="1200">
              <a:cs typeface="+mn-ea"/>
              <a:sym typeface="+mn-lt"/>
            </a:endParaRPr>
          </a:p>
        </p:txBody>
      </p:sp>
      <p:sp>
        <p:nvSpPr>
          <p:cNvPr id="13" name="环形箭头 177"/>
          <p:cNvSpPr/>
          <p:nvPr/>
        </p:nvSpPr>
        <p:spPr>
          <a:xfrm>
            <a:off x="5035289" y="2615971"/>
            <a:ext cx="2174832" cy="2367793"/>
          </a:xfrm>
          <a:prstGeom prst="circularArrow">
            <a:avLst>
              <a:gd name="adj1" fmla="val 5909"/>
              <a:gd name="adj2" fmla="val 330680"/>
              <a:gd name="adj3" fmla="val 13642608"/>
              <a:gd name="adj4" fmla="val 17370022"/>
              <a:gd name="adj5" fmla="val 6467"/>
            </a:avLst>
          </a:prstGeom>
        </p:spPr>
        <p:style>
          <a:lnRef idx="0">
            <a:schemeClr val="dk1">
              <a:hueOff val="0"/>
              <a:satOff val="0"/>
              <a:lumOff val="0"/>
              <a:alphaOff val="0"/>
            </a:schemeClr>
          </a:lnRef>
          <a:fillRef idx="1">
            <a:schemeClr val="dk1">
              <a:tint val="40000"/>
              <a:hueOff val="0"/>
              <a:satOff val="0"/>
              <a:lumOff val="0"/>
              <a:alphaOff val="0"/>
            </a:schemeClr>
          </a:fillRef>
          <a:effectRef idx="0">
            <a:schemeClr val="dk1">
              <a:tint val="40000"/>
              <a:hueOff val="0"/>
              <a:satOff val="0"/>
              <a:lumOff val="0"/>
              <a:alphaOff val="0"/>
            </a:schemeClr>
          </a:effectRef>
          <a:fontRef idx="minor">
            <a:schemeClr val="dk1">
              <a:hueOff val="0"/>
              <a:satOff val="0"/>
              <a:lumOff val="0"/>
              <a:alphaOff val="0"/>
            </a:schemeClr>
          </a:fontRef>
        </p:style>
        <p:txBody>
          <a:bodyPr/>
          <a:lstStyle/>
          <a:p>
            <a:endParaRPr lang="zh-CN" altLang="en-US">
              <a:cs typeface="+mn-ea"/>
              <a:sym typeface="+mn-lt"/>
            </a:endParaRPr>
          </a:p>
        </p:txBody>
      </p:sp>
      <p:sp>
        <p:nvSpPr>
          <p:cNvPr id="14" name="文本框 13"/>
          <p:cNvSpPr txBox="1"/>
          <p:nvPr/>
        </p:nvSpPr>
        <p:spPr>
          <a:xfrm>
            <a:off x="1966850" y="3718522"/>
            <a:ext cx="2518639" cy="307777"/>
          </a:xfrm>
          <a:prstGeom prst="rect">
            <a:avLst/>
          </a:prstGeom>
          <a:noFill/>
        </p:spPr>
        <p:txBody>
          <a:bodyPr wrap="none" rtlCol="0" anchor="ctr">
            <a:spAutoFit/>
          </a:bodyPr>
          <a:lstStyle/>
          <a:p>
            <a:pPr algn="ctr"/>
            <a:r>
              <a:rPr kumimoji="1" lang="zh-CN" altLang="en-US" sz="1400" dirty="0">
                <a:latin typeface="+mn-lt"/>
                <a:ea typeface="+mn-ea"/>
                <a:cs typeface="+mn-ea"/>
                <a:sym typeface="+mn-lt"/>
              </a:rPr>
              <a:t>强化大学治理模式的高效落地</a:t>
            </a:r>
            <a:endParaRPr kumimoji="1" lang="zh-CN" altLang="en-US" sz="1400" dirty="0">
              <a:latin typeface="+mn-lt"/>
              <a:ea typeface="+mn-ea"/>
              <a:cs typeface="+mn-ea"/>
              <a:sym typeface="+mn-lt"/>
            </a:endParaRPr>
          </a:p>
        </p:txBody>
      </p:sp>
      <p:sp>
        <p:nvSpPr>
          <p:cNvPr id="15" name="任意形状 180"/>
          <p:cNvSpPr/>
          <p:nvPr/>
        </p:nvSpPr>
        <p:spPr>
          <a:xfrm>
            <a:off x="7031841" y="3336972"/>
            <a:ext cx="3848078" cy="834545"/>
          </a:xfrm>
          <a:custGeom>
            <a:avLst/>
            <a:gdLst>
              <a:gd name="connsiteX0" fmla="*/ 0 w 2031503"/>
              <a:gd name="connsiteY0" fmla="*/ 169295 h 1015751"/>
              <a:gd name="connsiteX1" fmla="*/ 169295 w 2031503"/>
              <a:gd name="connsiteY1" fmla="*/ 0 h 1015751"/>
              <a:gd name="connsiteX2" fmla="*/ 1862208 w 2031503"/>
              <a:gd name="connsiteY2" fmla="*/ 0 h 1015751"/>
              <a:gd name="connsiteX3" fmla="*/ 2031503 w 2031503"/>
              <a:gd name="connsiteY3" fmla="*/ 169295 h 1015751"/>
              <a:gd name="connsiteX4" fmla="*/ 2031503 w 2031503"/>
              <a:gd name="connsiteY4" fmla="*/ 846456 h 1015751"/>
              <a:gd name="connsiteX5" fmla="*/ 1862208 w 2031503"/>
              <a:gd name="connsiteY5" fmla="*/ 1015751 h 1015751"/>
              <a:gd name="connsiteX6" fmla="*/ 169295 w 2031503"/>
              <a:gd name="connsiteY6" fmla="*/ 1015751 h 1015751"/>
              <a:gd name="connsiteX7" fmla="*/ 0 w 2031503"/>
              <a:gd name="connsiteY7" fmla="*/ 846456 h 1015751"/>
              <a:gd name="connsiteX8" fmla="*/ 0 w 2031503"/>
              <a:gd name="connsiteY8" fmla="*/ 169295 h 101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503" h="1015751">
                <a:moveTo>
                  <a:pt x="0" y="169295"/>
                </a:moveTo>
                <a:cubicBezTo>
                  <a:pt x="0" y="75796"/>
                  <a:pt x="75796" y="0"/>
                  <a:pt x="169295" y="0"/>
                </a:cubicBezTo>
                <a:lnTo>
                  <a:pt x="1862208" y="0"/>
                </a:lnTo>
                <a:cubicBezTo>
                  <a:pt x="1955707" y="0"/>
                  <a:pt x="2031503" y="75796"/>
                  <a:pt x="2031503" y="169295"/>
                </a:cubicBezTo>
                <a:lnTo>
                  <a:pt x="2031503" y="846456"/>
                </a:lnTo>
                <a:cubicBezTo>
                  <a:pt x="2031503" y="939955"/>
                  <a:pt x="1955707" y="1015751"/>
                  <a:pt x="1862208" y="1015751"/>
                </a:cubicBezTo>
                <a:lnTo>
                  <a:pt x="169295" y="1015751"/>
                </a:lnTo>
                <a:cubicBezTo>
                  <a:pt x="75796" y="1015751"/>
                  <a:pt x="0" y="939955"/>
                  <a:pt x="0" y="846456"/>
                </a:cubicBezTo>
                <a:lnTo>
                  <a:pt x="0" y="169295"/>
                </a:lnTo>
                <a:close/>
              </a:path>
            </a:pathLst>
          </a:custGeom>
          <a:ln>
            <a:solidFill>
              <a:srgbClr val="C0000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1505" tIns="171505" rIns="171505" bIns="171505" numCol="1" spcCol="1270" anchor="ctr" anchorCtr="0">
            <a:noAutofit/>
          </a:bodyPr>
          <a:lstStyle/>
          <a:p>
            <a:pPr marL="0" lvl="0" indent="0" algn="ctr" defTabSz="1422400" rtl="0">
              <a:lnSpc>
                <a:spcPct val="90000"/>
              </a:lnSpc>
              <a:spcBef>
                <a:spcPct val="0"/>
              </a:spcBef>
              <a:spcAft>
                <a:spcPct val="35000"/>
              </a:spcAft>
              <a:buNone/>
            </a:pPr>
            <a:endParaRPr lang="zh-CN" altLang="en-US" sz="3200" kern="1200">
              <a:cs typeface="+mn-ea"/>
              <a:sym typeface="+mn-lt"/>
            </a:endParaRPr>
          </a:p>
        </p:txBody>
      </p:sp>
      <p:sp>
        <p:nvSpPr>
          <p:cNvPr id="16" name="文本框 15"/>
          <p:cNvSpPr txBox="1"/>
          <p:nvPr/>
        </p:nvSpPr>
        <p:spPr>
          <a:xfrm>
            <a:off x="7843418" y="3833414"/>
            <a:ext cx="2351926" cy="292388"/>
          </a:xfrm>
          <a:prstGeom prst="rect">
            <a:avLst/>
          </a:prstGeom>
          <a:noFill/>
        </p:spPr>
        <p:txBody>
          <a:bodyPr wrap="none" rtlCol="0" anchor="ctr">
            <a:spAutoFit/>
          </a:bodyPr>
          <a:lstStyle>
            <a:defPPr>
              <a:defRPr lang="en-US"/>
            </a:defPPr>
            <a:lvl1pPr algn="ctr">
              <a:defRPr kumimoji="1" sz="1400">
                <a:latin typeface="+mn-lt"/>
                <a:ea typeface="+mn-ea"/>
                <a:cs typeface="+mn-ea"/>
              </a:defRPr>
            </a:lvl1pPr>
          </a:lstStyle>
          <a:p>
            <a:r>
              <a:rPr lang="zh-CN" altLang="en-US" dirty="0">
                <a:sym typeface="+mn-lt"/>
              </a:rPr>
              <a:t>打造专业精深的教育培训队伍</a:t>
            </a:r>
            <a:endParaRPr lang="zh-CN" altLang="en-US" dirty="0">
              <a:sym typeface="+mn-lt"/>
            </a:endParaRPr>
          </a:p>
        </p:txBody>
      </p:sp>
      <p:sp>
        <p:nvSpPr>
          <p:cNvPr id="17" name="任意形状 182"/>
          <p:cNvSpPr/>
          <p:nvPr/>
        </p:nvSpPr>
        <p:spPr>
          <a:xfrm>
            <a:off x="6341676" y="4601376"/>
            <a:ext cx="3848078" cy="834545"/>
          </a:xfrm>
          <a:custGeom>
            <a:avLst/>
            <a:gdLst>
              <a:gd name="connsiteX0" fmla="*/ 0 w 2031503"/>
              <a:gd name="connsiteY0" fmla="*/ 169295 h 1015751"/>
              <a:gd name="connsiteX1" fmla="*/ 169295 w 2031503"/>
              <a:gd name="connsiteY1" fmla="*/ 0 h 1015751"/>
              <a:gd name="connsiteX2" fmla="*/ 1862208 w 2031503"/>
              <a:gd name="connsiteY2" fmla="*/ 0 h 1015751"/>
              <a:gd name="connsiteX3" fmla="*/ 2031503 w 2031503"/>
              <a:gd name="connsiteY3" fmla="*/ 169295 h 1015751"/>
              <a:gd name="connsiteX4" fmla="*/ 2031503 w 2031503"/>
              <a:gd name="connsiteY4" fmla="*/ 846456 h 1015751"/>
              <a:gd name="connsiteX5" fmla="*/ 1862208 w 2031503"/>
              <a:gd name="connsiteY5" fmla="*/ 1015751 h 1015751"/>
              <a:gd name="connsiteX6" fmla="*/ 169295 w 2031503"/>
              <a:gd name="connsiteY6" fmla="*/ 1015751 h 1015751"/>
              <a:gd name="connsiteX7" fmla="*/ 0 w 2031503"/>
              <a:gd name="connsiteY7" fmla="*/ 846456 h 1015751"/>
              <a:gd name="connsiteX8" fmla="*/ 0 w 2031503"/>
              <a:gd name="connsiteY8" fmla="*/ 169295 h 101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503" h="1015751">
                <a:moveTo>
                  <a:pt x="0" y="169295"/>
                </a:moveTo>
                <a:cubicBezTo>
                  <a:pt x="0" y="75796"/>
                  <a:pt x="75796" y="0"/>
                  <a:pt x="169295" y="0"/>
                </a:cubicBezTo>
                <a:lnTo>
                  <a:pt x="1862208" y="0"/>
                </a:lnTo>
                <a:cubicBezTo>
                  <a:pt x="1955707" y="0"/>
                  <a:pt x="2031503" y="75796"/>
                  <a:pt x="2031503" y="169295"/>
                </a:cubicBezTo>
                <a:lnTo>
                  <a:pt x="2031503" y="846456"/>
                </a:lnTo>
                <a:cubicBezTo>
                  <a:pt x="2031503" y="939955"/>
                  <a:pt x="1955707" y="1015751"/>
                  <a:pt x="1862208" y="1015751"/>
                </a:cubicBezTo>
                <a:lnTo>
                  <a:pt x="169295" y="1015751"/>
                </a:lnTo>
                <a:cubicBezTo>
                  <a:pt x="75796" y="1015751"/>
                  <a:pt x="0" y="939955"/>
                  <a:pt x="0" y="846456"/>
                </a:cubicBezTo>
                <a:lnTo>
                  <a:pt x="0" y="169295"/>
                </a:lnTo>
                <a:close/>
              </a:path>
            </a:pathLst>
          </a:custGeom>
          <a:ln>
            <a:solidFill>
              <a:srgbClr val="C0000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1505" tIns="171505" rIns="171505" bIns="171505" numCol="1" spcCol="1270" anchor="ctr" anchorCtr="0">
            <a:noAutofit/>
          </a:bodyPr>
          <a:lstStyle/>
          <a:p>
            <a:pPr marL="0" lvl="0" indent="0" algn="ctr" defTabSz="1422400" rtl="0">
              <a:lnSpc>
                <a:spcPct val="90000"/>
              </a:lnSpc>
              <a:spcBef>
                <a:spcPct val="0"/>
              </a:spcBef>
              <a:spcAft>
                <a:spcPct val="35000"/>
              </a:spcAft>
              <a:buNone/>
            </a:pPr>
            <a:endParaRPr lang="zh-CN" altLang="en-US" sz="3200" kern="1200">
              <a:cs typeface="+mn-ea"/>
              <a:sym typeface="+mn-lt"/>
            </a:endParaRPr>
          </a:p>
        </p:txBody>
      </p:sp>
      <p:sp>
        <p:nvSpPr>
          <p:cNvPr id="18" name="文本框 17"/>
          <p:cNvSpPr txBox="1"/>
          <p:nvPr/>
        </p:nvSpPr>
        <p:spPr>
          <a:xfrm>
            <a:off x="7032672" y="5068690"/>
            <a:ext cx="2351926" cy="292388"/>
          </a:xfrm>
          <a:prstGeom prst="rect">
            <a:avLst/>
          </a:prstGeom>
          <a:noFill/>
        </p:spPr>
        <p:txBody>
          <a:bodyPr wrap="none" rtlCol="0" anchor="ctr">
            <a:spAutoFit/>
          </a:bodyPr>
          <a:lstStyle>
            <a:defPPr>
              <a:defRPr lang="en-US"/>
            </a:defPPr>
            <a:lvl1pPr algn="ctr">
              <a:defRPr kumimoji="1" sz="1400">
                <a:latin typeface="+mn-lt"/>
                <a:ea typeface="+mn-ea"/>
                <a:cs typeface="+mn-ea"/>
              </a:defRPr>
            </a:lvl1pPr>
          </a:lstStyle>
          <a:p>
            <a:r>
              <a:rPr lang="zh-CN" altLang="en-US" dirty="0">
                <a:sym typeface="+mn-lt"/>
              </a:rPr>
              <a:t>构建全网互联的智能学习阵地</a:t>
            </a:r>
            <a:endParaRPr lang="zh-CN" altLang="en-US" dirty="0">
              <a:sym typeface="+mn-lt"/>
            </a:endParaRPr>
          </a:p>
        </p:txBody>
      </p:sp>
      <p:sp>
        <p:nvSpPr>
          <p:cNvPr id="19" name="任意形状 184"/>
          <p:cNvSpPr/>
          <p:nvPr/>
        </p:nvSpPr>
        <p:spPr>
          <a:xfrm>
            <a:off x="4231020" y="2015519"/>
            <a:ext cx="3848078" cy="834545"/>
          </a:xfrm>
          <a:custGeom>
            <a:avLst/>
            <a:gdLst>
              <a:gd name="connsiteX0" fmla="*/ 0 w 2031503"/>
              <a:gd name="connsiteY0" fmla="*/ 169295 h 1015751"/>
              <a:gd name="connsiteX1" fmla="*/ 169295 w 2031503"/>
              <a:gd name="connsiteY1" fmla="*/ 0 h 1015751"/>
              <a:gd name="connsiteX2" fmla="*/ 1862208 w 2031503"/>
              <a:gd name="connsiteY2" fmla="*/ 0 h 1015751"/>
              <a:gd name="connsiteX3" fmla="*/ 2031503 w 2031503"/>
              <a:gd name="connsiteY3" fmla="*/ 169295 h 1015751"/>
              <a:gd name="connsiteX4" fmla="*/ 2031503 w 2031503"/>
              <a:gd name="connsiteY4" fmla="*/ 846456 h 1015751"/>
              <a:gd name="connsiteX5" fmla="*/ 1862208 w 2031503"/>
              <a:gd name="connsiteY5" fmla="*/ 1015751 h 1015751"/>
              <a:gd name="connsiteX6" fmla="*/ 169295 w 2031503"/>
              <a:gd name="connsiteY6" fmla="*/ 1015751 h 1015751"/>
              <a:gd name="connsiteX7" fmla="*/ 0 w 2031503"/>
              <a:gd name="connsiteY7" fmla="*/ 846456 h 1015751"/>
              <a:gd name="connsiteX8" fmla="*/ 0 w 2031503"/>
              <a:gd name="connsiteY8" fmla="*/ 169295 h 101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503" h="1015751">
                <a:moveTo>
                  <a:pt x="0" y="169295"/>
                </a:moveTo>
                <a:cubicBezTo>
                  <a:pt x="0" y="75796"/>
                  <a:pt x="75796" y="0"/>
                  <a:pt x="169295" y="0"/>
                </a:cubicBezTo>
                <a:lnTo>
                  <a:pt x="1862208" y="0"/>
                </a:lnTo>
                <a:cubicBezTo>
                  <a:pt x="1955707" y="0"/>
                  <a:pt x="2031503" y="75796"/>
                  <a:pt x="2031503" y="169295"/>
                </a:cubicBezTo>
                <a:lnTo>
                  <a:pt x="2031503" y="846456"/>
                </a:lnTo>
                <a:cubicBezTo>
                  <a:pt x="2031503" y="939955"/>
                  <a:pt x="1955707" y="1015751"/>
                  <a:pt x="1862208" y="1015751"/>
                </a:cubicBezTo>
                <a:lnTo>
                  <a:pt x="169295" y="1015751"/>
                </a:lnTo>
                <a:cubicBezTo>
                  <a:pt x="75796" y="1015751"/>
                  <a:pt x="0" y="939955"/>
                  <a:pt x="0" y="846456"/>
                </a:cubicBezTo>
                <a:lnTo>
                  <a:pt x="0" y="169295"/>
                </a:lnTo>
                <a:close/>
              </a:path>
            </a:pathLst>
          </a:custGeom>
          <a:ln>
            <a:solidFill>
              <a:srgbClr val="C0000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1505" tIns="171505" rIns="171505" bIns="171505" numCol="1" spcCol="1270" anchor="ctr" anchorCtr="0">
            <a:noAutofit/>
          </a:bodyPr>
          <a:lstStyle/>
          <a:p>
            <a:pPr marL="0" lvl="0" indent="0" algn="ctr" defTabSz="1422400" rtl="0">
              <a:lnSpc>
                <a:spcPct val="90000"/>
              </a:lnSpc>
              <a:spcBef>
                <a:spcPct val="0"/>
              </a:spcBef>
              <a:spcAft>
                <a:spcPct val="35000"/>
              </a:spcAft>
              <a:buNone/>
            </a:pPr>
            <a:endParaRPr lang="zh-CN" altLang="en-US" sz="3200" kern="1200">
              <a:cs typeface="+mn-ea"/>
              <a:sym typeface="+mn-lt"/>
            </a:endParaRPr>
          </a:p>
        </p:txBody>
      </p:sp>
      <p:sp>
        <p:nvSpPr>
          <p:cNvPr id="20" name="任意形状 186"/>
          <p:cNvSpPr/>
          <p:nvPr/>
        </p:nvSpPr>
        <p:spPr>
          <a:xfrm>
            <a:off x="1988828" y="4613166"/>
            <a:ext cx="3848078" cy="834545"/>
          </a:xfrm>
          <a:custGeom>
            <a:avLst/>
            <a:gdLst>
              <a:gd name="connsiteX0" fmla="*/ 0 w 2031503"/>
              <a:gd name="connsiteY0" fmla="*/ 169295 h 1015751"/>
              <a:gd name="connsiteX1" fmla="*/ 169295 w 2031503"/>
              <a:gd name="connsiteY1" fmla="*/ 0 h 1015751"/>
              <a:gd name="connsiteX2" fmla="*/ 1862208 w 2031503"/>
              <a:gd name="connsiteY2" fmla="*/ 0 h 1015751"/>
              <a:gd name="connsiteX3" fmla="*/ 2031503 w 2031503"/>
              <a:gd name="connsiteY3" fmla="*/ 169295 h 1015751"/>
              <a:gd name="connsiteX4" fmla="*/ 2031503 w 2031503"/>
              <a:gd name="connsiteY4" fmla="*/ 846456 h 1015751"/>
              <a:gd name="connsiteX5" fmla="*/ 1862208 w 2031503"/>
              <a:gd name="connsiteY5" fmla="*/ 1015751 h 1015751"/>
              <a:gd name="connsiteX6" fmla="*/ 169295 w 2031503"/>
              <a:gd name="connsiteY6" fmla="*/ 1015751 h 1015751"/>
              <a:gd name="connsiteX7" fmla="*/ 0 w 2031503"/>
              <a:gd name="connsiteY7" fmla="*/ 846456 h 1015751"/>
              <a:gd name="connsiteX8" fmla="*/ 0 w 2031503"/>
              <a:gd name="connsiteY8" fmla="*/ 169295 h 101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503" h="1015751">
                <a:moveTo>
                  <a:pt x="0" y="169295"/>
                </a:moveTo>
                <a:cubicBezTo>
                  <a:pt x="0" y="75796"/>
                  <a:pt x="75796" y="0"/>
                  <a:pt x="169295" y="0"/>
                </a:cubicBezTo>
                <a:lnTo>
                  <a:pt x="1862208" y="0"/>
                </a:lnTo>
                <a:cubicBezTo>
                  <a:pt x="1955707" y="0"/>
                  <a:pt x="2031503" y="75796"/>
                  <a:pt x="2031503" y="169295"/>
                </a:cubicBezTo>
                <a:lnTo>
                  <a:pt x="2031503" y="846456"/>
                </a:lnTo>
                <a:cubicBezTo>
                  <a:pt x="2031503" y="939955"/>
                  <a:pt x="1955707" y="1015751"/>
                  <a:pt x="1862208" y="1015751"/>
                </a:cubicBezTo>
                <a:lnTo>
                  <a:pt x="169295" y="1015751"/>
                </a:lnTo>
                <a:cubicBezTo>
                  <a:pt x="75796" y="1015751"/>
                  <a:pt x="0" y="939955"/>
                  <a:pt x="0" y="846456"/>
                </a:cubicBezTo>
                <a:lnTo>
                  <a:pt x="0" y="169295"/>
                </a:lnTo>
                <a:close/>
              </a:path>
            </a:pathLst>
          </a:custGeom>
          <a:ln>
            <a:solidFill>
              <a:srgbClr val="C0000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71505" tIns="171505" rIns="171505" bIns="171505" numCol="1" spcCol="1270" anchor="ctr" anchorCtr="0">
            <a:noAutofit/>
          </a:bodyPr>
          <a:lstStyle/>
          <a:p>
            <a:pPr marL="0" lvl="0" indent="0" algn="ctr" defTabSz="1422400" rtl="0">
              <a:lnSpc>
                <a:spcPct val="90000"/>
              </a:lnSpc>
              <a:spcBef>
                <a:spcPct val="0"/>
              </a:spcBef>
              <a:spcAft>
                <a:spcPct val="35000"/>
              </a:spcAft>
              <a:buNone/>
            </a:pPr>
            <a:endParaRPr lang="zh-CN" altLang="en-US" sz="3200" kern="1200">
              <a:cs typeface="+mn-ea"/>
              <a:sym typeface="+mn-lt"/>
            </a:endParaRPr>
          </a:p>
        </p:txBody>
      </p:sp>
      <p:sp>
        <p:nvSpPr>
          <p:cNvPr id="21" name="文本框 20"/>
          <p:cNvSpPr txBox="1"/>
          <p:nvPr/>
        </p:nvSpPr>
        <p:spPr>
          <a:xfrm>
            <a:off x="2736903" y="5117831"/>
            <a:ext cx="2351926" cy="292388"/>
          </a:xfrm>
          <a:prstGeom prst="rect">
            <a:avLst/>
          </a:prstGeom>
          <a:noFill/>
        </p:spPr>
        <p:txBody>
          <a:bodyPr wrap="none" rtlCol="0" anchor="ctr">
            <a:spAutoFit/>
          </a:bodyPr>
          <a:lstStyle>
            <a:defPPr>
              <a:defRPr lang="en-US"/>
            </a:defPPr>
            <a:lvl1pPr algn="ctr">
              <a:defRPr kumimoji="1" sz="1400">
                <a:latin typeface="+mn-lt"/>
                <a:ea typeface="+mn-ea"/>
                <a:cs typeface="+mn-ea"/>
              </a:defRPr>
            </a:lvl1pPr>
          </a:lstStyle>
          <a:p>
            <a:r>
              <a:rPr lang="zh-CN" altLang="en-US" dirty="0">
                <a:sym typeface="+mn-lt"/>
              </a:rPr>
              <a:t>建立共享开放的培训资源生态</a:t>
            </a:r>
            <a:endParaRPr lang="zh-CN" altLang="en-US" dirty="0">
              <a:sym typeface="+mn-lt"/>
            </a:endParaRPr>
          </a:p>
        </p:txBody>
      </p:sp>
      <p:sp>
        <p:nvSpPr>
          <p:cNvPr id="22" name="文本框 21"/>
          <p:cNvSpPr txBox="1"/>
          <p:nvPr/>
        </p:nvSpPr>
        <p:spPr>
          <a:xfrm>
            <a:off x="5018066" y="2486393"/>
            <a:ext cx="2351926" cy="292388"/>
          </a:xfrm>
          <a:prstGeom prst="rect">
            <a:avLst/>
          </a:prstGeom>
          <a:noFill/>
        </p:spPr>
        <p:txBody>
          <a:bodyPr wrap="none" rtlCol="0" anchor="ctr">
            <a:spAutoFit/>
          </a:bodyPr>
          <a:lstStyle>
            <a:defPPr>
              <a:defRPr lang="en-US"/>
            </a:defPPr>
            <a:lvl1pPr algn="ctr">
              <a:defRPr kumimoji="1" sz="1400">
                <a:latin typeface="+mn-lt"/>
                <a:ea typeface="+mn-ea"/>
                <a:cs typeface="+mn-ea"/>
              </a:defRPr>
            </a:lvl1pPr>
          </a:lstStyle>
          <a:p>
            <a:r>
              <a:rPr lang="zh-CN" altLang="en-US" dirty="0">
                <a:sym typeface="+mn-lt"/>
              </a:rPr>
              <a:t>塑造优质独特的培训产品体系</a:t>
            </a:r>
            <a:endParaRPr lang="zh-CN" altLang="en-US" dirty="0">
              <a:sym typeface="+mn-lt"/>
            </a:endParaRPr>
          </a:p>
        </p:txBody>
      </p:sp>
      <p:sp>
        <p:nvSpPr>
          <p:cNvPr id="28" name="文本框 29"/>
          <p:cNvSpPr txBox="1">
            <a:spLocks noChangeArrowheads="1"/>
          </p:cNvSpPr>
          <p:nvPr/>
        </p:nvSpPr>
        <p:spPr bwMode="auto">
          <a:xfrm>
            <a:off x="1736555" y="3336176"/>
            <a:ext cx="31312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algn="ctr"/>
            <a:r>
              <a:rPr lang="zh-CN" altLang="en-US" sz="1800" b="1" dirty="0">
                <a:latin typeface="+mn-lt"/>
                <a:ea typeface="+mn-ea"/>
                <a:cs typeface="+mn-ea"/>
                <a:sym typeface="+mn-lt"/>
              </a:rPr>
              <a:t>实施保障</a:t>
            </a:r>
            <a:endParaRPr lang="zh-CN" altLang="en-US" sz="1800" b="1" dirty="0">
              <a:latin typeface="+mn-lt"/>
              <a:ea typeface="+mn-ea"/>
              <a:cs typeface="+mn-ea"/>
              <a:sym typeface="+mn-lt"/>
            </a:endParaRPr>
          </a:p>
        </p:txBody>
      </p:sp>
      <p:sp>
        <p:nvSpPr>
          <p:cNvPr id="29" name="文本框 29"/>
          <p:cNvSpPr txBox="1">
            <a:spLocks noChangeArrowheads="1"/>
          </p:cNvSpPr>
          <p:nvPr/>
        </p:nvSpPr>
        <p:spPr bwMode="auto">
          <a:xfrm>
            <a:off x="7444200" y="3392567"/>
            <a:ext cx="31431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defPPr>
              <a:defRPr lang="en-US"/>
            </a:defPPr>
            <a:lvl1pPr algn="ctr">
              <a:defRPr sz="1800">
                <a:solidFill>
                  <a:schemeClr val="tx1"/>
                </a:solidFill>
                <a:latin typeface="+mn-lt"/>
                <a:ea typeface="+mn-ea"/>
                <a:cs typeface="+mn-ea"/>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r>
              <a:rPr lang="zh-CN" altLang="en-US" dirty="0">
                <a:sym typeface="+mn-lt"/>
              </a:rPr>
              <a:t>队伍建设</a:t>
            </a:r>
            <a:endParaRPr lang="zh-CN" altLang="en-US" dirty="0">
              <a:sym typeface="+mn-lt"/>
            </a:endParaRPr>
          </a:p>
        </p:txBody>
      </p:sp>
      <p:sp>
        <p:nvSpPr>
          <p:cNvPr id="30" name="文本框 29"/>
          <p:cNvSpPr txBox="1">
            <a:spLocks noChangeArrowheads="1"/>
          </p:cNvSpPr>
          <p:nvPr/>
        </p:nvSpPr>
        <p:spPr bwMode="auto">
          <a:xfrm>
            <a:off x="6686052" y="4637988"/>
            <a:ext cx="3157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defPPr>
              <a:defRPr lang="en-US"/>
            </a:defPPr>
            <a:lvl1pPr algn="ctr">
              <a:defRPr sz="1800">
                <a:solidFill>
                  <a:schemeClr val="tx1"/>
                </a:solidFill>
                <a:latin typeface="+mn-lt"/>
                <a:ea typeface="+mn-ea"/>
                <a:cs typeface="+mn-ea"/>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r>
              <a:rPr lang="zh-CN" altLang="en-US" dirty="0">
                <a:sym typeface="+mn-lt"/>
              </a:rPr>
              <a:t>平台建设</a:t>
            </a:r>
            <a:endParaRPr lang="zh-CN" altLang="en-US" dirty="0">
              <a:sym typeface="+mn-lt"/>
            </a:endParaRPr>
          </a:p>
        </p:txBody>
      </p:sp>
      <p:sp>
        <p:nvSpPr>
          <p:cNvPr id="31" name="文本框 29"/>
          <p:cNvSpPr txBox="1">
            <a:spLocks noChangeArrowheads="1"/>
          </p:cNvSpPr>
          <p:nvPr/>
        </p:nvSpPr>
        <p:spPr bwMode="auto">
          <a:xfrm>
            <a:off x="4519065" y="2047095"/>
            <a:ext cx="30797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defPPr>
              <a:defRPr lang="en-US"/>
            </a:defPPr>
            <a:lvl1pPr algn="ctr">
              <a:defRPr sz="1800">
                <a:solidFill>
                  <a:schemeClr val="tx1"/>
                </a:solidFill>
                <a:latin typeface="+mn-lt"/>
                <a:ea typeface="+mn-ea"/>
                <a:cs typeface="+mn-ea"/>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r>
              <a:rPr lang="zh-CN" altLang="en-US" dirty="0">
                <a:sym typeface="+mn-lt"/>
              </a:rPr>
              <a:t>项目建设</a:t>
            </a:r>
            <a:endParaRPr lang="zh-CN" altLang="en-US" dirty="0">
              <a:sym typeface="+mn-lt"/>
            </a:endParaRPr>
          </a:p>
        </p:txBody>
      </p:sp>
      <p:sp>
        <p:nvSpPr>
          <p:cNvPr id="32" name="文本框 29"/>
          <p:cNvSpPr txBox="1">
            <a:spLocks noChangeArrowheads="1"/>
          </p:cNvSpPr>
          <p:nvPr/>
        </p:nvSpPr>
        <p:spPr bwMode="auto">
          <a:xfrm>
            <a:off x="2338799" y="4664502"/>
            <a:ext cx="307971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defPPr>
              <a:defRPr lang="en-US"/>
            </a:defPPr>
            <a:lvl1pPr algn="ctr">
              <a:defRPr sz="1800">
                <a:solidFill>
                  <a:schemeClr val="tx1"/>
                </a:solidFill>
                <a:latin typeface="+mn-lt"/>
                <a:ea typeface="+mn-ea"/>
                <a:cs typeface="+mn-ea"/>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r>
              <a:rPr lang="zh-CN" altLang="en-US" dirty="0">
                <a:sym typeface="+mn-lt"/>
              </a:rPr>
              <a:t>资源建设</a:t>
            </a:r>
            <a:endParaRPr lang="zh-CN" altLang="en-US" dirty="0">
              <a:sym typeface="+mn-lt"/>
            </a:endParaRPr>
          </a:p>
        </p:txBody>
      </p:sp>
      <p:sp>
        <p:nvSpPr>
          <p:cNvPr id="34" name="矩形: 圆角 33"/>
          <p:cNvSpPr/>
          <p:nvPr/>
        </p:nvSpPr>
        <p:spPr>
          <a:xfrm>
            <a:off x="581613" y="3485906"/>
            <a:ext cx="763709" cy="438775"/>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cs typeface="+mn-ea"/>
                <a:sym typeface="+mn-lt"/>
              </a:rPr>
              <a:t>05</a:t>
            </a:r>
            <a:endParaRPr lang="zh-CN" altLang="en-US" sz="2400" b="1" dirty="0">
              <a:solidFill>
                <a:schemeClr val="bg1"/>
              </a:solidFill>
              <a:cs typeface="+mn-ea"/>
              <a:sym typeface="+mn-lt"/>
            </a:endParaRPr>
          </a:p>
        </p:txBody>
      </p:sp>
      <p:sp>
        <p:nvSpPr>
          <p:cNvPr id="35" name="矩形: 圆角 34"/>
          <p:cNvSpPr/>
          <p:nvPr/>
        </p:nvSpPr>
        <p:spPr>
          <a:xfrm>
            <a:off x="10943003" y="3526410"/>
            <a:ext cx="763709" cy="438775"/>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cs typeface="+mn-ea"/>
                <a:sym typeface="+mn-lt"/>
              </a:rPr>
              <a:t>02</a:t>
            </a:r>
            <a:endParaRPr lang="zh-CN" altLang="en-US" sz="2400" b="1" dirty="0">
              <a:solidFill>
                <a:schemeClr val="bg1"/>
              </a:solidFill>
              <a:cs typeface="+mn-ea"/>
              <a:sym typeface="+mn-lt"/>
            </a:endParaRPr>
          </a:p>
        </p:txBody>
      </p:sp>
      <p:sp>
        <p:nvSpPr>
          <p:cNvPr id="36" name="矩形: 圆角 35"/>
          <p:cNvSpPr/>
          <p:nvPr/>
        </p:nvSpPr>
        <p:spPr>
          <a:xfrm>
            <a:off x="10224680" y="4820765"/>
            <a:ext cx="763709" cy="438775"/>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cs typeface="+mn-ea"/>
                <a:sym typeface="+mn-lt"/>
              </a:rPr>
              <a:t>03</a:t>
            </a:r>
            <a:endParaRPr lang="zh-CN" altLang="en-US" sz="2400" b="1" dirty="0">
              <a:solidFill>
                <a:schemeClr val="bg1"/>
              </a:solidFill>
              <a:cs typeface="+mn-ea"/>
              <a:sym typeface="+mn-lt"/>
            </a:endParaRPr>
          </a:p>
        </p:txBody>
      </p:sp>
      <p:sp>
        <p:nvSpPr>
          <p:cNvPr id="37" name="矩形: 圆角 36"/>
          <p:cNvSpPr/>
          <p:nvPr/>
        </p:nvSpPr>
        <p:spPr>
          <a:xfrm>
            <a:off x="3430232" y="2231944"/>
            <a:ext cx="763709" cy="438775"/>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cs typeface="+mn-ea"/>
                <a:sym typeface="+mn-lt"/>
              </a:rPr>
              <a:t>01</a:t>
            </a:r>
            <a:endParaRPr lang="zh-CN" altLang="en-US" sz="2400" b="1" dirty="0">
              <a:solidFill>
                <a:schemeClr val="bg1"/>
              </a:solidFill>
              <a:cs typeface="+mn-ea"/>
              <a:sym typeface="+mn-lt"/>
            </a:endParaRPr>
          </a:p>
        </p:txBody>
      </p:sp>
      <p:sp>
        <p:nvSpPr>
          <p:cNvPr id="38" name="矩形: 圆角 37"/>
          <p:cNvSpPr/>
          <p:nvPr/>
        </p:nvSpPr>
        <p:spPr>
          <a:xfrm>
            <a:off x="1185080" y="4798726"/>
            <a:ext cx="763709" cy="438775"/>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cs typeface="+mn-ea"/>
                <a:sym typeface="+mn-lt"/>
              </a:rPr>
              <a:t>04</a:t>
            </a:r>
            <a:endParaRPr lang="zh-CN" altLang="en-US" sz="2400" b="1" dirty="0">
              <a:solidFill>
                <a:schemeClr val="bg1"/>
              </a:solidFill>
              <a:cs typeface="+mn-ea"/>
              <a:sym typeface="+mn-lt"/>
            </a:endParaRPr>
          </a:p>
        </p:txBody>
      </p:sp>
      <p:sp>
        <p:nvSpPr>
          <p:cNvPr id="24"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2504388" y="1977485"/>
            <a:ext cx="2376806" cy="4542937"/>
          </a:xfrm>
          <a:prstGeom prst="rect">
            <a:avLst/>
          </a:prstGeom>
          <a:solidFill>
            <a:schemeClr val="bg1">
              <a:lumMod val="95000"/>
            </a:schemeClr>
          </a:solidFill>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17" name="矩形 16"/>
          <p:cNvSpPr/>
          <p:nvPr/>
        </p:nvSpPr>
        <p:spPr>
          <a:xfrm>
            <a:off x="4957467" y="1996190"/>
            <a:ext cx="2376806" cy="4542937"/>
          </a:xfrm>
          <a:prstGeom prst="rect">
            <a:avLst/>
          </a:prstGeom>
          <a:solidFill>
            <a:schemeClr val="bg1">
              <a:lumMod val="95000"/>
            </a:schemeClr>
          </a:solidFill>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18" name="矩形 17"/>
          <p:cNvSpPr/>
          <p:nvPr/>
        </p:nvSpPr>
        <p:spPr>
          <a:xfrm>
            <a:off x="7382403" y="1977484"/>
            <a:ext cx="2376806" cy="4542937"/>
          </a:xfrm>
          <a:prstGeom prst="rect">
            <a:avLst/>
          </a:prstGeom>
          <a:solidFill>
            <a:schemeClr val="bg1">
              <a:lumMod val="95000"/>
            </a:schemeClr>
          </a:solidFill>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19" name="矩形 18"/>
          <p:cNvSpPr/>
          <p:nvPr/>
        </p:nvSpPr>
        <p:spPr>
          <a:xfrm>
            <a:off x="9843339" y="1977483"/>
            <a:ext cx="2376806" cy="4542937"/>
          </a:xfrm>
          <a:prstGeom prst="rect">
            <a:avLst/>
          </a:prstGeom>
          <a:solidFill>
            <a:schemeClr val="bg1">
              <a:lumMod val="95000"/>
            </a:schemeClr>
          </a:solidFill>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7" name="矩形 6"/>
          <p:cNvSpPr/>
          <p:nvPr/>
        </p:nvSpPr>
        <p:spPr>
          <a:xfrm>
            <a:off x="0" y="1996190"/>
            <a:ext cx="2376806" cy="4542937"/>
          </a:xfrm>
          <a:prstGeom prst="rect">
            <a:avLst/>
          </a:prstGeom>
          <a:solidFill>
            <a:schemeClr val="bg1">
              <a:lumMod val="95000"/>
            </a:schemeClr>
          </a:solidFill>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 name="文本框 1"/>
          <p:cNvSpPr txBox="1"/>
          <p:nvPr/>
        </p:nvSpPr>
        <p:spPr>
          <a:xfrm>
            <a:off x="648550" y="220603"/>
            <a:ext cx="8383731"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4</a:t>
            </a:r>
            <a:r>
              <a:rPr kumimoji="1" lang="zh-CN" altLang="en-US" sz="2000" dirty="0">
                <a:latin typeface="+mn-lt"/>
                <a:ea typeface="+mn-ea"/>
                <a:cs typeface="+mn-ea"/>
                <a:sym typeface="+mn-lt"/>
              </a:rPr>
              <a:t>、“四建设一保障”五大重点举措：涵盖</a:t>
            </a:r>
            <a:r>
              <a:rPr kumimoji="1" lang="en-US" altLang="zh-CN" sz="2000" dirty="0">
                <a:latin typeface="+mn-lt"/>
                <a:ea typeface="+mn-ea"/>
                <a:cs typeface="+mn-ea"/>
                <a:sym typeface="+mn-lt"/>
              </a:rPr>
              <a:t>25</a:t>
            </a:r>
            <a:r>
              <a:rPr kumimoji="1" lang="zh-CN" altLang="en-US" sz="2000" dirty="0">
                <a:latin typeface="+mn-lt"/>
                <a:ea typeface="+mn-ea"/>
                <a:cs typeface="+mn-ea"/>
                <a:sym typeface="+mn-lt"/>
              </a:rPr>
              <a:t>项重点工作任务</a:t>
            </a:r>
            <a:endParaRPr kumimoji="1" lang="en-US" altLang="zh-CN" sz="2000" dirty="0">
              <a:latin typeface="+mn-lt"/>
              <a:ea typeface="+mn-ea"/>
              <a:cs typeface="+mn-ea"/>
              <a:sym typeface="+mn-lt"/>
            </a:endParaRPr>
          </a:p>
        </p:txBody>
      </p:sp>
      <p:sp>
        <p:nvSpPr>
          <p:cNvPr id="3" name="矩形 2"/>
          <p:cNvSpPr/>
          <p:nvPr/>
        </p:nvSpPr>
        <p:spPr>
          <a:xfrm>
            <a:off x="9855973" y="1141499"/>
            <a:ext cx="2336028" cy="70912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cs typeface="+mn-ea"/>
                <a:sym typeface="+mn-lt"/>
              </a:rPr>
              <a:t>实施保障，强化大学治理模式的高效落地</a:t>
            </a:r>
            <a:endParaRPr lang="zh-CN" altLang="en-US" sz="1600" dirty="0">
              <a:cs typeface="+mn-ea"/>
              <a:sym typeface="+mn-lt"/>
            </a:endParaRPr>
          </a:p>
        </p:txBody>
      </p:sp>
      <p:sp>
        <p:nvSpPr>
          <p:cNvPr id="4" name="矩形 3"/>
          <p:cNvSpPr/>
          <p:nvPr/>
        </p:nvSpPr>
        <p:spPr>
          <a:xfrm>
            <a:off x="2504388" y="1141499"/>
            <a:ext cx="2336028" cy="70912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cs typeface="+mn-ea"/>
                <a:sym typeface="+mn-lt"/>
              </a:rPr>
              <a:t>队伍建设，打造专业精深的教育培训队伍</a:t>
            </a:r>
            <a:endParaRPr lang="zh-CN" altLang="en-US" sz="1600" dirty="0">
              <a:cs typeface="+mn-ea"/>
              <a:sym typeface="+mn-lt"/>
            </a:endParaRPr>
          </a:p>
        </p:txBody>
      </p:sp>
      <p:sp>
        <p:nvSpPr>
          <p:cNvPr id="5" name="矩形 4"/>
          <p:cNvSpPr/>
          <p:nvPr/>
        </p:nvSpPr>
        <p:spPr>
          <a:xfrm>
            <a:off x="0" y="1141499"/>
            <a:ext cx="2376806" cy="70912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cs typeface="+mn-ea"/>
                <a:sym typeface="+mn-lt"/>
              </a:rPr>
              <a:t>项目建设，塑造优质独特的培训产品体系</a:t>
            </a:r>
            <a:endParaRPr lang="zh-CN" altLang="en-US" sz="1600" dirty="0">
              <a:cs typeface="+mn-ea"/>
              <a:sym typeface="+mn-lt"/>
            </a:endParaRPr>
          </a:p>
        </p:txBody>
      </p:sp>
      <p:sp>
        <p:nvSpPr>
          <p:cNvPr id="6" name="矩形 5"/>
          <p:cNvSpPr/>
          <p:nvPr/>
        </p:nvSpPr>
        <p:spPr>
          <a:xfrm>
            <a:off x="4957678" y="1141499"/>
            <a:ext cx="2336028" cy="70912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cs typeface="+mn-ea"/>
                <a:sym typeface="+mn-lt"/>
              </a:rPr>
              <a:t>平台建设，构建全网互联的智能学习阵地</a:t>
            </a:r>
            <a:endParaRPr lang="zh-CN" altLang="en-US" sz="1600" dirty="0">
              <a:cs typeface="+mn-ea"/>
              <a:sym typeface="+mn-lt"/>
            </a:endParaRPr>
          </a:p>
        </p:txBody>
      </p:sp>
      <p:sp>
        <p:nvSpPr>
          <p:cNvPr id="8" name="矩形 7"/>
          <p:cNvSpPr/>
          <p:nvPr/>
        </p:nvSpPr>
        <p:spPr>
          <a:xfrm>
            <a:off x="7395035" y="1141499"/>
            <a:ext cx="2336029" cy="70912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cs typeface="+mn-ea"/>
                <a:sym typeface="+mn-lt"/>
              </a:rPr>
              <a:t>资源建设，建立共享开放的培训资源生态</a:t>
            </a:r>
            <a:endParaRPr lang="zh-CN" altLang="en-US" sz="1600" dirty="0">
              <a:cs typeface="+mn-ea"/>
              <a:sym typeface="+mn-lt"/>
            </a:endParaRPr>
          </a:p>
        </p:txBody>
      </p:sp>
      <p:sp>
        <p:nvSpPr>
          <p:cNvPr id="10" name="文本框 9"/>
          <p:cNvSpPr txBox="1"/>
          <p:nvPr/>
        </p:nvSpPr>
        <p:spPr>
          <a:xfrm>
            <a:off x="-13338" y="1996190"/>
            <a:ext cx="2473269" cy="4503477"/>
          </a:xfrm>
          <a:prstGeom prst="rect">
            <a:avLst/>
          </a:prstGeom>
          <a:noFill/>
        </p:spPr>
        <p:txBody>
          <a:bodyPr wrap="square">
            <a:spAutoFit/>
          </a:bodyPr>
          <a:lstStyle/>
          <a:p>
            <a:pPr>
              <a:lnSpc>
                <a:spcPct val="120000"/>
              </a:lnSpc>
            </a:pPr>
            <a:r>
              <a:rPr lang="en-US" altLang="zh-CN" sz="1200" dirty="0">
                <a:latin typeface="+mn-lt"/>
                <a:ea typeface="+mn-ea"/>
                <a:cs typeface="+mn-ea"/>
                <a:sym typeface="+mn-lt"/>
              </a:rPr>
              <a:t>1</a:t>
            </a:r>
            <a:r>
              <a:rPr lang="zh-CN" altLang="en-US" sz="1200" dirty="0">
                <a:latin typeface="+mn-lt"/>
                <a:ea typeface="+mn-ea"/>
                <a:cs typeface="+mn-ea"/>
                <a:sym typeface="+mn-lt"/>
              </a:rPr>
              <a:t>、强化党员党性教育，加强党务工作者能力建设</a:t>
            </a:r>
            <a:endParaRPr lang="zh-CN" altLang="en-US" sz="1200" dirty="0">
              <a:latin typeface="+mn-lt"/>
              <a:ea typeface="+mn-ea"/>
              <a:cs typeface="+mn-ea"/>
              <a:sym typeface="+mn-lt"/>
            </a:endParaRPr>
          </a:p>
          <a:p>
            <a:pPr>
              <a:lnSpc>
                <a:spcPct val="120000"/>
              </a:lnSpc>
            </a:pPr>
            <a:r>
              <a:rPr lang="en-US" altLang="zh-CN" sz="1200" dirty="0">
                <a:latin typeface="+mn-lt"/>
                <a:ea typeface="+mn-ea"/>
                <a:cs typeface="+mn-ea"/>
                <a:sym typeface="+mn-lt"/>
              </a:rPr>
              <a:t>2</a:t>
            </a:r>
            <a:r>
              <a:rPr lang="zh-CN" altLang="en-US" sz="1200" dirty="0">
                <a:latin typeface="+mn-lt"/>
                <a:ea typeface="+mn-ea"/>
                <a:cs typeface="+mn-ea"/>
                <a:sym typeface="+mn-lt"/>
              </a:rPr>
              <a:t>、建立和落实完善的任职资格标准培训体系</a:t>
            </a:r>
            <a:endParaRPr lang="zh-CN" altLang="en-US" sz="1200" dirty="0">
              <a:latin typeface="+mn-lt"/>
              <a:ea typeface="+mn-ea"/>
              <a:cs typeface="+mn-ea"/>
              <a:sym typeface="+mn-lt"/>
            </a:endParaRPr>
          </a:p>
          <a:p>
            <a:pPr>
              <a:lnSpc>
                <a:spcPct val="120000"/>
              </a:lnSpc>
            </a:pPr>
            <a:r>
              <a:rPr lang="en-US" altLang="zh-CN" sz="1200" dirty="0">
                <a:latin typeface="+mn-lt"/>
                <a:ea typeface="+mn-ea"/>
                <a:cs typeface="+mn-ea"/>
                <a:sym typeface="+mn-lt"/>
              </a:rPr>
              <a:t>3</a:t>
            </a:r>
            <a:r>
              <a:rPr lang="zh-CN" altLang="en-US" sz="1200" dirty="0">
                <a:latin typeface="+mn-lt"/>
                <a:ea typeface="+mn-ea"/>
                <a:cs typeface="+mn-ea"/>
                <a:sym typeface="+mn-lt"/>
              </a:rPr>
              <a:t>、实施金融专业人才工程，打造行业权威型专家队伍</a:t>
            </a:r>
            <a:endParaRPr lang="zh-CN" altLang="en-US" sz="1200" dirty="0">
              <a:latin typeface="+mn-lt"/>
              <a:ea typeface="+mn-ea"/>
              <a:cs typeface="+mn-ea"/>
              <a:sym typeface="+mn-lt"/>
            </a:endParaRPr>
          </a:p>
          <a:p>
            <a:pPr>
              <a:lnSpc>
                <a:spcPct val="120000"/>
              </a:lnSpc>
            </a:pPr>
            <a:r>
              <a:rPr lang="en-US" altLang="zh-CN" sz="1200" dirty="0">
                <a:latin typeface="+mn-lt"/>
                <a:ea typeface="+mn-ea"/>
                <a:cs typeface="+mn-ea"/>
                <a:sym typeface="+mn-lt"/>
              </a:rPr>
              <a:t>4</a:t>
            </a:r>
            <a:r>
              <a:rPr lang="zh-CN" altLang="en-US" sz="1200" dirty="0">
                <a:latin typeface="+mn-lt"/>
                <a:ea typeface="+mn-ea"/>
                <a:cs typeface="+mn-ea"/>
                <a:sym typeface="+mn-lt"/>
              </a:rPr>
              <a:t>、实施领导力建设工程，做优做精“敏杰”系列项目</a:t>
            </a:r>
            <a:endParaRPr lang="zh-CN" altLang="en-US" sz="1200" dirty="0">
              <a:latin typeface="+mn-lt"/>
              <a:ea typeface="+mn-ea"/>
              <a:cs typeface="+mn-ea"/>
              <a:sym typeface="+mn-lt"/>
            </a:endParaRPr>
          </a:p>
          <a:p>
            <a:pPr>
              <a:lnSpc>
                <a:spcPct val="120000"/>
              </a:lnSpc>
            </a:pPr>
            <a:r>
              <a:rPr lang="en-US" altLang="zh-CN" sz="1200" dirty="0">
                <a:latin typeface="+mn-lt"/>
                <a:ea typeface="+mn-ea"/>
                <a:cs typeface="+mn-ea"/>
                <a:sym typeface="+mn-lt"/>
              </a:rPr>
              <a:t>5</a:t>
            </a:r>
            <a:r>
              <a:rPr lang="zh-CN" altLang="en-US" sz="1200" dirty="0">
                <a:latin typeface="+mn-lt"/>
                <a:ea typeface="+mn-ea"/>
                <a:cs typeface="+mn-ea"/>
                <a:sym typeface="+mn-lt"/>
              </a:rPr>
              <a:t>、聚焦集团战略重点人才，实施数字化、全球化人才锻造工程</a:t>
            </a:r>
            <a:endParaRPr lang="zh-CN" altLang="en-US" sz="1200" dirty="0">
              <a:latin typeface="+mn-lt"/>
              <a:ea typeface="+mn-ea"/>
              <a:cs typeface="+mn-ea"/>
              <a:sym typeface="+mn-lt"/>
            </a:endParaRPr>
          </a:p>
          <a:p>
            <a:pPr>
              <a:lnSpc>
                <a:spcPct val="120000"/>
              </a:lnSpc>
            </a:pPr>
            <a:r>
              <a:rPr lang="en-US" altLang="zh-CN" sz="1200">
                <a:latin typeface="+mn-lt"/>
                <a:ea typeface="+mn-ea"/>
                <a:cs typeface="+mn-ea"/>
                <a:sym typeface="+mn-lt"/>
              </a:rPr>
              <a:t>6</a:t>
            </a:r>
            <a:r>
              <a:rPr lang="zh-CN" altLang="en-US" sz="1200">
                <a:latin typeface="+mn-lt"/>
                <a:ea typeface="+mn-ea"/>
                <a:cs typeface="+mn-ea"/>
                <a:sym typeface="+mn-lt"/>
              </a:rPr>
              <a:t>、基于未来银行核心胜任力打造工程</a:t>
            </a:r>
            <a:endParaRPr lang="zh-CN" altLang="en-US" sz="1200" dirty="0">
              <a:latin typeface="+mn-lt"/>
              <a:ea typeface="+mn-ea"/>
              <a:cs typeface="+mn-ea"/>
              <a:sym typeface="+mn-lt"/>
            </a:endParaRPr>
          </a:p>
          <a:p>
            <a:pPr>
              <a:lnSpc>
                <a:spcPct val="120000"/>
              </a:lnSpc>
            </a:pPr>
            <a:r>
              <a:rPr lang="en-US" altLang="zh-CN" sz="1200" dirty="0">
                <a:latin typeface="+mn-lt"/>
                <a:ea typeface="+mn-ea"/>
                <a:cs typeface="+mn-ea"/>
                <a:sym typeface="+mn-lt"/>
              </a:rPr>
              <a:t>7</a:t>
            </a:r>
            <a:r>
              <a:rPr lang="zh-CN" altLang="en-US" sz="1200" dirty="0">
                <a:latin typeface="+mn-lt"/>
                <a:ea typeface="+mn-ea"/>
                <a:cs typeface="+mn-ea"/>
                <a:sym typeface="+mn-lt"/>
              </a:rPr>
              <a:t>、实施密联业务的常态化、分散式、敏捷型日常业务支持培训</a:t>
            </a:r>
            <a:endParaRPr lang="zh-CN" altLang="en-US" sz="1200" dirty="0">
              <a:latin typeface="+mn-lt"/>
              <a:ea typeface="+mn-ea"/>
              <a:cs typeface="+mn-ea"/>
              <a:sym typeface="+mn-lt"/>
            </a:endParaRPr>
          </a:p>
          <a:p>
            <a:pPr>
              <a:lnSpc>
                <a:spcPct val="120000"/>
              </a:lnSpc>
            </a:pPr>
            <a:r>
              <a:rPr lang="en-US" altLang="zh-CN" sz="1200" dirty="0">
                <a:latin typeface="+mn-lt"/>
                <a:ea typeface="+mn-ea"/>
                <a:cs typeface="+mn-ea"/>
                <a:sym typeface="+mn-lt"/>
              </a:rPr>
              <a:t>8</a:t>
            </a:r>
            <a:r>
              <a:rPr lang="zh-CN" altLang="en-US" sz="1200" dirty="0">
                <a:latin typeface="+mn-lt"/>
                <a:ea typeface="+mn-ea"/>
                <a:cs typeface="+mn-ea"/>
                <a:sym typeface="+mn-lt"/>
              </a:rPr>
              <a:t>、开展全面风险管理体系培训，实施重点风险管控能力提升</a:t>
            </a:r>
            <a:endParaRPr lang="zh-CN" altLang="en-US" sz="1200" dirty="0">
              <a:latin typeface="+mn-lt"/>
              <a:ea typeface="+mn-ea"/>
              <a:cs typeface="+mn-ea"/>
              <a:sym typeface="+mn-lt"/>
            </a:endParaRPr>
          </a:p>
          <a:p>
            <a:pPr>
              <a:lnSpc>
                <a:spcPct val="120000"/>
              </a:lnSpc>
            </a:pPr>
            <a:r>
              <a:rPr lang="en-US" altLang="zh-CN" sz="1200" dirty="0">
                <a:latin typeface="+mn-lt"/>
                <a:ea typeface="+mn-ea"/>
                <a:cs typeface="+mn-ea"/>
                <a:sym typeface="+mn-lt"/>
              </a:rPr>
              <a:t>9</a:t>
            </a:r>
            <a:r>
              <a:rPr lang="zh-CN" altLang="en-US" sz="1200" dirty="0">
                <a:latin typeface="+mn-lt"/>
                <a:ea typeface="+mn-ea"/>
                <a:cs typeface="+mn-ea"/>
                <a:sym typeface="+mn-lt"/>
              </a:rPr>
              <a:t>、实施网点人才转型工程，进一步助推及夯实业务发展</a:t>
            </a:r>
            <a:endParaRPr lang="zh-CN" altLang="en-US" sz="1200" dirty="0">
              <a:latin typeface="+mn-lt"/>
              <a:ea typeface="+mn-ea"/>
              <a:cs typeface="+mn-ea"/>
              <a:sym typeface="+mn-lt"/>
            </a:endParaRPr>
          </a:p>
          <a:p>
            <a:pPr>
              <a:lnSpc>
                <a:spcPct val="120000"/>
              </a:lnSpc>
            </a:pPr>
            <a:r>
              <a:rPr lang="en-US" altLang="zh-CN" sz="1200" dirty="0">
                <a:latin typeface="+mn-lt"/>
                <a:ea typeface="+mn-ea"/>
                <a:cs typeface="+mn-ea"/>
                <a:sym typeface="+mn-lt"/>
              </a:rPr>
              <a:t>10</a:t>
            </a:r>
            <a:r>
              <a:rPr lang="zh-CN" altLang="en-US" sz="1200" dirty="0">
                <a:latin typeface="+mn-lt"/>
                <a:ea typeface="+mn-ea"/>
                <a:cs typeface="+mn-ea"/>
                <a:sym typeface="+mn-lt"/>
              </a:rPr>
              <a:t>、发展直接面向客户的培训，助推业务发展</a:t>
            </a:r>
            <a:endParaRPr lang="zh-CN" altLang="en-US" sz="1200" dirty="0">
              <a:latin typeface="+mn-lt"/>
              <a:ea typeface="+mn-ea"/>
              <a:cs typeface="+mn-ea"/>
              <a:sym typeface="+mn-lt"/>
            </a:endParaRPr>
          </a:p>
        </p:txBody>
      </p:sp>
      <p:sp>
        <p:nvSpPr>
          <p:cNvPr id="11" name="文本框 10"/>
          <p:cNvSpPr txBox="1"/>
          <p:nvPr/>
        </p:nvSpPr>
        <p:spPr>
          <a:xfrm>
            <a:off x="9787353" y="1922764"/>
            <a:ext cx="2404648" cy="1989071"/>
          </a:xfrm>
          <a:prstGeom prst="rect">
            <a:avLst/>
          </a:prstGeom>
          <a:noFill/>
        </p:spPr>
        <p:txBody>
          <a:bodyPr wrap="square">
            <a:spAutoFit/>
          </a:bodyPr>
          <a:lstStyle/>
          <a:p>
            <a:pPr>
              <a:lnSpc>
                <a:spcPct val="130000"/>
              </a:lnSpc>
            </a:pPr>
            <a:r>
              <a:rPr lang="en-US" altLang="zh-CN" sz="1200" dirty="0">
                <a:latin typeface="+mn-lt"/>
                <a:ea typeface="+mn-ea"/>
                <a:cs typeface="+mn-ea"/>
                <a:sym typeface="+mn-lt"/>
              </a:rPr>
              <a:t>1</a:t>
            </a:r>
            <a:r>
              <a:rPr lang="zh-CN" altLang="en-US" sz="1200" dirty="0">
                <a:latin typeface="+mn-lt"/>
                <a:ea typeface="+mn-ea"/>
                <a:cs typeface="+mn-ea"/>
                <a:sym typeface="+mn-lt"/>
              </a:rPr>
              <a:t>、对接双循环发展新格局，推动产学研创一体化深入落地 </a:t>
            </a:r>
            <a:endParaRPr lang="zh-CN" altLang="en-US" sz="1200" dirty="0">
              <a:latin typeface="+mn-lt"/>
              <a:ea typeface="+mn-ea"/>
              <a:cs typeface="+mn-ea"/>
              <a:sym typeface="+mn-lt"/>
            </a:endParaRPr>
          </a:p>
          <a:p>
            <a:pPr>
              <a:lnSpc>
                <a:spcPct val="130000"/>
              </a:lnSpc>
            </a:pPr>
            <a:r>
              <a:rPr lang="en-US" altLang="zh-CN" sz="1200" dirty="0">
                <a:latin typeface="+mn-lt"/>
                <a:ea typeface="+mn-ea"/>
                <a:cs typeface="+mn-ea"/>
                <a:sym typeface="+mn-lt"/>
              </a:rPr>
              <a:t>2</a:t>
            </a:r>
            <a:r>
              <a:rPr lang="zh-CN" altLang="en-US" sz="1200" dirty="0">
                <a:latin typeface="+mn-lt"/>
                <a:ea typeface="+mn-ea"/>
                <a:cs typeface="+mn-ea"/>
                <a:sym typeface="+mn-lt"/>
              </a:rPr>
              <a:t>、重检专业学院发展规划，建立共赢合作的流程与机制</a:t>
            </a:r>
            <a:endParaRPr lang="zh-CN" altLang="en-US" sz="1200" dirty="0">
              <a:latin typeface="+mn-lt"/>
              <a:ea typeface="+mn-ea"/>
              <a:cs typeface="+mn-ea"/>
              <a:sym typeface="+mn-lt"/>
            </a:endParaRPr>
          </a:p>
          <a:p>
            <a:pPr>
              <a:lnSpc>
                <a:spcPct val="130000"/>
              </a:lnSpc>
            </a:pPr>
            <a:r>
              <a:rPr lang="en-US" altLang="zh-CN" sz="1200" dirty="0">
                <a:latin typeface="+mn-lt"/>
                <a:ea typeface="+mn-ea"/>
                <a:cs typeface="+mn-ea"/>
                <a:sym typeface="+mn-lt"/>
              </a:rPr>
              <a:t>3</a:t>
            </a:r>
            <a:r>
              <a:rPr lang="zh-CN" altLang="en-US" sz="1200" dirty="0">
                <a:latin typeface="+mn-lt"/>
                <a:ea typeface="+mn-ea"/>
                <a:cs typeface="+mn-ea"/>
                <a:sym typeface="+mn-lt"/>
              </a:rPr>
              <a:t>、明晰责权利，开展精细化内部管理</a:t>
            </a:r>
            <a:endParaRPr lang="zh-CN" altLang="en-US" sz="1200" dirty="0">
              <a:latin typeface="+mn-lt"/>
              <a:ea typeface="+mn-ea"/>
              <a:cs typeface="+mn-ea"/>
              <a:sym typeface="+mn-lt"/>
            </a:endParaRPr>
          </a:p>
          <a:p>
            <a:pPr>
              <a:lnSpc>
                <a:spcPct val="130000"/>
              </a:lnSpc>
            </a:pPr>
            <a:r>
              <a:rPr lang="en-US" altLang="zh-CN" sz="1200" dirty="0">
                <a:latin typeface="+mn-lt"/>
                <a:ea typeface="+mn-ea"/>
                <a:cs typeface="+mn-ea"/>
                <a:sym typeface="+mn-lt"/>
              </a:rPr>
              <a:t>4</a:t>
            </a:r>
            <a:r>
              <a:rPr lang="zh-CN" altLang="en-US" sz="1200" dirty="0">
                <a:latin typeface="+mn-lt"/>
                <a:ea typeface="+mn-ea"/>
                <a:cs typeface="+mn-ea"/>
                <a:sym typeface="+mn-lt"/>
              </a:rPr>
              <a:t>、强化配套机制建设，有效保证规划落地实施</a:t>
            </a:r>
            <a:endParaRPr lang="zh-CN" altLang="en-US" sz="1200" dirty="0">
              <a:latin typeface="+mn-lt"/>
              <a:ea typeface="+mn-ea"/>
              <a:cs typeface="+mn-ea"/>
              <a:sym typeface="+mn-lt"/>
            </a:endParaRPr>
          </a:p>
        </p:txBody>
      </p:sp>
      <p:sp>
        <p:nvSpPr>
          <p:cNvPr id="12" name="文本框 11"/>
          <p:cNvSpPr txBox="1"/>
          <p:nvPr/>
        </p:nvSpPr>
        <p:spPr>
          <a:xfrm>
            <a:off x="2500313" y="1922764"/>
            <a:ext cx="2408723" cy="1508939"/>
          </a:xfrm>
          <a:prstGeom prst="rect">
            <a:avLst/>
          </a:prstGeom>
          <a:noFill/>
        </p:spPr>
        <p:txBody>
          <a:bodyPr wrap="square">
            <a:spAutoFit/>
          </a:bodyPr>
          <a:lstStyle/>
          <a:p>
            <a:pPr>
              <a:lnSpc>
                <a:spcPct val="130000"/>
              </a:lnSpc>
            </a:pPr>
            <a:r>
              <a:rPr lang="en-US" altLang="zh-CN" sz="1200" dirty="0">
                <a:latin typeface="+mn-lt"/>
                <a:ea typeface="+mn-ea"/>
                <a:cs typeface="+mn-ea"/>
                <a:sym typeface="+mn-lt"/>
              </a:rPr>
              <a:t>1</a:t>
            </a:r>
            <a:r>
              <a:rPr lang="zh-CN" altLang="en-US" sz="1200" dirty="0">
                <a:latin typeface="+mn-lt"/>
                <a:ea typeface="+mn-ea"/>
                <a:cs typeface="+mn-ea"/>
                <a:sym typeface="+mn-lt"/>
              </a:rPr>
              <a:t>、建立培训管理队伍专业成长阶梯，提升专业能力</a:t>
            </a:r>
            <a:endParaRPr lang="zh-CN" altLang="en-US" sz="1200" dirty="0">
              <a:latin typeface="+mn-lt"/>
              <a:ea typeface="+mn-ea"/>
              <a:cs typeface="+mn-ea"/>
              <a:sym typeface="+mn-lt"/>
            </a:endParaRPr>
          </a:p>
          <a:p>
            <a:pPr>
              <a:lnSpc>
                <a:spcPct val="130000"/>
              </a:lnSpc>
            </a:pPr>
            <a:r>
              <a:rPr lang="en-US" altLang="zh-CN" sz="1200" dirty="0">
                <a:latin typeface="+mn-lt"/>
                <a:ea typeface="+mn-ea"/>
                <a:cs typeface="+mn-ea"/>
                <a:sym typeface="+mn-lt"/>
              </a:rPr>
              <a:t>2</a:t>
            </a:r>
            <a:r>
              <a:rPr lang="zh-CN" altLang="en-US" sz="1200" dirty="0">
                <a:latin typeface="+mn-lt"/>
                <a:ea typeface="+mn-ea"/>
                <a:cs typeface="+mn-ea"/>
                <a:sym typeface="+mn-lt"/>
              </a:rPr>
              <a:t>、统一及优化师资管理，加强内训师队伍的价值应用</a:t>
            </a:r>
            <a:endParaRPr lang="zh-CN" altLang="en-US" sz="1200" dirty="0">
              <a:latin typeface="+mn-lt"/>
              <a:ea typeface="+mn-ea"/>
              <a:cs typeface="+mn-ea"/>
              <a:sym typeface="+mn-lt"/>
            </a:endParaRPr>
          </a:p>
          <a:p>
            <a:pPr>
              <a:lnSpc>
                <a:spcPct val="130000"/>
              </a:lnSpc>
            </a:pPr>
            <a:r>
              <a:rPr lang="en-US" altLang="zh-CN" sz="1200" dirty="0">
                <a:latin typeface="+mn-lt"/>
                <a:ea typeface="+mn-ea"/>
                <a:cs typeface="+mn-ea"/>
                <a:sym typeface="+mn-lt"/>
              </a:rPr>
              <a:t>3</a:t>
            </a:r>
            <a:r>
              <a:rPr lang="zh-CN" altLang="en-US" sz="1200" dirty="0">
                <a:latin typeface="+mn-lt"/>
                <a:ea typeface="+mn-ea"/>
                <a:cs typeface="+mn-ea"/>
                <a:sym typeface="+mn-lt"/>
              </a:rPr>
              <a:t>、加强教育发展专员队伍建设，增强业务支持能力</a:t>
            </a:r>
            <a:endParaRPr lang="zh-CN" altLang="en-US" sz="1200" dirty="0">
              <a:latin typeface="+mn-lt"/>
              <a:ea typeface="+mn-ea"/>
              <a:cs typeface="+mn-ea"/>
              <a:sym typeface="+mn-lt"/>
            </a:endParaRPr>
          </a:p>
        </p:txBody>
      </p:sp>
      <p:sp>
        <p:nvSpPr>
          <p:cNvPr id="13" name="文本框 12"/>
          <p:cNvSpPr txBox="1"/>
          <p:nvPr/>
        </p:nvSpPr>
        <p:spPr>
          <a:xfrm>
            <a:off x="4945346" y="1922764"/>
            <a:ext cx="2473269" cy="1989071"/>
          </a:xfrm>
          <a:prstGeom prst="rect">
            <a:avLst/>
          </a:prstGeom>
          <a:noFill/>
        </p:spPr>
        <p:txBody>
          <a:bodyPr wrap="square">
            <a:spAutoFit/>
          </a:bodyPr>
          <a:lstStyle/>
          <a:p>
            <a:pPr>
              <a:lnSpc>
                <a:spcPct val="130000"/>
              </a:lnSpc>
            </a:pPr>
            <a:r>
              <a:rPr lang="en-US" altLang="zh-CN" sz="1200" dirty="0">
                <a:latin typeface="+mn-lt"/>
                <a:ea typeface="+mn-ea"/>
                <a:cs typeface="+mn-ea"/>
                <a:sym typeface="+mn-lt"/>
              </a:rPr>
              <a:t>1</a:t>
            </a:r>
            <a:r>
              <a:rPr lang="zh-CN" altLang="en-US" sz="1200" dirty="0">
                <a:latin typeface="+mn-lt"/>
                <a:ea typeface="+mn-ea"/>
                <a:cs typeface="+mn-ea"/>
                <a:sym typeface="+mn-lt"/>
              </a:rPr>
              <a:t>、大力开展软硬件升级扩容，建立系统综合服务生态</a:t>
            </a:r>
            <a:endParaRPr lang="zh-CN" altLang="en-US" sz="1200" dirty="0">
              <a:latin typeface="+mn-lt"/>
              <a:ea typeface="+mn-ea"/>
              <a:cs typeface="+mn-ea"/>
              <a:sym typeface="+mn-lt"/>
            </a:endParaRPr>
          </a:p>
          <a:p>
            <a:pPr>
              <a:lnSpc>
                <a:spcPct val="130000"/>
              </a:lnSpc>
            </a:pPr>
            <a:r>
              <a:rPr lang="en-US" altLang="zh-CN" sz="1200" dirty="0">
                <a:latin typeface="+mn-lt"/>
                <a:ea typeface="+mn-ea"/>
                <a:cs typeface="+mn-ea"/>
                <a:sym typeface="+mn-lt"/>
              </a:rPr>
              <a:t>2</a:t>
            </a:r>
            <a:r>
              <a:rPr lang="zh-CN" altLang="en-US" sz="1200" dirty="0">
                <a:latin typeface="+mn-lt"/>
                <a:ea typeface="+mn-ea"/>
                <a:cs typeface="+mn-ea"/>
                <a:sym typeface="+mn-lt"/>
              </a:rPr>
              <a:t>、梳理现有学习体系，构建学习者为中心的线上学习地图</a:t>
            </a:r>
            <a:endParaRPr lang="zh-CN" altLang="en-US" sz="1200" dirty="0">
              <a:latin typeface="+mn-lt"/>
              <a:ea typeface="+mn-ea"/>
              <a:cs typeface="+mn-ea"/>
              <a:sym typeface="+mn-lt"/>
            </a:endParaRPr>
          </a:p>
          <a:p>
            <a:pPr>
              <a:lnSpc>
                <a:spcPct val="130000"/>
              </a:lnSpc>
            </a:pPr>
            <a:r>
              <a:rPr lang="en-US" altLang="zh-CN" sz="1200" dirty="0">
                <a:latin typeface="+mn-lt"/>
                <a:ea typeface="+mn-ea"/>
                <a:cs typeface="+mn-ea"/>
                <a:sym typeface="+mn-lt"/>
              </a:rPr>
              <a:t>3</a:t>
            </a:r>
            <a:r>
              <a:rPr lang="zh-CN" altLang="en-US" sz="1200" dirty="0">
                <a:latin typeface="+mn-lt"/>
                <a:ea typeface="+mn-ea"/>
                <a:cs typeface="+mn-ea"/>
                <a:sym typeface="+mn-lt"/>
              </a:rPr>
              <a:t>、开展数字化评估，推动数字化学习治理</a:t>
            </a:r>
            <a:endParaRPr lang="zh-CN" altLang="en-US" sz="1200" dirty="0">
              <a:latin typeface="+mn-lt"/>
              <a:ea typeface="+mn-ea"/>
              <a:cs typeface="+mn-ea"/>
              <a:sym typeface="+mn-lt"/>
            </a:endParaRPr>
          </a:p>
          <a:p>
            <a:pPr>
              <a:lnSpc>
                <a:spcPct val="130000"/>
              </a:lnSpc>
            </a:pPr>
            <a:r>
              <a:rPr lang="en-US" altLang="zh-CN" sz="1200" dirty="0">
                <a:latin typeface="+mn-lt"/>
                <a:ea typeface="+mn-ea"/>
                <a:cs typeface="+mn-ea"/>
                <a:sym typeface="+mn-lt"/>
              </a:rPr>
              <a:t>4</a:t>
            </a:r>
            <a:r>
              <a:rPr lang="zh-CN" altLang="en-US" sz="1200" dirty="0">
                <a:latin typeface="+mn-lt"/>
                <a:ea typeface="+mn-ea"/>
                <a:cs typeface="+mn-ea"/>
                <a:sym typeface="+mn-lt"/>
              </a:rPr>
              <a:t>、开展数字化的知识管理，推进知识创新和知识运营</a:t>
            </a:r>
            <a:endParaRPr lang="zh-CN" altLang="en-US" sz="1200" dirty="0">
              <a:latin typeface="+mn-lt"/>
              <a:ea typeface="+mn-ea"/>
              <a:cs typeface="+mn-ea"/>
              <a:sym typeface="+mn-lt"/>
            </a:endParaRPr>
          </a:p>
        </p:txBody>
      </p:sp>
      <p:sp>
        <p:nvSpPr>
          <p:cNvPr id="14" name="文本框 13"/>
          <p:cNvSpPr txBox="1"/>
          <p:nvPr/>
        </p:nvSpPr>
        <p:spPr>
          <a:xfrm>
            <a:off x="7395036" y="1922764"/>
            <a:ext cx="2336028" cy="1989071"/>
          </a:xfrm>
          <a:prstGeom prst="rect">
            <a:avLst/>
          </a:prstGeom>
          <a:noFill/>
        </p:spPr>
        <p:txBody>
          <a:bodyPr wrap="square">
            <a:spAutoFit/>
          </a:bodyPr>
          <a:lstStyle/>
          <a:p>
            <a:pPr>
              <a:lnSpc>
                <a:spcPct val="130000"/>
              </a:lnSpc>
            </a:pPr>
            <a:r>
              <a:rPr lang="en-US" altLang="zh-CN" sz="1200" dirty="0">
                <a:latin typeface="+mn-lt"/>
                <a:ea typeface="+mn-ea"/>
                <a:cs typeface="+mn-ea"/>
                <a:sym typeface="+mn-lt"/>
              </a:rPr>
              <a:t>1</a:t>
            </a:r>
            <a:r>
              <a:rPr lang="zh-CN" altLang="en-US" sz="1200" dirty="0">
                <a:latin typeface="+mn-lt"/>
                <a:ea typeface="+mn-ea"/>
                <a:cs typeface="+mn-ea"/>
                <a:sym typeface="+mn-lt"/>
              </a:rPr>
              <a:t>、四库一箱：建立共享共生内容健全的资源生态链</a:t>
            </a:r>
            <a:endParaRPr lang="zh-CN" altLang="en-US" sz="1200" dirty="0">
              <a:latin typeface="+mn-lt"/>
              <a:ea typeface="+mn-ea"/>
              <a:cs typeface="+mn-ea"/>
              <a:sym typeface="+mn-lt"/>
            </a:endParaRPr>
          </a:p>
          <a:p>
            <a:pPr>
              <a:lnSpc>
                <a:spcPct val="130000"/>
              </a:lnSpc>
            </a:pPr>
            <a:r>
              <a:rPr lang="en-US" altLang="zh-CN" sz="1200" dirty="0">
                <a:latin typeface="+mn-lt"/>
                <a:ea typeface="+mn-ea"/>
                <a:cs typeface="+mn-ea"/>
                <a:sym typeface="+mn-lt"/>
              </a:rPr>
              <a:t>2</a:t>
            </a:r>
            <a:r>
              <a:rPr lang="zh-CN" altLang="en-US" sz="1200" dirty="0">
                <a:latin typeface="+mn-lt"/>
                <a:ea typeface="+mn-ea"/>
                <a:cs typeface="+mn-ea"/>
                <a:sym typeface="+mn-lt"/>
              </a:rPr>
              <a:t>、教学服务：持续升级匹配大学需求的硬件设施和服务水平</a:t>
            </a:r>
            <a:endParaRPr lang="zh-CN" altLang="en-US" sz="1200" dirty="0">
              <a:latin typeface="+mn-lt"/>
              <a:ea typeface="+mn-ea"/>
              <a:cs typeface="+mn-ea"/>
              <a:sym typeface="+mn-lt"/>
            </a:endParaRPr>
          </a:p>
          <a:p>
            <a:pPr>
              <a:lnSpc>
                <a:spcPct val="130000"/>
              </a:lnSpc>
            </a:pPr>
            <a:r>
              <a:rPr lang="en-US" altLang="zh-CN" sz="1200" dirty="0">
                <a:latin typeface="+mn-lt"/>
                <a:ea typeface="+mn-ea"/>
                <a:cs typeface="+mn-ea"/>
                <a:sym typeface="+mn-lt"/>
              </a:rPr>
              <a:t>3</a:t>
            </a:r>
            <a:r>
              <a:rPr lang="zh-CN" altLang="en-US" sz="1200" dirty="0">
                <a:latin typeface="+mn-lt"/>
                <a:ea typeface="+mn-ea"/>
                <a:cs typeface="+mn-ea"/>
                <a:sym typeface="+mn-lt"/>
              </a:rPr>
              <a:t>、机构生态：建立共赢的外部合作体系，培育共生机构</a:t>
            </a:r>
            <a:endParaRPr lang="zh-CN" altLang="en-US" sz="1200" dirty="0">
              <a:latin typeface="+mn-lt"/>
              <a:ea typeface="+mn-ea"/>
              <a:cs typeface="+mn-ea"/>
              <a:sym typeface="+mn-lt"/>
            </a:endParaRPr>
          </a:p>
          <a:p>
            <a:pPr>
              <a:lnSpc>
                <a:spcPct val="130000"/>
              </a:lnSpc>
            </a:pPr>
            <a:r>
              <a:rPr lang="en-US" altLang="zh-CN" sz="1200" dirty="0">
                <a:latin typeface="+mn-lt"/>
                <a:ea typeface="+mn-ea"/>
                <a:cs typeface="+mn-ea"/>
                <a:sym typeface="+mn-lt"/>
              </a:rPr>
              <a:t>4</a:t>
            </a:r>
            <a:r>
              <a:rPr lang="zh-CN" altLang="en-US" sz="1200" dirty="0">
                <a:latin typeface="+mn-lt"/>
                <a:ea typeface="+mn-ea"/>
                <a:cs typeface="+mn-ea"/>
                <a:sym typeface="+mn-lt"/>
              </a:rPr>
              <a:t>、费用生态：构建激励和约束机制，让资金发挥最大效用</a:t>
            </a:r>
            <a:endParaRPr lang="zh-CN" altLang="en-US" sz="1200" dirty="0">
              <a:latin typeface="+mn-lt"/>
              <a:ea typeface="+mn-ea"/>
              <a:cs typeface="+mn-ea"/>
              <a:sym typeface="+mn-lt"/>
            </a:endParaRPr>
          </a:p>
        </p:txBody>
      </p:sp>
      <p:sp>
        <p:nvSpPr>
          <p:cNvPr id="15"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3571638" y="1435954"/>
            <a:ext cx="0" cy="493656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313509" y="1435954"/>
            <a:ext cx="3050716" cy="3693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cs typeface="+mn-ea"/>
                <a:sym typeface="+mn-lt"/>
              </a:rPr>
              <a:t>一级大纲</a:t>
            </a:r>
            <a:endParaRPr lang="zh-CN" altLang="en-US" sz="1800" b="1" dirty="0">
              <a:cs typeface="+mn-ea"/>
              <a:sym typeface="+mn-lt"/>
            </a:endParaRPr>
          </a:p>
        </p:txBody>
      </p:sp>
      <p:sp>
        <p:nvSpPr>
          <p:cNvPr id="15" name="矩形 14"/>
          <p:cNvSpPr/>
          <p:nvPr/>
        </p:nvSpPr>
        <p:spPr>
          <a:xfrm>
            <a:off x="3853526" y="1435954"/>
            <a:ext cx="7589537" cy="3693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a:cs typeface="+mn-ea"/>
                <a:sym typeface="+mn-lt"/>
              </a:rPr>
              <a:t>二</a:t>
            </a:r>
            <a:r>
              <a:rPr lang="en-US" altLang="zh-CN" sz="1800" dirty="0">
                <a:cs typeface="+mn-ea"/>
                <a:sym typeface="+mn-lt"/>
              </a:rPr>
              <a:t>/</a:t>
            </a:r>
            <a:r>
              <a:rPr lang="zh-CN" altLang="en-US" sz="1800" dirty="0">
                <a:cs typeface="+mn-ea"/>
                <a:sym typeface="+mn-lt"/>
              </a:rPr>
              <a:t>三级大纲（重点内容）</a:t>
            </a:r>
            <a:endParaRPr lang="zh-CN" altLang="en-US" sz="1800" dirty="0">
              <a:cs typeface="+mn-ea"/>
              <a:sym typeface="+mn-lt"/>
            </a:endParaRPr>
          </a:p>
        </p:txBody>
      </p:sp>
      <p:graphicFrame>
        <p:nvGraphicFramePr>
          <p:cNvPr id="4" name="表格 3"/>
          <p:cNvGraphicFramePr>
            <a:graphicFrameLocks noGrp="1"/>
          </p:cNvGraphicFramePr>
          <p:nvPr/>
        </p:nvGraphicFramePr>
        <p:xfrm>
          <a:off x="313510" y="1920412"/>
          <a:ext cx="3044370" cy="4452108"/>
        </p:xfrm>
        <a:graphic>
          <a:graphicData uri="http://schemas.openxmlformats.org/drawingml/2006/table">
            <a:tbl>
              <a:tblPr firstRow="1" firstCol="1" bandRow="1">
                <a:tableStyleId>{5940675A-B579-460E-94D1-54222C63F5DA}</a:tableStyleId>
              </a:tblPr>
              <a:tblGrid>
                <a:gridCol w="1058090"/>
                <a:gridCol w="1986280"/>
              </a:tblGrid>
              <a:tr h="742018">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zh-CN" sz="1600" b="1" kern="100" dirty="0">
                          <a:solidFill>
                            <a:schemeClr val="tx1"/>
                          </a:solidFill>
                          <a:effectLst/>
                          <a:latin typeface="+mn-lt"/>
                          <a:ea typeface="+mn-ea"/>
                          <a:cs typeface="+mn-ea"/>
                          <a:sym typeface="+mn-lt"/>
                        </a:rPr>
                        <a:t>第一章</a:t>
                      </a:r>
                      <a:endParaRPr lang="zh-CN" altLang="zh-CN" sz="1600" b="1" kern="100" dirty="0">
                        <a:solidFill>
                          <a:schemeClr val="tx1"/>
                        </a:solidFill>
                        <a:effectLst/>
                        <a:latin typeface="+mn-lt"/>
                        <a:ea typeface="+mn-ea"/>
                        <a:cs typeface="+mn-ea"/>
                        <a:sym typeface="+mn-lt"/>
                      </a:endParaRPr>
                    </a:p>
                  </a:txBody>
                  <a:tcPr marL="50270" marR="50270" marT="0" marB="0" anchor="ctr">
                    <a:noFill/>
                  </a:tcPr>
                </a:tc>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600" b="1" kern="100" dirty="0">
                          <a:solidFill>
                            <a:srgbClr val="C00000"/>
                          </a:solidFill>
                          <a:effectLst/>
                          <a:latin typeface="+mn-lt"/>
                          <a:ea typeface="+mn-ea"/>
                          <a:cs typeface="+mn-ea"/>
                          <a:sym typeface="+mn-lt"/>
                        </a:rPr>
                        <a:t>发展环境</a:t>
                      </a:r>
                      <a:endParaRPr lang="zh-CN" altLang="zh-CN" sz="1600" b="1" kern="100" dirty="0">
                        <a:solidFill>
                          <a:srgbClr val="C00000"/>
                        </a:solidFill>
                        <a:effectLst/>
                        <a:latin typeface="+mn-lt"/>
                        <a:ea typeface="+mn-ea"/>
                        <a:cs typeface="+mn-ea"/>
                        <a:sym typeface="+mn-lt"/>
                      </a:endParaRPr>
                    </a:p>
                  </a:txBody>
                  <a:tcPr marL="50270" marR="50270" marT="0" marB="0" anchor="ctr">
                    <a:noFill/>
                  </a:tcPr>
                </a:tc>
              </a:tr>
              <a:tr h="742018">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en-US" sz="1600" b="1" kern="100" dirty="0">
                          <a:solidFill>
                            <a:schemeClr val="tx1"/>
                          </a:solidFill>
                          <a:effectLst/>
                          <a:latin typeface="+mn-lt"/>
                          <a:ea typeface="+mn-ea"/>
                          <a:cs typeface="+mn-ea"/>
                          <a:sym typeface="+mn-lt"/>
                        </a:rPr>
                        <a:t>第二章</a:t>
                      </a:r>
                      <a:endParaRPr lang="zh-CN" altLang="en-US" sz="1600" b="1" kern="100" dirty="0">
                        <a:solidFill>
                          <a:schemeClr val="tx1"/>
                        </a:solidFill>
                        <a:effectLst/>
                        <a:latin typeface="+mn-lt"/>
                        <a:ea typeface="+mn-ea"/>
                        <a:cs typeface="+mn-ea"/>
                        <a:sym typeface="+mn-lt"/>
                      </a:endParaRPr>
                    </a:p>
                  </a:txBody>
                  <a:tcPr marL="50270" marR="50270" marT="0" marB="0" anchor="ctr">
                    <a:noFill/>
                  </a:tcPr>
                </a:tc>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600" b="1" kern="100" dirty="0">
                          <a:solidFill>
                            <a:srgbClr val="C00000"/>
                          </a:solidFill>
                          <a:effectLst/>
                          <a:latin typeface="+mn-lt"/>
                          <a:ea typeface="+mn-ea"/>
                          <a:cs typeface="+mn-ea"/>
                          <a:sym typeface="+mn-lt"/>
                        </a:rPr>
                        <a:t>总体布局</a:t>
                      </a:r>
                      <a:endParaRPr lang="zh-CN" altLang="en-US" sz="1600" b="1" kern="100" dirty="0">
                        <a:solidFill>
                          <a:srgbClr val="C00000"/>
                        </a:solidFill>
                        <a:effectLst/>
                        <a:latin typeface="+mn-lt"/>
                        <a:ea typeface="+mn-ea"/>
                        <a:cs typeface="+mn-ea"/>
                        <a:sym typeface="+mn-lt"/>
                      </a:endParaRPr>
                    </a:p>
                  </a:txBody>
                  <a:tcPr marL="50270" marR="50270" marT="0" marB="0" anchor="ctr">
                    <a:noFill/>
                  </a:tcPr>
                </a:tc>
              </a:tr>
              <a:tr h="742018">
                <a:tc>
                  <a:txBody>
                    <a:bodyPr/>
                    <a:lstStyle/>
                    <a:p>
                      <a:pPr algn="ctr">
                        <a:lnSpc>
                          <a:spcPct val="130000"/>
                        </a:lnSpc>
                      </a:pPr>
                      <a:r>
                        <a:rPr lang="zh-CN" altLang="en-US" sz="1800" b="1" kern="100" dirty="0">
                          <a:solidFill>
                            <a:schemeClr val="bg1"/>
                          </a:solidFill>
                          <a:effectLst/>
                          <a:latin typeface="+mn-lt"/>
                          <a:ea typeface="+mn-ea"/>
                          <a:cs typeface="+mn-ea"/>
                          <a:sym typeface="+mn-lt"/>
                        </a:rPr>
                        <a:t>第三章</a:t>
                      </a:r>
                      <a:endParaRPr lang="zh-CN" sz="1800" b="1" kern="100" dirty="0">
                        <a:solidFill>
                          <a:schemeClr val="bg1"/>
                        </a:solidFill>
                        <a:effectLst/>
                        <a:latin typeface="+mn-lt"/>
                        <a:ea typeface="+mn-ea"/>
                        <a:cs typeface="+mn-ea"/>
                        <a:sym typeface="+mn-lt"/>
                      </a:endParaRPr>
                    </a:p>
                  </a:txBody>
                  <a:tcPr marL="50270" marR="50270" marT="0" marB="0" anchor="ctr">
                    <a:solidFill>
                      <a:srgbClr val="C00000"/>
                    </a:solidFill>
                  </a:tcPr>
                </a:tc>
                <a:tc>
                  <a:txBody>
                    <a:bodyPr/>
                    <a:lstStyle/>
                    <a:p>
                      <a:pPr algn="ctr">
                        <a:lnSpc>
                          <a:spcPct val="120000"/>
                        </a:lnSpc>
                      </a:pPr>
                      <a:r>
                        <a:rPr lang="zh-CN" altLang="en-US" sz="1800" b="1" kern="100" dirty="0">
                          <a:solidFill>
                            <a:schemeClr val="bg1"/>
                          </a:solidFill>
                          <a:effectLst/>
                          <a:latin typeface="+mn-lt"/>
                          <a:ea typeface="+mn-ea"/>
                          <a:cs typeface="+mn-ea"/>
                          <a:sym typeface="+mn-lt"/>
                        </a:rPr>
                        <a:t>项目建设</a:t>
                      </a:r>
                      <a:endParaRPr lang="zh-CN" altLang="zh-CN" sz="1800" b="1" kern="100" dirty="0">
                        <a:solidFill>
                          <a:schemeClr val="bg1"/>
                        </a:solidFill>
                        <a:effectLst/>
                        <a:latin typeface="+mn-lt"/>
                        <a:ea typeface="+mn-ea"/>
                        <a:cs typeface="+mn-ea"/>
                        <a:sym typeface="+mn-lt"/>
                      </a:endParaRPr>
                    </a:p>
                  </a:txBody>
                  <a:tcPr marL="50270" marR="50270" marT="0" marB="0" anchor="ctr">
                    <a:solidFill>
                      <a:srgbClr val="C00000"/>
                    </a:solidFill>
                  </a:tcPr>
                </a:tc>
              </a:tr>
              <a:tr h="742018">
                <a:tc>
                  <a:txBody>
                    <a:bodyPr/>
                    <a:lstStyle/>
                    <a:p>
                      <a:pPr algn="ctr">
                        <a:lnSpc>
                          <a:spcPct val="130000"/>
                        </a:lnSpc>
                      </a:pPr>
                      <a:r>
                        <a:rPr lang="zh-CN" altLang="en-US" sz="1600" b="1" kern="100" dirty="0">
                          <a:effectLst/>
                          <a:latin typeface="+mn-lt"/>
                          <a:ea typeface="+mn-ea"/>
                          <a:cs typeface="+mn-ea"/>
                          <a:sym typeface="+mn-lt"/>
                        </a:rPr>
                        <a:t>第四章</a:t>
                      </a:r>
                      <a:endParaRPr lang="zh-CN" sz="1600" b="1" kern="100" dirty="0">
                        <a:effectLst/>
                        <a:latin typeface="+mn-lt"/>
                        <a:ea typeface="+mn-ea"/>
                        <a:cs typeface="+mn-ea"/>
                        <a:sym typeface="+mn-lt"/>
                      </a:endParaRPr>
                    </a:p>
                  </a:txBody>
                  <a:tcPr marL="50270" marR="50270" marT="0" marB="0" anchor="ctr"/>
                </a:tc>
                <a:tc>
                  <a:txBody>
                    <a:bodyPr/>
                    <a:lstStyle/>
                    <a:p>
                      <a:pPr algn="ctr">
                        <a:lnSpc>
                          <a:spcPct val="120000"/>
                        </a:lnSpc>
                      </a:pPr>
                      <a:r>
                        <a:rPr lang="zh-CN" altLang="en-US" sz="1600" b="1" kern="100" dirty="0">
                          <a:solidFill>
                            <a:srgbClr val="C00000"/>
                          </a:solidFill>
                          <a:effectLst/>
                          <a:latin typeface="+mn-lt"/>
                          <a:ea typeface="+mn-ea"/>
                          <a:cs typeface="+mn-ea"/>
                          <a:sym typeface="+mn-lt"/>
                        </a:rPr>
                        <a:t>能力建设</a:t>
                      </a:r>
                      <a:endParaRPr lang="zh-CN" sz="1600" b="1" kern="100" dirty="0">
                        <a:solidFill>
                          <a:srgbClr val="C00000"/>
                        </a:solidFill>
                        <a:effectLst/>
                        <a:latin typeface="+mn-lt"/>
                        <a:ea typeface="+mn-ea"/>
                        <a:cs typeface="+mn-ea"/>
                        <a:sym typeface="+mn-lt"/>
                      </a:endParaRPr>
                    </a:p>
                  </a:txBody>
                  <a:tcPr marL="50270" marR="50270" marT="0" marB="0" anchor="ctr"/>
                </a:tc>
              </a:tr>
              <a:tr h="742018">
                <a:tc>
                  <a:txBody>
                    <a:bodyPr/>
                    <a:lstStyle/>
                    <a:p>
                      <a:pPr algn="ctr">
                        <a:lnSpc>
                          <a:spcPct val="130000"/>
                        </a:lnSpc>
                      </a:pPr>
                      <a:r>
                        <a:rPr lang="zh-CN" sz="1600" b="1" kern="100" dirty="0">
                          <a:effectLst/>
                          <a:latin typeface="+mn-lt"/>
                          <a:ea typeface="+mn-ea"/>
                          <a:cs typeface="+mn-ea"/>
                          <a:sym typeface="+mn-lt"/>
                        </a:rPr>
                        <a:t>第</a:t>
                      </a:r>
                      <a:r>
                        <a:rPr lang="zh-CN" altLang="en-US" sz="1600" b="1" kern="100" dirty="0">
                          <a:effectLst/>
                          <a:latin typeface="+mn-lt"/>
                          <a:ea typeface="+mn-ea"/>
                          <a:cs typeface="+mn-ea"/>
                          <a:sym typeface="+mn-lt"/>
                        </a:rPr>
                        <a:t>五</a:t>
                      </a:r>
                      <a:r>
                        <a:rPr lang="zh-CN" sz="1600" b="1" kern="100" dirty="0">
                          <a:effectLst/>
                          <a:latin typeface="+mn-lt"/>
                          <a:ea typeface="+mn-ea"/>
                          <a:cs typeface="+mn-ea"/>
                          <a:sym typeface="+mn-lt"/>
                        </a:rPr>
                        <a:t>章</a:t>
                      </a:r>
                      <a:endParaRPr lang="zh-CN" sz="1600" b="1" kern="100" dirty="0">
                        <a:effectLst/>
                        <a:latin typeface="+mn-lt"/>
                        <a:ea typeface="+mn-ea"/>
                        <a:cs typeface="+mn-ea"/>
                        <a:sym typeface="+mn-lt"/>
                      </a:endParaRPr>
                    </a:p>
                  </a:txBody>
                  <a:tcPr marL="50270" marR="50270" marT="0" marB="0" anchor="ctr"/>
                </a:tc>
                <a:tc>
                  <a:txBody>
                    <a:bodyPr/>
                    <a:lstStyle/>
                    <a:p>
                      <a:pPr algn="ctr">
                        <a:lnSpc>
                          <a:spcPct val="120000"/>
                        </a:lnSpc>
                      </a:pPr>
                      <a:r>
                        <a:rPr lang="zh-CN" sz="1600" b="1" kern="100" dirty="0">
                          <a:solidFill>
                            <a:srgbClr val="C00000"/>
                          </a:solidFill>
                          <a:effectLst/>
                          <a:latin typeface="+mn-lt"/>
                          <a:ea typeface="+mn-ea"/>
                          <a:cs typeface="+mn-ea"/>
                          <a:sym typeface="+mn-lt"/>
                        </a:rPr>
                        <a:t>资源</a:t>
                      </a:r>
                      <a:r>
                        <a:rPr lang="zh-CN" altLang="en-US" sz="1600" b="1" kern="100" dirty="0">
                          <a:solidFill>
                            <a:srgbClr val="C00000"/>
                          </a:solidFill>
                          <a:effectLst/>
                          <a:latin typeface="+mn-lt"/>
                          <a:ea typeface="+mn-ea"/>
                          <a:cs typeface="+mn-ea"/>
                          <a:sym typeface="+mn-lt"/>
                        </a:rPr>
                        <a:t>建设</a:t>
                      </a:r>
                      <a:endParaRPr lang="zh-CN" sz="1600" b="1" kern="100" dirty="0">
                        <a:solidFill>
                          <a:srgbClr val="C00000"/>
                        </a:solidFill>
                        <a:effectLst/>
                        <a:latin typeface="+mn-lt"/>
                        <a:ea typeface="+mn-ea"/>
                        <a:cs typeface="+mn-ea"/>
                        <a:sym typeface="+mn-lt"/>
                      </a:endParaRPr>
                    </a:p>
                  </a:txBody>
                  <a:tcPr marL="50270" marR="50270" marT="0" marB="0" anchor="ctr"/>
                </a:tc>
              </a:tr>
              <a:tr h="742018">
                <a:tc>
                  <a:txBody>
                    <a:bodyPr/>
                    <a:lstStyle/>
                    <a:p>
                      <a:pPr algn="ctr">
                        <a:lnSpc>
                          <a:spcPct val="130000"/>
                        </a:lnSpc>
                      </a:pPr>
                      <a:r>
                        <a:rPr lang="zh-CN" sz="1600" b="1" kern="100" dirty="0">
                          <a:effectLst/>
                          <a:latin typeface="+mn-lt"/>
                          <a:ea typeface="+mn-ea"/>
                          <a:cs typeface="+mn-ea"/>
                          <a:sym typeface="+mn-lt"/>
                        </a:rPr>
                        <a:t>第</a:t>
                      </a:r>
                      <a:r>
                        <a:rPr lang="zh-CN" altLang="en-US" sz="1600" b="1" kern="100" dirty="0">
                          <a:effectLst/>
                          <a:latin typeface="+mn-lt"/>
                          <a:ea typeface="+mn-ea"/>
                          <a:cs typeface="+mn-ea"/>
                          <a:sym typeface="+mn-lt"/>
                        </a:rPr>
                        <a:t>六</a:t>
                      </a:r>
                      <a:r>
                        <a:rPr lang="zh-CN" sz="1600" b="1" kern="100" dirty="0">
                          <a:effectLst/>
                          <a:latin typeface="+mn-lt"/>
                          <a:ea typeface="+mn-ea"/>
                          <a:cs typeface="+mn-ea"/>
                          <a:sym typeface="+mn-lt"/>
                        </a:rPr>
                        <a:t>章</a:t>
                      </a:r>
                      <a:endParaRPr lang="zh-CN" sz="1600" b="1" kern="100" dirty="0">
                        <a:effectLst/>
                        <a:latin typeface="+mn-lt"/>
                        <a:ea typeface="+mn-ea"/>
                        <a:cs typeface="+mn-ea"/>
                        <a:sym typeface="+mn-lt"/>
                      </a:endParaRPr>
                    </a:p>
                  </a:txBody>
                  <a:tcPr marL="50270" marR="50270" marT="0" marB="0" anchor="ctr"/>
                </a:tc>
                <a:tc>
                  <a:txBody>
                    <a:bodyPr/>
                    <a:lstStyle/>
                    <a:p>
                      <a:pPr algn="ctr">
                        <a:lnSpc>
                          <a:spcPct val="120000"/>
                        </a:lnSpc>
                      </a:pPr>
                      <a:r>
                        <a:rPr lang="zh-CN" altLang="en-US" sz="1600" b="1" kern="100" dirty="0">
                          <a:solidFill>
                            <a:srgbClr val="C00000"/>
                          </a:solidFill>
                          <a:effectLst/>
                          <a:latin typeface="+mn-lt"/>
                          <a:ea typeface="+mn-ea"/>
                          <a:cs typeface="+mn-ea"/>
                          <a:sym typeface="+mn-lt"/>
                        </a:rPr>
                        <a:t>实施</a:t>
                      </a:r>
                      <a:r>
                        <a:rPr lang="zh-CN" sz="1600" b="1" kern="100" dirty="0">
                          <a:solidFill>
                            <a:srgbClr val="C00000"/>
                          </a:solidFill>
                          <a:effectLst/>
                          <a:latin typeface="+mn-lt"/>
                          <a:ea typeface="+mn-ea"/>
                          <a:cs typeface="+mn-ea"/>
                          <a:sym typeface="+mn-lt"/>
                        </a:rPr>
                        <a:t>保障</a:t>
                      </a:r>
                      <a:endParaRPr lang="zh-CN" sz="1600" b="1" kern="100" dirty="0">
                        <a:solidFill>
                          <a:srgbClr val="C00000"/>
                        </a:solidFill>
                        <a:effectLst/>
                        <a:latin typeface="+mn-lt"/>
                        <a:ea typeface="+mn-ea"/>
                        <a:cs typeface="+mn-ea"/>
                        <a:sym typeface="+mn-lt"/>
                      </a:endParaRPr>
                    </a:p>
                  </a:txBody>
                  <a:tcPr marL="50270" marR="50270" marT="0" marB="0" anchor="ctr"/>
                </a:tc>
              </a:tr>
            </a:tbl>
          </a:graphicData>
        </a:graphic>
      </p:graphicFrame>
      <p:sp>
        <p:nvSpPr>
          <p:cNvPr id="7" name="箭头: 五边形 6"/>
          <p:cNvSpPr/>
          <p:nvPr/>
        </p:nvSpPr>
        <p:spPr>
          <a:xfrm>
            <a:off x="3364225" y="3405714"/>
            <a:ext cx="489302" cy="369332"/>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4148935" y="1803260"/>
            <a:ext cx="6262153" cy="4755148"/>
          </a:xfrm>
          <a:prstGeom prst="rect">
            <a:avLst/>
          </a:prstGeom>
          <a:noFill/>
        </p:spPr>
        <p:txBody>
          <a:bodyPr wrap="square" rtlCol="0">
            <a:spAutoFit/>
          </a:bodyPr>
          <a:lstStyle>
            <a:defPPr>
              <a:defRPr lang="zh-CN"/>
            </a:defPPr>
            <a:lvl1pPr>
              <a:lnSpc>
                <a:spcPct val="150000"/>
              </a:lnSpc>
              <a:defRPr sz="1400">
                <a:latin typeface="微软雅黑" charset="-122"/>
                <a:ea typeface="微软雅黑" charset="-122"/>
              </a:defRPr>
            </a:lvl1pPr>
          </a:lstStyle>
          <a:p>
            <a:r>
              <a:rPr lang="zh-CN" altLang="en-US" sz="1600" b="1" dirty="0">
                <a:latin typeface="+mn-lt"/>
                <a:ea typeface="+mn-ea"/>
                <a:cs typeface="+mn-ea"/>
                <a:sym typeface="+mn-lt"/>
              </a:rPr>
              <a:t>一、目标：塑造优质独特的培训项目体系</a:t>
            </a:r>
            <a:endParaRPr lang="en-US" altLang="zh-CN" sz="1600" b="1" dirty="0">
              <a:latin typeface="+mn-lt"/>
              <a:ea typeface="+mn-ea"/>
              <a:cs typeface="+mn-ea"/>
              <a:sym typeface="+mn-lt"/>
            </a:endParaRPr>
          </a:p>
          <a:p>
            <a:r>
              <a:rPr lang="zh-CN" altLang="en-US" sz="1600" b="1" dirty="0">
                <a:latin typeface="+mn-lt"/>
                <a:ea typeface="+mn-ea"/>
                <a:cs typeface="+mn-ea"/>
                <a:sym typeface="+mn-lt"/>
              </a:rPr>
              <a:t>二、规划原则与分类设计</a:t>
            </a:r>
            <a:endParaRPr lang="en-US" altLang="zh-CN" sz="1600" b="1" dirty="0">
              <a:latin typeface="+mn-lt"/>
              <a:ea typeface="+mn-ea"/>
              <a:cs typeface="+mn-ea"/>
              <a:sym typeface="+mn-lt"/>
            </a:endParaRPr>
          </a:p>
          <a:p>
            <a:r>
              <a:rPr lang="en-US" altLang="zh-CN" dirty="0">
                <a:latin typeface="+mn-lt"/>
                <a:ea typeface="+mn-ea"/>
                <a:cs typeface="+mn-ea"/>
                <a:sym typeface="+mn-lt"/>
              </a:rPr>
              <a:t>1</a:t>
            </a:r>
            <a:r>
              <a:rPr lang="zh-CN" altLang="en-US" dirty="0">
                <a:latin typeface="+mn-lt"/>
                <a:ea typeface="+mn-ea"/>
                <a:cs typeface="+mn-ea"/>
                <a:sym typeface="+mn-lt"/>
              </a:rPr>
              <a:t>、规划原则：矩阵思维       </a:t>
            </a:r>
            <a:r>
              <a:rPr lang="en-US" altLang="zh-CN" dirty="0">
                <a:latin typeface="+mn-lt"/>
                <a:ea typeface="+mn-ea"/>
                <a:cs typeface="+mn-ea"/>
                <a:sym typeface="+mn-lt"/>
              </a:rPr>
              <a:t>2</a:t>
            </a:r>
            <a:r>
              <a:rPr lang="zh-CN" altLang="en-US" dirty="0">
                <a:latin typeface="+mn-lt"/>
                <a:ea typeface="+mn-ea"/>
                <a:cs typeface="+mn-ea"/>
                <a:sym typeface="+mn-lt"/>
              </a:rPr>
              <a:t>、六大类培训项目</a:t>
            </a:r>
            <a:endParaRPr lang="en-US" altLang="zh-CN" dirty="0">
              <a:latin typeface="+mn-lt"/>
              <a:ea typeface="+mn-ea"/>
              <a:cs typeface="+mn-ea"/>
              <a:sym typeface="+mn-lt"/>
            </a:endParaRPr>
          </a:p>
          <a:p>
            <a:r>
              <a:rPr lang="zh-CN" altLang="en-US" sz="1600" b="1" dirty="0">
                <a:latin typeface="+mn-lt"/>
                <a:ea typeface="+mn-ea"/>
                <a:cs typeface="+mn-ea"/>
                <a:sym typeface="+mn-lt"/>
              </a:rPr>
              <a:t>三、重点举措（</a:t>
            </a:r>
            <a:r>
              <a:rPr lang="zh-CN" altLang="en-US" sz="1600" dirty="0">
                <a:latin typeface="+mn-lt"/>
                <a:ea typeface="+mn-ea"/>
                <a:cs typeface="+mn-ea"/>
                <a:sym typeface="+mn-lt"/>
              </a:rPr>
              <a:t>建设六类</a:t>
            </a:r>
            <a:r>
              <a:rPr lang="zh-CN" altLang="en-US" sz="1600" b="1" dirty="0">
                <a:latin typeface="+mn-lt"/>
                <a:ea typeface="+mn-ea"/>
                <a:cs typeface="+mn-ea"/>
                <a:sym typeface="+mn-lt"/>
              </a:rPr>
              <a:t>十大重点项目体系）</a:t>
            </a:r>
            <a:endParaRPr lang="en-US" altLang="zh-CN" sz="1600" b="1" dirty="0">
              <a:latin typeface="+mn-lt"/>
              <a:ea typeface="+mn-ea"/>
              <a:cs typeface="+mn-ea"/>
              <a:sym typeface="+mn-lt"/>
            </a:endParaRPr>
          </a:p>
          <a:p>
            <a:r>
              <a:rPr lang="en-US" altLang="zh-CN" dirty="0">
                <a:latin typeface="+mn-lt"/>
                <a:ea typeface="+mn-ea"/>
                <a:cs typeface="+mn-ea"/>
                <a:sym typeface="+mn-lt"/>
              </a:rPr>
              <a:t>1</a:t>
            </a:r>
            <a:r>
              <a:rPr lang="zh-CN" altLang="en-US" dirty="0">
                <a:latin typeface="+mn-lt"/>
                <a:ea typeface="+mn-ea"/>
                <a:cs typeface="+mn-ea"/>
                <a:sym typeface="+mn-lt"/>
              </a:rPr>
              <a:t>、强化党员党性教育，加强党务工作者能力建设</a:t>
            </a:r>
            <a:endParaRPr lang="zh-CN" altLang="en-US" dirty="0">
              <a:latin typeface="+mn-lt"/>
              <a:ea typeface="+mn-ea"/>
              <a:cs typeface="+mn-ea"/>
              <a:sym typeface="+mn-lt"/>
            </a:endParaRPr>
          </a:p>
          <a:p>
            <a:r>
              <a:rPr lang="en-US" altLang="zh-CN" dirty="0">
                <a:latin typeface="+mn-lt"/>
                <a:ea typeface="+mn-ea"/>
                <a:cs typeface="+mn-ea"/>
                <a:sym typeface="+mn-lt"/>
              </a:rPr>
              <a:t>2</a:t>
            </a:r>
            <a:r>
              <a:rPr lang="zh-CN" altLang="en-US" dirty="0">
                <a:latin typeface="+mn-lt"/>
                <a:ea typeface="+mn-ea"/>
                <a:cs typeface="+mn-ea"/>
                <a:sym typeface="+mn-lt"/>
              </a:rPr>
              <a:t>、建立和落实完善的任职资格标准培训体系</a:t>
            </a:r>
            <a:endParaRPr lang="zh-CN" altLang="en-US" dirty="0">
              <a:latin typeface="+mn-lt"/>
              <a:ea typeface="+mn-ea"/>
              <a:cs typeface="+mn-ea"/>
              <a:sym typeface="+mn-lt"/>
            </a:endParaRPr>
          </a:p>
          <a:p>
            <a:r>
              <a:rPr lang="en-US" altLang="zh-CN" dirty="0">
                <a:latin typeface="+mn-lt"/>
                <a:ea typeface="+mn-ea"/>
                <a:cs typeface="+mn-ea"/>
                <a:sym typeface="+mn-lt"/>
              </a:rPr>
              <a:t>3</a:t>
            </a:r>
            <a:r>
              <a:rPr lang="zh-CN" altLang="en-US" dirty="0">
                <a:latin typeface="+mn-lt"/>
                <a:ea typeface="+mn-ea"/>
                <a:cs typeface="+mn-ea"/>
                <a:sym typeface="+mn-lt"/>
              </a:rPr>
              <a:t>、实施金融专业人才工程，打造行业权威型专家队伍</a:t>
            </a:r>
            <a:endParaRPr lang="zh-CN" altLang="en-US" dirty="0">
              <a:latin typeface="+mn-lt"/>
              <a:ea typeface="+mn-ea"/>
              <a:cs typeface="+mn-ea"/>
              <a:sym typeface="+mn-lt"/>
            </a:endParaRPr>
          </a:p>
          <a:p>
            <a:r>
              <a:rPr lang="en-US" altLang="zh-CN" dirty="0">
                <a:latin typeface="+mn-lt"/>
                <a:ea typeface="+mn-ea"/>
                <a:cs typeface="+mn-ea"/>
                <a:sym typeface="+mn-lt"/>
              </a:rPr>
              <a:t>4</a:t>
            </a:r>
            <a:r>
              <a:rPr lang="zh-CN" altLang="en-US" dirty="0">
                <a:latin typeface="+mn-lt"/>
                <a:ea typeface="+mn-ea"/>
                <a:cs typeface="+mn-ea"/>
                <a:sym typeface="+mn-lt"/>
              </a:rPr>
              <a:t>、实施领导力建设工程，做优做精“敏杰”系列项目</a:t>
            </a:r>
            <a:endParaRPr lang="zh-CN" altLang="en-US" dirty="0">
              <a:latin typeface="+mn-lt"/>
              <a:ea typeface="+mn-ea"/>
              <a:cs typeface="+mn-ea"/>
              <a:sym typeface="+mn-lt"/>
            </a:endParaRPr>
          </a:p>
          <a:p>
            <a:r>
              <a:rPr lang="en-US" altLang="zh-CN" dirty="0">
                <a:latin typeface="+mn-lt"/>
                <a:ea typeface="+mn-ea"/>
                <a:cs typeface="+mn-ea"/>
                <a:sym typeface="+mn-lt"/>
              </a:rPr>
              <a:t>5</a:t>
            </a:r>
            <a:r>
              <a:rPr lang="zh-CN" altLang="en-US" dirty="0">
                <a:latin typeface="+mn-lt"/>
                <a:ea typeface="+mn-ea"/>
                <a:cs typeface="+mn-ea"/>
                <a:sym typeface="+mn-lt"/>
              </a:rPr>
              <a:t>、聚焦集团战略重点人才，实施数字化、全球化人才锻造工程</a:t>
            </a:r>
            <a:endParaRPr lang="zh-CN" altLang="en-US" dirty="0">
              <a:latin typeface="+mn-lt"/>
              <a:ea typeface="+mn-ea"/>
              <a:cs typeface="+mn-ea"/>
              <a:sym typeface="+mn-lt"/>
            </a:endParaRPr>
          </a:p>
          <a:p>
            <a:r>
              <a:rPr lang="en-US" altLang="zh-CN" dirty="0">
                <a:latin typeface="+mn-lt"/>
                <a:ea typeface="+mn-ea"/>
                <a:cs typeface="+mn-ea"/>
                <a:sym typeface="+mn-lt"/>
              </a:rPr>
              <a:t>6</a:t>
            </a:r>
            <a:r>
              <a:rPr lang="zh-CN" altLang="en-US" dirty="0">
                <a:latin typeface="+mn-lt"/>
                <a:ea typeface="+mn-ea"/>
                <a:cs typeface="+mn-ea"/>
                <a:sym typeface="+mn-lt"/>
              </a:rPr>
              <a:t>、基于未来银行核心胜任力打造工程</a:t>
            </a:r>
            <a:endParaRPr lang="zh-CN" altLang="en-US" dirty="0">
              <a:latin typeface="+mn-lt"/>
              <a:ea typeface="+mn-ea"/>
              <a:cs typeface="+mn-ea"/>
              <a:sym typeface="+mn-lt"/>
            </a:endParaRPr>
          </a:p>
          <a:p>
            <a:r>
              <a:rPr lang="en-US" altLang="zh-CN" dirty="0">
                <a:latin typeface="+mn-lt"/>
                <a:ea typeface="+mn-ea"/>
                <a:cs typeface="+mn-ea"/>
                <a:sym typeface="+mn-lt"/>
              </a:rPr>
              <a:t>7</a:t>
            </a:r>
            <a:r>
              <a:rPr lang="zh-CN" altLang="en-US" dirty="0">
                <a:latin typeface="+mn-lt"/>
                <a:ea typeface="+mn-ea"/>
                <a:cs typeface="+mn-ea"/>
                <a:sym typeface="+mn-lt"/>
              </a:rPr>
              <a:t>、实施密联业务的常态化、分散式、敏捷型日常业务支持培训</a:t>
            </a:r>
            <a:endParaRPr lang="zh-CN" altLang="en-US" dirty="0">
              <a:latin typeface="+mn-lt"/>
              <a:ea typeface="+mn-ea"/>
              <a:cs typeface="+mn-ea"/>
              <a:sym typeface="+mn-lt"/>
            </a:endParaRPr>
          </a:p>
          <a:p>
            <a:r>
              <a:rPr lang="en-US" altLang="zh-CN" dirty="0">
                <a:latin typeface="+mn-lt"/>
                <a:ea typeface="+mn-ea"/>
                <a:cs typeface="+mn-ea"/>
                <a:sym typeface="+mn-lt"/>
              </a:rPr>
              <a:t>8</a:t>
            </a:r>
            <a:r>
              <a:rPr lang="zh-CN" altLang="en-US" dirty="0">
                <a:latin typeface="+mn-lt"/>
                <a:ea typeface="+mn-ea"/>
                <a:cs typeface="+mn-ea"/>
                <a:sym typeface="+mn-lt"/>
              </a:rPr>
              <a:t>、开展全面风险管理体系培训，实施重点风险管控能力提升</a:t>
            </a:r>
            <a:endParaRPr lang="zh-CN" altLang="en-US" dirty="0">
              <a:latin typeface="+mn-lt"/>
              <a:ea typeface="+mn-ea"/>
              <a:cs typeface="+mn-ea"/>
              <a:sym typeface="+mn-lt"/>
            </a:endParaRPr>
          </a:p>
          <a:p>
            <a:r>
              <a:rPr lang="en-US" altLang="zh-CN" dirty="0">
                <a:latin typeface="+mn-lt"/>
                <a:ea typeface="+mn-ea"/>
                <a:cs typeface="+mn-ea"/>
                <a:sym typeface="+mn-lt"/>
              </a:rPr>
              <a:t>9</a:t>
            </a:r>
            <a:r>
              <a:rPr lang="zh-CN" altLang="en-US" dirty="0">
                <a:latin typeface="+mn-lt"/>
                <a:ea typeface="+mn-ea"/>
                <a:cs typeface="+mn-ea"/>
                <a:sym typeface="+mn-lt"/>
              </a:rPr>
              <a:t>、实施网点人才转型工程，进一步助推及夯实业务发展</a:t>
            </a:r>
            <a:endParaRPr lang="zh-CN" altLang="en-US" dirty="0">
              <a:latin typeface="+mn-lt"/>
              <a:ea typeface="+mn-ea"/>
              <a:cs typeface="+mn-ea"/>
              <a:sym typeface="+mn-lt"/>
            </a:endParaRPr>
          </a:p>
          <a:p>
            <a:r>
              <a:rPr lang="en-US" altLang="zh-CN" dirty="0">
                <a:latin typeface="+mn-lt"/>
                <a:ea typeface="+mn-ea"/>
                <a:cs typeface="+mn-ea"/>
                <a:sym typeface="+mn-lt"/>
              </a:rPr>
              <a:t>10</a:t>
            </a:r>
            <a:r>
              <a:rPr lang="zh-CN" altLang="en-US" dirty="0">
                <a:latin typeface="+mn-lt"/>
                <a:ea typeface="+mn-ea"/>
                <a:cs typeface="+mn-ea"/>
                <a:sym typeface="+mn-lt"/>
              </a:rPr>
              <a:t>、发展直接面向客户的培训，助推业务发展</a:t>
            </a:r>
            <a:endParaRPr lang="zh-CN" altLang="en-US" dirty="0">
              <a:latin typeface="+mn-lt"/>
              <a:ea typeface="+mn-ea"/>
              <a:cs typeface="+mn-ea"/>
              <a:sym typeface="+mn-lt"/>
            </a:endParaRPr>
          </a:p>
        </p:txBody>
      </p:sp>
      <p:sp>
        <p:nvSpPr>
          <p:cNvPr id="9" name="文本框 8"/>
          <p:cNvSpPr txBox="1"/>
          <p:nvPr/>
        </p:nvSpPr>
        <p:spPr>
          <a:xfrm>
            <a:off x="488861" y="206936"/>
            <a:ext cx="9096865" cy="400110"/>
          </a:xfrm>
          <a:prstGeom prst="rect">
            <a:avLst/>
          </a:prstGeom>
          <a:noFill/>
        </p:spPr>
        <p:txBody>
          <a:bodyPr wrap="square" rtlCol="0">
            <a:spAutoFit/>
          </a:bodyPr>
          <a:lstStyle/>
          <a:p>
            <a:r>
              <a:rPr kumimoji="1" lang="en-US" altLang="zh-CN" sz="2000" dirty="0">
                <a:latin typeface="+mn-lt"/>
                <a:ea typeface="+mn-ea"/>
                <a:cs typeface="+mn-ea"/>
                <a:sym typeface="+mn-lt"/>
              </a:rPr>
              <a:t>【</a:t>
            </a:r>
            <a:r>
              <a:rPr kumimoji="1" lang="zh-CN" altLang="en-US" sz="2000" dirty="0">
                <a:latin typeface="+mn-lt"/>
                <a:ea typeface="+mn-ea"/>
                <a:cs typeface="+mn-ea"/>
                <a:sym typeface="+mn-lt"/>
              </a:rPr>
              <a:t>目录</a:t>
            </a:r>
            <a:r>
              <a:rPr kumimoji="1" lang="en-US" altLang="zh-CN" sz="2000" dirty="0">
                <a:latin typeface="+mn-lt"/>
                <a:ea typeface="+mn-ea"/>
                <a:cs typeface="+mn-ea"/>
                <a:sym typeface="+mn-lt"/>
              </a:rPr>
              <a:t>】</a:t>
            </a:r>
            <a:r>
              <a:rPr kumimoji="1" lang="zh-CN" altLang="en-US" sz="2000" dirty="0">
                <a:latin typeface="+mn-lt"/>
                <a:ea typeface="+mn-ea"/>
                <a:cs typeface="+mn-ea"/>
                <a:sym typeface="+mn-lt"/>
              </a:rPr>
              <a:t>中银教育培训“十四五”规划</a:t>
            </a:r>
            <a:endParaRPr kumimoji="1" lang="zh-CN" altLang="en-US" sz="2000" dirty="0">
              <a:latin typeface="+mn-lt"/>
              <a:ea typeface="+mn-ea"/>
              <a:cs typeface="+mn-ea"/>
              <a:sym typeface="+mn-lt"/>
            </a:endParaRPr>
          </a:p>
        </p:txBody>
      </p:sp>
      <p:sp>
        <p:nvSpPr>
          <p:cNvPr id="10" name="灯片编号占位符 1"/>
          <p:cNvSpPr txBox="1"/>
          <p:nvPr/>
        </p:nvSpPr>
        <p:spPr>
          <a:xfrm>
            <a:off x="9407770" y="6622417"/>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783772" y="1634838"/>
          <a:ext cx="10659292" cy="3115292"/>
        </p:xfrm>
        <a:graphic>
          <a:graphicData uri="http://schemas.openxmlformats.org/drawingml/2006/table">
            <a:tbl>
              <a:tblPr firstRow="1" firstCol="1" bandRow="1">
                <a:tableStyleId>{5C22544A-7EE6-4342-B048-85BDC9FD1C3A}</a:tableStyleId>
              </a:tblPr>
              <a:tblGrid>
                <a:gridCol w="3252519"/>
                <a:gridCol w="3854115"/>
                <a:gridCol w="3552658"/>
              </a:tblGrid>
              <a:tr h="778823">
                <a:tc>
                  <a:txBody>
                    <a:bodyPr/>
                    <a:lstStyle/>
                    <a:p>
                      <a:pPr algn="ctr"/>
                      <a:r>
                        <a:rPr lang="en-US" sz="1800" kern="100" dirty="0">
                          <a:effectLst/>
                          <a:latin typeface="+mn-lt"/>
                          <a:ea typeface="+mn-ea"/>
                          <a:cs typeface="+mn-ea"/>
                          <a:sym typeface="+mn-lt"/>
                        </a:rPr>
                        <a:t> </a:t>
                      </a:r>
                      <a:endParaRPr lang="zh-CN" sz="1200" kern="100" dirty="0">
                        <a:effectLst/>
                        <a:latin typeface="+mn-lt"/>
                        <a:ea typeface="+mn-ea"/>
                        <a:cs typeface="+mn-ea"/>
                        <a:sym typeface="+mn-lt"/>
                      </a:endParaRPr>
                    </a:p>
                  </a:txBody>
                  <a:tcPr marL="68580" marR="68580" marT="0" marB="0" anchor="ctr">
                    <a:solidFill>
                      <a:srgbClr val="C00000"/>
                    </a:solidFill>
                  </a:tcPr>
                </a:tc>
                <a:tc>
                  <a:txBody>
                    <a:bodyPr/>
                    <a:lstStyle/>
                    <a:p>
                      <a:pPr algn="ctr"/>
                      <a:r>
                        <a:rPr lang="zh-CN" sz="1800" kern="100" dirty="0">
                          <a:effectLst/>
                          <a:latin typeface="+mn-lt"/>
                          <a:ea typeface="+mn-ea"/>
                          <a:cs typeface="+mn-ea"/>
                          <a:sym typeface="+mn-lt"/>
                        </a:rPr>
                        <a:t>提升当期绩效</a:t>
                      </a:r>
                      <a:endParaRPr lang="zh-CN" sz="1200" kern="100" dirty="0">
                        <a:effectLst/>
                        <a:latin typeface="+mn-lt"/>
                        <a:ea typeface="+mn-ea"/>
                        <a:cs typeface="+mn-ea"/>
                        <a:sym typeface="+mn-lt"/>
                      </a:endParaRPr>
                    </a:p>
                  </a:txBody>
                  <a:tcPr marL="68580" marR="68580" marT="0" marB="0" anchor="ctr">
                    <a:solidFill>
                      <a:srgbClr val="C00000"/>
                    </a:solidFill>
                  </a:tcPr>
                </a:tc>
                <a:tc>
                  <a:txBody>
                    <a:bodyPr/>
                    <a:lstStyle/>
                    <a:p>
                      <a:pPr algn="ctr"/>
                      <a:r>
                        <a:rPr lang="zh-CN" sz="1800" kern="100" dirty="0">
                          <a:effectLst/>
                          <a:latin typeface="+mn-lt"/>
                          <a:ea typeface="+mn-ea"/>
                          <a:cs typeface="+mn-ea"/>
                          <a:sym typeface="+mn-lt"/>
                        </a:rPr>
                        <a:t>推动战略发展</a:t>
                      </a:r>
                      <a:endParaRPr lang="zh-CN" sz="1200" kern="100" dirty="0">
                        <a:effectLst/>
                        <a:latin typeface="+mn-lt"/>
                        <a:ea typeface="+mn-ea"/>
                        <a:cs typeface="+mn-ea"/>
                        <a:sym typeface="+mn-lt"/>
                      </a:endParaRPr>
                    </a:p>
                  </a:txBody>
                  <a:tcPr marL="68580" marR="68580" marT="0" marB="0" anchor="ctr">
                    <a:solidFill>
                      <a:srgbClr val="C00000"/>
                    </a:solidFill>
                  </a:tcPr>
                </a:tc>
              </a:tr>
              <a:tr h="778823">
                <a:tc>
                  <a:txBody>
                    <a:bodyPr/>
                    <a:lstStyle/>
                    <a:p>
                      <a:pPr algn="ctr"/>
                      <a:r>
                        <a:rPr lang="zh-CN" sz="1800" kern="100" dirty="0">
                          <a:effectLst/>
                          <a:latin typeface="+mn-lt"/>
                          <a:ea typeface="+mn-ea"/>
                          <a:cs typeface="+mn-ea"/>
                          <a:sym typeface="+mn-lt"/>
                        </a:rPr>
                        <a:t>加强党性修养</a:t>
                      </a:r>
                      <a:endParaRPr lang="zh-CN" sz="1200" kern="100" dirty="0">
                        <a:effectLst/>
                        <a:latin typeface="+mn-lt"/>
                        <a:ea typeface="+mn-ea"/>
                        <a:cs typeface="+mn-ea"/>
                        <a:sym typeface="+mn-lt"/>
                      </a:endParaRPr>
                    </a:p>
                  </a:txBody>
                  <a:tcPr marL="68580" marR="68580" marT="0" marB="0" anchor="ctr">
                    <a:solidFill>
                      <a:srgbClr val="C00000"/>
                    </a:solidFill>
                  </a:tcPr>
                </a:tc>
                <a:tc gridSpan="2">
                  <a:txBody>
                    <a:bodyPr/>
                    <a:lstStyle/>
                    <a:p>
                      <a:pPr algn="ctr"/>
                      <a:r>
                        <a:rPr lang="zh-CN" sz="1800" kern="100" dirty="0">
                          <a:effectLst/>
                          <a:latin typeface="+mn-lt"/>
                          <a:ea typeface="+mn-ea"/>
                          <a:cs typeface="+mn-ea"/>
                          <a:sym typeface="+mn-lt"/>
                        </a:rPr>
                        <a:t>党校培训</a:t>
                      </a:r>
                      <a:endParaRPr lang="zh-CN" sz="1200" kern="100" dirty="0">
                        <a:effectLst/>
                        <a:latin typeface="+mn-lt"/>
                        <a:ea typeface="+mn-ea"/>
                        <a:cs typeface="+mn-ea"/>
                        <a:sym typeface="+mn-lt"/>
                      </a:endParaRPr>
                    </a:p>
                  </a:txBody>
                  <a:tcPr marL="68580" marR="68580" marT="0" marB="0" anchor="ctr">
                    <a:solidFill>
                      <a:schemeClr val="bg1">
                        <a:lumMod val="95000"/>
                      </a:schemeClr>
                    </a:solidFill>
                  </a:tcPr>
                </a:tc>
                <a:tc hMerge="1">
                  <a:tcPr/>
                </a:tc>
              </a:tr>
              <a:tr h="778823">
                <a:tc>
                  <a:txBody>
                    <a:bodyPr/>
                    <a:lstStyle/>
                    <a:p>
                      <a:pPr algn="ctr"/>
                      <a:r>
                        <a:rPr lang="zh-CN" sz="1800" kern="100" dirty="0">
                          <a:effectLst/>
                          <a:latin typeface="+mn-lt"/>
                          <a:ea typeface="+mn-ea"/>
                          <a:cs typeface="+mn-ea"/>
                          <a:sym typeface="+mn-lt"/>
                        </a:rPr>
                        <a:t>提升能力素质</a:t>
                      </a:r>
                      <a:endParaRPr lang="zh-CN" sz="1200" kern="100" dirty="0">
                        <a:effectLst/>
                        <a:latin typeface="+mn-lt"/>
                        <a:ea typeface="+mn-ea"/>
                        <a:cs typeface="+mn-ea"/>
                        <a:sym typeface="+mn-lt"/>
                      </a:endParaRPr>
                    </a:p>
                  </a:txBody>
                  <a:tcPr marL="68580" marR="68580" marT="0" marB="0" anchor="ctr">
                    <a:solidFill>
                      <a:srgbClr val="C00000"/>
                    </a:solidFill>
                  </a:tcPr>
                </a:tc>
                <a:tc>
                  <a:txBody>
                    <a:bodyPr/>
                    <a:lstStyle/>
                    <a:p>
                      <a:pPr algn="ctr"/>
                      <a:r>
                        <a:rPr lang="zh-CN" sz="1800" kern="100" dirty="0">
                          <a:effectLst/>
                          <a:latin typeface="+mn-lt"/>
                          <a:ea typeface="+mn-ea"/>
                          <a:cs typeface="+mn-ea"/>
                          <a:sym typeface="+mn-lt"/>
                        </a:rPr>
                        <a:t>岗位胜任培训</a:t>
                      </a:r>
                      <a:endParaRPr lang="zh-CN" sz="1200" kern="100" dirty="0">
                        <a:effectLst/>
                        <a:latin typeface="+mn-lt"/>
                        <a:ea typeface="+mn-ea"/>
                        <a:cs typeface="+mn-ea"/>
                        <a:sym typeface="+mn-lt"/>
                      </a:endParaRPr>
                    </a:p>
                  </a:txBody>
                  <a:tcPr marL="68580" marR="68580" marT="0" marB="0" anchor="ctr">
                    <a:solidFill>
                      <a:schemeClr val="bg1">
                        <a:lumMod val="85000"/>
                      </a:schemeClr>
                    </a:solidFill>
                  </a:tcPr>
                </a:tc>
                <a:tc>
                  <a:txBody>
                    <a:bodyPr/>
                    <a:lstStyle/>
                    <a:p>
                      <a:pPr algn="ctr"/>
                      <a:r>
                        <a:rPr lang="zh-CN" sz="1800" kern="100" dirty="0">
                          <a:effectLst/>
                          <a:latin typeface="+mn-lt"/>
                          <a:ea typeface="+mn-ea"/>
                          <a:cs typeface="+mn-ea"/>
                          <a:sym typeface="+mn-lt"/>
                        </a:rPr>
                        <a:t>重点人才培训</a:t>
                      </a:r>
                      <a:endParaRPr lang="zh-CN" sz="1200" kern="100" dirty="0">
                        <a:effectLst/>
                        <a:latin typeface="+mn-lt"/>
                        <a:ea typeface="+mn-ea"/>
                        <a:cs typeface="+mn-ea"/>
                        <a:sym typeface="+mn-lt"/>
                      </a:endParaRPr>
                    </a:p>
                  </a:txBody>
                  <a:tcPr marL="68580" marR="68580" marT="0" marB="0" anchor="ctr">
                    <a:solidFill>
                      <a:schemeClr val="bg1">
                        <a:lumMod val="85000"/>
                      </a:schemeClr>
                    </a:solidFill>
                  </a:tcPr>
                </a:tc>
              </a:tr>
              <a:tr h="778823">
                <a:tc>
                  <a:txBody>
                    <a:bodyPr/>
                    <a:lstStyle/>
                    <a:p>
                      <a:pPr algn="ctr"/>
                      <a:r>
                        <a:rPr lang="zh-CN" sz="1800" kern="100" dirty="0">
                          <a:effectLst/>
                          <a:latin typeface="+mn-lt"/>
                          <a:ea typeface="+mn-ea"/>
                          <a:cs typeface="+mn-ea"/>
                          <a:sym typeface="+mn-lt"/>
                        </a:rPr>
                        <a:t>解决业务问题</a:t>
                      </a:r>
                      <a:endParaRPr lang="zh-CN" sz="1200" kern="100" dirty="0">
                        <a:effectLst/>
                        <a:latin typeface="+mn-lt"/>
                        <a:ea typeface="+mn-ea"/>
                        <a:cs typeface="+mn-ea"/>
                        <a:sym typeface="+mn-lt"/>
                      </a:endParaRPr>
                    </a:p>
                  </a:txBody>
                  <a:tcPr marL="68580" marR="68580" marT="0" marB="0" anchor="ctr">
                    <a:solidFill>
                      <a:srgbClr val="C00000"/>
                    </a:solidFill>
                  </a:tcPr>
                </a:tc>
                <a:tc>
                  <a:txBody>
                    <a:bodyPr/>
                    <a:lstStyle/>
                    <a:p>
                      <a:pPr algn="ctr"/>
                      <a:r>
                        <a:rPr lang="zh-CN" sz="1800" kern="100" dirty="0">
                          <a:effectLst/>
                          <a:latin typeface="+mn-lt"/>
                          <a:ea typeface="+mn-ea"/>
                          <a:cs typeface="+mn-ea"/>
                          <a:sym typeface="+mn-lt"/>
                        </a:rPr>
                        <a:t>日常业务培训</a:t>
                      </a:r>
                      <a:endParaRPr lang="zh-CN" sz="1200" kern="100" dirty="0">
                        <a:effectLst/>
                        <a:latin typeface="+mn-lt"/>
                        <a:ea typeface="+mn-ea"/>
                        <a:cs typeface="+mn-ea"/>
                        <a:sym typeface="+mn-lt"/>
                      </a:endParaRPr>
                    </a:p>
                  </a:txBody>
                  <a:tcPr marL="68580" marR="68580" marT="0" marB="0" anchor="ctr">
                    <a:solidFill>
                      <a:schemeClr val="accent2">
                        <a:lumMod val="20000"/>
                        <a:lumOff val="80000"/>
                      </a:schemeClr>
                    </a:solidFill>
                  </a:tcPr>
                </a:tc>
                <a:tc>
                  <a:txBody>
                    <a:bodyPr/>
                    <a:lstStyle/>
                    <a:p>
                      <a:pPr algn="ctr"/>
                      <a:r>
                        <a:rPr lang="zh-CN" sz="1800" kern="100" dirty="0">
                          <a:effectLst/>
                          <a:latin typeface="+mn-lt"/>
                          <a:ea typeface="+mn-ea"/>
                          <a:cs typeface="+mn-ea"/>
                          <a:sym typeface="+mn-lt"/>
                        </a:rPr>
                        <a:t>战略任务培训</a:t>
                      </a:r>
                      <a:endParaRPr lang="zh-CN" sz="1200" kern="100" dirty="0">
                        <a:effectLst/>
                        <a:latin typeface="+mn-lt"/>
                        <a:ea typeface="+mn-ea"/>
                        <a:cs typeface="+mn-ea"/>
                        <a:sym typeface="+mn-lt"/>
                      </a:endParaRPr>
                    </a:p>
                  </a:txBody>
                  <a:tcPr marL="68580" marR="68580" marT="0" marB="0" anchor="ctr">
                    <a:solidFill>
                      <a:schemeClr val="accent2">
                        <a:lumMod val="20000"/>
                        <a:lumOff val="80000"/>
                      </a:schemeClr>
                    </a:solidFill>
                  </a:tcPr>
                </a:tc>
              </a:tr>
            </a:tbl>
          </a:graphicData>
        </a:graphic>
      </p:graphicFrame>
      <p:sp>
        <p:nvSpPr>
          <p:cNvPr id="3" name="文本框 2"/>
          <p:cNvSpPr txBox="1"/>
          <p:nvPr/>
        </p:nvSpPr>
        <p:spPr>
          <a:xfrm>
            <a:off x="695325" y="220603"/>
            <a:ext cx="9252877"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zh-CN" altLang="en-US" sz="2000" dirty="0">
                <a:latin typeface="+mn-lt"/>
                <a:ea typeface="+mn-ea"/>
                <a:cs typeface="+mn-ea"/>
                <a:sym typeface="+mn-lt"/>
              </a:rPr>
              <a:t>塑造优质独特的培训项目体系，强化培训项目矩阵</a:t>
            </a:r>
            <a:endParaRPr kumimoji="1" lang="en-US" altLang="zh-CN" sz="2000" dirty="0">
              <a:latin typeface="+mn-lt"/>
              <a:ea typeface="+mn-ea"/>
              <a:cs typeface="+mn-ea"/>
              <a:sym typeface="+mn-lt"/>
            </a:endParaRPr>
          </a:p>
        </p:txBody>
      </p:sp>
      <p:cxnSp>
        <p:nvCxnSpPr>
          <p:cNvPr id="5" name="直接连接符 4"/>
          <p:cNvCxnSpPr/>
          <p:nvPr/>
        </p:nvCxnSpPr>
        <p:spPr>
          <a:xfrm>
            <a:off x="783772" y="5022073"/>
            <a:ext cx="1065929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783772" y="5334297"/>
            <a:ext cx="10659292" cy="54262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kern="100" dirty="0">
                <a:solidFill>
                  <a:schemeClr val="bg1"/>
                </a:solidFill>
                <a:cs typeface="+mn-ea"/>
                <a:sym typeface="+mn-lt"/>
              </a:rPr>
              <a:t>面向客户培训</a:t>
            </a:r>
            <a:endParaRPr lang="zh-CN" altLang="en-US" sz="1800" kern="100" dirty="0">
              <a:solidFill>
                <a:schemeClr val="bg1"/>
              </a:solidFill>
              <a:cs typeface="+mn-ea"/>
              <a:sym typeface="+mn-lt"/>
            </a:endParaRPr>
          </a:p>
        </p:txBody>
      </p:sp>
      <p:sp>
        <p:nvSpPr>
          <p:cNvPr id="7"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95325" y="281025"/>
            <a:ext cx="9252877"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1</a:t>
            </a:r>
            <a:r>
              <a:rPr kumimoji="1" lang="zh-CN" altLang="en-US" sz="2000" dirty="0">
                <a:latin typeface="+mn-lt"/>
                <a:ea typeface="+mn-ea"/>
                <a:cs typeface="+mn-ea"/>
                <a:sym typeface="+mn-lt"/>
              </a:rPr>
              <a:t>、强化党员党性教育，加强党务工作者能力建设</a:t>
            </a:r>
            <a:endParaRPr kumimoji="1" lang="en-US" altLang="zh-CN" sz="2000" dirty="0">
              <a:latin typeface="+mn-lt"/>
              <a:ea typeface="+mn-ea"/>
              <a:cs typeface="+mn-ea"/>
              <a:sym typeface="+mn-lt"/>
            </a:endParaRPr>
          </a:p>
        </p:txBody>
      </p:sp>
      <p:sp>
        <p:nvSpPr>
          <p:cNvPr id="11" name="矩形 10"/>
          <p:cNvSpPr/>
          <p:nvPr/>
        </p:nvSpPr>
        <p:spPr>
          <a:xfrm>
            <a:off x="749502" y="3703448"/>
            <a:ext cx="4662043" cy="50385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cs typeface="+mn-ea"/>
                <a:sym typeface="+mn-lt"/>
              </a:rPr>
              <a:t>重点培训项目</a:t>
            </a:r>
            <a:endParaRPr lang="zh-CN" altLang="en-US" sz="2000" dirty="0">
              <a:cs typeface="+mn-ea"/>
              <a:sym typeface="+mn-lt"/>
            </a:endParaRPr>
          </a:p>
        </p:txBody>
      </p:sp>
      <p:sp>
        <p:nvSpPr>
          <p:cNvPr id="13" name="文本框 12"/>
          <p:cNvSpPr txBox="1"/>
          <p:nvPr/>
        </p:nvSpPr>
        <p:spPr>
          <a:xfrm>
            <a:off x="749502" y="4303041"/>
            <a:ext cx="4777841" cy="1704826"/>
          </a:xfrm>
          <a:prstGeom prst="rect">
            <a:avLst/>
          </a:prstGeom>
          <a:noFill/>
        </p:spPr>
        <p:txBody>
          <a:bodyPr wrap="square">
            <a:spAutoFit/>
          </a:bodyPr>
          <a:lstStyle/>
          <a:p>
            <a:pPr marL="342900" indent="-342900">
              <a:lnSpc>
                <a:spcPct val="150000"/>
              </a:lnSpc>
              <a:buFont typeface="Arial" panose="020B0604020202090204" pitchFamily="34" charset="0"/>
              <a:buChar char="•"/>
            </a:pPr>
            <a:r>
              <a:rPr lang="zh-CN" altLang="en-US" sz="1800" b="1" dirty="0">
                <a:effectLst/>
                <a:latin typeface="+mn-lt"/>
                <a:ea typeface="+mn-ea"/>
                <a:cs typeface="+mn-ea"/>
                <a:sym typeface="+mn-lt"/>
              </a:rPr>
              <a:t>党性修养进修班</a:t>
            </a:r>
            <a:endParaRPr lang="zh-CN" altLang="en-US" sz="1800" b="1" dirty="0">
              <a:effectLst/>
              <a:latin typeface="+mn-lt"/>
              <a:ea typeface="+mn-ea"/>
              <a:cs typeface="+mn-ea"/>
              <a:sym typeface="+mn-lt"/>
            </a:endParaRPr>
          </a:p>
          <a:p>
            <a:pPr marL="342900" indent="-342900">
              <a:lnSpc>
                <a:spcPct val="150000"/>
              </a:lnSpc>
              <a:buFont typeface="Arial" panose="020B0604020202090204" pitchFamily="34" charset="0"/>
              <a:buChar char="•"/>
            </a:pPr>
            <a:r>
              <a:rPr lang="zh-CN" altLang="en-US" sz="1800" b="1" dirty="0">
                <a:effectLst/>
                <a:latin typeface="+mn-lt"/>
                <a:ea typeface="+mn-ea"/>
                <a:cs typeface="+mn-ea"/>
                <a:sym typeface="+mn-lt"/>
              </a:rPr>
              <a:t>党校专题班</a:t>
            </a:r>
            <a:endParaRPr lang="zh-CN" altLang="en-US" sz="1800" b="1" dirty="0">
              <a:effectLst/>
              <a:latin typeface="+mn-lt"/>
              <a:ea typeface="+mn-ea"/>
              <a:cs typeface="+mn-ea"/>
              <a:sym typeface="+mn-lt"/>
            </a:endParaRPr>
          </a:p>
          <a:p>
            <a:pPr marL="342900" indent="-342900">
              <a:lnSpc>
                <a:spcPct val="150000"/>
              </a:lnSpc>
              <a:buFont typeface="Arial" panose="020B0604020202090204" pitchFamily="34" charset="0"/>
              <a:buChar char="•"/>
            </a:pPr>
            <a:r>
              <a:rPr lang="zh-CN" altLang="en-US" sz="1800" b="1" dirty="0">
                <a:effectLst/>
                <a:latin typeface="+mn-lt"/>
                <a:ea typeface="+mn-ea"/>
                <a:cs typeface="+mn-ea"/>
                <a:sym typeface="+mn-lt"/>
              </a:rPr>
              <a:t>党建特色班（海外特色党建主题培训班、走进革命圣地主题培训班、党员走基层等）</a:t>
            </a:r>
            <a:endParaRPr lang="en-US" altLang="zh-CN" sz="1800" b="1" dirty="0">
              <a:effectLst/>
              <a:latin typeface="+mn-lt"/>
              <a:ea typeface="+mn-ea"/>
              <a:cs typeface="+mn-ea"/>
              <a:sym typeface="+mn-lt"/>
            </a:endParaRPr>
          </a:p>
        </p:txBody>
      </p:sp>
      <p:cxnSp>
        <p:nvCxnSpPr>
          <p:cNvPr id="23" name="直接连接符 22"/>
          <p:cNvCxnSpPr/>
          <p:nvPr/>
        </p:nvCxnSpPr>
        <p:spPr>
          <a:xfrm>
            <a:off x="7052516" y="2753773"/>
            <a:ext cx="0" cy="3098536"/>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内容占位符 2"/>
          <p:cNvSpPr txBox="1"/>
          <p:nvPr/>
        </p:nvSpPr>
        <p:spPr>
          <a:xfrm>
            <a:off x="695325" y="2548443"/>
            <a:ext cx="5095244" cy="129239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pPr>
            <a:r>
              <a:rPr lang="zh-CN" altLang="en-US" sz="1600" dirty="0">
                <a:cs typeface="+mn-ea"/>
                <a:sym typeface="+mn-lt"/>
              </a:rPr>
              <a:t>贯彻执行</a:t>
            </a:r>
            <a:r>
              <a:rPr lang="en-US" altLang="zh-CN" sz="1600" dirty="0">
                <a:cs typeface="+mn-ea"/>
                <a:sym typeface="+mn-lt"/>
              </a:rPr>
              <a:t>《</a:t>
            </a:r>
            <a:r>
              <a:rPr lang="zh-CN" altLang="en-US" sz="1600" dirty="0">
                <a:cs typeface="+mn-ea"/>
                <a:sym typeface="+mn-lt"/>
              </a:rPr>
              <a:t>中国共产党党校（行政学院）工作条例</a:t>
            </a:r>
            <a:r>
              <a:rPr lang="en-US" altLang="zh-CN" sz="1600" dirty="0">
                <a:cs typeface="+mn-ea"/>
                <a:sym typeface="+mn-lt"/>
              </a:rPr>
              <a:t>》</a:t>
            </a:r>
            <a:r>
              <a:rPr lang="zh-CN" altLang="en-US" sz="1600" dirty="0">
                <a:cs typeface="+mn-ea"/>
                <a:sym typeface="+mn-lt"/>
              </a:rPr>
              <a:t>，强化习近平新时代中国特色社会主义思想学习；落实中央重大要求、重要会议和重要指示精神；强化各级党员领导干部和党员党性教育。</a:t>
            </a:r>
            <a:endParaRPr lang="zh-CN" altLang="en-US" sz="1600" dirty="0">
              <a:cs typeface="+mn-ea"/>
              <a:sym typeface="+mn-lt"/>
            </a:endParaRPr>
          </a:p>
        </p:txBody>
      </p:sp>
      <p:sp>
        <p:nvSpPr>
          <p:cNvPr id="7"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
        <p:nvSpPr>
          <p:cNvPr id="8" name="矩形 7"/>
          <p:cNvSpPr/>
          <p:nvPr/>
        </p:nvSpPr>
        <p:spPr>
          <a:xfrm>
            <a:off x="749502" y="1836140"/>
            <a:ext cx="4662043" cy="50385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cs typeface="+mn-ea"/>
                <a:sym typeface="+mn-lt"/>
              </a:rPr>
              <a:t>指导思想</a:t>
            </a:r>
            <a:endParaRPr lang="zh-CN" altLang="en-US" sz="2000" dirty="0">
              <a:cs typeface="+mn-ea"/>
              <a:sym typeface="+mn-lt"/>
            </a:endParaRPr>
          </a:p>
        </p:txBody>
      </p:sp>
      <p:sp>
        <p:nvSpPr>
          <p:cNvPr id="9" name="矩形 8"/>
          <p:cNvSpPr/>
          <p:nvPr/>
        </p:nvSpPr>
        <p:spPr>
          <a:xfrm>
            <a:off x="7052516" y="1836139"/>
            <a:ext cx="4662043" cy="50385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cs typeface="+mn-ea"/>
                <a:sym typeface="+mn-lt"/>
              </a:rPr>
              <a:t>项目重点</a:t>
            </a:r>
            <a:endParaRPr lang="zh-CN" altLang="en-US" sz="2000" dirty="0">
              <a:cs typeface="+mn-ea"/>
              <a:sym typeface="+mn-lt"/>
            </a:endParaRPr>
          </a:p>
        </p:txBody>
      </p:sp>
      <p:sp>
        <p:nvSpPr>
          <p:cNvPr id="10" name="文本框 9"/>
          <p:cNvSpPr txBox="1"/>
          <p:nvPr/>
        </p:nvSpPr>
        <p:spPr>
          <a:xfrm>
            <a:off x="7218642" y="2644183"/>
            <a:ext cx="4091259" cy="2534027"/>
          </a:xfrm>
          <a:prstGeom prst="rect">
            <a:avLst/>
          </a:prstGeom>
          <a:noFill/>
        </p:spPr>
        <p:txBody>
          <a:bodyPr wrap="square">
            <a:spAutoFit/>
          </a:bodyPr>
          <a:lstStyle/>
          <a:p>
            <a:pPr marL="342900" indent="-342900">
              <a:lnSpc>
                <a:spcPct val="150000"/>
              </a:lnSpc>
              <a:buFont typeface="+mj-lt"/>
              <a:buAutoNum type="arabicPeriod"/>
            </a:pPr>
            <a:r>
              <a:rPr lang="zh-CN" altLang="en-US" sz="1800" dirty="0">
                <a:latin typeface="+mn-lt"/>
                <a:ea typeface="+mn-ea"/>
                <a:cs typeface="+mn-ea"/>
                <a:sym typeface="+mn-lt"/>
              </a:rPr>
              <a:t>持续做好教研和教学服务，推动领导干部上讲台讲党课</a:t>
            </a:r>
            <a:endParaRPr lang="en-US" altLang="zh-CN" sz="1800" dirty="0">
              <a:latin typeface="+mn-lt"/>
              <a:ea typeface="+mn-ea"/>
              <a:cs typeface="+mn-ea"/>
              <a:sym typeface="+mn-lt"/>
            </a:endParaRPr>
          </a:p>
          <a:p>
            <a:pPr marL="342900" indent="-342900">
              <a:lnSpc>
                <a:spcPct val="150000"/>
              </a:lnSpc>
              <a:buFont typeface="+mj-lt"/>
              <a:buAutoNum type="arabicPeriod"/>
            </a:pPr>
            <a:r>
              <a:rPr lang="zh-CN" altLang="en-US" sz="1800" dirty="0">
                <a:latin typeface="+mn-lt"/>
                <a:ea typeface="+mn-ea"/>
                <a:cs typeface="+mn-ea"/>
                <a:sym typeface="+mn-lt"/>
              </a:rPr>
              <a:t>创新党校</a:t>
            </a:r>
            <a:r>
              <a:rPr lang="zh-CN" altLang="en-US" sz="1800" b="1" dirty="0">
                <a:effectLst/>
                <a:latin typeface="+mn-lt"/>
                <a:ea typeface="+mn-ea"/>
                <a:cs typeface="+mn-ea"/>
                <a:sym typeface="+mn-lt"/>
              </a:rPr>
              <a:t>培训教学模式，提升互动性和实践性，做到入脑入心</a:t>
            </a:r>
            <a:endParaRPr lang="en-US" altLang="zh-CN" sz="1800" b="1" dirty="0">
              <a:effectLst/>
              <a:latin typeface="+mn-lt"/>
              <a:ea typeface="+mn-ea"/>
              <a:cs typeface="+mn-ea"/>
              <a:sym typeface="+mn-lt"/>
            </a:endParaRPr>
          </a:p>
          <a:p>
            <a:pPr marL="342900" indent="-342900">
              <a:lnSpc>
                <a:spcPct val="150000"/>
              </a:lnSpc>
              <a:buFont typeface="+mj-lt"/>
              <a:buAutoNum type="arabicPeriod"/>
            </a:pPr>
            <a:r>
              <a:rPr lang="zh-CN" altLang="en-US" sz="1800" dirty="0">
                <a:latin typeface="+mn-lt"/>
                <a:ea typeface="+mn-ea"/>
                <a:cs typeface="+mn-ea"/>
                <a:sym typeface="+mn-lt"/>
              </a:rPr>
              <a:t>加强党校对分行党校的指导和支持力度</a:t>
            </a:r>
            <a:endParaRPr lang="zh-CN" altLang="en-US" sz="1800" b="1" dirty="0">
              <a:latin typeface="+mn-lt"/>
              <a:ea typeface="+mn-ea"/>
              <a:cs typeface="+mn-ea"/>
              <a:sym typeface="+mn-l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95325" y="188648"/>
            <a:ext cx="9252877"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2</a:t>
            </a:r>
            <a:r>
              <a:rPr kumimoji="1" lang="zh-CN" altLang="en-US" sz="2000" dirty="0">
                <a:latin typeface="+mn-lt"/>
                <a:ea typeface="+mn-ea"/>
                <a:cs typeface="+mn-ea"/>
                <a:sym typeface="+mn-lt"/>
              </a:rPr>
              <a:t>、建立和落实完善的任职资格标准培训体系</a:t>
            </a:r>
            <a:endParaRPr kumimoji="1" lang="en-US" altLang="zh-CN" sz="2000" dirty="0">
              <a:latin typeface="+mn-lt"/>
              <a:ea typeface="+mn-ea"/>
              <a:cs typeface="+mn-ea"/>
              <a:sym typeface="+mn-lt"/>
            </a:endParaRPr>
          </a:p>
        </p:txBody>
      </p:sp>
      <p:sp>
        <p:nvSpPr>
          <p:cNvPr id="2" name="矩形 1"/>
          <p:cNvSpPr/>
          <p:nvPr/>
        </p:nvSpPr>
        <p:spPr>
          <a:xfrm>
            <a:off x="1907462" y="2068192"/>
            <a:ext cx="2460017" cy="100770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cs typeface="+mn-ea"/>
                <a:sym typeface="+mn-lt"/>
              </a:rPr>
              <a:t>原则和方法</a:t>
            </a:r>
            <a:endParaRPr lang="zh-CN" altLang="en-US" sz="2400" dirty="0">
              <a:cs typeface="+mn-ea"/>
              <a:sym typeface="+mn-lt"/>
            </a:endParaRPr>
          </a:p>
        </p:txBody>
      </p:sp>
      <p:sp>
        <p:nvSpPr>
          <p:cNvPr id="5" name="文本框 4"/>
          <p:cNvSpPr txBox="1"/>
          <p:nvPr/>
        </p:nvSpPr>
        <p:spPr>
          <a:xfrm>
            <a:off x="1909734" y="3520767"/>
            <a:ext cx="2721276" cy="369332"/>
          </a:xfrm>
          <a:prstGeom prst="rect">
            <a:avLst/>
          </a:prstGeom>
          <a:noFill/>
        </p:spPr>
        <p:txBody>
          <a:bodyPr wrap="square">
            <a:spAutoFit/>
          </a:bodyPr>
          <a:lstStyle/>
          <a:p>
            <a:pPr marL="342900" indent="-342900">
              <a:buFont typeface="Arial" panose="020B0604020202090204" pitchFamily="34" charset="0"/>
              <a:buChar char="•"/>
            </a:pPr>
            <a:r>
              <a:rPr lang="zh-CN" altLang="zh-CN" sz="1800" b="1" dirty="0">
                <a:effectLst/>
                <a:latin typeface="+mn-lt"/>
                <a:ea typeface="+mn-ea"/>
                <a:cs typeface="+mn-ea"/>
                <a:sym typeface="+mn-lt"/>
              </a:rPr>
              <a:t>能力与业务</a:t>
            </a:r>
            <a:r>
              <a:rPr lang="zh-CN" altLang="en-US" sz="1800" b="1" dirty="0">
                <a:latin typeface="+mn-lt"/>
                <a:ea typeface="+mn-ea"/>
                <a:cs typeface="+mn-ea"/>
                <a:sym typeface="+mn-lt"/>
              </a:rPr>
              <a:t>匹配</a:t>
            </a:r>
            <a:endParaRPr lang="zh-CN" altLang="en-US" sz="1800" dirty="0">
              <a:latin typeface="+mn-lt"/>
              <a:ea typeface="+mn-ea"/>
              <a:cs typeface="+mn-ea"/>
              <a:sym typeface="+mn-lt"/>
            </a:endParaRPr>
          </a:p>
        </p:txBody>
      </p:sp>
      <p:sp>
        <p:nvSpPr>
          <p:cNvPr id="7" name="文本框 6"/>
          <p:cNvSpPr txBox="1"/>
          <p:nvPr/>
        </p:nvSpPr>
        <p:spPr>
          <a:xfrm>
            <a:off x="1893890" y="4184137"/>
            <a:ext cx="2721276" cy="369332"/>
          </a:xfrm>
          <a:prstGeom prst="rect">
            <a:avLst/>
          </a:prstGeom>
          <a:noFill/>
        </p:spPr>
        <p:txBody>
          <a:bodyPr wrap="square">
            <a:spAutoFit/>
          </a:bodyPr>
          <a:lstStyle/>
          <a:p>
            <a:pPr marL="342900" indent="-342900">
              <a:buFont typeface="Arial" panose="020B0604020202090204" pitchFamily="34" charset="0"/>
              <a:buChar char="•"/>
            </a:pPr>
            <a:r>
              <a:rPr lang="zh-CN" altLang="zh-CN" sz="1800" b="1" dirty="0">
                <a:effectLst/>
                <a:latin typeface="+mn-lt"/>
                <a:ea typeface="+mn-ea"/>
                <a:cs typeface="+mn-ea"/>
                <a:sym typeface="+mn-lt"/>
              </a:rPr>
              <a:t>培训和业务同频</a:t>
            </a:r>
            <a:endParaRPr lang="zh-CN" altLang="en-US" sz="1800" dirty="0">
              <a:latin typeface="+mn-lt"/>
              <a:ea typeface="+mn-ea"/>
              <a:cs typeface="+mn-ea"/>
              <a:sym typeface="+mn-lt"/>
            </a:endParaRPr>
          </a:p>
        </p:txBody>
      </p:sp>
      <p:sp>
        <p:nvSpPr>
          <p:cNvPr id="10" name="矩形 9"/>
          <p:cNvSpPr/>
          <p:nvPr/>
        </p:nvSpPr>
        <p:spPr>
          <a:xfrm>
            <a:off x="1535833" y="1788273"/>
            <a:ext cx="3354161" cy="4365366"/>
          </a:xfrm>
          <a:prstGeom prst="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5900210" y="1791478"/>
            <a:ext cx="4662043" cy="100770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cs typeface="+mn-ea"/>
                <a:sym typeface="+mn-lt"/>
              </a:rPr>
              <a:t>重点培训项目</a:t>
            </a:r>
            <a:endParaRPr lang="zh-CN" altLang="en-US" sz="2400" dirty="0">
              <a:cs typeface="+mn-ea"/>
              <a:sym typeface="+mn-lt"/>
            </a:endParaRPr>
          </a:p>
        </p:txBody>
      </p:sp>
      <p:sp>
        <p:nvSpPr>
          <p:cNvPr id="15" name="文本框 14"/>
          <p:cNvSpPr txBox="1"/>
          <p:nvPr/>
        </p:nvSpPr>
        <p:spPr>
          <a:xfrm>
            <a:off x="7025851" y="3511750"/>
            <a:ext cx="3287063" cy="369332"/>
          </a:xfrm>
          <a:prstGeom prst="rect">
            <a:avLst/>
          </a:prstGeom>
          <a:noFill/>
        </p:spPr>
        <p:txBody>
          <a:bodyPr wrap="square">
            <a:spAutoFit/>
          </a:bodyPr>
          <a:lstStyle/>
          <a:p>
            <a:pPr marL="285750" indent="-285750">
              <a:buFont typeface="Arial" panose="020B0604020202090204" pitchFamily="34" charset="0"/>
              <a:buChar char="•"/>
            </a:pPr>
            <a:r>
              <a:rPr lang="zh-CN" altLang="zh-CN" sz="1800" b="1" dirty="0">
                <a:effectLst/>
                <a:latin typeface="+mn-lt"/>
                <a:ea typeface="+mn-ea"/>
                <a:cs typeface="+mn-ea"/>
                <a:sym typeface="+mn-lt"/>
              </a:rPr>
              <a:t>新员工入职培训</a:t>
            </a:r>
            <a:endParaRPr lang="zh-CN" altLang="en-US" sz="1800" b="1" dirty="0">
              <a:latin typeface="+mn-lt"/>
              <a:ea typeface="+mn-ea"/>
              <a:cs typeface="+mn-ea"/>
              <a:sym typeface="+mn-lt"/>
            </a:endParaRPr>
          </a:p>
        </p:txBody>
      </p:sp>
      <p:sp>
        <p:nvSpPr>
          <p:cNvPr id="17" name="文本框 16"/>
          <p:cNvSpPr txBox="1"/>
          <p:nvPr/>
        </p:nvSpPr>
        <p:spPr>
          <a:xfrm>
            <a:off x="7025851" y="4134026"/>
            <a:ext cx="3390816" cy="369332"/>
          </a:xfrm>
          <a:prstGeom prst="rect">
            <a:avLst/>
          </a:prstGeom>
          <a:noFill/>
        </p:spPr>
        <p:txBody>
          <a:bodyPr wrap="square">
            <a:spAutoFit/>
          </a:bodyPr>
          <a:lstStyle/>
          <a:p>
            <a:pPr marL="285750" indent="-285750">
              <a:buFont typeface="Arial" panose="020B0604020202090204" pitchFamily="34" charset="0"/>
              <a:buChar char="•"/>
            </a:pPr>
            <a:r>
              <a:rPr lang="zh-CN" altLang="zh-CN" sz="1800" b="1" dirty="0">
                <a:effectLst/>
                <a:latin typeface="+mn-lt"/>
                <a:ea typeface="+mn-ea"/>
                <a:cs typeface="+mn-ea"/>
                <a:sym typeface="+mn-lt"/>
              </a:rPr>
              <a:t>专业资格培训</a:t>
            </a:r>
            <a:endParaRPr lang="zh-CN" altLang="en-US" sz="1800" b="1" dirty="0">
              <a:latin typeface="+mn-lt"/>
              <a:ea typeface="+mn-ea"/>
              <a:cs typeface="+mn-ea"/>
              <a:sym typeface="+mn-lt"/>
            </a:endParaRPr>
          </a:p>
        </p:txBody>
      </p:sp>
      <p:sp>
        <p:nvSpPr>
          <p:cNvPr id="19" name="文本框 18"/>
          <p:cNvSpPr txBox="1"/>
          <p:nvPr/>
        </p:nvSpPr>
        <p:spPr>
          <a:xfrm>
            <a:off x="7025851" y="4804514"/>
            <a:ext cx="3442692" cy="369332"/>
          </a:xfrm>
          <a:prstGeom prst="rect">
            <a:avLst/>
          </a:prstGeom>
          <a:noFill/>
        </p:spPr>
        <p:txBody>
          <a:bodyPr wrap="square">
            <a:spAutoFit/>
          </a:bodyPr>
          <a:lstStyle/>
          <a:p>
            <a:pPr marL="285750" indent="-285750">
              <a:buFont typeface="Arial" panose="020B0604020202090204" pitchFamily="34" charset="0"/>
              <a:buChar char="•"/>
            </a:pPr>
            <a:r>
              <a:rPr lang="zh-CN" altLang="zh-CN" sz="1800" b="1" dirty="0">
                <a:effectLst/>
                <a:latin typeface="+mn-lt"/>
                <a:ea typeface="+mn-ea"/>
                <a:cs typeface="+mn-ea"/>
                <a:sym typeface="+mn-lt"/>
              </a:rPr>
              <a:t>管理资格培训</a:t>
            </a:r>
            <a:endParaRPr lang="zh-CN" altLang="en-US" sz="1800" b="1" dirty="0">
              <a:latin typeface="+mn-lt"/>
              <a:ea typeface="+mn-ea"/>
              <a:cs typeface="+mn-ea"/>
              <a:sym typeface="+mn-lt"/>
            </a:endParaRPr>
          </a:p>
        </p:txBody>
      </p:sp>
      <p:cxnSp>
        <p:nvCxnSpPr>
          <p:cNvPr id="23" name="直接连接符 22"/>
          <p:cNvCxnSpPr/>
          <p:nvPr/>
        </p:nvCxnSpPr>
        <p:spPr>
          <a:xfrm>
            <a:off x="6419461" y="2835943"/>
            <a:ext cx="0" cy="3266503"/>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
        <p:nvSpPr>
          <p:cNvPr id="16" name="文本框 6"/>
          <p:cNvSpPr txBox="1"/>
          <p:nvPr/>
        </p:nvSpPr>
        <p:spPr>
          <a:xfrm>
            <a:off x="1909734" y="4851719"/>
            <a:ext cx="2721276" cy="369332"/>
          </a:xfrm>
          <a:prstGeom prst="rect">
            <a:avLst/>
          </a:prstGeom>
          <a:noFill/>
        </p:spPr>
        <p:txBody>
          <a:bodyPr wrap="square">
            <a:spAutoFit/>
          </a:bodyPr>
          <a:lstStyle/>
          <a:p>
            <a:pPr marL="342900" indent="-342900">
              <a:buFont typeface="Arial" panose="020B0604020202090204" pitchFamily="34" charset="0"/>
              <a:buChar char="•"/>
            </a:pPr>
            <a:r>
              <a:rPr lang="zh-CN" altLang="en-US" sz="1800" dirty="0">
                <a:solidFill>
                  <a:schemeClr val="tx1"/>
                </a:solidFill>
                <a:effectLst/>
                <a:latin typeface="华文中宋" panose="02010600040101010101" pitchFamily="2" charset="-122"/>
                <a:ea typeface="华文中宋" panose="02010600040101010101" pitchFamily="2" charset="-122"/>
                <a:cs typeface="Arial" panose="020B0604020202090204" pitchFamily="34" charset="0"/>
              </a:rPr>
              <a:t>推进全员学习</a:t>
            </a:r>
            <a:endParaRPr lang="zh-CN" altLang="en-US" sz="1800" dirty="0">
              <a:solidFill>
                <a:schemeClr val="tx1"/>
              </a:solidFill>
              <a:latin typeface="华文中宋" panose="02010600040101010101" pitchFamily="2" charset="-122"/>
              <a:ea typeface="华文中宋" panose="02010600040101010101" pitchFamily="2" charset="-122"/>
            </a:endParaRPr>
          </a:p>
        </p:txBody>
      </p:sp>
      <p:sp>
        <p:nvSpPr>
          <p:cNvPr id="18" name="文本框 6"/>
          <p:cNvSpPr txBox="1"/>
          <p:nvPr/>
        </p:nvSpPr>
        <p:spPr>
          <a:xfrm>
            <a:off x="1909734" y="5457578"/>
            <a:ext cx="2980260" cy="369332"/>
          </a:xfrm>
          <a:prstGeom prst="rect">
            <a:avLst/>
          </a:prstGeom>
          <a:noFill/>
        </p:spPr>
        <p:txBody>
          <a:bodyPr wrap="square">
            <a:spAutoFit/>
          </a:bodyPr>
          <a:lstStyle/>
          <a:p>
            <a:pPr marL="342900" indent="-342900">
              <a:buFont typeface="Arial" panose="020B0604020202090204" pitchFamily="34" charset="0"/>
              <a:buChar char="•"/>
            </a:pPr>
            <a:r>
              <a:rPr lang="zh-CN" altLang="en-US" sz="1800" dirty="0">
                <a:solidFill>
                  <a:srgbClr val="FF0000"/>
                </a:solidFill>
                <a:effectLst/>
                <a:latin typeface="华文中宋" panose="02010600040101010101" pitchFamily="2" charset="-122"/>
                <a:ea typeface="华文中宋" panose="02010600040101010101" pitchFamily="2" charset="-122"/>
                <a:cs typeface="Arial" panose="020B0604020202090204" pitchFamily="34" charset="0"/>
              </a:rPr>
              <a:t>试点专业资质考试认证</a:t>
            </a:r>
            <a:endParaRPr lang="zh-CN" altLang="en-US" sz="1800"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31137" y="2826451"/>
            <a:ext cx="5199017" cy="312950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文本框 2"/>
          <p:cNvSpPr txBox="1"/>
          <p:nvPr/>
        </p:nvSpPr>
        <p:spPr>
          <a:xfrm>
            <a:off x="618309" y="215305"/>
            <a:ext cx="6494866"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3</a:t>
            </a:r>
            <a:r>
              <a:rPr kumimoji="1" lang="zh-CN" altLang="en-US" sz="2000" dirty="0">
                <a:latin typeface="+mn-lt"/>
                <a:ea typeface="+mn-ea"/>
                <a:cs typeface="+mn-ea"/>
                <a:sym typeface="+mn-lt"/>
              </a:rPr>
              <a:t>、实施金融专业人才工程，打造权威型专家队伍</a:t>
            </a:r>
            <a:endParaRPr kumimoji="1" lang="en-US" altLang="zh-CN" sz="2000" dirty="0">
              <a:latin typeface="+mn-lt"/>
              <a:ea typeface="+mn-ea"/>
              <a:cs typeface="+mn-ea"/>
              <a:sym typeface="+mn-lt"/>
            </a:endParaRPr>
          </a:p>
        </p:txBody>
      </p:sp>
      <p:sp>
        <p:nvSpPr>
          <p:cNvPr id="7" name="文本框 6"/>
          <p:cNvSpPr txBox="1"/>
          <p:nvPr/>
        </p:nvSpPr>
        <p:spPr>
          <a:xfrm>
            <a:off x="631366" y="3149038"/>
            <a:ext cx="5052060" cy="2633670"/>
          </a:xfrm>
          <a:prstGeom prst="rect">
            <a:avLst/>
          </a:prstGeom>
          <a:noFill/>
        </p:spPr>
        <p:txBody>
          <a:bodyPr wrap="square">
            <a:spAutoFit/>
          </a:bodyPr>
          <a:lstStyle/>
          <a:p>
            <a:pPr marL="285750" indent="-285750">
              <a:lnSpc>
                <a:spcPct val="150000"/>
              </a:lnSpc>
              <a:buFont typeface="Arial" panose="020B0604020202090204" pitchFamily="34" charset="0"/>
              <a:buChar char="•"/>
            </a:pPr>
            <a:r>
              <a:rPr lang="zh-CN" altLang="en-US" sz="1600" dirty="0">
                <a:latin typeface="+mn-lt"/>
                <a:ea typeface="+mn-ea"/>
                <a:cs typeface="+mn-ea"/>
                <a:sym typeface="+mn-lt"/>
              </a:rPr>
              <a:t>每个传统领先业务领域储备培养5—10名行业顶尖专家</a:t>
            </a:r>
            <a:endParaRPr lang="en-US" altLang="zh-CN" sz="1600" dirty="0">
              <a:latin typeface="+mn-lt"/>
              <a:ea typeface="+mn-ea"/>
              <a:cs typeface="+mn-ea"/>
              <a:sym typeface="+mn-lt"/>
            </a:endParaRPr>
          </a:p>
          <a:p>
            <a:pPr marL="285750" indent="-285750">
              <a:lnSpc>
                <a:spcPct val="150000"/>
              </a:lnSpc>
              <a:buFont typeface="Arial" panose="020B0604020202090204" pitchFamily="34" charset="0"/>
              <a:buChar char="•"/>
            </a:pPr>
            <a:r>
              <a:rPr lang="zh-CN" altLang="en-US" sz="1600" dirty="0">
                <a:latin typeface="+mn-lt"/>
                <a:ea typeface="+mn-ea"/>
                <a:cs typeface="+mn-ea"/>
                <a:sym typeface="+mn-lt"/>
              </a:rPr>
              <a:t>全行各类各层次专业技术人才占比达到50%</a:t>
            </a:r>
            <a:endParaRPr lang="en-US" altLang="zh-CN" sz="1600" dirty="0">
              <a:latin typeface="+mn-lt"/>
              <a:ea typeface="+mn-ea"/>
              <a:cs typeface="+mn-ea"/>
              <a:sym typeface="+mn-lt"/>
            </a:endParaRPr>
          </a:p>
          <a:p>
            <a:pPr marL="285750" indent="-285750">
              <a:lnSpc>
                <a:spcPct val="150000"/>
              </a:lnSpc>
              <a:buFont typeface="Arial" panose="020B0604020202090204" pitchFamily="34" charset="0"/>
              <a:buChar char="•"/>
            </a:pPr>
            <a:r>
              <a:rPr lang="zh-CN" altLang="en-US" sz="1600" dirty="0">
                <a:latin typeface="+mn-lt"/>
                <a:ea typeface="+mn-ea"/>
                <a:cs typeface="+mn-ea"/>
                <a:sym typeface="+mn-lt"/>
              </a:rPr>
              <a:t>各重点条线首席级专业技术人才达30人</a:t>
            </a:r>
            <a:endParaRPr lang="en-US" altLang="zh-CN" sz="1600" dirty="0">
              <a:latin typeface="+mn-lt"/>
              <a:ea typeface="+mn-ea"/>
              <a:cs typeface="+mn-ea"/>
              <a:sym typeface="+mn-lt"/>
            </a:endParaRPr>
          </a:p>
          <a:p>
            <a:pPr marL="285750" indent="-285750">
              <a:lnSpc>
                <a:spcPct val="150000"/>
              </a:lnSpc>
              <a:buFont typeface="Arial" panose="020B0604020202090204" pitchFamily="34" charset="0"/>
              <a:buChar char="•"/>
            </a:pPr>
            <a:r>
              <a:rPr lang="zh-CN" altLang="en-US" sz="1600" dirty="0">
                <a:latin typeface="+mn-lt"/>
                <a:ea typeface="+mn-ea"/>
                <a:cs typeface="+mn-ea"/>
                <a:sym typeface="+mn-lt"/>
              </a:rPr>
              <a:t>资深级专业技术人才达150人</a:t>
            </a:r>
            <a:endParaRPr lang="en-US" altLang="zh-CN" sz="1600" dirty="0">
              <a:latin typeface="+mn-lt"/>
              <a:ea typeface="+mn-ea"/>
              <a:cs typeface="+mn-ea"/>
              <a:sym typeface="+mn-lt"/>
            </a:endParaRPr>
          </a:p>
          <a:p>
            <a:pPr marL="285750" indent="-285750">
              <a:lnSpc>
                <a:spcPct val="150000"/>
              </a:lnSpc>
              <a:buFont typeface="Arial" panose="020B0604020202090204" pitchFamily="34" charset="0"/>
              <a:buChar char="•"/>
            </a:pPr>
            <a:r>
              <a:rPr lang="zh-CN" altLang="en-US" sz="1600" dirty="0">
                <a:latin typeface="+mn-lt"/>
                <a:ea typeface="+mn-ea"/>
                <a:cs typeface="+mn-ea"/>
                <a:sym typeface="+mn-lt"/>
              </a:rPr>
              <a:t>高级专业技术人才达3,000人</a:t>
            </a:r>
            <a:endParaRPr lang="en-US" altLang="zh-CN" sz="1600" dirty="0">
              <a:latin typeface="+mn-lt"/>
              <a:ea typeface="+mn-ea"/>
              <a:cs typeface="+mn-ea"/>
              <a:sym typeface="+mn-lt"/>
            </a:endParaRPr>
          </a:p>
          <a:p>
            <a:pPr marL="285750" indent="-285750">
              <a:lnSpc>
                <a:spcPct val="150000"/>
              </a:lnSpc>
              <a:buFont typeface="Arial" panose="020B0604020202090204" pitchFamily="34" charset="0"/>
              <a:buChar char="•"/>
            </a:pPr>
            <a:r>
              <a:rPr lang="zh-CN" altLang="en-US" sz="1600" dirty="0">
                <a:latin typeface="+mn-lt"/>
                <a:ea typeface="+mn-ea"/>
                <a:cs typeface="+mn-ea"/>
                <a:sym typeface="+mn-lt"/>
              </a:rPr>
              <a:t>中级专业技术人才达65,000人</a:t>
            </a:r>
            <a:endParaRPr lang="zh-CN" altLang="en-US" sz="1600" dirty="0">
              <a:latin typeface="+mn-lt"/>
              <a:ea typeface="+mn-ea"/>
              <a:cs typeface="+mn-ea"/>
              <a:sym typeface="+mn-lt"/>
            </a:endParaRPr>
          </a:p>
        </p:txBody>
      </p:sp>
      <p:sp>
        <p:nvSpPr>
          <p:cNvPr id="8" name="文本框 7"/>
          <p:cNvSpPr txBox="1"/>
          <p:nvPr/>
        </p:nvSpPr>
        <p:spPr>
          <a:xfrm>
            <a:off x="2255547" y="2924349"/>
            <a:ext cx="1569660" cy="369332"/>
          </a:xfrm>
          <a:prstGeom prst="rect">
            <a:avLst/>
          </a:prstGeom>
          <a:noFill/>
        </p:spPr>
        <p:txBody>
          <a:bodyPr wrap="none" rtlCol="0">
            <a:spAutoFit/>
          </a:bodyPr>
          <a:lstStyle/>
          <a:p>
            <a:r>
              <a:rPr lang="zh-CN" altLang="en-US" sz="1800" b="1" dirty="0">
                <a:latin typeface="+mn-lt"/>
                <a:ea typeface="+mn-ea"/>
                <a:cs typeface="+mn-ea"/>
                <a:sym typeface="+mn-lt"/>
              </a:rPr>
              <a:t>量化培养目标</a:t>
            </a:r>
            <a:endParaRPr lang="zh-CN" altLang="en-US" sz="1800" b="1" dirty="0">
              <a:latin typeface="+mn-lt"/>
              <a:ea typeface="+mn-ea"/>
              <a:cs typeface="+mn-ea"/>
              <a:sym typeface="+mn-lt"/>
            </a:endParaRPr>
          </a:p>
        </p:txBody>
      </p:sp>
      <p:sp>
        <p:nvSpPr>
          <p:cNvPr id="13" name="文本框 12"/>
          <p:cNvSpPr txBox="1"/>
          <p:nvPr/>
        </p:nvSpPr>
        <p:spPr>
          <a:xfrm>
            <a:off x="618309" y="1029813"/>
            <a:ext cx="5758660" cy="1704826"/>
          </a:xfrm>
          <a:prstGeom prst="rect">
            <a:avLst/>
          </a:prstGeom>
          <a:noFill/>
        </p:spPr>
        <p:txBody>
          <a:bodyPr wrap="square">
            <a:spAutoFit/>
          </a:bodyPr>
          <a:lstStyle/>
          <a:p>
            <a:pPr>
              <a:lnSpc>
                <a:spcPct val="150000"/>
              </a:lnSpc>
            </a:pPr>
            <a:r>
              <a:rPr lang="zh-CN" altLang="en-US" sz="1800" dirty="0">
                <a:latin typeface="+mn-lt"/>
                <a:ea typeface="+mn-ea"/>
                <a:cs typeface="+mn-ea"/>
              </a:rPr>
              <a:t>项目目标：</a:t>
            </a:r>
            <a:r>
              <a:rPr lang="zh-CN" altLang="zh-CN" sz="1800" dirty="0">
                <a:latin typeface="+mn-lt"/>
                <a:ea typeface="+mn-ea"/>
                <a:cs typeface="+mn-ea"/>
              </a:rPr>
              <a:t>建设各重点条线专业技术人梯队</a:t>
            </a:r>
            <a:r>
              <a:rPr lang="zh-CN" altLang="en-US" sz="1800" dirty="0">
                <a:latin typeface="+mn-lt"/>
                <a:ea typeface="+mn-ea"/>
                <a:cs typeface="+mn-ea"/>
              </a:rPr>
              <a:t>，做实专业序列，培养复合型专业人才 </a:t>
            </a:r>
            <a:endParaRPr lang="en-US" altLang="zh-CN" sz="1800" dirty="0">
              <a:latin typeface="+mn-lt"/>
              <a:ea typeface="+mn-ea"/>
              <a:cs typeface="+mn-ea"/>
              <a:sym typeface="+mn-lt"/>
            </a:endParaRPr>
          </a:p>
          <a:p>
            <a:pPr>
              <a:lnSpc>
                <a:spcPct val="150000"/>
              </a:lnSpc>
            </a:pPr>
            <a:r>
              <a:rPr lang="zh-CN" altLang="en-US" sz="1800" dirty="0">
                <a:latin typeface="+mn-lt"/>
                <a:ea typeface="+mn-ea"/>
                <a:cs typeface="+mn-ea"/>
                <a:sym typeface="+mn-lt"/>
              </a:rPr>
              <a:t>项目重点：围绕特色业务打造权威型专家队伍，注重优势领域专业知识才能的传承共享 。</a:t>
            </a:r>
            <a:endParaRPr lang="en-US" altLang="zh-CN" sz="1800" dirty="0">
              <a:latin typeface="+mn-lt"/>
              <a:ea typeface="+mn-ea"/>
              <a:cs typeface="+mn-ea"/>
              <a:sym typeface="+mn-lt"/>
            </a:endParaRPr>
          </a:p>
        </p:txBody>
      </p:sp>
      <p:sp>
        <p:nvSpPr>
          <p:cNvPr id="9"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grpSp>
        <p:nvGrpSpPr>
          <p:cNvPr id="2" name="组合 5"/>
          <p:cNvGrpSpPr/>
          <p:nvPr/>
        </p:nvGrpSpPr>
        <p:grpSpPr>
          <a:xfrm>
            <a:off x="6653725" y="3003576"/>
            <a:ext cx="3827374" cy="3085400"/>
            <a:chOff x="5955181" y="2800788"/>
            <a:chExt cx="3827374" cy="3085400"/>
          </a:xfrm>
        </p:grpSpPr>
        <p:sp>
          <p:nvSpPr>
            <p:cNvPr id="14" name="矩形 13"/>
            <p:cNvSpPr/>
            <p:nvPr/>
          </p:nvSpPr>
          <p:spPr>
            <a:xfrm>
              <a:off x="5955181" y="5454528"/>
              <a:ext cx="3827373" cy="4316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cs typeface="+mn-ea"/>
                <a:sym typeface="+mn-lt"/>
              </a:endParaRPr>
            </a:p>
          </p:txBody>
        </p:sp>
        <p:sp>
          <p:nvSpPr>
            <p:cNvPr id="15" name="矩形 14"/>
            <p:cNvSpPr/>
            <p:nvPr/>
          </p:nvSpPr>
          <p:spPr>
            <a:xfrm>
              <a:off x="6799826" y="5445569"/>
              <a:ext cx="1838965" cy="413831"/>
            </a:xfrm>
            <a:prstGeom prst="rect">
              <a:avLst/>
            </a:prstGeom>
          </p:spPr>
          <p:txBody>
            <a:bodyPr wrap="none">
              <a:spAutoFit/>
            </a:bodyPr>
            <a:lstStyle/>
            <a:p>
              <a:pPr lvl="0">
                <a:lnSpc>
                  <a:spcPct val="150000"/>
                </a:lnSpc>
              </a:pPr>
              <a:r>
                <a:rPr lang="zh-CN" altLang="en-US" sz="1600" dirty="0">
                  <a:solidFill>
                    <a:schemeClr val="bg1"/>
                  </a:solidFill>
                  <a:cs typeface="+mn-ea"/>
                  <a:sym typeface="+mn-lt"/>
                </a:rPr>
                <a:t>条线中级技术人才</a:t>
              </a:r>
              <a:endParaRPr lang="zh-CN" altLang="en-US" sz="1600" dirty="0">
                <a:solidFill>
                  <a:schemeClr val="bg1"/>
                </a:solidFill>
                <a:cs typeface="+mn-ea"/>
                <a:sym typeface="+mn-lt"/>
              </a:endParaRPr>
            </a:p>
          </p:txBody>
        </p:sp>
        <p:sp>
          <p:nvSpPr>
            <p:cNvPr id="16" name="矩形 15"/>
            <p:cNvSpPr/>
            <p:nvPr/>
          </p:nvSpPr>
          <p:spPr>
            <a:xfrm>
              <a:off x="6667877" y="4800376"/>
              <a:ext cx="3114678" cy="4316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cs typeface="+mn-ea"/>
                <a:sym typeface="+mn-lt"/>
              </a:endParaRPr>
            </a:p>
          </p:txBody>
        </p:sp>
        <p:sp>
          <p:nvSpPr>
            <p:cNvPr id="17" name="矩形 16"/>
            <p:cNvSpPr/>
            <p:nvPr/>
          </p:nvSpPr>
          <p:spPr>
            <a:xfrm>
              <a:off x="7512521" y="4791417"/>
              <a:ext cx="1838965" cy="413831"/>
            </a:xfrm>
            <a:prstGeom prst="rect">
              <a:avLst/>
            </a:prstGeom>
          </p:spPr>
          <p:txBody>
            <a:bodyPr wrap="none">
              <a:spAutoFit/>
            </a:bodyPr>
            <a:lstStyle/>
            <a:p>
              <a:pPr lvl="0">
                <a:lnSpc>
                  <a:spcPct val="150000"/>
                </a:lnSpc>
              </a:pPr>
              <a:r>
                <a:rPr lang="zh-CN" altLang="en-US" sz="1600" dirty="0">
                  <a:solidFill>
                    <a:schemeClr val="bg1"/>
                  </a:solidFill>
                  <a:cs typeface="+mn-ea"/>
                  <a:sym typeface="+mn-lt"/>
                </a:rPr>
                <a:t>条线高级技术人才</a:t>
              </a:r>
              <a:endParaRPr lang="zh-CN" altLang="en-US" sz="1600" dirty="0">
                <a:solidFill>
                  <a:schemeClr val="bg1"/>
                </a:solidFill>
                <a:cs typeface="+mn-ea"/>
                <a:sym typeface="+mn-lt"/>
              </a:endParaRPr>
            </a:p>
          </p:txBody>
        </p:sp>
        <p:sp>
          <p:nvSpPr>
            <p:cNvPr id="18" name="矩形 17"/>
            <p:cNvSpPr/>
            <p:nvPr/>
          </p:nvSpPr>
          <p:spPr>
            <a:xfrm>
              <a:off x="7380572" y="4158236"/>
              <a:ext cx="2401982" cy="4316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cs typeface="+mn-ea"/>
                <a:sym typeface="+mn-lt"/>
              </a:endParaRPr>
            </a:p>
          </p:txBody>
        </p:sp>
        <p:sp>
          <p:nvSpPr>
            <p:cNvPr id="19" name="矩形 18"/>
            <p:cNvSpPr/>
            <p:nvPr/>
          </p:nvSpPr>
          <p:spPr>
            <a:xfrm>
              <a:off x="7730942" y="4149277"/>
              <a:ext cx="1838965" cy="413831"/>
            </a:xfrm>
            <a:prstGeom prst="rect">
              <a:avLst/>
            </a:prstGeom>
          </p:spPr>
          <p:txBody>
            <a:bodyPr wrap="none">
              <a:spAutoFit/>
            </a:bodyPr>
            <a:lstStyle/>
            <a:p>
              <a:pPr lvl="0">
                <a:lnSpc>
                  <a:spcPct val="150000"/>
                </a:lnSpc>
              </a:pPr>
              <a:r>
                <a:rPr lang="zh-CN" altLang="en-US" sz="1600" dirty="0">
                  <a:solidFill>
                    <a:schemeClr val="bg1"/>
                  </a:solidFill>
                  <a:cs typeface="+mn-ea"/>
                  <a:sym typeface="+mn-lt"/>
                </a:rPr>
                <a:t>条线资深技术人才</a:t>
              </a:r>
              <a:endParaRPr lang="zh-CN" altLang="en-US" sz="1600" dirty="0">
                <a:solidFill>
                  <a:schemeClr val="bg1"/>
                </a:solidFill>
                <a:cs typeface="+mn-ea"/>
                <a:sym typeface="+mn-lt"/>
              </a:endParaRPr>
            </a:p>
          </p:txBody>
        </p:sp>
        <p:sp>
          <p:nvSpPr>
            <p:cNvPr id="20" name="矩形 19"/>
            <p:cNvSpPr/>
            <p:nvPr/>
          </p:nvSpPr>
          <p:spPr>
            <a:xfrm>
              <a:off x="8062973" y="3492394"/>
              <a:ext cx="1719581" cy="4316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cs typeface="+mn-ea"/>
                <a:sym typeface="+mn-lt"/>
              </a:endParaRPr>
            </a:p>
          </p:txBody>
        </p:sp>
        <p:sp>
          <p:nvSpPr>
            <p:cNvPr id="21" name="矩形 20"/>
            <p:cNvSpPr/>
            <p:nvPr/>
          </p:nvSpPr>
          <p:spPr>
            <a:xfrm>
              <a:off x="8223808" y="3486449"/>
              <a:ext cx="1425390" cy="413831"/>
            </a:xfrm>
            <a:prstGeom prst="rect">
              <a:avLst/>
            </a:prstGeom>
          </p:spPr>
          <p:txBody>
            <a:bodyPr wrap="none">
              <a:spAutoFit/>
            </a:bodyPr>
            <a:lstStyle/>
            <a:p>
              <a:pPr lvl="0">
                <a:lnSpc>
                  <a:spcPct val="150000"/>
                </a:lnSpc>
              </a:pPr>
              <a:r>
                <a:rPr lang="zh-CN" altLang="en-US" sz="1600" dirty="0">
                  <a:solidFill>
                    <a:schemeClr val="bg1"/>
                  </a:solidFill>
                  <a:cs typeface="+mn-ea"/>
                  <a:sym typeface="+mn-lt"/>
                </a:rPr>
                <a:t>条线首席专家</a:t>
              </a:r>
              <a:endParaRPr lang="zh-CN" altLang="en-US" sz="1600" dirty="0">
                <a:solidFill>
                  <a:schemeClr val="bg1"/>
                </a:solidFill>
                <a:cs typeface="+mn-ea"/>
                <a:sym typeface="+mn-lt"/>
              </a:endParaRPr>
            </a:p>
          </p:txBody>
        </p:sp>
        <p:sp>
          <p:nvSpPr>
            <p:cNvPr id="22" name="矩形 21"/>
            <p:cNvSpPr/>
            <p:nvPr/>
          </p:nvSpPr>
          <p:spPr>
            <a:xfrm>
              <a:off x="8477957" y="2806733"/>
              <a:ext cx="1304598" cy="4316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cs typeface="+mn-ea"/>
                <a:sym typeface="+mn-lt"/>
              </a:endParaRPr>
            </a:p>
          </p:txBody>
        </p:sp>
        <p:sp>
          <p:nvSpPr>
            <p:cNvPr id="23" name="矩形 22"/>
            <p:cNvSpPr/>
            <p:nvPr/>
          </p:nvSpPr>
          <p:spPr>
            <a:xfrm>
              <a:off x="8638791" y="2800788"/>
              <a:ext cx="1011815" cy="413831"/>
            </a:xfrm>
            <a:prstGeom prst="rect">
              <a:avLst/>
            </a:prstGeom>
          </p:spPr>
          <p:txBody>
            <a:bodyPr wrap="none">
              <a:spAutoFit/>
            </a:bodyPr>
            <a:lstStyle/>
            <a:p>
              <a:pPr lvl="0">
                <a:lnSpc>
                  <a:spcPct val="150000"/>
                </a:lnSpc>
              </a:pPr>
              <a:r>
                <a:rPr lang="zh-CN" altLang="en-US" sz="1600" dirty="0">
                  <a:solidFill>
                    <a:schemeClr val="bg1"/>
                  </a:solidFill>
                  <a:cs typeface="+mn-ea"/>
                  <a:sym typeface="+mn-lt"/>
                </a:rPr>
                <a:t>行业专家</a:t>
              </a:r>
              <a:endParaRPr lang="zh-CN" altLang="en-US" sz="1600" dirty="0">
                <a:solidFill>
                  <a:schemeClr val="bg1"/>
                </a:solidFill>
                <a:cs typeface="+mn-ea"/>
                <a:sym typeface="+mn-lt"/>
              </a:endParaRPr>
            </a:p>
          </p:txBody>
        </p:sp>
      </p:grpSp>
      <p:pic>
        <p:nvPicPr>
          <p:cNvPr id="24" name="图片 23"/>
          <p:cNvPicPr>
            <a:picLocks noChangeAspect="1"/>
          </p:cNvPicPr>
          <p:nvPr/>
        </p:nvPicPr>
        <p:blipFill rotWithShape="1">
          <a:blip r:embed="rId1" cstate="print"/>
          <a:srcRect l="80270" t="33410" r="1939" b="35691"/>
          <a:stretch>
            <a:fillRect/>
          </a:stretch>
        </p:blipFill>
        <p:spPr>
          <a:xfrm>
            <a:off x="10581548" y="2892910"/>
            <a:ext cx="677759" cy="663102"/>
          </a:xfrm>
          <a:prstGeom prst="rect">
            <a:avLst/>
          </a:prstGeom>
        </p:spPr>
      </p:pic>
      <p:pic>
        <p:nvPicPr>
          <p:cNvPr id="25" name="图片 24"/>
          <p:cNvPicPr>
            <a:picLocks noChangeAspect="1"/>
          </p:cNvPicPr>
          <p:nvPr/>
        </p:nvPicPr>
        <p:blipFill rotWithShape="1">
          <a:blip r:embed="rId1" cstate="print"/>
          <a:srcRect l="5960" t="33410" r="78117" b="35413"/>
          <a:stretch>
            <a:fillRect/>
          </a:stretch>
        </p:blipFill>
        <p:spPr>
          <a:xfrm>
            <a:off x="10664706" y="5606896"/>
            <a:ext cx="606617" cy="669076"/>
          </a:xfrm>
          <a:prstGeom prst="rect">
            <a:avLst/>
          </a:prstGeom>
        </p:spPr>
      </p:pic>
      <p:pic>
        <p:nvPicPr>
          <p:cNvPr id="26" name="图片 25"/>
          <p:cNvPicPr>
            <a:picLocks noChangeAspect="1"/>
          </p:cNvPicPr>
          <p:nvPr/>
        </p:nvPicPr>
        <p:blipFill rotWithShape="1">
          <a:blip r:embed="rId1" cstate="print"/>
          <a:srcRect l="24470" t="33410" r="58702" b="36291"/>
          <a:stretch>
            <a:fillRect/>
          </a:stretch>
        </p:blipFill>
        <p:spPr>
          <a:xfrm>
            <a:off x="10647465" y="4876000"/>
            <a:ext cx="641097" cy="650239"/>
          </a:xfrm>
          <a:prstGeom prst="rect">
            <a:avLst/>
          </a:prstGeom>
        </p:spPr>
      </p:pic>
      <p:pic>
        <p:nvPicPr>
          <p:cNvPr id="27" name="图片 26"/>
          <p:cNvPicPr>
            <a:picLocks noChangeAspect="1"/>
          </p:cNvPicPr>
          <p:nvPr/>
        </p:nvPicPr>
        <p:blipFill rotWithShape="1">
          <a:blip r:embed="rId1" cstate="print"/>
          <a:srcRect l="42590" t="33410" r="38214" b="34361"/>
          <a:stretch>
            <a:fillRect/>
          </a:stretch>
        </p:blipFill>
        <p:spPr>
          <a:xfrm>
            <a:off x="10586506" y="4231023"/>
            <a:ext cx="731285" cy="691661"/>
          </a:xfrm>
          <a:prstGeom prst="rect">
            <a:avLst/>
          </a:prstGeom>
        </p:spPr>
      </p:pic>
      <p:pic>
        <p:nvPicPr>
          <p:cNvPr id="28" name="图片 27"/>
          <p:cNvPicPr>
            <a:picLocks noChangeAspect="1"/>
          </p:cNvPicPr>
          <p:nvPr/>
        </p:nvPicPr>
        <p:blipFill rotWithShape="1">
          <a:blip r:embed="rId1" cstate="print"/>
          <a:srcRect l="59920" t="33410" r="20373" b="33943"/>
          <a:stretch>
            <a:fillRect/>
          </a:stretch>
        </p:blipFill>
        <p:spPr>
          <a:xfrm>
            <a:off x="10508577" y="3602345"/>
            <a:ext cx="750730" cy="70062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95325" y="198799"/>
            <a:ext cx="9252877"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4</a:t>
            </a:r>
            <a:r>
              <a:rPr kumimoji="1" lang="zh-CN" altLang="en-US" sz="2000" dirty="0">
                <a:latin typeface="+mn-lt"/>
                <a:ea typeface="+mn-ea"/>
                <a:cs typeface="+mn-ea"/>
                <a:sym typeface="+mn-lt"/>
              </a:rPr>
              <a:t>、实施领导力建设工程，做优做精“敏杰”系列项目</a:t>
            </a:r>
            <a:endParaRPr kumimoji="1" lang="en-US" altLang="zh-CN" sz="2000" dirty="0">
              <a:latin typeface="+mn-lt"/>
              <a:ea typeface="+mn-ea"/>
              <a:cs typeface="+mn-ea"/>
              <a:sym typeface="+mn-lt"/>
            </a:endParaRPr>
          </a:p>
        </p:txBody>
      </p:sp>
      <p:sp>
        <p:nvSpPr>
          <p:cNvPr id="2" name="矩形: 圆角 1"/>
          <p:cNvSpPr/>
          <p:nvPr/>
        </p:nvSpPr>
        <p:spPr>
          <a:xfrm>
            <a:off x="695325" y="1999020"/>
            <a:ext cx="2347751" cy="3604898"/>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领导力变革</a:t>
            </a:r>
            <a:endParaRPr lang="zh-CN" altLang="en-US" sz="2000" b="1" dirty="0">
              <a:cs typeface="+mn-ea"/>
              <a:sym typeface="+mn-lt"/>
            </a:endParaRPr>
          </a:p>
        </p:txBody>
      </p:sp>
      <p:sp>
        <p:nvSpPr>
          <p:cNvPr id="4" name="箭头: 五边形 3"/>
          <p:cNvSpPr/>
          <p:nvPr/>
        </p:nvSpPr>
        <p:spPr>
          <a:xfrm>
            <a:off x="8469085" y="4942210"/>
            <a:ext cx="2769327" cy="600891"/>
          </a:xfrm>
          <a:prstGeom prst="homePlate">
            <a:avLst/>
          </a:prstGeom>
          <a:solidFill>
            <a:srgbClr val="C00000"/>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cs typeface="+mn-ea"/>
                <a:sym typeface="+mn-lt"/>
              </a:rPr>
              <a:t>“敏杰”</a:t>
            </a:r>
            <a:r>
              <a:rPr lang="en-US" altLang="zh-CN" sz="2000" dirty="0">
                <a:solidFill>
                  <a:schemeClr val="bg1"/>
                </a:solidFill>
                <a:cs typeface="+mn-ea"/>
                <a:sym typeface="+mn-lt"/>
              </a:rPr>
              <a:t>Ⅳ</a:t>
            </a:r>
            <a:r>
              <a:rPr lang="zh-CN" altLang="en-US" sz="2000" dirty="0">
                <a:solidFill>
                  <a:schemeClr val="bg1"/>
                </a:solidFill>
                <a:cs typeface="+mn-ea"/>
                <a:sym typeface="+mn-lt"/>
              </a:rPr>
              <a:t>级</a:t>
            </a:r>
            <a:endParaRPr lang="zh-CN" altLang="en-US" sz="2000" dirty="0">
              <a:solidFill>
                <a:schemeClr val="bg1"/>
              </a:solidFill>
              <a:cs typeface="+mn-ea"/>
              <a:sym typeface="+mn-lt"/>
            </a:endParaRPr>
          </a:p>
        </p:txBody>
      </p:sp>
      <p:sp>
        <p:nvSpPr>
          <p:cNvPr id="6" name="箭头: 五边形 5"/>
          <p:cNvSpPr/>
          <p:nvPr/>
        </p:nvSpPr>
        <p:spPr>
          <a:xfrm>
            <a:off x="8469084" y="3949244"/>
            <a:ext cx="2769327" cy="600891"/>
          </a:xfrm>
          <a:prstGeom prst="homePlate">
            <a:avLst/>
          </a:prstGeom>
          <a:solidFill>
            <a:srgbClr val="C00000"/>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cs typeface="+mn-ea"/>
                <a:sym typeface="+mn-lt"/>
              </a:rPr>
              <a:t>“敏杰”</a:t>
            </a:r>
            <a:r>
              <a:rPr lang="en-US" altLang="zh-CN" sz="2000" dirty="0">
                <a:solidFill>
                  <a:schemeClr val="bg1"/>
                </a:solidFill>
                <a:cs typeface="+mn-ea"/>
                <a:sym typeface="+mn-lt"/>
              </a:rPr>
              <a:t>Ⅲ</a:t>
            </a:r>
            <a:r>
              <a:rPr lang="zh-CN" altLang="en-US" sz="2000" dirty="0">
                <a:solidFill>
                  <a:schemeClr val="bg1"/>
                </a:solidFill>
                <a:cs typeface="+mn-ea"/>
                <a:sym typeface="+mn-lt"/>
              </a:rPr>
              <a:t>级</a:t>
            </a:r>
            <a:endParaRPr lang="zh-CN" altLang="en-US" sz="2000" dirty="0">
              <a:solidFill>
                <a:schemeClr val="bg1"/>
              </a:solidFill>
              <a:cs typeface="+mn-ea"/>
              <a:sym typeface="+mn-lt"/>
            </a:endParaRPr>
          </a:p>
        </p:txBody>
      </p:sp>
      <p:sp>
        <p:nvSpPr>
          <p:cNvPr id="7" name="箭头: 五边形 6"/>
          <p:cNvSpPr/>
          <p:nvPr/>
        </p:nvSpPr>
        <p:spPr>
          <a:xfrm>
            <a:off x="8469085" y="3044520"/>
            <a:ext cx="2769327" cy="600891"/>
          </a:xfrm>
          <a:prstGeom prst="homePlate">
            <a:avLst/>
          </a:prstGeom>
          <a:solidFill>
            <a:srgbClr val="C00000"/>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cs typeface="+mn-ea"/>
                <a:sym typeface="+mn-lt"/>
              </a:rPr>
              <a:t>“敏杰”</a:t>
            </a:r>
            <a:r>
              <a:rPr lang="en-US" altLang="zh-CN" sz="2000" dirty="0">
                <a:solidFill>
                  <a:schemeClr val="bg1"/>
                </a:solidFill>
                <a:cs typeface="+mn-ea"/>
                <a:sym typeface="+mn-lt"/>
              </a:rPr>
              <a:t>Ⅱ</a:t>
            </a:r>
            <a:r>
              <a:rPr lang="zh-CN" altLang="en-US" sz="2000" dirty="0">
                <a:solidFill>
                  <a:schemeClr val="bg1"/>
                </a:solidFill>
                <a:cs typeface="+mn-ea"/>
                <a:sym typeface="+mn-lt"/>
              </a:rPr>
              <a:t>级</a:t>
            </a:r>
            <a:endParaRPr lang="zh-CN" altLang="en-US" sz="2000" dirty="0">
              <a:solidFill>
                <a:schemeClr val="bg1"/>
              </a:solidFill>
              <a:cs typeface="+mn-ea"/>
              <a:sym typeface="+mn-lt"/>
            </a:endParaRPr>
          </a:p>
        </p:txBody>
      </p:sp>
      <p:sp>
        <p:nvSpPr>
          <p:cNvPr id="8" name="箭头: 五边形 7"/>
          <p:cNvSpPr/>
          <p:nvPr/>
        </p:nvSpPr>
        <p:spPr>
          <a:xfrm>
            <a:off x="8469085" y="2107481"/>
            <a:ext cx="2769327" cy="600891"/>
          </a:xfrm>
          <a:prstGeom prst="homePlate">
            <a:avLst/>
          </a:prstGeom>
          <a:solidFill>
            <a:srgbClr val="C00000"/>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cs typeface="+mn-ea"/>
                <a:sym typeface="+mn-lt"/>
              </a:rPr>
              <a:t>“敏杰”</a:t>
            </a:r>
            <a:r>
              <a:rPr lang="en-US" altLang="zh-CN" sz="2000" dirty="0">
                <a:solidFill>
                  <a:schemeClr val="bg1"/>
                </a:solidFill>
                <a:cs typeface="+mn-ea"/>
                <a:sym typeface="+mn-lt"/>
              </a:rPr>
              <a:t>Ⅰ</a:t>
            </a:r>
            <a:r>
              <a:rPr lang="zh-CN" altLang="en-US" sz="2000" dirty="0">
                <a:solidFill>
                  <a:schemeClr val="bg1"/>
                </a:solidFill>
                <a:cs typeface="+mn-ea"/>
                <a:sym typeface="+mn-lt"/>
              </a:rPr>
              <a:t>级</a:t>
            </a:r>
            <a:endParaRPr lang="zh-CN" altLang="en-US" sz="2000" dirty="0">
              <a:solidFill>
                <a:schemeClr val="bg1"/>
              </a:solidFill>
              <a:cs typeface="+mn-ea"/>
              <a:sym typeface="+mn-lt"/>
            </a:endParaRPr>
          </a:p>
        </p:txBody>
      </p:sp>
      <p:sp>
        <p:nvSpPr>
          <p:cNvPr id="9" name="文本框 8"/>
          <p:cNvSpPr txBox="1"/>
          <p:nvPr/>
        </p:nvSpPr>
        <p:spPr>
          <a:xfrm>
            <a:off x="3572493" y="2149210"/>
            <a:ext cx="4952670" cy="346981"/>
          </a:xfrm>
          <a:prstGeom prst="rect">
            <a:avLst/>
          </a:prstGeom>
          <a:noFill/>
        </p:spPr>
        <p:txBody>
          <a:bodyPr wrap="square" rtlCol="0">
            <a:spAutoFit/>
          </a:bodyPr>
          <a:lstStyle/>
          <a:p>
            <a:pPr marL="285750" indent="-285750">
              <a:buFont typeface="Wingdings" panose="05000000000000000000" pitchFamily="2" charset="2"/>
              <a:buChar char="l"/>
            </a:pPr>
            <a:r>
              <a:rPr lang="zh-CN" altLang="en-US" sz="1600" dirty="0">
                <a:latin typeface="+mn-lt"/>
                <a:ea typeface="+mn-ea"/>
                <a:cs typeface="+mn-ea"/>
                <a:sym typeface="+mn-lt"/>
              </a:rPr>
              <a:t>链接领导力模型和领导力学习地图</a:t>
            </a:r>
            <a:endParaRPr lang="zh-CN" altLang="en-US" sz="1600" dirty="0">
              <a:latin typeface="+mn-lt"/>
              <a:ea typeface="+mn-ea"/>
              <a:cs typeface="+mn-ea"/>
              <a:sym typeface="+mn-lt"/>
            </a:endParaRPr>
          </a:p>
        </p:txBody>
      </p:sp>
      <p:sp>
        <p:nvSpPr>
          <p:cNvPr id="10" name="文本框 9"/>
          <p:cNvSpPr txBox="1"/>
          <p:nvPr/>
        </p:nvSpPr>
        <p:spPr>
          <a:xfrm>
            <a:off x="3572494" y="2767092"/>
            <a:ext cx="4249333" cy="58477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600" dirty="0">
                <a:latin typeface="+mn-lt"/>
                <a:ea typeface="+mn-ea"/>
                <a:cs typeface="+mn-ea"/>
                <a:sym typeface="+mn-lt"/>
              </a:rPr>
              <a:t>强化“变革”主题，强化“敏捷”文化，打造中银品牌领导力项目（参考</a:t>
            </a:r>
            <a:r>
              <a:rPr lang="en-US" altLang="zh-CN" sz="1600" dirty="0">
                <a:latin typeface="+mn-lt"/>
                <a:ea typeface="+mn-ea"/>
                <a:cs typeface="+mn-ea"/>
                <a:sym typeface="+mn-lt"/>
              </a:rPr>
              <a:t>LIG</a:t>
            </a:r>
            <a:r>
              <a:rPr lang="zh-CN" altLang="en-US" sz="1600" dirty="0">
                <a:latin typeface="+mn-lt"/>
                <a:ea typeface="+mn-ea"/>
                <a:cs typeface="+mn-ea"/>
                <a:sym typeface="+mn-lt"/>
              </a:rPr>
              <a:t>项目）</a:t>
            </a:r>
            <a:endParaRPr lang="zh-CN" altLang="en-US" sz="1600" dirty="0">
              <a:latin typeface="+mn-lt"/>
              <a:ea typeface="+mn-ea"/>
              <a:cs typeface="+mn-ea"/>
              <a:sym typeface="+mn-lt"/>
            </a:endParaRPr>
          </a:p>
        </p:txBody>
      </p:sp>
      <p:sp>
        <p:nvSpPr>
          <p:cNvPr id="12" name="文本框 11"/>
          <p:cNvSpPr txBox="1"/>
          <p:nvPr/>
        </p:nvSpPr>
        <p:spPr>
          <a:xfrm>
            <a:off x="3572493" y="3372151"/>
            <a:ext cx="4150480" cy="58477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600" dirty="0">
                <a:latin typeface="+mn-lt"/>
                <a:ea typeface="+mn-ea"/>
                <a:cs typeface="+mn-ea"/>
                <a:sym typeface="+mn-lt"/>
              </a:rPr>
              <a:t>梳理优化项目实施管理机制，保障覆盖群体的培训到达率</a:t>
            </a:r>
            <a:endParaRPr lang="zh-CN" altLang="en-US" sz="1600" dirty="0">
              <a:latin typeface="+mn-lt"/>
              <a:ea typeface="+mn-ea"/>
              <a:cs typeface="+mn-ea"/>
              <a:sym typeface="+mn-lt"/>
            </a:endParaRPr>
          </a:p>
        </p:txBody>
      </p:sp>
      <p:sp>
        <p:nvSpPr>
          <p:cNvPr id="13" name="文本框 12"/>
          <p:cNvSpPr txBox="1"/>
          <p:nvPr/>
        </p:nvSpPr>
        <p:spPr>
          <a:xfrm>
            <a:off x="3572492" y="4148049"/>
            <a:ext cx="4367175" cy="58477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600" dirty="0">
                <a:latin typeface="+mn-lt"/>
                <a:ea typeface="+mn-ea"/>
                <a:cs typeface="+mn-ea"/>
                <a:sym typeface="+mn-lt"/>
              </a:rPr>
              <a:t>做好核心课程的更新迭代和课程的内化，打造品牌课程，认证内部讲师</a:t>
            </a:r>
            <a:endParaRPr lang="zh-CN" altLang="en-US" sz="1600" dirty="0">
              <a:latin typeface="+mn-lt"/>
              <a:ea typeface="+mn-ea"/>
              <a:cs typeface="+mn-ea"/>
              <a:sym typeface="+mn-lt"/>
            </a:endParaRPr>
          </a:p>
        </p:txBody>
      </p:sp>
      <p:sp>
        <p:nvSpPr>
          <p:cNvPr id="15"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
        <p:nvSpPr>
          <p:cNvPr id="16" name="文本框 15"/>
          <p:cNvSpPr txBox="1"/>
          <p:nvPr/>
        </p:nvSpPr>
        <p:spPr>
          <a:xfrm>
            <a:off x="3554003" y="4923947"/>
            <a:ext cx="4385664" cy="584775"/>
          </a:xfrm>
          <a:prstGeom prst="rect">
            <a:avLst/>
          </a:prstGeom>
          <a:noFill/>
        </p:spPr>
        <p:txBody>
          <a:bodyPr wrap="square" rtlCol="0">
            <a:spAutoFit/>
          </a:bodyPr>
          <a:lstStyle/>
          <a:p>
            <a:pPr marL="285750" indent="-285750">
              <a:buFont typeface="Wingdings" panose="05000000000000000000" pitchFamily="2" charset="2"/>
              <a:buChar char="l"/>
            </a:pPr>
            <a:r>
              <a:rPr lang="zh-CN" altLang="en-US" sz="1600" dirty="0">
                <a:solidFill>
                  <a:srgbClr val="FF0000"/>
                </a:solidFill>
                <a:latin typeface="+mn-lt"/>
                <a:ea typeface="+mn-ea"/>
                <a:cs typeface="+mn-ea"/>
                <a:sym typeface="+mn-lt"/>
              </a:rPr>
              <a:t>同步进行中银管理经验和方法的萃取、提炼与传承，推出管理者访谈“中银视角”直播</a:t>
            </a:r>
            <a:endParaRPr lang="zh-CN" altLang="en-US" sz="1600" dirty="0">
              <a:solidFill>
                <a:srgbClr val="FF0000"/>
              </a:solidFill>
              <a:latin typeface="+mn-lt"/>
              <a:ea typeface="+mn-ea"/>
              <a:cs typeface="+mn-ea"/>
              <a:sym typeface="+mn-l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95325" y="220603"/>
            <a:ext cx="9252877"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lang="en-US" altLang="zh-CN" sz="2000" dirty="0">
                <a:cs typeface="+mn-ea"/>
                <a:sym typeface="+mn-lt"/>
              </a:rPr>
              <a:t>5</a:t>
            </a:r>
            <a:r>
              <a:rPr lang="zh-CN" altLang="en-US" sz="2000" dirty="0">
                <a:cs typeface="+mn-ea"/>
                <a:sym typeface="+mn-lt"/>
              </a:rPr>
              <a:t>、聚焦集团战略重点人才，实施数字化、全球化人才锻造工程</a:t>
            </a:r>
            <a:endParaRPr lang="zh-CN" altLang="en-US" sz="2000" dirty="0">
              <a:cs typeface="+mn-ea"/>
              <a:sym typeface="+mn-lt"/>
            </a:endParaRPr>
          </a:p>
        </p:txBody>
      </p:sp>
      <p:grpSp>
        <p:nvGrpSpPr>
          <p:cNvPr id="2" name="组合 4"/>
          <p:cNvGrpSpPr/>
          <p:nvPr/>
        </p:nvGrpSpPr>
        <p:grpSpPr>
          <a:xfrm>
            <a:off x="596373" y="2845453"/>
            <a:ext cx="4583650" cy="2647821"/>
            <a:chOff x="5857810" y="2727542"/>
            <a:chExt cx="4583650" cy="2647821"/>
          </a:xfrm>
        </p:grpSpPr>
        <p:sp>
          <p:nvSpPr>
            <p:cNvPr id="6" name="矩形 5"/>
            <p:cNvSpPr/>
            <p:nvPr/>
          </p:nvSpPr>
          <p:spPr>
            <a:xfrm>
              <a:off x="5857810" y="2727542"/>
              <a:ext cx="4583650" cy="2647821"/>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文本框 6"/>
            <p:cNvSpPr txBox="1"/>
            <p:nvPr/>
          </p:nvSpPr>
          <p:spPr>
            <a:xfrm>
              <a:off x="6166487" y="2988878"/>
              <a:ext cx="3966296" cy="1987339"/>
            </a:xfrm>
            <a:prstGeom prst="rect">
              <a:avLst/>
            </a:prstGeom>
            <a:noFill/>
          </p:spPr>
          <p:txBody>
            <a:bodyPr wrap="square">
              <a:spAutoFit/>
            </a:bodyPr>
            <a:lstStyle/>
            <a:p>
              <a:pPr marL="285750" indent="-285750">
                <a:lnSpc>
                  <a:spcPct val="200000"/>
                </a:lnSpc>
                <a:buFont typeface="Arial" panose="020B0604020202090204" pitchFamily="34" charset="0"/>
                <a:buChar char="•"/>
              </a:pPr>
              <a:r>
                <a:rPr lang="zh-CN" altLang="zh-CN" sz="1600" kern="100" dirty="0">
                  <a:effectLst/>
                  <a:latin typeface="+mn-lt"/>
                  <a:ea typeface="+mn-ea"/>
                  <a:cs typeface="+mn-ea"/>
                  <a:sym typeface="+mn-lt"/>
                </a:rPr>
                <a:t>培养</a:t>
              </a:r>
              <a:r>
                <a:rPr lang="en-US" altLang="zh-CN" sz="1600" kern="100" dirty="0">
                  <a:effectLst/>
                  <a:latin typeface="+mn-lt"/>
                  <a:ea typeface="+mn-ea"/>
                  <a:cs typeface="+mn-ea"/>
                  <a:sym typeface="+mn-lt"/>
                </a:rPr>
                <a:t>1000</a:t>
              </a:r>
              <a:r>
                <a:rPr lang="zh-CN" altLang="zh-CN" sz="1600" kern="100" dirty="0">
                  <a:effectLst/>
                  <a:latin typeface="+mn-lt"/>
                  <a:ea typeface="+mn-ea"/>
                  <a:cs typeface="+mn-ea"/>
                  <a:sym typeface="+mn-lt"/>
                </a:rPr>
                <a:t>名高端金融科技科学家</a:t>
              </a:r>
              <a:endParaRPr lang="en-US" altLang="zh-CN" sz="1600" kern="100" dirty="0">
                <a:effectLst/>
                <a:latin typeface="+mn-lt"/>
                <a:ea typeface="+mn-ea"/>
                <a:cs typeface="+mn-ea"/>
                <a:sym typeface="+mn-lt"/>
              </a:endParaRPr>
            </a:p>
            <a:p>
              <a:pPr marL="285750" indent="-285750">
                <a:lnSpc>
                  <a:spcPct val="200000"/>
                </a:lnSpc>
                <a:buFont typeface="Arial" panose="020B0604020202090204" pitchFamily="34" charset="0"/>
                <a:buChar char="•"/>
              </a:pPr>
              <a:r>
                <a:rPr lang="en-US" altLang="zh-CN" sz="1600" kern="100" dirty="0">
                  <a:effectLst/>
                  <a:latin typeface="+mn-lt"/>
                  <a:ea typeface="+mn-ea"/>
                  <a:cs typeface="+mn-ea"/>
                  <a:sym typeface="+mn-lt"/>
                </a:rPr>
                <a:t>2</a:t>
              </a:r>
              <a:r>
                <a:rPr lang="zh-CN" altLang="zh-CN" sz="1600" kern="100" dirty="0">
                  <a:effectLst/>
                  <a:latin typeface="+mn-lt"/>
                  <a:ea typeface="+mn-ea"/>
                  <a:cs typeface="+mn-ea"/>
                  <a:sym typeface="+mn-lt"/>
                </a:rPr>
                <a:t>万名专职科技人才队伍</a:t>
              </a:r>
              <a:endParaRPr lang="en-US" altLang="zh-CN" sz="1600" kern="100" dirty="0">
                <a:effectLst/>
                <a:latin typeface="+mn-lt"/>
                <a:ea typeface="+mn-ea"/>
                <a:cs typeface="+mn-ea"/>
                <a:sym typeface="+mn-lt"/>
              </a:endParaRPr>
            </a:p>
            <a:p>
              <a:pPr marL="285750" indent="-285750">
                <a:lnSpc>
                  <a:spcPct val="200000"/>
                </a:lnSpc>
                <a:buFont typeface="Arial" panose="020B0604020202090204" pitchFamily="34" charset="0"/>
                <a:buChar char="•"/>
              </a:pPr>
              <a:r>
                <a:rPr lang="en-US" altLang="zh-CN" sz="1600" kern="100" dirty="0">
                  <a:effectLst/>
                  <a:latin typeface="+mn-lt"/>
                  <a:ea typeface="+mn-ea"/>
                  <a:cs typeface="+mn-ea"/>
                  <a:sym typeface="+mn-lt"/>
                </a:rPr>
                <a:t>3</a:t>
              </a:r>
              <a:r>
                <a:rPr lang="zh-CN" altLang="zh-CN" sz="1600" kern="100" dirty="0">
                  <a:effectLst/>
                  <a:latin typeface="+mn-lt"/>
                  <a:ea typeface="+mn-ea"/>
                  <a:cs typeface="+mn-ea"/>
                  <a:sym typeface="+mn-lt"/>
                </a:rPr>
                <a:t>万名科技复合型人才队伍</a:t>
              </a:r>
              <a:endParaRPr lang="en-US" altLang="zh-CN" sz="1600" kern="100" dirty="0">
                <a:effectLst/>
                <a:latin typeface="+mn-lt"/>
                <a:ea typeface="+mn-ea"/>
                <a:cs typeface="+mn-ea"/>
                <a:sym typeface="+mn-lt"/>
              </a:endParaRPr>
            </a:p>
            <a:p>
              <a:pPr marL="285750" indent="-285750">
                <a:lnSpc>
                  <a:spcPct val="200000"/>
                </a:lnSpc>
                <a:buFont typeface="Arial" panose="020B0604020202090204" pitchFamily="34" charset="0"/>
                <a:buChar char="•"/>
              </a:pPr>
              <a:r>
                <a:rPr lang="zh-CN" altLang="zh-CN" sz="1600" kern="100" dirty="0">
                  <a:effectLst/>
                  <a:latin typeface="+mn-lt"/>
                  <a:ea typeface="+mn-ea"/>
                  <a:cs typeface="+mn-ea"/>
                  <a:sym typeface="+mn-lt"/>
                </a:rPr>
                <a:t>全员数字化专题培训覆盖率达到</a:t>
              </a:r>
              <a:r>
                <a:rPr lang="en-US" altLang="zh-CN" sz="1600" kern="100" dirty="0">
                  <a:effectLst/>
                  <a:latin typeface="+mn-lt"/>
                  <a:ea typeface="+mn-ea"/>
                  <a:cs typeface="+mn-ea"/>
                  <a:sym typeface="+mn-lt"/>
                </a:rPr>
                <a:t>100%</a:t>
              </a:r>
              <a:endParaRPr lang="zh-CN" altLang="en-US" sz="1200" dirty="0">
                <a:latin typeface="+mn-lt"/>
                <a:ea typeface="+mn-ea"/>
                <a:cs typeface="+mn-ea"/>
                <a:sym typeface="+mn-lt"/>
              </a:endParaRPr>
            </a:p>
          </p:txBody>
        </p:sp>
      </p:grpSp>
      <p:sp>
        <p:nvSpPr>
          <p:cNvPr id="8" name="灯片编号占位符 1"/>
          <p:cNvSpPr txBox="1"/>
          <p:nvPr/>
        </p:nvSpPr>
        <p:spPr>
          <a:xfrm>
            <a:off x="9535135" y="6509984"/>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
        <p:nvSpPr>
          <p:cNvPr id="9" name="矩形 8"/>
          <p:cNvSpPr/>
          <p:nvPr/>
        </p:nvSpPr>
        <p:spPr>
          <a:xfrm>
            <a:off x="6683061" y="5350012"/>
            <a:ext cx="3267077" cy="58448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cs typeface="+mn-ea"/>
                <a:sym typeface="+mn-lt"/>
              </a:rPr>
              <a:t>全员数字化专项培训体系</a:t>
            </a:r>
            <a:endParaRPr lang="zh-CN" altLang="en-US" sz="1800" dirty="0">
              <a:cs typeface="+mn-ea"/>
              <a:sym typeface="+mn-lt"/>
            </a:endParaRPr>
          </a:p>
        </p:txBody>
      </p:sp>
      <p:sp>
        <p:nvSpPr>
          <p:cNvPr id="13" name="矩形 12"/>
          <p:cNvSpPr/>
          <p:nvPr/>
        </p:nvSpPr>
        <p:spPr>
          <a:xfrm>
            <a:off x="6683060" y="1552297"/>
            <a:ext cx="3267077" cy="4316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cs typeface="+mn-ea"/>
                <a:sym typeface="+mn-lt"/>
              </a:rPr>
              <a:t>金融科技科学家队伍</a:t>
            </a:r>
            <a:endParaRPr lang="zh-CN" altLang="en-US" sz="1800" dirty="0">
              <a:cs typeface="+mn-ea"/>
              <a:sym typeface="+mn-lt"/>
            </a:endParaRPr>
          </a:p>
        </p:txBody>
      </p:sp>
      <p:sp>
        <p:nvSpPr>
          <p:cNvPr id="15" name="文本框 14"/>
          <p:cNvSpPr txBox="1"/>
          <p:nvPr/>
        </p:nvSpPr>
        <p:spPr>
          <a:xfrm>
            <a:off x="591901" y="1279166"/>
            <a:ext cx="5525540" cy="1200329"/>
          </a:xfrm>
          <a:prstGeom prst="rect">
            <a:avLst/>
          </a:prstGeom>
          <a:noFill/>
        </p:spPr>
        <p:txBody>
          <a:bodyPr wrap="square" rtlCol="0">
            <a:spAutoFit/>
          </a:bodyPr>
          <a:lstStyle/>
          <a:p>
            <a:r>
              <a:rPr kumimoji="1" lang="zh-CN" altLang="en-US" sz="1800" dirty="0">
                <a:latin typeface="+mn-ea"/>
                <a:ea typeface="+mn-ea"/>
                <a:cs typeface="+mn-ea"/>
                <a:sym typeface="+mn-lt"/>
              </a:rPr>
              <a:t>重点一、实施数字化人才工程，开展“千万万工程”</a:t>
            </a:r>
            <a:endParaRPr kumimoji="1" lang="en-US" altLang="zh-CN" sz="1800" dirty="0">
              <a:latin typeface="+mn-ea"/>
              <a:ea typeface="+mn-ea"/>
              <a:cs typeface="+mn-ea"/>
              <a:sym typeface="+mn-lt"/>
            </a:endParaRPr>
          </a:p>
          <a:p>
            <a:r>
              <a:rPr kumimoji="1" lang="zh-CN" altLang="en-US" sz="1800" dirty="0">
                <a:latin typeface="+mn-ea"/>
                <a:ea typeface="+mn-ea"/>
              </a:rPr>
              <a:t>目标与原则：</a:t>
            </a:r>
            <a:endParaRPr kumimoji="1" lang="en-US" altLang="zh-CN" sz="1800" dirty="0">
              <a:latin typeface="+mn-ea"/>
              <a:ea typeface="+mn-ea"/>
            </a:endParaRPr>
          </a:p>
          <a:p>
            <a:r>
              <a:rPr kumimoji="1" lang="zh-CN" altLang="en-US" sz="1800" dirty="0">
                <a:latin typeface="+mn-ea"/>
                <a:ea typeface="+mn-ea"/>
              </a:rPr>
              <a:t>培养既懂业务又懂科技的复合型人才，同时加大优秀科技人才引进力度，配套市场化薪酬与激励机制。</a:t>
            </a:r>
            <a:endParaRPr kumimoji="1" lang="zh-CN" altLang="en-US" sz="1800" dirty="0">
              <a:latin typeface="+mn-ea"/>
              <a:ea typeface="+mn-ea"/>
            </a:endParaRPr>
          </a:p>
        </p:txBody>
      </p:sp>
      <p:sp>
        <p:nvSpPr>
          <p:cNvPr id="16" name="矩形 15"/>
          <p:cNvSpPr/>
          <p:nvPr/>
        </p:nvSpPr>
        <p:spPr>
          <a:xfrm>
            <a:off x="7034031" y="2061874"/>
            <a:ext cx="366679" cy="2062103"/>
          </a:xfrm>
          <a:prstGeom prst="rect">
            <a:avLst/>
          </a:prstGeom>
        </p:spPr>
        <p:txBody>
          <a:bodyPr wrap="square">
            <a:spAutoFit/>
          </a:bodyPr>
          <a:lstStyle/>
          <a:p>
            <a:pPr algn="ctr"/>
            <a:r>
              <a:rPr lang="zh-CN" altLang="en-US" sz="1600" dirty="0">
                <a:cs typeface="+mn-ea"/>
                <a:sym typeface="+mn-lt"/>
              </a:rPr>
              <a:t>科技专业人才队伍</a:t>
            </a:r>
            <a:endParaRPr lang="zh-CN" altLang="en-US" sz="1600" dirty="0">
              <a:cs typeface="+mn-ea"/>
              <a:sym typeface="+mn-lt"/>
            </a:endParaRPr>
          </a:p>
        </p:txBody>
      </p:sp>
      <p:sp>
        <p:nvSpPr>
          <p:cNvPr id="17" name="矩形 16"/>
          <p:cNvSpPr/>
          <p:nvPr/>
        </p:nvSpPr>
        <p:spPr>
          <a:xfrm>
            <a:off x="9141469" y="2061874"/>
            <a:ext cx="495184" cy="2062103"/>
          </a:xfrm>
          <a:prstGeom prst="rect">
            <a:avLst/>
          </a:prstGeom>
        </p:spPr>
        <p:txBody>
          <a:bodyPr wrap="square">
            <a:spAutoFit/>
          </a:bodyPr>
          <a:lstStyle/>
          <a:p>
            <a:pPr algn="ctr"/>
            <a:r>
              <a:rPr lang="zh-CN" altLang="en-US" sz="1600" dirty="0">
                <a:cs typeface="+mn-ea"/>
                <a:sym typeface="+mn-lt"/>
              </a:rPr>
              <a:t>科技复合人才队伍</a:t>
            </a:r>
            <a:endParaRPr lang="zh-CN" altLang="en-US" sz="1600" dirty="0">
              <a:cs typeface="+mn-ea"/>
              <a:sym typeface="+mn-lt"/>
            </a:endParaRPr>
          </a:p>
        </p:txBody>
      </p:sp>
      <p:grpSp>
        <p:nvGrpSpPr>
          <p:cNvPr id="4" name="组合 18"/>
          <p:cNvGrpSpPr/>
          <p:nvPr/>
        </p:nvGrpSpPr>
        <p:grpSpPr>
          <a:xfrm>
            <a:off x="7412371" y="1983957"/>
            <a:ext cx="785564" cy="3494821"/>
            <a:chOff x="7809708" y="3070784"/>
            <a:chExt cx="785564" cy="3494821"/>
          </a:xfrm>
        </p:grpSpPr>
        <p:sp>
          <p:nvSpPr>
            <p:cNvPr id="10" name="矩形 9"/>
            <p:cNvSpPr/>
            <p:nvPr/>
          </p:nvSpPr>
          <p:spPr>
            <a:xfrm>
              <a:off x="7822292" y="3070784"/>
              <a:ext cx="135459" cy="227926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cs typeface="+mn-ea"/>
                <a:sym typeface="+mn-lt"/>
              </a:endParaRPr>
            </a:p>
          </p:txBody>
        </p:sp>
        <p:sp>
          <p:nvSpPr>
            <p:cNvPr id="18" name="矩形 17"/>
            <p:cNvSpPr/>
            <p:nvPr/>
          </p:nvSpPr>
          <p:spPr>
            <a:xfrm rot="17936791">
              <a:off x="8105101" y="5122319"/>
              <a:ext cx="135459" cy="72624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cs typeface="+mn-ea"/>
                <a:sym typeface="+mn-lt"/>
              </a:endParaRPr>
            </a:p>
          </p:txBody>
        </p:sp>
        <p:sp>
          <p:nvSpPr>
            <p:cNvPr id="23" name="矩形 22"/>
            <p:cNvSpPr/>
            <p:nvPr/>
          </p:nvSpPr>
          <p:spPr>
            <a:xfrm>
              <a:off x="8459813" y="5598973"/>
              <a:ext cx="135459" cy="9666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cs typeface="+mn-ea"/>
                <a:sym typeface="+mn-lt"/>
              </a:endParaRPr>
            </a:p>
          </p:txBody>
        </p:sp>
      </p:grpSp>
      <p:grpSp>
        <p:nvGrpSpPr>
          <p:cNvPr id="5" name="组合 19"/>
          <p:cNvGrpSpPr/>
          <p:nvPr/>
        </p:nvGrpSpPr>
        <p:grpSpPr>
          <a:xfrm flipH="1">
            <a:off x="8427808" y="1983957"/>
            <a:ext cx="726245" cy="2482387"/>
            <a:chOff x="7809708" y="3070784"/>
            <a:chExt cx="726245" cy="2482387"/>
          </a:xfrm>
        </p:grpSpPr>
        <p:sp>
          <p:nvSpPr>
            <p:cNvPr id="21" name="矩形 20"/>
            <p:cNvSpPr/>
            <p:nvPr/>
          </p:nvSpPr>
          <p:spPr>
            <a:xfrm>
              <a:off x="7822292" y="3070784"/>
              <a:ext cx="135459" cy="227926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cs typeface="+mn-ea"/>
                <a:sym typeface="+mn-lt"/>
              </a:endParaRPr>
            </a:p>
          </p:txBody>
        </p:sp>
        <p:sp>
          <p:nvSpPr>
            <p:cNvPr id="22" name="矩形 21"/>
            <p:cNvSpPr/>
            <p:nvPr/>
          </p:nvSpPr>
          <p:spPr>
            <a:xfrm rot="17936791">
              <a:off x="8105101" y="5122319"/>
              <a:ext cx="135459" cy="72624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cs typeface="+mn-ea"/>
                <a:sym typeface="+mn-lt"/>
              </a:endParaRPr>
            </a:p>
          </p:txBody>
        </p:sp>
      </p:grpSp>
      <p:sp>
        <p:nvSpPr>
          <p:cNvPr id="24" name="矩形 23"/>
          <p:cNvSpPr/>
          <p:nvPr/>
        </p:nvSpPr>
        <p:spPr>
          <a:xfrm>
            <a:off x="8414980" y="4512146"/>
            <a:ext cx="135459" cy="9666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cs typeface="+mn-ea"/>
              <a:sym typeface="+mn-lt"/>
            </a:endParaRPr>
          </a:p>
        </p:txBody>
      </p:sp>
      <p:sp>
        <p:nvSpPr>
          <p:cNvPr id="27" name="左右箭头 26"/>
          <p:cNvSpPr/>
          <p:nvPr/>
        </p:nvSpPr>
        <p:spPr>
          <a:xfrm>
            <a:off x="7940168" y="3601229"/>
            <a:ext cx="724281" cy="213300"/>
          </a:xfrm>
          <a:prstGeom prst="leftRightArrow">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8" name="左右箭头 27"/>
          <p:cNvSpPr/>
          <p:nvPr/>
        </p:nvSpPr>
        <p:spPr>
          <a:xfrm>
            <a:off x="7921071" y="2837244"/>
            <a:ext cx="724281" cy="213300"/>
          </a:xfrm>
          <a:prstGeom prst="leftRightArrow">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29" name="文本框 28"/>
          <p:cNvSpPr txBox="1"/>
          <p:nvPr/>
        </p:nvSpPr>
        <p:spPr>
          <a:xfrm>
            <a:off x="8864797" y="4489295"/>
            <a:ext cx="3183042" cy="830997"/>
          </a:xfrm>
          <a:prstGeom prst="rect">
            <a:avLst/>
          </a:prstGeom>
          <a:noFill/>
        </p:spPr>
        <p:txBody>
          <a:bodyPr wrap="square" rtlCol="0">
            <a:spAutoFit/>
          </a:bodyPr>
          <a:lstStyle/>
          <a:p>
            <a:r>
              <a:rPr kumimoji="1" lang="zh-CN" altLang="en-US" sz="1600" dirty="0">
                <a:latin typeface="宋体" pitchFamily="2" charset="-122"/>
              </a:rPr>
              <a:t>纵向：专才序列与复合序列</a:t>
            </a:r>
            <a:endParaRPr kumimoji="1" lang="en-US" altLang="zh-CN" sz="1600" dirty="0">
              <a:latin typeface="宋体" pitchFamily="2" charset="-122"/>
            </a:endParaRPr>
          </a:p>
          <a:p>
            <a:r>
              <a:rPr kumimoji="1" lang="zh-CN" altLang="en-US" sz="1600" dirty="0">
                <a:latin typeface="宋体" pitchFamily="2" charset="-122"/>
                <a:ea typeface="宋体" pitchFamily="2" charset="-122"/>
              </a:rPr>
              <a:t>横向：打通序列之间的壁垒，建立实习、轮岗、转岗机制</a:t>
            </a:r>
            <a:endParaRPr kumimoji="1" lang="zh-CN" altLang="en-US" sz="1600" dirty="0">
              <a:latin typeface="宋体" pitchFamily="2" charset="-122"/>
              <a:ea typeface="宋体"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95325" y="173261"/>
            <a:ext cx="9252877"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lang="en-US" altLang="zh-CN" sz="2000" dirty="0">
                <a:cs typeface="+mn-ea"/>
                <a:sym typeface="+mn-lt"/>
              </a:rPr>
              <a:t>5</a:t>
            </a:r>
            <a:r>
              <a:rPr lang="zh-CN" altLang="en-US" sz="2000" dirty="0">
                <a:cs typeface="+mn-ea"/>
                <a:sym typeface="+mn-lt"/>
              </a:rPr>
              <a:t>、聚焦集团战略重点人才，实施数字化、全球化人才锻造工程</a:t>
            </a:r>
            <a:endParaRPr lang="zh-CN" altLang="en-US" sz="2000" dirty="0">
              <a:cs typeface="+mn-ea"/>
              <a:sym typeface="+mn-lt"/>
            </a:endParaRPr>
          </a:p>
        </p:txBody>
      </p:sp>
      <p:sp>
        <p:nvSpPr>
          <p:cNvPr id="4" name="文本框 3"/>
          <p:cNvSpPr txBox="1"/>
          <p:nvPr/>
        </p:nvSpPr>
        <p:spPr>
          <a:xfrm>
            <a:off x="739312" y="840661"/>
            <a:ext cx="10624476" cy="923330"/>
          </a:xfrm>
          <a:prstGeom prst="rect">
            <a:avLst/>
          </a:prstGeom>
          <a:noFill/>
        </p:spPr>
        <p:txBody>
          <a:bodyPr wrap="square">
            <a:spAutoFit/>
          </a:bodyPr>
          <a:lstStyle/>
          <a:p>
            <a:r>
              <a:rPr kumimoji="1" lang="zh-CN" altLang="en-US" sz="1800" dirty="0">
                <a:latin typeface="+mn-ea"/>
                <a:ea typeface="+mn-ea"/>
                <a:cs typeface="+mn-ea"/>
                <a:sym typeface="+mn-lt"/>
              </a:rPr>
              <a:t>重点二：实施全球化综合化人才工程，开启 “</a:t>
            </a:r>
            <a:r>
              <a:rPr kumimoji="1" lang="en-US" altLang="zh-CN" sz="1800" dirty="0">
                <a:latin typeface="+mn-ea"/>
                <a:ea typeface="+mn-ea"/>
                <a:cs typeface="+mn-ea"/>
                <a:sym typeface="+mn-lt"/>
              </a:rPr>
              <a:t>7+2”</a:t>
            </a:r>
            <a:r>
              <a:rPr kumimoji="1" lang="zh-CN" altLang="en-US" sz="1800" dirty="0">
                <a:latin typeface="+mn-ea"/>
                <a:ea typeface="+mn-ea"/>
                <a:cs typeface="+mn-ea"/>
                <a:sym typeface="+mn-lt"/>
              </a:rPr>
              <a:t>培训项目</a:t>
            </a:r>
            <a:endParaRPr kumimoji="1" lang="en-US" altLang="zh-CN" sz="1800" dirty="0">
              <a:latin typeface="+mn-ea"/>
              <a:ea typeface="+mn-ea"/>
              <a:cs typeface="+mn-ea"/>
              <a:sym typeface="+mn-lt"/>
            </a:endParaRPr>
          </a:p>
          <a:p>
            <a:pPr marL="285750" indent="-285750">
              <a:buFont typeface="Arial" panose="020B0604020202090204" pitchFamily="34" charset="0"/>
              <a:buChar char="•"/>
            </a:pPr>
            <a:r>
              <a:rPr lang="zh-CN" altLang="zh-CN" sz="1800" b="1" dirty="0">
                <a:effectLst/>
                <a:latin typeface="+mn-lt"/>
                <a:ea typeface="+mn-ea"/>
                <a:cs typeface="+mn-ea"/>
                <a:sym typeface="+mn-lt"/>
              </a:rPr>
              <a:t>人才占比从</a:t>
            </a:r>
            <a:r>
              <a:rPr lang="en-US" altLang="zh-CN" sz="1800" b="1" dirty="0">
                <a:effectLst/>
                <a:latin typeface="+mn-lt"/>
                <a:ea typeface="+mn-ea"/>
                <a:cs typeface="+mn-ea"/>
                <a:sym typeface="+mn-lt"/>
              </a:rPr>
              <a:t>7%</a:t>
            </a:r>
            <a:r>
              <a:rPr lang="zh-CN" altLang="zh-CN" sz="1800" b="1" dirty="0">
                <a:effectLst/>
                <a:latin typeface="+mn-lt"/>
                <a:ea typeface="+mn-ea"/>
                <a:cs typeface="+mn-ea"/>
                <a:sym typeface="+mn-lt"/>
              </a:rPr>
              <a:t>升至</a:t>
            </a:r>
            <a:r>
              <a:rPr lang="en-US" altLang="zh-CN" sz="1800" b="1" dirty="0">
                <a:effectLst/>
                <a:latin typeface="+mn-lt"/>
                <a:ea typeface="+mn-ea"/>
                <a:cs typeface="+mn-ea"/>
                <a:sym typeface="+mn-lt"/>
              </a:rPr>
              <a:t>7.3%</a:t>
            </a:r>
            <a:r>
              <a:rPr lang="zh-CN" altLang="zh-CN" sz="1800" b="1" dirty="0">
                <a:effectLst/>
                <a:latin typeface="+mn-lt"/>
                <a:ea typeface="+mn-ea"/>
                <a:cs typeface="+mn-ea"/>
                <a:sym typeface="+mn-lt"/>
              </a:rPr>
              <a:t>；人才库翻一倍；</a:t>
            </a:r>
            <a:endParaRPr lang="en-US" altLang="zh-CN" sz="1800" b="1" dirty="0">
              <a:effectLst/>
              <a:latin typeface="+mn-lt"/>
              <a:ea typeface="+mn-ea"/>
              <a:cs typeface="+mn-ea"/>
              <a:sym typeface="+mn-lt"/>
            </a:endParaRPr>
          </a:p>
          <a:p>
            <a:pPr marL="285750" indent="-285750">
              <a:buFont typeface="Arial" panose="020B0604020202090204" pitchFamily="34" charset="0"/>
              <a:buChar char="•"/>
            </a:pPr>
            <a:r>
              <a:rPr lang="zh-CN" altLang="zh-CN" sz="1800" b="1" dirty="0">
                <a:effectLst/>
                <a:latin typeface="+mn-lt"/>
                <a:ea typeface="+mn-ea"/>
                <a:cs typeface="+mn-ea"/>
                <a:sym typeface="+mn-lt"/>
              </a:rPr>
              <a:t>境外机构管理层当地人才比例从</a:t>
            </a:r>
            <a:r>
              <a:rPr lang="en-US" altLang="zh-CN" sz="1800" b="1" dirty="0">
                <a:effectLst/>
                <a:latin typeface="+mn-lt"/>
                <a:ea typeface="+mn-ea"/>
                <a:cs typeface="+mn-ea"/>
                <a:sym typeface="+mn-lt"/>
              </a:rPr>
              <a:t>10%</a:t>
            </a:r>
            <a:r>
              <a:rPr lang="zh-CN" altLang="zh-CN" sz="1800" b="1" dirty="0">
                <a:effectLst/>
                <a:latin typeface="+mn-lt"/>
                <a:ea typeface="+mn-ea"/>
                <a:cs typeface="+mn-ea"/>
                <a:sym typeface="+mn-lt"/>
              </a:rPr>
              <a:t>升至</a:t>
            </a:r>
            <a:r>
              <a:rPr lang="en-US" altLang="zh-CN" sz="1800" b="1" dirty="0">
                <a:effectLst/>
                <a:latin typeface="+mn-lt"/>
                <a:ea typeface="+mn-ea"/>
                <a:cs typeface="+mn-ea"/>
                <a:sym typeface="+mn-lt"/>
              </a:rPr>
              <a:t>15%</a:t>
            </a:r>
            <a:r>
              <a:rPr lang="zh-CN" altLang="zh-CN" sz="1800" b="1" dirty="0">
                <a:effectLst/>
                <a:latin typeface="+mn-lt"/>
                <a:ea typeface="+mn-ea"/>
                <a:cs typeface="+mn-ea"/>
                <a:sym typeface="+mn-lt"/>
              </a:rPr>
              <a:t>，境外机构各级均有当地员工</a:t>
            </a:r>
            <a:r>
              <a:rPr lang="zh-CN" altLang="en-US" sz="1800" dirty="0">
                <a:latin typeface="+mn-lt"/>
                <a:ea typeface="+mn-ea"/>
                <a:cs typeface="+mn-ea"/>
                <a:sym typeface="+mn-lt"/>
              </a:rPr>
              <a:t>。</a:t>
            </a:r>
            <a:endParaRPr lang="zh-CN" altLang="en-US" b="1" dirty="0">
              <a:latin typeface="+mn-lt"/>
              <a:ea typeface="+mn-ea"/>
              <a:cs typeface="+mn-ea"/>
              <a:sym typeface="+mn-lt"/>
            </a:endParaRPr>
          </a:p>
        </p:txBody>
      </p:sp>
      <p:graphicFrame>
        <p:nvGraphicFramePr>
          <p:cNvPr id="5" name="表格 4"/>
          <p:cNvGraphicFramePr>
            <a:graphicFrameLocks noGrp="1"/>
          </p:cNvGraphicFramePr>
          <p:nvPr/>
        </p:nvGraphicFramePr>
        <p:xfrm>
          <a:off x="591126" y="2155076"/>
          <a:ext cx="4442691" cy="4072709"/>
        </p:xfrm>
        <a:graphic>
          <a:graphicData uri="http://schemas.openxmlformats.org/drawingml/2006/table">
            <a:tbl>
              <a:tblPr firstRow="1" firstCol="1" bandRow="1">
                <a:tableStyleId>{5C22544A-7EE6-4342-B048-85BDC9FD1C3A}</a:tableStyleId>
              </a:tblPr>
              <a:tblGrid>
                <a:gridCol w="1466959"/>
                <a:gridCol w="2975732"/>
              </a:tblGrid>
              <a:tr h="313285">
                <a:tc>
                  <a:txBody>
                    <a:bodyPr/>
                    <a:lstStyle/>
                    <a:p>
                      <a:pPr algn="ctr"/>
                      <a:r>
                        <a:rPr lang="zh-CN" sz="1600" kern="100" dirty="0">
                          <a:effectLst/>
                          <a:latin typeface="+mn-lt"/>
                          <a:ea typeface="+mn-ea"/>
                          <a:cs typeface="+mn-ea"/>
                          <a:sym typeface="+mn-lt"/>
                        </a:rPr>
                        <a:t>两类群体人员</a:t>
                      </a:r>
                      <a:endParaRPr lang="zh-CN" sz="1600" kern="100" dirty="0">
                        <a:effectLst/>
                        <a:latin typeface="+mn-lt"/>
                        <a:ea typeface="+mn-ea"/>
                        <a:cs typeface="+mn-ea"/>
                        <a:sym typeface="+mn-lt"/>
                      </a:endParaRPr>
                    </a:p>
                  </a:txBody>
                  <a:tcPr marL="68580" marR="68580" marT="0" marB="0" anchor="ctr">
                    <a:solidFill>
                      <a:srgbClr val="C00000"/>
                    </a:solidFill>
                  </a:tcPr>
                </a:tc>
                <a:tc>
                  <a:txBody>
                    <a:bodyPr/>
                    <a:lstStyle/>
                    <a:p>
                      <a:pPr algn="ctr"/>
                      <a:r>
                        <a:rPr lang="zh-CN" sz="1600" kern="100" dirty="0">
                          <a:effectLst/>
                          <a:latin typeface="+mn-lt"/>
                          <a:ea typeface="+mn-ea"/>
                          <a:cs typeface="+mn-ea"/>
                          <a:sym typeface="+mn-lt"/>
                        </a:rPr>
                        <a:t>主要培训内容</a:t>
                      </a:r>
                      <a:endParaRPr lang="zh-CN" sz="1600" kern="100" dirty="0">
                        <a:effectLst/>
                        <a:latin typeface="+mn-lt"/>
                        <a:ea typeface="+mn-ea"/>
                        <a:cs typeface="+mn-ea"/>
                        <a:sym typeface="+mn-lt"/>
                      </a:endParaRPr>
                    </a:p>
                  </a:txBody>
                  <a:tcPr marL="68580" marR="68580" marT="0" marB="0" anchor="ctr">
                    <a:solidFill>
                      <a:srgbClr val="C00000"/>
                    </a:solidFill>
                  </a:tcPr>
                </a:tc>
              </a:tr>
              <a:tr h="2192997">
                <a:tc>
                  <a:txBody>
                    <a:bodyPr/>
                    <a:lstStyle/>
                    <a:p>
                      <a:pPr algn="just"/>
                      <a:r>
                        <a:rPr lang="zh-CN" sz="1400" kern="100" dirty="0">
                          <a:effectLst/>
                          <a:latin typeface="+mn-lt"/>
                          <a:ea typeface="+mn-ea"/>
                          <a:cs typeface="+mn-ea"/>
                          <a:sym typeface="+mn-lt"/>
                        </a:rPr>
                        <a:t>国内派出人员的培训</a:t>
                      </a:r>
                      <a:endParaRPr lang="zh-CN" sz="1050" kern="100" dirty="0">
                        <a:effectLst/>
                        <a:latin typeface="+mn-lt"/>
                        <a:ea typeface="+mn-ea"/>
                        <a:cs typeface="+mn-ea"/>
                        <a:sym typeface="+mn-lt"/>
                      </a:endParaRPr>
                    </a:p>
                  </a:txBody>
                  <a:tcPr marL="68580" marR="68580" marT="0" marB="0" anchor="ctr">
                    <a:solidFill>
                      <a:srgbClr val="C00000"/>
                    </a:solidFill>
                  </a:tcPr>
                </a:tc>
                <a:tc>
                  <a:txBody>
                    <a:bodyPr/>
                    <a:lstStyle/>
                    <a:p>
                      <a:pPr algn="just"/>
                      <a:r>
                        <a:rPr lang="zh-CN" sz="1400" kern="100" dirty="0">
                          <a:effectLst/>
                          <a:latin typeface="+mn-lt"/>
                          <a:ea typeface="+mn-ea"/>
                          <a:cs typeface="+mn-ea"/>
                          <a:sym typeface="+mn-lt"/>
                        </a:rPr>
                        <a:t>聚焦：全球市场、机构、高端金融等主题。包括境外国家和机构现状与发展历史介绍相关培训课程。</a:t>
                      </a:r>
                      <a:endParaRPr lang="zh-CN" sz="1050" kern="100" dirty="0">
                        <a:effectLst/>
                        <a:latin typeface="+mn-lt"/>
                        <a:ea typeface="+mn-ea"/>
                        <a:cs typeface="+mn-ea"/>
                        <a:sym typeface="+mn-lt"/>
                      </a:endParaRPr>
                    </a:p>
                    <a:p>
                      <a:pPr algn="just"/>
                      <a:r>
                        <a:rPr lang="zh-CN" sz="1400" kern="100" dirty="0">
                          <a:effectLst/>
                          <a:latin typeface="+mn-lt"/>
                          <a:ea typeface="+mn-ea"/>
                          <a:cs typeface="+mn-ea"/>
                          <a:sym typeface="+mn-lt"/>
                        </a:rPr>
                        <a:t>到剑桥牛津等大学进行跟班学习。采取培训</a:t>
                      </a:r>
                      <a:r>
                        <a:rPr lang="en-US" sz="1400" kern="100" dirty="0">
                          <a:effectLst/>
                          <a:latin typeface="+mn-lt"/>
                          <a:ea typeface="+mn-ea"/>
                          <a:cs typeface="+mn-ea"/>
                          <a:sym typeface="+mn-lt"/>
                        </a:rPr>
                        <a:t>+</a:t>
                      </a:r>
                      <a:r>
                        <a:rPr lang="zh-CN" sz="1400" kern="100" dirty="0">
                          <a:effectLst/>
                          <a:latin typeface="+mn-lt"/>
                          <a:ea typeface="+mn-ea"/>
                          <a:cs typeface="+mn-ea"/>
                          <a:sym typeface="+mn-lt"/>
                        </a:rPr>
                        <a:t>岗位实习</a:t>
                      </a:r>
                      <a:r>
                        <a:rPr lang="en-US" sz="1400" kern="100" dirty="0">
                          <a:effectLst/>
                          <a:latin typeface="+mn-lt"/>
                          <a:ea typeface="+mn-ea"/>
                          <a:cs typeface="+mn-ea"/>
                          <a:sym typeface="+mn-lt"/>
                        </a:rPr>
                        <a:t>+</a:t>
                      </a:r>
                      <a:r>
                        <a:rPr lang="zh-CN" sz="1400" kern="100" dirty="0">
                          <a:effectLst/>
                          <a:latin typeface="+mn-lt"/>
                          <a:ea typeface="+mn-ea"/>
                          <a:cs typeface="+mn-ea"/>
                          <a:sym typeface="+mn-lt"/>
                        </a:rPr>
                        <a:t>进修的混合培训模式。</a:t>
                      </a:r>
                      <a:endParaRPr lang="zh-CN" sz="1050" kern="100" dirty="0">
                        <a:effectLst/>
                        <a:latin typeface="+mn-lt"/>
                        <a:ea typeface="+mn-ea"/>
                        <a:cs typeface="+mn-ea"/>
                        <a:sym typeface="+mn-lt"/>
                      </a:endParaRPr>
                    </a:p>
                  </a:txBody>
                  <a:tcPr marL="68580" marR="68580" marT="0" marB="0" anchor="ctr">
                    <a:solidFill>
                      <a:schemeClr val="accent2">
                        <a:lumMod val="20000"/>
                        <a:lumOff val="80000"/>
                      </a:schemeClr>
                    </a:solidFill>
                  </a:tcPr>
                </a:tc>
              </a:tr>
              <a:tr h="1566427">
                <a:tc>
                  <a:txBody>
                    <a:bodyPr/>
                    <a:lstStyle/>
                    <a:p>
                      <a:pPr algn="just"/>
                      <a:r>
                        <a:rPr lang="zh-CN" sz="1400" kern="100" dirty="0">
                          <a:effectLst/>
                          <a:latin typeface="+mn-lt"/>
                          <a:ea typeface="+mn-ea"/>
                          <a:cs typeface="+mn-ea"/>
                          <a:sym typeface="+mn-lt"/>
                        </a:rPr>
                        <a:t>全行员工</a:t>
                      </a:r>
                      <a:endParaRPr lang="zh-CN" sz="1050" kern="100" dirty="0">
                        <a:effectLst/>
                        <a:latin typeface="+mn-lt"/>
                        <a:ea typeface="+mn-ea"/>
                        <a:cs typeface="+mn-ea"/>
                        <a:sym typeface="+mn-lt"/>
                      </a:endParaRPr>
                    </a:p>
                  </a:txBody>
                  <a:tcPr marL="68580" marR="68580" marT="0" marB="0" anchor="ctr">
                    <a:solidFill>
                      <a:srgbClr val="C00000"/>
                    </a:solidFill>
                  </a:tcPr>
                </a:tc>
                <a:tc>
                  <a:txBody>
                    <a:bodyPr/>
                    <a:lstStyle/>
                    <a:p>
                      <a:pPr algn="just"/>
                      <a:r>
                        <a:rPr lang="zh-CN" sz="1400" kern="100" dirty="0">
                          <a:effectLst/>
                          <a:latin typeface="+mn-lt"/>
                          <a:ea typeface="+mn-ea"/>
                          <a:cs typeface="+mn-ea"/>
                          <a:sym typeface="+mn-lt"/>
                        </a:rPr>
                        <a:t>通过对国际化的素质，进行基本的培训。普及覆盖语言、国际规范、一带一路、全球化态势和发展要求等内容培训，建立国际化的优势。</a:t>
                      </a:r>
                      <a:endParaRPr lang="zh-CN" sz="1050" kern="100" dirty="0">
                        <a:effectLst/>
                        <a:latin typeface="+mn-lt"/>
                        <a:ea typeface="+mn-ea"/>
                        <a:cs typeface="+mn-ea"/>
                        <a:sym typeface="+mn-lt"/>
                      </a:endParaRPr>
                    </a:p>
                  </a:txBody>
                  <a:tcPr marL="68580" marR="68580" marT="0" marB="0" anchor="ctr">
                    <a:solidFill>
                      <a:schemeClr val="bg1">
                        <a:lumMod val="95000"/>
                      </a:schemeClr>
                    </a:solidFill>
                  </a:tcPr>
                </a:tc>
              </a:tr>
            </a:tbl>
          </a:graphicData>
        </a:graphic>
      </p:graphicFrame>
      <p:graphicFrame>
        <p:nvGraphicFramePr>
          <p:cNvPr id="6" name="表格 5"/>
          <p:cNvGraphicFramePr>
            <a:graphicFrameLocks noGrp="1"/>
          </p:cNvGraphicFramePr>
          <p:nvPr/>
        </p:nvGraphicFramePr>
        <p:xfrm>
          <a:off x="5098473" y="2155076"/>
          <a:ext cx="6344590" cy="4072710"/>
        </p:xfrm>
        <a:graphic>
          <a:graphicData uri="http://schemas.openxmlformats.org/drawingml/2006/table">
            <a:tbl>
              <a:tblPr firstRow="1" firstCol="1" bandRow="1">
                <a:tableStyleId>{5C22544A-7EE6-4342-B048-85BDC9FD1C3A}</a:tableStyleId>
              </a:tblPr>
              <a:tblGrid>
                <a:gridCol w="2145099"/>
                <a:gridCol w="4199491"/>
              </a:tblGrid>
              <a:tr h="364599">
                <a:tc>
                  <a:txBody>
                    <a:bodyPr/>
                    <a:lstStyle/>
                    <a:p>
                      <a:pPr marL="0" algn="ctr" defTabSz="1125220" rtl="0" eaLnBrk="1" latinLnBrk="0" hangingPunct="1"/>
                      <a:r>
                        <a:rPr lang="zh-CN" altLang="en-US" sz="1600" b="1" kern="100" dirty="0">
                          <a:solidFill>
                            <a:schemeClr val="lt1"/>
                          </a:solidFill>
                          <a:effectLst/>
                          <a:latin typeface="+mn-lt"/>
                          <a:ea typeface="+mn-ea"/>
                          <a:cs typeface="+mn-ea"/>
                          <a:sym typeface="+mn-lt"/>
                        </a:rPr>
                        <a:t>七类群体人员</a:t>
                      </a:r>
                      <a:endParaRPr lang="zh-CN" altLang="en-US" sz="1600" b="1" kern="100" dirty="0">
                        <a:solidFill>
                          <a:schemeClr val="lt1"/>
                        </a:solidFill>
                        <a:effectLst/>
                        <a:latin typeface="+mn-lt"/>
                        <a:ea typeface="+mn-ea"/>
                        <a:cs typeface="+mn-ea"/>
                        <a:sym typeface="+mn-lt"/>
                      </a:endParaRPr>
                    </a:p>
                  </a:txBody>
                  <a:tcPr marL="68580" marR="68580" marT="0" marB="0" anchor="ctr">
                    <a:solidFill>
                      <a:srgbClr val="C00000"/>
                    </a:solidFill>
                  </a:tcPr>
                </a:tc>
                <a:tc>
                  <a:txBody>
                    <a:bodyPr/>
                    <a:lstStyle/>
                    <a:p>
                      <a:pPr marL="0" algn="ctr" defTabSz="1125220" rtl="0" eaLnBrk="1" latinLnBrk="0" hangingPunct="1"/>
                      <a:r>
                        <a:rPr lang="zh-CN" altLang="en-US" sz="1600" b="1" kern="100" dirty="0">
                          <a:solidFill>
                            <a:schemeClr val="lt1"/>
                          </a:solidFill>
                          <a:effectLst/>
                          <a:latin typeface="+mn-lt"/>
                          <a:ea typeface="+mn-ea"/>
                          <a:cs typeface="+mn-ea"/>
                          <a:sym typeface="+mn-lt"/>
                        </a:rPr>
                        <a:t>主要培训内容</a:t>
                      </a:r>
                      <a:endParaRPr lang="zh-CN" altLang="en-US" sz="1600" b="1" kern="100" dirty="0">
                        <a:solidFill>
                          <a:schemeClr val="lt1"/>
                        </a:solidFill>
                        <a:effectLst/>
                        <a:latin typeface="+mn-lt"/>
                        <a:ea typeface="+mn-ea"/>
                        <a:cs typeface="+mn-ea"/>
                        <a:sym typeface="+mn-lt"/>
                      </a:endParaRPr>
                    </a:p>
                  </a:txBody>
                  <a:tcPr marL="68580" marR="68580" marT="0" marB="0" anchor="ctr">
                    <a:solidFill>
                      <a:srgbClr val="C00000"/>
                    </a:solidFill>
                  </a:tcPr>
                </a:tc>
              </a:tr>
              <a:tr h="364599">
                <a:tc>
                  <a:txBody>
                    <a:bodyPr/>
                    <a:lstStyle/>
                    <a:p>
                      <a:pPr algn="just"/>
                      <a:r>
                        <a:rPr lang="zh-CN" sz="1400" kern="100" dirty="0">
                          <a:effectLst/>
                          <a:latin typeface="+mn-lt"/>
                          <a:ea typeface="+mn-ea"/>
                          <a:cs typeface="+mn-ea"/>
                          <a:sym typeface="+mn-lt"/>
                        </a:rPr>
                        <a:t>区域中心高级管理培训</a:t>
                      </a:r>
                      <a:endParaRPr lang="zh-CN" sz="1050" kern="100" dirty="0">
                        <a:effectLst/>
                        <a:latin typeface="+mn-lt"/>
                        <a:ea typeface="+mn-ea"/>
                        <a:cs typeface="+mn-ea"/>
                        <a:sym typeface="+mn-lt"/>
                      </a:endParaRPr>
                    </a:p>
                  </a:txBody>
                  <a:tcPr marL="68580" marR="68580" marT="0" marB="0" anchor="ctr">
                    <a:solidFill>
                      <a:srgbClr val="C00000"/>
                    </a:solidFill>
                  </a:tcPr>
                </a:tc>
                <a:tc>
                  <a:txBody>
                    <a:bodyPr/>
                    <a:lstStyle/>
                    <a:p>
                      <a:pPr algn="just"/>
                      <a:r>
                        <a:rPr lang="zh-CN" sz="1400" kern="100" dirty="0">
                          <a:effectLst/>
                          <a:latin typeface="+mn-lt"/>
                          <a:ea typeface="+mn-ea"/>
                          <a:cs typeface="+mn-ea"/>
                          <a:sym typeface="+mn-lt"/>
                        </a:rPr>
                        <a:t>国际上的合规标准、海外交易所的规则，海外市场运营。</a:t>
                      </a:r>
                      <a:endParaRPr lang="zh-CN" sz="1050" kern="100" dirty="0">
                        <a:effectLst/>
                        <a:latin typeface="+mn-lt"/>
                        <a:ea typeface="+mn-ea"/>
                        <a:cs typeface="+mn-ea"/>
                        <a:sym typeface="+mn-lt"/>
                      </a:endParaRPr>
                    </a:p>
                  </a:txBody>
                  <a:tcPr marL="68580" marR="68580" marT="0" marB="0" anchor="ctr">
                    <a:solidFill>
                      <a:schemeClr val="accent2">
                        <a:lumMod val="20000"/>
                        <a:lumOff val="80000"/>
                      </a:schemeClr>
                    </a:solidFill>
                  </a:tcPr>
                </a:tc>
              </a:tr>
              <a:tr h="364599">
                <a:tc>
                  <a:txBody>
                    <a:bodyPr/>
                    <a:lstStyle/>
                    <a:p>
                      <a:pPr algn="just"/>
                      <a:r>
                        <a:rPr lang="zh-CN" sz="1400" kern="100" dirty="0">
                          <a:effectLst/>
                          <a:latin typeface="+mn-lt"/>
                          <a:ea typeface="+mn-ea"/>
                          <a:cs typeface="+mn-ea"/>
                          <a:sym typeface="+mn-lt"/>
                        </a:rPr>
                        <a:t>海外分支机构负责人</a:t>
                      </a:r>
                      <a:endParaRPr lang="zh-CN" sz="1050" kern="100" dirty="0">
                        <a:effectLst/>
                        <a:latin typeface="+mn-lt"/>
                        <a:ea typeface="+mn-ea"/>
                        <a:cs typeface="+mn-ea"/>
                        <a:sym typeface="+mn-lt"/>
                      </a:endParaRPr>
                    </a:p>
                  </a:txBody>
                  <a:tcPr marL="68580" marR="68580" marT="0" marB="0" anchor="ctr">
                    <a:solidFill>
                      <a:srgbClr val="C00000"/>
                    </a:solidFill>
                  </a:tcPr>
                </a:tc>
                <a:tc>
                  <a:txBody>
                    <a:bodyPr/>
                    <a:lstStyle/>
                    <a:p>
                      <a:pPr algn="just"/>
                      <a:r>
                        <a:rPr lang="zh-CN" sz="1400" kern="100" dirty="0">
                          <a:effectLst/>
                          <a:latin typeface="+mn-lt"/>
                          <a:ea typeface="+mn-ea"/>
                          <a:cs typeface="+mn-ea"/>
                          <a:sym typeface="+mn-lt"/>
                        </a:rPr>
                        <a:t>正职副职，可以开发一些基本的任职资格课程</a:t>
                      </a:r>
                      <a:r>
                        <a:rPr lang="zh-CN" altLang="en-US" sz="1400" kern="100" dirty="0">
                          <a:effectLst/>
                          <a:latin typeface="+mn-lt"/>
                          <a:ea typeface="+mn-ea"/>
                          <a:cs typeface="+mn-ea"/>
                          <a:sym typeface="+mn-lt"/>
                        </a:rPr>
                        <a:t>。</a:t>
                      </a:r>
                      <a:endParaRPr lang="zh-CN" sz="1050" kern="100" dirty="0">
                        <a:effectLst/>
                        <a:latin typeface="+mn-lt"/>
                        <a:ea typeface="+mn-ea"/>
                        <a:cs typeface="+mn-ea"/>
                        <a:sym typeface="+mn-lt"/>
                      </a:endParaRPr>
                    </a:p>
                  </a:txBody>
                  <a:tcPr marL="68580" marR="68580" marT="0" marB="0" anchor="ctr">
                    <a:solidFill>
                      <a:schemeClr val="bg1">
                        <a:lumMod val="95000"/>
                      </a:schemeClr>
                    </a:solidFill>
                  </a:tcPr>
                </a:tc>
              </a:tr>
              <a:tr h="729198">
                <a:tc>
                  <a:txBody>
                    <a:bodyPr/>
                    <a:lstStyle/>
                    <a:p>
                      <a:pPr algn="just"/>
                      <a:r>
                        <a:rPr lang="zh-CN" sz="1400" kern="100" dirty="0">
                          <a:effectLst/>
                          <a:latin typeface="+mn-lt"/>
                          <a:ea typeface="+mn-ea"/>
                          <a:cs typeface="+mn-ea"/>
                          <a:sym typeface="+mn-lt"/>
                        </a:rPr>
                        <a:t>海外专业人才与特殊人才</a:t>
                      </a:r>
                      <a:endParaRPr lang="zh-CN" sz="1050" kern="100" dirty="0">
                        <a:effectLst/>
                        <a:latin typeface="+mn-lt"/>
                        <a:ea typeface="+mn-ea"/>
                        <a:cs typeface="+mn-ea"/>
                        <a:sym typeface="+mn-lt"/>
                      </a:endParaRPr>
                    </a:p>
                  </a:txBody>
                  <a:tcPr marL="68580" marR="68580" marT="0" marB="0" anchor="ctr">
                    <a:solidFill>
                      <a:srgbClr val="C00000"/>
                    </a:solidFill>
                  </a:tcPr>
                </a:tc>
                <a:tc>
                  <a:txBody>
                    <a:bodyPr/>
                    <a:lstStyle/>
                    <a:p>
                      <a:pPr algn="just"/>
                      <a:r>
                        <a:rPr lang="zh-CN" sz="1400" kern="100" dirty="0">
                          <a:effectLst/>
                          <a:latin typeface="+mn-lt"/>
                          <a:ea typeface="+mn-ea"/>
                          <a:cs typeface="+mn-ea"/>
                          <a:sym typeface="+mn-lt"/>
                        </a:rPr>
                        <a:t>反洗钱、</a:t>
                      </a:r>
                      <a:r>
                        <a:rPr lang="en-US" sz="1400" kern="100" dirty="0">
                          <a:effectLst/>
                          <a:latin typeface="+mn-lt"/>
                          <a:ea typeface="+mn-ea"/>
                          <a:cs typeface="+mn-ea"/>
                          <a:sym typeface="+mn-lt"/>
                        </a:rPr>
                        <a:t>IT</a:t>
                      </a:r>
                      <a:r>
                        <a:rPr lang="zh-CN" sz="1400" kern="100" dirty="0">
                          <a:effectLst/>
                          <a:latin typeface="+mn-lt"/>
                          <a:ea typeface="+mn-ea"/>
                          <a:cs typeface="+mn-ea"/>
                          <a:sym typeface="+mn-lt"/>
                        </a:rPr>
                        <a:t>等</a:t>
                      </a:r>
                      <a:r>
                        <a:rPr lang="zh-CN" altLang="en-US" sz="1400" kern="100" dirty="0">
                          <a:effectLst/>
                          <a:latin typeface="+mn-lt"/>
                          <a:ea typeface="+mn-ea"/>
                          <a:cs typeface="+mn-ea"/>
                          <a:sym typeface="+mn-lt"/>
                        </a:rPr>
                        <a:t>。</a:t>
                      </a:r>
                      <a:endParaRPr lang="zh-CN" sz="1050" kern="100" dirty="0">
                        <a:effectLst/>
                        <a:latin typeface="+mn-lt"/>
                        <a:ea typeface="+mn-ea"/>
                        <a:cs typeface="+mn-ea"/>
                        <a:sym typeface="+mn-lt"/>
                      </a:endParaRPr>
                    </a:p>
                  </a:txBody>
                  <a:tcPr marL="68580" marR="68580" marT="0" marB="0" anchor="ctr">
                    <a:solidFill>
                      <a:schemeClr val="accent2">
                        <a:lumMod val="20000"/>
                        <a:lumOff val="80000"/>
                      </a:schemeClr>
                    </a:solidFill>
                  </a:tcPr>
                </a:tc>
              </a:tr>
              <a:tr h="729198">
                <a:tc>
                  <a:txBody>
                    <a:bodyPr/>
                    <a:lstStyle/>
                    <a:p>
                      <a:pPr algn="just"/>
                      <a:r>
                        <a:rPr lang="zh-CN" sz="1400" kern="100" dirty="0">
                          <a:effectLst/>
                          <a:latin typeface="+mn-lt"/>
                          <a:ea typeface="+mn-ea"/>
                          <a:cs typeface="+mn-ea"/>
                          <a:sym typeface="+mn-lt"/>
                        </a:rPr>
                        <a:t>外派干部的正职培训</a:t>
                      </a:r>
                      <a:endParaRPr lang="zh-CN" sz="1050" kern="100" dirty="0">
                        <a:effectLst/>
                        <a:latin typeface="+mn-lt"/>
                        <a:ea typeface="+mn-ea"/>
                        <a:cs typeface="+mn-ea"/>
                        <a:sym typeface="+mn-lt"/>
                      </a:endParaRPr>
                    </a:p>
                  </a:txBody>
                  <a:tcPr marL="68580" marR="68580" marT="0" marB="0" anchor="ctr">
                    <a:solidFill>
                      <a:srgbClr val="C00000"/>
                    </a:solidFill>
                  </a:tcPr>
                </a:tc>
                <a:tc>
                  <a:txBody>
                    <a:bodyPr/>
                    <a:lstStyle/>
                    <a:p>
                      <a:pPr algn="just"/>
                      <a:r>
                        <a:rPr lang="zh-CN" sz="1400" kern="100" dirty="0">
                          <a:effectLst/>
                          <a:latin typeface="+mn-lt"/>
                          <a:ea typeface="+mn-ea"/>
                          <a:cs typeface="+mn-ea"/>
                          <a:sym typeface="+mn-lt"/>
                        </a:rPr>
                        <a:t>融入，国内培训外，需要参加海外培训长期班（</a:t>
                      </a:r>
                      <a:r>
                        <a:rPr lang="en-US" sz="1400" kern="100" dirty="0">
                          <a:effectLst/>
                          <a:latin typeface="+mn-lt"/>
                          <a:ea typeface="+mn-ea"/>
                          <a:cs typeface="+mn-ea"/>
                          <a:sym typeface="+mn-lt"/>
                        </a:rPr>
                        <a:t>1-2</a:t>
                      </a:r>
                      <a:r>
                        <a:rPr lang="zh-CN" sz="1400" kern="100" dirty="0">
                          <a:effectLst/>
                          <a:latin typeface="+mn-lt"/>
                          <a:ea typeface="+mn-ea"/>
                          <a:cs typeface="+mn-ea"/>
                          <a:sym typeface="+mn-lt"/>
                        </a:rPr>
                        <a:t>个月以上），合格后再外派。语言的能力需要加强。</a:t>
                      </a:r>
                      <a:endParaRPr lang="zh-CN" sz="1050" kern="100" dirty="0">
                        <a:effectLst/>
                        <a:latin typeface="+mn-lt"/>
                        <a:ea typeface="+mn-ea"/>
                        <a:cs typeface="+mn-ea"/>
                        <a:sym typeface="+mn-lt"/>
                      </a:endParaRPr>
                    </a:p>
                  </a:txBody>
                  <a:tcPr marL="68580" marR="68580" marT="0" marB="0" anchor="ctr">
                    <a:solidFill>
                      <a:schemeClr val="bg1">
                        <a:lumMod val="95000"/>
                      </a:schemeClr>
                    </a:solidFill>
                  </a:tcPr>
                </a:tc>
              </a:tr>
              <a:tr h="364599">
                <a:tc>
                  <a:txBody>
                    <a:bodyPr/>
                    <a:lstStyle/>
                    <a:p>
                      <a:pPr algn="just"/>
                      <a:r>
                        <a:rPr lang="zh-CN" sz="1400" kern="100" dirty="0">
                          <a:effectLst/>
                          <a:latin typeface="+mn-lt"/>
                          <a:ea typeface="+mn-ea"/>
                          <a:cs typeface="+mn-ea"/>
                          <a:sym typeface="+mn-lt"/>
                        </a:rPr>
                        <a:t>海外中层</a:t>
                      </a:r>
                      <a:endParaRPr lang="zh-CN" sz="1050" kern="100" dirty="0">
                        <a:effectLst/>
                        <a:latin typeface="+mn-lt"/>
                        <a:ea typeface="+mn-ea"/>
                        <a:cs typeface="+mn-ea"/>
                        <a:sym typeface="+mn-lt"/>
                      </a:endParaRPr>
                    </a:p>
                  </a:txBody>
                  <a:tcPr marL="68580" marR="68580" marT="0" marB="0" anchor="ctr">
                    <a:solidFill>
                      <a:srgbClr val="C00000"/>
                    </a:solidFill>
                  </a:tcPr>
                </a:tc>
                <a:tc>
                  <a:txBody>
                    <a:bodyPr/>
                    <a:lstStyle/>
                    <a:p>
                      <a:pPr algn="just"/>
                      <a:r>
                        <a:rPr lang="zh-CN" sz="1400" kern="100" dirty="0">
                          <a:effectLst/>
                          <a:latin typeface="+mn-lt"/>
                          <a:ea typeface="+mn-ea"/>
                          <a:cs typeface="+mn-ea"/>
                          <a:sym typeface="+mn-lt"/>
                        </a:rPr>
                        <a:t>文化认同、团队沟通。</a:t>
                      </a:r>
                      <a:endParaRPr lang="zh-CN" sz="1050" kern="100" dirty="0">
                        <a:effectLst/>
                        <a:latin typeface="+mn-lt"/>
                        <a:ea typeface="+mn-ea"/>
                        <a:cs typeface="+mn-ea"/>
                        <a:sym typeface="+mn-lt"/>
                      </a:endParaRPr>
                    </a:p>
                  </a:txBody>
                  <a:tcPr marL="68580" marR="68580" marT="0" marB="0" anchor="ctr">
                    <a:solidFill>
                      <a:schemeClr val="accent2">
                        <a:lumMod val="20000"/>
                        <a:lumOff val="80000"/>
                      </a:schemeClr>
                    </a:solidFill>
                  </a:tcPr>
                </a:tc>
              </a:tr>
              <a:tr h="364599">
                <a:tc>
                  <a:txBody>
                    <a:bodyPr/>
                    <a:lstStyle/>
                    <a:p>
                      <a:pPr algn="just"/>
                      <a:r>
                        <a:rPr lang="zh-CN" sz="1400" kern="100" dirty="0">
                          <a:effectLst/>
                          <a:latin typeface="+mn-lt"/>
                          <a:ea typeface="+mn-ea"/>
                          <a:cs typeface="+mn-ea"/>
                          <a:sym typeface="+mn-lt"/>
                        </a:rPr>
                        <a:t>新员工培训</a:t>
                      </a:r>
                      <a:endParaRPr lang="zh-CN" sz="1050" kern="100" dirty="0">
                        <a:effectLst/>
                        <a:latin typeface="+mn-lt"/>
                        <a:ea typeface="+mn-ea"/>
                        <a:cs typeface="+mn-ea"/>
                        <a:sym typeface="+mn-lt"/>
                      </a:endParaRPr>
                    </a:p>
                  </a:txBody>
                  <a:tcPr marL="68580" marR="68580" marT="0" marB="0" anchor="ctr">
                    <a:solidFill>
                      <a:srgbClr val="C00000"/>
                    </a:solidFill>
                  </a:tcPr>
                </a:tc>
                <a:tc>
                  <a:txBody>
                    <a:bodyPr/>
                    <a:lstStyle/>
                    <a:p>
                      <a:pPr algn="just"/>
                      <a:r>
                        <a:rPr lang="zh-CN" sz="1400" kern="100" dirty="0">
                          <a:effectLst/>
                          <a:latin typeface="+mn-lt"/>
                          <a:ea typeface="+mn-ea"/>
                          <a:cs typeface="+mn-ea"/>
                          <a:sym typeface="+mn-lt"/>
                        </a:rPr>
                        <a:t>海外校园招聘的当地新员工。</a:t>
                      </a:r>
                      <a:endParaRPr lang="zh-CN" sz="1050" kern="100" dirty="0">
                        <a:effectLst/>
                        <a:latin typeface="+mn-lt"/>
                        <a:ea typeface="+mn-ea"/>
                        <a:cs typeface="+mn-ea"/>
                        <a:sym typeface="+mn-lt"/>
                      </a:endParaRPr>
                    </a:p>
                  </a:txBody>
                  <a:tcPr marL="68580" marR="68580" marT="0" marB="0" anchor="ctr">
                    <a:solidFill>
                      <a:schemeClr val="bg1">
                        <a:lumMod val="95000"/>
                      </a:schemeClr>
                    </a:solidFill>
                  </a:tcPr>
                </a:tc>
              </a:tr>
              <a:tr h="729198">
                <a:tc>
                  <a:txBody>
                    <a:bodyPr/>
                    <a:lstStyle/>
                    <a:p>
                      <a:pPr algn="just"/>
                      <a:r>
                        <a:rPr lang="zh-CN" sz="1400" kern="100" dirty="0">
                          <a:effectLst/>
                          <a:latin typeface="+mn-lt"/>
                          <a:ea typeface="+mn-ea"/>
                          <a:cs typeface="+mn-ea"/>
                          <a:sym typeface="+mn-lt"/>
                        </a:rPr>
                        <a:t>主题培训</a:t>
                      </a:r>
                      <a:endParaRPr lang="zh-CN" sz="1050" kern="100" dirty="0">
                        <a:effectLst/>
                        <a:latin typeface="+mn-lt"/>
                        <a:ea typeface="+mn-ea"/>
                        <a:cs typeface="+mn-ea"/>
                        <a:sym typeface="+mn-lt"/>
                      </a:endParaRPr>
                    </a:p>
                  </a:txBody>
                  <a:tcPr marL="68580" marR="68580" marT="0" marB="0" anchor="ctr">
                    <a:solidFill>
                      <a:srgbClr val="C00000"/>
                    </a:solidFill>
                  </a:tcPr>
                </a:tc>
                <a:tc>
                  <a:txBody>
                    <a:bodyPr/>
                    <a:lstStyle/>
                    <a:p>
                      <a:pPr algn="just"/>
                      <a:r>
                        <a:rPr lang="zh-CN" sz="1400" kern="100" dirty="0">
                          <a:effectLst/>
                          <a:latin typeface="+mn-lt"/>
                          <a:ea typeface="+mn-ea"/>
                          <a:cs typeface="+mn-ea"/>
                          <a:sym typeface="+mn-lt"/>
                        </a:rPr>
                        <a:t>围绕热点问题，前瞻及前沿性的课题培训。比如拜登期的金融政策，</a:t>
                      </a:r>
                      <a:r>
                        <a:rPr lang="en-US" sz="1400" kern="100" dirty="0">
                          <a:effectLst/>
                          <a:latin typeface="+mn-lt"/>
                          <a:ea typeface="+mn-ea"/>
                          <a:cs typeface="+mn-ea"/>
                          <a:sym typeface="+mn-lt"/>
                        </a:rPr>
                        <a:t>RCEP</a:t>
                      </a:r>
                      <a:r>
                        <a:rPr lang="zh-CN" sz="1400" kern="100" dirty="0">
                          <a:effectLst/>
                          <a:latin typeface="+mn-lt"/>
                          <a:ea typeface="+mn-ea"/>
                          <a:cs typeface="+mn-ea"/>
                          <a:sym typeface="+mn-lt"/>
                        </a:rPr>
                        <a:t>协定带来的变化。</a:t>
                      </a:r>
                      <a:endParaRPr lang="zh-CN" sz="1050" kern="100" dirty="0">
                        <a:effectLst/>
                        <a:latin typeface="+mn-lt"/>
                        <a:ea typeface="+mn-ea"/>
                        <a:cs typeface="+mn-ea"/>
                        <a:sym typeface="+mn-lt"/>
                      </a:endParaRPr>
                    </a:p>
                  </a:txBody>
                  <a:tcPr marL="68580" marR="68580" marT="0" marB="0" anchor="ctr">
                    <a:solidFill>
                      <a:schemeClr val="accent2">
                        <a:lumMod val="20000"/>
                        <a:lumOff val="80000"/>
                      </a:schemeClr>
                    </a:solidFill>
                  </a:tcPr>
                </a:tc>
              </a:tr>
            </a:tbl>
          </a:graphicData>
        </a:graphic>
      </p:graphicFrame>
      <p:sp>
        <p:nvSpPr>
          <p:cNvPr id="7"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95325" y="173261"/>
            <a:ext cx="9252877"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lang="en-US" altLang="zh-CN" sz="2000"/>
              <a:t>6</a:t>
            </a:r>
            <a:r>
              <a:rPr lang="zh-CN" altLang="en-US" sz="2000"/>
              <a:t>、</a:t>
            </a:r>
            <a:r>
              <a:rPr lang="zh-CN" altLang="zh-CN" sz="2000"/>
              <a:t>基于未来银行核心胜任力打造工程</a:t>
            </a:r>
            <a:endParaRPr lang="zh-CN" altLang="zh-CN" sz="2000" dirty="0"/>
          </a:p>
        </p:txBody>
      </p:sp>
      <p:sp>
        <p:nvSpPr>
          <p:cNvPr id="4" name="文本框 3"/>
          <p:cNvSpPr txBox="1"/>
          <p:nvPr/>
        </p:nvSpPr>
        <p:spPr>
          <a:xfrm>
            <a:off x="1009223" y="1078173"/>
            <a:ext cx="10028772" cy="4524315"/>
          </a:xfrm>
          <a:prstGeom prst="rect">
            <a:avLst/>
          </a:prstGeom>
          <a:noFill/>
        </p:spPr>
        <p:txBody>
          <a:bodyPr wrap="square">
            <a:spAutoFit/>
          </a:bodyPr>
          <a:lstStyle/>
          <a:p>
            <a:pPr>
              <a:lnSpc>
                <a:spcPct val="200000"/>
              </a:lnSpc>
            </a:pPr>
            <a:r>
              <a:rPr lang="zh-CN" altLang="en-US" sz="1800" dirty="0"/>
              <a:t>原则：</a:t>
            </a:r>
            <a:r>
              <a:rPr lang="zh-CN" altLang="zh-CN" sz="1800" b="0" dirty="0"/>
              <a:t>聚焦集团战略发展对员工能力提升新要求，分级分类统筹实施，以助力全行数字化、全球化、综合化战略要求，针对</a:t>
            </a:r>
            <a:r>
              <a:rPr lang="en-US" altLang="zh-CN" sz="1800" b="0" dirty="0"/>
              <a:t>85-95</a:t>
            </a:r>
            <a:r>
              <a:rPr lang="zh-CN" altLang="zh-CN" sz="1800" b="0" dirty="0"/>
              <a:t>后年轻员工，培养重点为核心技能素质，要求少而精，能快速落地。</a:t>
            </a:r>
            <a:endParaRPr lang="zh-CN" altLang="zh-CN" sz="1800" b="0" dirty="0"/>
          </a:p>
          <a:p>
            <a:pPr>
              <a:lnSpc>
                <a:spcPct val="200000"/>
              </a:lnSpc>
            </a:pPr>
            <a:r>
              <a:rPr lang="en-US" altLang="zh-CN" sz="1800" dirty="0"/>
              <a:t>1</a:t>
            </a:r>
            <a:r>
              <a:rPr lang="zh-CN" altLang="zh-CN" sz="1800" dirty="0"/>
              <a:t>、代际领导力提升（含管培生项目）</a:t>
            </a:r>
            <a:endParaRPr lang="zh-CN" altLang="zh-CN" sz="1800" dirty="0"/>
          </a:p>
          <a:p>
            <a:pPr>
              <a:lnSpc>
                <a:spcPct val="200000"/>
              </a:lnSpc>
            </a:pPr>
            <a:r>
              <a:rPr lang="zh-CN" altLang="zh-CN" sz="1800" b="0" dirty="0"/>
              <a:t>从未来银行对新一代员工的胜任力要求，构建未来领导力胜任力模型，基于此进行延伸迭代，设计新员工成长体系，涵盖新入职员工到成长为管理者，与管理者培训体系衔接起来。</a:t>
            </a:r>
            <a:endParaRPr lang="zh-CN" altLang="zh-CN" sz="1800" b="0" dirty="0"/>
          </a:p>
          <a:p>
            <a:pPr>
              <a:lnSpc>
                <a:spcPct val="200000"/>
              </a:lnSpc>
            </a:pPr>
            <a:r>
              <a:rPr lang="en-US" altLang="zh-CN" sz="1800" dirty="0"/>
              <a:t>2</a:t>
            </a:r>
            <a:r>
              <a:rPr lang="zh-CN" altLang="zh-CN" sz="1800" dirty="0"/>
              <a:t>、高校专项定制培养项目</a:t>
            </a:r>
            <a:endParaRPr lang="zh-CN" altLang="zh-CN" sz="1800" dirty="0"/>
          </a:p>
          <a:p>
            <a:pPr>
              <a:lnSpc>
                <a:spcPct val="200000"/>
              </a:lnSpc>
            </a:pPr>
            <a:r>
              <a:rPr lang="zh-CN" altLang="zh-CN" sz="1800" b="0" dirty="0"/>
              <a:t>根据未来银行培养方向，精选国内顶尖高校重点学院和专业，如金融工程硕士专业，培养未来金融科技、人工智能、国际化管理、小语种和其他各类复合型人才。</a:t>
            </a:r>
            <a:endParaRPr lang="zh-CN" altLang="zh-CN" sz="1800" b="0" dirty="0"/>
          </a:p>
        </p:txBody>
      </p:sp>
      <p:sp>
        <p:nvSpPr>
          <p:cNvPr id="7"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95325" y="173261"/>
            <a:ext cx="9252877"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lang="en-US" altLang="zh-CN" sz="2000" dirty="0"/>
              <a:t>7</a:t>
            </a:r>
            <a:r>
              <a:rPr lang="zh-CN" altLang="en-US" sz="2000" dirty="0"/>
              <a:t>、</a:t>
            </a:r>
            <a:r>
              <a:rPr lang="zh-CN" altLang="zh-CN" sz="2000" dirty="0"/>
              <a:t>实施密联业务的常态化、分散式、敏捷型日常业务支持培训</a:t>
            </a:r>
            <a:endParaRPr lang="zh-CN" altLang="zh-CN" sz="2000" dirty="0"/>
          </a:p>
        </p:txBody>
      </p:sp>
      <p:sp>
        <p:nvSpPr>
          <p:cNvPr id="4" name="文本框 3"/>
          <p:cNvSpPr txBox="1"/>
          <p:nvPr/>
        </p:nvSpPr>
        <p:spPr>
          <a:xfrm>
            <a:off x="739312" y="1863846"/>
            <a:ext cx="10624476" cy="2585323"/>
          </a:xfrm>
          <a:prstGeom prst="rect">
            <a:avLst/>
          </a:prstGeom>
          <a:noFill/>
        </p:spPr>
        <p:txBody>
          <a:bodyPr wrap="square">
            <a:spAutoFit/>
          </a:bodyPr>
          <a:lstStyle/>
          <a:p>
            <a:pPr>
              <a:lnSpc>
                <a:spcPct val="150000"/>
              </a:lnSpc>
            </a:pPr>
            <a:r>
              <a:rPr lang="en-US" altLang="zh-CN" sz="1800" dirty="0"/>
              <a:t>1</a:t>
            </a:r>
            <a:r>
              <a:rPr lang="zh-CN" altLang="zh-CN" sz="1800" dirty="0"/>
              <a:t>、专家论坛（中银大讲堂）</a:t>
            </a:r>
            <a:endParaRPr lang="zh-CN" altLang="zh-CN" sz="1800" dirty="0"/>
          </a:p>
          <a:p>
            <a:pPr>
              <a:lnSpc>
                <a:spcPct val="150000"/>
              </a:lnSpc>
            </a:pPr>
            <a:r>
              <a:rPr lang="zh-CN" altLang="zh-CN" sz="1800" b="0" dirty="0"/>
              <a:t>策划内部金融行业专家论坛，定期召开内部专家讲座和论坛，邀请内外部各专业领域专家，通过新政新规解读，技术趋势的讲解和新方法的引进，持续更新新知识新理念，激发内部创新活力。</a:t>
            </a:r>
            <a:endParaRPr lang="zh-CN" altLang="zh-CN" sz="1800" b="0" dirty="0"/>
          </a:p>
          <a:p>
            <a:pPr>
              <a:lnSpc>
                <a:spcPct val="150000"/>
              </a:lnSpc>
            </a:pPr>
            <a:r>
              <a:rPr lang="en-US" altLang="zh-CN" sz="1800" dirty="0"/>
              <a:t>2</a:t>
            </a:r>
            <a:r>
              <a:rPr lang="zh-CN" altLang="zh-CN" sz="1800" dirty="0"/>
              <a:t>、中银</a:t>
            </a:r>
            <a:r>
              <a:rPr lang="en-US" altLang="zh-CN" sz="1800" dirty="0"/>
              <a:t>TIC Talks</a:t>
            </a:r>
            <a:r>
              <a:rPr lang="zh-CN" altLang="zh-CN" sz="1800" dirty="0"/>
              <a:t>论坛（</a:t>
            </a:r>
            <a:r>
              <a:rPr lang="en-US" altLang="zh-CN" sz="1800" dirty="0"/>
              <a:t>Technologies</a:t>
            </a:r>
            <a:r>
              <a:rPr lang="zh-CN" altLang="zh-CN" sz="1800" dirty="0"/>
              <a:t>，</a:t>
            </a:r>
            <a:r>
              <a:rPr lang="en-US" altLang="zh-CN" sz="1800" dirty="0"/>
              <a:t>International</a:t>
            </a:r>
            <a:r>
              <a:rPr lang="zh-CN" altLang="zh-CN" sz="1800" dirty="0"/>
              <a:t>， </a:t>
            </a:r>
            <a:r>
              <a:rPr lang="en-US" altLang="zh-CN" sz="1800" dirty="0"/>
              <a:t>Compounding</a:t>
            </a:r>
            <a:r>
              <a:rPr lang="zh-CN" altLang="zh-CN" sz="1800" dirty="0"/>
              <a:t>）</a:t>
            </a:r>
            <a:endParaRPr lang="zh-CN" altLang="zh-CN" sz="1800" dirty="0"/>
          </a:p>
          <a:p>
            <a:pPr>
              <a:lnSpc>
                <a:spcPct val="150000"/>
              </a:lnSpc>
            </a:pPr>
            <a:r>
              <a:rPr lang="zh-CN" altLang="zh-CN" sz="1800" b="0" dirty="0"/>
              <a:t>孵化中银内部类</a:t>
            </a:r>
            <a:r>
              <a:rPr lang="en-US" altLang="zh-CN" sz="1800" b="0" dirty="0"/>
              <a:t>TED</a:t>
            </a:r>
            <a:r>
              <a:rPr lang="zh-CN" altLang="zh-CN" sz="1800" b="0" dirty="0"/>
              <a:t>大会，以新技术、国际化和综合化为核心维度，在内部吸引和培养一批</a:t>
            </a:r>
            <a:r>
              <a:rPr lang="en-US" altLang="zh-CN" sz="1800" b="0" dirty="0"/>
              <a:t>talkers</a:t>
            </a:r>
            <a:r>
              <a:rPr lang="zh-CN" altLang="zh-CN" sz="1800" b="0" dirty="0"/>
              <a:t>，并通过短视频在中银云</a:t>
            </a:r>
            <a:r>
              <a:rPr lang="en-US" altLang="zh-CN" sz="1800" b="0" dirty="0"/>
              <a:t>app</a:t>
            </a:r>
            <a:r>
              <a:rPr lang="zh-CN" altLang="zh-CN" sz="1800" b="0" dirty="0"/>
              <a:t>、外链等媒体和平台进行快速传播，打造中银学习品牌。</a:t>
            </a:r>
            <a:endParaRPr lang="zh-CN" altLang="zh-CN" sz="1800" b="0" dirty="0"/>
          </a:p>
        </p:txBody>
      </p:sp>
      <p:sp>
        <p:nvSpPr>
          <p:cNvPr id="7"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19990" y="206750"/>
            <a:ext cx="9641610"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8</a:t>
            </a:r>
            <a:r>
              <a:rPr kumimoji="1" lang="zh-CN" altLang="en-US" sz="2000" dirty="0">
                <a:latin typeface="+mn-lt"/>
                <a:ea typeface="+mn-ea"/>
                <a:cs typeface="+mn-ea"/>
                <a:sym typeface="+mn-lt"/>
              </a:rPr>
              <a:t>、开展全面风险管理体系培训，实施重点风险管控能力提升项目</a:t>
            </a:r>
            <a:endParaRPr kumimoji="1" lang="en-US" altLang="zh-CN" sz="2000" dirty="0">
              <a:latin typeface="+mn-lt"/>
              <a:ea typeface="+mn-ea"/>
              <a:cs typeface="+mn-ea"/>
              <a:sym typeface="+mn-lt"/>
            </a:endParaRPr>
          </a:p>
        </p:txBody>
      </p:sp>
      <p:sp>
        <p:nvSpPr>
          <p:cNvPr id="8" name="文本框 7"/>
          <p:cNvSpPr txBox="1"/>
          <p:nvPr/>
        </p:nvSpPr>
        <p:spPr>
          <a:xfrm>
            <a:off x="4782065" y="2394224"/>
            <a:ext cx="5061552" cy="1077218"/>
          </a:xfrm>
          <a:prstGeom prst="rect">
            <a:avLst/>
          </a:prstGeom>
          <a:noFill/>
        </p:spPr>
        <p:txBody>
          <a:bodyPr wrap="square" rtlCol="0">
            <a:spAutoFit/>
          </a:bodyPr>
          <a:lstStyle/>
          <a:p>
            <a:pPr marL="285750" indent="-285750">
              <a:buFont typeface="Arial" panose="020B0604020202090204" pitchFamily="34" charset="0"/>
              <a:buChar char="•"/>
            </a:pPr>
            <a:r>
              <a:rPr lang="zh-CN" altLang="en-US" sz="1600" b="1" kern="100" dirty="0">
                <a:effectLst/>
                <a:latin typeface="+mn-lt"/>
                <a:ea typeface="+mn-ea"/>
                <a:cs typeface="+mn-ea"/>
                <a:sym typeface="+mn-lt"/>
              </a:rPr>
              <a:t>与顶级商学院、金融风险研究机构合作开设研修班</a:t>
            </a:r>
            <a:endParaRPr lang="en-US" altLang="zh-CN" sz="1600" b="1" kern="100" dirty="0">
              <a:effectLst/>
              <a:latin typeface="+mn-lt"/>
              <a:ea typeface="+mn-ea"/>
              <a:cs typeface="+mn-ea"/>
              <a:sym typeface="+mn-lt"/>
            </a:endParaRPr>
          </a:p>
          <a:p>
            <a:pPr marL="285750" indent="-285750">
              <a:buFont typeface="Arial" panose="020B0604020202090204" pitchFamily="34" charset="0"/>
              <a:buChar char="•"/>
            </a:pPr>
            <a:r>
              <a:rPr lang="zh-CN" altLang="en-US" sz="1600" kern="100" dirty="0">
                <a:latin typeface="+mn-lt"/>
                <a:ea typeface="+mn-ea"/>
                <a:cs typeface="+mn-ea"/>
                <a:sym typeface="+mn-lt"/>
              </a:rPr>
              <a:t>建立并更新迭代国内外顶尖专家库、金融风险研究机构和相关论坛数据库</a:t>
            </a:r>
            <a:endParaRPr lang="en-US" altLang="zh-CN" sz="1600" kern="100" dirty="0">
              <a:latin typeface="+mn-lt"/>
              <a:ea typeface="+mn-ea"/>
              <a:cs typeface="+mn-ea"/>
              <a:sym typeface="+mn-lt"/>
            </a:endParaRPr>
          </a:p>
          <a:p>
            <a:pPr marL="285750" indent="-285750">
              <a:buFont typeface="Arial" panose="020B0604020202090204" pitchFamily="34" charset="0"/>
              <a:buChar char="•"/>
            </a:pPr>
            <a:r>
              <a:rPr lang="zh-CN" altLang="en-US" sz="1600" b="1" kern="100" dirty="0">
                <a:latin typeface="+mn-lt"/>
                <a:ea typeface="+mn-ea"/>
                <a:cs typeface="+mn-ea"/>
                <a:sym typeface="+mn-lt"/>
              </a:rPr>
              <a:t>形式</a:t>
            </a:r>
            <a:r>
              <a:rPr lang="zh-CN" altLang="en-US" sz="1600" kern="100" dirty="0">
                <a:latin typeface="+mn-lt"/>
                <a:ea typeface="+mn-ea"/>
                <a:cs typeface="+mn-ea"/>
                <a:sym typeface="+mn-lt"/>
              </a:rPr>
              <a:t>包括</a:t>
            </a:r>
            <a:r>
              <a:rPr lang="zh-CN" altLang="en-US" sz="1600" b="1" kern="100" dirty="0">
                <a:latin typeface="+mn-lt"/>
                <a:ea typeface="+mn-ea"/>
                <a:cs typeface="+mn-ea"/>
                <a:sym typeface="+mn-lt"/>
              </a:rPr>
              <a:t>专项研修班、专家论坛、研讨会</a:t>
            </a:r>
            <a:endParaRPr lang="zh-CN" altLang="en-US" sz="1600" b="1" kern="100" dirty="0">
              <a:latin typeface="+mn-lt"/>
              <a:ea typeface="+mn-ea"/>
              <a:cs typeface="+mn-ea"/>
              <a:sym typeface="+mn-lt"/>
            </a:endParaRPr>
          </a:p>
        </p:txBody>
      </p:sp>
      <p:sp>
        <p:nvSpPr>
          <p:cNvPr id="11" name="灯片编号占位符 1"/>
          <p:cNvSpPr txBox="1"/>
          <p:nvPr/>
        </p:nvSpPr>
        <p:spPr>
          <a:xfrm>
            <a:off x="9455665" y="6602256"/>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
        <p:nvSpPr>
          <p:cNvPr id="2" name="三角形 1"/>
          <p:cNvSpPr/>
          <p:nvPr/>
        </p:nvSpPr>
        <p:spPr>
          <a:xfrm>
            <a:off x="809163" y="2035781"/>
            <a:ext cx="5838772" cy="3883510"/>
          </a:xfrm>
          <a:prstGeom prst="triangle">
            <a:avLst/>
          </a:prstGeom>
          <a:solidFill>
            <a:srgbClr val="C00000"/>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cxnSp>
        <p:nvCxnSpPr>
          <p:cNvPr id="6" name="直线连接符 5"/>
          <p:cNvCxnSpPr/>
          <p:nvPr/>
        </p:nvCxnSpPr>
        <p:spPr bwMode="auto">
          <a:xfrm>
            <a:off x="2656703" y="3424363"/>
            <a:ext cx="2125362" cy="0"/>
          </a:xfrm>
          <a:prstGeom prst="line">
            <a:avLst/>
          </a:prstGeom>
          <a:solidFill>
            <a:schemeClr val="bg1"/>
          </a:solidFill>
          <a:ln w="57150" cap="flat" cmpd="sng" algn="ctr">
            <a:solidFill>
              <a:srgbClr val="FFFFFF"/>
            </a:solidFill>
            <a:prstDash val="solid"/>
            <a:round/>
            <a:headEnd type="none" w="med" len="med"/>
            <a:tailEnd type="none" w="med" len="med"/>
          </a:ln>
        </p:spPr>
      </p:cxnSp>
      <p:cxnSp>
        <p:nvCxnSpPr>
          <p:cNvPr id="12" name="直线连接符 11"/>
          <p:cNvCxnSpPr/>
          <p:nvPr/>
        </p:nvCxnSpPr>
        <p:spPr bwMode="auto">
          <a:xfrm>
            <a:off x="1622854" y="4757795"/>
            <a:ext cx="4147751" cy="0"/>
          </a:xfrm>
          <a:prstGeom prst="line">
            <a:avLst/>
          </a:prstGeom>
          <a:solidFill>
            <a:schemeClr val="bg1"/>
          </a:solidFill>
          <a:ln w="57150" cap="flat" cmpd="sng" algn="ctr">
            <a:solidFill>
              <a:srgbClr val="FFFFFF"/>
            </a:solidFill>
            <a:prstDash val="solid"/>
            <a:round/>
            <a:headEnd type="none" w="med" len="med"/>
            <a:tailEnd type="none" w="med" len="med"/>
          </a:ln>
        </p:spPr>
      </p:cxnSp>
      <p:sp>
        <p:nvSpPr>
          <p:cNvPr id="9" name="文本框 8"/>
          <p:cNvSpPr txBox="1"/>
          <p:nvPr/>
        </p:nvSpPr>
        <p:spPr>
          <a:xfrm>
            <a:off x="3120049" y="4911384"/>
            <a:ext cx="1217000" cy="400110"/>
          </a:xfrm>
          <a:prstGeom prst="rect">
            <a:avLst/>
          </a:prstGeom>
          <a:noFill/>
        </p:spPr>
        <p:txBody>
          <a:bodyPr wrap="none" rtlCol="0">
            <a:spAutoFit/>
          </a:bodyPr>
          <a:lstStyle/>
          <a:p>
            <a:r>
              <a:rPr kumimoji="1" lang="zh-CN" altLang="en-US" sz="2000" dirty="0">
                <a:solidFill>
                  <a:schemeClr val="bg1"/>
                </a:solidFill>
                <a:latin typeface="宋体" pitchFamily="2" charset="-122"/>
                <a:ea typeface="宋体" pitchFamily="2" charset="-122"/>
              </a:rPr>
              <a:t>全员强化</a:t>
            </a:r>
            <a:endParaRPr kumimoji="1" lang="zh-CN" altLang="en-US" sz="2000" dirty="0">
              <a:solidFill>
                <a:schemeClr val="bg1"/>
              </a:solidFill>
              <a:latin typeface="宋体" pitchFamily="2" charset="-122"/>
              <a:ea typeface="宋体" pitchFamily="2" charset="-122"/>
            </a:endParaRPr>
          </a:p>
        </p:txBody>
      </p:sp>
      <p:sp>
        <p:nvSpPr>
          <p:cNvPr id="13" name="文本框 12"/>
          <p:cNvSpPr txBox="1"/>
          <p:nvPr/>
        </p:nvSpPr>
        <p:spPr>
          <a:xfrm>
            <a:off x="3120049" y="3525242"/>
            <a:ext cx="1217000" cy="400110"/>
          </a:xfrm>
          <a:prstGeom prst="rect">
            <a:avLst/>
          </a:prstGeom>
          <a:noFill/>
        </p:spPr>
        <p:txBody>
          <a:bodyPr wrap="none" rtlCol="0">
            <a:spAutoFit/>
          </a:bodyPr>
          <a:lstStyle/>
          <a:p>
            <a:r>
              <a:rPr kumimoji="1" lang="zh-CN" altLang="en-US" sz="2000" dirty="0">
                <a:solidFill>
                  <a:schemeClr val="bg1"/>
                </a:solidFill>
                <a:latin typeface="宋体" pitchFamily="2" charset="-122"/>
                <a:ea typeface="宋体" pitchFamily="2" charset="-122"/>
              </a:rPr>
              <a:t>重点提升</a:t>
            </a:r>
            <a:endParaRPr kumimoji="1" lang="zh-CN" altLang="en-US" sz="2000" dirty="0">
              <a:solidFill>
                <a:schemeClr val="bg1"/>
              </a:solidFill>
              <a:latin typeface="宋体" pitchFamily="2" charset="-122"/>
              <a:ea typeface="宋体" pitchFamily="2" charset="-122"/>
            </a:endParaRPr>
          </a:p>
        </p:txBody>
      </p:sp>
      <p:sp>
        <p:nvSpPr>
          <p:cNvPr id="14" name="文本框 13"/>
          <p:cNvSpPr txBox="1"/>
          <p:nvPr/>
        </p:nvSpPr>
        <p:spPr>
          <a:xfrm>
            <a:off x="3171345" y="2448624"/>
            <a:ext cx="1114408" cy="369332"/>
          </a:xfrm>
          <a:prstGeom prst="rect">
            <a:avLst/>
          </a:prstGeom>
          <a:noFill/>
        </p:spPr>
        <p:txBody>
          <a:bodyPr wrap="none" rtlCol="0">
            <a:spAutoFit/>
          </a:bodyPr>
          <a:lstStyle/>
          <a:p>
            <a:r>
              <a:rPr kumimoji="1" lang="zh-CN" altLang="en-US" sz="1800" dirty="0">
                <a:solidFill>
                  <a:schemeClr val="bg1"/>
                </a:solidFill>
                <a:latin typeface="宋体" pitchFamily="2" charset="-122"/>
                <a:ea typeface="宋体" pitchFamily="2" charset="-122"/>
              </a:rPr>
              <a:t>顶层建设</a:t>
            </a:r>
            <a:endParaRPr kumimoji="1" lang="zh-CN" altLang="en-US" sz="1800" dirty="0">
              <a:solidFill>
                <a:schemeClr val="bg1"/>
              </a:solidFill>
              <a:latin typeface="宋体" pitchFamily="2" charset="-122"/>
              <a:ea typeface="宋体" pitchFamily="2" charset="-122"/>
            </a:endParaRPr>
          </a:p>
        </p:txBody>
      </p:sp>
      <p:sp>
        <p:nvSpPr>
          <p:cNvPr id="17" name="文本框 16"/>
          <p:cNvSpPr txBox="1"/>
          <p:nvPr/>
        </p:nvSpPr>
        <p:spPr>
          <a:xfrm>
            <a:off x="2950727" y="2823623"/>
            <a:ext cx="1537314" cy="584775"/>
          </a:xfrm>
          <a:prstGeom prst="rect">
            <a:avLst/>
          </a:prstGeom>
          <a:noFill/>
        </p:spPr>
        <p:txBody>
          <a:bodyPr wrap="square" rtlCol="0">
            <a:spAutoFit/>
          </a:bodyPr>
          <a:lstStyle>
            <a:defPPr>
              <a:defRPr lang="en-US"/>
            </a:defPPr>
            <a:lvl1pPr marL="285750" indent="-285750">
              <a:buFont typeface="Wingdings" panose="05000000000000000000" pitchFamily="2" charset="2"/>
              <a:buChar char="l"/>
              <a:defRPr sz="1800" kern="100">
                <a:latin typeface="+mn-lt"/>
                <a:ea typeface="+mn-ea"/>
                <a:cs typeface="+mn-ea"/>
              </a:defRPr>
            </a:lvl1pPr>
          </a:lstStyle>
          <a:p>
            <a:pPr marL="0" indent="0" algn="ctr">
              <a:buNone/>
            </a:pPr>
            <a:r>
              <a:rPr lang="zh-CN" altLang="en-US" sz="1600" dirty="0">
                <a:solidFill>
                  <a:schemeClr val="bg1"/>
                </a:solidFill>
              </a:rPr>
              <a:t>创设高级风险主题研修班</a:t>
            </a:r>
            <a:endParaRPr lang="zh-CN" altLang="en-US" sz="1600" dirty="0">
              <a:solidFill>
                <a:schemeClr val="bg1"/>
              </a:solidFill>
            </a:endParaRPr>
          </a:p>
        </p:txBody>
      </p:sp>
      <p:sp>
        <p:nvSpPr>
          <p:cNvPr id="18" name="文本框 17"/>
          <p:cNvSpPr txBox="1"/>
          <p:nvPr/>
        </p:nvSpPr>
        <p:spPr>
          <a:xfrm>
            <a:off x="1401611" y="5465082"/>
            <a:ext cx="4719842" cy="338554"/>
          </a:xfrm>
          <a:prstGeom prst="rect">
            <a:avLst/>
          </a:prstGeom>
          <a:noFill/>
        </p:spPr>
        <p:txBody>
          <a:bodyPr wrap="square" rtlCol="0">
            <a:spAutoFit/>
          </a:bodyPr>
          <a:lstStyle>
            <a:defPPr>
              <a:defRPr lang="en-US"/>
            </a:defPPr>
            <a:lvl1pPr marL="285750" indent="-285750">
              <a:buFont typeface="Wingdings" panose="05000000000000000000" pitchFamily="2" charset="2"/>
              <a:buChar char="l"/>
              <a:defRPr sz="1800" kern="100">
                <a:latin typeface="+mn-lt"/>
                <a:ea typeface="+mn-ea"/>
                <a:cs typeface="+mn-ea"/>
              </a:defRPr>
            </a:lvl1pPr>
          </a:lstStyle>
          <a:p>
            <a:pPr marL="0" indent="0" algn="ctr">
              <a:buNone/>
            </a:pPr>
            <a:r>
              <a:rPr lang="zh-CN" altLang="en-US" sz="1600" dirty="0">
                <a:solidFill>
                  <a:schemeClr val="bg1"/>
                </a:solidFill>
                <a:sym typeface="+mn-lt"/>
              </a:rPr>
              <a:t>打造</a:t>
            </a:r>
            <a:r>
              <a:rPr lang="zh-CN" altLang="zh-CN" sz="1600" dirty="0">
                <a:solidFill>
                  <a:schemeClr val="bg1"/>
                </a:solidFill>
                <a:sym typeface="+mn-lt"/>
              </a:rPr>
              <a:t>以</a:t>
            </a:r>
            <a:r>
              <a:rPr lang="en-US" altLang="zh-CN" sz="1600" dirty="0">
                <a:solidFill>
                  <a:schemeClr val="bg1"/>
                </a:solidFill>
                <a:sym typeface="+mn-lt"/>
              </a:rPr>
              <a:t>“</a:t>
            </a:r>
            <a:r>
              <a:rPr lang="zh-CN" altLang="zh-CN" sz="1600" dirty="0">
                <a:solidFill>
                  <a:schemeClr val="bg1"/>
                </a:solidFill>
                <a:sym typeface="+mn-lt"/>
              </a:rPr>
              <a:t>客户为中心</a:t>
            </a:r>
            <a:r>
              <a:rPr lang="en-US" altLang="zh-CN" sz="1600" dirty="0">
                <a:solidFill>
                  <a:schemeClr val="bg1"/>
                </a:solidFill>
                <a:sym typeface="+mn-lt"/>
              </a:rPr>
              <a:t>”</a:t>
            </a:r>
            <a:r>
              <a:rPr lang="zh-CN" altLang="zh-CN" sz="1600" dirty="0">
                <a:solidFill>
                  <a:schemeClr val="bg1"/>
                </a:solidFill>
                <a:sym typeface="+mn-lt"/>
              </a:rPr>
              <a:t>的全面风险</a:t>
            </a:r>
            <a:r>
              <a:rPr lang="zh-CN" altLang="en-US" sz="1600" dirty="0">
                <a:solidFill>
                  <a:schemeClr val="bg1"/>
                </a:solidFill>
                <a:sym typeface="+mn-lt"/>
              </a:rPr>
              <a:t>素质培训体系</a:t>
            </a:r>
            <a:endParaRPr lang="zh-CN" altLang="en-US" sz="1600" dirty="0">
              <a:solidFill>
                <a:schemeClr val="bg1"/>
              </a:solidFill>
            </a:endParaRPr>
          </a:p>
        </p:txBody>
      </p:sp>
      <p:sp>
        <p:nvSpPr>
          <p:cNvPr id="19" name="文本框 18"/>
          <p:cNvSpPr txBox="1"/>
          <p:nvPr/>
        </p:nvSpPr>
        <p:spPr>
          <a:xfrm>
            <a:off x="2555139" y="4049186"/>
            <a:ext cx="2155324" cy="584775"/>
          </a:xfrm>
          <a:prstGeom prst="rect">
            <a:avLst/>
          </a:prstGeom>
          <a:noFill/>
        </p:spPr>
        <p:txBody>
          <a:bodyPr wrap="square" rtlCol="0">
            <a:spAutoFit/>
          </a:bodyPr>
          <a:lstStyle>
            <a:defPPr>
              <a:defRPr lang="en-US"/>
            </a:defPPr>
            <a:lvl1pPr marL="285750" indent="-285750">
              <a:buFont typeface="Wingdings" panose="05000000000000000000" pitchFamily="2" charset="2"/>
              <a:buChar char="l"/>
              <a:defRPr sz="1800" kern="100">
                <a:latin typeface="+mn-lt"/>
                <a:ea typeface="+mn-ea"/>
                <a:cs typeface="+mn-ea"/>
              </a:defRPr>
            </a:lvl1pPr>
          </a:lstStyle>
          <a:p>
            <a:pPr marL="0" indent="0" algn="ctr">
              <a:buNone/>
            </a:pPr>
            <a:r>
              <a:rPr lang="zh-CN" altLang="en-US" sz="1600" dirty="0">
                <a:solidFill>
                  <a:schemeClr val="bg1"/>
                </a:solidFill>
              </a:rPr>
              <a:t>建立并优化风险条线专业人才培养体系</a:t>
            </a:r>
            <a:endParaRPr lang="zh-CN" altLang="en-US" sz="1600" dirty="0">
              <a:solidFill>
                <a:schemeClr val="bg1"/>
              </a:solidFill>
            </a:endParaRPr>
          </a:p>
        </p:txBody>
      </p:sp>
      <p:sp>
        <p:nvSpPr>
          <p:cNvPr id="20" name="文本框 19"/>
          <p:cNvSpPr txBox="1"/>
          <p:nvPr/>
        </p:nvSpPr>
        <p:spPr>
          <a:xfrm>
            <a:off x="5621876" y="3668853"/>
            <a:ext cx="5247800" cy="830997"/>
          </a:xfrm>
          <a:prstGeom prst="rect">
            <a:avLst/>
          </a:prstGeom>
          <a:noFill/>
        </p:spPr>
        <p:txBody>
          <a:bodyPr wrap="square" rtlCol="0">
            <a:spAutoFit/>
          </a:bodyPr>
          <a:lstStyle/>
          <a:p>
            <a:pPr marL="285750" indent="-285750">
              <a:buFont typeface="Arial" panose="020B0604020202090204" pitchFamily="34" charset="0"/>
              <a:buChar char="•"/>
            </a:pPr>
            <a:r>
              <a:rPr lang="zh-CN" altLang="en-US" sz="1600" b="1" kern="100" dirty="0">
                <a:effectLst/>
                <a:latin typeface="+mn-lt"/>
                <a:ea typeface="+mn-ea"/>
                <a:cs typeface="+mn-ea"/>
                <a:sym typeface="+mn-lt"/>
              </a:rPr>
              <a:t>助力重点风险管控条线建立人才培养体系</a:t>
            </a:r>
            <a:endParaRPr lang="en-US" altLang="zh-CN" sz="1600" b="1" kern="100" dirty="0">
              <a:effectLst/>
              <a:latin typeface="+mn-lt"/>
              <a:ea typeface="+mn-ea"/>
              <a:cs typeface="+mn-ea"/>
              <a:sym typeface="+mn-lt"/>
            </a:endParaRPr>
          </a:p>
          <a:p>
            <a:pPr marL="285750" indent="-285750">
              <a:buFont typeface="Arial" panose="020B0604020202090204" pitchFamily="34" charset="0"/>
              <a:buChar char="•"/>
            </a:pPr>
            <a:r>
              <a:rPr lang="zh-CN" altLang="en-US" sz="1600" kern="100" dirty="0">
                <a:latin typeface="+mn-lt"/>
                <a:ea typeface="+mn-ea"/>
                <a:cs typeface="+mn-ea"/>
                <a:sym typeface="+mn-lt"/>
              </a:rPr>
              <a:t>强化任职资格培训，协助推进重点专业资质考试认证</a:t>
            </a:r>
            <a:endParaRPr lang="en-US" altLang="zh-CN" sz="1600" kern="100" dirty="0">
              <a:latin typeface="+mn-lt"/>
              <a:ea typeface="+mn-ea"/>
              <a:cs typeface="+mn-ea"/>
              <a:sym typeface="+mn-lt"/>
            </a:endParaRPr>
          </a:p>
          <a:p>
            <a:pPr marL="285750" indent="-285750">
              <a:buFont typeface="Arial" panose="020B0604020202090204" pitchFamily="34" charset="0"/>
              <a:buChar char="•"/>
            </a:pPr>
            <a:r>
              <a:rPr lang="zh-CN" altLang="en-US" sz="1600" b="1" kern="100" dirty="0">
                <a:latin typeface="+mn-lt"/>
                <a:ea typeface="+mn-ea"/>
                <a:cs typeface="+mn-ea"/>
                <a:sym typeface="+mn-lt"/>
              </a:rPr>
              <a:t>开展分层级重点人才培养项目</a:t>
            </a:r>
            <a:endParaRPr lang="zh-CN" altLang="en-US" sz="1600" b="1" kern="100" dirty="0">
              <a:latin typeface="+mn-lt"/>
              <a:ea typeface="+mn-ea"/>
              <a:cs typeface="+mn-ea"/>
              <a:sym typeface="+mn-lt"/>
            </a:endParaRPr>
          </a:p>
        </p:txBody>
      </p:sp>
      <p:sp>
        <p:nvSpPr>
          <p:cNvPr id="21" name="文本框 20"/>
          <p:cNvSpPr txBox="1"/>
          <p:nvPr/>
        </p:nvSpPr>
        <p:spPr>
          <a:xfrm>
            <a:off x="6584296" y="4697261"/>
            <a:ext cx="5061552" cy="1323439"/>
          </a:xfrm>
          <a:prstGeom prst="rect">
            <a:avLst/>
          </a:prstGeom>
          <a:noFill/>
        </p:spPr>
        <p:txBody>
          <a:bodyPr wrap="square" rtlCol="0">
            <a:spAutoFit/>
          </a:bodyPr>
          <a:lstStyle/>
          <a:p>
            <a:pPr marL="285750" indent="-285750">
              <a:buFont typeface="Arial" panose="020B0604020202090204" pitchFamily="34" charset="0"/>
              <a:buChar char="•"/>
            </a:pPr>
            <a:r>
              <a:rPr lang="zh-CN" altLang="en-US" sz="1600" b="1" kern="100" dirty="0">
                <a:effectLst/>
                <a:latin typeface="+mn-lt"/>
                <a:ea typeface="+mn-ea"/>
                <a:cs typeface="+mn-ea"/>
                <a:sym typeface="+mn-lt"/>
              </a:rPr>
              <a:t>分别针对内部客户和外部客户进行全面风险素质画像，构建中银全面风险素质模型</a:t>
            </a:r>
            <a:endParaRPr lang="en-US" altLang="zh-CN" sz="1600" b="1" kern="100" dirty="0">
              <a:effectLst/>
              <a:latin typeface="+mn-lt"/>
              <a:ea typeface="+mn-ea"/>
              <a:cs typeface="+mn-ea"/>
              <a:sym typeface="+mn-lt"/>
            </a:endParaRPr>
          </a:p>
          <a:p>
            <a:pPr marL="285750" indent="-285750">
              <a:buFont typeface="Arial" panose="020B0604020202090204" pitchFamily="34" charset="0"/>
              <a:buChar char="•"/>
            </a:pPr>
            <a:r>
              <a:rPr lang="zh-CN" altLang="en-US" sz="1600" kern="100" dirty="0">
                <a:latin typeface="+mn-lt"/>
                <a:ea typeface="+mn-ea"/>
                <a:cs typeface="+mn-ea"/>
                <a:sym typeface="+mn-lt"/>
              </a:rPr>
              <a:t>招募并培养基层中银风险管理讲师，纳入全行兼职讲师序列</a:t>
            </a:r>
            <a:endParaRPr lang="en-US" altLang="zh-CN" sz="1600" kern="100" dirty="0">
              <a:latin typeface="+mn-lt"/>
              <a:ea typeface="+mn-ea"/>
              <a:cs typeface="+mn-ea"/>
              <a:sym typeface="+mn-lt"/>
            </a:endParaRPr>
          </a:p>
          <a:p>
            <a:pPr marL="285750" indent="-285750">
              <a:buFont typeface="Arial" panose="020B0604020202090204" pitchFamily="34" charset="0"/>
              <a:buChar char="•"/>
            </a:pPr>
            <a:r>
              <a:rPr lang="zh-CN" altLang="en-US" sz="1600" b="1" kern="100" dirty="0">
                <a:latin typeface="+mn-lt"/>
                <a:ea typeface="+mn-ea"/>
                <a:cs typeface="+mn-ea"/>
                <a:sym typeface="+mn-lt"/>
              </a:rPr>
              <a:t>开发中银全面风险核心课程，认证风险讲师</a:t>
            </a:r>
            <a:endParaRPr lang="zh-CN" altLang="en-US" sz="1600" b="1" kern="100" dirty="0">
              <a:latin typeface="+mn-lt"/>
              <a:ea typeface="+mn-ea"/>
              <a:cs typeface="+mn-ea"/>
              <a:sym typeface="+mn-lt"/>
            </a:endParaRPr>
          </a:p>
        </p:txBody>
      </p:sp>
      <p:sp>
        <p:nvSpPr>
          <p:cNvPr id="16" name="矩形 15"/>
          <p:cNvSpPr/>
          <p:nvPr/>
        </p:nvSpPr>
        <p:spPr>
          <a:xfrm>
            <a:off x="257676" y="791568"/>
            <a:ext cx="11388172" cy="1200329"/>
          </a:xfrm>
          <a:prstGeom prst="rect">
            <a:avLst/>
          </a:prstGeom>
        </p:spPr>
        <p:txBody>
          <a:bodyPr wrap="square">
            <a:spAutoFit/>
          </a:bodyPr>
          <a:lstStyle/>
          <a:p>
            <a:r>
              <a:rPr lang="zh-CN" altLang="zh-CN" sz="1800" dirty="0">
                <a:latin typeface="+mn-ea"/>
                <a:ea typeface="+mn-ea"/>
              </a:rPr>
              <a:t>战略任务培训规划</a:t>
            </a:r>
            <a:r>
              <a:rPr lang="zh-CN" altLang="en-US" sz="1800" dirty="0">
                <a:latin typeface="+mn-ea"/>
                <a:ea typeface="+mn-ea"/>
              </a:rPr>
              <a:t>整体思路：</a:t>
            </a:r>
            <a:endParaRPr lang="zh-CN" altLang="zh-CN" sz="1800" dirty="0">
              <a:latin typeface="+mn-ea"/>
              <a:ea typeface="+mn-ea"/>
            </a:endParaRPr>
          </a:p>
          <a:p>
            <a:r>
              <a:rPr lang="zh-CN" altLang="en-US" sz="1800" b="0" dirty="0">
                <a:latin typeface="+mn-ea"/>
                <a:ea typeface="+mn-ea"/>
              </a:rPr>
              <a:t>以</a:t>
            </a:r>
            <a:r>
              <a:rPr lang="zh-CN" altLang="zh-CN" sz="1800" b="0" dirty="0">
                <a:latin typeface="+mn-ea"/>
                <a:ea typeface="+mn-ea"/>
              </a:rPr>
              <a:t>完成全行层面战略任务、重大业务或管理事项、改革工程、攻坚课题为主要任务。通过深化行动学习技术，引入绩效改进工具，聚焦总</a:t>
            </a:r>
            <a:r>
              <a:rPr lang="en-US" altLang="zh-CN" sz="1800" b="0" dirty="0">
                <a:latin typeface="+mn-ea"/>
                <a:ea typeface="+mn-ea"/>
              </a:rPr>
              <a:t>/</a:t>
            </a:r>
            <a:r>
              <a:rPr lang="zh-CN" altLang="zh-CN" sz="1800" b="0" dirty="0">
                <a:latin typeface="+mn-ea"/>
                <a:ea typeface="+mn-ea"/>
              </a:rPr>
              <a:t>分行、部门级战略任务主题，在解决实际问题中锻炼队伍能力，多点探索，全面推动。</a:t>
            </a:r>
            <a:r>
              <a:rPr lang="zh-CN" altLang="en-US" sz="1800" b="0" dirty="0">
                <a:latin typeface="+mn-ea"/>
                <a:ea typeface="+mn-ea"/>
              </a:rPr>
              <a:t>具体将全面风险管理、网点转型两个主题分别阐述。</a:t>
            </a:r>
            <a:endParaRPr lang="en-US" altLang="zh-CN" sz="1800" b="0" dirty="0">
              <a:latin typeface="+mn-ea"/>
              <a:ea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95325" y="234969"/>
            <a:ext cx="9442660"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9</a:t>
            </a:r>
            <a:r>
              <a:rPr kumimoji="1" lang="zh-CN" altLang="en-US" sz="2000" dirty="0">
                <a:latin typeface="+mn-lt"/>
                <a:ea typeface="+mn-ea"/>
                <a:cs typeface="+mn-ea"/>
                <a:sym typeface="+mn-lt"/>
              </a:rPr>
              <a:t>、实施网点转型人才工程，进一步助推及夯实业务发展性</a:t>
            </a:r>
            <a:endParaRPr kumimoji="1" lang="en-US" altLang="zh-CN" sz="2000" dirty="0">
              <a:latin typeface="+mn-lt"/>
              <a:ea typeface="+mn-ea"/>
              <a:cs typeface="+mn-ea"/>
              <a:sym typeface="+mn-lt"/>
            </a:endParaRPr>
          </a:p>
        </p:txBody>
      </p:sp>
      <p:sp>
        <p:nvSpPr>
          <p:cNvPr id="4" name="文本框 3"/>
          <p:cNvSpPr txBox="1"/>
          <p:nvPr/>
        </p:nvSpPr>
        <p:spPr>
          <a:xfrm>
            <a:off x="695325" y="3069809"/>
            <a:ext cx="6090591" cy="3003002"/>
          </a:xfrm>
          <a:prstGeom prst="rect">
            <a:avLst/>
          </a:prstGeom>
          <a:noFill/>
        </p:spPr>
        <p:txBody>
          <a:bodyPr wrap="square">
            <a:spAutoFit/>
          </a:bodyPr>
          <a:lstStyle/>
          <a:p>
            <a:pPr>
              <a:lnSpc>
                <a:spcPct val="150000"/>
              </a:lnSpc>
            </a:pPr>
            <a:r>
              <a:rPr lang="zh-CN" altLang="en-US" sz="1600" b="1" dirty="0">
                <a:latin typeface="+mn-lt"/>
                <a:ea typeface="+mn-ea"/>
                <a:cs typeface="+mn-ea"/>
                <a:sym typeface="+mn-lt"/>
              </a:rPr>
              <a:t>重点人群和能力</a:t>
            </a:r>
            <a:r>
              <a:rPr lang="zh-CN" altLang="en-US" sz="1600" dirty="0">
                <a:latin typeface="+mn-lt"/>
                <a:ea typeface="+mn-ea"/>
                <a:cs typeface="+mn-ea"/>
                <a:sym typeface="+mn-lt"/>
              </a:rPr>
              <a:t>：</a:t>
            </a:r>
            <a:endParaRPr lang="en-US" altLang="zh-CN" sz="1600" dirty="0">
              <a:latin typeface="+mn-lt"/>
              <a:ea typeface="+mn-ea"/>
              <a:cs typeface="+mn-ea"/>
              <a:sym typeface="+mn-lt"/>
            </a:endParaRPr>
          </a:p>
          <a:p>
            <a:pPr marL="285750" indent="-285750">
              <a:lnSpc>
                <a:spcPct val="150000"/>
              </a:lnSpc>
              <a:buFont typeface="Arial" panose="020B0604020202090204" pitchFamily="34" charset="0"/>
              <a:buChar char="•"/>
            </a:pPr>
            <a:r>
              <a:rPr lang="zh-CN" altLang="en-US" sz="1600" b="0" dirty="0">
                <a:latin typeface="+mn-lt"/>
                <a:ea typeface="+mn-ea"/>
                <a:cs typeface="+mn-ea"/>
                <a:sym typeface="+mn-lt"/>
              </a:rPr>
              <a:t>客户经理的网点转型销售能力提升</a:t>
            </a:r>
            <a:endParaRPr lang="en-US" altLang="zh-CN" sz="1600" b="0" dirty="0">
              <a:latin typeface="+mn-lt"/>
              <a:ea typeface="+mn-ea"/>
              <a:cs typeface="+mn-ea"/>
              <a:sym typeface="+mn-lt"/>
            </a:endParaRPr>
          </a:p>
          <a:p>
            <a:pPr marL="285750" indent="-285750">
              <a:lnSpc>
                <a:spcPct val="150000"/>
              </a:lnSpc>
              <a:buFont typeface="Arial" panose="020B0604020202090204" pitchFamily="34" charset="0"/>
              <a:buChar char="•"/>
            </a:pPr>
            <a:r>
              <a:rPr lang="zh-CN" altLang="en-US" sz="1600" b="0" dirty="0">
                <a:latin typeface="+mn-lt"/>
                <a:ea typeface="+mn-ea"/>
                <a:cs typeface="+mn-ea"/>
                <a:sym typeface="+mn-lt"/>
              </a:rPr>
              <a:t>支行行长的网点转型与管理能力提升</a:t>
            </a:r>
            <a:endParaRPr lang="en-US" altLang="zh-CN" sz="1600" b="0" dirty="0">
              <a:latin typeface="+mn-lt"/>
              <a:ea typeface="+mn-ea"/>
              <a:cs typeface="+mn-ea"/>
              <a:sym typeface="+mn-lt"/>
            </a:endParaRPr>
          </a:p>
          <a:p>
            <a:pPr>
              <a:lnSpc>
                <a:spcPct val="150000"/>
              </a:lnSpc>
            </a:pPr>
            <a:r>
              <a:rPr lang="zh-CN" altLang="en-US" sz="1600" dirty="0">
                <a:latin typeface="+mn-lt"/>
                <a:ea typeface="+mn-ea"/>
                <a:cs typeface="+mn-ea"/>
                <a:sym typeface="+mn-lt"/>
              </a:rPr>
              <a:t>重点培训内容：</a:t>
            </a:r>
            <a:endParaRPr lang="en-US" altLang="zh-CN" sz="1600" b="0" dirty="0">
              <a:latin typeface="+mn-lt"/>
              <a:ea typeface="+mn-ea"/>
              <a:cs typeface="+mn-ea"/>
              <a:sym typeface="+mn-lt"/>
            </a:endParaRPr>
          </a:p>
          <a:p>
            <a:pPr marL="285750" indent="-285750">
              <a:lnSpc>
                <a:spcPct val="150000"/>
              </a:lnSpc>
              <a:buFont typeface="Arial" panose="020B0604020202090204" pitchFamily="34" charset="0"/>
              <a:buChar char="•"/>
            </a:pPr>
            <a:r>
              <a:rPr lang="zh-CN" altLang="en-US" sz="1600" b="0" dirty="0">
                <a:latin typeface="+mn-lt"/>
                <a:ea typeface="+mn-ea"/>
                <a:cs typeface="+mn-ea"/>
                <a:sym typeface="+mn-lt"/>
              </a:rPr>
              <a:t>新形势下的客户变化与新营销方式</a:t>
            </a:r>
            <a:endParaRPr lang="en-US" altLang="zh-CN" sz="1600" b="0" dirty="0">
              <a:latin typeface="+mn-lt"/>
              <a:ea typeface="+mn-ea"/>
              <a:cs typeface="+mn-ea"/>
              <a:sym typeface="+mn-lt"/>
            </a:endParaRPr>
          </a:p>
          <a:p>
            <a:pPr marL="285750" indent="-285750">
              <a:lnSpc>
                <a:spcPct val="150000"/>
              </a:lnSpc>
              <a:buFont typeface="Arial" panose="020B0604020202090204" pitchFamily="34" charset="0"/>
              <a:buChar char="•"/>
            </a:pPr>
            <a:r>
              <a:rPr lang="zh-CN" altLang="en-US" sz="1600" b="0" dirty="0">
                <a:latin typeface="+mn-lt"/>
                <a:ea typeface="+mn-ea"/>
                <a:cs typeface="+mn-ea"/>
                <a:sym typeface="+mn-lt"/>
              </a:rPr>
              <a:t>外拓式团队营销</a:t>
            </a:r>
            <a:endParaRPr lang="en-US" altLang="zh-CN" sz="1600" b="0" dirty="0">
              <a:latin typeface="+mn-lt"/>
              <a:ea typeface="+mn-ea"/>
              <a:cs typeface="+mn-ea"/>
              <a:sym typeface="+mn-lt"/>
            </a:endParaRPr>
          </a:p>
          <a:p>
            <a:pPr marL="285750" indent="-285750">
              <a:lnSpc>
                <a:spcPct val="150000"/>
              </a:lnSpc>
              <a:buFont typeface="Arial" panose="020B0604020202090204" pitchFamily="34" charset="0"/>
              <a:buChar char="•"/>
            </a:pPr>
            <a:r>
              <a:rPr lang="zh-CN" altLang="en-US" sz="1600" b="0" dirty="0">
                <a:latin typeface="+mn-lt"/>
                <a:ea typeface="+mn-ea"/>
                <a:cs typeface="+mn-ea"/>
                <a:sym typeface="+mn-lt"/>
              </a:rPr>
              <a:t>手机银行与智慧运营</a:t>
            </a:r>
            <a:endParaRPr lang="en-US" altLang="zh-CN" sz="1600" b="0" dirty="0">
              <a:latin typeface="+mn-lt"/>
              <a:ea typeface="+mn-ea"/>
              <a:cs typeface="+mn-ea"/>
              <a:sym typeface="+mn-lt"/>
            </a:endParaRPr>
          </a:p>
          <a:p>
            <a:pPr marL="285750" indent="-285750">
              <a:lnSpc>
                <a:spcPct val="150000"/>
              </a:lnSpc>
              <a:buFont typeface="Arial" panose="020B0604020202090204" pitchFamily="34" charset="0"/>
              <a:buChar char="•"/>
            </a:pPr>
            <a:r>
              <a:rPr lang="zh-CN" altLang="en-US" sz="1600" b="0" dirty="0">
                <a:latin typeface="+mn-lt"/>
                <a:ea typeface="+mn-ea"/>
                <a:cs typeface="+mn-ea"/>
                <a:sym typeface="+mn-lt"/>
              </a:rPr>
              <a:t>数字化获客方法与技巧</a:t>
            </a:r>
            <a:endParaRPr lang="zh-CN" altLang="en-US" sz="1600" b="0" dirty="0">
              <a:latin typeface="+mn-lt"/>
              <a:ea typeface="+mn-ea"/>
              <a:cs typeface="+mn-ea"/>
              <a:sym typeface="+mn-lt"/>
            </a:endParaRPr>
          </a:p>
        </p:txBody>
      </p:sp>
      <p:pic>
        <p:nvPicPr>
          <p:cNvPr id="3076" name="Picture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216187" y="2455998"/>
            <a:ext cx="3803479" cy="2331851"/>
          </a:xfrm>
          <a:prstGeom prst="rect">
            <a:avLst/>
          </a:prstGeom>
          <a:noFill/>
          <a:extLst>
            <a:ext uri="{909E8E84-426E-40DD-AFC4-6F175D3DCCD1}">
              <a14:hiddenFill xmlns:a14="http://schemas.microsoft.com/office/drawing/2010/main">
                <a:solidFill>
                  <a:srgbClr val="FFFFFF"/>
                </a:solidFill>
              </a14:hiddenFill>
            </a:ext>
          </a:extLst>
        </p:spPr>
      </p:pic>
      <p:sp>
        <p:nvSpPr>
          <p:cNvPr id="5"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
        <p:nvSpPr>
          <p:cNvPr id="2" name="矩形 1"/>
          <p:cNvSpPr/>
          <p:nvPr/>
        </p:nvSpPr>
        <p:spPr>
          <a:xfrm>
            <a:off x="695325" y="3059346"/>
            <a:ext cx="6090591" cy="3103696"/>
          </a:xfrm>
          <a:prstGeom prst="rect">
            <a:avLst/>
          </a:prstGeom>
          <a:ln>
            <a:solidFill>
              <a:srgbClr val="C00000"/>
            </a:solidFill>
            <a:prstDash val="lgDash"/>
          </a:ln>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6" name="文本框 5"/>
          <p:cNvSpPr txBox="1"/>
          <p:nvPr/>
        </p:nvSpPr>
        <p:spPr>
          <a:xfrm>
            <a:off x="694189" y="1221007"/>
            <a:ext cx="6198609" cy="923330"/>
          </a:xfrm>
          <a:prstGeom prst="rect">
            <a:avLst/>
          </a:prstGeom>
          <a:noFill/>
        </p:spPr>
        <p:txBody>
          <a:bodyPr wrap="square" rtlCol="0">
            <a:spAutoFit/>
          </a:bodyPr>
          <a:lstStyle/>
          <a:p>
            <a:r>
              <a:rPr lang="zh-CN" altLang="en-US" sz="1800" kern="100" dirty="0">
                <a:latin typeface="+mn-ea"/>
                <a:ea typeface="+mn-ea"/>
                <a:cs typeface="Times New Roman" panose="02020503050405090304" pitchFamily="18" charset="0"/>
              </a:rPr>
              <a:t>项目目标：</a:t>
            </a:r>
            <a:r>
              <a:rPr lang="zh-CN" altLang="zh-CN" sz="1800" kern="100" dirty="0">
                <a:latin typeface="+mn-ea"/>
                <a:ea typeface="+mn-ea"/>
                <a:cs typeface="Times New Roman" panose="02020503050405090304" pitchFamily="18" charset="0"/>
              </a:rPr>
              <a:t>锻造一支业务知识全面、客户服务能力突出的基层网点人才队伍。推动网点职责</a:t>
            </a:r>
            <a:r>
              <a:rPr lang="zh-CN" altLang="en-US" sz="1800" kern="100" dirty="0">
                <a:latin typeface="+mn-ea"/>
                <a:ea typeface="+mn-ea"/>
                <a:cs typeface="Times New Roman" panose="02020503050405090304" pitchFamily="18" charset="0"/>
              </a:rPr>
              <a:t>和能力</a:t>
            </a:r>
            <a:r>
              <a:rPr lang="zh-CN" altLang="zh-CN" sz="1800" kern="100" dirty="0">
                <a:latin typeface="+mn-ea"/>
                <a:ea typeface="+mn-ea"/>
                <a:cs typeface="Times New Roman" panose="02020503050405090304" pitchFamily="18" charset="0"/>
              </a:rPr>
              <a:t>综合化</a:t>
            </a:r>
            <a:r>
              <a:rPr lang="zh-CN" altLang="en-US" sz="1800" kern="100" dirty="0">
                <a:latin typeface="+mn-ea"/>
                <a:ea typeface="+mn-ea"/>
                <a:cs typeface="Times New Roman" panose="02020503050405090304" pitchFamily="18" charset="0"/>
              </a:rPr>
              <a:t>，全力推动网点人员转型</a:t>
            </a:r>
            <a:r>
              <a:rPr lang="zh-CN" altLang="zh-CN" sz="1800" kern="100" dirty="0">
                <a:latin typeface="+mn-ea"/>
                <a:ea typeface="+mn-ea"/>
                <a:cs typeface="Times New Roman" panose="02020503050405090304" pitchFamily="18" charset="0"/>
              </a:rPr>
              <a:t>。</a:t>
            </a:r>
            <a:r>
              <a:rPr lang="zh-CN" altLang="zh-CN" sz="1600" dirty="0">
                <a:latin typeface="+mn-ea"/>
                <a:ea typeface="+mn-ea"/>
              </a:rPr>
              <a:t> </a:t>
            </a:r>
            <a:endParaRPr kumimoji="1" lang="zh-CN" altLang="en-US" sz="1600" dirty="0">
              <a:latin typeface="+mn-ea"/>
              <a:ea typeface="+mn-ea"/>
            </a:endParaRPr>
          </a:p>
        </p:txBody>
      </p:sp>
      <p:sp>
        <p:nvSpPr>
          <p:cNvPr id="8" name="矩形 7"/>
          <p:cNvSpPr/>
          <p:nvPr/>
        </p:nvSpPr>
        <p:spPr>
          <a:xfrm>
            <a:off x="695325" y="2509579"/>
            <a:ext cx="6198609" cy="4316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cs typeface="+mn-ea"/>
              <a:sym typeface="+mn-lt"/>
            </a:endParaRPr>
          </a:p>
        </p:txBody>
      </p:sp>
      <p:sp>
        <p:nvSpPr>
          <p:cNvPr id="7" name="矩形 6"/>
          <p:cNvSpPr/>
          <p:nvPr/>
        </p:nvSpPr>
        <p:spPr>
          <a:xfrm>
            <a:off x="858019" y="2491618"/>
            <a:ext cx="6135013" cy="417678"/>
          </a:xfrm>
          <a:prstGeom prst="rect">
            <a:avLst/>
          </a:prstGeom>
        </p:spPr>
        <p:txBody>
          <a:bodyPr wrap="none">
            <a:spAutoFit/>
          </a:bodyPr>
          <a:lstStyle/>
          <a:p>
            <a:pPr lvl="0">
              <a:lnSpc>
                <a:spcPct val="150000"/>
              </a:lnSpc>
            </a:pPr>
            <a:r>
              <a:rPr lang="zh-CN" altLang="en-US" sz="1600" dirty="0">
                <a:solidFill>
                  <a:schemeClr val="bg1"/>
                </a:solidFill>
                <a:ea typeface="华文中宋" panose="02010600040101010101" pitchFamily="2" charset="-122"/>
                <a:cs typeface="+mn-ea"/>
                <a:sym typeface="+mn-lt"/>
              </a:rPr>
              <a:t>量化目标：</a:t>
            </a:r>
            <a:r>
              <a:rPr lang="zh-CN" altLang="en-US" sz="1600" b="0" dirty="0">
                <a:solidFill>
                  <a:schemeClr val="bg1"/>
                </a:solidFill>
                <a:ea typeface="华文中宋" panose="02010600040101010101" pitchFamily="2" charset="-122"/>
                <a:cs typeface="+mn-ea"/>
                <a:sym typeface="+mn-lt"/>
              </a:rPr>
              <a:t>销售人员培训占比55%以上，促进网点人效大幅提升。</a:t>
            </a:r>
            <a:endParaRPr lang="zh-CN" altLang="en-US" sz="1600" b="0" dirty="0">
              <a:solidFill>
                <a:schemeClr val="bg1"/>
              </a:solidFill>
              <a:ea typeface="华文中宋" panose="02010600040101010101" pitchFamily="2" charset="-122"/>
              <a:cs typeface="+mn-ea"/>
              <a:sym typeface="+mn-l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95325" y="220603"/>
            <a:ext cx="9252877"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10</a:t>
            </a:r>
            <a:r>
              <a:rPr kumimoji="1" lang="zh-CN" altLang="en-US" sz="2000" dirty="0">
                <a:latin typeface="+mn-lt"/>
                <a:ea typeface="+mn-ea"/>
                <a:cs typeface="+mn-ea"/>
                <a:sym typeface="+mn-lt"/>
              </a:rPr>
              <a:t>、发展直接面向客户的培训，助推业务发展</a:t>
            </a:r>
            <a:endParaRPr kumimoji="1" lang="en-US" altLang="zh-CN" sz="2000" dirty="0">
              <a:latin typeface="+mn-lt"/>
              <a:ea typeface="+mn-ea"/>
              <a:cs typeface="+mn-ea"/>
              <a:sym typeface="+mn-lt"/>
            </a:endParaRPr>
          </a:p>
        </p:txBody>
      </p:sp>
      <p:sp>
        <p:nvSpPr>
          <p:cNvPr id="4" name="文本框 3"/>
          <p:cNvSpPr txBox="1"/>
          <p:nvPr/>
        </p:nvSpPr>
        <p:spPr>
          <a:xfrm>
            <a:off x="443059" y="2449824"/>
            <a:ext cx="5435227" cy="2535822"/>
          </a:xfrm>
          <a:prstGeom prst="rect">
            <a:avLst/>
          </a:prstGeom>
          <a:noFill/>
        </p:spPr>
        <p:txBody>
          <a:bodyPr wrap="square">
            <a:spAutoFit/>
          </a:bodyPr>
          <a:lstStyle/>
          <a:p>
            <a:pPr marL="342900" indent="-342900">
              <a:lnSpc>
                <a:spcPct val="150000"/>
              </a:lnSpc>
              <a:buFont typeface="Wingdings" panose="05000000000000000000" pitchFamily="2" charset="2"/>
              <a:buChar char="l"/>
            </a:pPr>
            <a:r>
              <a:rPr lang="zh-CN" altLang="en-US" sz="1800" dirty="0">
                <a:latin typeface="+mn-lt"/>
                <a:ea typeface="+mn-ea"/>
                <a:cs typeface="+mn-ea"/>
                <a:sym typeface="+mn-lt"/>
              </a:rPr>
              <a:t>介绍产品和服务方案</a:t>
            </a:r>
            <a:endParaRPr lang="zh-CN" altLang="en-US" sz="1800" dirty="0">
              <a:latin typeface="+mn-lt"/>
              <a:ea typeface="+mn-ea"/>
              <a:cs typeface="+mn-ea"/>
              <a:sym typeface="+mn-lt"/>
            </a:endParaRPr>
          </a:p>
          <a:p>
            <a:pPr marL="342900" indent="-342900">
              <a:lnSpc>
                <a:spcPct val="150000"/>
              </a:lnSpc>
              <a:buFont typeface="Wingdings" panose="05000000000000000000" pitchFamily="2" charset="2"/>
              <a:buChar char="l"/>
            </a:pPr>
            <a:r>
              <a:rPr lang="zh-CN" altLang="en-US" sz="1800" dirty="0">
                <a:latin typeface="+mn-lt"/>
                <a:ea typeface="+mn-ea"/>
                <a:cs typeface="+mn-ea"/>
                <a:sym typeface="+mn-lt"/>
              </a:rPr>
              <a:t>安全风险合规教育</a:t>
            </a:r>
            <a:endParaRPr lang="zh-CN" altLang="en-US" sz="1800" dirty="0">
              <a:latin typeface="+mn-lt"/>
              <a:ea typeface="+mn-ea"/>
              <a:cs typeface="+mn-ea"/>
              <a:sym typeface="+mn-lt"/>
            </a:endParaRPr>
          </a:p>
          <a:p>
            <a:pPr marL="342900" indent="-342900">
              <a:lnSpc>
                <a:spcPct val="150000"/>
              </a:lnSpc>
              <a:buFont typeface="Wingdings" panose="05000000000000000000" pitchFamily="2" charset="2"/>
              <a:buChar char="l"/>
            </a:pPr>
            <a:r>
              <a:rPr lang="zh-CN" altLang="en-US" sz="1800" dirty="0">
                <a:latin typeface="+mn-lt"/>
                <a:ea typeface="+mn-ea"/>
                <a:cs typeface="+mn-ea"/>
                <a:sym typeface="+mn-lt"/>
              </a:rPr>
              <a:t>展示自身文化、价值理念、品牌形象</a:t>
            </a:r>
            <a:endParaRPr lang="zh-CN" altLang="en-US" sz="1800" dirty="0">
              <a:latin typeface="+mn-lt"/>
              <a:ea typeface="+mn-ea"/>
              <a:cs typeface="+mn-ea"/>
              <a:sym typeface="+mn-lt"/>
            </a:endParaRPr>
          </a:p>
          <a:p>
            <a:pPr marL="342900" indent="-342900">
              <a:lnSpc>
                <a:spcPct val="150000"/>
              </a:lnSpc>
              <a:buFont typeface="Wingdings" panose="05000000000000000000" pitchFamily="2" charset="2"/>
              <a:buChar char="l"/>
            </a:pPr>
            <a:r>
              <a:rPr lang="zh-CN" altLang="en-US" sz="1800" dirty="0">
                <a:latin typeface="+mn-lt"/>
                <a:ea typeface="+mn-ea"/>
                <a:cs typeface="+mn-ea"/>
                <a:sym typeface="+mn-lt"/>
              </a:rPr>
              <a:t>落实国家政策、承担社会责任</a:t>
            </a:r>
            <a:endParaRPr lang="zh-CN" altLang="en-US" sz="1800" dirty="0">
              <a:latin typeface="+mn-lt"/>
              <a:ea typeface="+mn-ea"/>
              <a:cs typeface="+mn-ea"/>
              <a:sym typeface="+mn-lt"/>
            </a:endParaRPr>
          </a:p>
          <a:p>
            <a:pPr marL="342900" indent="-342900">
              <a:lnSpc>
                <a:spcPct val="150000"/>
              </a:lnSpc>
              <a:buFont typeface="Wingdings" panose="05000000000000000000" pitchFamily="2" charset="2"/>
              <a:buChar char="l"/>
            </a:pPr>
            <a:r>
              <a:rPr lang="zh-CN" altLang="en-US" sz="1800" dirty="0">
                <a:latin typeface="+mn-lt"/>
                <a:ea typeface="+mn-ea"/>
                <a:cs typeface="+mn-ea"/>
                <a:sym typeface="+mn-lt"/>
              </a:rPr>
              <a:t>帮助客户成长，满足客户的个性化需求</a:t>
            </a:r>
            <a:endParaRPr lang="zh-CN" altLang="en-US" sz="1800" dirty="0">
              <a:latin typeface="+mn-lt"/>
              <a:ea typeface="+mn-ea"/>
              <a:cs typeface="+mn-ea"/>
              <a:sym typeface="+mn-lt"/>
            </a:endParaRPr>
          </a:p>
          <a:p>
            <a:pPr marL="342900" indent="-342900">
              <a:lnSpc>
                <a:spcPct val="150000"/>
              </a:lnSpc>
              <a:buFont typeface="Wingdings" panose="05000000000000000000" pitchFamily="2" charset="2"/>
              <a:buChar char="l"/>
            </a:pPr>
            <a:r>
              <a:rPr lang="zh-CN" altLang="en-US" sz="1800" dirty="0">
                <a:latin typeface="+mn-lt"/>
                <a:ea typeface="+mn-ea"/>
                <a:cs typeface="+mn-ea"/>
                <a:sym typeface="+mn-lt"/>
              </a:rPr>
              <a:t>与客户共创，推进产品创新、经营管理优化</a:t>
            </a:r>
            <a:endParaRPr lang="zh-CN" altLang="en-US" sz="1800" dirty="0">
              <a:latin typeface="+mn-lt"/>
              <a:ea typeface="+mn-ea"/>
              <a:cs typeface="+mn-ea"/>
              <a:sym typeface="+mn-lt"/>
            </a:endParaRPr>
          </a:p>
        </p:txBody>
      </p:sp>
      <p:sp>
        <p:nvSpPr>
          <p:cNvPr id="5" name="矩形 4"/>
          <p:cNvSpPr/>
          <p:nvPr/>
        </p:nvSpPr>
        <p:spPr>
          <a:xfrm>
            <a:off x="6479177" y="2236377"/>
            <a:ext cx="5269764" cy="358732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20000"/>
              </a:lnSpc>
              <a:buFont typeface="Wingdings" panose="05000000000000000000" pitchFamily="2" charset="2"/>
              <a:buChar char="Ø"/>
            </a:pPr>
            <a:r>
              <a:rPr lang="zh-CN" altLang="en-US" sz="1800" dirty="0">
                <a:solidFill>
                  <a:srgbClr val="C00000"/>
                </a:solidFill>
                <a:cs typeface="+mn-ea"/>
                <a:sym typeface="+mn-lt"/>
              </a:rPr>
              <a:t>“一带一路”国际金融交流合作项目</a:t>
            </a:r>
            <a:endParaRPr lang="zh-CN" altLang="en-US" sz="1800" dirty="0">
              <a:solidFill>
                <a:srgbClr val="C00000"/>
              </a:solidFill>
              <a:cs typeface="+mn-ea"/>
              <a:sym typeface="+mn-lt"/>
            </a:endParaRPr>
          </a:p>
          <a:p>
            <a:pPr marL="342900" indent="-342900">
              <a:lnSpc>
                <a:spcPct val="120000"/>
              </a:lnSpc>
              <a:buFont typeface="Wingdings" panose="05000000000000000000" pitchFamily="2" charset="2"/>
              <a:buChar char="Ø"/>
            </a:pPr>
            <a:r>
              <a:rPr lang="zh-CN" altLang="en-US" sz="1800" dirty="0">
                <a:solidFill>
                  <a:srgbClr val="C00000"/>
                </a:solidFill>
                <a:cs typeface="+mn-ea"/>
                <a:sym typeface="+mn-lt"/>
              </a:rPr>
              <a:t>慧政学堂项目</a:t>
            </a:r>
            <a:endParaRPr lang="zh-CN" altLang="en-US" sz="1800" dirty="0">
              <a:solidFill>
                <a:srgbClr val="C00000"/>
              </a:solidFill>
              <a:cs typeface="+mn-ea"/>
              <a:sym typeface="+mn-lt"/>
            </a:endParaRPr>
          </a:p>
          <a:p>
            <a:pPr marL="342900" indent="-342900">
              <a:lnSpc>
                <a:spcPct val="120000"/>
              </a:lnSpc>
              <a:buFont typeface="Wingdings" panose="05000000000000000000" pitchFamily="2" charset="2"/>
              <a:buChar char="Ø"/>
            </a:pPr>
            <a:r>
              <a:rPr lang="zh-CN" altLang="en-US" sz="1800" dirty="0">
                <a:solidFill>
                  <a:srgbClr val="C00000"/>
                </a:solidFill>
                <a:cs typeface="+mn-ea"/>
                <a:sym typeface="+mn-lt"/>
              </a:rPr>
              <a:t>扶贫扶智项目</a:t>
            </a:r>
            <a:endParaRPr lang="zh-CN" altLang="en-US" sz="1800" dirty="0">
              <a:solidFill>
                <a:srgbClr val="C00000"/>
              </a:solidFill>
              <a:cs typeface="+mn-ea"/>
              <a:sym typeface="+mn-lt"/>
            </a:endParaRPr>
          </a:p>
          <a:p>
            <a:pPr marL="342900" indent="-342900">
              <a:lnSpc>
                <a:spcPct val="120000"/>
              </a:lnSpc>
              <a:buFont typeface="Wingdings" panose="05000000000000000000" pitchFamily="2" charset="2"/>
              <a:buChar char="Ø"/>
            </a:pPr>
            <a:r>
              <a:rPr lang="zh-CN" altLang="en-US" sz="1800" dirty="0">
                <a:solidFill>
                  <a:srgbClr val="C00000"/>
                </a:solidFill>
                <a:cs typeface="+mn-ea"/>
                <a:sym typeface="+mn-lt"/>
              </a:rPr>
              <a:t>中小学校长培训项目</a:t>
            </a:r>
            <a:endParaRPr lang="zh-CN" altLang="en-US" sz="1800" dirty="0">
              <a:solidFill>
                <a:srgbClr val="C00000"/>
              </a:solidFill>
              <a:cs typeface="+mn-ea"/>
              <a:sym typeface="+mn-lt"/>
            </a:endParaRPr>
          </a:p>
          <a:p>
            <a:pPr marL="342900" indent="-342900">
              <a:lnSpc>
                <a:spcPct val="120000"/>
              </a:lnSpc>
              <a:buFont typeface="Wingdings" panose="05000000000000000000" pitchFamily="2" charset="2"/>
              <a:buChar char="Ø"/>
            </a:pPr>
            <a:r>
              <a:rPr lang="zh-CN" altLang="en-US" sz="1800" dirty="0">
                <a:solidFill>
                  <a:srgbClr val="C00000"/>
                </a:solidFill>
                <a:cs typeface="+mn-ea"/>
                <a:sym typeface="+mn-lt"/>
              </a:rPr>
              <a:t>大学生培训项目</a:t>
            </a:r>
            <a:endParaRPr lang="zh-CN" altLang="en-US" sz="1800" dirty="0">
              <a:solidFill>
                <a:srgbClr val="C00000"/>
              </a:solidFill>
              <a:cs typeface="+mn-ea"/>
              <a:sym typeface="+mn-lt"/>
            </a:endParaRPr>
          </a:p>
          <a:p>
            <a:pPr marL="342900" indent="-342900">
              <a:lnSpc>
                <a:spcPct val="120000"/>
              </a:lnSpc>
              <a:buFont typeface="Wingdings" panose="05000000000000000000" pitchFamily="2" charset="2"/>
              <a:buChar char="Ø"/>
            </a:pPr>
            <a:r>
              <a:rPr lang="zh-CN" altLang="en-US" sz="1800" dirty="0">
                <a:solidFill>
                  <a:srgbClr val="C00000"/>
                </a:solidFill>
                <a:cs typeface="+mn-ea"/>
                <a:sym typeface="+mn-lt"/>
              </a:rPr>
              <a:t>绿色金融与普惠金融对外培训项目</a:t>
            </a:r>
            <a:endParaRPr lang="zh-CN" altLang="en-US" sz="1800" dirty="0">
              <a:solidFill>
                <a:srgbClr val="C00000"/>
              </a:solidFill>
              <a:cs typeface="+mn-ea"/>
              <a:sym typeface="+mn-lt"/>
            </a:endParaRPr>
          </a:p>
          <a:p>
            <a:pPr marL="342900" indent="-342900">
              <a:lnSpc>
                <a:spcPct val="120000"/>
              </a:lnSpc>
              <a:buFont typeface="Wingdings" panose="05000000000000000000" pitchFamily="2" charset="2"/>
              <a:buChar char="Ø"/>
            </a:pPr>
            <a:r>
              <a:rPr lang="zh-CN" altLang="en-US" sz="1800" dirty="0">
                <a:solidFill>
                  <a:srgbClr val="C00000"/>
                </a:solidFill>
                <a:cs typeface="+mn-ea"/>
                <a:sym typeface="+mn-lt"/>
              </a:rPr>
              <a:t>重点客户营销项目</a:t>
            </a:r>
            <a:endParaRPr lang="zh-CN" altLang="en-US" sz="1800" dirty="0">
              <a:solidFill>
                <a:srgbClr val="C00000"/>
              </a:solidFill>
              <a:cs typeface="+mn-ea"/>
              <a:sym typeface="+mn-lt"/>
            </a:endParaRPr>
          </a:p>
        </p:txBody>
      </p:sp>
      <p:sp>
        <p:nvSpPr>
          <p:cNvPr id="6" name="矩形 5"/>
          <p:cNvSpPr/>
          <p:nvPr/>
        </p:nvSpPr>
        <p:spPr>
          <a:xfrm>
            <a:off x="443059" y="1463041"/>
            <a:ext cx="5435227" cy="5232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培训目的</a:t>
            </a:r>
            <a:endParaRPr lang="zh-CN" altLang="en-US" sz="2000" b="1" dirty="0">
              <a:cs typeface="+mn-ea"/>
              <a:sym typeface="+mn-lt"/>
            </a:endParaRPr>
          </a:p>
        </p:txBody>
      </p:sp>
      <p:sp>
        <p:nvSpPr>
          <p:cNvPr id="7" name="矩形 6"/>
          <p:cNvSpPr/>
          <p:nvPr/>
        </p:nvSpPr>
        <p:spPr>
          <a:xfrm>
            <a:off x="6479178" y="1463041"/>
            <a:ext cx="5269764" cy="5232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cs typeface="+mn-ea"/>
                <a:sym typeface="+mn-lt"/>
              </a:rPr>
              <a:t>重点项目</a:t>
            </a:r>
            <a:endParaRPr lang="zh-CN" altLang="en-US" sz="2000" dirty="0">
              <a:cs typeface="+mn-ea"/>
              <a:sym typeface="+mn-lt"/>
            </a:endParaRPr>
          </a:p>
        </p:txBody>
      </p:sp>
      <p:sp>
        <p:nvSpPr>
          <p:cNvPr id="8"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3571638" y="1435954"/>
            <a:ext cx="0" cy="493656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313509" y="1435954"/>
            <a:ext cx="3050716" cy="3693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cs typeface="+mn-ea"/>
                <a:sym typeface="+mn-lt"/>
              </a:rPr>
              <a:t>一级大纲</a:t>
            </a:r>
            <a:endParaRPr lang="zh-CN" altLang="en-US" sz="1800" b="1" dirty="0">
              <a:cs typeface="+mn-ea"/>
              <a:sym typeface="+mn-lt"/>
            </a:endParaRPr>
          </a:p>
        </p:txBody>
      </p:sp>
      <p:graphicFrame>
        <p:nvGraphicFramePr>
          <p:cNvPr id="4" name="表格 3"/>
          <p:cNvGraphicFramePr>
            <a:graphicFrameLocks noGrp="1"/>
          </p:cNvGraphicFramePr>
          <p:nvPr/>
        </p:nvGraphicFramePr>
        <p:xfrm>
          <a:off x="313510" y="1920412"/>
          <a:ext cx="3044370" cy="4452108"/>
        </p:xfrm>
        <a:graphic>
          <a:graphicData uri="http://schemas.openxmlformats.org/drawingml/2006/table">
            <a:tbl>
              <a:tblPr firstRow="1" firstCol="1" bandRow="1">
                <a:tableStyleId>{5940675A-B579-460E-94D1-54222C63F5DA}</a:tableStyleId>
              </a:tblPr>
              <a:tblGrid>
                <a:gridCol w="1058090"/>
                <a:gridCol w="1986280"/>
              </a:tblGrid>
              <a:tr h="742018">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zh-CN" sz="1600" b="1" kern="100" dirty="0">
                          <a:solidFill>
                            <a:schemeClr val="tx1"/>
                          </a:solidFill>
                          <a:effectLst/>
                          <a:latin typeface="+mn-lt"/>
                          <a:ea typeface="+mn-ea"/>
                          <a:cs typeface="+mn-ea"/>
                          <a:sym typeface="+mn-lt"/>
                        </a:rPr>
                        <a:t>第一章</a:t>
                      </a:r>
                      <a:endParaRPr lang="zh-CN" altLang="zh-CN" sz="1600" b="1" kern="100" dirty="0">
                        <a:solidFill>
                          <a:schemeClr val="tx1"/>
                        </a:solidFill>
                        <a:effectLst/>
                        <a:latin typeface="+mn-lt"/>
                        <a:ea typeface="+mn-ea"/>
                        <a:cs typeface="+mn-ea"/>
                        <a:sym typeface="+mn-lt"/>
                      </a:endParaRPr>
                    </a:p>
                  </a:txBody>
                  <a:tcPr marL="50270" marR="50270" marT="0" marB="0" anchor="ctr">
                    <a:noFill/>
                  </a:tcPr>
                </a:tc>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600" b="1" kern="100" dirty="0">
                          <a:solidFill>
                            <a:srgbClr val="C00000"/>
                          </a:solidFill>
                          <a:effectLst/>
                          <a:latin typeface="+mn-lt"/>
                          <a:ea typeface="+mn-ea"/>
                          <a:cs typeface="+mn-ea"/>
                          <a:sym typeface="+mn-lt"/>
                        </a:rPr>
                        <a:t>发展环境</a:t>
                      </a:r>
                      <a:endParaRPr lang="zh-CN" altLang="zh-CN" sz="1600" b="1" kern="100" dirty="0">
                        <a:solidFill>
                          <a:srgbClr val="C00000"/>
                        </a:solidFill>
                        <a:effectLst/>
                        <a:latin typeface="+mn-lt"/>
                        <a:ea typeface="+mn-ea"/>
                        <a:cs typeface="+mn-ea"/>
                        <a:sym typeface="+mn-lt"/>
                      </a:endParaRPr>
                    </a:p>
                  </a:txBody>
                  <a:tcPr marL="50270" marR="50270" marT="0" marB="0" anchor="ctr">
                    <a:noFill/>
                  </a:tcPr>
                </a:tc>
              </a:tr>
              <a:tr h="742018">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en-US" sz="1600" b="1" kern="100" dirty="0">
                          <a:solidFill>
                            <a:schemeClr val="tx1"/>
                          </a:solidFill>
                          <a:effectLst/>
                          <a:latin typeface="+mn-lt"/>
                          <a:ea typeface="+mn-ea"/>
                          <a:cs typeface="+mn-ea"/>
                          <a:sym typeface="+mn-lt"/>
                        </a:rPr>
                        <a:t>第二章</a:t>
                      </a:r>
                      <a:endParaRPr lang="zh-CN" altLang="en-US" sz="1600" b="1" kern="100" dirty="0">
                        <a:solidFill>
                          <a:schemeClr val="tx1"/>
                        </a:solidFill>
                        <a:effectLst/>
                        <a:latin typeface="+mn-lt"/>
                        <a:ea typeface="+mn-ea"/>
                        <a:cs typeface="+mn-ea"/>
                        <a:sym typeface="+mn-lt"/>
                      </a:endParaRPr>
                    </a:p>
                  </a:txBody>
                  <a:tcPr marL="50270" marR="50270" marT="0" marB="0" anchor="ctr">
                    <a:noFill/>
                  </a:tcPr>
                </a:tc>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600" b="1" kern="100" dirty="0">
                          <a:solidFill>
                            <a:srgbClr val="C00000"/>
                          </a:solidFill>
                          <a:effectLst/>
                          <a:latin typeface="+mn-lt"/>
                          <a:ea typeface="+mn-ea"/>
                          <a:cs typeface="+mn-ea"/>
                          <a:sym typeface="+mn-lt"/>
                        </a:rPr>
                        <a:t>总体布局</a:t>
                      </a:r>
                      <a:endParaRPr lang="zh-CN" altLang="en-US" sz="1600" b="1" kern="100" dirty="0">
                        <a:solidFill>
                          <a:srgbClr val="C00000"/>
                        </a:solidFill>
                        <a:effectLst/>
                        <a:latin typeface="+mn-lt"/>
                        <a:ea typeface="+mn-ea"/>
                        <a:cs typeface="+mn-ea"/>
                        <a:sym typeface="+mn-lt"/>
                      </a:endParaRPr>
                    </a:p>
                  </a:txBody>
                  <a:tcPr marL="50270" marR="50270" marT="0" marB="0" anchor="ctr">
                    <a:noFill/>
                  </a:tcPr>
                </a:tc>
              </a:tr>
              <a:tr h="742018">
                <a:tc>
                  <a:txBody>
                    <a:bodyPr/>
                    <a:lstStyle/>
                    <a:p>
                      <a:pPr marL="0" algn="ctr" defTabSz="914400" rtl="0" eaLnBrk="1" latinLnBrk="0" hangingPunct="1">
                        <a:lnSpc>
                          <a:spcPct val="130000"/>
                        </a:lnSpc>
                      </a:pPr>
                      <a:r>
                        <a:rPr lang="zh-CN" altLang="en-US" sz="1600" b="1" kern="100" dirty="0">
                          <a:solidFill>
                            <a:schemeClr val="tx1"/>
                          </a:solidFill>
                          <a:effectLst/>
                          <a:latin typeface="+mn-lt"/>
                          <a:ea typeface="+mn-ea"/>
                          <a:cs typeface="+mn-ea"/>
                          <a:sym typeface="+mn-lt"/>
                        </a:rPr>
                        <a:t>第三章</a:t>
                      </a:r>
                      <a:endParaRPr lang="zh-CN" altLang="en-US" sz="1600" b="1" kern="100" dirty="0">
                        <a:solidFill>
                          <a:schemeClr val="tx1"/>
                        </a:solidFill>
                        <a:effectLst/>
                        <a:latin typeface="+mn-lt"/>
                        <a:ea typeface="+mn-ea"/>
                        <a:cs typeface="+mn-ea"/>
                        <a:sym typeface="+mn-lt"/>
                      </a:endParaRPr>
                    </a:p>
                  </a:txBody>
                  <a:tcPr marL="50270" marR="50270" marT="0" marB="0" anchor="ctr">
                    <a:noFill/>
                  </a:tcPr>
                </a:tc>
                <a:tc>
                  <a:txBody>
                    <a:bodyPr/>
                    <a:lstStyle/>
                    <a:p>
                      <a:pPr marL="0" algn="ctr" defTabSz="914400" rtl="0" eaLnBrk="1" latinLnBrk="0" hangingPunct="1">
                        <a:lnSpc>
                          <a:spcPct val="120000"/>
                        </a:lnSpc>
                      </a:pPr>
                      <a:r>
                        <a:rPr lang="zh-CN" altLang="en-US" sz="1600" b="1" kern="100" dirty="0">
                          <a:solidFill>
                            <a:srgbClr val="C00000"/>
                          </a:solidFill>
                          <a:effectLst/>
                          <a:latin typeface="+mn-lt"/>
                          <a:ea typeface="+mn-ea"/>
                          <a:cs typeface="+mn-ea"/>
                          <a:sym typeface="+mn-lt"/>
                        </a:rPr>
                        <a:t>项目建设</a:t>
                      </a:r>
                      <a:endParaRPr lang="zh-CN" altLang="zh-CN" sz="1600" b="1" kern="100" dirty="0">
                        <a:solidFill>
                          <a:srgbClr val="C00000"/>
                        </a:solidFill>
                        <a:effectLst/>
                        <a:latin typeface="+mn-lt"/>
                        <a:ea typeface="+mn-ea"/>
                        <a:cs typeface="+mn-ea"/>
                        <a:sym typeface="+mn-lt"/>
                      </a:endParaRPr>
                    </a:p>
                  </a:txBody>
                  <a:tcPr marL="50270" marR="50270" marT="0" marB="0" anchor="ctr">
                    <a:noFill/>
                  </a:tcPr>
                </a:tc>
              </a:tr>
              <a:tr h="742018">
                <a:tc>
                  <a:txBody>
                    <a:bodyPr/>
                    <a:lstStyle/>
                    <a:p>
                      <a:pPr algn="ctr">
                        <a:lnSpc>
                          <a:spcPct val="130000"/>
                        </a:lnSpc>
                      </a:pPr>
                      <a:r>
                        <a:rPr lang="zh-CN" altLang="en-US" sz="1800" b="1" kern="100" dirty="0">
                          <a:solidFill>
                            <a:schemeClr val="bg1"/>
                          </a:solidFill>
                          <a:effectLst/>
                          <a:latin typeface="+mn-lt"/>
                          <a:ea typeface="+mn-ea"/>
                          <a:cs typeface="+mn-ea"/>
                          <a:sym typeface="+mn-lt"/>
                        </a:rPr>
                        <a:t>第四章</a:t>
                      </a:r>
                      <a:endParaRPr lang="zh-CN" sz="1800" b="1" kern="100" dirty="0">
                        <a:solidFill>
                          <a:schemeClr val="bg1"/>
                        </a:solidFill>
                        <a:effectLst/>
                        <a:latin typeface="+mn-lt"/>
                        <a:ea typeface="+mn-ea"/>
                        <a:cs typeface="+mn-ea"/>
                        <a:sym typeface="+mn-lt"/>
                      </a:endParaRPr>
                    </a:p>
                  </a:txBody>
                  <a:tcPr marL="50270" marR="50270" marT="0" marB="0" anchor="ctr">
                    <a:solidFill>
                      <a:srgbClr val="C00000"/>
                    </a:solidFill>
                  </a:tcPr>
                </a:tc>
                <a:tc>
                  <a:txBody>
                    <a:bodyPr/>
                    <a:lstStyle/>
                    <a:p>
                      <a:pPr algn="ctr">
                        <a:lnSpc>
                          <a:spcPct val="120000"/>
                        </a:lnSpc>
                      </a:pPr>
                      <a:r>
                        <a:rPr lang="zh-CN" altLang="en-US" sz="1800" b="1" kern="100" dirty="0">
                          <a:solidFill>
                            <a:schemeClr val="bg1"/>
                          </a:solidFill>
                          <a:effectLst/>
                          <a:latin typeface="+mn-lt"/>
                          <a:ea typeface="+mn-ea"/>
                          <a:cs typeface="+mn-ea"/>
                          <a:sym typeface="+mn-lt"/>
                        </a:rPr>
                        <a:t>能力建设</a:t>
                      </a:r>
                      <a:endParaRPr lang="zh-CN" sz="1800" b="1" kern="100" dirty="0">
                        <a:solidFill>
                          <a:schemeClr val="bg1"/>
                        </a:solidFill>
                        <a:effectLst/>
                        <a:latin typeface="+mn-lt"/>
                        <a:ea typeface="+mn-ea"/>
                        <a:cs typeface="+mn-ea"/>
                        <a:sym typeface="+mn-lt"/>
                      </a:endParaRPr>
                    </a:p>
                  </a:txBody>
                  <a:tcPr marL="50270" marR="50270" marT="0" marB="0" anchor="ctr">
                    <a:solidFill>
                      <a:srgbClr val="C00000"/>
                    </a:solidFill>
                  </a:tcPr>
                </a:tc>
              </a:tr>
              <a:tr h="742018">
                <a:tc>
                  <a:txBody>
                    <a:bodyPr/>
                    <a:lstStyle/>
                    <a:p>
                      <a:pPr algn="ctr">
                        <a:lnSpc>
                          <a:spcPct val="130000"/>
                        </a:lnSpc>
                      </a:pPr>
                      <a:r>
                        <a:rPr lang="zh-CN" sz="1600" b="1" kern="100" dirty="0">
                          <a:effectLst/>
                          <a:latin typeface="+mn-lt"/>
                          <a:ea typeface="+mn-ea"/>
                          <a:cs typeface="+mn-ea"/>
                          <a:sym typeface="+mn-lt"/>
                        </a:rPr>
                        <a:t>第</a:t>
                      </a:r>
                      <a:r>
                        <a:rPr lang="zh-CN" altLang="en-US" sz="1600" b="1" kern="100" dirty="0">
                          <a:effectLst/>
                          <a:latin typeface="+mn-lt"/>
                          <a:ea typeface="+mn-ea"/>
                          <a:cs typeface="+mn-ea"/>
                          <a:sym typeface="+mn-lt"/>
                        </a:rPr>
                        <a:t>五</a:t>
                      </a:r>
                      <a:r>
                        <a:rPr lang="zh-CN" sz="1600" b="1" kern="100" dirty="0">
                          <a:effectLst/>
                          <a:latin typeface="+mn-lt"/>
                          <a:ea typeface="+mn-ea"/>
                          <a:cs typeface="+mn-ea"/>
                          <a:sym typeface="+mn-lt"/>
                        </a:rPr>
                        <a:t>章</a:t>
                      </a:r>
                      <a:endParaRPr lang="zh-CN" sz="1600" b="1" kern="100" dirty="0">
                        <a:effectLst/>
                        <a:latin typeface="+mn-lt"/>
                        <a:ea typeface="+mn-ea"/>
                        <a:cs typeface="+mn-ea"/>
                        <a:sym typeface="+mn-lt"/>
                      </a:endParaRPr>
                    </a:p>
                  </a:txBody>
                  <a:tcPr marL="50270" marR="50270" marT="0" marB="0" anchor="ctr"/>
                </a:tc>
                <a:tc>
                  <a:txBody>
                    <a:bodyPr/>
                    <a:lstStyle/>
                    <a:p>
                      <a:pPr algn="ctr">
                        <a:lnSpc>
                          <a:spcPct val="120000"/>
                        </a:lnSpc>
                      </a:pPr>
                      <a:r>
                        <a:rPr lang="zh-CN" sz="1600" b="1" kern="100" dirty="0">
                          <a:solidFill>
                            <a:srgbClr val="C00000"/>
                          </a:solidFill>
                          <a:effectLst/>
                          <a:latin typeface="+mn-lt"/>
                          <a:ea typeface="+mn-ea"/>
                          <a:cs typeface="+mn-ea"/>
                          <a:sym typeface="+mn-lt"/>
                        </a:rPr>
                        <a:t>资源</a:t>
                      </a:r>
                      <a:r>
                        <a:rPr lang="zh-CN" altLang="en-US" sz="1600" b="1" kern="100" dirty="0">
                          <a:solidFill>
                            <a:srgbClr val="C00000"/>
                          </a:solidFill>
                          <a:effectLst/>
                          <a:latin typeface="+mn-lt"/>
                          <a:ea typeface="+mn-ea"/>
                          <a:cs typeface="+mn-ea"/>
                          <a:sym typeface="+mn-lt"/>
                        </a:rPr>
                        <a:t>建设</a:t>
                      </a:r>
                      <a:endParaRPr lang="zh-CN" sz="1600" b="1" kern="100" dirty="0">
                        <a:solidFill>
                          <a:srgbClr val="C00000"/>
                        </a:solidFill>
                        <a:effectLst/>
                        <a:latin typeface="+mn-lt"/>
                        <a:ea typeface="+mn-ea"/>
                        <a:cs typeface="+mn-ea"/>
                        <a:sym typeface="+mn-lt"/>
                      </a:endParaRPr>
                    </a:p>
                  </a:txBody>
                  <a:tcPr marL="50270" marR="50270" marT="0" marB="0" anchor="ctr"/>
                </a:tc>
              </a:tr>
              <a:tr h="742018">
                <a:tc>
                  <a:txBody>
                    <a:bodyPr/>
                    <a:lstStyle/>
                    <a:p>
                      <a:pPr algn="ctr">
                        <a:lnSpc>
                          <a:spcPct val="130000"/>
                        </a:lnSpc>
                      </a:pPr>
                      <a:r>
                        <a:rPr lang="zh-CN" sz="1600" b="1" kern="100" dirty="0">
                          <a:effectLst/>
                          <a:latin typeface="+mn-lt"/>
                          <a:ea typeface="+mn-ea"/>
                          <a:cs typeface="+mn-ea"/>
                          <a:sym typeface="+mn-lt"/>
                        </a:rPr>
                        <a:t>第</a:t>
                      </a:r>
                      <a:r>
                        <a:rPr lang="zh-CN" altLang="en-US" sz="1600" b="1" kern="100" dirty="0">
                          <a:effectLst/>
                          <a:latin typeface="+mn-lt"/>
                          <a:ea typeface="+mn-ea"/>
                          <a:cs typeface="+mn-ea"/>
                          <a:sym typeface="+mn-lt"/>
                        </a:rPr>
                        <a:t>六</a:t>
                      </a:r>
                      <a:r>
                        <a:rPr lang="zh-CN" sz="1600" b="1" kern="100" dirty="0">
                          <a:effectLst/>
                          <a:latin typeface="+mn-lt"/>
                          <a:ea typeface="+mn-ea"/>
                          <a:cs typeface="+mn-ea"/>
                          <a:sym typeface="+mn-lt"/>
                        </a:rPr>
                        <a:t>章</a:t>
                      </a:r>
                      <a:endParaRPr lang="zh-CN" sz="1600" b="1" kern="100" dirty="0">
                        <a:effectLst/>
                        <a:latin typeface="+mn-lt"/>
                        <a:ea typeface="+mn-ea"/>
                        <a:cs typeface="+mn-ea"/>
                        <a:sym typeface="+mn-lt"/>
                      </a:endParaRPr>
                    </a:p>
                  </a:txBody>
                  <a:tcPr marL="50270" marR="50270" marT="0" marB="0" anchor="ctr"/>
                </a:tc>
                <a:tc>
                  <a:txBody>
                    <a:bodyPr/>
                    <a:lstStyle/>
                    <a:p>
                      <a:pPr algn="ctr">
                        <a:lnSpc>
                          <a:spcPct val="120000"/>
                        </a:lnSpc>
                      </a:pPr>
                      <a:r>
                        <a:rPr lang="zh-CN" altLang="en-US" sz="1600" b="1" kern="100" dirty="0">
                          <a:solidFill>
                            <a:srgbClr val="C00000"/>
                          </a:solidFill>
                          <a:effectLst/>
                          <a:latin typeface="+mn-lt"/>
                          <a:ea typeface="+mn-ea"/>
                          <a:cs typeface="+mn-ea"/>
                          <a:sym typeface="+mn-lt"/>
                        </a:rPr>
                        <a:t>实施</a:t>
                      </a:r>
                      <a:r>
                        <a:rPr lang="zh-CN" sz="1600" b="1" kern="100" dirty="0">
                          <a:solidFill>
                            <a:srgbClr val="C00000"/>
                          </a:solidFill>
                          <a:effectLst/>
                          <a:latin typeface="+mn-lt"/>
                          <a:ea typeface="+mn-ea"/>
                          <a:cs typeface="+mn-ea"/>
                          <a:sym typeface="+mn-lt"/>
                        </a:rPr>
                        <a:t>保障</a:t>
                      </a:r>
                      <a:endParaRPr lang="zh-CN" sz="1600" b="1" kern="100" dirty="0">
                        <a:solidFill>
                          <a:srgbClr val="C00000"/>
                        </a:solidFill>
                        <a:effectLst/>
                        <a:latin typeface="+mn-lt"/>
                        <a:ea typeface="+mn-ea"/>
                        <a:cs typeface="+mn-ea"/>
                        <a:sym typeface="+mn-lt"/>
                      </a:endParaRPr>
                    </a:p>
                  </a:txBody>
                  <a:tcPr marL="50270" marR="50270" marT="0" marB="0" anchor="ctr"/>
                </a:tc>
              </a:tr>
            </a:tbl>
          </a:graphicData>
        </a:graphic>
      </p:graphicFrame>
      <p:sp>
        <p:nvSpPr>
          <p:cNvPr id="7" name="箭头: 五边形 6"/>
          <p:cNvSpPr/>
          <p:nvPr/>
        </p:nvSpPr>
        <p:spPr>
          <a:xfrm>
            <a:off x="3364225" y="4149941"/>
            <a:ext cx="489302" cy="369332"/>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矩形 11"/>
          <p:cNvSpPr/>
          <p:nvPr/>
        </p:nvSpPr>
        <p:spPr>
          <a:xfrm>
            <a:off x="3853526" y="1435954"/>
            <a:ext cx="7589532" cy="3693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a:cs typeface="+mn-ea"/>
                <a:sym typeface="+mn-lt"/>
              </a:rPr>
              <a:t>二</a:t>
            </a:r>
            <a:r>
              <a:rPr lang="en-US" altLang="zh-CN" sz="1800" dirty="0">
                <a:cs typeface="+mn-ea"/>
                <a:sym typeface="+mn-lt"/>
              </a:rPr>
              <a:t>/</a:t>
            </a:r>
            <a:r>
              <a:rPr lang="zh-CN" altLang="en-US" sz="1800" dirty="0">
                <a:cs typeface="+mn-ea"/>
                <a:sym typeface="+mn-lt"/>
              </a:rPr>
              <a:t>三级大纲（重点内容）</a:t>
            </a:r>
            <a:endParaRPr lang="zh-CN" altLang="en-US" sz="1800" dirty="0">
              <a:cs typeface="+mn-ea"/>
              <a:sym typeface="+mn-lt"/>
            </a:endParaRPr>
          </a:p>
        </p:txBody>
      </p:sp>
      <p:sp>
        <p:nvSpPr>
          <p:cNvPr id="13" name="文本框 12"/>
          <p:cNvSpPr txBox="1"/>
          <p:nvPr/>
        </p:nvSpPr>
        <p:spPr>
          <a:xfrm>
            <a:off x="4195854" y="1919013"/>
            <a:ext cx="6435199" cy="3742115"/>
          </a:xfrm>
          <a:prstGeom prst="rect">
            <a:avLst/>
          </a:prstGeom>
          <a:noFill/>
        </p:spPr>
        <p:txBody>
          <a:bodyPr wrap="square" rtlCol="0">
            <a:spAutoFit/>
          </a:bodyPr>
          <a:lstStyle>
            <a:defPPr>
              <a:defRPr lang="zh-CN"/>
            </a:defPPr>
            <a:lvl1pPr>
              <a:lnSpc>
                <a:spcPct val="150000"/>
              </a:lnSpc>
              <a:defRPr sz="1400">
                <a:latin typeface="微软雅黑" charset="-122"/>
                <a:ea typeface="微软雅黑" charset="-122"/>
              </a:defRPr>
            </a:lvl1pPr>
          </a:lstStyle>
          <a:p>
            <a:r>
              <a:rPr lang="zh-CN" altLang="en-US" sz="1600" b="1" dirty="0">
                <a:latin typeface="+mn-lt"/>
                <a:ea typeface="+mn-ea"/>
                <a:cs typeface="+mn-ea"/>
                <a:sym typeface="+mn-lt"/>
              </a:rPr>
              <a:t>一、队伍建设，打造专业精深的教育培训队伍</a:t>
            </a:r>
            <a:endParaRPr lang="zh-CN" altLang="en-US" sz="1600" b="1" dirty="0">
              <a:latin typeface="+mn-lt"/>
              <a:ea typeface="+mn-ea"/>
              <a:cs typeface="+mn-ea"/>
              <a:sym typeface="+mn-lt"/>
            </a:endParaRPr>
          </a:p>
          <a:p>
            <a:r>
              <a:rPr lang="en-US" altLang="zh-CN" sz="1600" dirty="0">
                <a:latin typeface="+mn-lt"/>
                <a:ea typeface="+mn-ea"/>
                <a:cs typeface="+mn-ea"/>
                <a:sym typeface="+mn-lt"/>
              </a:rPr>
              <a:t>1</a:t>
            </a:r>
            <a:r>
              <a:rPr lang="zh-CN" altLang="en-US" sz="1600" dirty="0">
                <a:latin typeface="+mn-lt"/>
                <a:ea typeface="+mn-ea"/>
                <a:cs typeface="+mn-ea"/>
                <a:sym typeface="+mn-lt"/>
              </a:rPr>
              <a:t>、建立培训管理队伍专业成长阶梯，提升专业能力</a:t>
            </a:r>
            <a:endParaRPr lang="zh-CN" altLang="en-US" sz="1600" dirty="0">
              <a:latin typeface="+mn-lt"/>
              <a:ea typeface="+mn-ea"/>
              <a:cs typeface="+mn-ea"/>
              <a:sym typeface="+mn-lt"/>
            </a:endParaRPr>
          </a:p>
          <a:p>
            <a:r>
              <a:rPr lang="en-US" altLang="zh-CN" sz="1600" dirty="0">
                <a:latin typeface="+mn-lt"/>
                <a:ea typeface="+mn-ea"/>
                <a:cs typeface="+mn-ea"/>
                <a:sym typeface="+mn-lt"/>
              </a:rPr>
              <a:t>2</a:t>
            </a:r>
            <a:r>
              <a:rPr lang="zh-CN" altLang="en-US" sz="1600" dirty="0">
                <a:latin typeface="+mn-lt"/>
                <a:ea typeface="+mn-ea"/>
                <a:cs typeface="+mn-ea"/>
                <a:sym typeface="+mn-lt"/>
              </a:rPr>
              <a:t>、统一及优化师资管理，加强内训师队伍的价值应用</a:t>
            </a:r>
            <a:endParaRPr lang="zh-CN" altLang="en-US" sz="1600" dirty="0">
              <a:latin typeface="+mn-lt"/>
              <a:ea typeface="+mn-ea"/>
              <a:cs typeface="+mn-ea"/>
              <a:sym typeface="+mn-lt"/>
            </a:endParaRPr>
          </a:p>
          <a:p>
            <a:r>
              <a:rPr lang="en-US" altLang="zh-CN" sz="1600" dirty="0">
                <a:latin typeface="+mn-lt"/>
                <a:ea typeface="+mn-ea"/>
                <a:cs typeface="+mn-ea"/>
                <a:sym typeface="+mn-lt"/>
              </a:rPr>
              <a:t>3</a:t>
            </a:r>
            <a:r>
              <a:rPr lang="zh-CN" altLang="en-US" sz="1600" dirty="0">
                <a:latin typeface="+mn-lt"/>
                <a:ea typeface="+mn-ea"/>
                <a:cs typeface="+mn-ea"/>
                <a:sym typeface="+mn-lt"/>
              </a:rPr>
              <a:t>、加强教育发展专员队伍建设，增强业务支持能力</a:t>
            </a:r>
            <a:endParaRPr lang="en-US" altLang="zh-CN" sz="1600" dirty="0">
              <a:latin typeface="+mn-lt"/>
              <a:ea typeface="+mn-ea"/>
              <a:cs typeface="+mn-ea"/>
              <a:sym typeface="+mn-lt"/>
            </a:endParaRPr>
          </a:p>
          <a:p>
            <a:endParaRPr lang="zh-CN" altLang="en-US" sz="1600" dirty="0">
              <a:latin typeface="+mn-lt"/>
              <a:ea typeface="+mn-ea"/>
              <a:cs typeface="+mn-ea"/>
              <a:sym typeface="+mn-lt"/>
            </a:endParaRPr>
          </a:p>
          <a:p>
            <a:r>
              <a:rPr lang="zh-CN" altLang="en-US" sz="1600" b="1" dirty="0">
                <a:latin typeface="+mn-lt"/>
                <a:ea typeface="+mn-ea"/>
                <a:cs typeface="+mn-ea"/>
                <a:sym typeface="+mn-lt"/>
              </a:rPr>
              <a:t>二、平台建设，构建全网互联的智能学习阵地</a:t>
            </a:r>
            <a:endParaRPr lang="en-US" altLang="zh-CN" sz="1600" b="1" dirty="0">
              <a:latin typeface="+mn-lt"/>
              <a:ea typeface="+mn-ea"/>
              <a:cs typeface="+mn-ea"/>
              <a:sym typeface="+mn-lt"/>
            </a:endParaRPr>
          </a:p>
          <a:p>
            <a:r>
              <a:rPr lang="en-US" altLang="zh-CN" sz="1600" dirty="0">
                <a:latin typeface="+mn-lt"/>
                <a:ea typeface="+mn-ea"/>
                <a:cs typeface="+mn-ea"/>
                <a:sym typeface="+mn-lt"/>
              </a:rPr>
              <a:t>1</a:t>
            </a:r>
            <a:r>
              <a:rPr lang="zh-CN" altLang="en-US" sz="1600" dirty="0">
                <a:latin typeface="+mn-lt"/>
                <a:ea typeface="+mn-ea"/>
                <a:cs typeface="+mn-ea"/>
                <a:sym typeface="+mn-lt"/>
              </a:rPr>
              <a:t>、大力开展软硬件升级扩容，建立系统综合服务生态</a:t>
            </a:r>
            <a:endParaRPr lang="zh-CN" altLang="en-US" sz="1600" dirty="0">
              <a:latin typeface="+mn-lt"/>
              <a:ea typeface="+mn-ea"/>
              <a:cs typeface="+mn-ea"/>
              <a:sym typeface="+mn-lt"/>
            </a:endParaRPr>
          </a:p>
          <a:p>
            <a:r>
              <a:rPr lang="en-US" altLang="zh-CN" sz="1600" dirty="0">
                <a:latin typeface="+mn-lt"/>
                <a:ea typeface="+mn-ea"/>
                <a:cs typeface="+mn-ea"/>
                <a:sym typeface="+mn-lt"/>
              </a:rPr>
              <a:t>2</a:t>
            </a:r>
            <a:r>
              <a:rPr lang="zh-CN" altLang="en-US" sz="1600" dirty="0">
                <a:latin typeface="+mn-lt"/>
                <a:ea typeface="+mn-ea"/>
                <a:cs typeface="+mn-ea"/>
                <a:sym typeface="+mn-lt"/>
              </a:rPr>
              <a:t>、梳理现有学习体系，构建学习者为中心的线上学习地图</a:t>
            </a:r>
            <a:endParaRPr lang="zh-CN" altLang="en-US" sz="1600" dirty="0">
              <a:latin typeface="+mn-lt"/>
              <a:ea typeface="+mn-ea"/>
              <a:cs typeface="+mn-ea"/>
              <a:sym typeface="+mn-lt"/>
            </a:endParaRPr>
          </a:p>
          <a:p>
            <a:r>
              <a:rPr lang="en-US" altLang="zh-CN" sz="1600" dirty="0">
                <a:latin typeface="+mn-lt"/>
                <a:ea typeface="+mn-ea"/>
                <a:cs typeface="+mn-ea"/>
                <a:sym typeface="+mn-lt"/>
              </a:rPr>
              <a:t>3</a:t>
            </a:r>
            <a:r>
              <a:rPr lang="zh-CN" altLang="en-US" sz="1600" dirty="0">
                <a:latin typeface="+mn-lt"/>
                <a:ea typeface="+mn-ea"/>
                <a:cs typeface="+mn-ea"/>
                <a:sym typeface="+mn-lt"/>
              </a:rPr>
              <a:t>、开展数字化评估，推动数字化学习治理</a:t>
            </a:r>
            <a:endParaRPr lang="zh-CN" altLang="en-US" sz="1600" dirty="0">
              <a:latin typeface="+mn-lt"/>
              <a:ea typeface="+mn-ea"/>
              <a:cs typeface="+mn-ea"/>
              <a:sym typeface="+mn-lt"/>
            </a:endParaRPr>
          </a:p>
          <a:p>
            <a:r>
              <a:rPr lang="en-US" altLang="zh-CN" sz="1600" dirty="0">
                <a:latin typeface="+mn-lt"/>
                <a:ea typeface="+mn-ea"/>
                <a:cs typeface="+mn-ea"/>
                <a:sym typeface="+mn-lt"/>
              </a:rPr>
              <a:t>4</a:t>
            </a:r>
            <a:r>
              <a:rPr lang="zh-CN" altLang="en-US" sz="1600" dirty="0">
                <a:latin typeface="+mn-lt"/>
                <a:ea typeface="+mn-ea"/>
                <a:cs typeface="+mn-ea"/>
                <a:sym typeface="+mn-lt"/>
              </a:rPr>
              <a:t>、开展数字化的知识管理，推进知识创新和知识运营</a:t>
            </a:r>
            <a:endParaRPr lang="zh-CN" altLang="en-US" sz="1600" dirty="0">
              <a:latin typeface="+mn-lt"/>
              <a:ea typeface="+mn-ea"/>
              <a:cs typeface="+mn-ea"/>
              <a:sym typeface="+mn-lt"/>
            </a:endParaRPr>
          </a:p>
        </p:txBody>
      </p:sp>
      <p:sp>
        <p:nvSpPr>
          <p:cNvPr id="9" name="文本框 8"/>
          <p:cNvSpPr txBox="1"/>
          <p:nvPr/>
        </p:nvSpPr>
        <p:spPr>
          <a:xfrm>
            <a:off x="488861" y="206936"/>
            <a:ext cx="9096865" cy="400110"/>
          </a:xfrm>
          <a:prstGeom prst="rect">
            <a:avLst/>
          </a:prstGeom>
          <a:noFill/>
        </p:spPr>
        <p:txBody>
          <a:bodyPr wrap="square" rtlCol="0">
            <a:spAutoFit/>
          </a:bodyPr>
          <a:lstStyle/>
          <a:p>
            <a:r>
              <a:rPr kumimoji="1" lang="en-US" altLang="zh-CN" sz="2000" dirty="0">
                <a:latin typeface="+mn-lt"/>
                <a:ea typeface="+mn-ea"/>
                <a:cs typeface="+mn-ea"/>
                <a:sym typeface="+mn-lt"/>
              </a:rPr>
              <a:t>【</a:t>
            </a:r>
            <a:r>
              <a:rPr kumimoji="1" lang="zh-CN" altLang="en-US" sz="2000" dirty="0">
                <a:latin typeface="+mn-lt"/>
                <a:ea typeface="+mn-ea"/>
                <a:cs typeface="+mn-ea"/>
                <a:sym typeface="+mn-lt"/>
              </a:rPr>
              <a:t>目录</a:t>
            </a:r>
            <a:r>
              <a:rPr kumimoji="1" lang="en-US" altLang="zh-CN" sz="2000" dirty="0">
                <a:latin typeface="+mn-lt"/>
                <a:ea typeface="+mn-ea"/>
                <a:cs typeface="+mn-ea"/>
                <a:sym typeface="+mn-lt"/>
              </a:rPr>
              <a:t>】</a:t>
            </a:r>
            <a:r>
              <a:rPr kumimoji="1" lang="zh-CN" altLang="en-US" sz="2000" dirty="0">
                <a:latin typeface="+mn-lt"/>
                <a:ea typeface="+mn-ea"/>
                <a:cs typeface="+mn-ea"/>
                <a:sym typeface="+mn-lt"/>
              </a:rPr>
              <a:t>中银教育培训“十四五”规划</a:t>
            </a:r>
            <a:endParaRPr kumimoji="1" lang="zh-CN" altLang="en-US" sz="2000" dirty="0">
              <a:latin typeface="+mn-lt"/>
              <a:ea typeface="+mn-ea"/>
              <a:cs typeface="+mn-ea"/>
              <a:sym typeface="+mn-lt"/>
            </a:endParaRPr>
          </a:p>
        </p:txBody>
      </p:sp>
      <p:sp>
        <p:nvSpPr>
          <p:cNvPr id="10"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24808" y="220603"/>
            <a:ext cx="9252877"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zh-CN" altLang="en-US" sz="2000" dirty="0">
                <a:latin typeface="+mn-lt"/>
                <a:ea typeface="+mn-ea"/>
                <a:cs typeface="+mn-ea"/>
                <a:sym typeface="+mn-lt"/>
              </a:rPr>
              <a:t>一</a:t>
            </a:r>
            <a:r>
              <a:rPr kumimoji="1" lang="en-US" altLang="zh-CN" sz="2000" dirty="0">
                <a:latin typeface="+mn-lt"/>
                <a:ea typeface="+mn-ea"/>
                <a:cs typeface="+mn-ea"/>
                <a:sym typeface="+mn-lt"/>
              </a:rPr>
              <a:t>/1</a:t>
            </a:r>
            <a:r>
              <a:rPr kumimoji="1" lang="zh-CN" altLang="en-US" sz="2000" dirty="0">
                <a:latin typeface="+mn-lt"/>
                <a:ea typeface="+mn-ea"/>
                <a:cs typeface="+mn-ea"/>
                <a:sym typeface="+mn-lt"/>
              </a:rPr>
              <a:t>、队伍建设</a:t>
            </a:r>
            <a:r>
              <a:rPr kumimoji="1" lang="en-US" altLang="zh-CN" sz="2000" dirty="0">
                <a:latin typeface="+mn-lt"/>
                <a:ea typeface="+mn-ea"/>
                <a:cs typeface="+mn-ea"/>
                <a:sym typeface="+mn-lt"/>
              </a:rPr>
              <a:t>-</a:t>
            </a:r>
            <a:r>
              <a:rPr kumimoji="1" lang="zh-CN" altLang="en-US" sz="2000" dirty="0">
                <a:latin typeface="+mn-lt"/>
                <a:ea typeface="+mn-ea"/>
                <a:cs typeface="+mn-ea"/>
                <a:sym typeface="+mn-lt"/>
              </a:rPr>
              <a:t>建立培训管理队伍专业成长阶梯，提升专业能力</a:t>
            </a:r>
            <a:endParaRPr kumimoji="1" lang="en-US" altLang="zh-CN" sz="2000" dirty="0">
              <a:latin typeface="+mn-lt"/>
              <a:ea typeface="+mn-ea"/>
              <a:cs typeface="+mn-ea"/>
              <a:sym typeface="+mn-lt"/>
            </a:endParaRPr>
          </a:p>
        </p:txBody>
      </p:sp>
      <p:pic>
        <p:nvPicPr>
          <p:cNvPr id="1026"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12385" y="1483102"/>
            <a:ext cx="3457447" cy="4107695"/>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p:cNvSpPr txBox="1"/>
          <p:nvPr/>
        </p:nvSpPr>
        <p:spPr>
          <a:xfrm>
            <a:off x="4864408" y="2130054"/>
            <a:ext cx="6941694" cy="2224199"/>
          </a:xfrm>
          <a:prstGeom prst="rect">
            <a:avLst/>
          </a:prstGeom>
          <a:noFill/>
        </p:spPr>
        <p:txBody>
          <a:bodyPr wrap="square">
            <a:spAutoFit/>
          </a:bodyPr>
          <a:lstStyle>
            <a:defPPr>
              <a:defRPr lang="zh-CN"/>
            </a:defPPr>
            <a:lvl1pPr marL="285750" indent="-285750">
              <a:buFont typeface="Wingdings" panose="05000000000000000000" pitchFamily="2" charset="2"/>
              <a:buChar char="Ø"/>
              <a:defRPr b="1">
                <a:effectLst/>
                <a:ea typeface="仿宋" panose="02010609060101010101" pitchFamily="49" charset="-122"/>
                <a:cs typeface="Arial" panose="020B0604020202090204" pitchFamily="34" charset="0"/>
              </a:defRPr>
            </a:lvl1pPr>
          </a:lstStyle>
          <a:p>
            <a:pPr>
              <a:lnSpc>
                <a:spcPct val="200000"/>
              </a:lnSpc>
            </a:pPr>
            <a:r>
              <a:rPr lang="zh-CN" altLang="en-US" sz="1800" dirty="0">
                <a:latin typeface="+mn-lt"/>
                <a:ea typeface="+mn-ea"/>
                <a:cs typeface="+mn-ea"/>
                <a:sym typeface="+mn-lt"/>
              </a:rPr>
              <a:t>完善任职资格标准，构建培训管理者学习地图</a:t>
            </a:r>
            <a:endParaRPr lang="en-US" altLang="zh-CN" sz="1800" dirty="0">
              <a:latin typeface="+mn-lt"/>
              <a:ea typeface="+mn-ea"/>
              <a:cs typeface="+mn-ea"/>
              <a:sym typeface="+mn-lt"/>
            </a:endParaRPr>
          </a:p>
          <a:p>
            <a:pPr>
              <a:lnSpc>
                <a:spcPct val="200000"/>
              </a:lnSpc>
            </a:pPr>
            <a:r>
              <a:rPr lang="zh-CN" altLang="en-US" sz="1800" dirty="0">
                <a:latin typeface="+mn-lt"/>
                <a:ea typeface="+mn-ea"/>
                <a:cs typeface="+mn-ea"/>
                <a:sym typeface="+mn-lt"/>
              </a:rPr>
              <a:t>萃取培训管理经验，推动在组织内的传承</a:t>
            </a:r>
            <a:endParaRPr lang="en-US" altLang="zh-CN" sz="1800" dirty="0">
              <a:latin typeface="+mn-lt"/>
              <a:ea typeface="+mn-ea"/>
              <a:cs typeface="+mn-ea"/>
              <a:sym typeface="+mn-lt"/>
            </a:endParaRPr>
          </a:p>
          <a:p>
            <a:pPr>
              <a:lnSpc>
                <a:spcPct val="200000"/>
              </a:lnSpc>
            </a:pPr>
            <a:r>
              <a:rPr lang="zh-CN" altLang="en-US" sz="1800" dirty="0">
                <a:latin typeface="+mn-lt"/>
                <a:ea typeface="+mn-ea"/>
                <a:cs typeface="+mn-ea"/>
                <a:sym typeface="+mn-lt"/>
              </a:rPr>
              <a:t>及时跟踪引进最新学习技术，结合中行实际进行有效应用和推广</a:t>
            </a:r>
            <a:endParaRPr lang="en-US" altLang="zh-CN" sz="1800" dirty="0">
              <a:latin typeface="+mn-lt"/>
              <a:ea typeface="+mn-ea"/>
              <a:cs typeface="+mn-ea"/>
              <a:sym typeface="+mn-lt"/>
            </a:endParaRPr>
          </a:p>
          <a:p>
            <a:pPr>
              <a:lnSpc>
                <a:spcPct val="200000"/>
              </a:lnSpc>
            </a:pPr>
            <a:r>
              <a:rPr lang="zh-CN" altLang="en-US" sz="1800" dirty="0">
                <a:latin typeface="+mn-lt"/>
                <a:ea typeface="+mn-ea"/>
                <a:cs typeface="+mn-ea"/>
                <a:sym typeface="+mn-lt"/>
              </a:rPr>
              <a:t>实现培训人员到业务一线，为业务提供实际服务，促进学习转化 </a:t>
            </a:r>
            <a:endParaRPr lang="en-US" altLang="zh-CN" sz="1800" dirty="0">
              <a:latin typeface="+mn-lt"/>
              <a:ea typeface="+mn-ea"/>
              <a:cs typeface="+mn-ea"/>
              <a:sym typeface="+mn-lt"/>
            </a:endParaRPr>
          </a:p>
        </p:txBody>
      </p:sp>
      <p:sp>
        <p:nvSpPr>
          <p:cNvPr id="5" name="灯片编号占位符 1"/>
          <p:cNvSpPr txBox="1"/>
          <p:nvPr/>
        </p:nvSpPr>
        <p:spPr>
          <a:xfrm>
            <a:off x="9444714" y="6581061"/>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51533" y="204704"/>
            <a:ext cx="9252877" cy="39878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lang="zh-CN" altLang="en-US" sz="2000" b="1" dirty="0">
                <a:latin typeface="华文中宋" panose="02010600040101010101" pitchFamily="2" charset="-122"/>
                <a:ea typeface="华文中宋" panose="02010600040101010101" pitchFamily="2" charset="-122"/>
                <a:cs typeface="华文中宋" panose="02010600040101010101" pitchFamily="2" charset="-122"/>
              </a:rPr>
              <a:t>一</a:t>
            </a:r>
            <a:r>
              <a:rPr lang="en-US" altLang="zh-CN" sz="2000" b="1" dirty="0">
                <a:latin typeface="华文中宋" panose="02010600040101010101" pitchFamily="2" charset="-122"/>
                <a:ea typeface="华文中宋" panose="02010600040101010101" pitchFamily="2" charset="-122"/>
                <a:cs typeface="华文中宋" panose="02010600040101010101" pitchFamily="2" charset="-122"/>
              </a:rPr>
              <a:t>/ 2</a:t>
            </a:r>
            <a:r>
              <a:rPr lang="zh-CN" altLang="en-US" sz="2000" b="1" dirty="0">
                <a:latin typeface="华文中宋" panose="02010600040101010101" pitchFamily="2" charset="-122"/>
                <a:ea typeface="华文中宋" panose="02010600040101010101" pitchFamily="2" charset="-122"/>
                <a:cs typeface="华文中宋" panose="02010600040101010101" pitchFamily="2" charset="-122"/>
              </a:rPr>
              <a:t>、队伍建设</a:t>
            </a:r>
            <a:r>
              <a:rPr lang="en-US" altLang="zh-CN" sz="2000" b="1" dirty="0">
                <a:latin typeface="华文中宋" panose="02010600040101010101" pitchFamily="2" charset="-122"/>
                <a:ea typeface="华文中宋" panose="02010600040101010101" pitchFamily="2" charset="-122"/>
                <a:cs typeface="华文中宋" panose="02010600040101010101" pitchFamily="2" charset="-122"/>
              </a:rPr>
              <a:t>-</a:t>
            </a:r>
            <a:r>
              <a:rPr lang="zh-CN" altLang="en-US" sz="2000" b="1" dirty="0">
                <a:latin typeface="华文中宋" panose="02010600040101010101" pitchFamily="2" charset="-122"/>
                <a:ea typeface="华文中宋" panose="02010600040101010101" pitchFamily="2" charset="-122"/>
                <a:cs typeface="华文中宋" panose="02010600040101010101" pitchFamily="2" charset="-122"/>
              </a:rPr>
              <a:t>统一及优化师资管理，</a:t>
            </a:r>
            <a:r>
              <a:rPr lang="zh-CN" altLang="en-US" sz="2000" b="1" dirty="0">
                <a:solidFill>
                  <a:schemeClr val="tx1"/>
                </a:solidFill>
                <a:latin typeface="华文中宋" panose="02010600040101010101" pitchFamily="2" charset="-122"/>
                <a:ea typeface="华文中宋" panose="02010600040101010101" pitchFamily="2" charset="-122"/>
                <a:cs typeface="华文中宋" panose="02010600040101010101" pitchFamily="2" charset="-122"/>
              </a:rPr>
              <a:t>加强内训师队伍的价值应用</a:t>
            </a:r>
            <a:endParaRPr lang="en-US" altLang="zh-CN" sz="2000" b="1" dirty="0">
              <a:solidFill>
                <a:schemeClr val="tx1"/>
              </a:solidFill>
              <a:latin typeface="华文中宋" panose="02010600040101010101" pitchFamily="2" charset="-122"/>
              <a:ea typeface="华文中宋" panose="02010600040101010101" pitchFamily="2" charset="-122"/>
              <a:cs typeface="华文中宋" panose="02010600040101010101" pitchFamily="2" charset="-122"/>
            </a:endParaRPr>
          </a:p>
        </p:txBody>
      </p:sp>
      <p:sp>
        <p:nvSpPr>
          <p:cNvPr id="6" name="矩形 5"/>
          <p:cNvSpPr/>
          <p:nvPr/>
        </p:nvSpPr>
        <p:spPr>
          <a:xfrm>
            <a:off x="7596387" y="2030464"/>
            <a:ext cx="2091690" cy="384175"/>
          </a:xfrm>
          <a:prstGeom prst="rect">
            <a:avLst/>
          </a:prstGeom>
          <a:solidFill>
            <a:srgbClr val="AC0000"/>
          </a:solidFill>
          <a:ln w="38100" cap="flat" cmpd="sng" algn="ctr">
            <a:solidFill>
              <a:srgbClr val="AC0000"/>
            </a:solidFill>
            <a:prstDash val="solid"/>
          </a:ln>
          <a:effectLst>
            <a:outerShdw blurRad="40000" dist="20000" dir="5400000" rotWithShape="0">
              <a:srgbClr val="000000">
                <a:alpha val="38000"/>
              </a:srgbClr>
            </a:outerShdw>
          </a:effectLst>
        </p:spPr>
        <p:style>
          <a:lnRef idx="3">
            <a:sysClr val="window" lastClr="FFFFFF"/>
          </a:lnRef>
          <a:fillRef idx="1">
            <a:srgbClr val="F79646"/>
          </a:fillRef>
          <a:effectRef idx="1">
            <a:srgbClr val="F79646"/>
          </a:effectRef>
          <a:fontRef idx="minor">
            <a:sysClr val="window" lastClr="FFFFFF"/>
          </a:fontRef>
        </p:style>
        <p:txBody>
          <a:bodyPr rtlCol="0" anchor="ctr"/>
          <a:lstStyle/>
          <a:p>
            <a:pPr algn="ctr"/>
            <a:r>
              <a:rPr kumimoji="1" sz="1600" b="1" dirty="0">
                <a:latin typeface="华文中宋" panose="02010600040101010101" pitchFamily="2" charset="-122"/>
                <a:ea typeface="华文中宋" panose="02010600040101010101" pitchFamily="2" charset="-122"/>
                <a:cs typeface="微软雅黑" charset="-122"/>
              </a:rPr>
              <a:t>分层分类管理</a:t>
            </a:r>
            <a:endParaRPr kumimoji="1" sz="1600" b="1" dirty="0">
              <a:latin typeface="华文中宋" panose="02010600040101010101" pitchFamily="2" charset="-122"/>
              <a:ea typeface="华文中宋" panose="02010600040101010101" pitchFamily="2" charset="-122"/>
              <a:cs typeface="微软雅黑" charset="-122"/>
            </a:endParaRPr>
          </a:p>
        </p:txBody>
      </p:sp>
      <p:sp>
        <p:nvSpPr>
          <p:cNvPr id="10" name="文本框 9"/>
          <p:cNvSpPr txBox="1"/>
          <p:nvPr/>
        </p:nvSpPr>
        <p:spPr>
          <a:xfrm>
            <a:off x="7596386" y="2453408"/>
            <a:ext cx="3936801" cy="792076"/>
          </a:xfrm>
          <a:prstGeom prst="rect">
            <a:avLst/>
          </a:prstGeom>
          <a:noFill/>
        </p:spPr>
        <p:txBody>
          <a:bodyPr wrap="square" rtlCol="0" anchor="t">
            <a:spAutoFit/>
          </a:bodyPr>
          <a:lstStyle/>
          <a:p>
            <a:pPr>
              <a:lnSpc>
                <a:spcPct val="120000"/>
              </a:lnSpc>
            </a:pPr>
            <a:r>
              <a:rPr lang="zh-CN" altLang="en-US" dirty="0">
                <a:latin typeface="华文中宋" panose="02010600040101010101" pitchFamily="2" charset="-122"/>
                <a:ea typeface="华文中宋" panose="02010600040101010101" pitchFamily="2" charset="-122"/>
                <a:cs typeface="Arial" panose="020B0604020202090204" pitchFamily="34" charset="0"/>
                <a:sym typeface="+mn-ea"/>
              </a:rPr>
              <a:t>对内训师的角色进行定义，进行分层（初中高层级）分类（讲师、开发师、经验萃取师、引导师、催化师等）管理</a:t>
            </a:r>
            <a:endParaRPr lang="zh-CN" altLang="en-US" dirty="0">
              <a:latin typeface="华文中宋" panose="02010600040101010101" pitchFamily="2" charset="-122"/>
              <a:ea typeface="华文中宋" panose="02010600040101010101" pitchFamily="2" charset="-122"/>
            </a:endParaRPr>
          </a:p>
        </p:txBody>
      </p:sp>
      <p:sp>
        <p:nvSpPr>
          <p:cNvPr id="11" name="矩形 10"/>
          <p:cNvSpPr/>
          <p:nvPr/>
        </p:nvSpPr>
        <p:spPr>
          <a:xfrm>
            <a:off x="2430017" y="2027289"/>
            <a:ext cx="2091690" cy="384175"/>
          </a:xfrm>
          <a:prstGeom prst="rect">
            <a:avLst/>
          </a:prstGeom>
          <a:solidFill>
            <a:srgbClr val="AC0000"/>
          </a:solidFill>
          <a:ln w="38100" cap="flat" cmpd="sng" algn="ctr">
            <a:solidFill>
              <a:srgbClr val="AC0000"/>
            </a:solidFill>
            <a:prstDash val="solid"/>
          </a:ln>
          <a:effectLst>
            <a:outerShdw blurRad="40000" dist="20000" dir="5400000" rotWithShape="0">
              <a:srgbClr val="000000">
                <a:alpha val="38000"/>
              </a:srgbClr>
            </a:outerShdw>
          </a:effectLst>
        </p:spPr>
        <p:style>
          <a:lnRef idx="3">
            <a:sysClr val="window" lastClr="FFFFFF"/>
          </a:lnRef>
          <a:fillRef idx="1">
            <a:srgbClr val="F79646"/>
          </a:fillRef>
          <a:effectRef idx="1">
            <a:srgbClr val="F79646"/>
          </a:effectRef>
          <a:fontRef idx="minor">
            <a:sysClr val="window" lastClr="FFFFFF"/>
          </a:fontRef>
        </p:style>
        <p:txBody>
          <a:bodyPr rtlCol="0" anchor="ctr"/>
          <a:lstStyle/>
          <a:p>
            <a:pPr algn="ctr"/>
            <a:r>
              <a:rPr kumimoji="1" lang="zh-CN" altLang="en-US" sz="1600" b="1" dirty="0">
                <a:latin typeface="华文中宋" panose="02010600040101010101" pitchFamily="2" charset="-122"/>
                <a:ea typeface="华文中宋" panose="02010600040101010101" pitchFamily="2" charset="-122"/>
                <a:cs typeface="微软雅黑" charset="-122"/>
              </a:rPr>
              <a:t>提升</a:t>
            </a:r>
            <a:r>
              <a:rPr kumimoji="1" sz="1600" b="1" dirty="0" err="1">
                <a:latin typeface="华文中宋" panose="02010600040101010101" pitchFamily="2" charset="-122"/>
                <a:ea typeface="华文中宋" panose="02010600040101010101" pitchFamily="2" charset="-122"/>
                <a:cs typeface="微软雅黑" charset="-122"/>
              </a:rPr>
              <a:t>多场景价值应用</a:t>
            </a:r>
            <a:endParaRPr kumimoji="1" sz="1600" b="1" dirty="0">
              <a:latin typeface="华文中宋" panose="02010600040101010101" pitchFamily="2" charset="-122"/>
              <a:ea typeface="华文中宋" panose="02010600040101010101" pitchFamily="2" charset="-122"/>
              <a:cs typeface="微软雅黑" charset="-122"/>
            </a:endParaRPr>
          </a:p>
        </p:txBody>
      </p:sp>
      <p:sp>
        <p:nvSpPr>
          <p:cNvPr id="12" name="矩形 11"/>
          <p:cNvSpPr/>
          <p:nvPr/>
        </p:nvSpPr>
        <p:spPr>
          <a:xfrm>
            <a:off x="2654297" y="4539762"/>
            <a:ext cx="2091690" cy="384175"/>
          </a:xfrm>
          <a:prstGeom prst="rect">
            <a:avLst/>
          </a:prstGeom>
          <a:solidFill>
            <a:srgbClr val="AC0000"/>
          </a:solidFill>
          <a:ln w="38100" cap="flat" cmpd="sng" algn="ctr">
            <a:solidFill>
              <a:srgbClr val="AC0000"/>
            </a:solidFill>
            <a:prstDash val="solid"/>
          </a:ln>
          <a:effectLst>
            <a:outerShdw blurRad="40000" dist="20000" dir="5400000" rotWithShape="0">
              <a:srgbClr val="000000">
                <a:alpha val="38000"/>
              </a:srgbClr>
            </a:outerShdw>
          </a:effectLst>
        </p:spPr>
        <p:style>
          <a:lnRef idx="3">
            <a:sysClr val="window" lastClr="FFFFFF"/>
          </a:lnRef>
          <a:fillRef idx="1">
            <a:srgbClr val="F79646"/>
          </a:fillRef>
          <a:effectRef idx="1">
            <a:srgbClr val="F79646"/>
          </a:effectRef>
          <a:fontRef idx="minor">
            <a:sysClr val="window" lastClr="FFFFFF"/>
          </a:fontRef>
        </p:style>
        <p:txBody>
          <a:bodyPr rtlCol="0" anchor="ctr"/>
          <a:lstStyle/>
          <a:p>
            <a:pPr algn="ctr"/>
            <a:r>
              <a:rPr kumimoji="1" sz="1600" b="1" dirty="0">
                <a:latin typeface="华文中宋" panose="02010600040101010101" pitchFamily="2" charset="-122"/>
                <a:ea typeface="华文中宋" panose="02010600040101010101" pitchFamily="2" charset="-122"/>
                <a:cs typeface="微软雅黑" charset="-122"/>
              </a:rPr>
              <a:t>契合重点培训项目</a:t>
            </a:r>
            <a:endParaRPr kumimoji="1" sz="1600" b="1" dirty="0">
              <a:latin typeface="华文中宋" panose="02010600040101010101" pitchFamily="2" charset="-122"/>
              <a:ea typeface="华文中宋" panose="02010600040101010101" pitchFamily="2" charset="-122"/>
              <a:cs typeface="微软雅黑" charset="-122"/>
            </a:endParaRPr>
          </a:p>
        </p:txBody>
      </p:sp>
      <p:sp>
        <p:nvSpPr>
          <p:cNvPr id="13" name="矩形 12"/>
          <p:cNvSpPr/>
          <p:nvPr/>
        </p:nvSpPr>
        <p:spPr>
          <a:xfrm>
            <a:off x="7267464" y="4558970"/>
            <a:ext cx="2091690" cy="384175"/>
          </a:xfrm>
          <a:prstGeom prst="rect">
            <a:avLst/>
          </a:prstGeom>
          <a:solidFill>
            <a:srgbClr val="AC0000"/>
          </a:solidFill>
          <a:ln w="38100" cap="flat" cmpd="sng" algn="ctr">
            <a:solidFill>
              <a:srgbClr val="AC0000"/>
            </a:solidFill>
            <a:prstDash val="solid"/>
          </a:ln>
          <a:effectLst>
            <a:outerShdw blurRad="40000" dist="20000" dir="5400000" rotWithShape="0">
              <a:srgbClr val="000000">
                <a:alpha val="38000"/>
              </a:srgbClr>
            </a:outerShdw>
          </a:effectLst>
        </p:spPr>
        <p:style>
          <a:lnRef idx="3">
            <a:sysClr val="window" lastClr="FFFFFF"/>
          </a:lnRef>
          <a:fillRef idx="1">
            <a:srgbClr val="F79646"/>
          </a:fillRef>
          <a:effectRef idx="1">
            <a:srgbClr val="F79646"/>
          </a:effectRef>
          <a:fontRef idx="minor">
            <a:sysClr val="window" lastClr="FFFFFF"/>
          </a:fontRef>
        </p:style>
        <p:txBody>
          <a:bodyPr rtlCol="0" anchor="ctr"/>
          <a:lstStyle/>
          <a:p>
            <a:pPr algn="ctr"/>
            <a:r>
              <a:rPr kumimoji="1" sz="1600" b="1" dirty="0">
                <a:latin typeface="华文中宋" panose="02010600040101010101" pitchFamily="2" charset="-122"/>
                <a:ea typeface="华文中宋" panose="02010600040101010101" pitchFamily="2" charset="-122"/>
                <a:cs typeface="微软雅黑" charset="-122"/>
              </a:rPr>
              <a:t>重激励、优结构</a:t>
            </a:r>
            <a:endParaRPr kumimoji="1" sz="1600" b="1" dirty="0">
              <a:latin typeface="华文中宋" panose="02010600040101010101" pitchFamily="2" charset="-122"/>
              <a:ea typeface="华文中宋" panose="02010600040101010101" pitchFamily="2" charset="-122"/>
              <a:cs typeface="微软雅黑" charset="-122"/>
            </a:endParaRPr>
          </a:p>
        </p:txBody>
      </p:sp>
      <p:sp>
        <p:nvSpPr>
          <p:cNvPr id="15" name="文本框 14"/>
          <p:cNvSpPr txBox="1"/>
          <p:nvPr/>
        </p:nvSpPr>
        <p:spPr>
          <a:xfrm>
            <a:off x="695326" y="4923937"/>
            <a:ext cx="4169912" cy="657039"/>
          </a:xfrm>
          <a:prstGeom prst="rect">
            <a:avLst/>
          </a:prstGeom>
          <a:noFill/>
        </p:spPr>
        <p:txBody>
          <a:bodyPr wrap="square" rtlCol="0" anchor="t">
            <a:spAutoFit/>
          </a:bodyPr>
          <a:lstStyle/>
          <a:p>
            <a:pPr marL="342900" indent="-342900" algn="r">
              <a:lnSpc>
                <a:spcPct val="150000"/>
              </a:lnSpc>
            </a:pPr>
            <a:r>
              <a:rPr lang="zh-CN" altLang="en-US" dirty="0">
                <a:latin typeface="华文中宋" panose="02010600040101010101" pitchFamily="2" charset="-122"/>
                <a:ea typeface="华文中宋" panose="02010600040101010101" pitchFamily="2" charset="-122"/>
                <a:cs typeface="Arial" panose="020B0604020202090204" pitchFamily="34" charset="0"/>
                <a:sym typeface="+mn-ea"/>
              </a:rPr>
              <a:t>加强内训师参与到重点培训项目设计与交付过程中，提高培训项目的针对性</a:t>
            </a:r>
            <a:endParaRPr lang="zh-CN" altLang="en-US" dirty="0">
              <a:latin typeface="华文中宋" panose="02010600040101010101" pitchFamily="2" charset="-122"/>
              <a:ea typeface="华文中宋" panose="02010600040101010101" pitchFamily="2" charset="-122"/>
            </a:endParaRPr>
          </a:p>
        </p:txBody>
      </p:sp>
      <p:sp>
        <p:nvSpPr>
          <p:cNvPr id="16" name="文本框 15"/>
          <p:cNvSpPr txBox="1"/>
          <p:nvPr/>
        </p:nvSpPr>
        <p:spPr>
          <a:xfrm>
            <a:off x="802540" y="2419020"/>
            <a:ext cx="3651493" cy="657039"/>
          </a:xfrm>
          <a:prstGeom prst="rect">
            <a:avLst/>
          </a:prstGeom>
          <a:noFill/>
        </p:spPr>
        <p:txBody>
          <a:bodyPr wrap="square" rtlCol="0" anchor="t">
            <a:spAutoFit/>
          </a:bodyPr>
          <a:lstStyle/>
          <a:p>
            <a:pPr marL="342900" indent="-342900" algn="r">
              <a:lnSpc>
                <a:spcPct val="150000"/>
              </a:lnSpc>
            </a:pPr>
            <a:r>
              <a:rPr lang="zh-CN" altLang="en-US" dirty="0">
                <a:latin typeface="华文中宋" panose="02010600040101010101" pitchFamily="2" charset="-122"/>
                <a:ea typeface="华文中宋" panose="02010600040101010101" pitchFamily="2" charset="-122"/>
                <a:cs typeface="Arial" panose="020B0604020202090204" pitchFamily="34" charset="0"/>
                <a:sym typeface="+mn-ea"/>
              </a:rPr>
              <a:t>加强内训师应用，如知识创新、文化宣导与落地、组织经验传承等场景</a:t>
            </a:r>
            <a:endParaRPr lang="zh-CN" altLang="en-US" dirty="0">
              <a:latin typeface="华文中宋" panose="02010600040101010101" pitchFamily="2" charset="-122"/>
              <a:ea typeface="华文中宋" panose="02010600040101010101" pitchFamily="2" charset="-122"/>
              <a:cs typeface="Arial" panose="020B0604020202090204" pitchFamily="34" charset="0"/>
              <a:sym typeface="+mn-ea"/>
            </a:endParaRPr>
          </a:p>
        </p:txBody>
      </p:sp>
      <p:sp>
        <p:nvSpPr>
          <p:cNvPr id="17" name="灯片编号占位符 1"/>
          <p:cNvSpPr txBox="1"/>
          <p:nvPr/>
        </p:nvSpPr>
        <p:spPr>
          <a:xfrm>
            <a:off x="9444714" y="6581061"/>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
        <p:nvSpPr>
          <p:cNvPr id="18" name="Freeform 5"/>
          <p:cNvSpPr>
            <a:spLocks noEditPoints="1"/>
          </p:cNvSpPr>
          <p:nvPr/>
        </p:nvSpPr>
        <p:spPr bwMode="auto">
          <a:xfrm>
            <a:off x="5312416" y="2639966"/>
            <a:ext cx="1425590" cy="1425590"/>
          </a:xfrm>
          <a:custGeom>
            <a:avLst/>
            <a:gdLst>
              <a:gd name="T0" fmla="*/ 116 w 211"/>
              <a:gd name="T1" fmla="*/ 10 h 211"/>
              <a:gd name="T2" fmla="*/ 116 w 211"/>
              <a:gd name="T3" fmla="*/ 0 h 211"/>
              <a:gd name="T4" fmla="*/ 181 w 211"/>
              <a:gd name="T5" fmla="*/ 30 h 211"/>
              <a:gd name="T6" fmla="*/ 211 w 211"/>
              <a:gd name="T7" fmla="*/ 95 h 211"/>
              <a:gd name="T8" fmla="*/ 201 w 211"/>
              <a:gd name="T9" fmla="*/ 95 h 211"/>
              <a:gd name="T10" fmla="*/ 174 w 211"/>
              <a:gd name="T11" fmla="*/ 37 h 211"/>
              <a:gd name="T12" fmla="*/ 116 w 211"/>
              <a:gd name="T13" fmla="*/ 10 h 211"/>
              <a:gd name="T14" fmla="*/ 10 w 211"/>
              <a:gd name="T15" fmla="*/ 115 h 211"/>
              <a:gd name="T16" fmla="*/ 0 w 211"/>
              <a:gd name="T17" fmla="*/ 115 h 211"/>
              <a:gd name="T18" fmla="*/ 30 w 211"/>
              <a:gd name="T19" fmla="*/ 180 h 211"/>
              <a:gd name="T20" fmla="*/ 96 w 211"/>
              <a:gd name="T21" fmla="*/ 211 h 211"/>
              <a:gd name="T22" fmla="*/ 96 w 211"/>
              <a:gd name="T23" fmla="*/ 201 h 211"/>
              <a:gd name="T24" fmla="*/ 38 w 211"/>
              <a:gd name="T25" fmla="*/ 173 h 211"/>
              <a:gd name="T26" fmla="*/ 10 w 211"/>
              <a:gd name="T27" fmla="*/ 115 h 211"/>
              <a:gd name="T28" fmla="*/ 10 w 211"/>
              <a:gd name="T29" fmla="*/ 95 h 211"/>
              <a:gd name="T30" fmla="*/ 38 w 211"/>
              <a:gd name="T31" fmla="*/ 37 h 211"/>
              <a:gd name="T32" fmla="*/ 96 w 211"/>
              <a:gd name="T33" fmla="*/ 10 h 211"/>
              <a:gd name="T34" fmla="*/ 96 w 211"/>
              <a:gd name="T35" fmla="*/ 0 h 211"/>
              <a:gd name="T36" fmla="*/ 30 w 211"/>
              <a:gd name="T37" fmla="*/ 30 h 211"/>
              <a:gd name="T38" fmla="*/ 0 w 211"/>
              <a:gd name="T39" fmla="*/ 95 h 211"/>
              <a:gd name="T40" fmla="*/ 10 w 211"/>
              <a:gd name="T41" fmla="*/ 95 h 211"/>
              <a:gd name="T42" fmla="*/ 201 w 211"/>
              <a:gd name="T43" fmla="*/ 115 h 211"/>
              <a:gd name="T44" fmla="*/ 174 w 211"/>
              <a:gd name="T45" fmla="*/ 173 h 211"/>
              <a:gd name="T46" fmla="*/ 116 w 211"/>
              <a:gd name="T47" fmla="*/ 201 h 211"/>
              <a:gd name="T48" fmla="*/ 116 w 211"/>
              <a:gd name="T49" fmla="*/ 211 h 211"/>
              <a:gd name="T50" fmla="*/ 181 w 211"/>
              <a:gd name="T51" fmla="*/ 180 h 211"/>
              <a:gd name="T52" fmla="*/ 211 w 211"/>
              <a:gd name="T53" fmla="*/ 115 h 211"/>
              <a:gd name="T54" fmla="*/ 201 w 211"/>
              <a:gd name="T55" fmla="*/ 115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1" h="211">
                <a:moveTo>
                  <a:pt x="116" y="10"/>
                </a:moveTo>
                <a:cubicBezTo>
                  <a:pt x="116" y="0"/>
                  <a:pt x="116" y="0"/>
                  <a:pt x="116" y="0"/>
                </a:cubicBezTo>
                <a:cubicBezTo>
                  <a:pt x="139" y="2"/>
                  <a:pt x="163" y="12"/>
                  <a:pt x="181" y="30"/>
                </a:cubicBezTo>
                <a:cubicBezTo>
                  <a:pt x="199" y="48"/>
                  <a:pt x="209" y="72"/>
                  <a:pt x="211" y="95"/>
                </a:cubicBezTo>
                <a:cubicBezTo>
                  <a:pt x="201" y="95"/>
                  <a:pt x="201" y="95"/>
                  <a:pt x="201" y="95"/>
                </a:cubicBezTo>
                <a:cubicBezTo>
                  <a:pt x="199" y="74"/>
                  <a:pt x="190" y="53"/>
                  <a:pt x="174" y="37"/>
                </a:cubicBezTo>
                <a:cubicBezTo>
                  <a:pt x="157" y="21"/>
                  <a:pt x="137" y="12"/>
                  <a:pt x="116" y="10"/>
                </a:cubicBezTo>
                <a:close/>
                <a:moveTo>
                  <a:pt x="10" y="115"/>
                </a:moveTo>
                <a:cubicBezTo>
                  <a:pt x="0" y="115"/>
                  <a:pt x="0" y="115"/>
                  <a:pt x="0" y="115"/>
                </a:cubicBezTo>
                <a:cubicBezTo>
                  <a:pt x="2" y="139"/>
                  <a:pt x="12" y="162"/>
                  <a:pt x="30" y="180"/>
                </a:cubicBezTo>
                <a:cubicBezTo>
                  <a:pt x="49" y="199"/>
                  <a:pt x="72" y="209"/>
                  <a:pt x="96" y="211"/>
                </a:cubicBezTo>
                <a:cubicBezTo>
                  <a:pt x="96" y="201"/>
                  <a:pt x="96" y="201"/>
                  <a:pt x="96" y="201"/>
                </a:cubicBezTo>
                <a:cubicBezTo>
                  <a:pt x="74" y="199"/>
                  <a:pt x="54" y="189"/>
                  <a:pt x="38" y="173"/>
                </a:cubicBezTo>
                <a:cubicBezTo>
                  <a:pt x="21" y="157"/>
                  <a:pt x="12" y="137"/>
                  <a:pt x="10" y="115"/>
                </a:cubicBezTo>
                <a:close/>
                <a:moveTo>
                  <a:pt x="10" y="95"/>
                </a:moveTo>
                <a:cubicBezTo>
                  <a:pt x="12" y="74"/>
                  <a:pt x="21" y="53"/>
                  <a:pt x="38" y="37"/>
                </a:cubicBezTo>
                <a:cubicBezTo>
                  <a:pt x="54" y="21"/>
                  <a:pt x="74" y="12"/>
                  <a:pt x="96" y="10"/>
                </a:cubicBezTo>
                <a:cubicBezTo>
                  <a:pt x="96" y="0"/>
                  <a:pt x="96" y="0"/>
                  <a:pt x="96" y="0"/>
                </a:cubicBezTo>
                <a:cubicBezTo>
                  <a:pt x="72" y="2"/>
                  <a:pt x="49" y="12"/>
                  <a:pt x="30" y="30"/>
                </a:cubicBezTo>
                <a:cubicBezTo>
                  <a:pt x="12" y="48"/>
                  <a:pt x="2" y="72"/>
                  <a:pt x="0" y="95"/>
                </a:cubicBezTo>
                <a:lnTo>
                  <a:pt x="10" y="95"/>
                </a:lnTo>
                <a:close/>
                <a:moveTo>
                  <a:pt x="201" y="115"/>
                </a:moveTo>
                <a:cubicBezTo>
                  <a:pt x="199" y="137"/>
                  <a:pt x="190" y="157"/>
                  <a:pt x="174" y="173"/>
                </a:cubicBezTo>
                <a:cubicBezTo>
                  <a:pt x="157" y="189"/>
                  <a:pt x="137" y="199"/>
                  <a:pt x="116" y="201"/>
                </a:cubicBezTo>
                <a:cubicBezTo>
                  <a:pt x="116" y="211"/>
                  <a:pt x="116" y="211"/>
                  <a:pt x="116" y="211"/>
                </a:cubicBezTo>
                <a:cubicBezTo>
                  <a:pt x="139" y="209"/>
                  <a:pt x="163" y="199"/>
                  <a:pt x="181" y="180"/>
                </a:cubicBezTo>
                <a:cubicBezTo>
                  <a:pt x="199" y="162"/>
                  <a:pt x="209" y="139"/>
                  <a:pt x="211" y="115"/>
                </a:cubicBezTo>
                <a:lnTo>
                  <a:pt x="201" y="115"/>
                </a:lnTo>
                <a:close/>
              </a:path>
            </a:pathLst>
          </a:custGeom>
          <a:solidFill>
            <a:srgbClr val="AC0000"/>
          </a:solidFill>
          <a:ln w="9525">
            <a:noFill/>
            <a:round/>
          </a:ln>
          <a:effectLst>
            <a:outerShdw blurRad="149987" dist="250190" dir="8460000" algn="ctr">
              <a:srgbClr val="000000">
                <a:alpha val="28000"/>
              </a:srgbClr>
            </a:outerShdw>
          </a:effectLst>
        </p:spPr>
        <p:txBody>
          <a:bodyPr/>
          <a:lstStyle/>
          <a:p>
            <a:pPr>
              <a:lnSpc>
                <a:spcPct val="130000"/>
              </a:lnSpc>
            </a:pPr>
            <a:endParaRPr lang="zh-CN" altLang="en-US" sz="1055">
              <a:solidFill>
                <a:srgbClr val="383838"/>
              </a:solidFill>
              <a:cs typeface="+mn-ea"/>
              <a:sym typeface="+mn-lt"/>
            </a:endParaRPr>
          </a:p>
        </p:txBody>
      </p:sp>
      <p:sp>
        <p:nvSpPr>
          <p:cNvPr id="19" name="Freeform 6"/>
          <p:cNvSpPr/>
          <p:nvPr/>
        </p:nvSpPr>
        <p:spPr bwMode="auto">
          <a:xfrm>
            <a:off x="4589380" y="1910697"/>
            <a:ext cx="1371274" cy="1371274"/>
          </a:xfrm>
          <a:custGeom>
            <a:avLst/>
            <a:gdLst>
              <a:gd name="T0" fmla="*/ 95 w 203"/>
              <a:gd name="T1" fmla="*/ 203 h 203"/>
              <a:gd name="T2" fmla="*/ 129 w 203"/>
              <a:gd name="T3" fmla="*/ 130 h 203"/>
              <a:gd name="T4" fmla="*/ 203 w 203"/>
              <a:gd name="T5" fmla="*/ 96 h 203"/>
              <a:gd name="T6" fmla="*/ 203 w 203"/>
              <a:gd name="T7" fmla="*/ 0 h 203"/>
              <a:gd name="T8" fmla="*/ 77 w 203"/>
              <a:gd name="T9" fmla="*/ 48 h 203"/>
              <a:gd name="T10" fmla="*/ 40 w 203"/>
              <a:gd name="T11" fmla="*/ 41 h 203"/>
              <a:gd name="T12" fmla="*/ 48 w 203"/>
              <a:gd name="T13" fmla="*/ 78 h 203"/>
              <a:gd name="T14" fmla="*/ 0 w 203"/>
              <a:gd name="T15" fmla="*/ 203 h 203"/>
              <a:gd name="T16" fmla="*/ 95 w 203"/>
              <a:gd name="T17" fmla="*/ 20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 h="203">
                <a:moveTo>
                  <a:pt x="95" y="203"/>
                </a:moveTo>
                <a:cubicBezTo>
                  <a:pt x="97" y="177"/>
                  <a:pt x="109" y="150"/>
                  <a:pt x="129" y="130"/>
                </a:cubicBezTo>
                <a:cubicBezTo>
                  <a:pt x="150" y="109"/>
                  <a:pt x="176" y="98"/>
                  <a:pt x="203" y="96"/>
                </a:cubicBezTo>
                <a:cubicBezTo>
                  <a:pt x="203" y="0"/>
                  <a:pt x="203" y="0"/>
                  <a:pt x="203" y="0"/>
                </a:cubicBezTo>
                <a:cubicBezTo>
                  <a:pt x="158" y="2"/>
                  <a:pt x="114" y="18"/>
                  <a:pt x="77" y="48"/>
                </a:cubicBezTo>
                <a:cubicBezTo>
                  <a:pt x="40" y="41"/>
                  <a:pt x="40" y="41"/>
                  <a:pt x="40" y="41"/>
                </a:cubicBezTo>
                <a:cubicBezTo>
                  <a:pt x="48" y="78"/>
                  <a:pt x="48" y="78"/>
                  <a:pt x="48" y="78"/>
                </a:cubicBezTo>
                <a:cubicBezTo>
                  <a:pt x="18" y="114"/>
                  <a:pt x="2" y="159"/>
                  <a:pt x="0" y="203"/>
                </a:cubicBezTo>
                <a:lnTo>
                  <a:pt x="95" y="203"/>
                </a:lnTo>
                <a:close/>
              </a:path>
            </a:pathLst>
          </a:custGeom>
          <a:solidFill>
            <a:schemeClr val="tx1">
              <a:lumMod val="65000"/>
              <a:lumOff val="35000"/>
            </a:schemeClr>
          </a:solidFill>
          <a:ln w="9525">
            <a:noFill/>
            <a:round/>
          </a:ln>
          <a:effectLst>
            <a:outerShdw blurRad="149987" dist="250190" dir="8460000" algn="ctr">
              <a:srgbClr val="000000">
                <a:alpha val="28000"/>
              </a:srgbClr>
            </a:outerShdw>
          </a:effectLst>
        </p:spPr>
        <p:txBody>
          <a:bodyPr/>
          <a:lstStyle/>
          <a:p>
            <a:pPr>
              <a:lnSpc>
                <a:spcPct val="130000"/>
              </a:lnSpc>
            </a:pPr>
            <a:endParaRPr lang="zh-CN" altLang="en-US" sz="1055">
              <a:solidFill>
                <a:srgbClr val="383838"/>
              </a:solidFill>
              <a:cs typeface="+mn-ea"/>
              <a:sym typeface="+mn-lt"/>
            </a:endParaRPr>
          </a:p>
        </p:txBody>
      </p:sp>
      <p:sp>
        <p:nvSpPr>
          <p:cNvPr id="20" name="Freeform 7"/>
          <p:cNvSpPr/>
          <p:nvPr/>
        </p:nvSpPr>
        <p:spPr bwMode="auto">
          <a:xfrm>
            <a:off x="4589380" y="3417317"/>
            <a:ext cx="1371274" cy="1371274"/>
          </a:xfrm>
          <a:custGeom>
            <a:avLst/>
            <a:gdLst>
              <a:gd name="T0" fmla="*/ 203 w 203"/>
              <a:gd name="T1" fmla="*/ 108 h 203"/>
              <a:gd name="T2" fmla="*/ 129 w 203"/>
              <a:gd name="T3" fmla="*/ 74 h 203"/>
              <a:gd name="T4" fmla="*/ 95 w 203"/>
              <a:gd name="T5" fmla="*/ 0 h 203"/>
              <a:gd name="T6" fmla="*/ 0 w 203"/>
              <a:gd name="T7" fmla="*/ 0 h 203"/>
              <a:gd name="T8" fmla="*/ 48 w 203"/>
              <a:gd name="T9" fmla="*/ 126 h 203"/>
              <a:gd name="T10" fmla="*/ 40 w 203"/>
              <a:gd name="T11" fmla="*/ 162 h 203"/>
              <a:gd name="T12" fmla="*/ 77 w 203"/>
              <a:gd name="T13" fmla="*/ 155 h 203"/>
              <a:gd name="T14" fmla="*/ 203 w 203"/>
              <a:gd name="T15" fmla="*/ 203 h 203"/>
              <a:gd name="T16" fmla="*/ 203 w 203"/>
              <a:gd name="T17" fmla="*/ 10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 h="203">
                <a:moveTo>
                  <a:pt x="203" y="108"/>
                </a:moveTo>
                <a:cubicBezTo>
                  <a:pt x="176" y="105"/>
                  <a:pt x="150" y="94"/>
                  <a:pt x="129" y="74"/>
                </a:cubicBezTo>
                <a:cubicBezTo>
                  <a:pt x="109" y="53"/>
                  <a:pt x="98" y="27"/>
                  <a:pt x="95" y="0"/>
                </a:cubicBezTo>
                <a:cubicBezTo>
                  <a:pt x="0" y="0"/>
                  <a:pt x="0" y="0"/>
                  <a:pt x="0" y="0"/>
                </a:cubicBezTo>
                <a:cubicBezTo>
                  <a:pt x="2" y="45"/>
                  <a:pt x="18" y="89"/>
                  <a:pt x="48" y="126"/>
                </a:cubicBezTo>
                <a:cubicBezTo>
                  <a:pt x="40" y="162"/>
                  <a:pt x="40" y="162"/>
                  <a:pt x="40" y="162"/>
                </a:cubicBezTo>
                <a:cubicBezTo>
                  <a:pt x="77" y="155"/>
                  <a:pt x="77" y="155"/>
                  <a:pt x="77" y="155"/>
                </a:cubicBezTo>
                <a:cubicBezTo>
                  <a:pt x="114" y="185"/>
                  <a:pt x="158" y="201"/>
                  <a:pt x="203" y="203"/>
                </a:cubicBezTo>
                <a:lnTo>
                  <a:pt x="203" y="108"/>
                </a:lnTo>
                <a:close/>
              </a:path>
            </a:pathLst>
          </a:custGeom>
          <a:solidFill>
            <a:srgbClr val="AC0000"/>
          </a:solidFill>
          <a:ln>
            <a:noFill/>
          </a:ln>
          <a:effectLst>
            <a:outerShdw blurRad="149987" dist="250190" dir="8460000" algn="ctr">
              <a:srgbClr val="000000">
                <a:alpha val="28000"/>
              </a:srgbClr>
            </a:outerShdw>
          </a:effectLst>
        </p:spPr>
        <p:txBody>
          <a:bodyPr vert="horz" wrap="square" lIns="63715" tIns="31857" rIns="63715" bIns="31857" numCol="1" anchor="t" anchorCtr="0" compatLnSpc="1"/>
          <a:lstStyle/>
          <a:p>
            <a:pPr>
              <a:lnSpc>
                <a:spcPct val="130000"/>
              </a:lnSpc>
            </a:pPr>
            <a:endParaRPr lang="zh-CN" altLang="en-US" sz="1255">
              <a:cs typeface="+mn-ea"/>
              <a:sym typeface="+mn-lt"/>
            </a:endParaRPr>
          </a:p>
        </p:txBody>
      </p:sp>
      <p:sp>
        <p:nvSpPr>
          <p:cNvPr id="21" name="Freeform 8"/>
          <p:cNvSpPr/>
          <p:nvPr/>
        </p:nvSpPr>
        <p:spPr bwMode="auto">
          <a:xfrm>
            <a:off x="6096000" y="1910697"/>
            <a:ext cx="1365041" cy="1371274"/>
          </a:xfrm>
          <a:custGeom>
            <a:avLst/>
            <a:gdLst>
              <a:gd name="T0" fmla="*/ 127 w 202"/>
              <a:gd name="T1" fmla="*/ 50 h 203"/>
              <a:gd name="T2" fmla="*/ 0 w 202"/>
              <a:gd name="T3" fmla="*/ 0 h 203"/>
              <a:gd name="T4" fmla="*/ 0 w 202"/>
              <a:gd name="T5" fmla="*/ 96 h 203"/>
              <a:gd name="T6" fmla="*/ 73 w 202"/>
              <a:gd name="T7" fmla="*/ 130 h 203"/>
              <a:gd name="T8" fmla="*/ 107 w 202"/>
              <a:gd name="T9" fmla="*/ 203 h 203"/>
              <a:gd name="T10" fmla="*/ 202 w 202"/>
              <a:gd name="T11" fmla="*/ 203 h 203"/>
              <a:gd name="T12" fmla="*/ 156 w 202"/>
              <a:gd name="T13" fmla="*/ 79 h 203"/>
              <a:gd name="T14" fmla="*/ 163 w 202"/>
              <a:gd name="T15" fmla="*/ 42 h 203"/>
              <a:gd name="T16" fmla="*/ 127 w 202"/>
              <a:gd name="T17" fmla="*/ 5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2" h="203">
                <a:moveTo>
                  <a:pt x="127" y="50"/>
                </a:moveTo>
                <a:cubicBezTo>
                  <a:pt x="90" y="19"/>
                  <a:pt x="45" y="3"/>
                  <a:pt x="0" y="0"/>
                </a:cubicBezTo>
                <a:cubicBezTo>
                  <a:pt x="0" y="96"/>
                  <a:pt x="0" y="96"/>
                  <a:pt x="0" y="96"/>
                </a:cubicBezTo>
                <a:cubicBezTo>
                  <a:pt x="26" y="98"/>
                  <a:pt x="53" y="109"/>
                  <a:pt x="73" y="130"/>
                </a:cubicBezTo>
                <a:cubicBezTo>
                  <a:pt x="94" y="150"/>
                  <a:pt x="105" y="177"/>
                  <a:pt x="107" y="203"/>
                </a:cubicBezTo>
                <a:cubicBezTo>
                  <a:pt x="202" y="203"/>
                  <a:pt x="202" y="203"/>
                  <a:pt x="202" y="203"/>
                </a:cubicBezTo>
                <a:cubicBezTo>
                  <a:pt x="200" y="159"/>
                  <a:pt x="185" y="115"/>
                  <a:pt x="156" y="79"/>
                </a:cubicBezTo>
                <a:cubicBezTo>
                  <a:pt x="163" y="42"/>
                  <a:pt x="163" y="42"/>
                  <a:pt x="163" y="42"/>
                </a:cubicBezTo>
                <a:lnTo>
                  <a:pt x="127" y="50"/>
                </a:lnTo>
                <a:close/>
              </a:path>
            </a:pathLst>
          </a:custGeom>
          <a:solidFill>
            <a:srgbClr val="AC0000"/>
          </a:solidFill>
          <a:ln w="9525">
            <a:noFill/>
            <a:round/>
          </a:ln>
          <a:effectLst>
            <a:outerShdw blurRad="149987" dist="250190" dir="8460000" algn="ctr">
              <a:srgbClr val="000000">
                <a:alpha val="28000"/>
              </a:srgbClr>
            </a:outerShdw>
          </a:effectLst>
        </p:spPr>
        <p:txBody>
          <a:bodyPr/>
          <a:lstStyle/>
          <a:p>
            <a:pPr>
              <a:lnSpc>
                <a:spcPct val="130000"/>
              </a:lnSpc>
            </a:pPr>
            <a:endParaRPr lang="zh-CN" altLang="en-US" sz="1055">
              <a:solidFill>
                <a:srgbClr val="383838"/>
              </a:solidFill>
              <a:cs typeface="+mn-ea"/>
              <a:sym typeface="+mn-lt"/>
            </a:endParaRPr>
          </a:p>
        </p:txBody>
      </p:sp>
      <p:sp>
        <p:nvSpPr>
          <p:cNvPr id="22" name="Freeform 9"/>
          <p:cNvSpPr/>
          <p:nvPr/>
        </p:nvSpPr>
        <p:spPr bwMode="auto">
          <a:xfrm>
            <a:off x="6096000" y="3417317"/>
            <a:ext cx="1365041" cy="1371274"/>
          </a:xfrm>
          <a:custGeom>
            <a:avLst/>
            <a:gdLst>
              <a:gd name="T0" fmla="*/ 107 w 202"/>
              <a:gd name="T1" fmla="*/ 0 h 203"/>
              <a:gd name="T2" fmla="*/ 73 w 202"/>
              <a:gd name="T3" fmla="*/ 74 h 203"/>
              <a:gd name="T4" fmla="*/ 0 w 202"/>
              <a:gd name="T5" fmla="*/ 108 h 203"/>
              <a:gd name="T6" fmla="*/ 0 w 202"/>
              <a:gd name="T7" fmla="*/ 203 h 203"/>
              <a:gd name="T8" fmla="*/ 123 w 202"/>
              <a:gd name="T9" fmla="*/ 157 h 203"/>
              <a:gd name="T10" fmla="*/ 161 w 202"/>
              <a:gd name="T11" fmla="*/ 164 h 203"/>
              <a:gd name="T12" fmla="*/ 153 w 202"/>
              <a:gd name="T13" fmla="*/ 127 h 203"/>
              <a:gd name="T14" fmla="*/ 202 w 202"/>
              <a:gd name="T15" fmla="*/ 0 h 203"/>
              <a:gd name="T16" fmla="*/ 107 w 202"/>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2" h="203">
                <a:moveTo>
                  <a:pt x="107" y="0"/>
                </a:moveTo>
                <a:cubicBezTo>
                  <a:pt x="105" y="27"/>
                  <a:pt x="93" y="53"/>
                  <a:pt x="73" y="74"/>
                </a:cubicBezTo>
                <a:cubicBezTo>
                  <a:pt x="53" y="94"/>
                  <a:pt x="26" y="105"/>
                  <a:pt x="0" y="108"/>
                </a:cubicBezTo>
                <a:cubicBezTo>
                  <a:pt x="0" y="203"/>
                  <a:pt x="0" y="203"/>
                  <a:pt x="0" y="203"/>
                </a:cubicBezTo>
                <a:cubicBezTo>
                  <a:pt x="44" y="201"/>
                  <a:pt x="87" y="186"/>
                  <a:pt x="123" y="157"/>
                </a:cubicBezTo>
                <a:cubicBezTo>
                  <a:pt x="161" y="164"/>
                  <a:pt x="161" y="164"/>
                  <a:pt x="161" y="164"/>
                </a:cubicBezTo>
                <a:cubicBezTo>
                  <a:pt x="153" y="127"/>
                  <a:pt x="153" y="127"/>
                  <a:pt x="153" y="127"/>
                </a:cubicBezTo>
                <a:cubicBezTo>
                  <a:pt x="184" y="90"/>
                  <a:pt x="200" y="46"/>
                  <a:pt x="202" y="0"/>
                </a:cubicBezTo>
                <a:lnTo>
                  <a:pt x="107" y="0"/>
                </a:lnTo>
                <a:close/>
              </a:path>
            </a:pathLst>
          </a:custGeom>
          <a:solidFill>
            <a:schemeClr val="tx1">
              <a:lumMod val="65000"/>
              <a:lumOff val="35000"/>
            </a:schemeClr>
          </a:solidFill>
          <a:ln w="9525">
            <a:noFill/>
            <a:round/>
          </a:ln>
          <a:effectLst>
            <a:outerShdw blurRad="149987" dist="250190" dir="8460000" algn="ctr">
              <a:srgbClr val="000000">
                <a:alpha val="28000"/>
              </a:srgbClr>
            </a:outerShdw>
          </a:effectLst>
        </p:spPr>
        <p:txBody>
          <a:bodyPr/>
          <a:lstStyle/>
          <a:p>
            <a:pPr>
              <a:lnSpc>
                <a:spcPct val="130000"/>
              </a:lnSpc>
            </a:pPr>
            <a:endParaRPr lang="zh-CN" altLang="en-US" sz="1055">
              <a:solidFill>
                <a:srgbClr val="383838"/>
              </a:solidFill>
              <a:cs typeface="+mn-ea"/>
              <a:sym typeface="+mn-lt"/>
            </a:endParaRPr>
          </a:p>
        </p:txBody>
      </p:sp>
      <p:sp>
        <p:nvSpPr>
          <p:cNvPr id="54" name="文本框 53"/>
          <p:cNvSpPr txBox="1"/>
          <p:nvPr/>
        </p:nvSpPr>
        <p:spPr>
          <a:xfrm>
            <a:off x="7111180" y="5061295"/>
            <a:ext cx="4529439" cy="657039"/>
          </a:xfrm>
          <a:prstGeom prst="rect">
            <a:avLst/>
          </a:prstGeom>
          <a:noFill/>
        </p:spPr>
        <p:txBody>
          <a:bodyPr wrap="square">
            <a:spAutoFit/>
          </a:bodyPr>
          <a:lstStyle/>
          <a:p>
            <a:pPr>
              <a:lnSpc>
                <a:spcPct val="150000"/>
              </a:lnSpc>
            </a:pPr>
            <a:r>
              <a:rPr lang="zh-CN" altLang="en-US" dirty="0">
                <a:latin typeface="华文中宋" panose="02010600040101010101" pitchFamily="2" charset="-122"/>
                <a:ea typeface="华文中宋" panose="02010600040101010101" pitchFamily="2" charset="-122"/>
                <a:cs typeface="Arial" panose="020B0604020202090204" pitchFamily="34" charset="0"/>
                <a:sym typeface="+mn-ea"/>
              </a:rPr>
              <a:t>丰富多元化的讲师激励体系，优化内训师队伍结构，吸引业务专家与管理者更广泛地参加内训工作</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1377968" y="1690948"/>
            <a:ext cx="9326881" cy="3716922"/>
            <a:chOff x="1428115" y="1854200"/>
            <a:chExt cx="9335771" cy="3720465"/>
          </a:xfrm>
        </p:grpSpPr>
        <p:sp>
          <p:nvSpPr>
            <p:cNvPr id="15" name="矩形: 圆角 6"/>
            <p:cNvSpPr/>
            <p:nvPr>
              <p:custDataLst>
                <p:tags r:id="rId1"/>
              </p:custDataLst>
            </p:nvPr>
          </p:nvSpPr>
          <p:spPr>
            <a:xfrm>
              <a:off x="1428115" y="2409190"/>
              <a:ext cx="2527300" cy="3165475"/>
            </a:xfrm>
            <a:prstGeom prst="roundRect">
              <a:avLst>
                <a:gd name="adj" fmla="val 8657"/>
              </a:avLst>
            </a:prstGeom>
            <a:noFill/>
            <a:ln w="28575">
              <a:solidFill>
                <a:srgbClr val="A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lt1"/>
                </a:solidFill>
                <a:latin typeface="华文中宋" panose="02010600040101010101" pitchFamily="2" charset="-122"/>
                <a:ea typeface="华文中宋" panose="02010600040101010101" pitchFamily="2" charset="-122"/>
              </a:endParaRPr>
            </a:p>
          </p:txBody>
        </p:sp>
        <p:sp>
          <p:nvSpPr>
            <p:cNvPr id="17" name="椭圆 16"/>
            <p:cNvSpPr/>
            <p:nvPr>
              <p:custDataLst>
                <p:tags r:id="rId2"/>
              </p:custDataLst>
            </p:nvPr>
          </p:nvSpPr>
          <p:spPr>
            <a:xfrm>
              <a:off x="2159000" y="1854200"/>
              <a:ext cx="1072515" cy="1072515"/>
            </a:xfrm>
            <a:prstGeom prst="ellipse">
              <a:avLst/>
            </a:prstGeom>
            <a:solidFill>
              <a:schemeClr val="bg1"/>
            </a:solidFill>
            <a:ln w="25400">
              <a:solidFill>
                <a:srgbClr val="A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lt1"/>
                </a:solidFill>
                <a:latin typeface="华文中宋" panose="02010600040101010101" pitchFamily="2" charset="-122"/>
                <a:ea typeface="华文中宋" panose="02010600040101010101" pitchFamily="2" charset="-122"/>
              </a:endParaRPr>
            </a:p>
          </p:txBody>
        </p:sp>
        <p:sp>
          <p:nvSpPr>
            <p:cNvPr id="20" name="椭圆 19"/>
            <p:cNvSpPr/>
            <p:nvPr>
              <p:custDataLst>
                <p:tags r:id="rId3"/>
              </p:custDataLst>
            </p:nvPr>
          </p:nvSpPr>
          <p:spPr>
            <a:xfrm>
              <a:off x="2219960" y="1915160"/>
              <a:ext cx="950595" cy="950595"/>
            </a:xfrm>
            <a:prstGeom prst="ellipse">
              <a:avLst/>
            </a:prstGeom>
            <a:solidFill>
              <a:srgbClr val="AC0000"/>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lt1"/>
                </a:solidFill>
                <a:latin typeface="华文中宋" panose="02010600040101010101" pitchFamily="2" charset="-122"/>
                <a:ea typeface="华文中宋" panose="02010600040101010101" pitchFamily="2" charset="-122"/>
              </a:endParaRPr>
            </a:p>
          </p:txBody>
        </p:sp>
        <p:sp>
          <p:nvSpPr>
            <p:cNvPr id="21" name="TextBox 21"/>
            <p:cNvSpPr txBox="1"/>
            <p:nvPr>
              <p:custDataLst>
                <p:tags r:id="rId4"/>
              </p:custDataLst>
            </p:nvPr>
          </p:nvSpPr>
          <p:spPr>
            <a:xfrm>
              <a:off x="1428115" y="4073162"/>
              <a:ext cx="2527299" cy="1177925"/>
            </a:xfrm>
            <a:prstGeom prst="rect">
              <a:avLst/>
            </a:prstGeom>
            <a:noFill/>
          </p:spPr>
          <p:txBody>
            <a:bodyPr wrap="square" rtlCol="0" anchor="ctr">
              <a:normAutofit/>
            </a:bodyPr>
            <a:lstStyle/>
            <a:p>
              <a:pPr lvl="0">
                <a:lnSpc>
                  <a:spcPct val="150000"/>
                </a:lnSpc>
                <a:spcBef>
                  <a:spcPts val="0"/>
                </a:spcBef>
                <a:spcAft>
                  <a:spcPts val="800"/>
                </a:spcAft>
                <a:buSzPct val="100000"/>
              </a:pPr>
              <a:r>
                <a:rPr lang="zh-CN" altLang="zh-CN" dirty="0"/>
                <a:t>通过内部竞聘和外部招聘相结合，建立一支专职的教育发展专员，培养成为懂业务的培训专家</a:t>
              </a:r>
              <a:r>
                <a:rPr lang="zh-CN" altLang="zh-CN" sz="1400" dirty="0"/>
                <a:t> </a:t>
              </a:r>
              <a:r>
                <a:rPr lang="zh-CN" altLang="en-US" sz="1400" b="1" spc="80" dirty="0">
                  <a:solidFill>
                    <a:schemeClr val="tx1">
                      <a:lumMod val="75000"/>
                      <a:lumOff val="25000"/>
                    </a:schemeClr>
                  </a:solidFill>
                  <a:latin typeface="华文中宋" panose="02010600040101010101" pitchFamily="2" charset="-122"/>
                  <a:ea typeface="华文中宋" panose="02010600040101010101" pitchFamily="2" charset="-122"/>
                </a:rPr>
                <a:t>。</a:t>
              </a:r>
              <a:endParaRPr lang="zh-CN" altLang="en-US" sz="1400" b="1" spc="80" dirty="0">
                <a:solidFill>
                  <a:schemeClr val="tx1">
                    <a:lumMod val="75000"/>
                    <a:lumOff val="25000"/>
                  </a:schemeClr>
                </a:solidFill>
                <a:latin typeface="华文中宋" panose="02010600040101010101" pitchFamily="2" charset="-122"/>
                <a:ea typeface="华文中宋" panose="02010600040101010101" pitchFamily="2" charset="-122"/>
              </a:endParaRPr>
            </a:p>
          </p:txBody>
        </p:sp>
        <p:sp>
          <p:nvSpPr>
            <p:cNvPr id="22" name="Rectangle 29"/>
            <p:cNvSpPr/>
            <p:nvPr>
              <p:custDataLst>
                <p:tags r:id="rId5"/>
              </p:custDataLst>
            </p:nvPr>
          </p:nvSpPr>
          <p:spPr>
            <a:xfrm>
              <a:off x="1428115" y="3200400"/>
              <a:ext cx="2397825" cy="584835"/>
            </a:xfrm>
            <a:prstGeom prst="rect">
              <a:avLst/>
            </a:prstGeom>
          </p:spPr>
          <p:txBody>
            <a:bodyPr wrap="square" anchor="ctr">
              <a:normAutofit fontScale="925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0"/>
                </a:spcBef>
                <a:spcAft>
                  <a:spcPts val="0"/>
                </a:spcAft>
                <a:buSzPct val="100000"/>
              </a:pPr>
              <a:r>
                <a:rPr lang="zh-CN" altLang="zh-CN" sz="1400" dirty="0"/>
                <a:t>建立教育发展专员队伍，强化培训对业务的支持力度</a:t>
              </a:r>
              <a:r>
                <a:rPr lang="zh-CN" altLang="zh-CN" sz="2400" dirty="0"/>
                <a:t> </a:t>
              </a:r>
              <a:endParaRPr lang="zh-CN" altLang="en-US" sz="2400" b="1" spc="200" dirty="0">
                <a:solidFill>
                  <a:schemeClr val="tx1">
                    <a:lumMod val="75000"/>
                    <a:lumOff val="25000"/>
                  </a:schemeClr>
                </a:solidFill>
                <a:uFillTx/>
                <a:latin typeface="华文中宋" panose="02010600040101010101" pitchFamily="2" charset="-122"/>
                <a:ea typeface="华文中宋" panose="02010600040101010101" pitchFamily="2" charset="-122"/>
              </a:endParaRPr>
            </a:p>
          </p:txBody>
        </p:sp>
        <p:sp>
          <p:nvSpPr>
            <p:cNvPr id="23"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custDataLst>
                <p:tags r:id="rId6"/>
              </p:custDataLst>
            </p:nvPr>
          </p:nvSpPr>
          <p:spPr>
            <a:xfrm>
              <a:off x="2374900" y="2082165"/>
              <a:ext cx="709295" cy="632460"/>
            </a:xfrm>
            <a:prstGeom prst="rect">
              <a:avLst/>
            </a:prstGeom>
            <a:noFill/>
          </p:spPr>
          <p:txBody>
            <a:bodyPr wrap="square" rtlCol="0" anchor="ctr">
              <a:normAutofit fontScale="90000"/>
            </a:bodyPr>
            <a:lstStyle/>
            <a:p>
              <a:pPr marL="0">
                <a:lnSpc>
                  <a:spcPct val="100000"/>
                </a:lnSpc>
                <a:spcBef>
                  <a:spcPts val="0"/>
                </a:spcBef>
                <a:spcAft>
                  <a:spcPts val="800"/>
                </a:spcAft>
              </a:pPr>
              <a:r>
                <a:rPr lang="en-US" sz="3200" b="1" spc="240" dirty="0">
                  <a:solidFill>
                    <a:schemeClr val="bg1"/>
                  </a:solidFill>
                  <a:latin typeface="华文中宋" panose="02010600040101010101" pitchFamily="2" charset="-122"/>
                  <a:ea typeface="华文中宋" panose="02010600040101010101" pitchFamily="2" charset="-122"/>
                  <a:cs typeface="Montserrat Black"/>
                </a:rPr>
                <a:t>01</a:t>
              </a:r>
              <a:endParaRPr lang="en-US" sz="3200" b="1" spc="240" dirty="0">
                <a:solidFill>
                  <a:schemeClr val="bg1"/>
                </a:solidFill>
                <a:latin typeface="华文中宋" panose="02010600040101010101" pitchFamily="2" charset="-122"/>
                <a:ea typeface="华文中宋" panose="02010600040101010101" pitchFamily="2" charset="-122"/>
                <a:cs typeface="Montserrat Black"/>
              </a:endParaRPr>
            </a:p>
          </p:txBody>
        </p:sp>
        <p:sp>
          <p:nvSpPr>
            <p:cNvPr id="24" name="矩形: 圆角 21"/>
            <p:cNvSpPr/>
            <p:nvPr>
              <p:custDataLst>
                <p:tags r:id="rId7"/>
              </p:custDataLst>
            </p:nvPr>
          </p:nvSpPr>
          <p:spPr>
            <a:xfrm>
              <a:off x="4832350" y="2409190"/>
              <a:ext cx="2527300" cy="3165475"/>
            </a:xfrm>
            <a:prstGeom prst="roundRect">
              <a:avLst>
                <a:gd name="adj" fmla="val 8657"/>
              </a:avLst>
            </a:prstGeom>
            <a:no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lt1"/>
                </a:solidFill>
                <a:latin typeface="华文中宋" panose="02010600040101010101" pitchFamily="2" charset="-122"/>
                <a:ea typeface="华文中宋" panose="02010600040101010101" pitchFamily="2" charset="-122"/>
              </a:endParaRPr>
            </a:p>
          </p:txBody>
        </p:sp>
        <p:sp>
          <p:nvSpPr>
            <p:cNvPr id="25" name="椭圆 24"/>
            <p:cNvSpPr/>
            <p:nvPr>
              <p:custDataLst>
                <p:tags r:id="rId8"/>
              </p:custDataLst>
            </p:nvPr>
          </p:nvSpPr>
          <p:spPr>
            <a:xfrm>
              <a:off x="5563235" y="1854200"/>
              <a:ext cx="1072515" cy="1072515"/>
            </a:xfrm>
            <a:prstGeom prst="ellipse">
              <a:avLst/>
            </a:prstGeom>
            <a:solidFill>
              <a:schemeClr val="bg1"/>
            </a:solidFill>
            <a:ln w="25400">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lt1"/>
                </a:solidFill>
                <a:latin typeface="华文中宋" panose="02010600040101010101" pitchFamily="2" charset="-122"/>
                <a:ea typeface="华文中宋" panose="02010600040101010101" pitchFamily="2" charset="-122"/>
              </a:endParaRPr>
            </a:p>
          </p:txBody>
        </p:sp>
        <p:sp>
          <p:nvSpPr>
            <p:cNvPr id="26" name="椭圆 25"/>
            <p:cNvSpPr/>
            <p:nvPr>
              <p:custDataLst>
                <p:tags r:id="rId9"/>
              </p:custDataLst>
            </p:nvPr>
          </p:nvSpPr>
          <p:spPr>
            <a:xfrm>
              <a:off x="5624195" y="1915160"/>
              <a:ext cx="950595" cy="950595"/>
            </a:xfrm>
            <a:prstGeom prst="ellipse">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lt1"/>
                </a:solidFill>
                <a:latin typeface="华文中宋" panose="02010600040101010101" pitchFamily="2" charset="-122"/>
                <a:ea typeface="华文中宋" panose="02010600040101010101" pitchFamily="2" charset="-122"/>
              </a:endParaRPr>
            </a:p>
          </p:txBody>
        </p:sp>
        <p:sp>
          <p:nvSpPr>
            <p:cNvPr id="27" name="TextBox 21"/>
            <p:cNvSpPr txBox="1"/>
            <p:nvPr>
              <p:custDataLst>
                <p:tags r:id="rId10"/>
              </p:custDataLst>
            </p:nvPr>
          </p:nvSpPr>
          <p:spPr>
            <a:xfrm>
              <a:off x="4832350" y="4073162"/>
              <a:ext cx="2527300" cy="1177925"/>
            </a:xfrm>
            <a:prstGeom prst="rect">
              <a:avLst/>
            </a:prstGeom>
            <a:noFill/>
          </p:spPr>
          <p:txBody>
            <a:bodyPr wrap="square" rtlCol="0" anchor="ctr">
              <a:normAutofit fontScale="92500"/>
            </a:bodyPr>
            <a:lstStyle/>
            <a:p>
              <a:pPr lvl="0">
                <a:lnSpc>
                  <a:spcPct val="150000"/>
                </a:lnSpc>
                <a:spcBef>
                  <a:spcPts val="0"/>
                </a:spcBef>
                <a:spcAft>
                  <a:spcPts val="800"/>
                </a:spcAft>
                <a:buSzPct val="100000"/>
              </a:pPr>
              <a:r>
                <a:rPr lang="zh-CN" altLang="zh-CN" dirty="0"/>
                <a:t>作为业务部门与培训项目之间的桥梁，重点强化技术和方法在业务部门的落地应用和成果转化，最终推动业务问题得到解决</a:t>
              </a:r>
              <a:r>
                <a:rPr lang="zh-CN" altLang="zh-CN" sz="1400" dirty="0"/>
                <a:t> </a:t>
              </a:r>
              <a:r>
                <a:rPr lang="zh-CN" altLang="en-US" sz="1400" b="1" spc="60" dirty="0">
                  <a:solidFill>
                    <a:schemeClr val="tx1">
                      <a:lumMod val="75000"/>
                      <a:lumOff val="25000"/>
                    </a:schemeClr>
                  </a:solidFill>
                  <a:latin typeface="华文中宋" panose="02010600040101010101" pitchFamily="2" charset="-122"/>
                  <a:ea typeface="华文中宋" panose="02010600040101010101" pitchFamily="2" charset="-122"/>
                </a:rPr>
                <a:t>。</a:t>
              </a:r>
              <a:endParaRPr lang="zh-CN" altLang="en-US" sz="1400" b="1" spc="60" dirty="0">
                <a:solidFill>
                  <a:schemeClr val="tx1">
                    <a:lumMod val="75000"/>
                    <a:lumOff val="25000"/>
                  </a:schemeClr>
                </a:solidFill>
                <a:latin typeface="华文中宋" panose="02010600040101010101" pitchFamily="2" charset="-122"/>
                <a:ea typeface="华文中宋" panose="02010600040101010101" pitchFamily="2" charset="-122"/>
              </a:endParaRPr>
            </a:p>
          </p:txBody>
        </p:sp>
        <p:sp>
          <p:nvSpPr>
            <p:cNvPr id="28" name="Rectangle 29"/>
            <p:cNvSpPr/>
            <p:nvPr>
              <p:custDataLst>
                <p:tags r:id="rId11"/>
              </p:custDataLst>
            </p:nvPr>
          </p:nvSpPr>
          <p:spPr>
            <a:xfrm>
              <a:off x="4832350" y="3200400"/>
              <a:ext cx="2527300" cy="584835"/>
            </a:xfrm>
            <a:prstGeom prst="rect">
              <a:avLst/>
            </a:prstGeom>
          </p:spPr>
          <p:txBody>
            <a:bodyPr wrap="square" anchor="ctr">
              <a:normAutofit fontScale="775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0"/>
                </a:spcBef>
                <a:spcAft>
                  <a:spcPts val="0"/>
                </a:spcAft>
                <a:buSzPct val="100000"/>
              </a:pPr>
              <a:r>
                <a:rPr lang="zh-CN" altLang="zh-CN" dirty="0"/>
                <a:t>聚焦学习场景和学习技术应用，侧重培训对业务的支持和转化</a:t>
              </a:r>
              <a:r>
                <a:rPr lang="zh-CN" altLang="zh-CN" sz="2800" dirty="0"/>
                <a:t> </a:t>
              </a:r>
              <a:endParaRPr lang="zh-CN" altLang="en-US" sz="2800" b="1" spc="200" dirty="0">
                <a:solidFill>
                  <a:schemeClr val="tx1">
                    <a:lumMod val="75000"/>
                    <a:lumOff val="25000"/>
                  </a:schemeClr>
                </a:solidFill>
                <a:uFillTx/>
                <a:latin typeface="华文中宋" panose="02010600040101010101" pitchFamily="2" charset="-122"/>
                <a:ea typeface="华文中宋" panose="02010600040101010101" pitchFamily="2" charset="-122"/>
              </a:endParaRPr>
            </a:p>
          </p:txBody>
        </p:sp>
        <p:sp>
          <p:nvSpPr>
            <p:cNvPr id="29"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custDataLst>
                <p:tags r:id="rId12"/>
              </p:custDataLst>
            </p:nvPr>
          </p:nvSpPr>
          <p:spPr>
            <a:xfrm>
              <a:off x="5779135" y="2082165"/>
              <a:ext cx="709295" cy="632460"/>
            </a:xfrm>
            <a:prstGeom prst="rect">
              <a:avLst/>
            </a:prstGeom>
            <a:noFill/>
          </p:spPr>
          <p:txBody>
            <a:bodyPr wrap="square" rtlCol="0" anchor="ctr">
              <a:normAutofit fontScale="90000"/>
            </a:bodyPr>
            <a:lstStyle/>
            <a:p>
              <a:pPr marL="0">
                <a:lnSpc>
                  <a:spcPct val="100000"/>
                </a:lnSpc>
                <a:spcBef>
                  <a:spcPts val="0"/>
                </a:spcBef>
                <a:spcAft>
                  <a:spcPts val="800"/>
                </a:spcAft>
              </a:pPr>
              <a:r>
                <a:rPr lang="en-US" sz="3200" b="1" spc="240" dirty="0">
                  <a:solidFill>
                    <a:schemeClr val="bg1"/>
                  </a:solidFill>
                  <a:latin typeface="华文中宋" panose="02010600040101010101" pitchFamily="2" charset="-122"/>
                  <a:ea typeface="华文中宋" panose="02010600040101010101" pitchFamily="2" charset="-122"/>
                  <a:cs typeface="Montserrat Black"/>
                </a:rPr>
                <a:t>02</a:t>
              </a:r>
              <a:endParaRPr lang="en-US" sz="3200" b="1" spc="240" dirty="0">
                <a:solidFill>
                  <a:schemeClr val="bg1"/>
                </a:solidFill>
                <a:latin typeface="华文中宋" panose="02010600040101010101" pitchFamily="2" charset="-122"/>
                <a:ea typeface="华文中宋" panose="02010600040101010101" pitchFamily="2" charset="-122"/>
                <a:cs typeface="Montserrat Black"/>
              </a:endParaRPr>
            </a:p>
          </p:txBody>
        </p:sp>
        <p:sp>
          <p:nvSpPr>
            <p:cNvPr id="30" name="矩形: 圆角 28"/>
            <p:cNvSpPr/>
            <p:nvPr>
              <p:custDataLst>
                <p:tags r:id="rId13"/>
              </p:custDataLst>
            </p:nvPr>
          </p:nvSpPr>
          <p:spPr>
            <a:xfrm>
              <a:off x="8236585" y="2409190"/>
              <a:ext cx="2527300" cy="3165475"/>
            </a:xfrm>
            <a:prstGeom prst="roundRect">
              <a:avLst>
                <a:gd name="adj" fmla="val 8657"/>
              </a:avLst>
            </a:prstGeom>
            <a:noFill/>
            <a:ln w="28575">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lt1"/>
                </a:solidFill>
                <a:latin typeface="华文中宋" panose="02010600040101010101" pitchFamily="2" charset="-122"/>
                <a:ea typeface="华文中宋" panose="02010600040101010101" pitchFamily="2" charset="-122"/>
              </a:endParaRPr>
            </a:p>
          </p:txBody>
        </p:sp>
        <p:sp>
          <p:nvSpPr>
            <p:cNvPr id="31" name="椭圆 30"/>
            <p:cNvSpPr/>
            <p:nvPr>
              <p:custDataLst>
                <p:tags r:id="rId14"/>
              </p:custDataLst>
            </p:nvPr>
          </p:nvSpPr>
          <p:spPr>
            <a:xfrm>
              <a:off x="8967470" y="1854200"/>
              <a:ext cx="1072515" cy="1072515"/>
            </a:xfrm>
            <a:prstGeom prst="ellipse">
              <a:avLst/>
            </a:prstGeom>
            <a:solidFill>
              <a:schemeClr val="bg1"/>
            </a:solidFill>
            <a:ln w="254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lt1"/>
                </a:solidFill>
                <a:latin typeface="华文中宋" panose="02010600040101010101" pitchFamily="2" charset="-122"/>
                <a:ea typeface="华文中宋" panose="02010600040101010101" pitchFamily="2" charset="-122"/>
              </a:endParaRPr>
            </a:p>
          </p:txBody>
        </p:sp>
        <p:sp>
          <p:nvSpPr>
            <p:cNvPr id="32" name="椭圆 31"/>
            <p:cNvSpPr/>
            <p:nvPr>
              <p:custDataLst>
                <p:tags r:id="rId15"/>
              </p:custDataLst>
            </p:nvPr>
          </p:nvSpPr>
          <p:spPr>
            <a:xfrm>
              <a:off x="9028430" y="1915160"/>
              <a:ext cx="950595" cy="950595"/>
            </a:xfrm>
            <a:prstGeom prst="ellipse">
              <a:avLst/>
            </a:prstGeom>
            <a:solidFill>
              <a:schemeClr val="accent5">
                <a:lumMod val="5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lt1"/>
                </a:solidFill>
                <a:latin typeface="华文中宋" panose="02010600040101010101" pitchFamily="2" charset="-122"/>
                <a:ea typeface="华文中宋" panose="02010600040101010101" pitchFamily="2" charset="-122"/>
              </a:endParaRPr>
            </a:p>
          </p:txBody>
        </p:sp>
        <p:sp>
          <p:nvSpPr>
            <p:cNvPr id="33" name="TextBox 21"/>
            <p:cNvSpPr txBox="1"/>
            <p:nvPr>
              <p:custDataLst>
                <p:tags r:id="rId16"/>
              </p:custDataLst>
            </p:nvPr>
          </p:nvSpPr>
          <p:spPr>
            <a:xfrm>
              <a:off x="8236584" y="4073162"/>
              <a:ext cx="2527300" cy="1177925"/>
            </a:xfrm>
            <a:prstGeom prst="rect">
              <a:avLst/>
            </a:prstGeom>
            <a:noFill/>
          </p:spPr>
          <p:txBody>
            <a:bodyPr wrap="square" rtlCol="0" anchor="ctr">
              <a:normAutofit fontScale="97500"/>
            </a:bodyPr>
            <a:lstStyle/>
            <a:p>
              <a:pPr lvl="0">
                <a:lnSpc>
                  <a:spcPct val="150000"/>
                </a:lnSpc>
                <a:spcBef>
                  <a:spcPts val="0"/>
                </a:spcBef>
                <a:spcAft>
                  <a:spcPts val="800"/>
                </a:spcAft>
                <a:buSzPct val="100000"/>
              </a:pPr>
              <a:r>
                <a:rPr lang="zh-CN" altLang="zh-CN" dirty="0"/>
                <a:t>制定针对性的培养项目，重点提升核心学习技术和方法，以及业务赋能技巧</a:t>
              </a:r>
              <a:r>
                <a:rPr lang="zh-CN" altLang="zh-CN" sz="1400" dirty="0"/>
                <a:t> </a:t>
              </a:r>
              <a:r>
                <a:rPr lang="zh-CN" altLang="en-US" sz="1400" b="1" spc="60" dirty="0">
                  <a:solidFill>
                    <a:schemeClr val="tx1">
                      <a:lumMod val="75000"/>
                      <a:lumOff val="25000"/>
                    </a:schemeClr>
                  </a:solidFill>
                  <a:latin typeface="华文中宋" panose="02010600040101010101" pitchFamily="2" charset="-122"/>
                  <a:ea typeface="华文中宋" panose="02010600040101010101" pitchFamily="2" charset="-122"/>
                </a:rPr>
                <a:t>。</a:t>
              </a:r>
              <a:endParaRPr lang="zh-CN" altLang="en-US" sz="1400" b="1" spc="60" dirty="0">
                <a:solidFill>
                  <a:schemeClr val="tx1">
                    <a:lumMod val="75000"/>
                    <a:lumOff val="25000"/>
                  </a:schemeClr>
                </a:solidFill>
                <a:latin typeface="华文中宋" panose="02010600040101010101" pitchFamily="2" charset="-122"/>
                <a:ea typeface="华文中宋" panose="02010600040101010101" pitchFamily="2" charset="-122"/>
              </a:endParaRPr>
            </a:p>
          </p:txBody>
        </p:sp>
        <p:sp>
          <p:nvSpPr>
            <p:cNvPr id="34" name="Rectangle 29"/>
            <p:cNvSpPr/>
            <p:nvPr>
              <p:custDataLst>
                <p:tags r:id="rId17"/>
              </p:custDataLst>
            </p:nvPr>
          </p:nvSpPr>
          <p:spPr>
            <a:xfrm>
              <a:off x="8236585" y="3200400"/>
              <a:ext cx="2527301" cy="584835"/>
            </a:xfrm>
            <a:prstGeom prst="rect">
              <a:avLst/>
            </a:prstGeom>
          </p:spPr>
          <p:txBody>
            <a:bodyPr wrap="square" anchor="ctr">
              <a:normAutofit fontScale="8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0"/>
                </a:spcBef>
                <a:spcAft>
                  <a:spcPts val="0"/>
                </a:spcAft>
                <a:buSzPct val="100000"/>
              </a:pPr>
              <a:r>
                <a:rPr lang="zh-CN" altLang="zh-CN" dirty="0"/>
                <a:t>构建教育发展专员学习地图，进行重点能力突破</a:t>
              </a:r>
              <a:r>
                <a:rPr lang="zh-CN" altLang="zh-CN" sz="2800" dirty="0"/>
                <a:t> </a:t>
              </a:r>
              <a:endParaRPr lang="zh-CN" altLang="en-US" sz="2800" b="1" spc="200" dirty="0">
                <a:solidFill>
                  <a:schemeClr val="tx1">
                    <a:lumMod val="75000"/>
                    <a:lumOff val="25000"/>
                  </a:schemeClr>
                </a:solidFill>
                <a:uFillTx/>
                <a:latin typeface="华文中宋" panose="02010600040101010101" pitchFamily="2" charset="-122"/>
                <a:ea typeface="华文中宋" panose="02010600040101010101" pitchFamily="2" charset="-122"/>
              </a:endParaRPr>
            </a:p>
          </p:txBody>
        </p:sp>
        <p:sp>
          <p:nvSpPr>
            <p:cNvPr id="35"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custDataLst>
                <p:tags r:id="rId18"/>
              </p:custDataLst>
            </p:nvPr>
          </p:nvSpPr>
          <p:spPr>
            <a:xfrm>
              <a:off x="9183370" y="2082165"/>
              <a:ext cx="709295" cy="632460"/>
            </a:xfrm>
            <a:prstGeom prst="rect">
              <a:avLst/>
            </a:prstGeom>
            <a:noFill/>
          </p:spPr>
          <p:txBody>
            <a:bodyPr wrap="square" rtlCol="0" anchor="ctr">
              <a:normAutofit fontScale="90000"/>
            </a:bodyPr>
            <a:lstStyle/>
            <a:p>
              <a:pPr marL="0">
                <a:lnSpc>
                  <a:spcPct val="100000"/>
                </a:lnSpc>
                <a:spcBef>
                  <a:spcPts val="0"/>
                </a:spcBef>
                <a:spcAft>
                  <a:spcPts val="800"/>
                </a:spcAft>
              </a:pPr>
              <a:r>
                <a:rPr lang="en-US" sz="3200" b="1" spc="240" dirty="0">
                  <a:solidFill>
                    <a:schemeClr val="bg1"/>
                  </a:solidFill>
                  <a:latin typeface="华文中宋" panose="02010600040101010101" pitchFamily="2" charset="-122"/>
                  <a:ea typeface="华文中宋" panose="02010600040101010101" pitchFamily="2" charset="-122"/>
                  <a:cs typeface="Montserrat Black"/>
                </a:rPr>
                <a:t>03</a:t>
              </a:r>
              <a:endParaRPr lang="en-US" sz="3200" b="1" spc="240" dirty="0">
                <a:solidFill>
                  <a:schemeClr val="bg1"/>
                </a:solidFill>
                <a:latin typeface="华文中宋" panose="02010600040101010101" pitchFamily="2" charset="-122"/>
                <a:ea typeface="华文中宋" panose="02010600040101010101" pitchFamily="2" charset="-122"/>
                <a:cs typeface="Montserrat Black"/>
              </a:endParaRPr>
            </a:p>
          </p:txBody>
        </p:sp>
      </p:grpSp>
      <p:sp>
        <p:nvSpPr>
          <p:cNvPr id="36" name="文本框 2"/>
          <p:cNvSpPr txBox="1"/>
          <p:nvPr/>
        </p:nvSpPr>
        <p:spPr>
          <a:xfrm>
            <a:off x="660521" y="198737"/>
            <a:ext cx="9252877" cy="39878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sz="2000" b="1" dirty="0">
                <a:solidFill>
                  <a:schemeClr val="tx1"/>
                </a:solidFill>
                <a:latin typeface="华文中宋" panose="02010600040101010101" pitchFamily="2" charset="-122"/>
                <a:ea typeface="华文中宋" panose="02010600040101010101" pitchFamily="2" charset="-122"/>
                <a:cs typeface="华文中宋" panose="02010600040101010101" pitchFamily="2" charset="-122"/>
              </a:rPr>
              <a:t>一/ 3、</a:t>
            </a:r>
            <a:r>
              <a:rPr lang="zh-CN" altLang="en-US" sz="2000" b="1" dirty="0">
                <a:solidFill>
                  <a:schemeClr val="tx1"/>
                </a:solidFill>
                <a:latin typeface="华文中宋" panose="02010600040101010101" pitchFamily="2" charset="-122"/>
                <a:ea typeface="华文中宋" panose="02010600040101010101" pitchFamily="2" charset="-122"/>
                <a:cs typeface="华文中宋" panose="02010600040101010101" pitchFamily="2" charset="-122"/>
              </a:rPr>
              <a:t>队伍建设</a:t>
            </a:r>
            <a:r>
              <a:rPr lang="en-US" altLang="zh-CN" sz="2000" b="1" dirty="0">
                <a:solidFill>
                  <a:schemeClr val="tx1"/>
                </a:solidFill>
                <a:latin typeface="华文中宋" panose="02010600040101010101" pitchFamily="2" charset="-122"/>
                <a:ea typeface="华文中宋" panose="02010600040101010101" pitchFamily="2" charset="-122"/>
                <a:cs typeface="华文中宋" panose="02010600040101010101" pitchFamily="2" charset="-122"/>
              </a:rPr>
              <a:t>-</a:t>
            </a:r>
            <a:r>
              <a:rPr sz="2000" b="1" dirty="0" err="1">
                <a:solidFill>
                  <a:schemeClr val="tx1"/>
                </a:solidFill>
                <a:latin typeface="华文中宋" panose="02010600040101010101" pitchFamily="2" charset="-122"/>
                <a:ea typeface="华文中宋" panose="02010600040101010101" pitchFamily="2" charset="-122"/>
                <a:cs typeface="华文中宋" panose="02010600040101010101" pitchFamily="2" charset="-122"/>
              </a:rPr>
              <a:t>加强教育发展专员队伍建设，增强业务支持能力</a:t>
            </a:r>
            <a:endParaRPr sz="2000" b="1" dirty="0">
              <a:solidFill>
                <a:schemeClr val="tx1"/>
              </a:solidFill>
              <a:latin typeface="华文中宋" panose="02010600040101010101" pitchFamily="2" charset="-122"/>
              <a:ea typeface="华文中宋" panose="02010600040101010101" pitchFamily="2" charset="-122"/>
              <a:cs typeface="华文中宋" panose="02010600040101010101" pitchFamily="2" charset="-122"/>
            </a:endParaRPr>
          </a:p>
        </p:txBody>
      </p:sp>
      <p:sp>
        <p:nvSpPr>
          <p:cNvPr id="37" name="灯片编号占位符 1"/>
          <p:cNvSpPr txBox="1"/>
          <p:nvPr/>
        </p:nvSpPr>
        <p:spPr>
          <a:xfrm>
            <a:off x="9444714" y="6581061"/>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9589" y="220603"/>
            <a:ext cx="10674639"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zh-CN" altLang="en-US" sz="2000" dirty="0">
                <a:latin typeface="+mn-lt"/>
                <a:ea typeface="+mn-ea"/>
                <a:cs typeface="+mn-ea"/>
                <a:sym typeface="+mn-lt"/>
              </a:rPr>
              <a:t>二</a:t>
            </a:r>
            <a:r>
              <a:rPr kumimoji="1" lang="en-US" altLang="zh-CN" sz="2000" dirty="0">
                <a:latin typeface="+mn-lt"/>
                <a:ea typeface="+mn-ea"/>
                <a:cs typeface="+mn-ea"/>
                <a:sym typeface="+mn-lt"/>
              </a:rPr>
              <a:t>/ 1</a:t>
            </a:r>
            <a:r>
              <a:rPr kumimoji="1" lang="zh-CN" altLang="en-US" sz="2000" dirty="0">
                <a:latin typeface="+mn-lt"/>
                <a:ea typeface="+mn-ea"/>
                <a:cs typeface="+mn-ea"/>
                <a:sym typeface="+mn-lt"/>
              </a:rPr>
              <a:t>、平台建设</a:t>
            </a:r>
            <a:r>
              <a:rPr kumimoji="1" lang="en-US" altLang="zh-CN" sz="2000" dirty="0">
                <a:latin typeface="+mn-lt"/>
                <a:ea typeface="+mn-ea"/>
                <a:cs typeface="+mn-ea"/>
                <a:sym typeface="+mn-lt"/>
              </a:rPr>
              <a:t>-</a:t>
            </a:r>
            <a:r>
              <a:rPr kumimoji="1" lang="zh-CN" altLang="en-US" sz="2000" dirty="0">
                <a:latin typeface="+mn-lt"/>
                <a:ea typeface="+mn-ea"/>
                <a:cs typeface="+mn-ea"/>
                <a:sym typeface="+mn-lt"/>
              </a:rPr>
              <a:t>大力开展软硬件升级扩容 ，建立教育培训系统综合服务生态</a:t>
            </a:r>
            <a:endParaRPr kumimoji="1" lang="zh-CN" altLang="en-US" sz="2000" dirty="0">
              <a:latin typeface="+mn-lt"/>
              <a:ea typeface="+mn-ea"/>
              <a:cs typeface="+mn-ea"/>
              <a:sym typeface="+mn-lt"/>
            </a:endParaRPr>
          </a:p>
        </p:txBody>
      </p:sp>
      <p:sp>
        <p:nvSpPr>
          <p:cNvPr id="5" name="矩形 4"/>
          <p:cNvSpPr/>
          <p:nvPr/>
        </p:nvSpPr>
        <p:spPr>
          <a:xfrm>
            <a:off x="1215741" y="3692832"/>
            <a:ext cx="9048721" cy="5232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dirty="0">
                <a:cs typeface="+mn-ea"/>
                <a:sym typeface="+mn-lt"/>
              </a:rPr>
              <a:t>开放共享，建立数字化生态联盟</a:t>
            </a:r>
            <a:endParaRPr lang="zh-CN" altLang="en-US" sz="1800" dirty="0">
              <a:cs typeface="+mn-ea"/>
              <a:sym typeface="+mn-lt"/>
            </a:endParaRPr>
          </a:p>
        </p:txBody>
      </p:sp>
      <p:sp>
        <p:nvSpPr>
          <p:cNvPr id="9" name="矩形 8"/>
          <p:cNvSpPr/>
          <p:nvPr/>
        </p:nvSpPr>
        <p:spPr>
          <a:xfrm>
            <a:off x="1215740" y="2395527"/>
            <a:ext cx="9224681" cy="1154675"/>
          </a:xfrm>
          <a:prstGeom prst="rect">
            <a:avLst/>
          </a:prstGeom>
        </p:spPr>
        <p:txBody>
          <a:bodyPr wrap="square">
            <a:spAutoFit/>
          </a:bodyPr>
          <a:lstStyle/>
          <a:p>
            <a:pPr>
              <a:lnSpc>
                <a:spcPct val="150000"/>
              </a:lnSpc>
            </a:pPr>
            <a:r>
              <a:rPr lang="zh-CN" altLang="en-US" sz="1600" dirty="0">
                <a:latin typeface="+mn-lt"/>
                <a:ea typeface="+mn-ea"/>
                <a:cs typeface="+mn-ea"/>
                <a:sym typeface="+mn-lt"/>
              </a:rPr>
              <a:t>系统提升教育培训系统管理效率，大幅改善全行人员线上学习体验。通过持续建设与优化，发挥我行全球化优势，提升平台多语言多国家多场景适应能力，力争五年内建设为行业一流、全球一流的企业大学数字化平台 。</a:t>
            </a:r>
            <a:endParaRPr lang="zh-CN" altLang="en-US" sz="1600" dirty="0">
              <a:latin typeface="+mn-lt"/>
              <a:ea typeface="+mn-ea"/>
              <a:cs typeface="+mn-ea"/>
              <a:sym typeface="+mn-lt"/>
            </a:endParaRPr>
          </a:p>
        </p:txBody>
      </p:sp>
      <p:sp>
        <p:nvSpPr>
          <p:cNvPr id="11" name="矩形 10"/>
          <p:cNvSpPr/>
          <p:nvPr/>
        </p:nvSpPr>
        <p:spPr>
          <a:xfrm>
            <a:off x="1215742" y="1833572"/>
            <a:ext cx="9048720" cy="5232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sz="1800" dirty="0"/>
              <a:t>持续建设软硬件平台，建设全球一流企业大学数字平台 </a:t>
            </a:r>
            <a:endParaRPr lang="zh-CN" altLang="en-US" sz="1800" dirty="0">
              <a:cs typeface="+mn-ea"/>
              <a:sym typeface="+mn-lt"/>
            </a:endParaRPr>
          </a:p>
        </p:txBody>
      </p:sp>
      <p:sp>
        <p:nvSpPr>
          <p:cNvPr id="12"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
        <p:nvSpPr>
          <p:cNvPr id="14" name="矩形 13"/>
          <p:cNvSpPr/>
          <p:nvPr/>
        </p:nvSpPr>
        <p:spPr>
          <a:xfrm>
            <a:off x="1215741" y="4239568"/>
            <a:ext cx="9224681" cy="1156342"/>
          </a:xfrm>
          <a:prstGeom prst="rect">
            <a:avLst/>
          </a:prstGeom>
        </p:spPr>
        <p:txBody>
          <a:bodyPr wrap="square">
            <a:spAutoFit/>
          </a:bodyPr>
          <a:lstStyle/>
          <a:p>
            <a:pPr>
              <a:lnSpc>
                <a:spcPct val="150000"/>
              </a:lnSpc>
            </a:pPr>
            <a:r>
              <a:rPr lang="zh-CN" altLang="en-US" sz="1600" dirty="0">
                <a:latin typeface="+mn-lt"/>
                <a:ea typeface="+mn-ea"/>
                <a:cs typeface="+mn-ea"/>
                <a:sym typeface="+mn-lt"/>
              </a:rPr>
              <a:t>系统规划平台应用接口，综合考虑应用接口的内外共享，建立中银集团与企业、政府、高校在知识、实践、空间、资金、人力、信息和技术等多方面的生态联盟，实现价值共享，多方共赢，最终建立数字化技术生态 。</a:t>
            </a:r>
            <a:endParaRPr lang="zh-CN" altLang="en-US" sz="1600" dirty="0">
              <a:latin typeface="+mn-lt"/>
              <a:ea typeface="+mn-ea"/>
              <a:cs typeface="+mn-ea"/>
              <a:sym typeface="+mn-lt"/>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59671" y="220603"/>
            <a:ext cx="9532621"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zh-CN" altLang="en-US" sz="2000" dirty="0">
                <a:latin typeface="+mn-lt"/>
                <a:ea typeface="+mn-ea"/>
                <a:cs typeface="+mn-ea"/>
                <a:sym typeface="+mn-lt"/>
              </a:rPr>
              <a:t>二</a:t>
            </a:r>
            <a:r>
              <a:rPr kumimoji="1" lang="en-US" altLang="zh-CN" sz="2000" dirty="0">
                <a:latin typeface="+mn-lt"/>
                <a:ea typeface="+mn-ea"/>
                <a:cs typeface="+mn-ea"/>
                <a:sym typeface="+mn-lt"/>
              </a:rPr>
              <a:t>/ 2</a:t>
            </a:r>
            <a:r>
              <a:rPr kumimoji="1" lang="zh-CN" altLang="en-US" sz="2000" dirty="0">
                <a:latin typeface="+mn-lt"/>
                <a:ea typeface="+mn-ea"/>
                <a:cs typeface="+mn-ea"/>
                <a:sym typeface="+mn-lt"/>
              </a:rPr>
              <a:t>、平台建设</a:t>
            </a:r>
            <a:r>
              <a:rPr kumimoji="1" lang="en-US" altLang="zh-CN" sz="2000" dirty="0">
                <a:latin typeface="+mn-lt"/>
                <a:ea typeface="+mn-ea"/>
                <a:cs typeface="+mn-ea"/>
                <a:sym typeface="+mn-lt"/>
              </a:rPr>
              <a:t>-</a:t>
            </a:r>
            <a:r>
              <a:rPr kumimoji="1" lang="zh-CN" altLang="en-US" sz="2000" dirty="0">
                <a:latin typeface="+mn-lt"/>
                <a:ea typeface="+mn-ea"/>
                <a:cs typeface="+mn-ea"/>
                <a:sym typeface="+mn-lt"/>
              </a:rPr>
              <a:t>梳理现有学习体系，构建学习者为中心的线上学习地图</a:t>
            </a:r>
            <a:endParaRPr kumimoji="1" lang="en-US" altLang="zh-CN" sz="2000" dirty="0">
              <a:latin typeface="+mn-lt"/>
              <a:ea typeface="+mn-ea"/>
              <a:cs typeface="+mn-ea"/>
              <a:sym typeface="+mn-lt"/>
            </a:endParaRPr>
          </a:p>
        </p:txBody>
      </p:sp>
      <p:sp>
        <p:nvSpPr>
          <p:cNvPr id="18" name="矩形 17"/>
          <p:cNvSpPr/>
          <p:nvPr/>
        </p:nvSpPr>
        <p:spPr>
          <a:xfrm>
            <a:off x="869944" y="1357034"/>
            <a:ext cx="4376057" cy="5232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dirty="0">
                <a:cs typeface="+mn-ea"/>
                <a:sym typeface="+mn-lt"/>
              </a:rPr>
              <a:t>在线学习地图总体目标</a:t>
            </a:r>
            <a:endParaRPr lang="zh-CN" altLang="en-US" sz="1800" dirty="0">
              <a:cs typeface="+mn-ea"/>
              <a:sym typeface="+mn-lt"/>
            </a:endParaRPr>
          </a:p>
        </p:txBody>
      </p:sp>
      <p:sp>
        <p:nvSpPr>
          <p:cNvPr id="20" name="文本框 19"/>
          <p:cNvSpPr txBox="1"/>
          <p:nvPr/>
        </p:nvSpPr>
        <p:spPr>
          <a:xfrm>
            <a:off x="812794" y="2073110"/>
            <a:ext cx="4490356" cy="1526187"/>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sz="1600" dirty="0">
                <a:latin typeface="+mn-lt"/>
                <a:ea typeface="+mn-ea"/>
                <a:cs typeface="+mn-ea"/>
                <a:sym typeface="+mn-lt"/>
              </a:rPr>
              <a:t>总体目标：到2025年实现全员基于学习地图的智慧学习</a:t>
            </a:r>
            <a:endParaRPr lang="zh-CN" altLang="en-US" sz="1600" dirty="0">
              <a:latin typeface="+mn-lt"/>
              <a:ea typeface="+mn-ea"/>
              <a:cs typeface="+mn-ea"/>
              <a:sym typeface="+mn-lt"/>
            </a:endParaRPr>
          </a:p>
          <a:p>
            <a:pPr marL="285750" indent="-285750">
              <a:lnSpc>
                <a:spcPct val="150000"/>
              </a:lnSpc>
              <a:buFont typeface="Wingdings" panose="05000000000000000000" pitchFamily="2" charset="2"/>
              <a:buChar char="Ø"/>
            </a:pPr>
            <a:r>
              <a:rPr lang="zh-CN" altLang="en-US" sz="1600" dirty="0">
                <a:latin typeface="+mn-lt"/>
                <a:ea typeface="+mn-ea"/>
                <a:cs typeface="+mn-ea"/>
                <a:sym typeface="+mn-lt"/>
              </a:rPr>
              <a:t>建设原则：按照条线和序列分层分级设计，阶段规划分步实施</a:t>
            </a:r>
            <a:endParaRPr lang="zh-CN" altLang="en-US" sz="1600" dirty="0">
              <a:latin typeface="+mn-lt"/>
              <a:ea typeface="+mn-ea"/>
              <a:cs typeface="+mn-ea"/>
              <a:sym typeface="+mn-lt"/>
            </a:endParaRPr>
          </a:p>
        </p:txBody>
      </p:sp>
      <p:sp>
        <p:nvSpPr>
          <p:cNvPr id="21" name="矩形 20"/>
          <p:cNvSpPr/>
          <p:nvPr/>
        </p:nvSpPr>
        <p:spPr>
          <a:xfrm>
            <a:off x="6852732" y="1357034"/>
            <a:ext cx="4680456" cy="5232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cs typeface="+mn-ea"/>
                <a:sym typeface="+mn-lt"/>
              </a:rPr>
              <a:t>以学习者为中心的智慧学习</a:t>
            </a:r>
            <a:endParaRPr lang="zh-CN" altLang="en-US" sz="1600" dirty="0">
              <a:cs typeface="+mn-ea"/>
              <a:sym typeface="+mn-lt"/>
            </a:endParaRPr>
          </a:p>
        </p:txBody>
      </p:sp>
      <p:sp>
        <p:nvSpPr>
          <p:cNvPr id="22" name="箭头: 五边形 10"/>
          <p:cNvSpPr/>
          <p:nvPr/>
        </p:nvSpPr>
        <p:spPr>
          <a:xfrm>
            <a:off x="880954" y="4208690"/>
            <a:ext cx="4017968" cy="461665"/>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cs typeface="+mn-ea"/>
                <a:sym typeface="+mn-lt"/>
              </a:rPr>
              <a:t>第一阶段：</a:t>
            </a:r>
            <a:r>
              <a:rPr lang="en-US" altLang="zh-CN" sz="1800" dirty="0">
                <a:cs typeface="+mn-ea"/>
                <a:sym typeface="+mn-lt"/>
              </a:rPr>
              <a:t>2021-2022</a:t>
            </a:r>
            <a:r>
              <a:rPr lang="zh-CN" altLang="en-US" sz="1800" dirty="0">
                <a:cs typeface="+mn-ea"/>
                <a:sym typeface="+mn-lt"/>
              </a:rPr>
              <a:t>年</a:t>
            </a:r>
            <a:endParaRPr lang="zh-CN" altLang="en-US" sz="1800" dirty="0">
              <a:cs typeface="+mn-ea"/>
              <a:sym typeface="+mn-lt"/>
            </a:endParaRPr>
          </a:p>
        </p:txBody>
      </p:sp>
      <p:sp>
        <p:nvSpPr>
          <p:cNvPr id="23" name="箭头: V 形 11"/>
          <p:cNvSpPr/>
          <p:nvPr/>
        </p:nvSpPr>
        <p:spPr>
          <a:xfrm>
            <a:off x="4749614" y="4208690"/>
            <a:ext cx="4125679" cy="461665"/>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cs typeface="+mn-ea"/>
                <a:sym typeface="+mn-lt"/>
              </a:rPr>
              <a:t>第二阶段：</a:t>
            </a:r>
            <a:r>
              <a:rPr lang="en-US" altLang="zh-CN" sz="1800" dirty="0">
                <a:cs typeface="+mn-ea"/>
                <a:sym typeface="+mn-lt"/>
              </a:rPr>
              <a:t>2023-2024</a:t>
            </a:r>
            <a:r>
              <a:rPr lang="zh-CN" altLang="en-US" sz="1800" dirty="0">
                <a:cs typeface="+mn-ea"/>
                <a:sym typeface="+mn-lt"/>
              </a:rPr>
              <a:t>年</a:t>
            </a:r>
            <a:endParaRPr lang="zh-CN" altLang="en-US" sz="1800" dirty="0">
              <a:cs typeface="+mn-ea"/>
              <a:sym typeface="+mn-lt"/>
            </a:endParaRPr>
          </a:p>
        </p:txBody>
      </p:sp>
      <p:sp>
        <p:nvSpPr>
          <p:cNvPr id="24" name="箭头: V 形 12"/>
          <p:cNvSpPr/>
          <p:nvPr/>
        </p:nvSpPr>
        <p:spPr>
          <a:xfrm>
            <a:off x="8759910" y="4208690"/>
            <a:ext cx="2773277" cy="461665"/>
          </a:xfrm>
          <a:prstGeom prst="chevr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cs typeface="+mn-ea"/>
                <a:sym typeface="+mn-lt"/>
              </a:rPr>
              <a:t>第三阶段：</a:t>
            </a:r>
            <a:r>
              <a:rPr lang="en-US" altLang="zh-CN" sz="1800" dirty="0">
                <a:cs typeface="+mn-ea"/>
                <a:sym typeface="+mn-lt"/>
              </a:rPr>
              <a:t>2025</a:t>
            </a:r>
            <a:r>
              <a:rPr lang="zh-CN" altLang="en-US" sz="1800" dirty="0">
                <a:cs typeface="+mn-ea"/>
                <a:sym typeface="+mn-lt"/>
              </a:rPr>
              <a:t>年</a:t>
            </a:r>
            <a:endParaRPr lang="zh-CN" altLang="en-US" sz="1800" dirty="0">
              <a:cs typeface="+mn-ea"/>
              <a:sym typeface="+mn-lt"/>
            </a:endParaRPr>
          </a:p>
        </p:txBody>
      </p:sp>
      <p:sp>
        <p:nvSpPr>
          <p:cNvPr id="25" name="文本框 24"/>
          <p:cNvSpPr txBox="1"/>
          <p:nvPr/>
        </p:nvSpPr>
        <p:spPr>
          <a:xfrm>
            <a:off x="812794" y="4722607"/>
            <a:ext cx="3936820" cy="523220"/>
          </a:xfrm>
          <a:prstGeom prst="rect">
            <a:avLst/>
          </a:prstGeom>
          <a:noFill/>
        </p:spPr>
        <p:txBody>
          <a:bodyPr wrap="square">
            <a:spAutoFit/>
          </a:bodyPr>
          <a:lstStyle/>
          <a:p>
            <a:r>
              <a:rPr lang="zh-CN" altLang="en-US" sz="1400" dirty="0">
                <a:effectLst/>
                <a:latin typeface="+mn-lt"/>
                <a:ea typeface="+mn-ea"/>
                <a:cs typeface="+mn-ea"/>
                <a:sym typeface="+mn-lt"/>
              </a:rPr>
              <a:t>基础建设：规划和设计新员工、通用素质和</a:t>
            </a:r>
            <a:r>
              <a:rPr lang="en-US" altLang="zh-CN" sz="1400" dirty="0">
                <a:effectLst/>
                <a:latin typeface="+mn-lt"/>
                <a:ea typeface="+mn-ea"/>
                <a:cs typeface="+mn-ea"/>
                <a:sym typeface="+mn-lt"/>
              </a:rPr>
              <a:t>21</a:t>
            </a:r>
            <a:r>
              <a:rPr lang="zh-CN" altLang="en-US" sz="1400" dirty="0">
                <a:effectLst/>
                <a:latin typeface="+mn-lt"/>
                <a:ea typeface="+mn-ea"/>
                <a:cs typeface="+mn-ea"/>
                <a:sym typeface="+mn-lt"/>
              </a:rPr>
              <a:t>个序列的线上学习地图设计，线上内容的开发设计</a:t>
            </a:r>
            <a:endParaRPr lang="zh-CN" altLang="en-US" sz="1400" dirty="0">
              <a:latin typeface="+mn-lt"/>
              <a:ea typeface="+mn-ea"/>
              <a:cs typeface="+mn-ea"/>
              <a:sym typeface="+mn-lt"/>
            </a:endParaRPr>
          </a:p>
        </p:txBody>
      </p:sp>
      <p:sp>
        <p:nvSpPr>
          <p:cNvPr id="26" name="文本框 25"/>
          <p:cNvSpPr txBox="1"/>
          <p:nvPr/>
        </p:nvSpPr>
        <p:spPr>
          <a:xfrm>
            <a:off x="4749614" y="4722606"/>
            <a:ext cx="3911501" cy="954107"/>
          </a:xfrm>
          <a:prstGeom prst="rect">
            <a:avLst/>
          </a:prstGeom>
          <a:noFill/>
        </p:spPr>
        <p:txBody>
          <a:bodyPr wrap="square">
            <a:spAutoFit/>
          </a:bodyPr>
          <a:lstStyle/>
          <a:p>
            <a:r>
              <a:rPr lang="zh-CN" altLang="en-US" sz="1400" dirty="0">
                <a:effectLst/>
                <a:latin typeface="+mn-lt"/>
                <a:ea typeface="+mn-ea"/>
                <a:cs typeface="+mn-ea"/>
                <a:sym typeface="+mn-lt"/>
              </a:rPr>
              <a:t>迭代升级：完善线上内容的开发设计，重点推进管理序列和各专业条线的场景定义和线上学习内容设计，建立优化基于业务和用户生成内容的机制、功能和体验设计</a:t>
            </a:r>
            <a:endParaRPr lang="zh-CN" altLang="en-US" sz="1400" dirty="0">
              <a:latin typeface="+mn-lt"/>
              <a:ea typeface="+mn-ea"/>
              <a:cs typeface="+mn-ea"/>
              <a:sym typeface="+mn-lt"/>
            </a:endParaRPr>
          </a:p>
        </p:txBody>
      </p:sp>
      <p:sp>
        <p:nvSpPr>
          <p:cNvPr id="27" name="文本框 26"/>
          <p:cNvSpPr txBox="1"/>
          <p:nvPr/>
        </p:nvSpPr>
        <p:spPr>
          <a:xfrm>
            <a:off x="8716956" y="4735315"/>
            <a:ext cx="2950671" cy="492443"/>
          </a:xfrm>
          <a:prstGeom prst="rect">
            <a:avLst/>
          </a:prstGeom>
          <a:noFill/>
        </p:spPr>
        <p:txBody>
          <a:bodyPr wrap="square">
            <a:spAutoFit/>
          </a:bodyPr>
          <a:lstStyle/>
          <a:p>
            <a:r>
              <a:rPr lang="zh-CN" altLang="en-US" dirty="0">
                <a:latin typeface="+mn-lt"/>
                <a:ea typeface="+mn-ea"/>
                <a:cs typeface="+mn-ea"/>
                <a:sym typeface="+mn-lt"/>
              </a:rPr>
              <a:t>优化完善</a:t>
            </a:r>
            <a:r>
              <a:rPr lang="zh-CN" altLang="en-US" dirty="0">
                <a:effectLst/>
                <a:latin typeface="+mn-lt"/>
                <a:ea typeface="+mn-ea"/>
                <a:cs typeface="+mn-ea"/>
                <a:sym typeface="+mn-lt"/>
              </a:rPr>
              <a:t>：进一步完善线上学习地图功能、内容设计</a:t>
            </a:r>
            <a:r>
              <a:rPr lang="zh-CN" altLang="en-US" dirty="0">
                <a:latin typeface="+mn-lt"/>
                <a:ea typeface="+mn-ea"/>
                <a:cs typeface="+mn-ea"/>
                <a:sym typeface="+mn-lt"/>
              </a:rPr>
              <a:t>，持续优化学习</a:t>
            </a:r>
            <a:r>
              <a:rPr lang="zh-CN" altLang="en-US" dirty="0">
                <a:effectLst/>
                <a:latin typeface="+mn-lt"/>
                <a:ea typeface="+mn-ea"/>
                <a:cs typeface="+mn-ea"/>
                <a:sym typeface="+mn-lt"/>
              </a:rPr>
              <a:t>体验</a:t>
            </a:r>
            <a:endParaRPr lang="zh-CN" altLang="en-US" dirty="0">
              <a:latin typeface="+mn-lt"/>
              <a:ea typeface="+mn-ea"/>
              <a:cs typeface="+mn-ea"/>
              <a:sym typeface="+mn-lt"/>
            </a:endParaRPr>
          </a:p>
        </p:txBody>
      </p:sp>
      <p:sp>
        <p:nvSpPr>
          <p:cNvPr id="28" name="矩形 27"/>
          <p:cNvSpPr/>
          <p:nvPr/>
        </p:nvSpPr>
        <p:spPr>
          <a:xfrm>
            <a:off x="6852732" y="1910917"/>
            <a:ext cx="4680454" cy="57873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l"/>
            </a:pPr>
            <a:r>
              <a:rPr lang="zh-CN" altLang="en-US" sz="1600" dirty="0">
                <a:cs typeface="+mn-ea"/>
                <a:sym typeface="+mn-lt"/>
              </a:rPr>
              <a:t>触发式学习：基于应知应会的学习活动的自动推送</a:t>
            </a:r>
            <a:endParaRPr lang="zh-CN" altLang="en-US" sz="1600" dirty="0">
              <a:cs typeface="+mn-ea"/>
              <a:sym typeface="+mn-lt"/>
            </a:endParaRPr>
          </a:p>
        </p:txBody>
      </p:sp>
      <p:sp>
        <p:nvSpPr>
          <p:cNvPr id="29" name="矩形 28"/>
          <p:cNvSpPr/>
          <p:nvPr/>
        </p:nvSpPr>
        <p:spPr>
          <a:xfrm>
            <a:off x="6852733" y="2594740"/>
            <a:ext cx="4680454" cy="62241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l"/>
            </a:pPr>
            <a:r>
              <a:rPr lang="zh-CN" altLang="en-US" sz="1600" dirty="0">
                <a:cs typeface="+mn-ea"/>
                <a:sym typeface="+mn-lt"/>
              </a:rPr>
              <a:t>场景式学习：基于重要场景设计闯关学习任务</a:t>
            </a:r>
            <a:endParaRPr lang="zh-CN" altLang="en-US" sz="1600" dirty="0">
              <a:cs typeface="+mn-ea"/>
              <a:sym typeface="+mn-lt"/>
            </a:endParaRPr>
          </a:p>
        </p:txBody>
      </p:sp>
      <p:sp>
        <p:nvSpPr>
          <p:cNvPr id="30" name="矩形 29"/>
          <p:cNvSpPr/>
          <p:nvPr/>
        </p:nvSpPr>
        <p:spPr>
          <a:xfrm>
            <a:off x="6852733" y="3324260"/>
            <a:ext cx="4680455" cy="66447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l"/>
            </a:pPr>
            <a:r>
              <a:rPr lang="zh-CN" altLang="en-US" sz="1600" dirty="0">
                <a:cs typeface="+mn-ea"/>
                <a:sym typeface="+mn-lt"/>
              </a:rPr>
              <a:t>随学学习：基于业务和用户生成的内容（</a:t>
            </a:r>
            <a:r>
              <a:rPr lang="en-US" altLang="zh-CN" sz="1600" dirty="0">
                <a:cs typeface="+mn-ea"/>
                <a:sym typeface="+mn-lt"/>
              </a:rPr>
              <a:t>UGC</a:t>
            </a:r>
            <a:r>
              <a:rPr lang="zh-CN" altLang="en-US" sz="1600" dirty="0">
                <a:cs typeface="+mn-ea"/>
                <a:sym typeface="+mn-lt"/>
              </a:rPr>
              <a:t>）的即需即学</a:t>
            </a:r>
            <a:endParaRPr lang="zh-CN" altLang="en-US" sz="1600" dirty="0">
              <a:cs typeface="+mn-ea"/>
              <a:sym typeface="+mn-lt"/>
            </a:endParaRPr>
          </a:p>
        </p:txBody>
      </p:sp>
      <p:sp>
        <p:nvSpPr>
          <p:cNvPr id="15"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a:off x="4488095" y="4281226"/>
            <a:ext cx="7045094" cy="938583"/>
          </a:xfrm>
          <a:prstGeom prst="rect">
            <a:avLst/>
          </a:prstGeom>
          <a:solidFill>
            <a:schemeClr val="bg1">
              <a:lumMod val="95000"/>
            </a:schemeClr>
          </a:solidFill>
          <a:ln>
            <a:noFill/>
            <a:prstDash val="dash"/>
          </a:ln>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43" name="矩形 42"/>
          <p:cNvSpPr/>
          <p:nvPr/>
        </p:nvSpPr>
        <p:spPr>
          <a:xfrm>
            <a:off x="4602324" y="3221523"/>
            <a:ext cx="6930864" cy="938583"/>
          </a:xfrm>
          <a:prstGeom prst="rect">
            <a:avLst/>
          </a:prstGeom>
          <a:solidFill>
            <a:schemeClr val="bg1">
              <a:lumMod val="95000"/>
            </a:schemeClr>
          </a:solidFill>
          <a:ln>
            <a:noFill/>
            <a:prstDash val="dash"/>
          </a:ln>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42" name="矩形 41"/>
          <p:cNvSpPr/>
          <p:nvPr/>
        </p:nvSpPr>
        <p:spPr>
          <a:xfrm>
            <a:off x="4212404" y="2182800"/>
            <a:ext cx="7320783" cy="938583"/>
          </a:xfrm>
          <a:prstGeom prst="rect">
            <a:avLst/>
          </a:prstGeom>
          <a:solidFill>
            <a:schemeClr val="bg1">
              <a:lumMod val="95000"/>
            </a:schemeClr>
          </a:solidFill>
          <a:ln>
            <a:noFill/>
            <a:prstDash val="dash"/>
          </a:ln>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grpSp>
        <p:nvGrpSpPr>
          <p:cNvPr id="35" name="组合 34"/>
          <p:cNvGrpSpPr/>
          <p:nvPr/>
        </p:nvGrpSpPr>
        <p:grpSpPr>
          <a:xfrm>
            <a:off x="1107585" y="2182800"/>
            <a:ext cx="4113686" cy="3039486"/>
            <a:chOff x="904704" y="2726015"/>
            <a:chExt cx="2181694" cy="2358028"/>
          </a:xfrm>
        </p:grpSpPr>
        <p:sp>
          <p:nvSpPr>
            <p:cNvPr id="32" name="Freeform 5"/>
            <p:cNvSpPr/>
            <p:nvPr/>
          </p:nvSpPr>
          <p:spPr bwMode="auto">
            <a:xfrm>
              <a:off x="904704" y="2726015"/>
              <a:ext cx="2181694" cy="733508"/>
            </a:xfrm>
            <a:prstGeom prst="rect">
              <a:avLst/>
            </a:prstGeom>
            <a:solidFill>
              <a:srgbClr val="AC0000"/>
            </a:solidFill>
            <a:ln w="28575">
              <a:solidFill>
                <a:sysClr val="window" lastClr="FFFFFF">
                  <a:lumMod val="95000"/>
                </a:sysClr>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sysClr val="windowText" lastClr="000000"/>
                </a:solidFill>
                <a:effectLst/>
                <a:uLnTx/>
                <a:uFillTx/>
              </a:endParaRPr>
            </a:p>
          </p:txBody>
        </p:sp>
        <p:sp>
          <p:nvSpPr>
            <p:cNvPr id="33" name="Freeform 7"/>
            <p:cNvSpPr/>
            <p:nvPr/>
          </p:nvSpPr>
          <p:spPr bwMode="auto">
            <a:xfrm>
              <a:off x="904704" y="4353970"/>
              <a:ext cx="2181694" cy="730073"/>
            </a:xfrm>
            <a:prstGeom prst="rect">
              <a:avLst/>
            </a:prstGeom>
            <a:solidFill>
              <a:srgbClr val="AC0000"/>
            </a:solidFill>
            <a:ln w="28575">
              <a:solidFill>
                <a:sysClr val="window" lastClr="FFFFFF">
                  <a:lumMod val="95000"/>
                </a:sysClr>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sysClr val="windowText" lastClr="000000"/>
                </a:solidFill>
                <a:effectLst/>
                <a:uLnTx/>
                <a:uFillTx/>
              </a:endParaRPr>
            </a:p>
          </p:txBody>
        </p:sp>
        <p:sp>
          <p:nvSpPr>
            <p:cNvPr id="34" name="Freeform 6"/>
            <p:cNvSpPr/>
            <p:nvPr/>
          </p:nvSpPr>
          <p:spPr bwMode="auto">
            <a:xfrm>
              <a:off x="904704" y="3519166"/>
              <a:ext cx="2181694" cy="731790"/>
            </a:xfrm>
            <a:prstGeom prst="rect">
              <a:avLst/>
            </a:prstGeom>
            <a:solidFill>
              <a:srgbClr val="AC0000"/>
            </a:solidFill>
            <a:ln w="28575">
              <a:solidFill>
                <a:sysClr val="window" lastClr="FFFFFF">
                  <a:lumMod val="95000"/>
                </a:sysClr>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sysClr val="windowText" lastClr="000000"/>
                </a:solidFill>
                <a:effectLst/>
                <a:uLnTx/>
                <a:uFillTx/>
              </a:endParaRPr>
            </a:p>
          </p:txBody>
        </p:sp>
      </p:grpSp>
      <p:sp>
        <p:nvSpPr>
          <p:cNvPr id="3" name="文本框 2"/>
          <p:cNvSpPr txBox="1"/>
          <p:nvPr/>
        </p:nvSpPr>
        <p:spPr>
          <a:xfrm>
            <a:off x="695325" y="233288"/>
            <a:ext cx="9911443"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zh-CN" altLang="en-US" sz="2000" dirty="0">
                <a:latin typeface="+mn-lt"/>
                <a:ea typeface="+mn-ea"/>
                <a:cs typeface="+mn-ea"/>
                <a:sym typeface="+mn-lt"/>
              </a:rPr>
              <a:t>二</a:t>
            </a:r>
            <a:r>
              <a:rPr kumimoji="1" lang="en-US" altLang="zh-CN" sz="2000" dirty="0">
                <a:latin typeface="+mn-lt"/>
                <a:ea typeface="+mn-ea"/>
                <a:cs typeface="+mn-ea"/>
                <a:sym typeface="+mn-lt"/>
              </a:rPr>
              <a:t>/ 3</a:t>
            </a:r>
            <a:r>
              <a:rPr kumimoji="1" lang="zh-CN" altLang="en-US" sz="2000" dirty="0">
                <a:latin typeface="+mn-lt"/>
                <a:ea typeface="+mn-ea"/>
                <a:cs typeface="+mn-ea"/>
                <a:sym typeface="+mn-lt"/>
              </a:rPr>
              <a:t>、平台建设</a:t>
            </a:r>
            <a:r>
              <a:rPr kumimoji="1" lang="en-US" altLang="zh-CN" sz="2000" dirty="0">
                <a:latin typeface="+mn-lt"/>
                <a:ea typeface="+mn-ea"/>
                <a:cs typeface="+mn-ea"/>
                <a:sym typeface="+mn-lt"/>
              </a:rPr>
              <a:t>-</a:t>
            </a:r>
            <a:r>
              <a:rPr kumimoji="1" lang="zh-CN" altLang="en-US" sz="2000" dirty="0">
                <a:latin typeface="+mn-lt"/>
                <a:ea typeface="+mn-ea"/>
                <a:cs typeface="+mn-ea"/>
                <a:sym typeface="+mn-lt"/>
              </a:rPr>
              <a:t>开展数字化评估，推动数字化学习治理</a:t>
            </a:r>
            <a:endParaRPr kumimoji="1" lang="en-US" altLang="zh-CN" sz="2000" dirty="0">
              <a:latin typeface="+mn-lt"/>
              <a:ea typeface="+mn-ea"/>
              <a:cs typeface="+mn-ea"/>
              <a:sym typeface="+mn-lt"/>
            </a:endParaRPr>
          </a:p>
        </p:txBody>
      </p:sp>
      <p:sp>
        <p:nvSpPr>
          <p:cNvPr id="10" name="灯片编号占位符 1"/>
          <p:cNvSpPr txBox="1"/>
          <p:nvPr/>
        </p:nvSpPr>
        <p:spPr>
          <a:xfrm>
            <a:off x="9407770" y="6608769"/>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
        <p:nvSpPr>
          <p:cNvPr id="12" name="文本框 11"/>
          <p:cNvSpPr txBox="1"/>
          <p:nvPr/>
        </p:nvSpPr>
        <p:spPr>
          <a:xfrm>
            <a:off x="5221268" y="2211861"/>
            <a:ext cx="6311919" cy="830997"/>
          </a:xfrm>
          <a:prstGeom prst="rect">
            <a:avLst/>
          </a:prstGeom>
          <a:noFill/>
        </p:spPr>
        <p:txBody>
          <a:bodyPr wrap="square" rtlCol="0">
            <a:spAutoFit/>
          </a:bodyPr>
          <a:lstStyle/>
          <a:p>
            <a:r>
              <a:rPr lang="zh-CN" altLang="zh-CN" sz="1600" dirty="0">
                <a:latin typeface="+mn-lt"/>
                <a:ea typeface="+mn-ea"/>
                <a:cs typeface="+mn-ea"/>
              </a:rPr>
              <a:t>优化数据分析模型，智能分析各种学习者学习记录和报表，提供千人千面的分析评价。通过对数据建模和机器学习引擎的迭代升级，逐步提升数字画像的精准性，为智慧学习题体系提供关键基础 </a:t>
            </a:r>
            <a:r>
              <a:rPr lang="zh-CN" altLang="en-US" sz="1600" dirty="0">
                <a:latin typeface="+mn-lt"/>
                <a:ea typeface="+mn-ea"/>
                <a:cs typeface="+mn-ea"/>
                <a:sym typeface="+mn-lt"/>
              </a:rPr>
              <a:t>。</a:t>
            </a:r>
            <a:endParaRPr lang="zh-CN" altLang="en-US" sz="1600" dirty="0">
              <a:latin typeface="+mn-lt"/>
              <a:ea typeface="+mn-ea"/>
              <a:cs typeface="+mn-ea"/>
              <a:sym typeface="+mn-lt"/>
            </a:endParaRPr>
          </a:p>
        </p:txBody>
      </p:sp>
      <p:sp>
        <p:nvSpPr>
          <p:cNvPr id="11" name="文本框 10"/>
          <p:cNvSpPr txBox="1"/>
          <p:nvPr/>
        </p:nvSpPr>
        <p:spPr>
          <a:xfrm>
            <a:off x="5252038" y="3282438"/>
            <a:ext cx="6250378" cy="830997"/>
          </a:xfrm>
          <a:prstGeom prst="rect">
            <a:avLst/>
          </a:prstGeom>
          <a:noFill/>
        </p:spPr>
        <p:txBody>
          <a:bodyPr wrap="square" rtlCol="0">
            <a:spAutoFit/>
          </a:bodyPr>
          <a:lstStyle>
            <a:defPPr>
              <a:defRPr lang="en-US"/>
            </a:defPPr>
            <a:lvl1pPr>
              <a:defRPr sz="1600">
                <a:latin typeface="+mn-lt"/>
                <a:ea typeface="+mn-ea"/>
                <a:cs typeface="+mn-ea"/>
              </a:defRPr>
            </a:lvl1pPr>
          </a:lstStyle>
          <a:p>
            <a:r>
              <a:rPr lang="zh-CN" altLang="zh-CN" dirty="0"/>
              <a:t>生成学习者学习报告，让各层面了解教育培训的实时信息，业务部门可随时掌握培训效果，以及培训后续应用和成果转化情况，以进一步改善培训效能 </a:t>
            </a:r>
            <a:r>
              <a:rPr lang="zh-CN" altLang="en-US" dirty="0">
                <a:sym typeface="+mn-lt"/>
              </a:rPr>
              <a:t>。</a:t>
            </a:r>
            <a:endParaRPr lang="zh-CN" altLang="en-US" dirty="0">
              <a:sym typeface="+mn-lt"/>
            </a:endParaRPr>
          </a:p>
        </p:txBody>
      </p:sp>
      <p:sp>
        <p:nvSpPr>
          <p:cNvPr id="9" name="文本框 8"/>
          <p:cNvSpPr txBox="1"/>
          <p:nvPr/>
        </p:nvSpPr>
        <p:spPr>
          <a:xfrm>
            <a:off x="5221268" y="4385302"/>
            <a:ext cx="6281148" cy="830997"/>
          </a:xfrm>
          <a:prstGeom prst="rect">
            <a:avLst/>
          </a:prstGeom>
          <a:noFill/>
        </p:spPr>
        <p:txBody>
          <a:bodyPr wrap="square" rtlCol="0">
            <a:spAutoFit/>
          </a:bodyPr>
          <a:lstStyle>
            <a:defPPr>
              <a:defRPr lang="en-US"/>
            </a:defPPr>
            <a:lvl1pPr>
              <a:defRPr sz="1600">
                <a:latin typeface="+mn-lt"/>
                <a:ea typeface="+mn-ea"/>
                <a:cs typeface="+mn-ea"/>
              </a:defRPr>
            </a:lvl1pPr>
          </a:lstStyle>
          <a:p>
            <a:r>
              <a:rPr lang="zh-CN" altLang="zh-CN" dirty="0"/>
              <a:t>定期发布数字化管理报告，出具培训评估的系统报告，从不同口径了解教育培训的运营实施效率，为改善项目设计和内容开发提供重要参考提升培训管理效率 </a:t>
            </a:r>
            <a:r>
              <a:rPr lang="zh-CN" altLang="en-US" dirty="0">
                <a:sym typeface="+mn-lt"/>
              </a:rPr>
              <a:t>。</a:t>
            </a:r>
            <a:endParaRPr lang="zh-CN" altLang="en-US" dirty="0">
              <a:sym typeface="+mn-lt"/>
            </a:endParaRPr>
          </a:p>
        </p:txBody>
      </p:sp>
      <p:sp>
        <p:nvSpPr>
          <p:cNvPr id="37" name="文本框 36"/>
          <p:cNvSpPr txBox="1"/>
          <p:nvPr/>
        </p:nvSpPr>
        <p:spPr>
          <a:xfrm>
            <a:off x="1722734" y="2374674"/>
            <a:ext cx="2883388" cy="584775"/>
          </a:xfrm>
          <a:prstGeom prst="rect">
            <a:avLst/>
          </a:prstGeom>
          <a:noFill/>
        </p:spPr>
        <p:txBody>
          <a:bodyPr wrap="square">
            <a:spAutoFit/>
          </a:bodyPr>
          <a:lstStyle/>
          <a:p>
            <a:pPr algn="ctr"/>
            <a:r>
              <a:rPr lang="zh-CN" altLang="en-US" sz="1600" dirty="0">
                <a:solidFill>
                  <a:schemeClr val="lt1"/>
                </a:solidFill>
                <a:latin typeface="+mn-lt"/>
                <a:ea typeface="+mn-ea"/>
                <a:cs typeface="+mn-ea"/>
                <a:sym typeface="+mn-lt"/>
              </a:rPr>
              <a:t>进一步完善个人智能数字画像，实现“千人千面” </a:t>
            </a:r>
            <a:endParaRPr lang="zh-CN" altLang="en-US" sz="1600" dirty="0">
              <a:solidFill>
                <a:schemeClr val="lt1"/>
              </a:solidFill>
              <a:latin typeface="+mn-lt"/>
              <a:ea typeface="+mn-ea"/>
              <a:cs typeface="+mn-ea"/>
              <a:sym typeface="+mn-lt"/>
            </a:endParaRPr>
          </a:p>
        </p:txBody>
      </p:sp>
      <p:sp>
        <p:nvSpPr>
          <p:cNvPr id="39" name="文本框 38"/>
          <p:cNvSpPr txBox="1"/>
          <p:nvPr/>
        </p:nvSpPr>
        <p:spPr>
          <a:xfrm>
            <a:off x="2027776" y="3398426"/>
            <a:ext cx="2335080" cy="584775"/>
          </a:xfrm>
          <a:prstGeom prst="rect">
            <a:avLst/>
          </a:prstGeom>
          <a:noFill/>
        </p:spPr>
        <p:txBody>
          <a:bodyPr wrap="square">
            <a:spAutoFit/>
          </a:bodyPr>
          <a:lstStyle/>
          <a:p>
            <a:pPr algn="ctr"/>
            <a:r>
              <a:rPr lang="zh-CN" altLang="en-US" sz="1600" dirty="0">
                <a:solidFill>
                  <a:schemeClr val="lt1"/>
                </a:solidFill>
                <a:latin typeface="+mn-lt"/>
                <a:ea typeface="+mn-ea"/>
                <a:cs typeface="+mn-ea"/>
                <a:sym typeface="+mn-lt"/>
              </a:rPr>
              <a:t>生成数字化学习报告，提升培训管理效率 </a:t>
            </a:r>
            <a:endParaRPr lang="zh-CN" altLang="en-US" sz="1600" dirty="0">
              <a:solidFill>
                <a:schemeClr val="lt1"/>
              </a:solidFill>
              <a:latin typeface="+mn-lt"/>
              <a:ea typeface="+mn-ea"/>
              <a:cs typeface="+mn-ea"/>
              <a:sym typeface="+mn-lt"/>
            </a:endParaRPr>
          </a:p>
        </p:txBody>
      </p:sp>
      <p:sp>
        <p:nvSpPr>
          <p:cNvPr id="41" name="文本框 40"/>
          <p:cNvSpPr txBox="1"/>
          <p:nvPr/>
        </p:nvSpPr>
        <p:spPr>
          <a:xfrm>
            <a:off x="1902298" y="4420296"/>
            <a:ext cx="2524259" cy="584775"/>
          </a:xfrm>
          <a:prstGeom prst="rect">
            <a:avLst/>
          </a:prstGeom>
          <a:noFill/>
        </p:spPr>
        <p:txBody>
          <a:bodyPr wrap="square">
            <a:spAutoFit/>
          </a:bodyPr>
          <a:lstStyle/>
          <a:p>
            <a:pPr algn="ctr"/>
            <a:r>
              <a:rPr lang="zh-CN" altLang="en-US" sz="1600" dirty="0">
                <a:solidFill>
                  <a:schemeClr val="lt1"/>
                </a:solidFill>
                <a:latin typeface="+mn-lt"/>
                <a:ea typeface="+mn-ea"/>
                <a:cs typeface="+mn-ea"/>
                <a:sym typeface="+mn-lt"/>
              </a:rPr>
              <a:t>发布数字化发展策略，  推动培训体系数字化管理 </a:t>
            </a:r>
            <a:endParaRPr lang="zh-CN" altLang="en-US" sz="1600" dirty="0">
              <a:solidFill>
                <a:schemeClr val="lt1"/>
              </a:solidFill>
              <a:latin typeface="+mn-lt"/>
              <a:ea typeface="+mn-ea"/>
              <a:cs typeface="+mn-ea"/>
              <a:sym typeface="+mn-l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7408776" y="3682112"/>
            <a:ext cx="4010239" cy="1093864"/>
          </a:xfrm>
          <a:prstGeom prst="rect">
            <a:avLst/>
          </a:prstGeom>
          <a:solidFill>
            <a:schemeClr val="bg2">
              <a:lumMod val="50000"/>
            </a:schemeClr>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45" name="矩形 44"/>
          <p:cNvSpPr/>
          <p:nvPr/>
        </p:nvSpPr>
        <p:spPr>
          <a:xfrm>
            <a:off x="862556" y="3710915"/>
            <a:ext cx="4010239" cy="1093864"/>
          </a:xfrm>
          <a:prstGeom prst="rect">
            <a:avLst/>
          </a:prstGeom>
          <a:solidFill>
            <a:schemeClr val="bg2">
              <a:lumMod val="50000"/>
            </a:schemeClr>
          </a:solidFill>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44" name="矩形 43"/>
          <p:cNvSpPr/>
          <p:nvPr/>
        </p:nvSpPr>
        <p:spPr>
          <a:xfrm>
            <a:off x="4362380" y="5408588"/>
            <a:ext cx="3291865" cy="646331"/>
          </a:xfrm>
          <a:prstGeom prst="rect">
            <a:avLst/>
          </a:prstGeom>
          <a:solidFill>
            <a:srgbClr val="C00000"/>
          </a:solidFill>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4" name="矩形 3"/>
          <p:cNvSpPr/>
          <p:nvPr/>
        </p:nvSpPr>
        <p:spPr>
          <a:xfrm>
            <a:off x="4362380" y="2554000"/>
            <a:ext cx="3291865" cy="646331"/>
          </a:xfrm>
          <a:prstGeom prst="rect">
            <a:avLst/>
          </a:prstGeom>
          <a:solidFill>
            <a:srgbClr val="C00000"/>
          </a:solidFill>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3" name="文本框 2"/>
          <p:cNvSpPr txBox="1"/>
          <p:nvPr/>
        </p:nvSpPr>
        <p:spPr>
          <a:xfrm>
            <a:off x="695325" y="197261"/>
            <a:ext cx="9252877"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zh-CN" altLang="en-US" sz="2000" dirty="0">
                <a:latin typeface="+mn-lt"/>
                <a:ea typeface="+mn-ea"/>
                <a:cs typeface="+mn-ea"/>
                <a:sym typeface="+mn-lt"/>
              </a:rPr>
              <a:t>二</a:t>
            </a:r>
            <a:r>
              <a:rPr kumimoji="1" lang="en-US" altLang="zh-CN" sz="2000" dirty="0">
                <a:latin typeface="+mn-lt"/>
                <a:ea typeface="+mn-ea"/>
                <a:cs typeface="+mn-ea"/>
                <a:sym typeface="+mn-lt"/>
              </a:rPr>
              <a:t>/ 4</a:t>
            </a:r>
            <a:r>
              <a:rPr kumimoji="1" lang="zh-CN" altLang="en-US" sz="2000" dirty="0">
                <a:latin typeface="+mn-lt"/>
                <a:ea typeface="+mn-ea"/>
                <a:cs typeface="+mn-ea"/>
                <a:sym typeface="+mn-lt"/>
              </a:rPr>
              <a:t>、平台建设</a:t>
            </a:r>
            <a:r>
              <a:rPr kumimoji="1" lang="en-US" altLang="zh-CN" sz="2000" dirty="0">
                <a:latin typeface="+mn-lt"/>
                <a:ea typeface="+mn-ea"/>
                <a:cs typeface="+mn-ea"/>
                <a:sym typeface="+mn-lt"/>
              </a:rPr>
              <a:t>-</a:t>
            </a:r>
            <a:r>
              <a:rPr kumimoji="1" lang="zh-CN" altLang="en-US" sz="2000" dirty="0">
                <a:latin typeface="+mn-lt"/>
                <a:ea typeface="+mn-ea"/>
                <a:cs typeface="+mn-ea"/>
                <a:sym typeface="+mn-lt"/>
              </a:rPr>
              <a:t>开展数字化的知识管理，推进知识创新和知识运营</a:t>
            </a:r>
            <a:endParaRPr kumimoji="1" lang="en-US" altLang="zh-CN" sz="2000" dirty="0">
              <a:latin typeface="+mn-lt"/>
              <a:ea typeface="+mn-ea"/>
              <a:cs typeface="+mn-ea"/>
              <a:sym typeface="+mn-lt"/>
            </a:endParaRPr>
          </a:p>
        </p:txBody>
      </p:sp>
      <p:sp>
        <p:nvSpPr>
          <p:cNvPr id="10" name="文本框 9"/>
          <p:cNvSpPr txBox="1"/>
          <p:nvPr/>
        </p:nvSpPr>
        <p:spPr>
          <a:xfrm>
            <a:off x="4542533" y="2695041"/>
            <a:ext cx="3291865" cy="369332"/>
          </a:xfrm>
          <a:prstGeom prst="rect">
            <a:avLst/>
          </a:prstGeom>
          <a:noFill/>
        </p:spPr>
        <p:txBody>
          <a:bodyPr wrap="square">
            <a:spAutoFit/>
          </a:bodyPr>
          <a:lstStyle/>
          <a:p>
            <a:r>
              <a:rPr lang="zh-CN" altLang="en-US" sz="1800" dirty="0">
                <a:solidFill>
                  <a:schemeClr val="bg1"/>
                </a:solidFill>
                <a:latin typeface="+mn-lt"/>
                <a:ea typeface="+mn-ea"/>
                <a:cs typeface="+mn-ea"/>
                <a:sym typeface="+mn-lt"/>
              </a:rPr>
              <a:t>智能搜索（数字学习机器人）</a:t>
            </a:r>
            <a:endParaRPr lang="zh-CN" altLang="en-US" sz="1800" dirty="0">
              <a:solidFill>
                <a:schemeClr val="bg1"/>
              </a:solidFill>
              <a:latin typeface="+mn-lt"/>
              <a:ea typeface="+mn-ea"/>
              <a:cs typeface="+mn-ea"/>
              <a:sym typeface="+mn-lt"/>
            </a:endParaRPr>
          </a:p>
        </p:txBody>
      </p:sp>
      <p:sp>
        <p:nvSpPr>
          <p:cNvPr id="12" name="文本框 11"/>
          <p:cNvSpPr txBox="1"/>
          <p:nvPr/>
        </p:nvSpPr>
        <p:spPr>
          <a:xfrm>
            <a:off x="7541655" y="3860866"/>
            <a:ext cx="3671541" cy="646331"/>
          </a:xfrm>
          <a:prstGeom prst="rect">
            <a:avLst/>
          </a:prstGeom>
          <a:noFill/>
        </p:spPr>
        <p:txBody>
          <a:bodyPr wrap="square">
            <a:spAutoFit/>
          </a:bodyPr>
          <a:lstStyle/>
          <a:p>
            <a:r>
              <a:rPr lang="zh-CN" altLang="en-US" sz="1800" dirty="0">
                <a:solidFill>
                  <a:schemeClr val="bg1"/>
                </a:solidFill>
                <a:latin typeface="+mn-lt"/>
                <a:ea typeface="+mn-ea"/>
                <a:cs typeface="+mn-ea"/>
                <a:sym typeface="+mn-lt"/>
              </a:rPr>
              <a:t>建立上传、更新、加密、学习路径设计等机制</a:t>
            </a:r>
            <a:endParaRPr lang="zh-CN" altLang="en-US" sz="1800" dirty="0">
              <a:solidFill>
                <a:schemeClr val="bg1"/>
              </a:solidFill>
              <a:latin typeface="+mn-lt"/>
              <a:ea typeface="+mn-ea"/>
              <a:cs typeface="+mn-ea"/>
              <a:sym typeface="+mn-lt"/>
            </a:endParaRPr>
          </a:p>
        </p:txBody>
      </p:sp>
      <p:sp>
        <p:nvSpPr>
          <p:cNvPr id="14" name="文本框 13"/>
          <p:cNvSpPr txBox="1"/>
          <p:nvPr/>
        </p:nvSpPr>
        <p:spPr>
          <a:xfrm>
            <a:off x="4466808" y="5442444"/>
            <a:ext cx="3267787" cy="646331"/>
          </a:xfrm>
          <a:prstGeom prst="rect">
            <a:avLst/>
          </a:prstGeom>
          <a:noFill/>
        </p:spPr>
        <p:txBody>
          <a:bodyPr wrap="square">
            <a:spAutoFit/>
          </a:bodyPr>
          <a:lstStyle/>
          <a:p>
            <a:r>
              <a:rPr lang="zh-CN" altLang="en-US" sz="1800" dirty="0">
                <a:solidFill>
                  <a:schemeClr val="bg1"/>
                </a:solidFill>
                <a:latin typeface="+mn-lt"/>
                <a:ea typeface="+mn-ea"/>
                <a:cs typeface="+mn-ea"/>
                <a:sym typeface="+mn-lt"/>
              </a:rPr>
              <a:t>建立用户自建内容（</a:t>
            </a:r>
            <a:r>
              <a:rPr lang="en-US" altLang="zh-CN" sz="1800" dirty="0">
                <a:solidFill>
                  <a:schemeClr val="bg1"/>
                </a:solidFill>
                <a:latin typeface="+mn-lt"/>
                <a:ea typeface="+mn-ea"/>
                <a:cs typeface="+mn-ea"/>
                <a:sym typeface="+mn-lt"/>
              </a:rPr>
              <a:t> UGC </a:t>
            </a:r>
            <a:r>
              <a:rPr lang="zh-CN" altLang="en-US" sz="1800" dirty="0">
                <a:solidFill>
                  <a:schemeClr val="bg1"/>
                </a:solidFill>
                <a:latin typeface="+mn-lt"/>
                <a:ea typeface="+mn-ea"/>
                <a:cs typeface="+mn-ea"/>
                <a:sym typeface="+mn-lt"/>
              </a:rPr>
              <a:t>）的机制、功能和应用导航</a:t>
            </a:r>
            <a:endParaRPr lang="zh-CN" altLang="en-US" sz="1800" dirty="0">
              <a:solidFill>
                <a:schemeClr val="bg1"/>
              </a:solidFill>
              <a:latin typeface="+mn-lt"/>
              <a:ea typeface="+mn-ea"/>
              <a:cs typeface="+mn-ea"/>
              <a:sym typeface="+mn-lt"/>
            </a:endParaRPr>
          </a:p>
        </p:txBody>
      </p:sp>
      <p:sp>
        <p:nvSpPr>
          <p:cNvPr id="8" name="矩形 7"/>
          <p:cNvSpPr/>
          <p:nvPr/>
        </p:nvSpPr>
        <p:spPr>
          <a:xfrm>
            <a:off x="695325" y="1082534"/>
            <a:ext cx="10837863" cy="10097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800" dirty="0">
                <a:solidFill>
                  <a:schemeClr val="tx1"/>
                </a:solidFill>
                <a:cs typeface="+mn-ea"/>
                <a:sym typeface="+mn-lt"/>
              </a:rPr>
              <a:t>基于</a:t>
            </a:r>
            <a:r>
              <a:rPr lang="en-US" altLang="zh-CN" sz="1800" dirty="0">
                <a:solidFill>
                  <a:schemeClr val="tx1"/>
                </a:solidFill>
                <a:cs typeface="+mn-ea"/>
                <a:sym typeface="+mn-lt"/>
              </a:rPr>
              <a:t>5G</a:t>
            </a:r>
            <a:r>
              <a:rPr lang="zh-CN" altLang="en-US" sz="1800" dirty="0">
                <a:solidFill>
                  <a:schemeClr val="tx1"/>
                </a:solidFill>
                <a:cs typeface="+mn-ea"/>
                <a:sym typeface="+mn-lt"/>
              </a:rPr>
              <a:t>和大数据技术基础，大力开发人工智能技术，引进</a:t>
            </a:r>
            <a:r>
              <a:rPr lang="en-US" altLang="zh-CN" sz="1800" dirty="0">
                <a:solidFill>
                  <a:schemeClr val="tx1"/>
                </a:solidFill>
                <a:cs typeface="+mn-ea"/>
                <a:sym typeface="+mn-lt"/>
              </a:rPr>
              <a:t>NLP</a:t>
            </a:r>
            <a:r>
              <a:rPr lang="zh-CN" altLang="en-US" sz="1800" dirty="0">
                <a:solidFill>
                  <a:schemeClr val="tx1"/>
                </a:solidFill>
                <a:cs typeface="+mn-ea"/>
                <a:sym typeface="+mn-lt"/>
              </a:rPr>
              <a:t>智能识别和分析技术，建立机器学习模式，构建智能知识管理，持续推进知识自动生成、传播、应用和创新。</a:t>
            </a:r>
            <a:endParaRPr lang="zh-CN" altLang="en-US" sz="1800" dirty="0">
              <a:solidFill>
                <a:schemeClr val="tx1"/>
              </a:solidFill>
              <a:cs typeface="+mn-ea"/>
              <a:sym typeface="+mn-lt"/>
            </a:endParaRPr>
          </a:p>
        </p:txBody>
      </p:sp>
      <p:sp>
        <p:nvSpPr>
          <p:cNvPr id="9" name="灯片编号占位符 1"/>
          <p:cNvSpPr txBox="1"/>
          <p:nvPr/>
        </p:nvSpPr>
        <p:spPr>
          <a:xfrm>
            <a:off x="9428318" y="6547125"/>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
        <p:nvSpPr>
          <p:cNvPr id="17" name="任意多边形 49"/>
          <p:cNvSpPr/>
          <p:nvPr/>
        </p:nvSpPr>
        <p:spPr>
          <a:xfrm rot="5400000">
            <a:off x="6291762" y="4029872"/>
            <a:ext cx="1127934" cy="542568"/>
          </a:xfrm>
          <a:custGeom>
            <a:avLst/>
            <a:gdLst>
              <a:gd name="connsiteX0" fmla="*/ 0 w 1503912"/>
              <a:gd name="connsiteY0" fmla="*/ 487471 h 723424"/>
              <a:gd name="connsiteX1" fmla="*/ 546441 w 1503912"/>
              <a:gd name="connsiteY1" fmla="*/ 194123 h 723424"/>
              <a:gd name="connsiteX2" fmla="*/ 622201 w 1503912"/>
              <a:gd name="connsiteY2" fmla="*/ 182561 h 723424"/>
              <a:gd name="connsiteX3" fmla="*/ 759473 w 1503912"/>
              <a:gd name="connsiteY3" fmla="*/ 0 h 723424"/>
              <a:gd name="connsiteX4" fmla="*/ 896982 w 1503912"/>
              <a:gd name="connsiteY4" fmla="*/ 182876 h 723424"/>
              <a:gd name="connsiteX5" fmla="*/ 951826 w 1503912"/>
              <a:gd name="connsiteY5" fmla="*/ 190149 h 723424"/>
              <a:gd name="connsiteX6" fmla="*/ 1503912 w 1503912"/>
              <a:gd name="connsiteY6" fmla="*/ 472727 h 723424"/>
              <a:gd name="connsiteX7" fmla="*/ 1272630 w 1503912"/>
              <a:gd name="connsiteY7" fmla="*/ 713261 h 723424"/>
              <a:gd name="connsiteX8" fmla="*/ 235953 w 1503912"/>
              <a:gd name="connsiteY8" fmla="*/ 723424 h 72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3912" h="723424">
                <a:moveTo>
                  <a:pt x="0" y="487471"/>
                </a:moveTo>
                <a:cubicBezTo>
                  <a:pt x="155116" y="332355"/>
                  <a:pt x="346085" y="234486"/>
                  <a:pt x="546441" y="194123"/>
                </a:cubicBezTo>
                <a:lnTo>
                  <a:pt x="622201" y="182561"/>
                </a:lnTo>
                <a:lnTo>
                  <a:pt x="759473" y="0"/>
                </a:lnTo>
                <a:lnTo>
                  <a:pt x="896982" y="182876"/>
                </a:lnTo>
                <a:lnTo>
                  <a:pt x="951826" y="190149"/>
                </a:lnTo>
                <a:cubicBezTo>
                  <a:pt x="1152934" y="226576"/>
                  <a:pt x="1345785" y="320682"/>
                  <a:pt x="1503912" y="472727"/>
                </a:cubicBezTo>
                <a:lnTo>
                  <a:pt x="1272630" y="713261"/>
                </a:lnTo>
                <a:cubicBezTo>
                  <a:pt x="981963" y="433774"/>
                  <a:pt x="521086" y="438291"/>
                  <a:pt x="235953" y="723424"/>
                </a:cubicBezTo>
                <a:close/>
              </a:path>
            </a:pathLst>
          </a:custGeom>
          <a:solidFill>
            <a:schemeClr val="bg2">
              <a:lumMod val="50000"/>
            </a:schemeClr>
          </a:solidFill>
          <a:ln w="12700" cap="flat" cmpd="sng" algn="ctr">
            <a:noFill/>
            <a:prstDash val="solid"/>
            <a:miter lim="800000"/>
          </a:ln>
          <a:effectLst/>
        </p:spPr>
        <p:txBody>
          <a:bodyPr wrap="square" lIns="68580" tIns="34290" rIns="68580" bIns="34290"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lumMod val="75000"/>
                  <a:lumOff val="25000"/>
                </a:sysClr>
              </a:solidFill>
              <a:effectLst/>
              <a:uLnTx/>
              <a:uFillTx/>
              <a:latin typeface="Calibri"/>
              <a:ea typeface="宋体"/>
              <a:cs typeface="+mn-cs"/>
            </a:endParaRPr>
          </a:p>
        </p:txBody>
      </p:sp>
      <p:sp>
        <p:nvSpPr>
          <p:cNvPr id="18" name="任意多边形 50"/>
          <p:cNvSpPr/>
          <p:nvPr/>
        </p:nvSpPr>
        <p:spPr>
          <a:xfrm rot="18900000">
            <a:off x="5137672" y="3894669"/>
            <a:ext cx="794657" cy="805388"/>
          </a:xfrm>
          <a:custGeom>
            <a:avLst/>
            <a:gdLst>
              <a:gd name="connsiteX0" fmla="*/ 1053001 w 1059543"/>
              <a:gd name="connsiteY0" fmla="*/ 0 h 1073851"/>
              <a:gd name="connsiteX1" fmla="*/ 1059543 w 1059543"/>
              <a:gd name="connsiteY1" fmla="*/ 333624 h 1073851"/>
              <a:gd name="connsiteX2" fmla="*/ 333688 w 1059543"/>
              <a:gd name="connsiteY2" fmla="*/ 1073851 h 1073851"/>
              <a:gd name="connsiteX3" fmla="*/ 0 w 1059543"/>
              <a:gd name="connsiteY3" fmla="*/ 1073851 h 1073851"/>
              <a:gd name="connsiteX4" fmla="*/ 178963 w 1059543"/>
              <a:gd name="connsiteY4" fmla="*/ 480031 h 1073851"/>
              <a:gd name="connsiteX5" fmla="*/ 224358 w 1059543"/>
              <a:gd name="connsiteY5" fmla="*/ 418287 h 1073851"/>
              <a:gd name="connsiteX6" fmla="*/ 192333 w 1059543"/>
              <a:gd name="connsiteY6" fmla="*/ 192129 h 1073851"/>
              <a:gd name="connsiteX7" fmla="*/ 418880 w 1059543"/>
              <a:gd name="connsiteY7" fmla="*/ 224209 h 1073851"/>
              <a:gd name="connsiteX8" fmla="*/ 462804 w 1059543"/>
              <a:gd name="connsiteY8" fmla="*/ 190570 h 1073851"/>
              <a:gd name="connsiteX9" fmla="*/ 1053001 w 1059543"/>
              <a:gd name="connsiteY9" fmla="*/ 0 h 1073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9543" h="1073851">
                <a:moveTo>
                  <a:pt x="1053001" y="0"/>
                </a:moveTo>
                <a:lnTo>
                  <a:pt x="1059543" y="333624"/>
                </a:lnTo>
                <a:cubicBezTo>
                  <a:pt x="656383" y="341529"/>
                  <a:pt x="333688" y="670613"/>
                  <a:pt x="333688" y="1073851"/>
                </a:cubicBezTo>
                <a:lnTo>
                  <a:pt x="0" y="1073851"/>
                </a:lnTo>
                <a:cubicBezTo>
                  <a:pt x="0" y="854484"/>
                  <a:pt x="65832" y="650244"/>
                  <a:pt x="178963" y="480031"/>
                </a:cubicBezTo>
                <a:lnTo>
                  <a:pt x="224358" y="418287"/>
                </a:lnTo>
                <a:lnTo>
                  <a:pt x="192333" y="192129"/>
                </a:lnTo>
                <a:lnTo>
                  <a:pt x="418880" y="224209"/>
                </a:lnTo>
                <a:lnTo>
                  <a:pt x="462804" y="190570"/>
                </a:lnTo>
                <a:cubicBezTo>
                  <a:pt x="630767" y="74123"/>
                  <a:pt x="833676" y="4301"/>
                  <a:pt x="1053001" y="0"/>
                </a:cubicBezTo>
                <a:close/>
              </a:path>
            </a:pathLst>
          </a:custGeom>
          <a:solidFill>
            <a:schemeClr val="bg2">
              <a:lumMod val="50000"/>
            </a:schemeClr>
          </a:solidFill>
          <a:ln w="12700" cap="flat" cmpd="sng" algn="ctr">
            <a:noFill/>
            <a:prstDash val="solid"/>
            <a:miter lim="800000"/>
          </a:ln>
          <a:effectLst/>
        </p:spPr>
        <p:txBody>
          <a:bodyPr wrap="square" lIns="68580" tIns="34290" rIns="68580" bIns="34290"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lumMod val="75000"/>
                  <a:lumOff val="25000"/>
                </a:sysClr>
              </a:solidFill>
              <a:effectLst/>
              <a:uLnTx/>
              <a:uFillTx/>
              <a:latin typeface="Calibri"/>
              <a:ea typeface="宋体"/>
              <a:cs typeface="+mn-cs"/>
            </a:endParaRPr>
          </a:p>
        </p:txBody>
      </p:sp>
      <p:sp>
        <p:nvSpPr>
          <p:cNvPr id="19" name="任意多边形 51"/>
          <p:cNvSpPr/>
          <p:nvPr/>
        </p:nvSpPr>
        <p:spPr>
          <a:xfrm rot="18900000" flipV="1">
            <a:off x="5757746" y="4514080"/>
            <a:ext cx="794657" cy="805388"/>
          </a:xfrm>
          <a:custGeom>
            <a:avLst/>
            <a:gdLst>
              <a:gd name="connsiteX0" fmla="*/ 333688 w 1059543"/>
              <a:gd name="connsiteY0" fmla="*/ 1073851 h 1073851"/>
              <a:gd name="connsiteX1" fmla="*/ 1059543 w 1059543"/>
              <a:gd name="connsiteY1" fmla="*/ 333624 h 1073851"/>
              <a:gd name="connsiteX2" fmla="*/ 1053001 w 1059543"/>
              <a:gd name="connsiteY2" fmla="*/ 0 h 1073851"/>
              <a:gd name="connsiteX3" fmla="*/ 462804 w 1059543"/>
              <a:gd name="connsiteY3" fmla="*/ 190570 h 1073851"/>
              <a:gd name="connsiteX4" fmla="*/ 418881 w 1059543"/>
              <a:gd name="connsiteY4" fmla="*/ 224208 h 1073851"/>
              <a:gd name="connsiteX5" fmla="*/ 192334 w 1059543"/>
              <a:gd name="connsiteY5" fmla="*/ 192128 h 1073851"/>
              <a:gd name="connsiteX6" fmla="*/ 224359 w 1059543"/>
              <a:gd name="connsiteY6" fmla="*/ 418285 h 1073851"/>
              <a:gd name="connsiteX7" fmla="*/ 178964 w 1059543"/>
              <a:gd name="connsiteY7" fmla="*/ 480031 h 1073851"/>
              <a:gd name="connsiteX8" fmla="*/ 0 w 1059543"/>
              <a:gd name="connsiteY8" fmla="*/ 1073851 h 1073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9543" h="1073851">
                <a:moveTo>
                  <a:pt x="333688" y="1073851"/>
                </a:moveTo>
                <a:cubicBezTo>
                  <a:pt x="333688" y="670613"/>
                  <a:pt x="656383" y="341529"/>
                  <a:pt x="1059543" y="333624"/>
                </a:cubicBezTo>
                <a:lnTo>
                  <a:pt x="1053001" y="0"/>
                </a:lnTo>
                <a:cubicBezTo>
                  <a:pt x="833676" y="4300"/>
                  <a:pt x="630767" y="74123"/>
                  <a:pt x="462804" y="190570"/>
                </a:cubicBezTo>
                <a:lnTo>
                  <a:pt x="418881" y="224208"/>
                </a:lnTo>
                <a:lnTo>
                  <a:pt x="192334" y="192128"/>
                </a:lnTo>
                <a:lnTo>
                  <a:pt x="224359" y="418285"/>
                </a:lnTo>
                <a:lnTo>
                  <a:pt x="178964" y="480031"/>
                </a:lnTo>
                <a:cubicBezTo>
                  <a:pt x="65832" y="650245"/>
                  <a:pt x="0" y="854484"/>
                  <a:pt x="0" y="1073851"/>
                </a:cubicBezTo>
                <a:close/>
              </a:path>
            </a:pathLst>
          </a:custGeom>
          <a:solidFill>
            <a:srgbClr val="AC0000"/>
          </a:solidFill>
          <a:ln w="12700" cap="flat" cmpd="sng" algn="ctr">
            <a:noFill/>
            <a:prstDash val="solid"/>
            <a:miter lim="800000"/>
          </a:ln>
          <a:effectLst/>
        </p:spPr>
        <p:txBody>
          <a:bodyPr wrap="square" lIns="68580" tIns="34290" rIns="68580" bIns="34290"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lumMod val="75000"/>
                  <a:lumOff val="25000"/>
                </a:sysClr>
              </a:solidFill>
              <a:effectLst/>
              <a:uLnTx/>
              <a:uFillTx/>
              <a:latin typeface="Calibri"/>
              <a:ea typeface="宋体"/>
              <a:cs typeface="+mn-cs"/>
            </a:endParaRPr>
          </a:p>
        </p:txBody>
      </p:sp>
      <p:sp>
        <p:nvSpPr>
          <p:cNvPr id="20" name="任意多边形 52"/>
          <p:cNvSpPr/>
          <p:nvPr/>
        </p:nvSpPr>
        <p:spPr>
          <a:xfrm rot="2700000">
            <a:off x="5743457" y="3272959"/>
            <a:ext cx="794657" cy="805388"/>
          </a:xfrm>
          <a:custGeom>
            <a:avLst/>
            <a:gdLst>
              <a:gd name="connsiteX0" fmla="*/ 219275 w 1059543"/>
              <a:gd name="connsiteY0" fmla="*/ 192128 h 1073851"/>
              <a:gd name="connsiteX1" fmla="*/ 423085 w 1059543"/>
              <a:gd name="connsiteY1" fmla="*/ 220989 h 1073851"/>
              <a:gd name="connsiteX2" fmla="*/ 462804 w 1059543"/>
              <a:gd name="connsiteY2" fmla="*/ 190570 h 1073851"/>
              <a:gd name="connsiteX3" fmla="*/ 1053001 w 1059543"/>
              <a:gd name="connsiteY3" fmla="*/ 0 h 1073851"/>
              <a:gd name="connsiteX4" fmla="*/ 1059543 w 1059543"/>
              <a:gd name="connsiteY4" fmla="*/ 333624 h 1073851"/>
              <a:gd name="connsiteX5" fmla="*/ 333688 w 1059543"/>
              <a:gd name="connsiteY5" fmla="*/ 1073851 h 1073851"/>
              <a:gd name="connsiteX6" fmla="*/ 0 w 1059543"/>
              <a:gd name="connsiteY6" fmla="*/ 1073851 h 1073851"/>
              <a:gd name="connsiteX7" fmla="*/ 239386 w 1059543"/>
              <a:gd name="connsiteY7" fmla="*/ 397847 h 1073851"/>
              <a:gd name="connsiteX8" fmla="*/ 247170 w 1059543"/>
              <a:gd name="connsiteY8" fmla="*/ 389121 h 1073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9543" h="1073851">
                <a:moveTo>
                  <a:pt x="219275" y="192128"/>
                </a:moveTo>
                <a:lnTo>
                  <a:pt x="423085" y="220989"/>
                </a:lnTo>
                <a:lnTo>
                  <a:pt x="462804" y="190570"/>
                </a:lnTo>
                <a:cubicBezTo>
                  <a:pt x="630767" y="74123"/>
                  <a:pt x="833676" y="4301"/>
                  <a:pt x="1053001" y="0"/>
                </a:cubicBezTo>
                <a:lnTo>
                  <a:pt x="1059543" y="333624"/>
                </a:lnTo>
                <a:cubicBezTo>
                  <a:pt x="656383" y="341529"/>
                  <a:pt x="333688" y="670613"/>
                  <a:pt x="333688" y="1073851"/>
                </a:cubicBezTo>
                <a:lnTo>
                  <a:pt x="0" y="1073851"/>
                </a:lnTo>
                <a:cubicBezTo>
                  <a:pt x="0" y="817923"/>
                  <a:pt x="89604" y="582585"/>
                  <a:pt x="239386" y="397847"/>
                </a:cubicBezTo>
                <a:lnTo>
                  <a:pt x="247170" y="389121"/>
                </a:lnTo>
                <a:close/>
              </a:path>
            </a:pathLst>
          </a:custGeom>
          <a:solidFill>
            <a:srgbClr val="AC0000"/>
          </a:solidFill>
          <a:ln w="12700" cap="flat" cmpd="sng" algn="ctr">
            <a:noFill/>
            <a:prstDash val="solid"/>
            <a:miter lim="800000"/>
          </a:ln>
          <a:effectLst/>
        </p:spPr>
        <p:txBody>
          <a:bodyPr wrap="square" lIns="68580" tIns="34290" rIns="68580" bIns="34290"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lumMod val="75000"/>
                  <a:lumOff val="25000"/>
                </a:sysClr>
              </a:solidFill>
              <a:effectLst/>
              <a:uLnTx/>
              <a:uFillTx/>
              <a:latin typeface="Calibri"/>
              <a:ea typeface="宋体"/>
              <a:cs typeface="+mn-cs"/>
            </a:endParaRPr>
          </a:p>
        </p:txBody>
      </p:sp>
      <p:sp>
        <p:nvSpPr>
          <p:cNvPr id="13" name="文本框 12"/>
          <p:cNvSpPr txBox="1"/>
          <p:nvPr/>
        </p:nvSpPr>
        <p:spPr>
          <a:xfrm>
            <a:off x="1035657" y="3771536"/>
            <a:ext cx="3618781" cy="923330"/>
          </a:xfrm>
          <a:prstGeom prst="rect">
            <a:avLst/>
          </a:prstGeom>
          <a:noFill/>
        </p:spPr>
        <p:txBody>
          <a:bodyPr wrap="square">
            <a:spAutoFit/>
          </a:bodyPr>
          <a:lstStyle/>
          <a:p>
            <a:r>
              <a:rPr lang="zh-CN" altLang="en-US" sz="1800" dirty="0">
                <a:solidFill>
                  <a:schemeClr val="bg1"/>
                </a:solidFill>
                <a:latin typeface="+mn-lt"/>
                <a:ea typeface="+mn-ea"/>
                <a:cs typeface="+mn-ea"/>
                <a:sym typeface="+mn-lt"/>
              </a:rPr>
              <a:t>丰富</a:t>
            </a:r>
            <a:r>
              <a:rPr lang="en-US" altLang="zh-CN" sz="1800" dirty="0">
                <a:solidFill>
                  <a:schemeClr val="bg1"/>
                </a:solidFill>
                <a:latin typeface="+mn-lt"/>
                <a:ea typeface="+mn-ea"/>
                <a:cs typeface="+mn-ea"/>
                <a:sym typeface="+mn-lt"/>
              </a:rPr>
              <a:t>PPT</a:t>
            </a:r>
            <a:r>
              <a:rPr lang="zh-CN" altLang="en-US" sz="1800" dirty="0">
                <a:solidFill>
                  <a:schemeClr val="bg1"/>
                </a:solidFill>
                <a:latin typeface="+mn-lt"/>
                <a:ea typeface="+mn-ea"/>
                <a:cs typeface="+mn-ea"/>
                <a:sym typeface="+mn-lt"/>
              </a:rPr>
              <a:t>课件、视频课件、文字阅读资料、</a:t>
            </a:r>
            <a:r>
              <a:rPr lang="en-US" altLang="zh-CN" sz="1800" dirty="0">
                <a:solidFill>
                  <a:schemeClr val="bg1"/>
                </a:solidFill>
                <a:latin typeface="+mn-lt"/>
                <a:ea typeface="+mn-ea"/>
                <a:cs typeface="+mn-ea"/>
                <a:sym typeface="+mn-lt"/>
              </a:rPr>
              <a:t>VR</a:t>
            </a:r>
            <a:r>
              <a:rPr lang="zh-CN" altLang="en-US" sz="1800" dirty="0">
                <a:solidFill>
                  <a:schemeClr val="bg1"/>
                </a:solidFill>
                <a:latin typeface="+mn-lt"/>
                <a:ea typeface="+mn-ea"/>
                <a:cs typeface="+mn-ea"/>
                <a:sym typeface="+mn-lt"/>
              </a:rPr>
              <a:t>等不同类型的呈现形式，提升机器阅读和学习的效率</a:t>
            </a:r>
            <a:endParaRPr lang="zh-CN" altLang="en-US" sz="1800" dirty="0">
              <a:solidFill>
                <a:schemeClr val="bg1"/>
              </a:solidFill>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animEffect transition="in" filter="fade">
                                      <p:cBhvr>
                                        <p:cTn id="14" dur="500"/>
                                        <p:tgtEl>
                                          <p:spTgt spid="1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500" fill="hold"/>
                                        <p:tgtEl>
                                          <p:spTgt spid="17"/>
                                        </p:tgtEl>
                                        <p:attrNameLst>
                                          <p:attrName>ppt_w</p:attrName>
                                        </p:attrNameLst>
                                      </p:cBhvr>
                                      <p:tavLst>
                                        <p:tav tm="0">
                                          <p:val>
                                            <p:fltVal val="0"/>
                                          </p:val>
                                        </p:tav>
                                        <p:tav tm="100000">
                                          <p:val>
                                            <p:strVal val="#ppt_w"/>
                                          </p:val>
                                        </p:tav>
                                      </p:tavLst>
                                    </p:anim>
                                    <p:anim calcmode="lin" valueType="num">
                                      <p:cBhvr>
                                        <p:cTn id="18" dur="500" fill="hold"/>
                                        <p:tgtEl>
                                          <p:spTgt spid="17"/>
                                        </p:tgtEl>
                                        <p:attrNameLst>
                                          <p:attrName>ppt_h</p:attrName>
                                        </p:attrNameLst>
                                      </p:cBhvr>
                                      <p:tavLst>
                                        <p:tav tm="0">
                                          <p:val>
                                            <p:fltVal val="0"/>
                                          </p:val>
                                        </p:tav>
                                        <p:tav tm="100000">
                                          <p:val>
                                            <p:strVal val="#ppt_h"/>
                                          </p:val>
                                        </p:tav>
                                      </p:tavLst>
                                    </p:anim>
                                    <p:animEffect transition="in" filter="fade">
                                      <p:cBhvr>
                                        <p:cTn id="19" dur="500"/>
                                        <p:tgtEl>
                                          <p:spTgt spid="1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p:cTn id="22" dur="500" fill="hold"/>
                                        <p:tgtEl>
                                          <p:spTgt spid="19"/>
                                        </p:tgtEl>
                                        <p:attrNameLst>
                                          <p:attrName>ppt_w</p:attrName>
                                        </p:attrNameLst>
                                      </p:cBhvr>
                                      <p:tavLst>
                                        <p:tav tm="0">
                                          <p:val>
                                            <p:fltVal val="0"/>
                                          </p:val>
                                        </p:tav>
                                        <p:tav tm="100000">
                                          <p:val>
                                            <p:strVal val="#ppt_w"/>
                                          </p:val>
                                        </p:tav>
                                      </p:tavLst>
                                    </p:anim>
                                    <p:anim calcmode="lin" valueType="num">
                                      <p:cBhvr>
                                        <p:cTn id="23" dur="500" fill="hold"/>
                                        <p:tgtEl>
                                          <p:spTgt spid="19"/>
                                        </p:tgtEl>
                                        <p:attrNameLst>
                                          <p:attrName>ppt_h</p:attrName>
                                        </p:attrNameLst>
                                      </p:cBhvr>
                                      <p:tavLst>
                                        <p:tav tm="0">
                                          <p:val>
                                            <p:fltVal val="0"/>
                                          </p:val>
                                        </p:tav>
                                        <p:tav tm="100000">
                                          <p:val>
                                            <p:strVal val="#ppt_h"/>
                                          </p:val>
                                        </p:tav>
                                      </p:tavLst>
                                    </p:anim>
                                    <p:animEffect transition="in" filter="fade">
                                      <p:cBhvr>
                                        <p:cTn id="2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3571638" y="1435954"/>
            <a:ext cx="0" cy="493656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313509" y="1435954"/>
            <a:ext cx="3050716" cy="3693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cs typeface="+mn-ea"/>
                <a:sym typeface="+mn-lt"/>
              </a:rPr>
              <a:t>一级大纲</a:t>
            </a:r>
            <a:endParaRPr lang="zh-CN" altLang="en-US" sz="1800" b="1" dirty="0">
              <a:cs typeface="+mn-ea"/>
              <a:sym typeface="+mn-lt"/>
            </a:endParaRPr>
          </a:p>
        </p:txBody>
      </p:sp>
      <p:graphicFrame>
        <p:nvGraphicFramePr>
          <p:cNvPr id="4" name="表格 3"/>
          <p:cNvGraphicFramePr>
            <a:graphicFrameLocks noGrp="1"/>
          </p:cNvGraphicFramePr>
          <p:nvPr/>
        </p:nvGraphicFramePr>
        <p:xfrm>
          <a:off x="313510" y="2027092"/>
          <a:ext cx="3044370" cy="4345428"/>
        </p:xfrm>
        <a:graphic>
          <a:graphicData uri="http://schemas.openxmlformats.org/drawingml/2006/table">
            <a:tbl>
              <a:tblPr firstRow="1" firstCol="1" bandRow="1">
                <a:tableStyleId>{5940675A-B579-460E-94D1-54222C63F5DA}</a:tableStyleId>
              </a:tblPr>
              <a:tblGrid>
                <a:gridCol w="1058090"/>
                <a:gridCol w="1986280"/>
              </a:tblGrid>
              <a:tr h="724238">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zh-CN" sz="1600" b="1" kern="100" dirty="0">
                          <a:solidFill>
                            <a:schemeClr val="tx1"/>
                          </a:solidFill>
                          <a:effectLst/>
                          <a:latin typeface="+mn-lt"/>
                          <a:ea typeface="+mn-ea"/>
                          <a:cs typeface="+mn-ea"/>
                          <a:sym typeface="+mn-lt"/>
                        </a:rPr>
                        <a:t>第一章</a:t>
                      </a:r>
                      <a:endParaRPr lang="zh-CN" altLang="zh-CN" sz="1600" b="1" kern="100" dirty="0">
                        <a:solidFill>
                          <a:schemeClr val="tx1"/>
                        </a:solidFill>
                        <a:effectLst/>
                        <a:latin typeface="+mn-lt"/>
                        <a:ea typeface="+mn-ea"/>
                        <a:cs typeface="+mn-ea"/>
                        <a:sym typeface="+mn-lt"/>
                      </a:endParaRPr>
                    </a:p>
                  </a:txBody>
                  <a:tcPr marL="50270" marR="50270" marT="0" marB="0" anchor="ctr">
                    <a:noFill/>
                  </a:tcPr>
                </a:tc>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600" b="1" kern="100" dirty="0">
                          <a:solidFill>
                            <a:srgbClr val="C00000"/>
                          </a:solidFill>
                          <a:effectLst/>
                          <a:latin typeface="+mn-lt"/>
                          <a:ea typeface="+mn-ea"/>
                          <a:cs typeface="+mn-ea"/>
                          <a:sym typeface="+mn-lt"/>
                        </a:rPr>
                        <a:t>发展环境</a:t>
                      </a:r>
                      <a:endParaRPr lang="zh-CN" altLang="zh-CN" sz="1600" b="1" kern="100" dirty="0">
                        <a:solidFill>
                          <a:srgbClr val="C00000"/>
                        </a:solidFill>
                        <a:effectLst/>
                        <a:latin typeface="+mn-lt"/>
                        <a:ea typeface="+mn-ea"/>
                        <a:cs typeface="+mn-ea"/>
                        <a:sym typeface="+mn-lt"/>
                      </a:endParaRPr>
                    </a:p>
                  </a:txBody>
                  <a:tcPr marL="50270" marR="50270" marT="0" marB="0" anchor="ctr">
                    <a:noFill/>
                  </a:tcPr>
                </a:tc>
              </a:tr>
              <a:tr h="724238">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en-US" sz="1600" b="1" kern="100" dirty="0">
                          <a:solidFill>
                            <a:schemeClr val="tx1"/>
                          </a:solidFill>
                          <a:effectLst/>
                          <a:latin typeface="+mn-lt"/>
                          <a:ea typeface="+mn-ea"/>
                          <a:cs typeface="+mn-ea"/>
                          <a:sym typeface="+mn-lt"/>
                        </a:rPr>
                        <a:t>第二章</a:t>
                      </a:r>
                      <a:endParaRPr lang="zh-CN" altLang="en-US" sz="1600" b="1" kern="100" dirty="0">
                        <a:solidFill>
                          <a:schemeClr val="tx1"/>
                        </a:solidFill>
                        <a:effectLst/>
                        <a:latin typeface="+mn-lt"/>
                        <a:ea typeface="+mn-ea"/>
                        <a:cs typeface="+mn-ea"/>
                        <a:sym typeface="+mn-lt"/>
                      </a:endParaRPr>
                    </a:p>
                  </a:txBody>
                  <a:tcPr marL="50270" marR="50270" marT="0" marB="0" anchor="ctr">
                    <a:noFill/>
                  </a:tcPr>
                </a:tc>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600" b="1" kern="100" dirty="0">
                          <a:solidFill>
                            <a:srgbClr val="C00000"/>
                          </a:solidFill>
                          <a:effectLst/>
                          <a:latin typeface="+mn-lt"/>
                          <a:ea typeface="+mn-ea"/>
                          <a:cs typeface="+mn-ea"/>
                          <a:sym typeface="+mn-lt"/>
                        </a:rPr>
                        <a:t>总体布局</a:t>
                      </a:r>
                      <a:endParaRPr lang="zh-CN" altLang="en-US" sz="1600" b="1" kern="100" dirty="0">
                        <a:solidFill>
                          <a:srgbClr val="C00000"/>
                        </a:solidFill>
                        <a:effectLst/>
                        <a:latin typeface="+mn-lt"/>
                        <a:ea typeface="+mn-ea"/>
                        <a:cs typeface="+mn-ea"/>
                        <a:sym typeface="+mn-lt"/>
                      </a:endParaRPr>
                    </a:p>
                  </a:txBody>
                  <a:tcPr marL="50270" marR="50270" marT="0" marB="0" anchor="ctr">
                    <a:noFill/>
                  </a:tcPr>
                </a:tc>
              </a:tr>
              <a:tr h="724238">
                <a:tc>
                  <a:txBody>
                    <a:bodyPr/>
                    <a:lstStyle/>
                    <a:p>
                      <a:pPr marL="0" algn="ctr" defTabSz="914400" rtl="0" eaLnBrk="1" latinLnBrk="0" hangingPunct="1">
                        <a:lnSpc>
                          <a:spcPct val="130000"/>
                        </a:lnSpc>
                      </a:pPr>
                      <a:r>
                        <a:rPr lang="zh-CN" altLang="en-US" sz="1600" b="1" kern="100" dirty="0">
                          <a:solidFill>
                            <a:schemeClr val="tx1"/>
                          </a:solidFill>
                          <a:effectLst/>
                          <a:latin typeface="+mn-lt"/>
                          <a:ea typeface="+mn-ea"/>
                          <a:cs typeface="+mn-ea"/>
                          <a:sym typeface="+mn-lt"/>
                        </a:rPr>
                        <a:t>第三章</a:t>
                      </a:r>
                      <a:endParaRPr lang="zh-CN" altLang="en-US" sz="1600" b="1" kern="100" dirty="0">
                        <a:solidFill>
                          <a:schemeClr val="tx1"/>
                        </a:solidFill>
                        <a:effectLst/>
                        <a:latin typeface="+mn-lt"/>
                        <a:ea typeface="+mn-ea"/>
                        <a:cs typeface="+mn-ea"/>
                        <a:sym typeface="+mn-lt"/>
                      </a:endParaRPr>
                    </a:p>
                  </a:txBody>
                  <a:tcPr marL="50270" marR="50270" marT="0" marB="0" anchor="ctr">
                    <a:noFill/>
                  </a:tcPr>
                </a:tc>
                <a:tc>
                  <a:txBody>
                    <a:bodyPr/>
                    <a:lstStyle/>
                    <a:p>
                      <a:pPr marL="0" algn="ctr" defTabSz="914400" rtl="0" eaLnBrk="1" latinLnBrk="0" hangingPunct="1">
                        <a:lnSpc>
                          <a:spcPct val="120000"/>
                        </a:lnSpc>
                      </a:pPr>
                      <a:r>
                        <a:rPr lang="zh-CN" altLang="en-US" sz="1600" b="1" kern="100" dirty="0">
                          <a:solidFill>
                            <a:srgbClr val="C00000"/>
                          </a:solidFill>
                          <a:effectLst/>
                          <a:latin typeface="+mn-lt"/>
                          <a:ea typeface="+mn-ea"/>
                          <a:cs typeface="+mn-ea"/>
                          <a:sym typeface="+mn-lt"/>
                        </a:rPr>
                        <a:t>项目建设</a:t>
                      </a:r>
                      <a:endParaRPr lang="zh-CN" altLang="zh-CN" sz="1600" b="1" kern="100" dirty="0">
                        <a:solidFill>
                          <a:srgbClr val="C00000"/>
                        </a:solidFill>
                        <a:effectLst/>
                        <a:latin typeface="+mn-lt"/>
                        <a:ea typeface="+mn-ea"/>
                        <a:cs typeface="+mn-ea"/>
                        <a:sym typeface="+mn-lt"/>
                      </a:endParaRPr>
                    </a:p>
                  </a:txBody>
                  <a:tcPr marL="50270" marR="50270" marT="0" marB="0" anchor="ctr">
                    <a:noFill/>
                  </a:tcPr>
                </a:tc>
              </a:tr>
              <a:tr h="724238">
                <a:tc>
                  <a:txBody>
                    <a:bodyPr/>
                    <a:lstStyle/>
                    <a:p>
                      <a:pPr marL="0" algn="ctr" defTabSz="914400" rtl="0" eaLnBrk="1" latinLnBrk="0" hangingPunct="1">
                        <a:lnSpc>
                          <a:spcPct val="130000"/>
                        </a:lnSpc>
                      </a:pPr>
                      <a:r>
                        <a:rPr lang="zh-CN" altLang="en-US" sz="1600" b="1" kern="100" dirty="0">
                          <a:solidFill>
                            <a:schemeClr val="tx1"/>
                          </a:solidFill>
                          <a:effectLst/>
                          <a:latin typeface="+mn-lt"/>
                          <a:ea typeface="+mn-ea"/>
                          <a:cs typeface="+mn-ea"/>
                          <a:sym typeface="+mn-lt"/>
                        </a:rPr>
                        <a:t>第四章</a:t>
                      </a:r>
                      <a:endParaRPr lang="zh-CN" altLang="en-US" sz="1600" b="1" kern="100" dirty="0">
                        <a:solidFill>
                          <a:schemeClr val="tx1"/>
                        </a:solidFill>
                        <a:effectLst/>
                        <a:latin typeface="+mn-lt"/>
                        <a:ea typeface="+mn-ea"/>
                        <a:cs typeface="+mn-ea"/>
                        <a:sym typeface="+mn-lt"/>
                      </a:endParaRPr>
                    </a:p>
                  </a:txBody>
                  <a:tcPr marL="50270" marR="50270" marT="0" marB="0" anchor="ctr">
                    <a:noFill/>
                  </a:tcPr>
                </a:tc>
                <a:tc>
                  <a:txBody>
                    <a:bodyPr/>
                    <a:lstStyle/>
                    <a:p>
                      <a:pPr marL="0" algn="ctr" defTabSz="914400" rtl="0" eaLnBrk="1" latinLnBrk="0" hangingPunct="1">
                        <a:lnSpc>
                          <a:spcPct val="120000"/>
                        </a:lnSpc>
                      </a:pPr>
                      <a:r>
                        <a:rPr lang="zh-CN" altLang="en-US" sz="1600" b="1" kern="100" dirty="0">
                          <a:solidFill>
                            <a:srgbClr val="C00000"/>
                          </a:solidFill>
                          <a:effectLst/>
                          <a:latin typeface="+mn-lt"/>
                          <a:ea typeface="+mn-ea"/>
                          <a:cs typeface="+mn-ea"/>
                          <a:sym typeface="+mn-lt"/>
                        </a:rPr>
                        <a:t>能力建设</a:t>
                      </a:r>
                      <a:endParaRPr lang="zh-CN" altLang="en-US" sz="1600" b="1" kern="100" dirty="0">
                        <a:solidFill>
                          <a:srgbClr val="C00000"/>
                        </a:solidFill>
                        <a:effectLst/>
                        <a:latin typeface="+mn-lt"/>
                        <a:ea typeface="+mn-ea"/>
                        <a:cs typeface="+mn-ea"/>
                        <a:sym typeface="+mn-lt"/>
                      </a:endParaRPr>
                    </a:p>
                  </a:txBody>
                  <a:tcPr marL="50270" marR="50270" marT="0" marB="0" anchor="ctr">
                    <a:noFill/>
                  </a:tcPr>
                </a:tc>
              </a:tr>
              <a:tr h="724238">
                <a:tc>
                  <a:txBody>
                    <a:bodyPr/>
                    <a:lstStyle/>
                    <a:p>
                      <a:pPr algn="ctr">
                        <a:lnSpc>
                          <a:spcPct val="130000"/>
                        </a:lnSpc>
                      </a:pPr>
                      <a:r>
                        <a:rPr lang="zh-CN" sz="1800" b="1" kern="100" dirty="0">
                          <a:solidFill>
                            <a:schemeClr val="bg1"/>
                          </a:solidFill>
                          <a:effectLst/>
                          <a:latin typeface="+mn-lt"/>
                          <a:ea typeface="+mn-ea"/>
                          <a:cs typeface="+mn-ea"/>
                          <a:sym typeface="+mn-lt"/>
                        </a:rPr>
                        <a:t>第</a:t>
                      </a:r>
                      <a:r>
                        <a:rPr lang="zh-CN" altLang="en-US" sz="1800" b="1" kern="100" dirty="0">
                          <a:solidFill>
                            <a:schemeClr val="bg1"/>
                          </a:solidFill>
                          <a:effectLst/>
                          <a:latin typeface="+mn-lt"/>
                          <a:ea typeface="+mn-ea"/>
                          <a:cs typeface="+mn-ea"/>
                          <a:sym typeface="+mn-lt"/>
                        </a:rPr>
                        <a:t>五</a:t>
                      </a:r>
                      <a:r>
                        <a:rPr lang="zh-CN" sz="1800" b="1" kern="100" dirty="0">
                          <a:solidFill>
                            <a:schemeClr val="bg1"/>
                          </a:solidFill>
                          <a:effectLst/>
                          <a:latin typeface="+mn-lt"/>
                          <a:ea typeface="+mn-ea"/>
                          <a:cs typeface="+mn-ea"/>
                          <a:sym typeface="+mn-lt"/>
                        </a:rPr>
                        <a:t>章</a:t>
                      </a:r>
                      <a:endParaRPr lang="zh-CN" sz="1800" b="1" kern="100" dirty="0">
                        <a:solidFill>
                          <a:schemeClr val="bg1"/>
                        </a:solidFill>
                        <a:effectLst/>
                        <a:latin typeface="+mn-lt"/>
                        <a:ea typeface="+mn-ea"/>
                        <a:cs typeface="+mn-ea"/>
                        <a:sym typeface="+mn-lt"/>
                      </a:endParaRPr>
                    </a:p>
                  </a:txBody>
                  <a:tcPr marL="50270" marR="50270" marT="0" marB="0" anchor="ctr">
                    <a:solidFill>
                      <a:srgbClr val="C00000"/>
                    </a:solidFill>
                  </a:tcPr>
                </a:tc>
                <a:tc>
                  <a:txBody>
                    <a:bodyPr/>
                    <a:lstStyle/>
                    <a:p>
                      <a:pPr algn="ctr">
                        <a:lnSpc>
                          <a:spcPct val="120000"/>
                        </a:lnSpc>
                      </a:pPr>
                      <a:r>
                        <a:rPr lang="zh-CN" sz="2000" b="1" kern="100" dirty="0">
                          <a:solidFill>
                            <a:schemeClr val="bg1"/>
                          </a:solidFill>
                          <a:effectLst/>
                          <a:latin typeface="+mn-lt"/>
                          <a:ea typeface="+mn-ea"/>
                          <a:cs typeface="+mn-ea"/>
                          <a:sym typeface="+mn-lt"/>
                        </a:rPr>
                        <a:t>资源</a:t>
                      </a:r>
                      <a:r>
                        <a:rPr lang="zh-CN" altLang="en-US" sz="2000" b="1" kern="100" dirty="0">
                          <a:solidFill>
                            <a:schemeClr val="bg1"/>
                          </a:solidFill>
                          <a:effectLst/>
                          <a:latin typeface="+mn-lt"/>
                          <a:ea typeface="+mn-ea"/>
                          <a:cs typeface="+mn-ea"/>
                          <a:sym typeface="+mn-lt"/>
                        </a:rPr>
                        <a:t>建设</a:t>
                      </a:r>
                      <a:endParaRPr lang="zh-CN" sz="2000" b="1" kern="100" dirty="0">
                        <a:solidFill>
                          <a:schemeClr val="bg1"/>
                        </a:solidFill>
                        <a:effectLst/>
                        <a:latin typeface="+mn-lt"/>
                        <a:ea typeface="+mn-ea"/>
                        <a:cs typeface="+mn-ea"/>
                        <a:sym typeface="+mn-lt"/>
                      </a:endParaRPr>
                    </a:p>
                  </a:txBody>
                  <a:tcPr marL="50270" marR="50270" marT="0" marB="0" anchor="ctr">
                    <a:solidFill>
                      <a:srgbClr val="C00000"/>
                    </a:solidFill>
                  </a:tcPr>
                </a:tc>
              </a:tr>
              <a:tr h="724238">
                <a:tc>
                  <a:txBody>
                    <a:bodyPr/>
                    <a:lstStyle/>
                    <a:p>
                      <a:pPr algn="ctr">
                        <a:lnSpc>
                          <a:spcPct val="130000"/>
                        </a:lnSpc>
                      </a:pPr>
                      <a:r>
                        <a:rPr lang="zh-CN" sz="1600" b="1" kern="100" dirty="0">
                          <a:effectLst/>
                          <a:latin typeface="+mn-lt"/>
                          <a:ea typeface="+mn-ea"/>
                          <a:cs typeface="+mn-ea"/>
                          <a:sym typeface="+mn-lt"/>
                        </a:rPr>
                        <a:t>第</a:t>
                      </a:r>
                      <a:r>
                        <a:rPr lang="zh-CN" altLang="en-US" sz="1600" b="1" kern="100" dirty="0">
                          <a:effectLst/>
                          <a:latin typeface="+mn-lt"/>
                          <a:ea typeface="+mn-ea"/>
                          <a:cs typeface="+mn-ea"/>
                          <a:sym typeface="+mn-lt"/>
                        </a:rPr>
                        <a:t>六</a:t>
                      </a:r>
                      <a:r>
                        <a:rPr lang="zh-CN" sz="1600" b="1" kern="100" dirty="0">
                          <a:effectLst/>
                          <a:latin typeface="+mn-lt"/>
                          <a:ea typeface="+mn-ea"/>
                          <a:cs typeface="+mn-ea"/>
                          <a:sym typeface="+mn-lt"/>
                        </a:rPr>
                        <a:t>章</a:t>
                      </a:r>
                      <a:endParaRPr lang="zh-CN" sz="1600" b="1" kern="100" dirty="0">
                        <a:effectLst/>
                        <a:latin typeface="+mn-lt"/>
                        <a:ea typeface="+mn-ea"/>
                        <a:cs typeface="+mn-ea"/>
                        <a:sym typeface="+mn-lt"/>
                      </a:endParaRPr>
                    </a:p>
                  </a:txBody>
                  <a:tcPr marL="50270" marR="50270" marT="0" marB="0" anchor="ctr"/>
                </a:tc>
                <a:tc>
                  <a:txBody>
                    <a:bodyPr/>
                    <a:lstStyle/>
                    <a:p>
                      <a:pPr algn="ctr">
                        <a:lnSpc>
                          <a:spcPct val="120000"/>
                        </a:lnSpc>
                      </a:pPr>
                      <a:r>
                        <a:rPr lang="zh-CN" altLang="en-US" sz="1600" b="1" kern="100" dirty="0">
                          <a:solidFill>
                            <a:srgbClr val="C00000"/>
                          </a:solidFill>
                          <a:effectLst/>
                          <a:latin typeface="+mn-lt"/>
                          <a:ea typeface="+mn-ea"/>
                          <a:cs typeface="+mn-ea"/>
                          <a:sym typeface="+mn-lt"/>
                        </a:rPr>
                        <a:t>实施</a:t>
                      </a:r>
                      <a:r>
                        <a:rPr lang="zh-CN" sz="1600" b="1" kern="100" dirty="0">
                          <a:solidFill>
                            <a:srgbClr val="C00000"/>
                          </a:solidFill>
                          <a:effectLst/>
                          <a:latin typeface="+mn-lt"/>
                          <a:ea typeface="+mn-ea"/>
                          <a:cs typeface="+mn-ea"/>
                          <a:sym typeface="+mn-lt"/>
                        </a:rPr>
                        <a:t>保障</a:t>
                      </a:r>
                      <a:endParaRPr lang="zh-CN" sz="1600" b="1" kern="100" dirty="0">
                        <a:solidFill>
                          <a:srgbClr val="C00000"/>
                        </a:solidFill>
                        <a:effectLst/>
                        <a:latin typeface="+mn-lt"/>
                        <a:ea typeface="+mn-ea"/>
                        <a:cs typeface="+mn-ea"/>
                        <a:sym typeface="+mn-lt"/>
                      </a:endParaRPr>
                    </a:p>
                  </a:txBody>
                  <a:tcPr marL="50270" marR="50270" marT="0" marB="0" anchor="ctr"/>
                </a:tc>
              </a:tr>
            </a:tbl>
          </a:graphicData>
        </a:graphic>
      </p:graphicFrame>
      <p:sp>
        <p:nvSpPr>
          <p:cNvPr id="7" name="箭头: 五边形 6"/>
          <p:cNvSpPr/>
          <p:nvPr/>
        </p:nvSpPr>
        <p:spPr>
          <a:xfrm>
            <a:off x="3364225" y="4933570"/>
            <a:ext cx="489302" cy="369332"/>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矩形 11"/>
          <p:cNvSpPr/>
          <p:nvPr/>
        </p:nvSpPr>
        <p:spPr>
          <a:xfrm>
            <a:off x="3853526" y="1435954"/>
            <a:ext cx="7496345" cy="3693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a:cs typeface="+mn-ea"/>
                <a:sym typeface="+mn-lt"/>
              </a:rPr>
              <a:t>二</a:t>
            </a:r>
            <a:r>
              <a:rPr lang="en-US" altLang="zh-CN" sz="1800" dirty="0">
                <a:cs typeface="+mn-ea"/>
                <a:sym typeface="+mn-lt"/>
              </a:rPr>
              <a:t>/</a:t>
            </a:r>
            <a:r>
              <a:rPr lang="zh-CN" altLang="en-US" sz="1800" dirty="0">
                <a:cs typeface="+mn-ea"/>
                <a:sym typeface="+mn-lt"/>
              </a:rPr>
              <a:t>三级大纲（重点内容）</a:t>
            </a:r>
            <a:endParaRPr lang="zh-CN" altLang="en-US" sz="1800" dirty="0">
              <a:cs typeface="+mn-ea"/>
              <a:sym typeface="+mn-lt"/>
            </a:endParaRPr>
          </a:p>
        </p:txBody>
      </p:sp>
      <p:sp>
        <p:nvSpPr>
          <p:cNvPr id="17" name="文本框 16"/>
          <p:cNvSpPr txBox="1"/>
          <p:nvPr/>
        </p:nvSpPr>
        <p:spPr>
          <a:xfrm>
            <a:off x="4290017" y="2060893"/>
            <a:ext cx="6637063" cy="2357120"/>
          </a:xfrm>
          <a:prstGeom prst="rect">
            <a:avLst/>
          </a:prstGeom>
          <a:noFill/>
        </p:spPr>
        <p:txBody>
          <a:bodyPr wrap="square" rtlCol="0">
            <a:spAutoFit/>
          </a:bodyPr>
          <a:lstStyle>
            <a:defPPr>
              <a:defRPr lang="zh-CN"/>
            </a:defPPr>
            <a:lvl1pPr>
              <a:lnSpc>
                <a:spcPct val="150000"/>
              </a:lnSpc>
              <a:defRPr sz="1400">
                <a:latin typeface="微软雅黑" charset="-122"/>
                <a:ea typeface="微软雅黑" charset="-122"/>
              </a:defRPr>
            </a:lvl1pPr>
          </a:lstStyle>
          <a:p>
            <a:r>
              <a:rPr lang="zh-CN" altLang="en-US" sz="1800" b="1" dirty="0">
                <a:latin typeface="+mn-lt"/>
                <a:ea typeface="+mn-ea"/>
                <a:cs typeface="+mn-ea"/>
                <a:sym typeface="+mn-lt"/>
              </a:rPr>
              <a:t>一、目标：建立共享开放的培训资源生态</a:t>
            </a:r>
            <a:endParaRPr lang="en-US" altLang="zh-CN" sz="1800" b="1" dirty="0">
              <a:latin typeface="+mn-lt"/>
              <a:ea typeface="+mn-ea"/>
              <a:cs typeface="+mn-ea"/>
              <a:sym typeface="+mn-lt"/>
            </a:endParaRPr>
          </a:p>
          <a:p>
            <a:r>
              <a:rPr lang="zh-CN" altLang="en-US" sz="1800" b="1" dirty="0">
                <a:latin typeface="+mn-lt"/>
                <a:ea typeface="+mn-ea"/>
                <a:cs typeface="+mn-ea"/>
                <a:sym typeface="+mn-lt"/>
              </a:rPr>
              <a:t>二、重点举措</a:t>
            </a:r>
            <a:endParaRPr lang="en-US" altLang="zh-CN" sz="1800" b="1" dirty="0">
              <a:latin typeface="+mn-lt"/>
              <a:ea typeface="+mn-ea"/>
              <a:cs typeface="+mn-ea"/>
              <a:sym typeface="+mn-lt"/>
            </a:endParaRPr>
          </a:p>
          <a:p>
            <a:r>
              <a:rPr lang="en-US" altLang="zh-CN" sz="1600" dirty="0">
                <a:latin typeface="+mn-lt"/>
                <a:ea typeface="+mn-ea"/>
                <a:cs typeface="+mn-ea"/>
                <a:sym typeface="+mn-lt"/>
              </a:rPr>
              <a:t>1</a:t>
            </a:r>
            <a:r>
              <a:rPr lang="zh-CN" altLang="en-US" sz="1600" dirty="0">
                <a:latin typeface="+mn-lt"/>
                <a:ea typeface="+mn-ea"/>
                <a:cs typeface="+mn-ea"/>
                <a:sym typeface="+mn-lt"/>
              </a:rPr>
              <a:t>、四库一箱：建立共享共生内容健全的资源生态链</a:t>
            </a:r>
            <a:endParaRPr lang="zh-CN" altLang="en-US" sz="1600" dirty="0">
              <a:latin typeface="+mn-lt"/>
              <a:ea typeface="+mn-ea"/>
              <a:cs typeface="+mn-ea"/>
              <a:sym typeface="+mn-lt"/>
            </a:endParaRPr>
          </a:p>
          <a:p>
            <a:r>
              <a:rPr lang="en-US" altLang="zh-CN" sz="1600" dirty="0">
                <a:latin typeface="+mn-lt"/>
                <a:ea typeface="+mn-ea"/>
                <a:cs typeface="+mn-ea"/>
                <a:sym typeface="+mn-lt"/>
              </a:rPr>
              <a:t>2</a:t>
            </a:r>
            <a:r>
              <a:rPr lang="zh-CN" altLang="en-US" sz="1600" dirty="0">
                <a:latin typeface="+mn-lt"/>
                <a:ea typeface="+mn-ea"/>
                <a:cs typeface="+mn-ea"/>
                <a:sym typeface="+mn-lt"/>
              </a:rPr>
              <a:t>、教学服务：持续升级匹配大学需求的硬件设施和服务水平</a:t>
            </a:r>
            <a:endParaRPr lang="zh-CN" altLang="en-US" sz="1600" dirty="0">
              <a:latin typeface="+mn-lt"/>
              <a:ea typeface="+mn-ea"/>
              <a:cs typeface="+mn-ea"/>
              <a:sym typeface="+mn-lt"/>
            </a:endParaRPr>
          </a:p>
          <a:p>
            <a:r>
              <a:rPr lang="en-US" altLang="zh-CN" sz="1600" dirty="0">
                <a:latin typeface="+mn-lt"/>
                <a:ea typeface="+mn-ea"/>
                <a:cs typeface="+mn-ea"/>
                <a:sym typeface="+mn-lt"/>
              </a:rPr>
              <a:t>3</a:t>
            </a:r>
            <a:r>
              <a:rPr lang="zh-CN" altLang="en-US" sz="1600" dirty="0">
                <a:latin typeface="+mn-lt"/>
                <a:ea typeface="+mn-ea"/>
                <a:cs typeface="+mn-ea"/>
                <a:sym typeface="+mn-lt"/>
              </a:rPr>
              <a:t>、机构生态：建立共赢的外部合作体系，培育共生机构</a:t>
            </a:r>
            <a:endParaRPr lang="zh-CN" altLang="en-US" sz="1600" dirty="0">
              <a:latin typeface="+mn-lt"/>
              <a:ea typeface="+mn-ea"/>
              <a:cs typeface="+mn-ea"/>
              <a:sym typeface="+mn-lt"/>
            </a:endParaRPr>
          </a:p>
          <a:p>
            <a:r>
              <a:rPr lang="en-US" altLang="zh-CN" sz="1600" dirty="0">
                <a:latin typeface="+mn-lt"/>
                <a:ea typeface="+mn-ea"/>
                <a:cs typeface="+mn-ea"/>
                <a:sym typeface="+mn-lt"/>
              </a:rPr>
              <a:t>4</a:t>
            </a:r>
            <a:r>
              <a:rPr lang="zh-CN" altLang="en-US" sz="1600" dirty="0">
                <a:latin typeface="+mn-lt"/>
                <a:ea typeface="+mn-ea"/>
                <a:cs typeface="+mn-ea"/>
                <a:sym typeface="+mn-lt"/>
              </a:rPr>
              <a:t>、费用生态：构建激励和约束机制，让资金发挥最大效用</a:t>
            </a:r>
            <a:endParaRPr lang="zh-CN" altLang="en-US" sz="1600" dirty="0">
              <a:latin typeface="+mn-lt"/>
              <a:ea typeface="+mn-ea"/>
              <a:cs typeface="+mn-ea"/>
              <a:sym typeface="+mn-lt"/>
            </a:endParaRPr>
          </a:p>
        </p:txBody>
      </p:sp>
      <p:sp>
        <p:nvSpPr>
          <p:cNvPr id="9" name="文本框 8"/>
          <p:cNvSpPr txBox="1"/>
          <p:nvPr/>
        </p:nvSpPr>
        <p:spPr>
          <a:xfrm>
            <a:off x="488861" y="206936"/>
            <a:ext cx="9096865" cy="400110"/>
          </a:xfrm>
          <a:prstGeom prst="rect">
            <a:avLst/>
          </a:prstGeom>
          <a:noFill/>
        </p:spPr>
        <p:txBody>
          <a:bodyPr wrap="square" rtlCol="0">
            <a:spAutoFit/>
          </a:bodyPr>
          <a:lstStyle/>
          <a:p>
            <a:r>
              <a:rPr kumimoji="1" lang="en-US" altLang="zh-CN" sz="2000" dirty="0">
                <a:latin typeface="+mn-lt"/>
                <a:ea typeface="+mn-ea"/>
                <a:cs typeface="+mn-ea"/>
                <a:sym typeface="+mn-lt"/>
              </a:rPr>
              <a:t>【</a:t>
            </a:r>
            <a:r>
              <a:rPr kumimoji="1" lang="zh-CN" altLang="en-US" sz="2000" dirty="0">
                <a:latin typeface="+mn-lt"/>
                <a:ea typeface="+mn-ea"/>
                <a:cs typeface="+mn-ea"/>
                <a:sym typeface="+mn-lt"/>
              </a:rPr>
              <a:t>目录</a:t>
            </a:r>
            <a:r>
              <a:rPr kumimoji="1" lang="en-US" altLang="zh-CN" sz="2000" dirty="0">
                <a:latin typeface="+mn-lt"/>
                <a:ea typeface="+mn-ea"/>
                <a:cs typeface="+mn-ea"/>
                <a:sym typeface="+mn-lt"/>
              </a:rPr>
              <a:t>】</a:t>
            </a:r>
            <a:r>
              <a:rPr kumimoji="1" lang="zh-CN" altLang="en-US" sz="2000" dirty="0">
                <a:latin typeface="+mn-lt"/>
                <a:ea typeface="+mn-ea"/>
                <a:cs typeface="+mn-ea"/>
                <a:sym typeface="+mn-lt"/>
              </a:rPr>
              <a:t>中银教育培训“十四五”规划</a:t>
            </a:r>
            <a:endParaRPr kumimoji="1" lang="zh-CN" altLang="en-US" sz="2000" dirty="0">
              <a:latin typeface="+mn-lt"/>
              <a:ea typeface="+mn-ea"/>
              <a:cs typeface="+mn-ea"/>
              <a:sym typeface="+mn-lt"/>
            </a:endParaRPr>
          </a:p>
        </p:txBody>
      </p:sp>
      <p:sp>
        <p:nvSpPr>
          <p:cNvPr id="10" name="灯片编号占位符 1"/>
          <p:cNvSpPr txBox="1"/>
          <p:nvPr/>
        </p:nvSpPr>
        <p:spPr>
          <a:xfrm>
            <a:off x="9428318" y="6547125"/>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40489" y="220603"/>
            <a:ext cx="9252877"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zh-CN" altLang="en-US" sz="2000" dirty="0">
                <a:latin typeface="+mn-lt"/>
                <a:ea typeface="+mn-ea"/>
                <a:cs typeface="+mn-ea"/>
                <a:sym typeface="+mn-lt"/>
              </a:rPr>
              <a:t>目标：建立共享开放的培训资源生态</a:t>
            </a:r>
            <a:endParaRPr kumimoji="1" lang="en-US" altLang="zh-CN" sz="2000" dirty="0">
              <a:latin typeface="+mn-lt"/>
              <a:ea typeface="+mn-ea"/>
              <a:cs typeface="+mn-ea"/>
              <a:sym typeface="+mn-lt"/>
            </a:endParaRPr>
          </a:p>
        </p:txBody>
      </p:sp>
      <p:sp>
        <p:nvSpPr>
          <p:cNvPr id="2" name="椭圆 1"/>
          <p:cNvSpPr/>
          <p:nvPr/>
        </p:nvSpPr>
        <p:spPr>
          <a:xfrm>
            <a:off x="580386" y="2413416"/>
            <a:ext cx="1708879" cy="17088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dirty="0">
                <a:effectLst/>
                <a:cs typeface="+mn-ea"/>
                <a:sym typeface="+mn-lt"/>
              </a:rPr>
              <a:t>知识生态</a:t>
            </a:r>
            <a:endParaRPr lang="zh-CN" altLang="en-US" sz="2000" dirty="0">
              <a:cs typeface="+mn-ea"/>
              <a:sym typeface="+mn-lt"/>
            </a:endParaRPr>
          </a:p>
        </p:txBody>
      </p:sp>
      <p:sp>
        <p:nvSpPr>
          <p:cNvPr id="4" name="椭圆 3"/>
          <p:cNvSpPr/>
          <p:nvPr/>
        </p:nvSpPr>
        <p:spPr>
          <a:xfrm>
            <a:off x="2923657" y="2413416"/>
            <a:ext cx="1708879" cy="17088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dirty="0">
                <a:effectLst/>
                <a:cs typeface="+mn-ea"/>
                <a:sym typeface="+mn-lt"/>
              </a:rPr>
              <a:t>组织生态</a:t>
            </a:r>
            <a:endParaRPr lang="zh-CN" altLang="en-US" sz="2000" dirty="0">
              <a:cs typeface="+mn-ea"/>
              <a:sym typeface="+mn-lt"/>
            </a:endParaRPr>
          </a:p>
        </p:txBody>
      </p:sp>
      <p:sp>
        <p:nvSpPr>
          <p:cNvPr id="5" name="椭圆 4"/>
          <p:cNvSpPr/>
          <p:nvPr/>
        </p:nvSpPr>
        <p:spPr>
          <a:xfrm>
            <a:off x="5266928" y="2413416"/>
            <a:ext cx="1708879" cy="17088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dirty="0">
                <a:effectLst/>
                <a:cs typeface="+mn-ea"/>
                <a:sym typeface="+mn-lt"/>
              </a:rPr>
              <a:t>平台生态</a:t>
            </a:r>
            <a:endParaRPr lang="zh-CN" altLang="en-US" sz="2000" dirty="0">
              <a:cs typeface="+mn-ea"/>
              <a:sym typeface="+mn-lt"/>
            </a:endParaRPr>
          </a:p>
        </p:txBody>
      </p:sp>
      <p:sp>
        <p:nvSpPr>
          <p:cNvPr id="6" name="椭圆 5"/>
          <p:cNvSpPr/>
          <p:nvPr/>
        </p:nvSpPr>
        <p:spPr>
          <a:xfrm>
            <a:off x="7610199" y="2413416"/>
            <a:ext cx="1708879" cy="17088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dirty="0">
                <a:effectLst/>
                <a:cs typeface="+mn-ea"/>
                <a:sym typeface="+mn-lt"/>
              </a:rPr>
              <a:t>机构生态</a:t>
            </a:r>
            <a:endParaRPr lang="zh-CN" altLang="en-US" sz="2000" dirty="0">
              <a:cs typeface="+mn-ea"/>
              <a:sym typeface="+mn-lt"/>
            </a:endParaRPr>
          </a:p>
        </p:txBody>
      </p:sp>
      <p:sp>
        <p:nvSpPr>
          <p:cNvPr id="7" name="椭圆 6"/>
          <p:cNvSpPr/>
          <p:nvPr/>
        </p:nvSpPr>
        <p:spPr>
          <a:xfrm>
            <a:off x="9953469" y="2413416"/>
            <a:ext cx="1708879" cy="17088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dirty="0">
                <a:effectLst/>
                <a:cs typeface="+mn-ea"/>
                <a:sym typeface="+mn-lt"/>
              </a:rPr>
              <a:t>费用生态</a:t>
            </a:r>
            <a:endParaRPr lang="zh-CN" altLang="en-US" sz="2000" dirty="0">
              <a:cs typeface="+mn-ea"/>
              <a:sym typeface="+mn-lt"/>
            </a:endParaRPr>
          </a:p>
        </p:txBody>
      </p:sp>
      <p:sp>
        <p:nvSpPr>
          <p:cNvPr id="8" name="灯片编号占位符 1"/>
          <p:cNvSpPr txBox="1"/>
          <p:nvPr/>
        </p:nvSpPr>
        <p:spPr>
          <a:xfrm>
            <a:off x="9428318" y="6547125"/>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08247" y="220603"/>
            <a:ext cx="9252877"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1</a:t>
            </a:r>
            <a:r>
              <a:rPr kumimoji="1" lang="zh-CN" altLang="en-US" sz="2000" dirty="0">
                <a:latin typeface="+mn-lt"/>
                <a:ea typeface="+mn-ea"/>
                <a:cs typeface="+mn-ea"/>
                <a:sym typeface="+mn-lt"/>
              </a:rPr>
              <a:t>、四库一箱：建立共享共生内容健全的资源生态链</a:t>
            </a:r>
            <a:endParaRPr kumimoji="1" lang="en-US" altLang="zh-CN" sz="2000" dirty="0">
              <a:latin typeface="+mn-lt"/>
              <a:ea typeface="+mn-ea"/>
              <a:cs typeface="+mn-ea"/>
              <a:sym typeface="+mn-lt"/>
            </a:endParaRPr>
          </a:p>
        </p:txBody>
      </p:sp>
      <p:sp>
        <p:nvSpPr>
          <p:cNvPr id="2" name="矩形: 圆角 1"/>
          <p:cNvSpPr/>
          <p:nvPr/>
        </p:nvSpPr>
        <p:spPr>
          <a:xfrm>
            <a:off x="512717" y="2155376"/>
            <a:ext cx="1841863" cy="105809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cs typeface="+mn-ea"/>
                <a:sym typeface="+mn-lt"/>
              </a:rPr>
              <a:t>学员库</a:t>
            </a:r>
            <a:endParaRPr lang="zh-CN" altLang="en-US" sz="1800" dirty="0">
              <a:cs typeface="+mn-ea"/>
              <a:sym typeface="+mn-lt"/>
            </a:endParaRPr>
          </a:p>
        </p:txBody>
      </p:sp>
      <p:sp>
        <p:nvSpPr>
          <p:cNvPr id="4" name="矩形: 圆角 3"/>
          <p:cNvSpPr/>
          <p:nvPr/>
        </p:nvSpPr>
        <p:spPr>
          <a:xfrm>
            <a:off x="7243358" y="2155376"/>
            <a:ext cx="1841863" cy="105809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cs typeface="+mn-ea"/>
                <a:sym typeface="+mn-lt"/>
              </a:rPr>
              <a:t>案例教材库</a:t>
            </a:r>
            <a:endParaRPr lang="zh-CN" altLang="en-US" sz="1800" dirty="0">
              <a:cs typeface="+mn-ea"/>
              <a:sym typeface="+mn-lt"/>
            </a:endParaRPr>
          </a:p>
        </p:txBody>
      </p:sp>
      <p:sp>
        <p:nvSpPr>
          <p:cNvPr id="5" name="矩形: 圆角 4"/>
          <p:cNvSpPr/>
          <p:nvPr/>
        </p:nvSpPr>
        <p:spPr>
          <a:xfrm>
            <a:off x="2756264" y="2155375"/>
            <a:ext cx="1841863" cy="105809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cs typeface="+mn-ea"/>
                <a:sym typeface="+mn-lt"/>
              </a:rPr>
              <a:t>师资库</a:t>
            </a:r>
            <a:endParaRPr lang="zh-CN" altLang="en-US" sz="1800" dirty="0">
              <a:cs typeface="+mn-ea"/>
              <a:sym typeface="+mn-lt"/>
            </a:endParaRPr>
          </a:p>
        </p:txBody>
      </p:sp>
      <p:sp>
        <p:nvSpPr>
          <p:cNvPr id="6" name="矩形: 圆角 5"/>
          <p:cNvSpPr/>
          <p:nvPr/>
        </p:nvSpPr>
        <p:spPr>
          <a:xfrm>
            <a:off x="4999811" y="2155374"/>
            <a:ext cx="1841863" cy="105809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cs typeface="+mn-ea"/>
                <a:sym typeface="+mn-lt"/>
              </a:rPr>
              <a:t>课程库</a:t>
            </a:r>
            <a:endParaRPr lang="zh-CN" altLang="en-US" sz="1800" dirty="0">
              <a:cs typeface="+mn-ea"/>
              <a:sym typeface="+mn-lt"/>
            </a:endParaRPr>
          </a:p>
        </p:txBody>
      </p:sp>
      <p:sp>
        <p:nvSpPr>
          <p:cNvPr id="7" name="矩形: 圆角 6"/>
          <p:cNvSpPr/>
          <p:nvPr/>
        </p:nvSpPr>
        <p:spPr>
          <a:xfrm>
            <a:off x="9486905" y="2155376"/>
            <a:ext cx="2120552" cy="105809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a:cs typeface="+mn-ea"/>
                <a:sym typeface="+mn-lt"/>
              </a:rPr>
              <a:t>教学方法</a:t>
            </a:r>
            <a:endParaRPr lang="en-US" altLang="zh-CN" sz="1800" dirty="0">
              <a:cs typeface="+mn-ea"/>
              <a:sym typeface="+mn-lt"/>
            </a:endParaRPr>
          </a:p>
          <a:p>
            <a:pPr algn="ctr"/>
            <a:r>
              <a:rPr lang="zh-CN" altLang="en-US" sz="1800" dirty="0">
                <a:cs typeface="+mn-ea"/>
                <a:sym typeface="+mn-lt"/>
              </a:rPr>
              <a:t>工具箱</a:t>
            </a:r>
            <a:endParaRPr lang="zh-CN" altLang="en-US" sz="1800" dirty="0">
              <a:cs typeface="+mn-ea"/>
              <a:sym typeface="+mn-lt"/>
            </a:endParaRPr>
          </a:p>
        </p:txBody>
      </p:sp>
      <p:sp>
        <p:nvSpPr>
          <p:cNvPr id="9" name="文本框 8"/>
          <p:cNvSpPr txBox="1"/>
          <p:nvPr/>
        </p:nvSpPr>
        <p:spPr>
          <a:xfrm>
            <a:off x="695325" y="1181501"/>
            <a:ext cx="6093822" cy="369332"/>
          </a:xfrm>
          <a:prstGeom prst="rect">
            <a:avLst/>
          </a:prstGeom>
          <a:noFill/>
        </p:spPr>
        <p:txBody>
          <a:bodyPr wrap="square">
            <a:spAutoFit/>
          </a:bodyPr>
          <a:lstStyle/>
          <a:p>
            <a:r>
              <a:rPr lang="zh-CN" altLang="en-US" sz="1800" b="1" dirty="0">
                <a:effectLst/>
                <a:latin typeface="+mn-lt"/>
                <a:ea typeface="+mn-ea"/>
                <a:cs typeface="+mn-ea"/>
                <a:sym typeface="+mn-lt"/>
              </a:rPr>
              <a:t>目的：</a:t>
            </a:r>
            <a:r>
              <a:rPr lang="zh-CN" altLang="zh-CN" sz="1800" b="1" dirty="0">
                <a:effectLst/>
                <a:latin typeface="+mn-lt"/>
                <a:ea typeface="+mn-ea"/>
                <a:cs typeface="+mn-ea"/>
                <a:sym typeface="+mn-lt"/>
              </a:rPr>
              <a:t>沉淀内部智慧和经验，供全行共享</a:t>
            </a:r>
            <a:endParaRPr lang="zh-CN" altLang="en-US" b="1" dirty="0">
              <a:latin typeface="+mn-lt"/>
              <a:ea typeface="+mn-ea"/>
              <a:cs typeface="+mn-ea"/>
              <a:sym typeface="+mn-lt"/>
            </a:endParaRPr>
          </a:p>
        </p:txBody>
      </p:sp>
      <p:sp>
        <p:nvSpPr>
          <p:cNvPr id="11" name="文本框 10"/>
          <p:cNvSpPr txBox="1"/>
          <p:nvPr/>
        </p:nvSpPr>
        <p:spPr>
          <a:xfrm>
            <a:off x="7243358" y="3483602"/>
            <a:ext cx="2405428" cy="1156342"/>
          </a:xfrm>
          <a:prstGeom prst="rect">
            <a:avLst/>
          </a:prstGeom>
          <a:noFill/>
        </p:spPr>
        <p:txBody>
          <a:bodyPr wrap="square">
            <a:spAutoFit/>
          </a:bodyPr>
          <a:lstStyle/>
          <a:p>
            <a:pPr marL="342900" indent="-342900">
              <a:lnSpc>
                <a:spcPct val="150000"/>
              </a:lnSpc>
              <a:buFont typeface="Arial" panose="020B0604020202090204" pitchFamily="34" charset="0"/>
              <a:buChar char="•"/>
            </a:pPr>
            <a:r>
              <a:rPr lang="zh-CN" altLang="en-US" sz="1600" b="1" dirty="0">
                <a:latin typeface="+mn-lt"/>
                <a:ea typeface="+mn-ea"/>
                <a:cs typeface="+mn-ea"/>
                <a:sym typeface="+mn-lt"/>
              </a:rPr>
              <a:t>开发微案例</a:t>
            </a:r>
            <a:endParaRPr lang="en-US" altLang="zh-CN" sz="1600" b="1" dirty="0">
              <a:effectLst/>
              <a:latin typeface="+mn-lt"/>
              <a:ea typeface="+mn-ea"/>
              <a:cs typeface="+mn-ea"/>
              <a:sym typeface="+mn-lt"/>
            </a:endParaRPr>
          </a:p>
          <a:p>
            <a:pPr marL="342900" indent="-342900">
              <a:lnSpc>
                <a:spcPct val="150000"/>
              </a:lnSpc>
              <a:buFont typeface="Arial" panose="020B0604020202090204" pitchFamily="34" charset="0"/>
              <a:buChar char="•"/>
            </a:pPr>
            <a:r>
              <a:rPr lang="zh-CN" altLang="zh-CN" sz="1600" b="1" dirty="0">
                <a:effectLst/>
                <a:latin typeface="+mn-lt"/>
                <a:ea typeface="+mn-ea"/>
                <a:cs typeface="+mn-ea"/>
                <a:sym typeface="+mn-lt"/>
              </a:rPr>
              <a:t>举办案例大赛</a:t>
            </a:r>
            <a:endParaRPr lang="en-US" altLang="zh-CN" sz="1600" b="1" dirty="0">
              <a:effectLst/>
              <a:latin typeface="+mn-lt"/>
              <a:ea typeface="+mn-ea"/>
              <a:cs typeface="+mn-ea"/>
              <a:sym typeface="+mn-lt"/>
            </a:endParaRPr>
          </a:p>
          <a:p>
            <a:pPr marL="342900" indent="-342900">
              <a:lnSpc>
                <a:spcPct val="150000"/>
              </a:lnSpc>
              <a:buFont typeface="Arial" panose="020B0604020202090204" pitchFamily="34" charset="0"/>
              <a:buChar char="•"/>
            </a:pPr>
            <a:r>
              <a:rPr lang="zh-CN" altLang="en-US" sz="1600" b="1" dirty="0">
                <a:latin typeface="+mn-lt"/>
                <a:ea typeface="+mn-ea"/>
                <a:cs typeface="+mn-ea"/>
                <a:sym typeface="+mn-lt"/>
              </a:rPr>
              <a:t>开展</a:t>
            </a:r>
            <a:r>
              <a:rPr lang="zh-CN" altLang="zh-CN" sz="1600" b="1" dirty="0">
                <a:effectLst/>
                <a:latin typeface="+mn-lt"/>
                <a:ea typeface="+mn-ea"/>
                <a:cs typeface="+mn-ea"/>
                <a:sym typeface="+mn-lt"/>
              </a:rPr>
              <a:t>案例博览会</a:t>
            </a:r>
            <a:endParaRPr lang="zh-CN" altLang="en-US" sz="1600" dirty="0">
              <a:latin typeface="+mn-lt"/>
              <a:ea typeface="+mn-ea"/>
              <a:cs typeface="+mn-ea"/>
              <a:sym typeface="+mn-lt"/>
            </a:endParaRPr>
          </a:p>
        </p:txBody>
      </p:sp>
      <p:sp>
        <p:nvSpPr>
          <p:cNvPr id="10" name="文本框 9"/>
          <p:cNvSpPr txBox="1"/>
          <p:nvPr/>
        </p:nvSpPr>
        <p:spPr>
          <a:xfrm>
            <a:off x="230934" y="3483601"/>
            <a:ext cx="2405428" cy="1156342"/>
          </a:xfrm>
          <a:prstGeom prst="rect">
            <a:avLst/>
          </a:prstGeom>
          <a:noFill/>
        </p:spPr>
        <p:txBody>
          <a:bodyPr wrap="square">
            <a:spAutoFit/>
          </a:bodyPr>
          <a:lstStyle/>
          <a:p>
            <a:pPr marL="342900" indent="-342900">
              <a:lnSpc>
                <a:spcPct val="150000"/>
              </a:lnSpc>
              <a:buFont typeface="Arial" panose="020B0604020202090204" pitchFamily="34" charset="0"/>
              <a:buChar char="•"/>
            </a:pPr>
            <a:r>
              <a:rPr lang="zh-CN" altLang="en-US" sz="1600" b="1" dirty="0">
                <a:effectLst/>
                <a:latin typeface="+mn-lt"/>
                <a:ea typeface="+mn-ea"/>
                <a:cs typeface="+mn-ea"/>
                <a:sym typeface="+mn-lt"/>
              </a:rPr>
              <a:t>建立学员档案</a:t>
            </a:r>
            <a:endParaRPr lang="en-US" altLang="zh-CN" sz="1600" b="1" dirty="0">
              <a:effectLst/>
              <a:latin typeface="+mn-lt"/>
              <a:ea typeface="+mn-ea"/>
              <a:cs typeface="+mn-ea"/>
              <a:sym typeface="+mn-lt"/>
            </a:endParaRPr>
          </a:p>
          <a:p>
            <a:pPr marL="342900" indent="-342900">
              <a:lnSpc>
                <a:spcPct val="150000"/>
              </a:lnSpc>
              <a:buFont typeface="Arial" panose="020B0604020202090204" pitchFamily="34" charset="0"/>
              <a:buChar char="•"/>
            </a:pPr>
            <a:r>
              <a:rPr lang="zh-CN" altLang="en-US" sz="1600" b="1" dirty="0">
                <a:latin typeface="+mn-lt"/>
                <a:ea typeface="+mn-ea"/>
                <a:cs typeface="+mn-ea"/>
                <a:sym typeface="+mn-lt"/>
              </a:rPr>
              <a:t>完善学习者画像</a:t>
            </a:r>
            <a:endParaRPr lang="en-US" altLang="zh-CN" sz="1600" b="1" dirty="0">
              <a:latin typeface="+mn-lt"/>
              <a:ea typeface="+mn-ea"/>
              <a:cs typeface="+mn-ea"/>
              <a:sym typeface="+mn-lt"/>
            </a:endParaRPr>
          </a:p>
          <a:p>
            <a:pPr marL="342900" indent="-342900">
              <a:lnSpc>
                <a:spcPct val="150000"/>
              </a:lnSpc>
              <a:buFont typeface="Arial" panose="020B0604020202090204" pitchFamily="34" charset="0"/>
              <a:buChar char="•"/>
            </a:pPr>
            <a:r>
              <a:rPr lang="zh-CN" altLang="en-US" sz="1600" b="1" dirty="0">
                <a:latin typeface="+mn-lt"/>
                <a:ea typeface="+mn-ea"/>
                <a:cs typeface="+mn-ea"/>
                <a:sym typeface="+mn-lt"/>
              </a:rPr>
              <a:t>优化个人学习报告</a:t>
            </a:r>
            <a:endParaRPr lang="zh-CN" altLang="en-US" sz="1600" dirty="0">
              <a:latin typeface="+mn-lt"/>
              <a:ea typeface="+mn-ea"/>
              <a:cs typeface="+mn-ea"/>
              <a:sym typeface="+mn-lt"/>
            </a:endParaRPr>
          </a:p>
        </p:txBody>
      </p:sp>
      <p:sp>
        <p:nvSpPr>
          <p:cNvPr id="13" name="文本框 12"/>
          <p:cNvSpPr txBox="1"/>
          <p:nvPr/>
        </p:nvSpPr>
        <p:spPr>
          <a:xfrm>
            <a:off x="2636362" y="3483601"/>
            <a:ext cx="1961765" cy="1524007"/>
          </a:xfrm>
          <a:prstGeom prst="rect">
            <a:avLst/>
          </a:prstGeom>
          <a:noFill/>
        </p:spPr>
        <p:txBody>
          <a:bodyPr wrap="square">
            <a:spAutoFit/>
          </a:bodyPr>
          <a:lstStyle/>
          <a:p>
            <a:pPr marL="342900" indent="-342900">
              <a:lnSpc>
                <a:spcPct val="150000"/>
              </a:lnSpc>
              <a:buFont typeface="Arial" panose="020B0604020202090204" pitchFamily="34" charset="0"/>
              <a:buChar char="•"/>
            </a:pPr>
            <a:r>
              <a:rPr lang="zh-CN" altLang="en-US" sz="1600" b="1" dirty="0">
                <a:effectLst/>
                <a:latin typeface="+mn-lt"/>
                <a:ea typeface="+mn-ea"/>
                <a:cs typeface="+mn-ea"/>
                <a:sym typeface="+mn-lt"/>
              </a:rPr>
              <a:t>完善师资档案</a:t>
            </a:r>
            <a:endParaRPr lang="en-US" altLang="zh-CN" sz="1600" b="1" dirty="0">
              <a:effectLst/>
              <a:latin typeface="+mn-lt"/>
              <a:ea typeface="+mn-ea"/>
              <a:cs typeface="+mn-ea"/>
              <a:sym typeface="+mn-lt"/>
            </a:endParaRPr>
          </a:p>
          <a:p>
            <a:pPr marL="342900" indent="-342900">
              <a:lnSpc>
                <a:spcPct val="150000"/>
              </a:lnSpc>
              <a:buFont typeface="Arial" panose="020B0604020202090204" pitchFamily="34" charset="0"/>
              <a:buChar char="•"/>
            </a:pPr>
            <a:r>
              <a:rPr lang="zh-CN" altLang="en-US" sz="1600" b="1" dirty="0">
                <a:latin typeface="+mn-lt"/>
                <a:ea typeface="+mn-ea"/>
                <a:cs typeface="+mn-ea"/>
                <a:sym typeface="+mn-lt"/>
              </a:rPr>
              <a:t>建立内外师资管理数据库</a:t>
            </a:r>
            <a:endParaRPr lang="en-US" altLang="zh-CN" sz="1600" b="1" dirty="0">
              <a:latin typeface="+mn-lt"/>
              <a:ea typeface="+mn-ea"/>
              <a:cs typeface="+mn-ea"/>
              <a:sym typeface="+mn-lt"/>
            </a:endParaRPr>
          </a:p>
          <a:p>
            <a:pPr marL="342900" indent="-342900">
              <a:lnSpc>
                <a:spcPct val="150000"/>
              </a:lnSpc>
              <a:buFont typeface="Arial" panose="020B0604020202090204" pitchFamily="34" charset="0"/>
              <a:buChar char="•"/>
            </a:pPr>
            <a:endParaRPr lang="zh-CN" altLang="en-US" sz="1600" dirty="0">
              <a:latin typeface="+mn-lt"/>
              <a:ea typeface="+mn-ea"/>
              <a:cs typeface="+mn-ea"/>
              <a:sym typeface="+mn-lt"/>
            </a:endParaRPr>
          </a:p>
        </p:txBody>
      </p:sp>
      <p:sp>
        <p:nvSpPr>
          <p:cNvPr id="14" name="文本框 13"/>
          <p:cNvSpPr txBox="1"/>
          <p:nvPr/>
        </p:nvSpPr>
        <p:spPr>
          <a:xfrm>
            <a:off x="4824942" y="3483537"/>
            <a:ext cx="2178613" cy="1525674"/>
          </a:xfrm>
          <a:prstGeom prst="rect">
            <a:avLst/>
          </a:prstGeom>
          <a:noFill/>
        </p:spPr>
        <p:txBody>
          <a:bodyPr wrap="square">
            <a:spAutoFit/>
          </a:bodyPr>
          <a:lstStyle/>
          <a:p>
            <a:pPr marL="342900" indent="-342900">
              <a:lnSpc>
                <a:spcPct val="150000"/>
              </a:lnSpc>
              <a:buFont typeface="Arial" panose="020B0604020202090204" pitchFamily="34" charset="0"/>
              <a:buChar char="•"/>
            </a:pPr>
            <a:r>
              <a:rPr lang="zh-CN" altLang="en-US" sz="1600" b="1" dirty="0">
                <a:latin typeface="+mn-lt"/>
                <a:ea typeface="+mn-ea"/>
                <a:cs typeface="+mn-ea"/>
                <a:sym typeface="+mn-lt"/>
              </a:rPr>
              <a:t>持续丰富在线课件</a:t>
            </a:r>
            <a:endParaRPr lang="en-US" altLang="zh-CN" sz="1600" b="1" dirty="0">
              <a:latin typeface="+mn-lt"/>
              <a:ea typeface="+mn-ea"/>
              <a:cs typeface="+mn-ea"/>
              <a:sym typeface="+mn-lt"/>
            </a:endParaRPr>
          </a:p>
          <a:p>
            <a:pPr marL="342900" indent="-342900">
              <a:lnSpc>
                <a:spcPct val="150000"/>
              </a:lnSpc>
              <a:buFont typeface="Arial" panose="020B0604020202090204" pitchFamily="34" charset="0"/>
              <a:buChar char="•"/>
            </a:pPr>
            <a:r>
              <a:rPr lang="zh-CN" altLang="en-US" sz="1600" b="1" dirty="0">
                <a:latin typeface="+mn-lt"/>
                <a:ea typeface="+mn-ea"/>
                <a:cs typeface="+mn-ea"/>
                <a:sym typeface="+mn-lt"/>
              </a:rPr>
              <a:t>大力开发微课</a:t>
            </a:r>
            <a:endParaRPr lang="en-US" altLang="zh-CN" sz="1600" b="1" dirty="0">
              <a:latin typeface="+mn-lt"/>
              <a:ea typeface="+mn-ea"/>
              <a:cs typeface="+mn-ea"/>
              <a:sym typeface="+mn-lt"/>
            </a:endParaRPr>
          </a:p>
          <a:p>
            <a:pPr marL="342900" indent="-342900">
              <a:lnSpc>
                <a:spcPct val="150000"/>
              </a:lnSpc>
              <a:buFont typeface="Arial" panose="020B0604020202090204" pitchFamily="34" charset="0"/>
              <a:buChar char="•"/>
            </a:pPr>
            <a:r>
              <a:rPr lang="zh-CN" altLang="en-US" sz="1600" b="1" dirty="0">
                <a:latin typeface="+mn-lt"/>
                <a:ea typeface="+mn-ea"/>
                <a:cs typeface="+mn-ea"/>
                <a:sym typeface="+mn-lt"/>
              </a:rPr>
              <a:t>优化短视频</a:t>
            </a:r>
            <a:r>
              <a:rPr lang="en-US" altLang="zh-CN" sz="1600" b="1" dirty="0">
                <a:latin typeface="+mn-lt"/>
                <a:ea typeface="+mn-ea"/>
                <a:cs typeface="+mn-ea"/>
                <a:sym typeface="+mn-lt"/>
              </a:rPr>
              <a:t>/</a:t>
            </a:r>
            <a:r>
              <a:rPr lang="zh-CN" altLang="en-US" sz="1600" b="1" dirty="0">
                <a:latin typeface="+mn-lt"/>
                <a:ea typeface="+mn-ea"/>
                <a:cs typeface="+mn-ea"/>
                <a:sym typeface="+mn-lt"/>
              </a:rPr>
              <a:t>图文格式，充实内容</a:t>
            </a:r>
            <a:endParaRPr lang="en-US" altLang="zh-CN" sz="1600" b="1" dirty="0">
              <a:latin typeface="+mn-lt"/>
              <a:ea typeface="+mn-ea"/>
              <a:cs typeface="+mn-ea"/>
              <a:sym typeface="+mn-lt"/>
            </a:endParaRPr>
          </a:p>
        </p:txBody>
      </p:sp>
      <p:sp>
        <p:nvSpPr>
          <p:cNvPr id="15" name="文本框 14"/>
          <p:cNvSpPr txBox="1"/>
          <p:nvPr/>
        </p:nvSpPr>
        <p:spPr>
          <a:xfrm>
            <a:off x="9535702" y="3483601"/>
            <a:ext cx="2425364" cy="1156342"/>
          </a:xfrm>
          <a:prstGeom prst="rect">
            <a:avLst/>
          </a:prstGeom>
          <a:noFill/>
        </p:spPr>
        <p:txBody>
          <a:bodyPr wrap="square">
            <a:spAutoFit/>
          </a:bodyPr>
          <a:lstStyle/>
          <a:p>
            <a:pPr marL="342900" indent="-342900">
              <a:lnSpc>
                <a:spcPct val="150000"/>
              </a:lnSpc>
              <a:buFont typeface="Arial" panose="020B0604020202090204" pitchFamily="34" charset="0"/>
              <a:buChar char="•"/>
            </a:pPr>
            <a:r>
              <a:rPr lang="zh-CN" altLang="en-US" sz="1600" b="1" dirty="0">
                <a:effectLst/>
                <a:latin typeface="+mn-lt"/>
                <a:ea typeface="+mn-ea"/>
                <a:cs typeface="+mn-ea"/>
                <a:sym typeface="+mn-lt"/>
              </a:rPr>
              <a:t>优化完善工具箱的功能体验</a:t>
            </a:r>
            <a:endParaRPr lang="en-US" altLang="zh-CN" sz="1600" b="1" dirty="0">
              <a:effectLst/>
              <a:latin typeface="+mn-lt"/>
              <a:ea typeface="+mn-ea"/>
              <a:cs typeface="+mn-ea"/>
              <a:sym typeface="+mn-lt"/>
            </a:endParaRPr>
          </a:p>
          <a:p>
            <a:pPr marL="342900" indent="-342900">
              <a:lnSpc>
                <a:spcPct val="150000"/>
              </a:lnSpc>
              <a:buFont typeface="Arial" panose="020B0604020202090204" pitchFamily="34" charset="0"/>
              <a:buChar char="•"/>
            </a:pPr>
            <a:r>
              <a:rPr lang="zh-CN" altLang="en-US" sz="1600" b="1" dirty="0">
                <a:latin typeface="+mn-lt"/>
                <a:ea typeface="+mn-ea"/>
                <a:cs typeface="+mn-ea"/>
                <a:sym typeface="+mn-lt"/>
              </a:rPr>
              <a:t>丰富工具类型和形式</a:t>
            </a:r>
            <a:endParaRPr lang="zh-CN" altLang="en-US" sz="1600" dirty="0">
              <a:latin typeface="+mn-lt"/>
              <a:ea typeface="+mn-ea"/>
              <a:cs typeface="+mn-ea"/>
              <a:sym typeface="+mn-lt"/>
            </a:endParaRPr>
          </a:p>
        </p:txBody>
      </p:sp>
      <p:sp>
        <p:nvSpPr>
          <p:cNvPr id="16" name="灯片编号占位符 1"/>
          <p:cNvSpPr txBox="1"/>
          <p:nvPr/>
        </p:nvSpPr>
        <p:spPr>
          <a:xfrm>
            <a:off x="9428318" y="6547125"/>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33854" y="229578"/>
            <a:ext cx="9689375"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2</a:t>
            </a:r>
            <a:r>
              <a:rPr kumimoji="1" lang="zh-CN" altLang="en-US" sz="2000" dirty="0">
                <a:latin typeface="+mn-lt"/>
                <a:ea typeface="+mn-ea"/>
                <a:cs typeface="+mn-ea"/>
                <a:sym typeface="+mn-lt"/>
              </a:rPr>
              <a:t>、教学服务：持续升级匹配大学需求的硬件设施和服务水平</a:t>
            </a:r>
            <a:endParaRPr kumimoji="1" lang="en-US" altLang="zh-CN" sz="2000" dirty="0">
              <a:latin typeface="+mn-lt"/>
              <a:ea typeface="+mn-ea"/>
              <a:cs typeface="+mn-ea"/>
              <a:sym typeface="+mn-lt"/>
            </a:endParaRPr>
          </a:p>
        </p:txBody>
      </p:sp>
      <p:grpSp>
        <p:nvGrpSpPr>
          <p:cNvPr id="2" name="组合 1"/>
          <p:cNvGrpSpPr/>
          <p:nvPr/>
        </p:nvGrpSpPr>
        <p:grpSpPr>
          <a:xfrm>
            <a:off x="787512" y="2119701"/>
            <a:ext cx="10799241" cy="4198874"/>
            <a:chOff x="535666" y="2152739"/>
            <a:chExt cx="8824234" cy="4198874"/>
          </a:xfrm>
        </p:grpSpPr>
        <p:pic>
          <p:nvPicPr>
            <p:cNvPr id="6" name="图片 5"/>
            <p:cNvPicPr>
              <a:picLocks noChangeAspect="1"/>
            </p:cNvPicPr>
            <p:nvPr/>
          </p:nvPicPr>
          <p:blipFill>
            <a:blip r:embed="rId1" cstate="print"/>
            <a:stretch>
              <a:fillRect/>
            </a:stretch>
          </p:blipFill>
          <p:spPr>
            <a:xfrm>
              <a:off x="535666" y="2256787"/>
              <a:ext cx="1498205" cy="1226675"/>
            </a:xfrm>
            <a:prstGeom prst="rect">
              <a:avLst/>
            </a:prstGeom>
          </p:spPr>
        </p:pic>
        <p:pic>
          <p:nvPicPr>
            <p:cNvPr id="7" name="图片 6"/>
            <p:cNvPicPr>
              <a:picLocks noChangeAspect="1"/>
            </p:cNvPicPr>
            <p:nvPr/>
          </p:nvPicPr>
          <p:blipFill>
            <a:blip r:embed="rId2" cstate="print"/>
            <a:stretch>
              <a:fillRect/>
            </a:stretch>
          </p:blipFill>
          <p:spPr>
            <a:xfrm>
              <a:off x="7822615" y="2256787"/>
              <a:ext cx="1537285" cy="1279418"/>
            </a:xfrm>
            <a:prstGeom prst="rect">
              <a:avLst/>
            </a:prstGeom>
          </p:spPr>
        </p:pic>
        <p:sp>
          <p:nvSpPr>
            <p:cNvPr id="8" name="任意形状 17"/>
            <p:cNvSpPr/>
            <p:nvPr/>
          </p:nvSpPr>
          <p:spPr>
            <a:xfrm>
              <a:off x="2162218" y="2152739"/>
              <a:ext cx="5508538" cy="1325402"/>
            </a:xfrm>
            <a:custGeom>
              <a:avLst/>
              <a:gdLst>
                <a:gd name="connsiteX0" fmla="*/ 0 w 6602484"/>
                <a:gd name="connsiteY0" fmla="*/ 138873 h 1388731"/>
                <a:gd name="connsiteX1" fmla="*/ 138873 w 6602484"/>
                <a:gd name="connsiteY1" fmla="*/ 0 h 1388731"/>
                <a:gd name="connsiteX2" fmla="*/ 6463611 w 6602484"/>
                <a:gd name="connsiteY2" fmla="*/ 0 h 1388731"/>
                <a:gd name="connsiteX3" fmla="*/ 6602484 w 6602484"/>
                <a:gd name="connsiteY3" fmla="*/ 138873 h 1388731"/>
                <a:gd name="connsiteX4" fmla="*/ 6602484 w 6602484"/>
                <a:gd name="connsiteY4" fmla="*/ 1249858 h 1388731"/>
                <a:gd name="connsiteX5" fmla="*/ 6463611 w 6602484"/>
                <a:gd name="connsiteY5" fmla="*/ 1388731 h 1388731"/>
                <a:gd name="connsiteX6" fmla="*/ 138873 w 6602484"/>
                <a:gd name="connsiteY6" fmla="*/ 1388731 h 1388731"/>
                <a:gd name="connsiteX7" fmla="*/ 0 w 6602484"/>
                <a:gd name="connsiteY7" fmla="*/ 1249858 h 1388731"/>
                <a:gd name="connsiteX8" fmla="*/ 0 w 6602484"/>
                <a:gd name="connsiteY8" fmla="*/ 138873 h 138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02484" h="1388731">
                  <a:moveTo>
                    <a:pt x="0" y="138873"/>
                  </a:moveTo>
                  <a:cubicBezTo>
                    <a:pt x="0" y="62176"/>
                    <a:pt x="62176" y="0"/>
                    <a:pt x="138873" y="0"/>
                  </a:cubicBezTo>
                  <a:lnTo>
                    <a:pt x="6463611" y="0"/>
                  </a:lnTo>
                  <a:cubicBezTo>
                    <a:pt x="6540308" y="0"/>
                    <a:pt x="6602484" y="62176"/>
                    <a:pt x="6602484" y="138873"/>
                  </a:cubicBezTo>
                  <a:lnTo>
                    <a:pt x="6602484" y="1249858"/>
                  </a:lnTo>
                  <a:cubicBezTo>
                    <a:pt x="6602484" y="1326555"/>
                    <a:pt x="6540308" y="1388731"/>
                    <a:pt x="6463611" y="1388731"/>
                  </a:cubicBezTo>
                  <a:lnTo>
                    <a:pt x="138873" y="1388731"/>
                  </a:lnTo>
                  <a:cubicBezTo>
                    <a:pt x="62176" y="1388731"/>
                    <a:pt x="0" y="1326555"/>
                    <a:pt x="0" y="1249858"/>
                  </a:cubicBezTo>
                  <a:lnTo>
                    <a:pt x="0" y="138873"/>
                  </a:lnTo>
                  <a:close/>
                </a:path>
              </a:pathLst>
            </a:custGeom>
            <a:solidFill>
              <a:srgbClr val="C00000"/>
            </a:solidFill>
            <a:ln>
              <a:solidFill>
                <a:srgbClr val="C00000"/>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9745" tIns="219745" rIns="219745" bIns="219745" numCol="1" spcCol="1270" anchor="ctr" anchorCtr="0">
              <a:noAutofit/>
            </a:bodyPr>
            <a:lstStyle/>
            <a:p>
              <a:pPr marL="0" lvl="0" indent="0" algn="ctr" defTabSz="2089150" rtl="0">
                <a:lnSpc>
                  <a:spcPct val="90000"/>
                </a:lnSpc>
                <a:spcBef>
                  <a:spcPct val="0"/>
                </a:spcBef>
                <a:spcAft>
                  <a:spcPct val="35000"/>
                </a:spcAft>
                <a:buNone/>
              </a:pPr>
              <a:endParaRPr lang="zh-CN" altLang="en-US" sz="4400" kern="1200">
                <a:cs typeface="+mn-ea"/>
                <a:sym typeface="+mn-lt"/>
              </a:endParaRPr>
            </a:p>
          </p:txBody>
        </p:sp>
        <p:sp>
          <p:nvSpPr>
            <p:cNvPr id="9" name="任意形状 18"/>
            <p:cNvSpPr/>
            <p:nvPr/>
          </p:nvSpPr>
          <p:spPr>
            <a:xfrm>
              <a:off x="2162218" y="3589475"/>
              <a:ext cx="2779160" cy="1325402"/>
            </a:xfrm>
            <a:custGeom>
              <a:avLst/>
              <a:gdLst>
                <a:gd name="connsiteX0" fmla="*/ 0 w 4312947"/>
                <a:gd name="connsiteY0" fmla="*/ 138873 h 1388731"/>
                <a:gd name="connsiteX1" fmla="*/ 138873 w 4312947"/>
                <a:gd name="connsiteY1" fmla="*/ 0 h 1388731"/>
                <a:gd name="connsiteX2" fmla="*/ 4174074 w 4312947"/>
                <a:gd name="connsiteY2" fmla="*/ 0 h 1388731"/>
                <a:gd name="connsiteX3" fmla="*/ 4312947 w 4312947"/>
                <a:gd name="connsiteY3" fmla="*/ 138873 h 1388731"/>
                <a:gd name="connsiteX4" fmla="*/ 4312947 w 4312947"/>
                <a:gd name="connsiteY4" fmla="*/ 1249858 h 1388731"/>
                <a:gd name="connsiteX5" fmla="*/ 4174074 w 4312947"/>
                <a:gd name="connsiteY5" fmla="*/ 1388731 h 1388731"/>
                <a:gd name="connsiteX6" fmla="*/ 138873 w 4312947"/>
                <a:gd name="connsiteY6" fmla="*/ 1388731 h 1388731"/>
                <a:gd name="connsiteX7" fmla="*/ 0 w 4312947"/>
                <a:gd name="connsiteY7" fmla="*/ 1249858 h 1388731"/>
                <a:gd name="connsiteX8" fmla="*/ 0 w 4312947"/>
                <a:gd name="connsiteY8" fmla="*/ 138873 h 138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12947" h="1388731">
                  <a:moveTo>
                    <a:pt x="0" y="138873"/>
                  </a:moveTo>
                  <a:cubicBezTo>
                    <a:pt x="0" y="62176"/>
                    <a:pt x="62176" y="0"/>
                    <a:pt x="138873" y="0"/>
                  </a:cubicBezTo>
                  <a:lnTo>
                    <a:pt x="4174074" y="0"/>
                  </a:lnTo>
                  <a:cubicBezTo>
                    <a:pt x="4250771" y="0"/>
                    <a:pt x="4312947" y="62176"/>
                    <a:pt x="4312947" y="138873"/>
                  </a:cubicBezTo>
                  <a:lnTo>
                    <a:pt x="4312947" y="1249858"/>
                  </a:lnTo>
                  <a:cubicBezTo>
                    <a:pt x="4312947" y="1326555"/>
                    <a:pt x="4250771" y="1388731"/>
                    <a:pt x="4174074" y="1388731"/>
                  </a:cubicBezTo>
                  <a:lnTo>
                    <a:pt x="138873" y="1388731"/>
                  </a:lnTo>
                  <a:cubicBezTo>
                    <a:pt x="62176" y="1388731"/>
                    <a:pt x="0" y="1326555"/>
                    <a:pt x="0" y="1249858"/>
                  </a:cubicBezTo>
                  <a:lnTo>
                    <a:pt x="0" y="138873"/>
                  </a:lnTo>
                  <a:close/>
                </a:path>
              </a:pathLst>
            </a:custGeom>
            <a:ln>
              <a:solidFill>
                <a:srgbClr val="C00000"/>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9745" tIns="219745" rIns="219745" bIns="219745" numCol="1" spcCol="1270" anchor="ctr" anchorCtr="0">
              <a:noAutofit/>
            </a:bodyPr>
            <a:lstStyle/>
            <a:p>
              <a:pPr marL="0" lvl="0" indent="0" algn="ctr" defTabSz="2089150">
                <a:lnSpc>
                  <a:spcPct val="90000"/>
                </a:lnSpc>
                <a:spcBef>
                  <a:spcPct val="0"/>
                </a:spcBef>
                <a:spcAft>
                  <a:spcPct val="35000"/>
                </a:spcAft>
                <a:buNone/>
              </a:pPr>
              <a:endParaRPr lang="zh-CN" altLang="en-US" sz="4400" kern="1200">
                <a:cs typeface="+mn-ea"/>
                <a:sym typeface="+mn-lt"/>
              </a:endParaRPr>
            </a:p>
          </p:txBody>
        </p:sp>
        <p:sp>
          <p:nvSpPr>
            <p:cNvPr id="10" name="任意形状 19"/>
            <p:cNvSpPr/>
            <p:nvPr/>
          </p:nvSpPr>
          <p:spPr>
            <a:xfrm>
              <a:off x="2162218" y="5026211"/>
              <a:ext cx="1762168" cy="1325402"/>
            </a:xfrm>
            <a:custGeom>
              <a:avLst/>
              <a:gdLst>
                <a:gd name="connsiteX0" fmla="*/ 0 w 2112119"/>
                <a:gd name="connsiteY0" fmla="*/ 138873 h 1388731"/>
                <a:gd name="connsiteX1" fmla="*/ 138873 w 2112119"/>
                <a:gd name="connsiteY1" fmla="*/ 0 h 1388731"/>
                <a:gd name="connsiteX2" fmla="*/ 1973246 w 2112119"/>
                <a:gd name="connsiteY2" fmla="*/ 0 h 1388731"/>
                <a:gd name="connsiteX3" fmla="*/ 2112119 w 2112119"/>
                <a:gd name="connsiteY3" fmla="*/ 138873 h 1388731"/>
                <a:gd name="connsiteX4" fmla="*/ 2112119 w 2112119"/>
                <a:gd name="connsiteY4" fmla="*/ 1249858 h 1388731"/>
                <a:gd name="connsiteX5" fmla="*/ 1973246 w 2112119"/>
                <a:gd name="connsiteY5" fmla="*/ 1388731 h 1388731"/>
                <a:gd name="connsiteX6" fmla="*/ 138873 w 2112119"/>
                <a:gd name="connsiteY6" fmla="*/ 1388731 h 1388731"/>
                <a:gd name="connsiteX7" fmla="*/ 0 w 2112119"/>
                <a:gd name="connsiteY7" fmla="*/ 1249858 h 1388731"/>
                <a:gd name="connsiteX8" fmla="*/ 0 w 2112119"/>
                <a:gd name="connsiteY8" fmla="*/ 138873 h 138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119" h="1388731">
                  <a:moveTo>
                    <a:pt x="0" y="138873"/>
                  </a:moveTo>
                  <a:cubicBezTo>
                    <a:pt x="0" y="62176"/>
                    <a:pt x="62176" y="0"/>
                    <a:pt x="138873" y="0"/>
                  </a:cubicBezTo>
                  <a:lnTo>
                    <a:pt x="1973246" y="0"/>
                  </a:lnTo>
                  <a:cubicBezTo>
                    <a:pt x="2049943" y="0"/>
                    <a:pt x="2112119" y="62176"/>
                    <a:pt x="2112119" y="138873"/>
                  </a:cubicBezTo>
                  <a:lnTo>
                    <a:pt x="2112119" y="1249858"/>
                  </a:lnTo>
                  <a:cubicBezTo>
                    <a:pt x="2112119" y="1326555"/>
                    <a:pt x="2049943" y="1388731"/>
                    <a:pt x="1973246" y="1388731"/>
                  </a:cubicBezTo>
                  <a:lnTo>
                    <a:pt x="138873" y="1388731"/>
                  </a:lnTo>
                  <a:cubicBezTo>
                    <a:pt x="62176" y="1388731"/>
                    <a:pt x="0" y="1326555"/>
                    <a:pt x="0" y="1249858"/>
                  </a:cubicBezTo>
                  <a:lnTo>
                    <a:pt x="0" y="138873"/>
                  </a:lnTo>
                  <a:close/>
                </a:path>
              </a:pathLst>
            </a:custGeom>
            <a:ln>
              <a:solidFill>
                <a:srgbClr val="C00000"/>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9745" tIns="219745" rIns="219745" bIns="219745" numCol="1" spcCol="1270" anchor="ctr" anchorCtr="0">
              <a:noAutofit/>
            </a:bodyPr>
            <a:lstStyle/>
            <a:p>
              <a:pPr marL="0" lvl="0" indent="0" algn="ctr" defTabSz="2089150">
                <a:lnSpc>
                  <a:spcPct val="90000"/>
                </a:lnSpc>
                <a:spcBef>
                  <a:spcPct val="0"/>
                </a:spcBef>
                <a:spcAft>
                  <a:spcPct val="35000"/>
                </a:spcAft>
                <a:buNone/>
              </a:pPr>
              <a:endParaRPr lang="zh-CN" altLang="en-US" sz="4400" kern="1200">
                <a:cs typeface="+mn-ea"/>
                <a:sym typeface="+mn-lt"/>
              </a:endParaRPr>
            </a:p>
          </p:txBody>
        </p:sp>
        <p:sp>
          <p:nvSpPr>
            <p:cNvPr id="11" name="任意形状 20"/>
            <p:cNvSpPr/>
            <p:nvPr/>
          </p:nvSpPr>
          <p:spPr>
            <a:xfrm>
              <a:off x="3998398" y="5026211"/>
              <a:ext cx="1762168" cy="1325402"/>
            </a:xfrm>
            <a:custGeom>
              <a:avLst/>
              <a:gdLst>
                <a:gd name="connsiteX0" fmla="*/ 0 w 2112119"/>
                <a:gd name="connsiteY0" fmla="*/ 138873 h 1388731"/>
                <a:gd name="connsiteX1" fmla="*/ 138873 w 2112119"/>
                <a:gd name="connsiteY1" fmla="*/ 0 h 1388731"/>
                <a:gd name="connsiteX2" fmla="*/ 1973246 w 2112119"/>
                <a:gd name="connsiteY2" fmla="*/ 0 h 1388731"/>
                <a:gd name="connsiteX3" fmla="*/ 2112119 w 2112119"/>
                <a:gd name="connsiteY3" fmla="*/ 138873 h 1388731"/>
                <a:gd name="connsiteX4" fmla="*/ 2112119 w 2112119"/>
                <a:gd name="connsiteY4" fmla="*/ 1249858 h 1388731"/>
                <a:gd name="connsiteX5" fmla="*/ 1973246 w 2112119"/>
                <a:gd name="connsiteY5" fmla="*/ 1388731 h 1388731"/>
                <a:gd name="connsiteX6" fmla="*/ 138873 w 2112119"/>
                <a:gd name="connsiteY6" fmla="*/ 1388731 h 1388731"/>
                <a:gd name="connsiteX7" fmla="*/ 0 w 2112119"/>
                <a:gd name="connsiteY7" fmla="*/ 1249858 h 1388731"/>
                <a:gd name="connsiteX8" fmla="*/ 0 w 2112119"/>
                <a:gd name="connsiteY8" fmla="*/ 138873 h 138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119" h="1388731">
                  <a:moveTo>
                    <a:pt x="0" y="138873"/>
                  </a:moveTo>
                  <a:cubicBezTo>
                    <a:pt x="0" y="62176"/>
                    <a:pt x="62176" y="0"/>
                    <a:pt x="138873" y="0"/>
                  </a:cubicBezTo>
                  <a:lnTo>
                    <a:pt x="1973246" y="0"/>
                  </a:lnTo>
                  <a:cubicBezTo>
                    <a:pt x="2049943" y="0"/>
                    <a:pt x="2112119" y="62176"/>
                    <a:pt x="2112119" y="138873"/>
                  </a:cubicBezTo>
                  <a:lnTo>
                    <a:pt x="2112119" y="1249858"/>
                  </a:lnTo>
                  <a:cubicBezTo>
                    <a:pt x="2112119" y="1326555"/>
                    <a:pt x="2049943" y="1388731"/>
                    <a:pt x="1973246" y="1388731"/>
                  </a:cubicBezTo>
                  <a:lnTo>
                    <a:pt x="138873" y="1388731"/>
                  </a:lnTo>
                  <a:cubicBezTo>
                    <a:pt x="62176" y="1388731"/>
                    <a:pt x="0" y="1326555"/>
                    <a:pt x="0" y="1249858"/>
                  </a:cubicBezTo>
                  <a:lnTo>
                    <a:pt x="0" y="138873"/>
                  </a:lnTo>
                  <a:close/>
                </a:path>
              </a:pathLst>
            </a:custGeom>
            <a:ln>
              <a:solidFill>
                <a:srgbClr val="C00000"/>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9745" tIns="219745" rIns="219745" bIns="219745" numCol="1" spcCol="1270" anchor="ctr" anchorCtr="0">
              <a:noAutofit/>
            </a:bodyPr>
            <a:lstStyle/>
            <a:p>
              <a:pPr marL="0" lvl="0" indent="0" algn="ctr" defTabSz="2089150">
                <a:lnSpc>
                  <a:spcPct val="90000"/>
                </a:lnSpc>
                <a:spcBef>
                  <a:spcPct val="0"/>
                </a:spcBef>
                <a:spcAft>
                  <a:spcPct val="35000"/>
                </a:spcAft>
                <a:buNone/>
              </a:pPr>
              <a:endParaRPr lang="zh-CN" altLang="en-US" sz="4400" kern="1200">
                <a:cs typeface="+mn-ea"/>
                <a:sym typeface="+mn-lt"/>
              </a:endParaRPr>
            </a:p>
          </p:txBody>
        </p:sp>
        <p:sp>
          <p:nvSpPr>
            <p:cNvPr id="12" name="任意形状 21"/>
            <p:cNvSpPr/>
            <p:nvPr/>
          </p:nvSpPr>
          <p:spPr>
            <a:xfrm>
              <a:off x="4941378" y="3589475"/>
              <a:ext cx="2729379" cy="1325402"/>
            </a:xfrm>
            <a:custGeom>
              <a:avLst/>
              <a:gdLst>
                <a:gd name="connsiteX0" fmla="*/ 0 w 2112119"/>
                <a:gd name="connsiteY0" fmla="*/ 138873 h 1388731"/>
                <a:gd name="connsiteX1" fmla="*/ 138873 w 2112119"/>
                <a:gd name="connsiteY1" fmla="*/ 0 h 1388731"/>
                <a:gd name="connsiteX2" fmla="*/ 1973246 w 2112119"/>
                <a:gd name="connsiteY2" fmla="*/ 0 h 1388731"/>
                <a:gd name="connsiteX3" fmla="*/ 2112119 w 2112119"/>
                <a:gd name="connsiteY3" fmla="*/ 138873 h 1388731"/>
                <a:gd name="connsiteX4" fmla="*/ 2112119 w 2112119"/>
                <a:gd name="connsiteY4" fmla="*/ 1249858 h 1388731"/>
                <a:gd name="connsiteX5" fmla="*/ 1973246 w 2112119"/>
                <a:gd name="connsiteY5" fmla="*/ 1388731 h 1388731"/>
                <a:gd name="connsiteX6" fmla="*/ 138873 w 2112119"/>
                <a:gd name="connsiteY6" fmla="*/ 1388731 h 1388731"/>
                <a:gd name="connsiteX7" fmla="*/ 0 w 2112119"/>
                <a:gd name="connsiteY7" fmla="*/ 1249858 h 1388731"/>
                <a:gd name="connsiteX8" fmla="*/ 0 w 2112119"/>
                <a:gd name="connsiteY8" fmla="*/ 138873 h 138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119" h="1388731">
                  <a:moveTo>
                    <a:pt x="0" y="138873"/>
                  </a:moveTo>
                  <a:cubicBezTo>
                    <a:pt x="0" y="62176"/>
                    <a:pt x="62176" y="0"/>
                    <a:pt x="138873" y="0"/>
                  </a:cubicBezTo>
                  <a:lnTo>
                    <a:pt x="1973246" y="0"/>
                  </a:lnTo>
                  <a:cubicBezTo>
                    <a:pt x="2049943" y="0"/>
                    <a:pt x="2112119" y="62176"/>
                    <a:pt x="2112119" y="138873"/>
                  </a:cubicBezTo>
                  <a:lnTo>
                    <a:pt x="2112119" y="1249858"/>
                  </a:lnTo>
                  <a:cubicBezTo>
                    <a:pt x="2112119" y="1326555"/>
                    <a:pt x="2049943" y="1388731"/>
                    <a:pt x="1973246" y="1388731"/>
                  </a:cubicBezTo>
                  <a:lnTo>
                    <a:pt x="138873" y="1388731"/>
                  </a:lnTo>
                  <a:cubicBezTo>
                    <a:pt x="62176" y="1388731"/>
                    <a:pt x="0" y="1326555"/>
                    <a:pt x="0" y="1249858"/>
                  </a:cubicBezTo>
                  <a:lnTo>
                    <a:pt x="0" y="138873"/>
                  </a:lnTo>
                  <a:close/>
                </a:path>
              </a:pathLst>
            </a:custGeom>
            <a:ln>
              <a:solidFill>
                <a:srgbClr val="C00000"/>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9745" tIns="219745" rIns="219745" bIns="219745" numCol="1" spcCol="1270" anchor="ctr" anchorCtr="0">
              <a:noAutofit/>
            </a:bodyPr>
            <a:lstStyle/>
            <a:p>
              <a:pPr marL="0" lvl="0" indent="0" algn="ctr" defTabSz="2089150">
                <a:lnSpc>
                  <a:spcPct val="90000"/>
                </a:lnSpc>
                <a:spcBef>
                  <a:spcPct val="0"/>
                </a:spcBef>
                <a:spcAft>
                  <a:spcPct val="35000"/>
                </a:spcAft>
                <a:buNone/>
              </a:pPr>
              <a:endParaRPr lang="zh-CN" altLang="en-US" sz="4400" kern="1200">
                <a:cs typeface="+mn-ea"/>
                <a:sym typeface="+mn-lt"/>
              </a:endParaRPr>
            </a:p>
          </p:txBody>
        </p:sp>
        <p:sp>
          <p:nvSpPr>
            <p:cNvPr id="13" name="任意形状 22"/>
            <p:cNvSpPr/>
            <p:nvPr/>
          </p:nvSpPr>
          <p:spPr>
            <a:xfrm>
              <a:off x="5908589" y="5026211"/>
              <a:ext cx="1762168" cy="1325402"/>
            </a:xfrm>
            <a:custGeom>
              <a:avLst/>
              <a:gdLst>
                <a:gd name="connsiteX0" fmla="*/ 0 w 2112119"/>
                <a:gd name="connsiteY0" fmla="*/ 138873 h 1388731"/>
                <a:gd name="connsiteX1" fmla="*/ 138873 w 2112119"/>
                <a:gd name="connsiteY1" fmla="*/ 0 h 1388731"/>
                <a:gd name="connsiteX2" fmla="*/ 1973246 w 2112119"/>
                <a:gd name="connsiteY2" fmla="*/ 0 h 1388731"/>
                <a:gd name="connsiteX3" fmla="*/ 2112119 w 2112119"/>
                <a:gd name="connsiteY3" fmla="*/ 138873 h 1388731"/>
                <a:gd name="connsiteX4" fmla="*/ 2112119 w 2112119"/>
                <a:gd name="connsiteY4" fmla="*/ 1249858 h 1388731"/>
                <a:gd name="connsiteX5" fmla="*/ 1973246 w 2112119"/>
                <a:gd name="connsiteY5" fmla="*/ 1388731 h 1388731"/>
                <a:gd name="connsiteX6" fmla="*/ 138873 w 2112119"/>
                <a:gd name="connsiteY6" fmla="*/ 1388731 h 1388731"/>
                <a:gd name="connsiteX7" fmla="*/ 0 w 2112119"/>
                <a:gd name="connsiteY7" fmla="*/ 1249858 h 1388731"/>
                <a:gd name="connsiteX8" fmla="*/ 0 w 2112119"/>
                <a:gd name="connsiteY8" fmla="*/ 138873 h 138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119" h="1388731">
                  <a:moveTo>
                    <a:pt x="0" y="138873"/>
                  </a:moveTo>
                  <a:cubicBezTo>
                    <a:pt x="0" y="62176"/>
                    <a:pt x="62176" y="0"/>
                    <a:pt x="138873" y="0"/>
                  </a:cubicBezTo>
                  <a:lnTo>
                    <a:pt x="1973246" y="0"/>
                  </a:lnTo>
                  <a:cubicBezTo>
                    <a:pt x="2049943" y="0"/>
                    <a:pt x="2112119" y="62176"/>
                    <a:pt x="2112119" y="138873"/>
                  </a:cubicBezTo>
                  <a:lnTo>
                    <a:pt x="2112119" y="1249858"/>
                  </a:lnTo>
                  <a:cubicBezTo>
                    <a:pt x="2112119" y="1326555"/>
                    <a:pt x="2049943" y="1388731"/>
                    <a:pt x="1973246" y="1388731"/>
                  </a:cubicBezTo>
                  <a:lnTo>
                    <a:pt x="138873" y="1388731"/>
                  </a:lnTo>
                  <a:cubicBezTo>
                    <a:pt x="62176" y="1388731"/>
                    <a:pt x="0" y="1326555"/>
                    <a:pt x="0" y="1249858"/>
                  </a:cubicBezTo>
                  <a:lnTo>
                    <a:pt x="0" y="138873"/>
                  </a:lnTo>
                  <a:close/>
                </a:path>
              </a:pathLst>
            </a:custGeom>
            <a:ln>
              <a:solidFill>
                <a:srgbClr val="C00000"/>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9745" tIns="219745" rIns="219745" bIns="219745" numCol="1" spcCol="1270" anchor="ctr" anchorCtr="0">
              <a:noAutofit/>
            </a:bodyPr>
            <a:lstStyle/>
            <a:p>
              <a:pPr marL="0" lvl="0" indent="0" algn="ctr" defTabSz="2089150">
                <a:lnSpc>
                  <a:spcPct val="90000"/>
                </a:lnSpc>
                <a:spcBef>
                  <a:spcPct val="0"/>
                </a:spcBef>
                <a:spcAft>
                  <a:spcPct val="35000"/>
                </a:spcAft>
                <a:buNone/>
              </a:pPr>
              <a:endParaRPr lang="zh-CN" altLang="en-US" sz="4400" kern="1200">
                <a:cs typeface="+mn-ea"/>
                <a:sym typeface="+mn-lt"/>
              </a:endParaRPr>
            </a:p>
          </p:txBody>
        </p:sp>
        <p:sp>
          <p:nvSpPr>
            <p:cNvPr id="14" name="任意形状 31"/>
            <p:cNvSpPr/>
            <p:nvPr/>
          </p:nvSpPr>
          <p:spPr>
            <a:xfrm>
              <a:off x="834742" y="3589475"/>
              <a:ext cx="840806" cy="2762137"/>
            </a:xfrm>
            <a:custGeom>
              <a:avLst/>
              <a:gdLst>
                <a:gd name="connsiteX0" fmla="*/ 0 w 2112119"/>
                <a:gd name="connsiteY0" fmla="*/ 138873 h 1388731"/>
                <a:gd name="connsiteX1" fmla="*/ 138873 w 2112119"/>
                <a:gd name="connsiteY1" fmla="*/ 0 h 1388731"/>
                <a:gd name="connsiteX2" fmla="*/ 1973246 w 2112119"/>
                <a:gd name="connsiteY2" fmla="*/ 0 h 1388731"/>
                <a:gd name="connsiteX3" fmla="*/ 2112119 w 2112119"/>
                <a:gd name="connsiteY3" fmla="*/ 138873 h 1388731"/>
                <a:gd name="connsiteX4" fmla="*/ 2112119 w 2112119"/>
                <a:gd name="connsiteY4" fmla="*/ 1249858 h 1388731"/>
                <a:gd name="connsiteX5" fmla="*/ 1973246 w 2112119"/>
                <a:gd name="connsiteY5" fmla="*/ 1388731 h 1388731"/>
                <a:gd name="connsiteX6" fmla="*/ 138873 w 2112119"/>
                <a:gd name="connsiteY6" fmla="*/ 1388731 h 1388731"/>
                <a:gd name="connsiteX7" fmla="*/ 0 w 2112119"/>
                <a:gd name="connsiteY7" fmla="*/ 1249858 h 1388731"/>
                <a:gd name="connsiteX8" fmla="*/ 0 w 2112119"/>
                <a:gd name="connsiteY8" fmla="*/ 138873 h 138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119" h="1388731">
                  <a:moveTo>
                    <a:pt x="0" y="138873"/>
                  </a:moveTo>
                  <a:cubicBezTo>
                    <a:pt x="0" y="62176"/>
                    <a:pt x="62176" y="0"/>
                    <a:pt x="138873" y="0"/>
                  </a:cubicBezTo>
                  <a:lnTo>
                    <a:pt x="1973246" y="0"/>
                  </a:lnTo>
                  <a:cubicBezTo>
                    <a:pt x="2049943" y="0"/>
                    <a:pt x="2112119" y="62176"/>
                    <a:pt x="2112119" y="138873"/>
                  </a:cubicBezTo>
                  <a:lnTo>
                    <a:pt x="2112119" y="1249858"/>
                  </a:lnTo>
                  <a:cubicBezTo>
                    <a:pt x="2112119" y="1326555"/>
                    <a:pt x="2049943" y="1388731"/>
                    <a:pt x="1973246" y="1388731"/>
                  </a:cubicBezTo>
                  <a:lnTo>
                    <a:pt x="138873" y="1388731"/>
                  </a:lnTo>
                  <a:cubicBezTo>
                    <a:pt x="62176" y="1388731"/>
                    <a:pt x="0" y="1326555"/>
                    <a:pt x="0" y="1249858"/>
                  </a:cubicBezTo>
                  <a:lnTo>
                    <a:pt x="0" y="138873"/>
                  </a:lnTo>
                  <a:close/>
                </a:path>
              </a:pathLst>
            </a:custGeom>
            <a:ln>
              <a:solidFill>
                <a:srgbClr val="C00000"/>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9745" tIns="219745" rIns="219745" bIns="219745" numCol="1" spcCol="1270" anchor="ctr" anchorCtr="0">
              <a:noAutofit/>
            </a:bodyPr>
            <a:lstStyle/>
            <a:p>
              <a:pPr marL="0" lvl="0" indent="0" algn="ctr" defTabSz="2089150">
                <a:lnSpc>
                  <a:spcPct val="90000"/>
                </a:lnSpc>
                <a:spcBef>
                  <a:spcPct val="0"/>
                </a:spcBef>
                <a:spcAft>
                  <a:spcPct val="35000"/>
                </a:spcAft>
                <a:buNone/>
              </a:pPr>
              <a:endParaRPr lang="zh-CN" altLang="en-US" sz="4400" kern="1200">
                <a:cs typeface="+mn-ea"/>
                <a:sym typeface="+mn-lt"/>
              </a:endParaRPr>
            </a:p>
          </p:txBody>
        </p:sp>
        <p:sp>
          <p:nvSpPr>
            <p:cNvPr id="15" name="文本框 14"/>
            <p:cNvSpPr txBox="1"/>
            <p:nvPr/>
          </p:nvSpPr>
          <p:spPr>
            <a:xfrm>
              <a:off x="6018003" y="5360831"/>
              <a:ext cx="1543339" cy="584775"/>
            </a:xfrm>
            <a:prstGeom prst="rect">
              <a:avLst/>
            </a:prstGeom>
            <a:noFill/>
          </p:spPr>
          <p:txBody>
            <a:bodyPr wrap="square" rtlCol="0">
              <a:spAutoFit/>
            </a:bodyPr>
            <a:lstStyle>
              <a:defPPr>
                <a:defRPr lang="en-US"/>
              </a:defPPr>
              <a:lvl1pPr algn="ctr">
                <a:defRPr kumimoji="1" sz="1600">
                  <a:latin typeface="+mn-lt"/>
                  <a:ea typeface="+mn-ea"/>
                  <a:cs typeface="+mn-ea"/>
                </a:defRPr>
              </a:lvl1pPr>
            </a:lstStyle>
            <a:p>
              <a:r>
                <a:rPr lang="zh-CN" altLang="en-US" dirty="0">
                  <a:sym typeface="+mn-lt"/>
                </a:rPr>
                <a:t>其他分行培训机构</a:t>
              </a:r>
              <a:endParaRPr lang="en-US" altLang="zh-CN" dirty="0">
                <a:sym typeface="+mn-lt"/>
              </a:endParaRPr>
            </a:p>
            <a:p>
              <a:r>
                <a:rPr lang="zh-CN" altLang="en-US" dirty="0">
                  <a:sym typeface="+mn-lt"/>
                </a:rPr>
                <a:t>（</a:t>
              </a:r>
              <a:r>
                <a:rPr lang="en-US" altLang="zh-CN" dirty="0">
                  <a:sym typeface="+mn-lt"/>
                </a:rPr>
                <a:t>37</a:t>
              </a:r>
              <a:r>
                <a:rPr lang="zh-CN" altLang="en-US" dirty="0">
                  <a:sym typeface="+mn-lt"/>
                </a:rPr>
                <a:t>家）</a:t>
              </a:r>
              <a:endParaRPr lang="zh-CN" altLang="en-US" dirty="0">
                <a:sym typeface="+mn-lt"/>
              </a:endParaRPr>
            </a:p>
          </p:txBody>
        </p:sp>
        <p:sp>
          <p:nvSpPr>
            <p:cNvPr id="16" name="文本框 15"/>
            <p:cNvSpPr txBox="1"/>
            <p:nvPr/>
          </p:nvSpPr>
          <p:spPr>
            <a:xfrm>
              <a:off x="2964050" y="3674599"/>
              <a:ext cx="1420837" cy="338554"/>
            </a:xfrm>
            <a:prstGeom prst="rect">
              <a:avLst/>
            </a:prstGeom>
            <a:noFill/>
          </p:spPr>
          <p:txBody>
            <a:bodyPr wrap="square" rtlCol="0">
              <a:spAutoFit/>
            </a:bodyPr>
            <a:lstStyle>
              <a:defPPr>
                <a:defRPr lang="en-US"/>
              </a:defPPr>
              <a:lvl1pPr algn="ctr">
                <a:defRPr kumimoji="1" sz="1600">
                  <a:latin typeface="+mn-lt"/>
                  <a:ea typeface="+mn-ea"/>
                  <a:cs typeface="+mn-ea"/>
                </a:defRPr>
              </a:lvl1pPr>
            </a:lstStyle>
            <a:p>
              <a:r>
                <a:rPr lang="zh-CN" altLang="en-US" dirty="0">
                  <a:sym typeface="+mn-lt"/>
                </a:rPr>
                <a:t>北京国际研修院</a:t>
              </a:r>
              <a:endParaRPr lang="en-US" altLang="zh-CN" dirty="0">
                <a:sym typeface="+mn-lt"/>
              </a:endParaRPr>
            </a:p>
          </p:txBody>
        </p:sp>
        <p:sp>
          <p:nvSpPr>
            <p:cNvPr id="17" name="文本框 16"/>
            <p:cNvSpPr txBox="1"/>
            <p:nvPr/>
          </p:nvSpPr>
          <p:spPr>
            <a:xfrm>
              <a:off x="4141859" y="5386161"/>
              <a:ext cx="1547900" cy="584775"/>
            </a:xfrm>
            <a:prstGeom prst="rect">
              <a:avLst/>
            </a:prstGeom>
            <a:noFill/>
          </p:spPr>
          <p:txBody>
            <a:bodyPr wrap="square" rtlCol="0">
              <a:spAutoFit/>
            </a:bodyPr>
            <a:lstStyle>
              <a:defPPr>
                <a:defRPr lang="en-US"/>
              </a:defPPr>
              <a:lvl1pPr algn="ctr">
                <a:defRPr kumimoji="1" sz="1600">
                  <a:latin typeface="+mn-lt"/>
                  <a:ea typeface="+mn-ea"/>
                  <a:cs typeface="+mn-ea"/>
                </a:defRPr>
              </a:lvl1pPr>
            </a:lstStyle>
            <a:p>
              <a:r>
                <a:rPr lang="zh-CN" altLang="en-US" dirty="0">
                  <a:sym typeface="+mn-lt"/>
                </a:rPr>
                <a:t>境内区域培训中心</a:t>
              </a:r>
              <a:endParaRPr lang="en-US" altLang="zh-CN" dirty="0">
                <a:sym typeface="+mn-lt"/>
              </a:endParaRPr>
            </a:p>
            <a:p>
              <a:r>
                <a:rPr lang="zh-CN" altLang="en-US" dirty="0">
                  <a:sym typeface="+mn-lt"/>
                </a:rPr>
                <a:t>（</a:t>
              </a:r>
              <a:r>
                <a:rPr lang="en-US" altLang="zh-CN" dirty="0">
                  <a:sym typeface="+mn-lt"/>
                </a:rPr>
                <a:t>7</a:t>
              </a:r>
              <a:r>
                <a:rPr lang="zh-CN" altLang="en-US" dirty="0">
                  <a:sym typeface="+mn-lt"/>
                </a:rPr>
                <a:t>家）</a:t>
              </a:r>
              <a:endParaRPr lang="zh-CN" altLang="en-US" dirty="0">
                <a:sym typeface="+mn-lt"/>
              </a:endParaRPr>
            </a:p>
          </p:txBody>
        </p:sp>
        <p:sp>
          <p:nvSpPr>
            <p:cNvPr id="18" name="文本框 17"/>
            <p:cNvSpPr txBox="1"/>
            <p:nvPr/>
          </p:nvSpPr>
          <p:spPr>
            <a:xfrm>
              <a:off x="2457058" y="5376613"/>
              <a:ext cx="1169302" cy="584775"/>
            </a:xfrm>
            <a:prstGeom prst="rect">
              <a:avLst/>
            </a:prstGeom>
            <a:noFill/>
          </p:spPr>
          <p:txBody>
            <a:bodyPr wrap="square" rtlCol="0">
              <a:spAutoFit/>
            </a:bodyPr>
            <a:lstStyle>
              <a:defPPr>
                <a:defRPr lang="en-US"/>
              </a:defPPr>
              <a:lvl1pPr algn="ctr">
                <a:defRPr kumimoji="1" sz="1600">
                  <a:latin typeface="+mn-lt"/>
                  <a:ea typeface="+mn-ea"/>
                  <a:cs typeface="+mn-ea"/>
                </a:defRPr>
              </a:lvl1pPr>
            </a:lstStyle>
            <a:p>
              <a:r>
                <a:rPr lang="zh-CN" altLang="en-US" dirty="0">
                  <a:sym typeface="+mn-lt"/>
                </a:rPr>
                <a:t>境外培训中心</a:t>
              </a:r>
              <a:endParaRPr lang="en-US" altLang="zh-CN" dirty="0">
                <a:sym typeface="+mn-lt"/>
              </a:endParaRPr>
            </a:p>
            <a:p>
              <a:r>
                <a:rPr lang="zh-CN" altLang="en-US" dirty="0">
                  <a:sym typeface="+mn-lt"/>
                </a:rPr>
                <a:t>（</a:t>
              </a:r>
              <a:r>
                <a:rPr lang="en-US" altLang="zh-CN" dirty="0">
                  <a:sym typeface="+mn-lt"/>
                </a:rPr>
                <a:t>4</a:t>
              </a:r>
              <a:r>
                <a:rPr lang="zh-CN" altLang="en-US" dirty="0">
                  <a:sym typeface="+mn-lt"/>
                </a:rPr>
                <a:t>家）</a:t>
              </a:r>
              <a:endParaRPr lang="zh-CN" altLang="en-US" dirty="0">
                <a:sym typeface="+mn-lt"/>
              </a:endParaRPr>
            </a:p>
          </p:txBody>
        </p:sp>
        <p:sp>
          <p:nvSpPr>
            <p:cNvPr id="19" name="矩形 18"/>
            <p:cNvSpPr/>
            <p:nvPr/>
          </p:nvSpPr>
          <p:spPr>
            <a:xfrm>
              <a:off x="2212357" y="3997862"/>
              <a:ext cx="2779160" cy="830997"/>
            </a:xfrm>
            <a:prstGeom prst="rect">
              <a:avLst/>
            </a:prstGeom>
          </p:spPr>
          <p:txBody>
            <a:bodyPr wrap="square">
              <a:spAutoFit/>
            </a:bodyPr>
            <a:lstStyle/>
            <a:p>
              <a:r>
                <a:rPr lang="zh-CN" altLang="en-US" sz="1600" b="0" dirty="0">
                  <a:latin typeface="+mn-lt"/>
                  <a:ea typeface="+mn-ea"/>
                  <a:cs typeface="+mn-ea"/>
                  <a:sym typeface="+mn-lt"/>
                </a:rPr>
                <a:t>作为我行党校和中高级管理人员的教育培 训基地，重点承担经营管理人员培训项目的研发和实施工作。</a:t>
              </a:r>
              <a:endParaRPr lang="zh-CN" altLang="en-US" sz="1600" b="0" dirty="0">
                <a:latin typeface="+mn-lt"/>
                <a:ea typeface="+mn-ea"/>
                <a:cs typeface="+mn-ea"/>
                <a:sym typeface="+mn-lt"/>
              </a:endParaRPr>
            </a:p>
          </p:txBody>
        </p:sp>
        <p:sp>
          <p:nvSpPr>
            <p:cNvPr id="20" name="文本框 19"/>
            <p:cNvSpPr txBox="1"/>
            <p:nvPr/>
          </p:nvSpPr>
          <p:spPr>
            <a:xfrm>
              <a:off x="5748846" y="3683351"/>
              <a:ext cx="1328248" cy="338554"/>
            </a:xfrm>
            <a:prstGeom prst="rect">
              <a:avLst/>
            </a:prstGeom>
            <a:noFill/>
          </p:spPr>
          <p:txBody>
            <a:bodyPr wrap="square" rtlCol="0">
              <a:spAutoFit/>
            </a:bodyPr>
            <a:lstStyle>
              <a:defPPr>
                <a:defRPr lang="en-US"/>
              </a:defPPr>
              <a:lvl1pPr algn="ctr">
                <a:defRPr kumimoji="1" sz="1600">
                  <a:latin typeface="+mn-lt"/>
                  <a:ea typeface="+mn-ea"/>
                  <a:cs typeface="+mn-ea"/>
                </a:defRPr>
              </a:lvl1pPr>
            </a:lstStyle>
            <a:p>
              <a:r>
                <a:rPr lang="zh-CN" altLang="en-US" dirty="0">
                  <a:sym typeface="+mn-lt"/>
                </a:rPr>
                <a:t>上海国际研修院</a:t>
              </a:r>
              <a:endParaRPr lang="en-US" altLang="zh-CN" dirty="0">
                <a:sym typeface="+mn-lt"/>
              </a:endParaRPr>
            </a:p>
          </p:txBody>
        </p:sp>
        <p:sp>
          <p:nvSpPr>
            <p:cNvPr id="21" name="矩形 20"/>
            <p:cNvSpPr/>
            <p:nvPr/>
          </p:nvSpPr>
          <p:spPr>
            <a:xfrm>
              <a:off x="4974077" y="4006614"/>
              <a:ext cx="2779160" cy="830997"/>
            </a:xfrm>
            <a:prstGeom prst="rect">
              <a:avLst/>
            </a:prstGeom>
          </p:spPr>
          <p:txBody>
            <a:bodyPr wrap="square">
              <a:spAutoFit/>
            </a:bodyPr>
            <a:lstStyle/>
            <a:p>
              <a:r>
                <a:rPr lang="zh-CN" altLang="en-US" sz="1600" b="0" dirty="0">
                  <a:latin typeface="+mn-lt"/>
                  <a:ea typeface="+mn-ea"/>
                  <a:cs typeface="+mn-ea"/>
                  <a:sym typeface="+mn-lt"/>
                </a:rPr>
                <a:t>作为全球化和中高端专业人才的教育培训基地， 重点承担两类人才培训项目的研发和实施。</a:t>
              </a:r>
              <a:endParaRPr lang="zh-CN" altLang="en-US" sz="1600" b="0" dirty="0">
                <a:latin typeface="+mn-lt"/>
                <a:ea typeface="+mn-ea"/>
                <a:cs typeface="+mn-ea"/>
                <a:sym typeface="+mn-lt"/>
              </a:endParaRPr>
            </a:p>
          </p:txBody>
        </p:sp>
        <p:sp>
          <p:nvSpPr>
            <p:cNvPr id="22" name="文本框 21"/>
            <p:cNvSpPr txBox="1"/>
            <p:nvPr/>
          </p:nvSpPr>
          <p:spPr>
            <a:xfrm>
              <a:off x="4342400" y="2573714"/>
              <a:ext cx="989192" cy="400110"/>
            </a:xfrm>
            <a:prstGeom prst="rect">
              <a:avLst/>
            </a:prstGeom>
            <a:noFill/>
          </p:spPr>
          <p:txBody>
            <a:bodyPr wrap="none" rtlCol="0">
              <a:spAutoFit/>
            </a:bodyPr>
            <a:lstStyle/>
            <a:p>
              <a:pPr algn="ctr"/>
              <a:r>
                <a:rPr kumimoji="1" lang="zh-CN" altLang="en-US" sz="2000" dirty="0">
                  <a:solidFill>
                    <a:schemeClr val="bg1"/>
                  </a:solidFill>
                  <a:latin typeface="+mn-lt"/>
                  <a:ea typeface="+mn-ea"/>
                  <a:cs typeface="+mn-ea"/>
                  <a:sym typeface="+mn-lt"/>
                </a:rPr>
                <a:t>中银大学</a:t>
              </a:r>
              <a:endParaRPr kumimoji="1" lang="zh-CN" altLang="en-US" sz="2000" dirty="0">
                <a:solidFill>
                  <a:schemeClr val="bg1"/>
                </a:solidFill>
                <a:latin typeface="+mn-lt"/>
                <a:ea typeface="+mn-ea"/>
                <a:cs typeface="+mn-ea"/>
                <a:sym typeface="+mn-lt"/>
              </a:endParaRPr>
            </a:p>
          </p:txBody>
        </p:sp>
        <p:sp>
          <p:nvSpPr>
            <p:cNvPr id="23" name="文本框 22"/>
            <p:cNvSpPr txBox="1"/>
            <p:nvPr/>
          </p:nvSpPr>
          <p:spPr>
            <a:xfrm>
              <a:off x="844119" y="4308823"/>
              <a:ext cx="837348" cy="1077218"/>
            </a:xfrm>
            <a:prstGeom prst="rect">
              <a:avLst/>
            </a:prstGeom>
            <a:noFill/>
          </p:spPr>
          <p:txBody>
            <a:bodyPr wrap="square" rtlCol="0">
              <a:spAutoFit/>
            </a:bodyPr>
            <a:lstStyle/>
            <a:p>
              <a:pPr algn="ctr"/>
              <a:r>
                <a:rPr kumimoji="1" lang="zh-CN" altLang="en-US" sz="1600" dirty="0">
                  <a:latin typeface="+mn-lt"/>
                  <a:ea typeface="+mn-ea"/>
                  <a:cs typeface="+mn-ea"/>
                  <a:sym typeface="+mn-lt"/>
                </a:rPr>
                <a:t>国外顶级商学院、研究等合作机构</a:t>
              </a:r>
              <a:endParaRPr kumimoji="1" lang="en-US" altLang="zh-CN" sz="1600" dirty="0">
                <a:latin typeface="+mn-lt"/>
                <a:ea typeface="+mn-ea"/>
                <a:cs typeface="+mn-ea"/>
                <a:sym typeface="+mn-lt"/>
              </a:endParaRPr>
            </a:p>
          </p:txBody>
        </p:sp>
        <p:sp>
          <p:nvSpPr>
            <p:cNvPr id="24" name="上下箭头 33"/>
            <p:cNvSpPr/>
            <p:nvPr/>
          </p:nvSpPr>
          <p:spPr>
            <a:xfrm rot="5400000">
              <a:off x="1829042" y="4720629"/>
              <a:ext cx="158980" cy="340848"/>
            </a:xfrm>
            <a:prstGeom prst="upDownArrow">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nchor="ctr">
              <a:spAutoFit/>
            </a:bodyPr>
            <a:lstStyle/>
            <a:p>
              <a:pPr algn="ctr"/>
              <a:endParaRPr kumimoji="1" lang="zh-CN" altLang="en-US" sz="1600" dirty="0">
                <a:solidFill>
                  <a:schemeClr val="bg1"/>
                </a:solidFill>
                <a:cs typeface="+mn-ea"/>
                <a:sym typeface="+mn-lt"/>
              </a:endParaRPr>
            </a:p>
          </p:txBody>
        </p:sp>
        <p:sp>
          <p:nvSpPr>
            <p:cNvPr id="25" name="任意形状 34"/>
            <p:cNvSpPr/>
            <p:nvPr/>
          </p:nvSpPr>
          <p:spPr>
            <a:xfrm>
              <a:off x="8105811" y="3589475"/>
              <a:ext cx="840806" cy="2729100"/>
            </a:xfrm>
            <a:custGeom>
              <a:avLst/>
              <a:gdLst>
                <a:gd name="connsiteX0" fmla="*/ 0 w 2112119"/>
                <a:gd name="connsiteY0" fmla="*/ 138873 h 1388731"/>
                <a:gd name="connsiteX1" fmla="*/ 138873 w 2112119"/>
                <a:gd name="connsiteY1" fmla="*/ 0 h 1388731"/>
                <a:gd name="connsiteX2" fmla="*/ 1973246 w 2112119"/>
                <a:gd name="connsiteY2" fmla="*/ 0 h 1388731"/>
                <a:gd name="connsiteX3" fmla="*/ 2112119 w 2112119"/>
                <a:gd name="connsiteY3" fmla="*/ 138873 h 1388731"/>
                <a:gd name="connsiteX4" fmla="*/ 2112119 w 2112119"/>
                <a:gd name="connsiteY4" fmla="*/ 1249858 h 1388731"/>
                <a:gd name="connsiteX5" fmla="*/ 1973246 w 2112119"/>
                <a:gd name="connsiteY5" fmla="*/ 1388731 h 1388731"/>
                <a:gd name="connsiteX6" fmla="*/ 138873 w 2112119"/>
                <a:gd name="connsiteY6" fmla="*/ 1388731 h 1388731"/>
                <a:gd name="connsiteX7" fmla="*/ 0 w 2112119"/>
                <a:gd name="connsiteY7" fmla="*/ 1249858 h 1388731"/>
                <a:gd name="connsiteX8" fmla="*/ 0 w 2112119"/>
                <a:gd name="connsiteY8" fmla="*/ 138873 h 138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119" h="1388731">
                  <a:moveTo>
                    <a:pt x="0" y="138873"/>
                  </a:moveTo>
                  <a:cubicBezTo>
                    <a:pt x="0" y="62176"/>
                    <a:pt x="62176" y="0"/>
                    <a:pt x="138873" y="0"/>
                  </a:cubicBezTo>
                  <a:lnTo>
                    <a:pt x="1973246" y="0"/>
                  </a:lnTo>
                  <a:cubicBezTo>
                    <a:pt x="2049943" y="0"/>
                    <a:pt x="2112119" y="62176"/>
                    <a:pt x="2112119" y="138873"/>
                  </a:cubicBezTo>
                  <a:lnTo>
                    <a:pt x="2112119" y="1249858"/>
                  </a:lnTo>
                  <a:cubicBezTo>
                    <a:pt x="2112119" y="1326555"/>
                    <a:pt x="2049943" y="1388731"/>
                    <a:pt x="1973246" y="1388731"/>
                  </a:cubicBezTo>
                  <a:lnTo>
                    <a:pt x="138873" y="1388731"/>
                  </a:lnTo>
                  <a:cubicBezTo>
                    <a:pt x="62176" y="1388731"/>
                    <a:pt x="0" y="1326555"/>
                    <a:pt x="0" y="1249858"/>
                  </a:cubicBezTo>
                  <a:lnTo>
                    <a:pt x="0" y="138873"/>
                  </a:lnTo>
                  <a:close/>
                </a:path>
              </a:pathLst>
            </a:custGeom>
            <a:ln>
              <a:solidFill>
                <a:srgbClr val="C00000"/>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9745" tIns="219745" rIns="219745" bIns="219745" numCol="1" spcCol="1270" anchor="ctr" anchorCtr="0">
              <a:noAutofit/>
            </a:bodyPr>
            <a:lstStyle/>
            <a:p>
              <a:pPr marL="0" lvl="0" indent="0" algn="ctr" defTabSz="2089150">
                <a:lnSpc>
                  <a:spcPct val="90000"/>
                </a:lnSpc>
                <a:spcBef>
                  <a:spcPct val="0"/>
                </a:spcBef>
                <a:spcAft>
                  <a:spcPct val="35000"/>
                </a:spcAft>
                <a:buNone/>
              </a:pPr>
              <a:endParaRPr lang="zh-CN" altLang="en-US" sz="4400" kern="1200">
                <a:cs typeface="+mn-ea"/>
                <a:sym typeface="+mn-lt"/>
              </a:endParaRPr>
            </a:p>
          </p:txBody>
        </p:sp>
        <p:sp>
          <p:nvSpPr>
            <p:cNvPr id="26" name="文本框 25"/>
            <p:cNvSpPr txBox="1"/>
            <p:nvPr/>
          </p:nvSpPr>
          <p:spPr>
            <a:xfrm>
              <a:off x="8072605" y="4352862"/>
              <a:ext cx="829911" cy="1077218"/>
            </a:xfrm>
            <a:prstGeom prst="rect">
              <a:avLst/>
            </a:prstGeom>
            <a:noFill/>
          </p:spPr>
          <p:txBody>
            <a:bodyPr wrap="square" rtlCol="0">
              <a:spAutoFit/>
            </a:bodyPr>
            <a:lstStyle>
              <a:defPPr>
                <a:defRPr lang="en-US"/>
              </a:defPPr>
              <a:lvl1pPr algn="ctr">
                <a:defRPr kumimoji="1" sz="1600">
                  <a:latin typeface="+mn-lt"/>
                  <a:ea typeface="+mn-ea"/>
                  <a:cs typeface="+mn-ea"/>
                </a:defRPr>
              </a:lvl1pPr>
            </a:lstStyle>
            <a:p>
              <a:r>
                <a:rPr lang="zh-CN" altLang="en-US" dirty="0">
                  <a:sym typeface="+mn-lt"/>
                </a:rPr>
                <a:t>国内顶级商学院、研究等合作机构</a:t>
              </a:r>
              <a:endParaRPr lang="en-US" altLang="zh-CN" dirty="0">
                <a:sym typeface="+mn-lt"/>
              </a:endParaRPr>
            </a:p>
          </p:txBody>
        </p:sp>
        <p:sp>
          <p:nvSpPr>
            <p:cNvPr id="27" name="上下箭头 36"/>
            <p:cNvSpPr/>
            <p:nvPr/>
          </p:nvSpPr>
          <p:spPr>
            <a:xfrm rot="5400000">
              <a:off x="7758690" y="4790075"/>
              <a:ext cx="158980" cy="340848"/>
            </a:xfrm>
            <a:prstGeom prst="upDownArrow">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nchor="ctr">
              <a:spAutoFit/>
            </a:bodyPr>
            <a:lstStyle/>
            <a:p>
              <a:pPr algn="ctr"/>
              <a:endParaRPr kumimoji="1" lang="zh-CN" altLang="en-US" sz="1600" dirty="0">
                <a:solidFill>
                  <a:schemeClr val="bg1"/>
                </a:solidFill>
                <a:cs typeface="+mn-ea"/>
                <a:sym typeface="+mn-lt"/>
              </a:endParaRPr>
            </a:p>
          </p:txBody>
        </p:sp>
      </p:grpSp>
      <p:sp>
        <p:nvSpPr>
          <p:cNvPr id="28" name="文本框 27"/>
          <p:cNvSpPr txBox="1"/>
          <p:nvPr/>
        </p:nvSpPr>
        <p:spPr>
          <a:xfrm>
            <a:off x="633854" y="1398388"/>
            <a:ext cx="2156570" cy="400110"/>
          </a:xfrm>
          <a:prstGeom prst="rect">
            <a:avLst/>
          </a:prstGeom>
          <a:solidFill>
            <a:srgbClr val="C00000"/>
          </a:solidFill>
        </p:spPr>
        <p:txBody>
          <a:bodyPr wrap="square" rtlCol="0">
            <a:spAutoFit/>
          </a:bodyPr>
          <a:lstStyle>
            <a:defPPr>
              <a:defRPr lang="zh-CN"/>
            </a:defPPr>
            <a:lvl1pPr>
              <a:defRPr sz="2800">
                <a:latin typeface="微软雅黑" charset="-122"/>
                <a:ea typeface="微软雅黑" charset="-122"/>
              </a:defRPr>
            </a:lvl1pPr>
          </a:lstStyle>
          <a:p>
            <a:pPr algn="ctr"/>
            <a:r>
              <a:rPr lang="zh-CN" altLang="en-US" sz="2000" b="1" dirty="0">
                <a:solidFill>
                  <a:schemeClr val="bg1"/>
                </a:solidFill>
                <a:latin typeface="+mn-lt"/>
                <a:ea typeface="+mn-ea"/>
                <a:cs typeface="+mn-ea"/>
                <a:sym typeface="+mn-lt"/>
              </a:rPr>
              <a:t>智能化开班管理</a:t>
            </a:r>
            <a:endParaRPr lang="en-US" altLang="zh-CN" sz="2000" b="1" dirty="0">
              <a:solidFill>
                <a:schemeClr val="bg1"/>
              </a:solidFill>
              <a:latin typeface="+mn-lt"/>
              <a:ea typeface="+mn-ea"/>
              <a:cs typeface="+mn-ea"/>
              <a:sym typeface="+mn-lt"/>
            </a:endParaRPr>
          </a:p>
        </p:txBody>
      </p:sp>
      <p:sp>
        <p:nvSpPr>
          <p:cNvPr id="29" name="文本框 28"/>
          <p:cNvSpPr txBox="1"/>
          <p:nvPr/>
        </p:nvSpPr>
        <p:spPr>
          <a:xfrm>
            <a:off x="3138943" y="1398388"/>
            <a:ext cx="2745757" cy="400110"/>
          </a:xfrm>
          <a:prstGeom prst="rect">
            <a:avLst/>
          </a:prstGeom>
          <a:solidFill>
            <a:srgbClr val="C00000"/>
          </a:solidFill>
        </p:spPr>
        <p:txBody>
          <a:bodyPr wrap="square" rtlCol="0">
            <a:spAutoFit/>
          </a:bodyPr>
          <a:lstStyle>
            <a:defPPr>
              <a:defRPr lang="zh-CN"/>
            </a:defPPr>
            <a:lvl1pPr>
              <a:defRPr sz="2800">
                <a:latin typeface="微软雅黑" charset="-122"/>
                <a:ea typeface="微软雅黑" charset="-122"/>
              </a:defRPr>
            </a:lvl1pPr>
          </a:lstStyle>
          <a:p>
            <a:pPr algn="ctr"/>
            <a:r>
              <a:rPr lang="zh-CN" altLang="en-US" sz="2000" b="1" dirty="0">
                <a:solidFill>
                  <a:schemeClr val="bg1"/>
                </a:solidFill>
                <a:latin typeface="+mn-lt"/>
                <a:ea typeface="+mn-ea"/>
                <a:cs typeface="+mn-ea"/>
                <a:sym typeface="+mn-lt"/>
              </a:rPr>
              <a:t>数字化培训效果评价</a:t>
            </a:r>
            <a:endParaRPr lang="en-US" altLang="zh-CN" sz="2000" b="1" dirty="0">
              <a:solidFill>
                <a:schemeClr val="bg1"/>
              </a:solidFill>
              <a:latin typeface="+mn-lt"/>
              <a:ea typeface="+mn-ea"/>
              <a:cs typeface="+mn-ea"/>
              <a:sym typeface="+mn-lt"/>
            </a:endParaRPr>
          </a:p>
        </p:txBody>
      </p:sp>
      <p:sp>
        <p:nvSpPr>
          <p:cNvPr id="30" name="文本框 29"/>
          <p:cNvSpPr txBox="1"/>
          <p:nvPr/>
        </p:nvSpPr>
        <p:spPr>
          <a:xfrm>
            <a:off x="6233219" y="1398388"/>
            <a:ext cx="2745757" cy="400110"/>
          </a:xfrm>
          <a:prstGeom prst="rect">
            <a:avLst/>
          </a:prstGeom>
          <a:solidFill>
            <a:srgbClr val="C00000"/>
          </a:solidFill>
        </p:spPr>
        <p:txBody>
          <a:bodyPr wrap="square" rtlCol="0">
            <a:spAutoFit/>
          </a:bodyPr>
          <a:lstStyle>
            <a:defPPr>
              <a:defRPr lang="zh-CN"/>
            </a:defPPr>
            <a:lvl1pPr>
              <a:defRPr sz="2800">
                <a:latin typeface="微软雅黑" charset="-122"/>
                <a:ea typeface="微软雅黑" charset="-122"/>
              </a:defRPr>
            </a:lvl1pPr>
          </a:lstStyle>
          <a:p>
            <a:pPr algn="ctr"/>
            <a:r>
              <a:rPr lang="zh-CN" altLang="en-US" sz="2000" b="1" dirty="0">
                <a:solidFill>
                  <a:schemeClr val="bg1"/>
                </a:solidFill>
                <a:latin typeface="+mn-lt"/>
                <a:ea typeface="+mn-ea"/>
                <a:cs typeface="+mn-ea"/>
                <a:sym typeface="+mn-lt"/>
              </a:rPr>
              <a:t>专业化教学服务</a:t>
            </a:r>
            <a:endParaRPr lang="en-US" altLang="zh-CN" sz="2000" b="1" dirty="0">
              <a:solidFill>
                <a:schemeClr val="bg1"/>
              </a:solidFill>
              <a:latin typeface="+mn-lt"/>
              <a:ea typeface="+mn-ea"/>
              <a:cs typeface="+mn-ea"/>
              <a:sym typeface="+mn-lt"/>
            </a:endParaRPr>
          </a:p>
        </p:txBody>
      </p:sp>
      <p:sp>
        <p:nvSpPr>
          <p:cNvPr id="31" name="文本框 30"/>
          <p:cNvSpPr txBox="1"/>
          <p:nvPr/>
        </p:nvSpPr>
        <p:spPr>
          <a:xfrm>
            <a:off x="9327495" y="1398388"/>
            <a:ext cx="2745757" cy="400110"/>
          </a:xfrm>
          <a:prstGeom prst="rect">
            <a:avLst/>
          </a:prstGeom>
          <a:solidFill>
            <a:srgbClr val="C00000"/>
          </a:solidFill>
        </p:spPr>
        <p:txBody>
          <a:bodyPr wrap="square" rtlCol="0">
            <a:spAutoFit/>
          </a:bodyPr>
          <a:lstStyle>
            <a:defPPr>
              <a:defRPr lang="zh-CN"/>
            </a:defPPr>
            <a:lvl1pPr>
              <a:defRPr sz="2800">
                <a:latin typeface="微软雅黑" charset="-122"/>
                <a:ea typeface="微软雅黑" charset="-122"/>
              </a:defRPr>
            </a:lvl1pPr>
          </a:lstStyle>
          <a:p>
            <a:pPr algn="ctr"/>
            <a:r>
              <a:rPr lang="zh-CN" altLang="en-US" sz="2000" b="1" dirty="0">
                <a:solidFill>
                  <a:schemeClr val="bg1"/>
                </a:solidFill>
                <a:latin typeface="+mn-lt"/>
                <a:ea typeface="+mn-ea"/>
                <a:cs typeface="+mn-ea"/>
                <a:sym typeface="+mn-lt"/>
              </a:rPr>
              <a:t>系统的师资管理与服务</a:t>
            </a:r>
            <a:endParaRPr lang="en-US" altLang="zh-CN" sz="2000" b="1" dirty="0">
              <a:solidFill>
                <a:schemeClr val="bg1"/>
              </a:solidFill>
              <a:latin typeface="+mn-lt"/>
              <a:ea typeface="+mn-ea"/>
              <a:cs typeface="+mn-ea"/>
              <a:sym typeface="+mn-lt"/>
            </a:endParaRPr>
          </a:p>
        </p:txBody>
      </p:sp>
      <p:sp>
        <p:nvSpPr>
          <p:cNvPr id="32" name="灯片编号占位符 1"/>
          <p:cNvSpPr txBox="1"/>
          <p:nvPr/>
        </p:nvSpPr>
        <p:spPr>
          <a:xfrm>
            <a:off x="9428318" y="6547125"/>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09950" y="261487"/>
            <a:ext cx="9252877"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3</a:t>
            </a:r>
            <a:r>
              <a:rPr kumimoji="1" lang="zh-CN" altLang="en-US" sz="2000" dirty="0">
                <a:latin typeface="+mn-lt"/>
                <a:ea typeface="+mn-ea"/>
                <a:cs typeface="+mn-ea"/>
                <a:sym typeface="+mn-lt"/>
              </a:rPr>
              <a:t>、合作机构生态：建立共赢的外部合作体系，培育共生机构</a:t>
            </a:r>
            <a:endParaRPr kumimoji="1" lang="en-US" altLang="zh-CN" sz="2000" dirty="0">
              <a:latin typeface="+mn-lt"/>
              <a:ea typeface="+mn-ea"/>
              <a:cs typeface="+mn-ea"/>
              <a:sym typeface="+mn-lt"/>
            </a:endParaRPr>
          </a:p>
        </p:txBody>
      </p:sp>
      <p:sp>
        <p:nvSpPr>
          <p:cNvPr id="4" name="矩形: 圆角 3"/>
          <p:cNvSpPr/>
          <p:nvPr/>
        </p:nvSpPr>
        <p:spPr>
          <a:xfrm>
            <a:off x="695816" y="2508707"/>
            <a:ext cx="4605179" cy="590663"/>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建立供应商管理体系</a:t>
            </a:r>
            <a:endParaRPr lang="zh-CN" altLang="en-US" sz="2000" b="1" dirty="0">
              <a:cs typeface="+mn-ea"/>
              <a:sym typeface="+mn-lt"/>
            </a:endParaRPr>
          </a:p>
        </p:txBody>
      </p:sp>
      <p:sp>
        <p:nvSpPr>
          <p:cNvPr id="5" name="矩形: 圆角 4"/>
          <p:cNvSpPr/>
          <p:nvPr/>
        </p:nvSpPr>
        <p:spPr>
          <a:xfrm>
            <a:off x="6663270" y="1710524"/>
            <a:ext cx="4869918" cy="669594"/>
          </a:xfrm>
          <a:prstGeom prst="round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丰富外部专家库</a:t>
            </a:r>
            <a:endParaRPr lang="zh-CN" altLang="en-US" sz="2000" b="1" dirty="0">
              <a:cs typeface="+mn-ea"/>
              <a:sym typeface="+mn-lt"/>
            </a:endParaRPr>
          </a:p>
        </p:txBody>
      </p:sp>
      <p:sp>
        <p:nvSpPr>
          <p:cNvPr id="6" name="矩形: 圆角 5"/>
          <p:cNvSpPr/>
          <p:nvPr/>
        </p:nvSpPr>
        <p:spPr>
          <a:xfrm>
            <a:off x="6754368" y="3838641"/>
            <a:ext cx="4778820" cy="629794"/>
          </a:xfrm>
          <a:prstGeom prst="round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有效管理机构合作伙伴</a:t>
            </a:r>
            <a:endParaRPr lang="zh-CN" altLang="en-US" sz="2000" b="1" dirty="0">
              <a:cs typeface="+mn-ea"/>
              <a:sym typeface="+mn-lt"/>
            </a:endParaRPr>
          </a:p>
        </p:txBody>
      </p:sp>
      <p:sp>
        <p:nvSpPr>
          <p:cNvPr id="7" name="文本框 6"/>
          <p:cNvSpPr txBox="1"/>
          <p:nvPr/>
        </p:nvSpPr>
        <p:spPr>
          <a:xfrm>
            <a:off x="6771474" y="4468434"/>
            <a:ext cx="4869917" cy="787010"/>
          </a:xfrm>
          <a:prstGeom prst="rect">
            <a:avLst/>
          </a:prstGeom>
          <a:noFill/>
        </p:spPr>
        <p:txBody>
          <a:bodyPr wrap="square">
            <a:spAutoFit/>
          </a:bodyPr>
          <a:lstStyle>
            <a:defPPr>
              <a:defRPr lang="en-US"/>
            </a:defPPr>
            <a:lvl1pPr marL="342900" indent="-342900">
              <a:lnSpc>
                <a:spcPct val="150000"/>
              </a:lnSpc>
              <a:buFont typeface="Wingdings" panose="05000000000000000000" pitchFamily="2" charset="2"/>
              <a:buChar char="Ø"/>
              <a:defRPr sz="1600">
                <a:latin typeface="+mn-lt"/>
                <a:ea typeface="+mn-ea"/>
                <a:cs typeface="+mn-ea"/>
              </a:defRPr>
            </a:lvl1pPr>
          </a:lstStyle>
          <a:p>
            <a:r>
              <a:rPr lang="zh-CN" altLang="en-US" dirty="0">
                <a:sym typeface="+mn-lt"/>
              </a:rPr>
              <a:t>中银大学/研修院牵头，九大专业学院具体对接，分别与国内各专业相关的主要高校建立合作关系</a:t>
            </a:r>
            <a:endParaRPr lang="zh-CN" altLang="en-US" dirty="0">
              <a:sym typeface="+mn-lt"/>
            </a:endParaRPr>
          </a:p>
        </p:txBody>
      </p:sp>
      <p:sp>
        <p:nvSpPr>
          <p:cNvPr id="8" name="文本框 7"/>
          <p:cNvSpPr txBox="1"/>
          <p:nvPr/>
        </p:nvSpPr>
        <p:spPr>
          <a:xfrm>
            <a:off x="6845799" y="2384425"/>
            <a:ext cx="4650385" cy="1156342"/>
          </a:xfrm>
          <a:prstGeom prst="rect">
            <a:avLst/>
          </a:prstGeom>
          <a:noFill/>
        </p:spPr>
        <p:txBody>
          <a:bodyPr wrap="square">
            <a:spAutoFit/>
          </a:bodyPr>
          <a:lstStyle>
            <a:defPPr>
              <a:defRPr lang="en-US"/>
            </a:defPPr>
            <a:lvl1pPr marL="342900" indent="-342900">
              <a:lnSpc>
                <a:spcPct val="150000"/>
              </a:lnSpc>
              <a:buFont typeface="Wingdings" panose="05000000000000000000" pitchFamily="2" charset="2"/>
              <a:buChar char="Ø"/>
              <a:defRPr sz="1600">
                <a:latin typeface="+mn-lt"/>
                <a:ea typeface="+mn-ea"/>
                <a:cs typeface="+mn-ea"/>
              </a:defRPr>
            </a:lvl1pPr>
          </a:lstStyle>
          <a:p>
            <a:r>
              <a:rPr lang="zh-CN" altLang="en-US" dirty="0">
                <a:sym typeface="+mn-lt"/>
              </a:rPr>
              <a:t>与各专业和行业领域内顶尖专家合作，提供专业咨询和培训赋能，推动联合开发相关的课程、案例和知识库</a:t>
            </a:r>
            <a:endParaRPr lang="zh-CN" altLang="en-US" dirty="0">
              <a:sym typeface="+mn-lt"/>
            </a:endParaRPr>
          </a:p>
        </p:txBody>
      </p:sp>
      <p:sp>
        <p:nvSpPr>
          <p:cNvPr id="9" name="文本框 8"/>
          <p:cNvSpPr txBox="1"/>
          <p:nvPr/>
        </p:nvSpPr>
        <p:spPr>
          <a:xfrm>
            <a:off x="667353" y="3194626"/>
            <a:ext cx="4467165" cy="2264338"/>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zh-CN" altLang="en-US" sz="1600" dirty="0">
                <a:latin typeface="+mn-lt"/>
                <a:ea typeface="+mn-ea"/>
                <a:cs typeface="+mn-ea"/>
                <a:sym typeface="+mn-lt"/>
              </a:rPr>
              <a:t>市场化：规范供应商市场准入机制，进行供应商评级，构建供应商动态评级系统</a:t>
            </a:r>
            <a:endParaRPr lang="en-US" altLang="zh-CN" sz="1600" dirty="0">
              <a:latin typeface="+mn-lt"/>
              <a:ea typeface="+mn-ea"/>
              <a:cs typeface="+mn-ea"/>
              <a:sym typeface="+mn-lt"/>
            </a:endParaRPr>
          </a:p>
          <a:p>
            <a:pPr marL="342900" indent="-342900">
              <a:lnSpc>
                <a:spcPct val="150000"/>
              </a:lnSpc>
              <a:buFont typeface="Wingdings" panose="05000000000000000000" pitchFamily="2" charset="2"/>
              <a:buChar char="Ø"/>
            </a:pPr>
            <a:r>
              <a:rPr lang="zh-CN" altLang="en-US" sz="1600" dirty="0">
                <a:latin typeface="+mn-lt"/>
                <a:ea typeface="+mn-ea"/>
                <a:cs typeface="+mn-ea"/>
                <a:sym typeface="+mn-lt"/>
              </a:rPr>
              <a:t>专业化：建立专业分层的机构体系，包括行业专业供应商和领域专业供应商</a:t>
            </a:r>
            <a:endParaRPr lang="en-US" altLang="zh-CN" sz="1600" dirty="0">
              <a:latin typeface="+mn-lt"/>
              <a:ea typeface="+mn-ea"/>
              <a:cs typeface="+mn-ea"/>
              <a:sym typeface="+mn-lt"/>
            </a:endParaRPr>
          </a:p>
          <a:p>
            <a:pPr marL="342900" indent="-342900">
              <a:lnSpc>
                <a:spcPct val="150000"/>
              </a:lnSpc>
              <a:buFont typeface="Wingdings" panose="05000000000000000000" pitchFamily="2" charset="2"/>
              <a:buChar char="Ø"/>
            </a:pPr>
            <a:r>
              <a:rPr lang="zh-CN" altLang="en-US" sz="1600" dirty="0">
                <a:latin typeface="+mn-lt"/>
                <a:ea typeface="+mn-ea"/>
                <a:cs typeface="+mn-ea"/>
                <a:sym typeface="+mn-lt"/>
              </a:rPr>
              <a:t>同盟化：从供应商库中逐步培育与中银价值观和业务结构匹配的“近亲”机构</a:t>
            </a:r>
            <a:endParaRPr lang="zh-CN" altLang="en-US" sz="1600" dirty="0">
              <a:latin typeface="+mn-lt"/>
              <a:ea typeface="+mn-ea"/>
              <a:cs typeface="+mn-ea"/>
              <a:sym typeface="+mn-lt"/>
            </a:endParaRPr>
          </a:p>
        </p:txBody>
      </p:sp>
      <p:sp>
        <p:nvSpPr>
          <p:cNvPr id="13" name="等腰三角形 12"/>
          <p:cNvSpPr>
            <a:spLocks noChangeAspect="1" noChangeArrowheads="1"/>
          </p:cNvSpPr>
          <p:nvPr/>
        </p:nvSpPr>
        <p:spPr bwMode="auto">
          <a:xfrm rot="16200000" flipV="1">
            <a:off x="6639054" y="1816539"/>
            <a:ext cx="473672" cy="408467"/>
          </a:xfrm>
          <a:prstGeom prst="triangle">
            <a:avLst>
              <a:gd name="adj" fmla="val 50000"/>
            </a:avLst>
          </a:prstGeom>
          <a:solidFill>
            <a:srgbClr val="AC0000"/>
          </a:solidFill>
          <a:ln>
            <a:noFill/>
          </a:ln>
        </p:spPr>
        <p:txBody>
          <a:bodyPr lIns="68573" tIns="34287" rIns="68573" bIns="34287" anchor="ctr"/>
          <a:lstStyle>
            <a:lvl1pPr>
              <a:spcBef>
                <a:spcPct val="20000"/>
              </a:spcBef>
              <a:buFont typeface="Arial" panose="020B0604020202090204" pitchFamily="34" charset="0"/>
              <a:buChar char="•"/>
              <a:defRPr sz="3200">
                <a:solidFill>
                  <a:schemeClr val="tx1"/>
                </a:solidFill>
                <a:latin typeface="微软雅黑" charset="-122"/>
                <a:ea typeface="微软雅黑" charset="-122"/>
                <a:sym typeface="Calibri" pitchFamily="34" charset="0"/>
              </a:defRPr>
            </a:lvl1pPr>
            <a:lvl2pPr marL="742950" indent="-285750">
              <a:spcBef>
                <a:spcPct val="20000"/>
              </a:spcBef>
              <a:buFont typeface="Arial" panose="020B0604020202090204" pitchFamily="34" charset="0"/>
              <a:buChar char="–"/>
              <a:defRPr sz="2800">
                <a:solidFill>
                  <a:schemeClr val="tx1"/>
                </a:solidFill>
                <a:latin typeface="微软雅黑" charset="-122"/>
                <a:ea typeface="微软雅黑" charset="-122"/>
                <a:sym typeface="Calibri" pitchFamily="34" charset="0"/>
              </a:defRPr>
            </a:lvl2pPr>
            <a:lvl3pPr marL="1143000" indent="-228600">
              <a:spcBef>
                <a:spcPct val="20000"/>
              </a:spcBef>
              <a:buFont typeface="Arial" panose="020B0604020202090204" pitchFamily="34" charset="0"/>
              <a:buChar char="•"/>
              <a:defRPr sz="2400">
                <a:solidFill>
                  <a:schemeClr val="tx1"/>
                </a:solidFill>
                <a:latin typeface="微软雅黑" charset="-122"/>
                <a:ea typeface="微软雅黑" charset="-122"/>
                <a:sym typeface="Calibri" pitchFamily="34" charset="0"/>
              </a:defRPr>
            </a:lvl3pPr>
            <a:lvl4pPr marL="16002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itchFamily="34" charset="0"/>
              </a:defRPr>
            </a:lvl4pPr>
            <a:lvl5pPr marL="20574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itchFamily="34" charset="0"/>
              </a:defRPr>
            </a:lvl9pPr>
          </a:lstStyle>
          <a:p>
            <a:pPr marL="0" marR="0" lvl="0" indent="0" algn="ctr" defTabSz="914400" eaLnBrk="1" fontAlgn="auto" latinLnBrk="0" hangingPunct="1">
              <a:lnSpc>
                <a:spcPct val="100000"/>
              </a:lnSpc>
              <a:spcBef>
                <a:spcPct val="0"/>
              </a:spcBef>
              <a:spcAft>
                <a:spcPts val="0"/>
              </a:spcAft>
              <a:buClrTx/>
              <a:buSzTx/>
              <a:buFont typeface="Arial" panose="020B0604020202090204" pitchFamily="34" charset="0"/>
              <a:buNone/>
              <a:defRPr/>
            </a:pPr>
            <a:endParaRPr kumimoji="0" lang="zh-CN" altLang="zh-CN" sz="1500" b="0" i="0" u="none" strike="noStrike" kern="0" cap="none" spc="0" normalizeH="0" baseline="0" noProof="0">
              <a:ln>
                <a:noFill/>
              </a:ln>
              <a:solidFill>
                <a:sysClr val="windowText" lastClr="000000">
                  <a:lumMod val="65000"/>
                  <a:lumOff val="35000"/>
                </a:sysClr>
              </a:solidFill>
              <a:effectLst/>
              <a:uLnTx/>
              <a:uFillTx/>
              <a:latin typeface="微软雅黑" charset="-122"/>
              <a:ea typeface="微软雅黑" charset="-122"/>
              <a:sym typeface="微软雅黑" charset="-122"/>
            </a:endParaRPr>
          </a:p>
        </p:txBody>
      </p:sp>
      <p:sp>
        <p:nvSpPr>
          <p:cNvPr id="15" name="等腰三角形 18"/>
          <p:cNvSpPr>
            <a:spLocks noChangeAspect="1" noChangeArrowheads="1"/>
          </p:cNvSpPr>
          <p:nvPr/>
        </p:nvSpPr>
        <p:spPr bwMode="auto">
          <a:xfrm rot="5400000" flipH="1" flipV="1">
            <a:off x="4892428" y="2608418"/>
            <a:ext cx="438767" cy="378367"/>
          </a:xfrm>
          <a:prstGeom prst="triangle">
            <a:avLst>
              <a:gd name="adj" fmla="val 50000"/>
            </a:avLst>
          </a:prstGeom>
          <a:solidFill>
            <a:schemeClr val="bg2">
              <a:lumMod val="50000"/>
            </a:schemeClr>
          </a:solidFill>
          <a:ln>
            <a:noFill/>
          </a:ln>
        </p:spPr>
        <p:txBody>
          <a:bodyPr lIns="68573" tIns="34287" rIns="68573" bIns="34287" anchor="ctr"/>
          <a:lstStyle>
            <a:lvl1pPr>
              <a:spcBef>
                <a:spcPct val="20000"/>
              </a:spcBef>
              <a:buFont typeface="Arial" panose="020B0604020202090204" pitchFamily="34" charset="0"/>
              <a:buChar char="•"/>
              <a:defRPr sz="3200">
                <a:solidFill>
                  <a:schemeClr val="tx1"/>
                </a:solidFill>
                <a:latin typeface="微软雅黑" charset="-122"/>
                <a:ea typeface="微软雅黑" charset="-122"/>
                <a:sym typeface="Calibri" pitchFamily="34" charset="0"/>
              </a:defRPr>
            </a:lvl1pPr>
            <a:lvl2pPr marL="742950" indent="-285750">
              <a:spcBef>
                <a:spcPct val="20000"/>
              </a:spcBef>
              <a:buFont typeface="Arial" panose="020B0604020202090204" pitchFamily="34" charset="0"/>
              <a:buChar char="–"/>
              <a:defRPr sz="2800">
                <a:solidFill>
                  <a:schemeClr val="tx1"/>
                </a:solidFill>
                <a:latin typeface="微软雅黑" charset="-122"/>
                <a:ea typeface="微软雅黑" charset="-122"/>
                <a:sym typeface="Calibri" pitchFamily="34" charset="0"/>
              </a:defRPr>
            </a:lvl2pPr>
            <a:lvl3pPr marL="1143000" indent="-228600">
              <a:spcBef>
                <a:spcPct val="20000"/>
              </a:spcBef>
              <a:buFont typeface="Arial" panose="020B0604020202090204" pitchFamily="34" charset="0"/>
              <a:buChar char="•"/>
              <a:defRPr sz="2400">
                <a:solidFill>
                  <a:schemeClr val="tx1"/>
                </a:solidFill>
                <a:latin typeface="微软雅黑" charset="-122"/>
                <a:ea typeface="微软雅黑" charset="-122"/>
                <a:sym typeface="Calibri" pitchFamily="34" charset="0"/>
              </a:defRPr>
            </a:lvl3pPr>
            <a:lvl4pPr marL="16002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itchFamily="34" charset="0"/>
              </a:defRPr>
            </a:lvl4pPr>
            <a:lvl5pPr marL="20574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itchFamily="34" charset="0"/>
              </a:defRPr>
            </a:lvl9pPr>
          </a:lstStyle>
          <a:p>
            <a:pPr marL="0" marR="0" lvl="0" indent="0" algn="ctr" defTabSz="914400" eaLnBrk="1" fontAlgn="auto" latinLnBrk="0" hangingPunct="1">
              <a:lnSpc>
                <a:spcPct val="100000"/>
              </a:lnSpc>
              <a:spcBef>
                <a:spcPct val="0"/>
              </a:spcBef>
              <a:spcAft>
                <a:spcPts val="0"/>
              </a:spcAft>
              <a:buClrTx/>
              <a:buSzTx/>
              <a:buFont typeface="Arial" panose="020B0604020202090204" pitchFamily="34" charset="0"/>
              <a:buNone/>
              <a:defRPr/>
            </a:pPr>
            <a:endParaRPr kumimoji="0" lang="zh-CN" altLang="zh-CN" sz="1500" b="0" i="0" u="none" strike="noStrike" kern="0" cap="none" spc="0" normalizeH="0" baseline="0" noProof="0">
              <a:ln>
                <a:noFill/>
              </a:ln>
              <a:solidFill>
                <a:sysClr val="windowText" lastClr="000000">
                  <a:lumMod val="65000"/>
                  <a:lumOff val="35000"/>
                </a:sysClr>
              </a:solidFill>
              <a:effectLst/>
              <a:uLnTx/>
              <a:uFillTx/>
              <a:latin typeface="微软雅黑" charset="-122"/>
              <a:ea typeface="微软雅黑" charset="-122"/>
              <a:sym typeface="微软雅黑" charset="-122"/>
            </a:endParaRPr>
          </a:p>
        </p:txBody>
      </p:sp>
      <p:sp>
        <p:nvSpPr>
          <p:cNvPr id="16" name="形状 15"/>
          <p:cNvSpPr/>
          <p:nvPr/>
        </p:nvSpPr>
        <p:spPr>
          <a:xfrm>
            <a:off x="5039474" y="2807813"/>
            <a:ext cx="1400989" cy="1401200"/>
          </a:xfrm>
          <a:prstGeom prst="leftCircularArrow">
            <a:avLst>
              <a:gd name="adj1" fmla="val 8909"/>
              <a:gd name="adj2" fmla="val 1142322"/>
              <a:gd name="adj3" fmla="val 6293598"/>
              <a:gd name="adj4" fmla="val 18900002"/>
              <a:gd name="adj5" fmla="val 12500"/>
            </a:avLst>
          </a:prstGeom>
          <a:solidFill>
            <a:schemeClr val="bg2">
              <a:lumMod val="50000"/>
            </a:schemeClr>
          </a:solidFill>
          <a:ln>
            <a:noFill/>
          </a:ln>
          <a:effectLst/>
        </p:spPr>
      </p:sp>
      <p:sp>
        <p:nvSpPr>
          <p:cNvPr id="17" name="空心弧 16"/>
          <p:cNvSpPr/>
          <p:nvPr/>
        </p:nvSpPr>
        <p:spPr>
          <a:xfrm>
            <a:off x="5542162" y="3724721"/>
            <a:ext cx="1203665" cy="1204148"/>
          </a:xfrm>
          <a:prstGeom prst="blockArc">
            <a:avLst>
              <a:gd name="adj1" fmla="val 13624405"/>
              <a:gd name="adj2" fmla="val 17228224"/>
              <a:gd name="adj3" fmla="val 11481"/>
            </a:avLst>
          </a:prstGeom>
          <a:solidFill>
            <a:srgbClr val="AC0000"/>
          </a:solidFill>
          <a:ln>
            <a:noFill/>
          </a:ln>
          <a:effectLst/>
        </p:spPr>
      </p:sp>
      <p:sp>
        <p:nvSpPr>
          <p:cNvPr id="30" name="空心弧 29"/>
          <p:cNvSpPr/>
          <p:nvPr/>
        </p:nvSpPr>
        <p:spPr>
          <a:xfrm>
            <a:off x="5542162" y="3724721"/>
            <a:ext cx="1203665" cy="1204148"/>
          </a:xfrm>
          <a:prstGeom prst="blockArc">
            <a:avLst>
              <a:gd name="adj1" fmla="val 17085111"/>
              <a:gd name="adj2" fmla="val 10799997"/>
              <a:gd name="adj3" fmla="val 11504"/>
            </a:avLst>
          </a:prstGeom>
          <a:solidFill>
            <a:srgbClr val="AC0000"/>
          </a:solidFill>
          <a:ln>
            <a:noFill/>
          </a:ln>
          <a:effectLst/>
        </p:spPr>
      </p:sp>
      <p:sp>
        <p:nvSpPr>
          <p:cNvPr id="31" name="任意多边形 80"/>
          <p:cNvSpPr/>
          <p:nvPr/>
        </p:nvSpPr>
        <p:spPr>
          <a:xfrm rot="17307692">
            <a:off x="5810286" y="2420108"/>
            <a:ext cx="1214450" cy="654324"/>
          </a:xfrm>
          <a:custGeom>
            <a:avLst/>
            <a:gdLst>
              <a:gd name="connsiteX0" fmla="*/ 4833930 w 4843779"/>
              <a:gd name="connsiteY0" fmla="*/ 0 h 2609741"/>
              <a:gd name="connsiteX1" fmla="*/ 4843489 w 4843779"/>
              <a:gd name="connsiteY1" fmla="*/ 152635 h 2609741"/>
              <a:gd name="connsiteX2" fmla="*/ 3517115 w 4843779"/>
              <a:gd name="connsiteY2" fmla="*/ 2348626 h 2609741"/>
              <a:gd name="connsiteX3" fmla="*/ 351244 w 4843779"/>
              <a:gd name="connsiteY3" fmla="*/ 1435790 h 2609741"/>
              <a:gd name="connsiteX4" fmla="*/ 0 w 4843779"/>
              <a:gd name="connsiteY4" fmla="*/ 1526124 h 2609741"/>
              <a:gd name="connsiteX5" fmla="*/ 380009 w 4843779"/>
              <a:gd name="connsiteY5" fmla="*/ 717222 h 2609741"/>
              <a:gd name="connsiteX6" fmla="*/ 1326890 w 4843779"/>
              <a:gd name="connsiteY6" fmla="*/ 1184874 h 2609741"/>
              <a:gd name="connsiteX7" fmla="*/ 981253 w 4843779"/>
              <a:gd name="connsiteY7" fmla="*/ 1273766 h 2609741"/>
              <a:gd name="connsiteX8" fmla="*/ 3348138 w 4843779"/>
              <a:gd name="connsiteY8" fmla="*/ 1741216 h 2609741"/>
              <a:gd name="connsiteX9" fmla="*/ 4226462 w 4843779"/>
              <a:gd name="connsiteY9" fmla="*/ 84448 h 2609741"/>
              <a:gd name="connsiteX10" fmla="*/ 4217585 w 4843779"/>
              <a:gd name="connsiteY10" fmla="*/ 0 h 2609741"/>
              <a:gd name="connsiteX11" fmla="*/ 4833930 w 4843779"/>
              <a:gd name="connsiteY11" fmla="*/ 0 h 2609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43779" h="2609741">
                <a:moveTo>
                  <a:pt x="4833930" y="0"/>
                </a:moveTo>
                <a:lnTo>
                  <a:pt x="4843489" y="152635"/>
                </a:lnTo>
                <a:cubicBezTo>
                  <a:pt x="4857473" y="1052464"/>
                  <a:pt x="4365817" y="1918999"/>
                  <a:pt x="3517115" y="2348626"/>
                </a:cubicBezTo>
                <a:cubicBezTo>
                  <a:pt x="2385597" y="2921419"/>
                  <a:pt x="1003828" y="2523005"/>
                  <a:pt x="351244" y="1435790"/>
                </a:cubicBezTo>
                <a:lnTo>
                  <a:pt x="0" y="1526124"/>
                </a:lnTo>
                <a:lnTo>
                  <a:pt x="380009" y="717222"/>
                </a:lnTo>
                <a:lnTo>
                  <a:pt x="1326890" y="1184874"/>
                </a:lnTo>
                <a:lnTo>
                  <a:pt x="981253" y="1273766"/>
                </a:lnTo>
                <a:cubicBezTo>
                  <a:pt x="1534634" y="2011589"/>
                  <a:pt x="2555569" y="2213219"/>
                  <a:pt x="3348138" y="1741216"/>
                </a:cubicBezTo>
                <a:cubicBezTo>
                  <a:pt x="3942651" y="1387163"/>
                  <a:pt x="4265044" y="739620"/>
                  <a:pt x="4226462" y="84448"/>
                </a:cubicBezTo>
                <a:lnTo>
                  <a:pt x="4217585" y="0"/>
                </a:lnTo>
                <a:lnTo>
                  <a:pt x="4833930" y="0"/>
                </a:lnTo>
                <a:close/>
              </a:path>
            </a:pathLst>
          </a:custGeom>
          <a:solidFill>
            <a:srgbClr val="AC0000"/>
          </a:solidFill>
          <a:ln w="12700" cap="flat" cmpd="sng" algn="ctr">
            <a:noFill/>
            <a:prstDash val="solid"/>
            <a:miter lim="800000"/>
          </a:ln>
          <a:effectLst/>
        </p:spPr>
        <p:txBody>
          <a:bodyPr lIns="68580" tIns="34290" rIns="68580" bIns="3429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900" b="0" i="0" u="none" strike="noStrike" kern="0" cap="none" spc="0" normalizeH="0" baseline="0" noProof="0">
              <a:ln>
                <a:noFill/>
              </a:ln>
              <a:solidFill>
                <a:sysClr val="windowText" lastClr="000000">
                  <a:lumMod val="65000"/>
                  <a:lumOff val="35000"/>
                </a:sysClr>
              </a:solidFill>
              <a:effectLst/>
              <a:uLnTx/>
              <a:uFillTx/>
              <a:latin typeface="Calibri"/>
              <a:ea typeface="宋体"/>
              <a:cs typeface="+mn-cs"/>
            </a:endParaRPr>
          </a:p>
        </p:txBody>
      </p:sp>
      <p:sp>
        <p:nvSpPr>
          <p:cNvPr id="32" name="等腰三角形 31"/>
          <p:cNvSpPr>
            <a:spLocks noChangeAspect="1" noChangeArrowheads="1"/>
          </p:cNvSpPr>
          <p:nvPr/>
        </p:nvSpPr>
        <p:spPr bwMode="auto">
          <a:xfrm rot="16200000" flipV="1">
            <a:off x="6723263" y="3949304"/>
            <a:ext cx="473672" cy="408467"/>
          </a:xfrm>
          <a:prstGeom prst="triangle">
            <a:avLst>
              <a:gd name="adj" fmla="val 50000"/>
            </a:avLst>
          </a:prstGeom>
          <a:solidFill>
            <a:srgbClr val="AC0000"/>
          </a:solidFill>
          <a:ln>
            <a:noFill/>
          </a:ln>
        </p:spPr>
        <p:txBody>
          <a:bodyPr lIns="68573" tIns="34287" rIns="68573" bIns="34287" anchor="ctr"/>
          <a:lstStyle>
            <a:lvl1pPr>
              <a:spcBef>
                <a:spcPct val="20000"/>
              </a:spcBef>
              <a:buFont typeface="Arial" panose="020B0604020202090204" pitchFamily="34" charset="0"/>
              <a:buChar char="•"/>
              <a:defRPr sz="3200">
                <a:solidFill>
                  <a:schemeClr val="tx1"/>
                </a:solidFill>
                <a:latin typeface="微软雅黑" charset="-122"/>
                <a:ea typeface="微软雅黑" charset="-122"/>
                <a:sym typeface="Calibri" pitchFamily="34" charset="0"/>
              </a:defRPr>
            </a:lvl1pPr>
            <a:lvl2pPr marL="742950" indent="-285750">
              <a:spcBef>
                <a:spcPct val="20000"/>
              </a:spcBef>
              <a:buFont typeface="Arial" panose="020B0604020202090204" pitchFamily="34" charset="0"/>
              <a:buChar char="–"/>
              <a:defRPr sz="2800">
                <a:solidFill>
                  <a:schemeClr val="tx1"/>
                </a:solidFill>
                <a:latin typeface="微软雅黑" charset="-122"/>
                <a:ea typeface="微软雅黑" charset="-122"/>
                <a:sym typeface="Calibri" pitchFamily="34" charset="0"/>
              </a:defRPr>
            </a:lvl2pPr>
            <a:lvl3pPr marL="1143000" indent="-228600">
              <a:spcBef>
                <a:spcPct val="20000"/>
              </a:spcBef>
              <a:buFont typeface="Arial" panose="020B0604020202090204" pitchFamily="34" charset="0"/>
              <a:buChar char="•"/>
              <a:defRPr sz="2400">
                <a:solidFill>
                  <a:schemeClr val="tx1"/>
                </a:solidFill>
                <a:latin typeface="微软雅黑" charset="-122"/>
                <a:ea typeface="微软雅黑" charset="-122"/>
                <a:sym typeface="Calibri" pitchFamily="34" charset="0"/>
              </a:defRPr>
            </a:lvl3pPr>
            <a:lvl4pPr marL="16002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itchFamily="34" charset="0"/>
              </a:defRPr>
            </a:lvl4pPr>
            <a:lvl5pPr marL="2057400" indent="-228600">
              <a:spcBef>
                <a:spcPct val="20000"/>
              </a:spcBef>
              <a:buFont typeface="Arial" panose="020B0604020202090204" pitchFamily="34" charset="0"/>
              <a:buChar char="»"/>
              <a:defRPr sz="2000">
                <a:solidFill>
                  <a:schemeClr val="tx1"/>
                </a:solidFill>
                <a:latin typeface="微软雅黑" charset="-122"/>
                <a:ea typeface="微软雅黑" charset="-122"/>
                <a:sym typeface="Calibri"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微软雅黑" charset="-122"/>
                <a:ea typeface="微软雅黑" charset="-122"/>
                <a:sym typeface="Calibri" pitchFamily="34" charset="0"/>
              </a:defRPr>
            </a:lvl9pPr>
          </a:lstStyle>
          <a:p>
            <a:pPr marL="0" marR="0" lvl="0" indent="0" algn="ctr" defTabSz="914400" eaLnBrk="1" fontAlgn="auto" latinLnBrk="0" hangingPunct="1">
              <a:lnSpc>
                <a:spcPct val="100000"/>
              </a:lnSpc>
              <a:spcBef>
                <a:spcPct val="0"/>
              </a:spcBef>
              <a:spcAft>
                <a:spcPts val="0"/>
              </a:spcAft>
              <a:buClrTx/>
              <a:buSzTx/>
              <a:buFont typeface="Arial" panose="020B0604020202090204" pitchFamily="34" charset="0"/>
              <a:buNone/>
              <a:defRPr/>
            </a:pPr>
            <a:endParaRPr kumimoji="0" lang="zh-CN" altLang="zh-CN" sz="1500" b="0" i="0" u="none" strike="noStrike" kern="0" cap="none" spc="0" normalizeH="0" baseline="0" noProof="0">
              <a:ln>
                <a:noFill/>
              </a:ln>
              <a:solidFill>
                <a:sysClr val="windowText" lastClr="000000">
                  <a:lumMod val="65000"/>
                  <a:lumOff val="35000"/>
                </a:sysClr>
              </a:solidFill>
              <a:effectLst/>
              <a:uLnTx/>
              <a:uFillTx/>
              <a:latin typeface="微软雅黑" charset="-122"/>
              <a:ea typeface="微软雅黑" charset="-122"/>
              <a:sym typeface="微软雅黑" charset="-122"/>
            </a:endParaRPr>
          </a:p>
        </p:txBody>
      </p:sp>
      <p:sp>
        <p:nvSpPr>
          <p:cNvPr id="33" name="灯片编号占位符 1"/>
          <p:cNvSpPr txBox="1"/>
          <p:nvPr/>
        </p:nvSpPr>
        <p:spPr>
          <a:xfrm>
            <a:off x="9428318" y="6547125"/>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up)">
                                      <p:cBhvr>
                                        <p:cTn id="7" dur="600"/>
                                        <p:tgtEl>
                                          <p:spTgt spid="31"/>
                                        </p:tgtEl>
                                      </p:cBhvr>
                                    </p:animEffect>
                                  </p:childTnLst>
                                </p:cTn>
                              </p:par>
                            </p:childTnLst>
                          </p:cTn>
                        </p:par>
                        <p:par>
                          <p:cTn id="8" fill="hold">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26" presetClass="emph" presetSubtype="0" fill="hold" grpId="1" nodeType="withEffect">
                                  <p:stCondLst>
                                    <p:cond delay="0"/>
                                  </p:stCondLst>
                                  <p:childTnLst>
                                    <p:animEffect transition="out" filter="fade">
                                      <p:cBhvr>
                                        <p:cTn id="12" dur="500" tmFilter="0, 0; .2, .5; .8, .5; 1, 0"/>
                                        <p:tgtEl>
                                          <p:spTgt spid="13"/>
                                        </p:tgtEl>
                                      </p:cBhvr>
                                    </p:animEffect>
                                    <p:animScale>
                                      <p:cBhvr>
                                        <p:cTn id="13" dur="250" autoRev="1" fill="hold"/>
                                        <p:tgtEl>
                                          <p:spTgt spid="13"/>
                                        </p:tgtEl>
                                      </p:cBhvr>
                                      <p:by x="105000" y="105000"/>
                                    </p:animScale>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up)">
                                      <p:cBhvr>
                                        <p:cTn id="17" dur="750"/>
                                        <p:tgtEl>
                                          <p:spTgt spid="16"/>
                                        </p:tgtEl>
                                      </p:cBhvr>
                                    </p:animEffect>
                                  </p:childTnLst>
                                </p:cTn>
                              </p:par>
                            </p:childTnLst>
                          </p:cTn>
                        </p:par>
                        <p:par>
                          <p:cTn id="18" fill="hold">
                            <p:stCondLst>
                              <p:cond delay="2000"/>
                            </p:stCondLst>
                            <p:childTnLst>
                              <p:par>
                                <p:cTn id="19" presetID="1" presetClass="entr" presetSubtype="0"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26" presetClass="emph" presetSubtype="0" fill="hold" grpId="1" nodeType="withEffect">
                                  <p:stCondLst>
                                    <p:cond delay="0"/>
                                  </p:stCondLst>
                                  <p:childTnLst>
                                    <p:animEffect transition="out" filter="fade">
                                      <p:cBhvr>
                                        <p:cTn id="22" dur="500" tmFilter="0, 0; .2, .5; .8, .5; 1, 0"/>
                                        <p:tgtEl>
                                          <p:spTgt spid="15"/>
                                        </p:tgtEl>
                                      </p:cBhvr>
                                    </p:animEffect>
                                    <p:animScale>
                                      <p:cBhvr>
                                        <p:cTn id="23" dur="250" autoRev="1" fill="hold"/>
                                        <p:tgtEl>
                                          <p:spTgt spid="15"/>
                                        </p:tgtEl>
                                      </p:cBhvr>
                                      <p:by x="105000" y="105000"/>
                                    </p:animScale>
                                  </p:childTnLst>
                                </p:cTn>
                              </p:par>
                            </p:childTnLst>
                          </p:cTn>
                        </p:par>
                        <p:par>
                          <p:cTn id="24" fill="hold">
                            <p:stCondLst>
                              <p:cond delay="2000"/>
                            </p:stCondLst>
                            <p:childTnLst>
                              <p:par>
                                <p:cTn id="25" presetID="22" presetClass="entr" presetSubtype="8"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250"/>
                                        <p:tgtEl>
                                          <p:spTgt spid="17"/>
                                        </p:tgtEl>
                                      </p:cBhvr>
                                    </p:animEffect>
                                  </p:childTnLst>
                                </p:cTn>
                              </p:par>
                            </p:childTnLst>
                          </p:cTn>
                        </p:par>
                        <p:par>
                          <p:cTn id="28" fill="hold">
                            <p:stCondLst>
                              <p:cond delay="2500"/>
                            </p:stCondLst>
                            <p:childTnLst>
                              <p:par>
                                <p:cTn id="29" presetID="21" presetClass="entr" presetSubtype="1" fill="hold"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wheel(1)">
                                      <p:cBhvr>
                                        <p:cTn id="31" dur="1000"/>
                                        <p:tgtEl>
                                          <p:spTgt spid="30"/>
                                        </p:tgtEl>
                                      </p:cBhvr>
                                    </p:animEffect>
                                  </p:childTnLst>
                                </p:cTn>
                              </p:par>
                            </p:childTnLst>
                          </p:cTn>
                        </p:par>
                        <p:par>
                          <p:cTn id="32" fill="hold">
                            <p:stCondLst>
                              <p:cond delay="3500"/>
                            </p:stCondLst>
                            <p:childTnLst>
                              <p:par>
                                <p:cTn id="33" presetID="1" presetClass="entr" presetSubtype="0" fill="hold" grpId="0" nodeType="after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par>
                                <p:cTn id="35" presetID="26" presetClass="emph" presetSubtype="0" fill="hold" grpId="1" nodeType="withEffect">
                                  <p:stCondLst>
                                    <p:cond delay="0"/>
                                  </p:stCondLst>
                                  <p:childTnLst>
                                    <p:animEffect transition="out" filter="fade">
                                      <p:cBhvr>
                                        <p:cTn id="36" dur="500" tmFilter="0, 0; .2, .5; .8, .5; 1, 0"/>
                                        <p:tgtEl>
                                          <p:spTgt spid="32"/>
                                        </p:tgtEl>
                                      </p:cBhvr>
                                    </p:animEffect>
                                    <p:animScale>
                                      <p:cBhvr>
                                        <p:cTn id="37" dur="250" autoRev="1" fill="hold"/>
                                        <p:tgtEl>
                                          <p:spTgt spid="3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5" grpId="0" animBg="1"/>
      <p:bldP spid="15" grpId="1" animBg="1"/>
      <p:bldP spid="31" grpId="0" animBg="1"/>
      <p:bldP spid="32" grpId="0" animBg="1"/>
      <p:bldP spid="32" grpId="1"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3571638" y="1435954"/>
            <a:ext cx="0" cy="493656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矩形 2"/>
          <p:cNvSpPr/>
          <p:nvPr/>
        </p:nvSpPr>
        <p:spPr>
          <a:xfrm>
            <a:off x="313509" y="1435954"/>
            <a:ext cx="3050716" cy="3693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cs typeface="+mn-ea"/>
                <a:sym typeface="+mn-lt"/>
              </a:rPr>
              <a:t>一级大纲</a:t>
            </a:r>
            <a:endParaRPr lang="zh-CN" altLang="en-US" sz="1800" b="1" dirty="0">
              <a:cs typeface="+mn-ea"/>
              <a:sym typeface="+mn-lt"/>
            </a:endParaRPr>
          </a:p>
        </p:txBody>
      </p:sp>
      <p:graphicFrame>
        <p:nvGraphicFramePr>
          <p:cNvPr id="4" name="表格 3"/>
          <p:cNvGraphicFramePr>
            <a:graphicFrameLocks noGrp="1"/>
          </p:cNvGraphicFramePr>
          <p:nvPr/>
        </p:nvGraphicFramePr>
        <p:xfrm>
          <a:off x="313510" y="1920412"/>
          <a:ext cx="3044370" cy="3816090"/>
        </p:xfrm>
        <a:graphic>
          <a:graphicData uri="http://schemas.openxmlformats.org/drawingml/2006/table">
            <a:tbl>
              <a:tblPr firstRow="1" firstCol="1" bandRow="1">
                <a:tableStyleId>{5940675A-B579-460E-94D1-54222C63F5DA}</a:tableStyleId>
              </a:tblPr>
              <a:tblGrid>
                <a:gridCol w="1058090"/>
                <a:gridCol w="1986280"/>
              </a:tblGrid>
              <a:tr h="636015">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zh-CN" sz="1600" b="1" kern="100" dirty="0">
                          <a:solidFill>
                            <a:schemeClr val="tx1"/>
                          </a:solidFill>
                          <a:effectLst/>
                          <a:latin typeface="+mn-lt"/>
                          <a:ea typeface="+mn-ea"/>
                          <a:cs typeface="+mn-ea"/>
                          <a:sym typeface="+mn-lt"/>
                        </a:rPr>
                        <a:t>第一章</a:t>
                      </a:r>
                      <a:endParaRPr lang="zh-CN" altLang="zh-CN" sz="1600" b="1" kern="100" dirty="0">
                        <a:solidFill>
                          <a:schemeClr val="tx1"/>
                        </a:solidFill>
                        <a:effectLst/>
                        <a:latin typeface="+mn-lt"/>
                        <a:ea typeface="+mn-ea"/>
                        <a:cs typeface="+mn-ea"/>
                        <a:sym typeface="+mn-lt"/>
                      </a:endParaRPr>
                    </a:p>
                  </a:txBody>
                  <a:tcPr marL="50270" marR="50270" marT="0" marB="0" anchor="ctr">
                    <a:noFill/>
                  </a:tcPr>
                </a:tc>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600" b="1" kern="100" dirty="0">
                          <a:solidFill>
                            <a:srgbClr val="C00000"/>
                          </a:solidFill>
                          <a:effectLst/>
                          <a:latin typeface="+mn-lt"/>
                          <a:ea typeface="+mn-ea"/>
                          <a:cs typeface="+mn-ea"/>
                          <a:sym typeface="+mn-lt"/>
                        </a:rPr>
                        <a:t>发展环境</a:t>
                      </a:r>
                      <a:endParaRPr lang="zh-CN" altLang="zh-CN" sz="1600" b="1" kern="100" dirty="0">
                        <a:solidFill>
                          <a:srgbClr val="C00000"/>
                        </a:solidFill>
                        <a:effectLst/>
                        <a:latin typeface="+mn-lt"/>
                        <a:ea typeface="+mn-ea"/>
                        <a:cs typeface="+mn-ea"/>
                        <a:sym typeface="+mn-lt"/>
                      </a:endParaRPr>
                    </a:p>
                  </a:txBody>
                  <a:tcPr marL="50270" marR="50270" marT="0" marB="0" anchor="ctr">
                    <a:noFill/>
                  </a:tcPr>
                </a:tc>
              </a:tr>
              <a:tr h="636015">
                <a:tc>
                  <a:txBody>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en-US" sz="1600" b="1" kern="100" dirty="0">
                          <a:solidFill>
                            <a:schemeClr val="tx1"/>
                          </a:solidFill>
                          <a:effectLst/>
                          <a:latin typeface="+mn-lt"/>
                          <a:ea typeface="+mn-ea"/>
                          <a:cs typeface="+mn-ea"/>
                          <a:sym typeface="+mn-lt"/>
                        </a:rPr>
                        <a:t>第二章</a:t>
                      </a:r>
                      <a:endParaRPr lang="zh-CN" altLang="en-US" sz="1600" b="1" kern="100" dirty="0">
                        <a:solidFill>
                          <a:schemeClr val="tx1"/>
                        </a:solidFill>
                        <a:effectLst/>
                        <a:latin typeface="+mn-lt"/>
                        <a:ea typeface="+mn-ea"/>
                        <a:cs typeface="+mn-ea"/>
                        <a:sym typeface="+mn-lt"/>
                      </a:endParaRPr>
                    </a:p>
                  </a:txBody>
                  <a:tcPr marL="50270" marR="50270" marT="0" marB="0" anchor="ctr">
                    <a:noFill/>
                  </a:tcPr>
                </a:tc>
                <a:tc>
                  <a:txBody>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600" b="1" kern="100" dirty="0">
                          <a:solidFill>
                            <a:srgbClr val="C00000"/>
                          </a:solidFill>
                          <a:effectLst/>
                          <a:latin typeface="+mn-lt"/>
                          <a:ea typeface="+mn-ea"/>
                          <a:cs typeface="+mn-ea"/>
                          <a:sym typeface="+mn-lt"/>
                        </a:rPr>
                        <a:t>总体布局</a:t>
                      </a:r>
                      <a:endParaRPr lang="zh-CN" altLang="en-US" sz="1600" b="1" kern="100" dirty="0">
                        <a:solidFill>
                          <a:srgbClr val="C00000"/>
                        </a:solidFill>
                        <a:effectLst/>
                        <a:latin typeface="+mn-lt"/>
                        <a:ea typeface="+mn-ea"/>
                        <a:cs typeface="+mn-ea"/>
                        <a:sym typeface="+mn-lt"/>
                      </a:endParaRPr>
                    </a:p>
                  </a:txBody>
                  <a:tcPr marL="50270" marR="50270" marT="0" marB="0" anchor="ctr">
                    <a:noFill/>
                  </a:tcPr>
                </a:tc>
              </a:tr>
              <a:tr h="636015">
                <a:tc>
                  <a:txBody>
                    <a:bodyPr/>
                    <a:lstStyle/>
                    <a:p>
                      <a:pPr marL="0" algn="ctr" defTabSz="914400" rtl="0" eaLnBrk="1" latinLnBrk="0" hangingPunct="1">
                        <a:lnSpc>
                          <a:spcPct val="130000"/>
                        </a:lnSpc>
                      </a:pPr>
                      <a:r>
                        <a:rPr lang="zh-CN" altLang="en-US" sz="1600" b="1" kern="100" dirty="0">
                          <a:solidFill>
                            <a:schemeClr val="tx1"/>
                          </a:solidFill>
                          <a:effectLst/>
                          <a:latin typeface="+mn-lt"/>
                          <a:ea typeface="+mn-ea"/>
                          <a:cs typeface="+mn-ea"/>
                          <a:sym typeface="+mn-lt"/>
                        </a:rPr>
                        <a:t>第三章</a:t>
                      </a:r>
                      <a:endParaRPr lang="zh-CN" altLang="en-US" sz="1600" b="1" kern="100" dirty="0">
                        <a:solidFill>
                          <a:schemeClr val="tx1"/>
                        </a:solidFill>
                        <a:effectLst/>
                        <a:latin typeface="+mn-lt"/>
                        <a:ea typeface="+mn-ea"/>
                        <a:cs typeface="+mn-ea"/>
                        <a:sym typeface="+mn-lt"/>
                      </a:endParaRPr>
                    </a:p>
                  </a:txBody>
                  <a:tcPr marL="50270" marR="50270" marT="0" marB="0" anchor="ctr">
                    <a:noFill/>
                  </a:tcPr>
                </a:tc>
                <a:tc>
                  <a:txBody>
                    <a:bodyPr/>
                    <a:lstStyle/>
                    <a:p>
                      <a:pPr marL="0" algn="ctr" defTabSz="914400" rtl="0" eaLnBrk="1" latinLnBrk="0" hangingPunct="1">
                        <a:lnSpc>
                          <a:spcPct val="120000"/>
                        </a:lnSpc>
                      </a:pPr>
                      <a:r>
                        <a:rPr lang="zh-CN" altLang="en-US" sz="1600" b="1" kern="100" dirty="0">
                          <a:solidFill>
                            <a:srgbClr val="C00000"/>
                          </a:solidFill>
                          <a:effectLst/>
                          <a:latin typeface="+mn-lt"/>
                          <a:ea typeface="+mn-ea"/>
                          <a:cs typeface="+mn-ea"/>
                          <a:sym typeface="+mn-lt"/>
                        </a:rPr>
                        <a:t>项目建设</a:t>
                      </a:r>
                      <a:endParaRPr lang="zh-CN" altLang="zh-CN" sz="1600" b="1" kern="100" dirty="0">
                        <a:solidFill>
                          <a:srgbClr val="C00000"/>
                        </a:solidFill>
                        <a:effectLst/>
                        <a:latin typeface="+mn-lt"/>
                        <a:ea typeface="+mn-ea"/>
                        <a:cs typeface="+mn-ea"/>
                        <a:sym typeface="+mn-lt"/>
                      </a:endParaRPr>
                    </a:p>
                  </a:txBody>
                  <a:tcPr marL="50270" marR="50270" marT="0" marB="0" anchor="ctr">
                    <a:noFill/>
                  </a:tcPr>
                </a:tc>
              </a:tr>
              <a:tr h="636015">
                <a:tc>
                  <a:txBody>
                    <a:bodyPr/>
                    <a:lstStyle/>
                    <a:p>
                      <a:pPr marL="0" algn="ctr" defTabSz="914400" rtl="0" eaLnBrk="1" latinLnBrk="0" hangingPunct="1">
                        <a:lnSpc>
                          <a:spcPct val="130000"/>
                        </a:lnSpc>
                      </a:pPr>
                      <a:r>
                        <a:rPr lang="zh-CN" altLang="en-US" sz="1600" b="1" kern="100" dirty="0">
                          <a:solidFill>
                            <a:schemeClr val="tx1"/>
                          </a:solidFill>
                          <a:effectLst/>
                          <a:latin typeface="+mn-lt"/>
                          <a:ea typeface="+mn-ea"/>
                          <a:cs typeface="+mn-ea"/>
                          <a:sym typeface="+mn-lt"/>
                        </a:rPr>
                        <a:t>第四章</a:t>
                      </a:r>
                      <a:endParaRPr lang="zh-CN" altLang="en-US" sz="1600" b="1" kern="100" dirty="0">
                        <a:solidFill>
                          <a:schemeClr val="tx1"/>
                        </a:solidFill>
                        <a:effectLst/>
                        <a:latin typeface="+mn-lt"/>
                        <a:ea typeface="+mn-ea"/>
                        <a:cs typeface="+mn-ea"/>
                        <a:sym typeface="+mn-lt"/>
                      </a:endParaRPr>
                    </a:p>
                  </a:txBody>
                  <a:tcPr marL="50270" marR="50270" marT="0" marB="0" anchor="ctr">
                    <a:noFill/>
                  </a:tcPr>
                </a:tc>
                <a:tc>
                  <a:txBody>
                    <a:bodyPr/>
                    <a:lstStyle/>
                    <a:p>
                      <a:pPr marL="0" algn="ctr" defTabSz="914400" rtl="0" eaLnBrk="1" latinLnBrk="0" hangingPunct="1">
                        <a:lnSpc>
                          <a:spcPct val="120000"/>
                        </a:lnSpc>
                      </a:pPr>
                      <a:r>
                        <a:rPr lang="zh-CN" altLang="en-US" sz="1600" b="1" kern="100" dirty="0">
                          <a:solidFill>
                            <a:srgbClr val="C00000"/>
                          </a:solidFill>
                          <a:effectLst/>
                          <a:latin typeface="+mn-lt"/>
                          <a:ea typeface="+mn-ea"/>
                          <a:cs typeface="+mn-ea"/>
                          <a:sym typeface="+mn-lt"/>
                        </a:rPr>
                        <a:t>能力建设</a:t>
                      </a:r>
                      <a:endParaRPr lang="zh-CN" altLang="en-US" sz="1600" b="1" kern="100" dirty="0">
                        <a:solidFill>
                          <a:srgbClr val="C00000"/>
                        </a:solidFill>
                        <a:effectLst/>
                        <a:latin typeface="+mn-lt"/>
                        <a:ea typeface="+mn-ea"/>
                        <a:cs typeface="+mn-ea"/>
                        <a:sym typeface="+mn-lt"/>
                      </a:endParaRPr>
                    </a:p>
                  </a:txBody>
                  <a:tcPr marL="50270" marR="50270" marT="0" marB="0" anchor="ctr">
                    <a:noFill/>
                  </a:tcPr>
                </a:tc>
              </a:tr>
              <a:tr h="636015">
                <a:tc>
                  <a:txBody>
                    <a:bodyPr/>
                    <a:lstStyle/>
                    <a:p>
                      <a:pPr marL="0" algn="ctr" defTabSz="914400" rtl="0" eaLnBrk="1" latinLnBrk="0" hangingPunct="1">
                        <a:lnSpc>
                          <a:spcPct val="130000"/>
                        </a:lnSpc>
                      </a:pPr>
                      <a:r>
                        <a:rPr lang="zh-CN" altLang="en-US" sz="1600" b="1" kern="100" dirty="0">
                          <a:solidFill>
                            <a:schemeClr val="tx1"/>
                          </a:solidFill>
                          <a:effectLst/>
                          <a:latin typeface="+mn-lt"/>
                          <a:ea typeface="+mn-ea"/>
                          <a:cs typeface="+mn-ea"/>
                          <a:sym typeface="+mn-lt"/>
                        </a:rPr>
                        <a:t>第五章</a:t>
                      </a:r>
                      <a:endParaRPr lang="zh-CN" altLang="en-US" sz="1600" b="1" kern="100" dirty="0">
                        <a:solidFill>
                          <a:schemeClr val="tx1"/>
                        </a:solidFill>
                        <a:effectLst/>
                        <a:latin typeface="+mn-lt"/>
                        <a:ea typeface="+mn-ea"/>
                        <a:cs typeface="+mn-ea"/>
                        <a:sym typeface="+mn-lt"/>
                      </a:endParaRPr>
                    </a:p>
                  </a:txBody>
                  <a:tcPr marL="50270" marR="50270" marT="0" marB="0" anchor="ctr">
                    <a:noFill/>
                  </a:tcPr>
                </a:tc>
                <a:tc>
                  <a:txBody>
                    <a:bodyPr/>
                    <a:lstStyle/>
                    <a:p>
                      <a:pPr marL="0" algn="ctr" defTabSz="914400" rtl="0" eaLnBrk="1" latinLnBrk="0" hangingPunct="1">
                        <a:lnSpc>
                          <a:spcPct val="120000"/>
                        </a:lnSpc>
                      </a:pPr>
                      <a:r>
                        <a:rPr lang="zh-CN" altLang="en-US" sz="1600" b="1" kern="100" dirty="0">
                          <a:solidFill>
                            <a:srgbClr val="C00000"/>
                          </a:solidFill>
                          <a:effectLst/>
                          <a:latin typeface="+mn-lt"/>
                          <a:ea typeface="+mn-ea"/>
                          <a:cs typeface="+mn-ea"/>
                          <a:sym typeface="+mn-lt"/>
                        </a:rPr>
                        <a:t>资源建设</a:t>
                      </a:r>
                      <a:endParaRPr lang="zh-CN" altLang="en-US" sz="1600" b="1" kern="100" dirty="0">
                        <a:solidFill>
                          <a:srgbClr val="C00000"/>
                        </a:solidFill>
                        <a:effectLst/>
                        <a:latin typeface="+mn-lt"/>
                        <a:ea typeface="+mn-ea"/>
                        <a:cs typeface="+mn-ea"/>
                        <a:sym typeface="+mn-lt"/>
                      </a:endParaRPr>
                    </a:p>
                  </a:txBody>
                  <a:tcPr marL="50270" marR="50270" marT="0" marB="0" anchor="ctr">
                    <a:noFill/>
                  </a:tcPr>
                </a:tc>
              </a:tr>
              <a:tr h="636015">
                <a:tc>
                  <a:txBody>
                    <a:bodyPr/>
                    <a:lstStyle/>
                    <a:p>
                      <a:pPr algn="ctr">
                        <a:lnSpc>
                          <a:spcPct val="130000"/>
                        </a:lnSpc>
                      </a:pPr>
                      <a:r>
                        <a:rPr lang="zh-CN" sz="1800" b="1" kern="100" dirty="0">
                          <a:solidFill>
                            <a:schemeClr val="bg1"/>
                          </a:solidFill>
                          <a:effectLst/>
                          <a:latin typeface="+mn-lt"/>
                          <a:ea typeface="+mn-ea"/>
                          <a:cs typeface="+mn-ea"/>
                          <a:sym typeface="+mn-lt"/>
                        </a:rPr>
                        <a:t>第</a:t>
                      </a:r>
                      <a:r>
                        <a:rPr lang="zh-CN" altLang="en-US" sz="1800" b="1" kern="100" dirty="0">
                          <a:solidFill>
                            <a:schemeClr val="bg1"/>
                          </a:solidFill>
                          <a:effectLst/>
                          <a:latin typeface="+mn-lt"/>
                          <a:ea typeface="+mn-ea"/>
                          <a:cs typeface="+mn-ea"/>
                          <a:sym typeface="+mn-lt"/>
                        </a:rPr>
                        <a:t>六</a:t>
                      </a:r>
                      <a:r>
                        <a:rPr lang="zh-CN" sz="1800" b="1" kern="100" dirty="0">
                          <a:solidFill>
                            <a:schemeClr val="bg1"/>
                          </a:solidFill>
                          <a:effectLst/>
                          <a:latin typeface="+mn-lt"/>
                          <a:ea typeface="+mn-ea"/>
                          <a:cs typeface="+mn-ea"/>
                          <a:sym typeface="+mn-lt"/>
                        </a:rPr>
                        <a:t>章</a:t>
                      </a:r>
                      <a:endParaRPr lang="zh-CN" sz="1800" b="1" kern="100" dirty="0">
                        <a:solidFill>
                          <a:schemeClr val="bg1"/>
                        </a:solidFill>
                        <a:effectLst/>
                        <a:latin typeface="+mn-lt"/>
                        <a:ea typeface="+mn-ea"/>
                        <a:cs typeface="+mn-ea"/>
                        <a:sym typeface="+mn-lt"/>
                      </a:endParaRPr>
                    </a:p>
                  </a:txBody>
                  <a:tcPr marL="50270" marR="50270" marT="0" marB="0" anchor="ctr">
                    <a:solidFill>
                      <a:srgbClr val="C00000"/>
                    </a:solidFill>
                  </a:tcPr>
                </a:tc>
                <a:tc>
                  <a:txBody>
                    <a:bodyPr/>
                    <a:lstStyle/>
                    <a:p>
                      <a:pPr algn="ctr">
                        <a:lnSpc>
                          <a:spcPct val="120000"/>
                        </a:lnSpc>
                      </a:pPr>
                      <a:r>
                        <a:rPr lang="zh-CN" altLang="en-US" sz="2000" b="1" kern="100" dirty="0">
                          <a:solidFill>
                            <a:schemeClr val="bg1"/>
                          </a:solidFill>
                          <a:effectLst/>
                          <a:latin typeface="+mn-lt"/>
                          <a:ea typeface="+mn-ea"/>
                          <a:cs typeface="+mn-ea"/>
                          <a:sym typeface="+mn-lt"/>
                        </a:rPr>
                        <a:t>实施</a:t>
                      </a:r>
                      <a:r>
                        <a:rPr lang="zh-CN" sz="2000" b="1" kern="100" dirty="0">
                          <a:solidFill>
                            <a:schemeClr val="bg1"/>
                          </a:solidFill>
                          <a:effectLst/>
                          <a:latin typeface="+mn-lt"/>
                          <a:ea typeface="+mn-ea"/>
                          <a:cs typeface="+mn-ea"/>
                          <a:sym typeface="+mn-lt"/>
                        </a:rPr>
                        <a:t>保障</a:t>
                      </a:r>
                      <a:endParaRPr lang="zh-CN" sz="2000" b="1" kern="100" dirty="0">
                        <a:solidFill>
                          <a:schemeClr val="bg1"/>
                        </a:solidFill>
                        <a:effectLst/>
                        <a:latin typeface="+mn-lt"/>
                        <a:ea typeface="+mn-ea"/>
                        <a:cs typeface="+mn-ea"/>
                        <a:sym typeface="+mn-lt"/>
                      </a:endParaRPr>
                    </a:p>
                  </a:txBody>
                  <a:tcPr marL="50270" marR="50270" marT="0" marB="0" anchor="ctr">
                    <a:solidFill>
                      <a:srgbClr val="C00000"/>
                    </a:solidFill>
                  </a:tcPr>
                </a:tc>
              </a:tr>
            </a:tbl>
          </a:graphicData>
        </a:graphic>
      </p:graphicFrame>
      <p:sp>
        <p:nvSpPr>
          <p:cNvPr id="7" name="箭头: 五边形 6"/>
          <p:cNvSpPr/>
          <p:nvPr/>
        </p:nvSpPr>
        <p:spPr>
          <a:xfrm>
            <a:off x="3364225" y="5094500"/>
            <a:ext cx="489302" cy="369332"/>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矩形 11"/>
          <p:cNvSpPr/>
          <p:nvPr/>
        </p:nvSpPr>
        <p:spPr>
          <a:xfrm>
            <a:off x="3853526" y="1435954"/>
            <a:ext cx="7496345" cy="36933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a:cs typeface="+mn-ea"/>
                <a:sym typeface="+mn-lt"/>
              </a:rPr>
              <a:t>二</a:t>
            </a:r>
            <a:r>
              <a:rPr lang="en-US" altLang="zh-CN" sz="1800" dirty="0">
                <a:cs typeface="+mn-ea"/>
                <a:sym typeface="+mn-lt"/>
              </a:rPr>
              <a:t>/</a:t>
            </a:r>
            <a:r>
              <a:rPr lang="zh-CN" altLang="en-US" sz="1800" dirty="0">
                <a:cs typeface="+mn-ea"/>
                <a:sym typeface="+mn-lt"/>
              </a:rPr>
              <a:t>三级大纲（重点内容）</a:t>
            </a:r>
            <a:endParaRPr lang="zh-CN" altLang="en-US" sz="1800" dirty="0">
              <a:cs typeface="+mn-ea"/>
              <a:sym typeface="+mn-lt"/>
            </a:endParaRPr>
          </a:p>
        </p:txBody>
      </p:sp>
      <p:sp>
        <p:nvSpPr>
          <p:cNvPr id="13" name="文本框 12"/>
          <p:cNvSpPr txBox="1"/>
          <p:nvPr/>
        </p:nvSpPr>
        <p:spPr>
          <a:xfrm>
            <a:off x="4076559" y="2276485"/>
            <a:ext cx="6759081" cy="1705275"/>
          </a:xfrm>
          <a:prstGeom prst="rect">
            <a:avLst/>
          </a:prstGeom>
          <a:noFill/>
        </p:spPr>
        <p:txBody>
          <a:bodyPr wrap="square" rtlCol="0">
            <a:spAutoFit/>
          </a:bodyPr>
          <a:lstStyle>
            <a:defPPr>
              <a:defRPr lang="zh-CN"/>
            </a:defPPr>
            <a:lvl1pPr>
              <a:lnSpc>
                <a:spcPct val="150000"/>
              </a:lnSpc>
              <a:defRPr sz="1200" b="0">
                <a:latin typeface="微软雅黑" charset="-122"/>
                <a:ea typeface="微软雅黑" charset="-122"/>
              </a:defRPr>
            </a:lvl1pPr>
          </a:lstStyle>
          <a:p>
            <a:r>
              <a:rPr lang="en-US" altLang="zh-CN" sz="1800" dirty="0">
                <a:latin typeface="+mn-ea"/>
                <a:ea typeface="+mn-ea"/>
                <a:cs typeface="+mn-ea"/>
                <a:sym typeface="+mn-lt"/>
              </a:rPr>
              <a:t>1</a:t>
            </a:r>
            <a:r>
              <a:rPr lang="zh-CN" altLang="en-US" sz="1800" dirty="0">
                <a:latin typeface="+mn-ea"/>
                <a:ea typeface="+mn-ea"/>
                <a:cs typeface="+mn-ea"/>
                <a:sym typeface="+mn-lt"/>
              </a:rPr>
              <a:t>、对接双循环发展新格局，推动产学研创一体化深入落地 </a:t>
            </a:r>
            <a:endParaRPr lang="zh-CN" altLang="en-US" sz="1800" dirty="0">
              <a:latin typeface="+mn-ea"/>
              <a:ea typeface="+mn-ea"/>
              <a:cs typeface="+mn-ea"/>
              <a:sym typeface="+mn-lt"/>
            </a:endParaRPr>
          </a:p>
          <a:p>
            <a:r>
              <a:rPr lang="en-US" altLang="zh-CN" sz="1800" dirty="0">
                <a:latin typeface="+mn-ea"/>
                <a:ea typeface="+mn-ea"/>
                <a:cs typeface="+mn-ea"/>
                <a:sym typeface="+mn-lt"/>
              </a:rPr>
              <a:t>2</a:t>
            </a:r>
            <a:r>
              <a:rPr lang="zh-CN" altLang="en-US" sz="1800" dirty="0">
                <a:latin typeface="+mn-ea"/>
                <a:ea typeface="+mn-ea"/>
                <a:cs typeface="+mn-ea"/>
                <a:sym typeface="+mn-lt"/>
              </a:rPr>
              <a:t>、重检专业学院发展规划，建立共赢合作的流程与机制</a:t>
            </a:r>
            <a:endParaRPr lang="zh-CN" altLang="en-US" sz="1800" dirty="0">
              <a:latin typeface="+mn-ea"/>
              <a:ea typeface="+mn-ea"/>
              <a:cs typeface="+mn-ea"/>
              <a:sym typeface="+mn-lt"/>
            </a:endParaRPr>
          </a:p>
          <a:p>
            <a:r>
              <a:rPr lang="en-US" altLang="zh-CN" sz="1800" dirty="0">
                <a:latin typeface="+mn-ea"/>
                <a:ea typeface="+mn-ea"/>
                <a:cs typeface="+mn-ea"/>
                <a:sym typeface="+mn-lt"/>
              </a:rPr>
              <a:t>3</a:t>
            </a:r>
            <a:r>
              <a:rPr lang="zh-CN" altLang="en-US" sz="1800" dirty="0">
                <a:latin typeface="+mn-ea"/>
                <a:ea typeface="+mn-ea"/>
                <a:cs typeface="+mn-ea"/>
                <a:sym typeface="+mn-lt"/>
              </a:rPr>
              <a:t>、明晰责权利，开展精细化内部管理</a:t>
            </a:r>
            <a:endParaRPr lang="zh-CN" altLang="en-US" sz="1800" dirty="0">
              <a:latin typeface="+mn-ea"/>
              <a:ea typeface="+mn-ea"/>
              <a:cs typeface="+mn-ea"/>
              <a:sym typeface="+mn-lt"/>
            </a:endParaRPr>
          </a:p>
          <a:p>
            <a:r>
              <a:rPr lang="en-US" altLang="zh-CN" sz="1800" dirty="0">
                <a:latin typeface="+mn-ea"/>
                <a:ea typeface="+mn-ea"/>
                <a:cs typeface="+mn-ea"/>
                <a:sym typeface="+mn-lt"/>
              </a:rPr>
              <a:t>4</a:t>
            </a:r>
            <a:r>
              <a:rPr lang="zh-CN" altLang="en-US" sz="1800" dirty="0">
                <a:latin typeface="+mn-ea"/>
                <a:ea typeface="+mn-ea"/>
                <a:cs typeface="+mn-ea"/>
                <a:sym typeface="+mn-lt"/>
              </a:rPr>
              <a:t>、强化配套机制建设，有效保证规划落地实施</a:t>
            </a:r>
            <a:endParaRPr lang="zh-CN" altLang="en-US" sz="1800" dirty="0">
              <a:latin typeface="+mn-ea"/>
              <a:ea typeface="+mn-ea"/>
              <a:cs typeface="+mn-ea"/>
              <a:sym typeface="+mn-lt"/>
            </a:endParaRPr>
          </a:p>
        </p:txBody>
      </p:sp>
      <p:sp>
        <p:nvSpPr>
          <p:cNvPr id="10" name="文本框 9"/>
          <p:cNvSpPr txBox="1"/>
          <p:nvPr/>
        </p:nvSpPr>
        <p:spPr>
          <a:xfrm>
            <a:off x="488861" y="206936"/>
            <a:ext cx="9096865" cy="400110"/>
          </a:xfrm>
          <a:prstGeom prst="rect">
            <a:avLst/>
          </a:prstGeom>
          <a:noFill/>
        </p:spPr>
        <p:txBody>
          <a:bodyPr wrap="square" rtlCol="0">
            <a:spAutoFit/>
          </a:bodyPr>
          <a:lstStyle/>
          <a:p>
            <a:r>
              <a:rPr kumimoji="1" lang="en-US" altLang="zh-CN" sz="2000" dirty="0">
                <a:latin typeface="+mn-lt"/>
                <a:ea typeface="+mn-ea"/>
                <a:cs typeface="+mn-ea"/>
                <a:sym typeface="+mn-lt"/>
              </a:rPr>
              <a:t>【</a:t>
            </a:r>
            <a:r>
              <a:rPr kumimoji="1" lang="zh-CN" altLang="en-US" sz="2000" dirty="0">
                <a:latin typeface="+mn-lt"/>
                <a:ea typeface="+mn-ea"/>
                <a:cs typeface="+mn-ea"/>
                <a:sym typeface="+mn-lt"/>
              </a:rPr>
              <a:t>目录</a:t>
            </a:r>
            <a:r>
              <a:rPr kumimoji="1" lang="en-US" altLang="zh-CN" sz="2000" dirty="0">
                <a:latin typeface="+mn-lt"/>
                <a:ea typeface="+mn-ea"/>
                <a:cs typeface="+mn-ea"/>
                <a:sym typeface="+mn-lt"/>
              </a:rPr>
              <a:t>】</a:t>
            </a:r>
            <a:r>
              <a:rPr kumimoji="1" lang="zh-CN" altLang="en-US" sz="2000" dirty="0">
                <a:latin typeface="+mn-lt"/>
                <a:ea typeface="+mn-ea"/>
                <a:cs typeface="+mn-ea"/>
                <a:sym typeface="+mn-lt"/>
              </a:rPr>
              <a:t>中银教育培训“十四五”规划</a:t>
            </a:r>
            <a:endParaRPr kumimoji="1" lang="zh-CN" altLang="en-US" sz="2000" dirty="0">
              <a:latin typeface="+mn-lt"/>
              <a:ea typeface="+mn-ea"/>
              <a:cs typeface="+mn-ea"/>
              <a:sym typeface="+mn-lt"/>
            </a:endParaRPr>
          </a:p>
        </p:txBody>
      </p:sp>
      <p:sp>
        <p:nvSpPr>
          <p:cNvPr id="9" name="灯片编号占位符 1"/>
          <p:cNvSpPr txBox="1"/>
          <p:nvPr/>
        </p:nvSpPr>
        <p:spPr>
          <a:xfrm>
            <a:off x="9428318" y="6547125"/>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95325" y="220603"/>
            <a:ext cx="9252877" cy="800219"/>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1</a:t>
            </a:r>
            <a:r>
              <a:rPr kumimoji="1" lang="zh-CN" altLang="en-US" sz="2000" dirty="0">
                <a:latin typeface="+mn-lt"/>
                <a:ea typeface="+mn-ea"/>
                <a:cs typeface="+mn-ea"/>
                <a:sym typeface="+mn-lt"/>
              </a:rPr>
              <a:t>、推动中银大学产学研创一体化的深入落地</a:t>
            </a:r>
            <a:endParaRPr kumimoji="1" lang="zh-CN" altLang="en-US" sz="2000" dirty="0">
              <a:latin typeface="+mn-lt"/>
              <a:ea typeface="+mn-ea"/>
              <a:cs typeface="+mn-ea"/>
              <a:sym typeface="+mn-lt"/>
            </a:endParaRPr>
          </a:p>
          <a:p>
            <a:endParaRPr lang="en-US" altLang="zh-CN" sz="2600" dirty="0">
              <a:latin typeface="+mn-lt"/>
              <a:ea typeface="+mn-ea"/>
              <a:cs typeface="+mn-ea"/>
              <a:sym typeface="+mn-lt"/>
            </a:endParaRPr>
          </a:p>
        </p:txBody>
      </p:sp>
      <p:sp>
        <p:nvSpPr>
          <p:cNvPr id="8" name="椭圆 7"/>
          <p:cNvSpPr/>
          <p:nvPr/>
        </p:nvSpPr>
        <p:spPr>
          <a:xfrm>
            <a:off x="1425481" y="3428999"/>
            <a:ext cx="1361802" cy="1361802"/>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dirty="0">
                <a:cs typeface="+mn-ea"/>
                <a:sym typeface="+mn-lt"/>
              </a:rPr>
              <a:t>产</a:t>
            </a:r>
            <a:endParaRPr lang="zh-CN" altLang="en-US" sz="3600" dirty="0">
              <a:cs typeface="+mn-ea"/>
              <a:sym typeface="+mn-lt"/>
            </a:endParaRPr>
          </a:p>
        </p:txBody>
      </p:sp>
      <p:sp>
        <p:nvSpPr>
          <p:cNvPr id="10" name="椭圆 9"/>
          <p:cNvSpPr/>
          <p:nvPr/>
        </p:nvSpPr>
        <p:spPr>
          <a:xfrm>
            <a:off x="4055840" y="3428999"/>
            <a:ext cx="1361802" cy="1361802"/>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dirty="0">
                <a:cs typeface="+mn-ea"/>
                <a:sym typeface="+mn-lt"/>
              </a:rPr>
              <a:t>学</a:t>
            </a:r>
            <a:endParaRPr lang="zh-CN" altLang="en-US" sz="3600" dirty="0">
              <a:cs typeface="+mn-ea"/>
              <a:sym typeface="+mn-lt"/>
            </a:endParaRPr>
          </a:p>
        </p:txBody>
      </p:sp>
      <p:sp>
        <p:nvSpPr>
          <p:cNvPr id="11" name="椭圆 10"/>
          <p:cNvSpPr/>
          <p:nvPr/>
        </p:nvSpPr>
        <p:spPr>
          <a:xfrm>
            <a:off x="6686199" y="3428999"/>
            <a:ext cx="1361802" cy="1361802"/>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dirty="0">
                <a:cs typeface="+mn-ea"/>
                <a:sym typeface="+mn-lt"/>
              </a:rPr>
              <a:t>研</a:t>
            </a:r>
            <a:endParaRPr lang="zh-CN" altLang="en-US" sz="3600" dirty="0">
              <a:cs typeface="+mn-ea"/>
              <a:sym typeface="+mn-lt"/>
            </a:endParaRPr>
          </a:p>
        </p:txBody>
      </p:sp>
      <p:sp>
        <p:nvSpPr>
          <p:cNvPr id="12" name="椭圆 11"/>
          <p:cNvSpPr/>
          <p:nvPr/>
        </p:nvSpPr>
        <p:spPr>
          <a:xfrm>
            <a:off x="9316557" y="3428999"/>
            <a:ext cx="1361802" cy="1361802"/>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dirty="0">
                <a:cs typeface="+mn-ea"/>
                <a:sym typeface="+mn-lt"/>
              </a:rPr>
              <a:t>创</a:t>
            </a:r>
            <a:endParaRPr lang="zh-CN" altLang="en-US" sz="3600" dirty="0">
              <a:cs typeface="+mn-ea"/>
              <a:sym typeface="+mn-lt"/>
            </a:endParaRPr>
          </a:p>
        </p:txBody>
      </p:sp>
      <p:sp>
        <p:nvSpPr>
          <p:cNvPr id="13" name="箭头: 右 12"/>
          <p:cNvSpPr/>
          <p:nvPr/>
        </p:nvSpPr>
        <p:spPr>
          <a:xfrm>
            <a:off x="3093720" y="3657599"/>
            <a:ext cx="744583" cy="411480"/>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箭头: 右 13"/>
          <p:cNvSpPr/>
          <p:nvPr/>
        </p:nvSpPr>
        <p:spPr>
          <a:xfrm rot="10800000">
            <a:off x="5679628" y="4168139"/>
            <a:ext cx="744583" cy="411480"/>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箭头: 右 17"/>
          <p:cNvSpPr/>
          <p:nvPr/>
        </p:nvSpPr>
        <p:spPr>
          <a:xfrm>
            <a:off x="8344988" y="3703319"/>
            <a:ext cx="744583" cy="411480"/>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文本框 18"/>
          <p:cNvSpPr txBox="1"/>
          <p:nvPr/>
        </p:nvSpPr>
        <p:spPr>
          <a:xfrm>
            <a:off x="768738" y="1037578"/>
            <a:ext cx="10477841" cy="338554"/>
          </a:xfrm>
          <a:prstGeom prst="rect">
            <a:avLst/>
          </a:prstGeom>
          <a:noFill/>
        </p:spPr>
        <p:txBody>
          <a:bodyPr wrap="square">
            <a:spAutoFit/>
          </a:bodyPr>
          <a:lstStyle/>
          <a:p>
            <a:pPr marL="285750" indent="-285750">
              <a:buFont typeface="Wingdings" panose="05000000000000000000" pitchFamily="2" charset="2"/>
              <a:buChar char="Ø"/>
            </a:pPr>
            <a:r>
              <a:rPr lang="zh-CN" altLang="en-US" sz="1600" dirty="0">
                <a:latin typeface="+mn-lt"/>
                <a:ea typeface="+mn-ea"/>
                <a:cs typeface="+mn-ea"/>
                <a:sym typeface="+mn-lt"/>
              </a:rPr>
              <a:t>参与形成政府、企业、高校、金融机构“四位一体”的合作模式</a:t>
            </a:r>
            <a:endParaRPr lang="zh-CN" altLang="en-US" sz="1600" dirty="0">
              <a:latin typeface="+mn-lt"/>
              <a:ea typeface="+mn-ea"/>
              <a:cs typeface="+mn-ea"/>
              <a:sym typeface="+mn-lt"/>
            </a:endParaRPr>
          </a:p>
        </p:txBody>
      </p:sp>
      <p:sp>
        <p:nvSpPr>
          <p:cNvPr id="20" name="文本框 19"/>
          <p:cNvSpPr txBox="1"/>
          <p:nvPr/>
        </p:nvSpPr>
        <p:spPr>
          <a:xfrm>
            <a:off x="768739" y="1506290"/>
            <a:ext cx="10477841" cy="338554"/>
          </a:xfrm>
          <a:prstGeom prst="rect">
            <a:avLst/>
          </a:prstGeom>
          <a:noFill/>
        </p:spPr>
        <p:txBody>
          <a:bodyPr wrap="square">
            <a:spAutoFit/>
          </a:bodyPr>
          <a:lstStyle/>
          <a:p>
            <a:pPr marL="285750" indent="-285750">
              <a:buFont typeface="Wingdings" panose="05000000000000000000" pitchFamily="2" charset="2"/>
              <a:buChar char="Ø"/>
            </a:pPr>
            <a:r>
              <a:rPr lang="zh-CN" altLang="en-US" sz="1600" dirty="0">
                <a:latin typeface="+mn-lt"/>
                <a:ea typeface="+mn-ea"/>
                <a:cs typeface="+mn-ea"/>
                <a:sym typeface="+mn-lt"/>
              </a:rPr>
              <a:t>促进教育链、人才链、产业链、创新链与金融链的有机衔接</a:t>
            </a:r>
            <a:endParaRPr lang="en-US" altLang="zh-CN" sz="1600" dirty="0">
              <a:latin typeface="+mn-lt"/>
              <a:ea typeface="+mn-ea"/>
              <a:cs typeface="+mn-ea"/>
              <a:sym typeface="+mn-lt"/>
            </a:endParaRPr>
          </a:p>
        </p:txBody>
      </p:sp>
      <p:sp>
        <p:nvSpPr>
          <p:cNvPr id="2" name="文本框 1"/>
          <p:cNvSpPr txBox="1"/>
          <p:nvPr/>
        </p:nvSpPr>
        <p:spPr>
          <a:xfrm>
            <a:off x="1217027" y="4947250"/>
            <a:ext cx="1620957" cy="338554"/>
          </a:xfrm>
          <a:prstGeom prst="rect">
            <a:avLst/>
          </a:prstGeom>
          <a:noFill/>
        </p:spPr>
        <p:txBody>
          <a:bodyPr wrap="none" rtlCol="0">
            <a:spAutoFit/>
          </a:bodyPr>
          <a:lstStyle/>
          <a:p>
            <a:r>
              <a:rPr lang="zh-CN" altLang="en-US" sz="1600" dirty="0">
                <a:latin typeface="+mn-lt"/>
                <a:ea typeface="+mn-ea"/>
                <a:cs typeface="+mn-ea"/>
                <a:sym typeface="+mn-lt"/>
              </a:rPr>
              <a:t>创造先进生产力</a:t>
            </a:r>
            <a:endParaRPr kumimoji="1" lang="zh-CN" altLang="en-US" sz="1600" dirty="0">
              <a:latin typeface="+mn-lt"/>
              <a:ea typeface="+mn-ea"/>
              <a:cs typeface="+mn-ea"/>
              <a:sym typeface="+mn-lt"/>
            </a:endParaRPr>
          </a:p>
        </p:txBody>
      </p:sp>
      <p:sp>
        <p:nvSpPr>
          <p:cNvPr id="4" name="文本框 3"/>
          <p:cNvSpPr txBox="1"/>
          <p:nvPr/>
        </p:nvSpPr>
        <p:spPr>
          <a:xfrm>
            <a:off x="3972199" y="4947250"/>
            <a:ext cx="1620957" cy="338554"/>
          </a:xfrm>
          <a:prstGeom prst="rect">
            <a:avLst/>
          </a:prstGeom>
          <a:noFill/>
        </p:spPr>
        <p:txBody>
          <a:bodyPr wrap="none" rtlCol="0">
            <a:spAutoFit/>
          </a:bodyPr>
          <a:lstStyle/>
          <a:p>
            <a:r>
              <a:rPr lang="zh-CN" altLang="en-US" sz="1600" dirty="0">
                <a:latin typeface="+mn-lt"/>
                <a:ea typeface="+mn-ea"/>
                <a:cs typeface="+mn-ea"/>
                <a:sym typeface="+mn-lt"/>
              </a:rPr>
              <a:t>创建学习型银行</a:t>
            </a:r>
            <a:endParaRPr kumimoji="1" lang="zh-CN" altLang="en-US" sz="1600" dirty="0">
              <a:latin typeface="+mn-lt"/>
              <a:ea typeface="+mn-ea"/>
              <a:cs typeface="+mn-ea"/>
              <a:sym typeface="+mn-lt"/>
            </a:endParaRPr>
          </a:p>
        </p:txBody>
      </p:sp>
      <p:sp>
        <p:nvSpPr>
          <p:cNvPr id="5" name="文本框 4"/>
          <p:cNvSpPr txBox="1"/>
          <p:nvPr/>
        </p:nvSpPr>
        <p:spPr>
          <a:xfrm>
            <a:off x="2833794" y="2918012"/>
            <a:ext cx="1005403" cy="338554"/>
          </a:xfrm>
          <a:prstGeom prst="rect">
            <a:avLst/>
          </a:prstGeom>
          <a:noFill/>
        </p:spPr>
        <p:txBody>
          <a:bodyPr wrap="none" rtlCol="0">
            <a:spAutoFit/>
          </a:bodyPr>
          <a:lstStyle/>
          <a:p>
            <a:r>
              <a:rPr lang="zh-CN" altLang="en-US" sz="1600" dirty="0">
                <a:latin typeface="+mn-lt"/>
                <a:ea typeface="+mn-ea"/>
                <a:cs typeface="+mn-ea"/>
                <a:sym typeface="+mn-lt"/>
              </a:rPr>
              <a:t>产学联动</a:t>
            </a:r>
            <a:endParaRPr kumimoji="1" lang="zh-CN" altLang="en-US" sz="1600" dirty="0">
              <a:latin typeface="+mn-lt"/>
              <a:ea typeface="+mn-ea"/>
              <a:cs typeface="+mn-ea"/>
              <a:sym typeface="+mn-lt"/>
            </a:endParaRPr>
          </a:p>
        </p:txBody>
      </p:sp>
      <p:sp>
        <p:nvSpPr>
          <p:cNvPr id="6" name="文本框 5"/>
          <p:cNvSpPr txBox="1"/>
          <p:nvPr/>
        </p:nvSpPr>
        <p:spPr>
          <a:xfrm>
            <a:off x="5497921" y="2883767"/>
            <a:ext cx="1005403" cy="338554"/>
          </a:xfrm>
          <a:prstGeom prst="rect">
            <a:avLst/>
          </a:prstGeom>
          <a:noFill/>
        </p:spPr>
        <p:txBody>
          <a:bodyPr wrap="none" rtlCol="0">
            <a:spAutoFit/>
          </a:bodyPr>
          <a:lstStyle/>
          <a:p>
            <a:r>
              <a:rPr lang="zh-CN" altLang="en-US" sz="1600" dirty="0">
                <a:latin typeface="+mn-lt"/>
                <a:ea typeface="+mn-ea"/>
                <a:cs typeface="+mn-ea"/>
                <a:sym typeface="+mn-lt"/>
              </a:rPr>
              <a:t>研修并举</a:t>
            </a:r>
            <a:endParaRPr kumimoji="1" lang="zh-CN" altLang="en-US" sz="1600" dirty="0">
              <a:latin typeface="+mn-lt"/>
              <a:ea typeface="+mn-ea"/>
              <a:cs typeface="+mn-ea"/>
              <a:sym typeface="+mn-lt"/>
            </a:endParaRPr>
          </a:p>
        </p:txBody>
      </p:sp>
      <p:sp>
        <p:nvSpPr>
          <p:cNvPr id="7" name="文本框 6"/>
          <p:cNvSpPr txBox="1"/>
          <p:nvPr/>
        </p:nvSpPr>
        <p:spPr>
          <a:xfrm>
            <a:off x="8139876" y="2883767"/>
            <a:ext cx="1005403" cy="338554"/>
          </a:xfrm>
          <a:prstGeom prst="rect">
            <a:avLst/>
          </a:prstGeom>
          <a:noFill/>
        </p:spPr>
        <p:txBody>
          <a:bodyPr wrap="none" rtlCol="0">
            <a:spAutoFit/>
          </a:bodyPr>
          <a:lstStyle/>
          <a:p>
            <a:r>
              <a:rPr lang="zh-CN" altLang="en-US" sz="1600" dirty="0">
                <a:latin typeface="+mn-lt"/>
                <a:ea typeface="+mn-ea"/>
                <a:cs typeface="+mn-ea"/>
                <a:sym typeface="+mn-lt"/>
              </a:rPr>
              <a:t>训创结合</a:t>
            </a:r>
            <a:endParaRPr kumimoji="1" lang="zh-CN" altLang="en-US" sz="1600" dirty="0">
              <a:latin typeface="+mn-lt"/>
              <a:ea typeface="+mn-ea"/>
              <a:cs typeface="+mn-ea"/>
              <a:sym typeface="+mn-lt"/>
            </a:endParaRPr>
          </a:p>
        </p:txBody>
      </p:sp>
      <p:sp>
        <p:nvSpPr>
          <p:cNvPr id="21" name="文本框 20"/>
          <p:cNvSpPr txBox="1"/>
          <p:nvPr/>
        </p:nvSpPr>
        <p:spPr>
          <a:xfrm>
            <a:off x="768738" y="1925048"/>
            <a:ext cx="10477841" cy="338554"/>
          </a:xfrm>
          <a:prstGeom prst="rect">
            <a:avLst/>
          </a:prstGeom>
          <a:noFill/>
        </p:spPr>
        <p:txBody>
          <a:bodyPr wrap="square">
            <a:spAutoFit/>
          </a:bodyPr>
          <a:lstStyle/>
          <a:p>
            <a:pPr marL="285750" indent="-285750">
              <a:buFont typeface="Wingdings" panose="05000000000000000000" pitchFamily="2" charset="2"/>
              <a:buChar char="Ø"/>
            </a:pPr>
            <a:r>
              <a:rPr lang="zh-CN" altLang="en-US" sz="1600" dirty="0">
                <a:latin typeface="+mn-lt"/>
                <a:ea typeface="+mn-ea"/>
                <a:cs typeface="+mn-ea"/>
                <a:sym typeface="+mn-lt"/>
              </a:rPr>
              <a:t>推动科技、产品、服务等迭代创新，持续营造创新型人才辈出的生动局面</a:t>
            </a:r>
            <a:endParaRPr lang="zh-CN" altLang="en-US" sz="1600" dirty="0">
              <a:latin typeface="+mn-lt"/>
              <a:ea typeface="+mn-ea"/>
              <a:cs typeface="+mn-ea"/>
              <a:sym typeface="+mn-lt"/>
            </a:endParaRPr>
          </a:p>
        </p:txBody>
      </p:sp>
      <p:sp>
        <p:nvSpPr>
          <p:cNvPr id="9" name="文本框 8"/>
          <p:cNvSpPr txBox="1"/>
          <p:nvPr/>
        </p:nvSpPr>
        <p:spPr>
          <a:xfrm>
            <a:off x="6403977" y="4947250"/>
            <a:ext cx="1826141" cy="338554"/>
          </a:xfrm>
          <a:prstGeom prst="rect">
            <a:avLst/>
          </a:prstGeom>
          <a:noFill/>
        </p:spPr>
        <p:txBody>
          <a:bodyPr wrap="none" rtlCol="0">
            <a:spAutoFit/>
          </a:bodyPr>
          <a:lstStyle/>
          <a:p>
            <a:r>
              <a:rPr lang="zh-CN" altLang="en-US" sz="1600" dirty="0">
                <a:latin typeface="+mn-lt"/>
                <a:ea typeface="+mn-ea"/>
                <a:cs typeface="+mn-ea"/>
                <a:sym typeface="+mn-lt"/>
              </a:rPr>
              <a:t>打造产教融合联盟</a:t>
            </a:r>
            <a:endParaRPr kumimoji="1" lang="zh-CN" altLang="en-US" sz="1600" dirty="0">
              <a:latin typeface="+mn-lt"/>
              <a:ea typeface="+mn-ea"/>
              <a:cs typeface="+mn-ea"/>
              <a:sym typeface="+mn-lt"/>
            </a:endParaRPr>
          </a:p>
        </p:txBody>
      </p:sp>
      <p:sp>
        <p:nvSpPr>
          <p:cNvPr id="22" name="文本框 21"/>
          <p:cNvSpPr txBox="1"/>
          <p:nvPr/>
        </p:nvSpPr>
        <p:spPr>
          <a:xfrm>
            <a:off x="8981795" y="4947250"/>
            <a:ext cx="2441694" cy="338554"/>
          </a:xfrm>
          <a:prstGeom prst="rect">
            <a:avLst/>
          </a:prstGeom>
          <a:noFill/>
        </p:spPr>
        <p:txBody>
          <a:bodyPr wrap="none" rtlCol="0">
            <a:spAutoFit/>
          </a:bodyPr>
          <a:lstStyle/>
          <a:p>
            <a:r>
              <a:rPr lang="zh-CN" altLang="en-US" sz="1600" dirty="0">
                <a:latin typeface="+mn-lt"/>
                <a:ea typeface="+mn-ea"/>
                <a:cs typeface="+mn-ea"/>
                <a:sym typeface="+mn-lt"/>
              </a:rPr>
              <a:t>推动智慧分享、知识共创</a:t>
            </a:r>
            <a:endParaRPr kumimoji="1" lang="zh-CN" altLang="en-US" sz="1600" dirty="0">
              <a:latin typeface="+mn-lt"/>
              <a:ea typeface="+mn-ea"/>
              <a:cs typeface="+mn-ea"/>
              <a:sym typeface="+mn-lt"/>
            </a:endParaRPr>
          </a:p>
        </p:txBody>
      </p:sp>
      <p:sp>
        <p:nvSpPr>
          <p:cNvPr id="23" name="箭头: 右 12"/>
          <p:cNvSpPr/>
          <p:nvPr/>
        </p:nvSpPr>
        <p:spPr>
          <a:xfrm>
            <a:off x="5710107" y="3642359"/>
            <a:ext cx="744583" cy="411480"/>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箭头: 右 13"/>
          <p:cNvSpPr/>
          <p:nvPr/>
        </p:nvSpPr>
        <p:spPr>
          <a:xfrm rot="10800000">
            <a:off x="8344988" y="4229099"/>
            <a:ext cx="744583" cy="411480"/>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箭头: 右 13"/>
          <p:cNvSpPr/>
          <p:nvPr/>
        </p:nvSpPr>
        <p:spPr>
          <a:xfrm rot="10800000">
            <a:off x="3063240" y="4183380"/>
            <a:ext cx="744583" cy="411480"/>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灯片编号占位符 1"/>
          <p:cNvSpPr txBox="1"/>
          <p:nvPr/>
        </p:nvSpPr>
        <p:spPr>
          <a:xfrm>
            <a:off x="9428318" y="6547125"/>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41062" y="155979"/>
            <a:ext cx="9252877"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2</a:t>
            </a:r>
            <a:r>
              <a:rPr kumimoji="1" lang="zh-CN" altLang="en-US" sz="2000" dirty="0">
                <a:latin typeface="+mn-lt"/>
                <a:ea typeface="+mn-ea"/>
                <a:cs typeface="+mn-ea"/>
                <a:sym typeface="+mn-lt"/>
              </a:rPr>
              <a:t>、重检专业学院发展规划，建立共赢合作的流程与机制</a:t>
            </a:r>
            <a:endParaRPr kumimoji="1" lang="en-US" altLang="zh-CN" sz="2000" dirty="0">
              <a:latin typeface="+mn-lt"/>
              <a:ea typeface="+mn-ea"/>
              <a:cs typeface="+mn-ea"/>
              <a:sym typeface="+mn-lt"/>
            </a:endParaRPr>
          </a:p>
        </p:txBody>
      </p:sp>
      <p:sp>
        <p:nvSpPr>
          <p:cNvPr id="8" name="矩形 45"/>
          <p:cNvSpPr>
            <a:spLocks noChangeArrowheads="1"/>
          </p:cNvSpPr>
          <p:nvPr/>
        </p:nvSpPr>
        <p:spPr bwMode="auto">
          <a:xfrm>
            <a:off x="1223683" y="3739491"/>
            <a:ext cx="2028132" cy="522587"/>
          </a:xfrm>
          <a:prstGeom prst="rect">
            <a:avLst/>
          </a:prstGeom>
          <a:solidFill>
            <a:srgbClr val="C00000"/>
          </a:solidFill>
          <a:ln w="3175" algn="ctr">
            <a:solidFill>
              <a:srgbClr val="C00000"/>
            </a:solidFill>
            <a:round/>
          </a:ln>
        </p:spPr>
        <p:txBody>
          <a:bodyPr wrap="none" lIns="45720" rIns="45720" anchor="ctr"/>
          <a:lstStyle/>
          <a:p>
            <a:pPr algn="ctr"/>
            <a:r>
              <a:rPr lang="zh-CN" altLang="en-US" sz="1800" dirty="0">
                <a:solidFill>
                  <a:schemeClr val="bg1"/>
                </a:solidFill>
                <a:latin typeface="+mn-lt"/>
                <a:ea typeface="+mn-ea"/>
                <a:cs typeface="+mn-ea"/>
                <a:sym typeface="+mn-lt"/>
              </a:rPr>
              <a:t>深化沟通达成共识</a:t>
            </a:r>
            <a:endParaRPr lang="zh-CN" altLang="en-US" sz="1800" dirty="0">
              <a:solidFill>
                <a:schemeClr val="bg1"/>
              </a:solidFill>
              <a:latin typeface="+mn-lt"/>
              <a:ea typeface="+mn-ea"/>
              <a:cs typeface="+mn-ea"/>
              <a:sym typeface="+mn-lt"/>
            </a:endParaRPr>
          </a:p>
        </p:txBody>
      </p:sp>
      <p:sp>
        <p:nvSpPr>
          <p:cNvPr id="12" name="矩形 46"/>
          <p:cNvSpPr>
            <a:spLocks noChangeArrowheads="1"/>
          </p:cNvSpPr>
          <p:nvPr/>
        </p:nvSpPr>
        <p:spPr bwMode="auto">
          <a:xfrm>
            <a:off x="3769595" y="3739492"/>
            <a:ext cx="2028132" cy="522587"/>
          </a:xfrm>
          <a:prstGeom prst="rect">
            <a:avLst/>
          </a:prstGeom>
          <a:solidFill>
            <a:srgbClr val="C00000"/>
          </a:solidFill>
          <a:ln w="3175" algn="ctr">
            <a:solidFill>
              <a:srgbClr val="C00000"/>
            </a:solidFill>
            <a:round/>
          </a:ln>
        </p:spPr>
        <p:txBody>
          <a:bodyPr wrap="none" lIns="45720" rIns="45720" anchor="ctr"/>
          <a:lstStyle/>
          <a:p>
            <a:pPr algn="ctr"/>
            <a:r>
              <a:rPr lang="zh-CN" altLang="en-US" sz="1800" dirty="0">
                <a:solidFill>
                  <a:schemeClr val="bg1"/>
                </a:solidFill>
                <a:latin typeface="+mn-lt"/>
                <a:ea typeface="+mn-ea"/>
                <a:cs typeface="+mn-ea"/>
                <a:sym typeface="+mn-lt"/>
              </a:rPr>
              <a:t>优化需求沟通机制</a:t>
            </a:r>
            <a:endParaRPr lang="zh-CN" altLang="en-US" sz="1800" dirty="0">
              <a:solidFill>
                <a:schemeClr val="bg1"/>
              </a:solidFill>
              <a:latin typeface="+mn-lt"/>
              <a:ea typeface="+mn-ea"/>
              <a:cs typeface="+mn-ea"/>
              <a:sym typeface="+mn-lt"/>
            </a:endParaRPr>
          </a:p>
        </p:txBody>
      </p:sp>
      <p:sp>
        <p:nvSpPr>
          <p:cNvPr id="16" name="矩形 48"/>
          <p:cNvSpPr>
            <a:spLocks noChangeArrowheads="1"/>
          </p:cNvSpPr>
          <p:nvPr/>
        </p:nvSpPr>
        <p:spPr bwMode="auto">
          <a:xfrm>
            <a:off x="6205163" y="3739492"/>
            <a:ext cx="2153269" cy="522587"/>
          </a:xfrm>
          <a:prstGeom prst="rect">
            <a:avLst/>
          </a:prstGeom>
          <a:solidFill>
            <a:srgbClr val="C00000"/>
          </a:solidFill>
          <a:ln w="3175" algn="ctr">
            <a:solidFill>
              <a:srgbClr val="C00000"/>
            </a:solidFill>
            <a:round/>
          </a:ln>
        </p:spPr>
        <p:txBody>
          <a:bodyPr wrap="none" lIns="45720" rIns="45720" anchor="ctr"/>
          <a:lstStyle/>
          <a:p>
            <a:pPr algn="ctr"/>
            <a:r>
              <a:rPr lang="zh-CN" altLang="en-US" sz="1800" dirty="0">
                <a:solidFill>
                  <a:schemeClr val="bg1"/>
                </a:solidFill>
                <a:latin typeface="+mn-lt"/>
                <a:ea typeface="+mn-ea"/>
                <a:cs typeface="+mn-ea"/>
                <a:sym typeface="+mn-lt"/>
              </a:rPr>
              <a:t>加速体系和产品设计</a:t>
            </a:r>
            <a:endParaRPr lang="zh-CN" altLang="en-US" sz="1800" dirty="0">
              <a:solidFill>
                <a:schemeClr val="bg1"/>
              </a:solidFill>
              <a:latin typeface="+mn-lt"/>
              <a:ea typeface="+mn-ea"/>
              <a:cs typeface="+mn-ea"/>
              <a:sym typeface="+mn-lt"/>
            </a:endParaRPr>
          </a:p>
        </p:txBody>
      </p:sp>
      <p:sp>
        <p:nvSpPr>
          <p:cNvPr id="20" name="矩形 47"/>
          <p:cNvSpPr>
            <a:spLocks noChangeArrowheads="1"/>
          </p:cNvSpPr>
          <p:nvPr/>
        </p:nvSpPr>
        <p:spPr bwMode="auto">
          <a:xfrm>
            <a:off x="8765869" y="3739492"/>
            <a:ext cx="2112802" cy="522587"/>
          </a:xfrm>
          <a:prstGeom prst="rect">
            <a:avLst/>
          </a:prstGeom>
          <a:solidFill>
            <a:srgbClr val="C00000"/>
          </a:solidFill>
          <a:ln w="3175" algn="ctr">
            <a:solidFill>
              <a:srgbClr val="C00000"/>
            </a:solidFill>
            <a:round/>
          </a:ln>
        </p:spPr>
        <p:txBody>
          <a:bodyPr wrap="none" lIns="45720" rIns="45720" anchor="ctr"/>
          <a:lstStyle/>
          <a:p>
            <a:pPr algn="ctr"/>
            <a:r>
              <a:rPr lang="zh-CN" altLang="en-US" sz="1800" dirty="0">
                <a:solidFill>
                  <a:schemeClr val="bg1"/>
                </a:solidFill>
                <a:latin typeface="+mn-lt"/>
                <a:ea typeface="+mn-ea"/>
                <a:cs typeface="+mn-ea"/>
                <a:sym typeface="+mn-lt"/>
              </a:rPr>
              <a:t>建立深度合作关系</a:t>
            </a:r>
            <a:endParaRPr lang="zh-CN" altLang="en-US" sz="1800" dirty="0">
              <a:solidFill>
                <a:schemeClr val="bg1"/>
              </a:solidFill>
              <a:latin typeface="+mn-lt"/>
              <a:ea typeface="+mn-ea"/>
              <a:cs typeface="+mn-ea"/>
              <a:sym typeface="+mn-lt"/>
            </a:endParaRPr>
          </a:p>
        </p:txBody>
      </p:sp>
      <p:sp>
        <p:nvSpPr>
          <p:cNvPr id="22" name="文本框 21"/>
          <p:cNvSpPr txBox="1"/>
          <p:nvPr/>
        </p:nvSpPr>
        <p:spPr>
          <a:xfrm>
            <a:off x="1223683" y="4319665"/>
            <a:ext cx="2028132" cy="692497"/>
          </a:xfrm>
          <a:prstGeom prst="rect">
            <a:avLst/>
          </a:prstGeom>
          <a:noFill/>
        </p:spPr>
        <p:txBody>
          <a:bodyPr wrap="square" rtlCol="0">
            <a:spAutoFit/>
          </a:bodyPr>
          <a:lstStyle/>
          <a:p>
            <a:r>
              <a:rPr kumimoji="1" lang="zh-CN" altLang="en-US" b="0" dirty="0">
                <a:latin typeface="+mn-lt"/>
                <a:ea typeface="+mn-ea"/>
                <a:cs typeface="+mn-ea"/>
                <a:sym typeface="+mn-lt"/>
              </a:rPr>
              <a:t>通过持续接触和沟通，听取业务部门意见，优化调整业务部门的关键角色</a:t>
            </a:r>
            <a:endParaRPr kumimoji="1" lang="zh-CN" altLang="en-US" b="0" dirty="0">
              <a:latin typeface="+mn-lt"/>
              <a:ea typeface="+mn-ea"/>
              <a:cs typeface="+mn-ea"/>
              <a:sym typeface="+mn-lt"/>
            </a:endParaRPr>
          </a:p>
        </p:txBody>
      </p:sp>
      <p:sp>
        <p:nvSpPr>
          <p:cNvPr id="23" name="文本框 22"/>
          <p:cNvSpPr txBox="1"/>
          <p:nvPr/>
        </p:nvSpPr>
        <p:spPr>
          <a:xfrm>
            <a:off x="3694545" y="4319665"/>
            <a:ext cx="2126930" cy="892552"/>
          </a:xfrm>
          <a:prstGeom prst="rect">
            <a:avLst/>
          </a:prstGeom>
          <a:noFill/>
        </p:spPr>
        <p:txBody>
          <a:bodyPr wrap="square" rtlCol="0">
            <a:spAutoFit/>
          </a:bodyPr>
          <a:lstStyle/>
          <a:p>
            <a:r>
              <a:rPr kumimoji="1" lang="zh-CN" altLang="en-US" b="0" dirty="0">
                <a:latin typeface="+mn-lt"/>
                <a:ea typeface="+mn-ea"/>
                <a:cs typeface="+mn-ea"/>
                <a:sym typeface="+mn-lt"/>
              </a:rPr>
              <a:t>通过设置业务关键联络员角色，建立教研室和业务部门的沟通渠道，畅通需求信息</a:t>
            </a:r>
            <a:endParaRPr kumimoji="1" lang="zh-CN" altLang="en-US" b="0" dirty="0">
              <a:latin typeface="+mn-lt"/>
              <a:ea typeface="+mn-ea"/>
              <a:cs typeface="+mn-ea"/>
              <a:sym typeface="+mn-lt"/>
            </a:endParaRPr>
          </a:p>
        </p:txBody>
      </p:sp>
      <p:sp>
        <p:nvSpPr>
          <p:cNvPr id="24" name="文本框 23"/>
          <p:cNvSpPr txBox="1"/>
          <p:nvPr/>
        </p:nvSpPr>
        <p:spPr>
          <a:xfrm>
            <a:off x="6205163" y="4319665"/>
            <a:ext cx="2320358" cy="892552"/>
          </a:xfrm>
          <a:prstGeom prst="rect">
            <a:avLst/>
          </a:prstGeom>
          <a:noFill/>
        </p:spPr>
        <p:txBody>
          <a:bodyPr wrap="square" rtlCol="0">
            <a:spAutoFit/>
          </a:bodyPr>
          <a:lstStyle/>
          <a:p>
            <a:r>
              <a:rPr kumimoji="1" lang="zh-CN" altLang="en-US" b="0" dirty="0">
                <a:latin typeface="+mn-lt"/>
                <a:ea typeface="+mn-ea"/>
                <a:cs typeface="+mn-ea"/>
                <a:sym typeface="+mn-lt"/>
              </a:rPr>
              <a:t>基于线上学习地图和业务场景设计，助力业务条线快速建立专业人才培养体系和重点培养项目</a:t>
            </a:r>
            <a:endParaRPr kumimoji="1" lang="zh-CN" altLang="en-US" b="0" dirty="0">
              <a:latin typeface="+mn-lt"/>
              <a:ea typeface="+mn-ea"/>
              <a:cs typeface="+mn-ea"/>
              <a:sym typeface="+mn-lt"/>
            </a:endParaRPr>
          </a:p>
        </p:txBody>
      </p:sp>
      <p:sp>
        <p:nvSpPr>
          <p:cNvPr id="25" name="文本框 24"/>
          <p:cNvSpPr txBox="1"/>
          <p:nvPr/>
        </p:nvSpPr>
        <p:spPr>
          <a:xfrm>
            <a:off x="8734396" y="4319665"/>
            <a:ext cx="2319085" cy="892552"/>
          </a:xfrm>
          <a:prstGeom prst="rect">
            <a:avLst/>
          </a:prstGeom>
          <a:noFill/>
        </p:spPr>
        <p:txBody>
          <a:bodyPr wrap="square" rtlCol="0">
            <a:spAutoFit/>
          </a:bodyPr>
          <a:lstStyle/>
          <a:p>
            <a:r>
              <a:rPr kumimoji="1" lang="zh-CN" altLang="en-US" b="0" dirty="0">
                <a:latin typeface="+mn-lt"/>
                <a:ea typeface="+mn-ea"/>
                <a:cs typeface="+mn-ea"/>
                <a:sym typeface="+mn-lt"/>
              </a:rPr>
              <a:t>基于对业务部门人才和相关业务需求，从业务问题支持和绩效改善等方面，提供工具和人员支持</a:t>
            </a:r>
            <a:endParaRPr kumimoji="1" lang="zh-CN" altLang="en-US" b="0" dirty="0">
              <a:latin typeface="+mn-lt"/>
              <a:ea typeface="+mn-ea"/>
              <a:cs typeface="+mn-ea"/>
              <a:sym typeface="+mn-lt"/>
            </a:endParaRPr>
          </a:p>
        </p:txBody>
      </p:sp>
      <p:sp>
        <p:nvSpPr>
          <p:cNvPr id="27" name="矩形 45"/>
          <p:cNvSpPr>
            <a:spLocks noChangeArrowheads="1"/>
          </p:cNvSpPr>
          <p:nvPr/>
        </p:nvSpPr>
        <p:spPr bwMode="auto">
          <a:xfrm>
            <a:off x="3784388" y="1917108"/>
            <a:ext cx="4574044" cy="522587"/>
          </a:xfrm>
          <a:prstGeom prst="rect">
            <a:avLst/>
          </a:prstGeom>
          <a:solidFill>
            <a:srgbClr val="C00000"/>
          </a:solidFill>
          <a:ln w="3175" algn="ctr">
            <a:solidFill>
              <a:srgbClr val="C00000"/>
            </a:solidFill>
            <a:round/>
          </a:ln>
        </p:spPr>
        <p:txBody>
          <a:bodyPr wrap="none" lIns="45720" rIns="45720" anchor="ctr"/>
          <a:lstStyle/>
          <a:p>
            <a:pPr algn="ctr"/>
            <a:r>
              <a:rPr lang="zh-CN" altLang="en-US" sz="1800" b="1" dirty="0">
                <a:solidFill>
                  <a:schemeClr val="bg1"/>
                </a:solidFill>
                <a:latin typeface="+mn-lt"/>
                <a:ea typeface="+mn-ea"/>
                <a:cs typeface="+mn-ea"/>
                <a:sym typeface="+mn-lt"/>
              </a:rPr>
              <a:t>重检专业发展规划</a:t>
            </a:r>
            <a:endParaRPr lang="zh-CN" altLang="en-US" sz="1800" b="1" dirty="0">
              <a:solidFill>
                <a:schemeClr val="bg1"/>
              </a:solidFill>
              <a:latin typeface="+mn-lt"/>
              <a:ea typeface="+mn-ea"/>
              <a:cs typeface="+mn-ea"/>
              <a:sym typeface="+mn-lt"/>
            </a:endParaRPr>
          </a:p>
        </p:txBody>
      </p:sp>
      <p:sp>
        <p:nvSpPr>
          <p:cNvPr id="28" name="文本框 27"/>
          <p:cNvSpPr txBox="1"/>
          <p:nvPr/>
        </p:nvSpPr>
        <p:spPr>
          <a:xfrm>
            <a:off x="3784388" y="2568902"/>
            <a:ext cx="4574044" cy="492443"/>
          </a:xfrm>
          <a:prstGeom prst="rect">
            <a:avLst/>
          </a:prstGeom>
          <a:noFill/>
        </p:spPr>
        <p:txBody>
          <a:bodyPr wrap="square" rtlCol="0">
            <a:spAutoFit/>
          </a:bodyPr>
          <a:lstStyle/>
          <a:p>
            <a:r>
              <a:rPr kumimoji="1" lang="zh-CN" altLang="en-US" b="0" dirty="0">
                <a:latin typeface="+mn-lt"/>
                <a:ea typeface="+mn-ea"/>
                <a:cs typeface="+mn-ea"/>
                <a:sym typeface="+mn-lt"/>
              </a:rPr>
              <a:t>借力中银大学三层决策机构，通过校董会或办公会讨论并重检专业学院建设，优化专业学院的定位和发展思路</a:t>
            </a:r>
            <a:endParaRPr kumimoji="1" lang="zh-CN" altLang="en-US" b="0" dirty="0">
              <a:latin typeface="+mn-lt"/>
              <a:ea typeface="+mn-ea"/>
              <a:cs typeface="+mn-ea"/>
              <a:sym typeface="+mn-lt"/>
            </a:endParaRPr>
          </a:p>
        </p:txBody>
      </p:sp>
      <p:sp>
        <p:nvSpPr>
          <p:cNvPr id="13" name="灯片编号占位符 1"/>
          <p:cNvSpPr txBox="1"/>
          <p:nvPr/>
        </p:nvSpPr>
        <p:spPr>
          <a:xfrm>
            <a:off x="9428318" y="6547125"/>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17483" y="198023"/>
            <a:ext cx="9252877"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 3</a:t>
            </a:r>
            <a:r>
              <a:rPr kumimoji="1" lang="zh-CN" altLang="en-US" sz="2000" dirty="0">
                <a:latin typeface="+mn-lt"/>
                <a:ea typeface="+mn-ea"/>
                <a:cs typeface="+mn-ea"/>
                <a:sym typeface="+mn-lt"/>
              </a:rPr>
              <a:t>、明晰责权利，制定并执行严格的绩效管理制度</a:t>
            </a:r>
            <a:endParaRPr kumimoji="1" lang="en-US" altLang="zh-CN" sz="2000" dirty="0">
              <a:latin typeface="+mn-lt"/>
              <a:ea typeface="+mn-ea"/>
              <a:cs typeface="+mn-ea"/>
              <a:sym typeface="+mn-lt"/>
            </a:endParaRPr>
          </a:p>
        </p:txBody>
      </p:sp>
      <p:sp>
        <p:nvSpPr>
          <p:cNvPr id="11" name="文本框 10"/>
          <p:cNvSpPr txBox="1"/>
          <p:nvPr/>
        </p:nvSpPr>
        <p:spPr>
          <a:xfrm>
            <a:off x="1648374" y="3096543"/>
            <a:ext cx="4107305" cy="584775"/>
          </a:xfrm>
          <a:prstGeom prst="rect">
            <a:avLst/>
          </a:prstGeom>
          <a:noFill/>
        </p:spPr>
        <p:txBody>
          <a:bodyPr wrap="square">
            <a:spAutoFit/>
          </a:bodyPr>
          <a:lstStyle/>
          <a:p>
            <a:pPr marL="285750" indent="-285750">
              <a:buFont typeface="Wingdings" panose="05000000000000000000" pitchFamily="2" charset="2"/>
              <a:buChar char="Ø"/>
            </a:pPr>
            <a:r>
              <a:rPr lang="zh-CN" altLang="en-US" sz="1600" dirty="0">
                <a:latin typeface="+mn-lt"/>
                <a:ea typeface="+mn-ea"/>
                <a:cs typeface="+mn-ea"/>
                <a:sym typeface="+mn-lt"/>
              </a:rPr>
              <a:t>明晰各级培训机构及核心岗位的定位和职责，推进精细化培训管理</a:t>
            </a:r>
            <a:endParaRPr lang="zh-CN" altLang="en-US" sz="1600" dirty="0">
              <a:latin typeface="+mn-lt"/>
              <a:ea typeface="+mn-ea"/>
              <a:cs typeface="+mn-ea"/>
              <a:sym typeface="+mn-lt"/>
            </a:endParaRPr>
          </a:p>
        </p:txBody>
      </p:sp>
      <p:sp>
        <p:nvSpPr>
          <p:cNvPr id="12" name="文本框 11"/>
          <p:cNvSpPr txBox="1"/>
          <p:nvPr/>
        </p:nvSpPr>
        <p:spPr>
          <a:xfrm>
            <a:off x="6614730" y="4363792"/>
            <a:ext cx="4107305" cy="584775"/>
          </a:xfrm>
          <a:prstGeom prst="rect">
            <a:avLst/>
          </a:prstGeom>
          <a:noFill/>
        </p:spPr>
        <p:txBody>
          <a:bodyPr wrap="square">
            <a:spAutoFit/>
          </a:bodyPr>
          <a:lstStyle>
            <a:defPPr>
              <a:defRPr lang="zh-CN"/>
            </a:defPPr>
            <a:lvl1pPr marL="285750" indent="-285750">
              <a:buFont typeface="Wingdings" panose="05000000000000000000" pitchFamily="2" charset="2"/>
              <a:buChar char="Ø"/>
              <a:defRPr>
                <a:latin typeface="微软雅黑" charset="-122"/>
                <a:ea typeface="微软雅黑" charset="-122"/>
              </a:defRPr>
            </a:lvl1pPr>
          </a:lstStyle>
          <a:p>
            <a:r>
              <a:rPr lang="zh-CN" altLang="en-US" sz="1600" dirty="0">
                <a:latin typeface="+mn-lt"/>
                <a:ea typeface="+mn-ea"/>
                <a:cs typeface="+mn-ea"/>
                <a:sym typeface="+mn-lt"/>
              </a:rPr>
              <a:t>严格落实培训岗位人员的绩效管理制度，激活人员工作活力</a:t>
            </a:r>
            <a:endParaRPr lang="zh-CN" altLang="en-US" sz="1600" dirty="0">
              <a:latin typeface="+mn-lt"/>
              <a:ea typeface="+mn-ea"/>
              <a:cs typeface="+mn-ea"/>
              <a:sym typeface="+mn-lt"/>
            </a:endParaRPr>
          </a:p>
        </p:txBody>
      </p:sp>
      <p:sp>
        <p:nvSpPr>
          <p:cNvPr id="14" name="圆角矩形 2"/>
          <p:cNvSpPr/>
          <p:nvPr/>
        </p:nvSpPr>
        <p:spPr>
          <a:xfrm>
            <a:off x="6096000" y="3043049"/>
            <a:ext cx="4107305" cy="1613131"/>
          </a:xfrm>
          <a:custGeom>
            <a:avLst/>
            <a:gdLst>
              <a:gd name="connsiteX0" fmla="*/ 0 w 4248472"/>
              <a:gd name="connsiteY0" fmla="*/ 756084 h 1512168"/>
              <a:gd name="connsiteX1" fmla="*/ 756084 w 4248472"/>
              <a:gd name="connsiteY1" fmla="*/ 0 h 1512168"/>
              <a:gd name="connsiteX2" fmla="*/ 3492388 w 4248472"/>
              <a:gd name="connsiteY2" fmla="*/ 0 h 1512168"/>
              <a:gd name="connsiteX3" fmla="*/ 4248472 w 4248472"/>
              <a:gd name="connsiteY3" fmla="*/ 756084 h 1512168"/>
              <a:gd name="connsiteX4" fmla="*/ 4248472 w 4248472"/>
              <a:gd name="connsiteY4" fmla="*/ 756084 h 1512168"/>
              <a:gd name="connsiteX5" fmla="*/ 3492388 w 4248472"/>
              <a:gd name="connsiteY5" fmla="*/ 1512168 h 1512168"/>
              <a:gd name="connsiteX6" fmla="*/ 756084 w 4248472"/>
              <a:gd name="connsiteY6" fmla="*/ 1512168 h 1512168"/>
              <a:gd name="connsiteX7" fmla="*/ 0 w 4248472"/>
              <a:gd name="connsiteY7" fmla="*/ 756084 h 1512168"/>
              <a:gd name="connsiteX0-1" fmla="*/ 21174 w 4269646"/>
              <a:gd name="connsiteY0-2" fmla="*/ 756084 h 1512168"/>
              <a:gd name="connsiteX1-3" fmla="*/ 777258 w 4269646"/>
              <a:gd name="connsiteY1-4" fmla="*/ 0 h 1512168"/>
              <a:gd name="connsiteX2-5" fmla="*/ 3513562 w 4269646"/>
              <a:gd name="connsiteY2-6" fmla="*/ 0 h 1512168"/>
              <a:gd name="connsiteX3-7" fmla="*/ 4269646 w 4269646"/>
              <a:gd name="connsiteY3-8" fmla="*/ 756084 h 1512168"/>
              <a:gd name="connsiteX4-9" fmla="*/ 4269646 w 4269646"/>
              <a:gd name="connsiteY4-10" fmla="*/ 756084 h 1512168"/>
              <a:gd name="connsiteX5-11" fmla="*/ 3513562 w 4269646"/>
              <a:gd name="connsiteY5-12" fmla="*/ 1512168 h 1512168"/>
              <a:gd name="connsiteX6-13" fmla="*/ 777258 w 4269646"/>
              <a:gd name="connsiteY6-14" fmla="*/ 1512168 h 1512168"/>
              <a:gd name="connsiteX7-15" fmla="*/ 258688 w 4269646"/>
              <a:gd name="connsiteY7-16" fmla="*/ 1346622 h 1512168"/>
              <a:gd name="connsiteX8" fmla="*/ 21174 w 4269646"/>
              <a:gd name="connsiteY8" fmla="*/ 756084 h 1512168"/>
              <a:gd name="connsiteX0-17" fmla="*/ 91863 w 4340335"/>
              <a:gd name="connsiteY0-18" fmla="*/ 756084 h 2273096"/>
              <a:gd name="connsiteX1-19" fmla="*/ 847947 w 4340335"/>
              <a:gd name="connsiteY1-20" fmla="*/ 0 h 2273096"/>
              <a:gd name="connsiteX2-21" fmla="*/ 3584251 w 4340335"/>
              <a:gd name="connsiteY2-22" fmla="*/ 0 h 2273096"/>
              <a:gd name="connsiteX3-23" fmla="*/ 4340335 w 4340335"/>
              <a:gd name="connsiteY3-24" fmla="*/ 756084 h 2273096"/>
              <a:gd name="connsiteX4-25" fmla="*/ 4340335 w 4340335"/>
              <a:gd name="connsiteY4-26" fmla="*/ 756084 h 2273096"/>
              <a:gd name="connsiteX5-27" fmla="*/ 3584251 w 4340335"/>
              <a:gd name="connsiteY5-28" fmla="*/ 1512168 h 2273096"/>
              <a:gd name="connsiteX6-29" fmla="*/ 847947 w 4340335"/>
              <a:gd name="connsiteY6-30" fmla="*/ 1512168 h 2273096"/>
              <a:gd name="connsiteX7-31" fmla="*/ 96620 w 4340335"/>
              <a:gd name="connsiteY7-32" fmla="*/ 2261022 h 2273096"/>
              <a:gd name="connsiteX8-33" fmla="*/ 91863 w 4340335"/>
              <a:gd name="connsiteY8-34" fmla="*/ 756084 h 2273096"/>
              <a:gd name="connsiteX0-35" fmla="*/ 44127 w 4292599"/>
              <a:gd name="connsiteY0-36" fmla="*/ 756084 h 2273096"/>
              <a:gd name="connsiteX1-37" fmla="*/ 800211 w 4292599"/>
              <a:gd name="connsiteY1-38" fmla="*/ 0 h 2273096"/>
              <a:gd name="connsiteX2-39" fmla="*/ 3536515 w 4292599"/>
              <a:gd name="connsiteY2-40" fmla="*/ 0 h 2273096"/>
              <a:gd name="connsiteX3-41" fmla="*/ 4292599 w 4292599"/>
              <a:gd name="connsiteY3-42" fmla="*/ 756084 h 2273096"/>
              <a:gd name="connsiteX4-43" fmla="*/ 4292599 w 4292599"/>
              <a:gd name="connsiteY4-44" fmla="*/ 756084 h 2273096"/>
              <a:gd name="connsiteX5-45" fmla="*/ 3536515 w 4292599"/>
              <a:gd name="connsiteY5-46" fmla="*/ 1512168 h 2273096"/>
              <a:gd name="connsiteX6-47" fmla="*/ 800211 w 4292599"/>
              <a:gd name="connsiteY6-48" fmla="*/ 1512168 h 2273096"/>
              <a:gd name="connsiteX7-49" fmla="*/ 48884 w 4292599"/>
              <a:gd name="connsiteY7-50" fmla="*/ 2261022 h 2273096"/>
              <a:gd name="connsiteX8-51" fmla="*/ 44127 w 4292599"/>
              <a:gd name="connsiteY8-52" fmla="*/ 756084 h 2273096"/>
              <a:gd name="connsiteX0-53" fmla="*/ 44127 w 4292599"/>
              <a:gd name="connsiteY0-54" fmla="*/ 756084 h 2261022"/>
              <a:gd name="connsiteX1-55" fmla="*/ 800211 w 4292599"/>
              <a:gd name="connsiteY1-56" fmla="*/ 0 h 2261022"/>
              <a:gd name="connsiteX2-57" fmla="*/ 3536515 w 4292599"/>
              <a:gd name="connsiteY2-58" fmla="*/ 0 h 2261022"/>
              <a:gd name="connsiteX3-59" fmla="*/ 4292599 w 4292599"/>
              <a:gd name="connsiteY3-60" fmla="*/ 756084 h 2261022"/>
              <a:gd name="connsiteX4-61" fmla="*/ 4292599 w 4292599"/>
              <a:gd name="connsiteY4-62" fmla="*/ 756084 h 2261022"/>
              <a:gd name="connsiteX5-63" fmla="*/ 3536515 w 4292599"/>
              <a:gd name="connsiteY5-64" fmla="*/ 1512168 h 2261022"/>
              <a:gd name="connsiteX6-65" fmla="*/ 800211 w 4292599"/>
              <a:gd name="connsiteY6-66" fmla="*/ 1512168 h 2261022"/>
              <a:gd name="connsiteX7-67" fmla="*/ 48884 w 4292599"/>
              <a:gd name="connsiteY7-68" fmla="*/ 2261022 h 2261022"/>
              <a:gd name="connsiteX8-69" fmla="*/ 44127 w 4292599"/>
              <a:gd name="connsiteY8-70" fmla="*/ 756084 h 2261022"/>
              <a:gd name="connsiteX0-71" fmla="*/ 58844 w 4307316"/>
              <a:gd name="connsiteY0-72" fmla="*/ 756084 h 2261022"/>
              <a:gd name="connsiteX1-73" fmla="*/ 814928 w 4307316"/>
              <a:gd name="connsiteY1-74" fmla="*/ 0 h 2261022"/>
              <a:gd name="connsiteX2-75" fmla="*/ 3551232 w 4307316"/>
              <a:gd name="connsiteY2-76" fmla="*/ 0 h 2261022"/>
              <a:gd name="connsiteX3-77" fmla="*/ 4307316 w 4307316"/>
              <a:gd name="connsiteY3-78" fmla="*/ 756084 h 2261022"/>
              <a:gd name="connsiteX4-79" fmla="*/ 4307316 w 4307316"/>
              <a:gd name="connsiteY4-80" fmla="*/ 756084 h 2261022"/>
              <a:gd name="connsiteX5-81" fmla="*/ 3551232 w 4307316"/>
              <a:gd name="connsiteY5-82" fmla="*/ 1512168 h 2261022"/>
              <a:gd name="connsiteX6-83" fmla="*/ 814928 w 4307316"/>
              <a:gd name="connsiteY6-84" fmla="*/ 1512168 h 2261022"/>
              <a:gd name="connsiteX7-85" fmla="*/ 63601 w 4307316"/>
              <a:gd name="connsiteY7-86" fmla="*/ 2261022 h 2261022"/>
              <a:gd name="connsiteX8-87" fmla="*/ 58844 w 4307316"/>
              <a:gd name="connsiteY8-88" fmla="*/ 756084 h 2261022"/>
              <a:gd name="connsiteX0-89" fmla="*/ 23866 w 4272338"/>
              <a:gd name="connsiteY0-90" fmla="*/ 756084 h 2261022"/>
              <a:gd name="connsiteX1-91" fmla="*/ 779950 w 4272338"/>
              <a:gd name="connsiteY1-92" fmla="*/ 0 h 2261022"/>
              <a:gd name="connsiteX2-93" fmla="*/ 3516254 w 4272338"/>
              <a:gd name="connsiteY2-94" fmla="*/ 0 h 2261022"/>
              <a:gd name="connsiteX3-95" fmla="*/ 4272338 w 4272338"/>
              <a:gd name="connsiteY3-96" fmla="*/ 756084 h 2261022"/>
              <a:gd name="connsiteX4-97" fmla="*/ 4272338 w 4272338"/>
              <a:gd name="connsiteY4-98" fmla="*/ 756084 h 2261022"/>
              <a:gd name="connsiteX5-99" fmla="*/ 3516254 w 4272338"/>
              <a:gd name="connsiteY5-100" fmla="*/ 1512168 h 2261022"/>
              <a:gd name="connsiteX6-101" fmla="*/ 779950 w 4272338"/>
              <a:gd name="connsiteY6-102" fmla="*/ 1512168 h 2261022"/>
              <a:gd name="connsiteX7-103" fmla="*/ 28623 w 4272338"/>
              <a:gd name="connsiteY7-104" fmla="*/ 2261022 h 2261022"/>
              <a:gd name="connsiteX8-105" fmla="*/ 23866 w 4272338"/>
              <a:gd name="connsiteY8-106" fmla="*/ 756084 h 2261022"/>
              <a:gd name="connsiteX0-107" fmla="*/ 65222 w 4313694"/>
              <a:gd name="connsiteY0-108" fmla="*/ 756084 h 2397356"/>
              <a:gd name="connsiteX1-109" fmla="*/ 821306 w 4313694"/>
              <a:gd name="connsiteY1-110" fmla="*/ 0 h 2397356"/>
              <a:gd name="connsiteX2-111" fmla="*/ 3557610 w 4313694"/>
              <a:gd name="connsiteY2-112" fmla="*/ 0 h 2397356"/>
              <a:gd name="connsiteX3-113" fmla="*/ 4313694 w 4313694"/>
              <a:gd name="connsiteY3-114" fmla="*/ 756084 h 2397356"/>
              <a:gd name="connsiteX4-115" fmla="*/ 4313694 w 4313694"/>
              <a:gd name="connsiteY4-116" fmla="*/ 756084 h 2397356"/>
              <a:gd name="connsiteX5-117" fmla="*/ 3557610 w 4313694"/>
              <a:gd name="connsiteY5-118" fmla="*/ 1512168 h 2397356"/>
              <a:gd name="connsiteX6-119" fmla="*/ 821306 w 4313694"/>
              <a:gd name="connsiteY6-120" fmla="*/ 1512168 h 2397356"/>
              <a:gd name="connsiteX7-121" fmla="*/ 69978 w 4313694"/>
              <a:gd name="connsiteY7-122" fmla="*/ 2397356 h 2397356"/>
              <a:gd name="connsiteX8-123" fmla="*/ 65222 w 4313694"/>
              <a:gd name="connsiteY8-124" fmla="*/ 756084 h 2397356"/>
              <a:gd name="connsiteX0-125" fmla="*/ 92290 w 4340762"/>
              <a:gd name="connsiteY0-126" fmla="*/ 756084 h 2378945"/>
              <a:gd name="connsiteX1-127" fmla="*/ 848374 w 4340762"/>
              <a:gd name="connsiteY1-128" fmla="*/ 0 h 2378945"/>
              <a:gd name="connsiteX2-129" fmla="*/ 3584678 w 4340762"/>
              <a:gd name="connsiteY2-130" fmla="*/ 0 h 2378945"/>
              <a:gd name="connsiteX3-131" fmla="*/ 4340762 w 4340762"/>
              <a:gd name="connsiteY3-132" fmla="*/ 756084 h 2378945"/>
              <a:gd name="connsiteX4-133" fmla="*/ 4340762 w 4340762"/>
              <a:gd name="connsiteY4-134" fmla="*/ 756084 h 2378945"/>
              <a:gd name="connsiteX5-135" fmla="*/ 3584678 w 4340762"/>
              <a:gd name="connsiteY5-136" fmla="*/ 1512168 h 2378945"/>
              <a:gd name="connsiteX6-137" fmla="*/ 848374 w 4340762"/>
              <a:gd name="connsiteY6-138" fmla="*/ 1512168 h 2378945"/>
              <a:gd name="connsiteX7-139" fmla="*/ 41813 w 4340762"/>
              <a:gd name="connsiteY7-140" fmla="*/ 2378945 h 2378945"/>
              <a:gd name="connsiteX8-141" fmla="*/ 92290 w 4340762"/>
              <a:gd name="connsiteY8-142" fmla="*/ 756084 h 237894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4340762" h="2378945">
                <a:moveTo>
                  <a:pt x="92290" y="756084"/>
                </a:moveTo>
                <a:cubicBezTo>
                  <a:pt x="226717" y="359593"/>
                  <a:pt x="430800" y="0"/>
                  <a:pt x="848374" y="0"/>
                </a:cubicBezTo>
                <a:lnTo>
                  <a:pt x="3584678" y="0"/>
                </a:lnTo>
                <a:cubicBezTo>
                  <a:pt x="4002252" y="0"/>
                  <a:pt x="4340762" y="338510"/>
                  <a:pt x="4340762" y="756084"/>
                </a:cubicBezTo>
                <a:lnTo>
                  <a:pt x="4340762" y="756084"/>
                </a:lnTo>
                <a:cubicBezTo>
                  <a:pt x="4340762" y="1173658"/>
                  <a:pt x="4002252" y="1512168"/>
                  <a:pt x="3584678" y="1512168"/>
                </a:cubicBezTo>
                <a:lnTo>
                  <a:pt x="848374" y="1512168"/>
                </a:lnTo>
                <a:cubicBezTo>
                  <a:pt x="305895" y="1484577"/>
                  <a:pt x="34823" y="2355330"/>
                  <a:pt x="41813" y="2378945"/>
                </a:cubicBezTo>
                <a:cubicBezTo>
                  <a:pt x="-2402" y="2239298"/>
                  <a:pt x="-42137" y="1152575"/>
                  <a:pt x="92290" y="756084"/>
                </a:cubicBezTo>
                <a:close/>
              </a:path>
            </a:pathLst>
          </a:custGeom>
          <a:solidFill>
            <a:srgbClr val="AC0000"/>
          </a:solidFill>
          <a:ln w="25400" cap="flat" cmpd="sng" algn="ctr">
            <a:noFill/>
            <a:prstDash val="solid"/>
          </a:ln>
          <a:effectLst>
            <a:outerShdw blurRad="149987" dist="250190" dir="8460000" algn="ctr">
              <a:srgbClr val="000000">
                <a:alpha val="28000"/>
              </a:srgbClr>
            </a:outerShdw>
          </a:effectLst>
        </p:spPr>
        <p:txBody>
          <a:bodyPr rtlCol="0" anchor="ctr"/>
          <a:lstStyle/>
          <a:p>
            <a:pPr algn="ctr">
              <a:lnSpc>
                <a:spcPct val="130000"/>
              </a:lnSpc>
              <a:defRPr/>
            </a:pPr>
            <a:endParaRPr lang="zh-CN" altLang="en-US" sz="1255" kern="0" dirty="0">
              <a:solidFill>
                <a:sysClr val="window" lastClr="FFFFFF"/>
              </a:solidFill>
              <a:cs typeface="+mn-ea"/>
              <a:sym typeface="+mn-lt"/>
            </a:endParaRPr>
          </a:p>
        </p:txBody>
      </p:sp>
      <p:sp>
        <p:nvSpPr>
          <p:cNvPr id="15" name="圆角矩形 2"/>
          <p:cNvSpPr/>
          <p:nvPr/>
        </p:nvSpPr>
        <p:spPr>
          <a:xfrm flipH="1">
            <a:off x="2389101" y="1801710"/>
            <a:ext cx="3708576" cy="1661160"/>
          </a:xfrm>
          <a:custGeom>
            <a:avLst/>
            <a:gdLst>
              <a:gd name="connsiteX0" fmla="*/ 0 w 4248472"/>
              <a:gd name="connsiteY0" fmla="*/ 756084 h 1512168"/>
              <a:gd name="connsiteX1" fmla="*/ 756084 w 4248472"/>
              <a:gd name="connsiteY1" fmla="*/ 0 h 1512168"/>
              <a:gd name="connsiteX2" fmla="*/ 3492388 w 4248472"/>
              <a:gd name="connsiteY2" fmla="*/ 0 h 1512168"/>
              <a:gd name="connsiteX3" fmla="*/ 4248472 w 4248472"/>
              <a:gd name="connsiteY3" fmla="*/ 756084 h 1512168"/>
              <a:gd name="connsiteX4" fmla="*/ 4248472 w 4248472"/>
              <a:gd name="connsiteY4" fmla="*/ 756084 h 1512168"/>
              <a:gd name="connsiteX5" fmla="*/ 3492388 w 4248472"/>
              <a:gd name="connsiteY5" fmla="*/ 1512168 h 1512168"/>
              <a:gd name="connsiteX6" fmla="*/ 756084 w 4248472"/>
              <a:gd name="connsiteY6" fmla="*/ 1512168 h 1512168"/>
              <a:gd name="connsiteX7" fmla="*/ 0 w 4248472"/>
              <a:gd name="connsiteY7" fmla="*/ 756084 h 1512168"/>
              <a:gd name="connsiteX0-1" fmla="*/ 21174 w 4269646"/>
              <a:gd name="connsiteY0-2" fmla="*/ 756084 h 1512168"/>
              <a:gd name="connsiteX1-3" fmla="*/ 777258 w 4269646"/>
              <a:gd name="connsiteY1-4" fmla="*/ 0 h 1512168"/>
              <a:gd name="connsiteX2-5" fmla="*/ 3513562 w 4269646"/>
              <a:gd name="connsiteY2-6" fmla="*/ 0 h 1512168"/>
              <a:gd name="connsiteX3-7" fmla="*/ 4269646 w 4269646"/>
              <a:gd name="connsiteY3-8" fmla="*/ 756084 h 1512168"/>
              <a:gd name="connsiteX4-9" fmla="*/ 4269646 w 4269646"/>
              <a:gd name="connsiteY4-10" fmla="*/ 756084 h 1512168"/>
              <a:gd name="connsiteX5-11" fmla="*/ 3513562 w 4269646"/>
              <a:gd name="connsiteY5-12" fmla="*/ 1512168 h 1512168"/>
              <a:gd name="connsiteX6-13" fmla="*/ 777258 w 4269646"/>
              <a:gd name="connsiteY6-14" fmla="*/ 1512168 h 1512168"/>
              <a:gd name="connsiteX7-15" fmla="*/ 258688 w 4269646"/>
              <a:gd name="connsiteY7-16" fmla="*/ 1346622 h 1512168"/>
              <a:gd name="connsiteX8" fmla="*/ 21174 w 4269646"/>
              <a:gd name="connsiteY8" fmla="*/ 756084 h 1512168"/>
              <a:gd name="connsiteX0-17" fmla="*/ 91863 w 4340335"/>
              <a:gd name="connsiteY0-18" fmla="*/ 756084 h 2273096"/>
              <a:gd name="connsiteX1-19" fmla="*/ 847947 w 4340335"/>
              <a:gd name="connsiteY1-20" fmla="*/ 0 h 2273096"/>
              <a:gd name="connsiteX2-21" fmla="*/ 3584251 w 4340335"/>
              <a:gd name="connsiteY2-22" fmla="*/ 0 h 2273096"/>
              <a:gd name="connsiteX3-23" fmla="*/ 4340335 w 4340335"/>
              <a:gd name="connsiteY3-24" fmla="*/ 756084 h 2273096"/>
              <a:gd name="connsiteX4-25" fmla="*/ 4340335 w 4340335"/>
              <a:gd name="connsiteY4-26" fmla="*/ 756084 h 2273096"/>
              <a:gd name="connsiteX5-27" fmla="*/ 3584251 w 4340335"/>
              <a:gd name="connsiteY5-28" fmla="*/ 1512168 h 2273096"/>
              <a:gd name="connsiteX6-29" fmla="*/ 847947 w 4340335"/>
              <a:gd name="connsiteY6-30" fmla="*/ 1512168 h 2273096"/>
              <a:gd name="connsiteX7-31" fmla="*/ 96620 w 4340335"/>
              <a:gd name="connsiteY7-32" fmla="*/ 2261022 h 2273096"/>
              <a:gd name="connsiteX8-33" fmla="*/ 91863 w 4340335"/>
              <a:gd name="connsiteY8-34" fmla="*/ 756084 h 2273096"/>
              <a:gd name="connsiteX0-35" fmla="*/ 44127 w 4292599"/>
              <a:gd name="connsiteY0-36" fmla="*/ 756084 h 2273096"/>
              <a:gd name="connsiteX1-37" fmla="*/ 800211 w 4292599"/>
              <a:gd name="connsiteY1-38" fmla="*/ 0 h 2273096"/>
              <a:gd name="connsiteX2-39" fmla="*/ 3536515 w 4292599"/>
              <a:gd name="connsiteY2-40" fmla="*/ 0 h 2273096"/>
              <a:gd name="connsiteX3-41" fmla="*/ 4292599 w 4292599"/>
              <a:gd name="connsiteY3-42" fmla="*/ 756084 h 2273096"/>
              <a:gd name="connsiteX4-43" fmla="*/ 4292599 w 4292599"/>
              <a:gd name="connsiteY4-44" fmla="*/ 756084 h 2273096"/>
              <a:gd name="connsiteX5-45" fmla="*/ 3536515 w 4292599"/>
              <a:gd name="connsiteY5-46" fmla="*/ 1512168 h 2273096"/>
              <a:gd name="connsiteX6-47" fmla="*/ 800211 w 4292599"/>
              <a:gd name="connsiteY6-48" fmla="*/ 1512168 h 2273096"/>
              <a:gd name="connsiteX7-49" fmla="*/ 48884 w 4292599"/>
              <a:gd name="connsiteY7-50" fmla="*/ 2261022 h 2273096"/>
              <a:gd name="connsiteX8-51" fmla="*/ 44127 w 4292599"/>
              <a:gd name="connsiteY8-52" fmla="*/ 756084 h 2273096"/>
              <a:gd name="connsiteX0-53" fmla="*/ 44127 w 4292599"/>
              <a:gd name="connsiteY0-54" fmla="*/ 756084 h 2261022"/>
              <a:gd name="connsiteX1-55" fmla="*/ 800211 w 4292599"/>
              <a:gd name="connsiteY1-56" fmla="*/ 0 h 2261022"/>
              <a:gd name="connsiteX2-57" fmla="*/ 3536515 w 4292599"/>
              <a:gd name="connsiteY2-58" fmla="*/ 0 h 2261022"/>
              <a:gd name="connsiteX3-59" fmla="*/ 4292599 w 4292599"/>
              <a:gd name="connsiteY3-60" fmla="*/ 756084 h 2261022"/>
              <a:gd name="connsiteX4-61" fmla="*/ 4292599 w 4292599"/>
              <a:gd name="connsiteY4-62" fmla="*/ 756084 h 2261022"/>
              <a:gd name="connsiteX5-63" fmla="*/ 3536515 w 4292599"/>
              <a:gd name="connsiteY5-64" fmla="*/ 1512168 h 2261022"/>
              <a:gd name="connsiteX6-65" fmla="*/ 800211 w 4292599"/>
              <a:gd name="connsiteY6-66" fmla="*/ 1512168 h 2261022"/>
              <a:gd name="connsiteX7-67" fmla="*/ 48884 w 4292599"/>
              <a:gd name="connsiteY7-68" fmla="*/ 2261022 h 2261022"/>
              <a:gd name="connsiteX8-69" fmla="*/ 44127 w 4292599"/>
              <a:gd name="connsiteY8-70" fmla="*/ 756084 h 2261022"/>
              <a:gd name="connsiteX0-71" fmla="*/ 58844 w 4307316"/>
              <a:gd name="connsiteY0-72" fmla="*/ 756084 h 2261022"/>
              <a:gd name="connsiteX1-73" fmla="*/ 814928 w 4307316"/>
              <a:gd name="connsiteY1-74" fmla="*/ 0 h 2261022"/>
              <a:gd name="connsiteX2-75" fmla="*/ 3551232 w 4307316"/>
              <a:gd name="connsiteY2-76" fmla="*/ 0 h 2261022"/>
              <a:gd name="connsiteX3-77" fmla="*/ 4307316 w 4307316"/>
              <a:gd name="connsiteY3-78" fmla="*/ 756084 h 2261022"/>
              <a:gd name="connsiteX4-79" fmla="*/ 4307316 w 4307316"/>
              <a:gd name="connsiteY4-80" fmla="*/ 756084 h 2261022"/>
              <a:gd name="connsiteX5-81" fmla="*/ 3551232 w 4307316"/>
              <a:gd name="connsiteY5-82" fmla="*/ 1512168 h 2261022"/>
              <a:gd name="connsiteX6-83" fmla="*/ 814928 w 4307316"/>
              <a:gd name="connsiteY6-84" fmla="*/ 1512168 h 2261022"/>
              <a:gd name="connsiteX7-85" fmla="*/ 63601 w 4307316"/>
              <a:gd name="connsiteY7-86" fmla="*/ 2261022 h 2261022"/>
              <a:gd name="connsiteX8-87" fmla="*/ 58844 w 4307316"/>
              <a:gd name="connsiteY8-88" fmla="*/ 756084 h 2261022"/>
              <a:gd name="connsiteX0-89" fmla="*/ 23866 w 4272338"/>
              <a:gd name="connsiteY0-90" fmla="*/ 756084 h 2261022"/>
              <a:gd name="connsiteX1-91" fmla="*/ 779950 w 4272338"/>
              <a:gd name="connsiteY1-92" fmla="*/ 0 h 2261022"/>
              <a:gd name="connsiteX2-93" fmla="*/ 3516254 w 4272338"/>
              <a:gd name="connsiteY2-94" fmla="*/ 0 h 2261022"/>
              <a:gd name="connsiteX3-95" fmla="*/ 4272338 w 4272338"/>
              <a:gd name="connsiteY3-96" fmla="*/ 756084 h 2261022"/>
              <a:gd name="connsiteX4-97" fmla="*/ 4272338 w 4272338"/>
              <a:gd name="connsiteY4-98" fmla="*/ 756084 h 2261022"/>
              <a:gd name="connsiteX5-99" fmla="*/ 3516254 w 4272338"/>
              <a:gd name="connsiteY5-100" fmla="*/ 1512168 h 2261022"/>
              <a:gd name="connsiteX6-101" fmla="*/ 779950 w 4272338"/>
              <a:gd name="connsiteY6-102" fmla="*/ 1512168 h 2261022"/>
              <a:gd name="connsiteX7-103" fmla="*/ 28623 w 4272338"/>
              <a:gd name="connsiteY7-104" fmla="*/ 2261022 h 2261022"/>
              <a:gd name="connsiteX8-105" fmla="*/ 23866 w 4272338"/>
              <a:gd name="connsiteY8-106" fmla="*/ 756084 h 2261022"/>
              <a:gd name="connsiteX0-107" fmla="*/ 65222 w 4313694"/>
              <a:gd name="connsiteY0-108" fmla="*/ 756084 h 2397356"/>
              <a:gd name="connsiteX1-109" fmla="*/ 821306 w 4313694"/>
              <a:gd name="connsiteY1-110" fmla="*/ 0 h 2397356"/>
              <a:gd name="connsiteX2-111" fmla="*/ 3557610 w 4313694"/>
              <a:gd name="connsiteY2-112" fmla="*/ 0 h 2397356"/>
              <a:gd name="connsiteX3-113" fmla="*/ 4313694 w 4313694"/>
              <a:gd name="connsiteY3-114" fmla="*/ 756084 h 2397356"/>
              <a:gd name="connsiteX4-115" fmla="*/ 4313694 w 4313694"/>
              <a:gd name="connsiteY4-116" fmla="*/ 756084 h 2397356"/>
              <a:gd name="connsiteX5-117" fmla="*/ 3557610 w 4313694"/>
              <a:gd name="connsiteY5-118" fmla="*/ 1512168 h 2397356"/>
              <a:gd name="connsiteX6-119" fmla="*/ 821306 w 4313694"/>
              <a:gd name="connsiteY6-120" fmla="*/ 1512168 h 2397356"/>
              <a:gd name="connsiteX7-121" fmla="*/ 69978 w 4313694"/>
              <a:gd name="connsiteY7-122" fmla="*/ 2397356 h 2397356"/>
              <a:gd name="connsiteX8-123" fmla="*/ 65222 w 4313694"/>
              <a:gd name="connsiteY8-124" fmla="*/ 756084 h 2397356"/>
              <a:gd name="connsiteX0-125" fmla="*/ 76953 w 4325425"/>
              <a:gd name="connsiteY0-126" fmla="*/ 756084 h 2410587"/>
              <a:gd name="connsiteX1-127" fmla="*/ 833037 w 4325425"/>
              <a:gd name="connsiteY1-128" fmla="*/ 0 h 2410587"/>
              <a:gd name="connsiteX2-129" fmla="*/ 3569341 w 4325425"/>
              <a:gd name="connsiteY2-130" fmla="*/ 0 h 2410587"/>
              <a:gd name="connsiteX3-131" fmla="*/ 4325425 w 4325425"/>
              <a:gd name="connsiteY3-132" fmla="*/ 756084 h 2410587"/>
              <a:gd name="connsiteX4-133" fmla="*/ 4325425 w 4325425"/>
              <a:gd name="connsiteY4-134" fmla="*/ 756084 h 2410587"/>
              <a:gd name="connsiteX5-135" fmla="*/ 3569341 w 4325425"/>
              <a:gd name="connsiteY5-136" fmla="*/ 1512168 h 2410587"/>
              <a:gd name="connsiteX6-137" fmla="*/ 833037 w 4325425"/>
              <a:gd name="connsiteY6-138" fmla="*/ 1512168 h 2410587"/>
              <a:gd name="connsiteX7-139" fmla="*/ 55248 w 4325425"/>
              <a:gd name="connsiteY7-140" fmla="*/ 2410587 h 2410587"/>
              <a:gd name="connsiteX8-141" fmla="*/ 76953 w 4325425"/>
              <a:gd name="connsiteY8-142" fmla="*/ 756084 h 241058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4325425" h="2410587">
                <a:moveTo>
                  <a:pt x="76953" y="756084"/>
                </a:moveTo>
                <a:cubicBezTo>
                  <a:pt x="206584" y="354320"/>
                  <a:pt x="415463" y="0"/>
                  <a:pt x="833037" y="0"/>
                </a:cubicBezTo>
                <a:lnTo>
                  <a:pt x="3569341" y="0"/>
                </a:lnTo>
                <a:cubicBezTo>
                  <a:pt x="3986915" y="0"/>
                  <a:pt x="4325425" y="338510"/>
                  <a:pt x="4325425" y="756084"/>
                </a:cubicBezTo>
                <a:lnTo>
                  <a:pt x="4325425" y="756084"/>
                </a:lnTo>
                <a:cubicBezTo>
                  <a:pt x="4325425" y="1173658"/>
                  <a:pt x="3986915" y="1512168"/>
                  <a:pt x="3569341" y="1512168"/>
                </a:cubicBezTo>
                <a:lnTo>
                  <a:pt x="833037" y="1512168"/>
                </a:lnTo>
                <a:cubicBezTo>
                  <a:pt x="290558" y="1484577"/>
                  <a:pt x="48258" y="2386972"/>
                  <a:pt x="55248" y="2410587"/>
                </a:cubicBezTo>
                <a:cubicBezTo>
                  <a:pt x="11033" y="2270940"/>
                  <a:pt x="-52678" y="1157848"/>
                  <a:pt x="76953" y="756084"/>
                </a:cubicBezTo>
                <a:close/>
              </a:path>
            </a:pathLst>
          </a:custGeom>
          <a:solidFill>
            <a:srgbClr val="AC0000"/>
          </a:solidFill>
          <a:ln w="25400" cap="flat" cmpd="sng" algn="ctr">
            <a:noFill/>
            <a:prstDash val="solid"/>
          </a:ln>
          <a:effectLst>
            <a:outerShdw blurRad="149987" dist="250190" dir="8460000" algn="ctr">
              <a:srgbClr val="000000">
                <a:alpha val="28000"/>
              </a:srgbClr>
            </a:outerShdw>
          </a:effectLst>
        </p:spPr>
        <p:txBody>
          <a:bodyPr rtlCol="0" anchor="ctr"/>
          <a:lstStyle/>
          <a:p>
            <a:pPr algn="ctr">
              <a:lnSpc>
                <a:spcPct val="130000"/>
              </a:lnSpc>
              <a:defRPr/>
            </a:pPr>
            <a:endParaRPr lang="zh-CN" altLang="en-US" sz="1255" kern="0" dirty="0">
              <a:solidFill>
                <a:sysClr val="window" lastClr="FFFFFF"/>
              </a:solidFill>
              <a:cs typeface="+mn-ea"/>
              <a:sym typeface="+mn-lt"/>
            </a:endParaRPr>
          </a:p>
        </p:txBody>
      </p:sp>
      <p:sp>
        <p:nvSpPr>
          <p:cNvPr id="16" name="文本框 15"/>
          <p:cNvSpPr txBox="1"/>
          <p:nvPr/>
        </p:nvSpPr>
        <p:spPr>
          <a:xfrm>
            <a:off x="5179176" y="3336895"/>
            <a:ext cx="6102848" cy="400110"/>
          </a:xfrm>
          <a:prstGeom prst="rect">
            <a:avLst/>
          </a:prstGeom>
          <a:noFill/>
        </p:spPr>
        <p:txBody>
          <a:bodyPr wrap="square">
            <a:spAutoFit/>
          </a:bodyPr>
          <a:lstStyle/>
          <a:p>
            <a:pPr algn="ctr"/>
            <a:r>
              <a:rPr lang="zh-CN" altLang="en-US" sz="2000" dirty="0">
                <a:solidFill>
                  <a:schemeClr val="lt1"/>
                </a:solidFill>
                <a:latin typeface="+mn-lt"/>
                <a:ea typeface="+mn-ea"/>
                <a:cs typeface="+mn-ea"/>
                <a:sym typeface="+mn-lt"/>
              </a:rPr>
              <a:t>针对培养人员：强化考核和激励</a:t>
            </a:r>
            <a:endParaRPr lang="zh-CN" altLang="en-US" sz="2000" dirty="0">
              <a:solidFill>
                <a:schemeClr val="lt1"/>
              </a:solidFill>
              <a:latin typeface="+mn-lt"/>
              <a:ea typeface="+mn-ea"/>
              <a:cs typeface="+mn-ea"/>
              <a:sym typeface="+mn-lt"/>
            </a:endParaRPr>
          </a:p>
        </p:txBody>
      </p:sp>
      <p:sp>
        <p:nvSpPr>
          <p:cNvPr id="17" name="文本框 16"/>
          <p:cNvSpPr txBox="1"/>
          <p:nvPr/>
        </p:nvSpPr>
        <p:spPr>
          <a:xfrm>
            <a:off x="1191965" y="2157969"/>
            <a:ext cx="6102848" cy="400110"/>
          </a:xfrm>
          <a:prstGeom prst="rect">
            <a:avLst/>
          </a:prstGeom>
          <a:noFill/>
        </p:spPr>
        <p:txBody>
          <a:bodyPr wrap="square">
            <a:spAutoFit/>
          </a:bodyPr>
          <a:lstStyle/>
          <a:p>
            <a:pPr algn="ctr"/>
            <a:r>
              <a:rPr lang="zh-CN" altLang="en-US" sz="2000" dirty="0">
                <a:solidFill>
                  <a:schemeClr val="lt1"/>
                </a:solidFill>
                <a:latin typeface="+mn-lt"/>
                <a:ea typeface="+mn-ea"/>
                <a:cs typeface="+mn-ea"/>
                <a:sym typeface="+mn-lt"/>
              </a:rPr>
              <a:t>针对培训机构：明晰责权利</a:t>
            </a:r>
            <a:endParaRPr lang="zh-CN" altLang="en-US" sz="2000" dirty="0">
              <a:solidFill>
                <a:schemeClr val="lt1"/>
              </a:solidFill>
              <a:latin typeface="+mn-lt"/>
              <a:ea typeface="+mn-ea"/>
              <a:cs typeface="+mn-ea"/>
              <a:sym typeface="+mn-lt"/>
            </a:endParaRPr>
          </a:p>
        </p:txBody>
      </p:sp>
      <p:sp>
        <p:nvSpPr>
          <p:cNvPr id="18" name="灯片编号占位符 1"/>
          <p:cNvSpPr txBox="1"/>
          <p:nvPr/>
        </p:nvSpPr>
        <p:spPr>
          <a:xfrm>
            <a:off x="9428318" y="6547125"/>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54372" y="1908280"/>
            <a:ext cx="10232382" cy="3675108"/>
            <a:chOff x="1202120" y="1220663"/>
            <a:chExt cx="6674057" cy="2102293"/>
          </a:xfrm>
        </p:grpSpPr>
        <p:sp>
          <p:nvSpPr>
            <p:cNvPr id="12" name="矩形 4"/>
            <p:cNvSpPr/>
            <p:nvPr/>
          </p:nvSpPr>
          <p:spPr>
            <a:xfrm>
              <a:off x="1202120" y="1380941"/>
              <a:ext cx="2071356" cy="1942015"/>
            </a:xfrm>
            <a:custGeom>
              <a:avLst/>
              <a:gdLst/>
              <a:ahLst/>
              <a:cxnLst/>
              <a:rect l="l" t="t" r="r" b="b"/>
              <a:pathLst>
                <a:path w="2372187" h="2304256">
                  <a:moveTo>
                    <a:pt x="0" y="0"/>
                  </a:moveTo>
                  <a:lnTo>
                    <a:pt x="2372187" y="0"/>
                  </a:lnTo>
                  <a:cubicBezTo>
                    <a:pt x="2219574" y="282921"/>
                    <a:pt x="2124178" y="694319"/>
                    <a:pt x="2124178" y="1152128"/>
                  </a:cubicBezTo>
                  <a:cubicBezTo>
                    <a:pt x="2124178" y="1609938"/>
                    <a:pt x="2219574" y="2021335"/>
                    <a:pt x="2372187" y="2304256"/>
                  </a:cubicBezTo>
                  <a:lnTo>
                    <a:pt x="0" y="2304256"/>
                  </a:lnTo>
                  <a:lnTo>
                    <a:pt x="0" y="2302068"/>
                  </a:lnTo>
                  <a:cubicBezTo>
                    <a:pt x="151946" y="2019224"/>
                    <a:pt x="246853" y="1608763"/>
                    <a:pt x="246853" y="1152128"/>
                  </a:cubicBezTo>
                  <a:cubicBezTo>
                    <a:pt x="246853" y="695493"/>
                    <a:pt x="151946" y="285033"/>
                    <a:pt x="0" y="2188"/>
                  </a:cubicBezTo>
                  <a:close/>
                </a:path>
              </a:pathLst>
            </a:custGeom>
            <a:solidFill>
              <a:schemeClr val="bg1">
                <a:lumMod val="75000"/>
              </a:schemeClr>
            </a:solidFill>
            <a:ln w="25400" cap="flat" cmpd="sng" algn="ctr">
              <a:noFill/>
              <a:prstDash val="solid"/>
            </a:ln>
            <a:effectLst>
              <a:outerShdw blurRad="149987" dist="250190" dir="8460000" algn="ctr">
                <a:srgbClr val="000000">
                  <a:alpha val="28000"/>
                </a:srgbClr>
              </a:outerShdw>
            </a:effectLst>
          </p:spPr>
          <p:txBody>
            <a:bodyPr rtlCol="0" anchor="ctr"/>
            <a:lstStyle/>
            <a:p>
              <a:pPr algn="ctr">
                <a:lnSpc>
                  <a:spcPct val="130000"/>
                </a:lnSpc>
                <a:defRPr/>
              </a:pPr>
              <a:endParaRPr lang="zh-CN" altLang="en-US" sz="1115" kern="0" dirty="0">
                <a:solidFill>
                  <a:sysClr val="window" lastClr="FFFFFF"/>
                </a:solidFill>
                <a:cs typeface="+mn-ea"/>
                <a:sym typeface="+mn-lt"/>
              </a:endParaRPr>
            </a:p>
          </p:txBody>
        </p:sp>
        <p:sp>
          <p:nvSpPr>
            <p:cNvPr id="13" name="梯形 5"/>
            <p:cNvSpPr/>
            <p:nvPr/>
          </p:nvSpPr>
          <p:spPr>
            <a:xfrm flipV="1">
              <a:off x="1521214" y="1220663"/>
              <a:ext cx="1456015" cy="446940"/>
            </a:xfrm>
            <a:custGeom>
              <a:avLst/>
              <a:gdLst/>
              <a:ahLst/>
              <a:cxnLst/>
              <a:rect l="l" t="t" r="r" b="b"/>
              <a:pathLst>
                <a:path w="2088232" h="936104">
                  <a:moveTo>
                    <a:pt x="0" y="936104"/>
                  </a:moveTo>
                  <a:lnTo>
                    <a:pt x="2088232" y="936104"/>
                  </a:lnTo>
                  <a:lnTo>
                    <a:pt x="1806069" y="121639"/>
                  </a:lnTo>
                  <a:cubicBezTo>
                    <a:pt x="1592213" y="43072"/>
                    <a:pt x="1353842" y="0"/>
                    <a:pt x="1102692" y="0"/>
                  </a:cubicBezTo>
                  <a:cubicBezTo>
                    <a:pt x="796970" y="0"/>
                    <a:pt x="510183" y="63824"/>
                    <a:pt x="263143" y="176543"/>
                  </a:cubicBezTo>
                  <a:close/>
                </a:path>
              </a:pathLst>
            </a:custGeom>
            <a:solidFill>
              <a:srgbClr val="C00000"/>
            </a:solidFill>
            <a:ln w="25400" cap="flat" cmpd="sng" algn="ctr">
              <a:noFill/>
              <a:prstDash val="solid"/>
            </a:ln>
            <a:effectLst>
              <a:outerShdw blurRad="149987" dist="250190" dir="8460000" algn="ctr">
                <a:srgbClr val="000000">
                  <a:alpha val="28000"/>
                </a:srgbClr>
              </a:outerShdw>
            </a:effectLst>
          </p:spPr>
          <p:txBody>
            <a:bodyPr rtlCol="0" anchor="ctr"/>
            <a:lstStyle/>
            <a:p>
              <a:pPr algn="ctr">
                <a:lnSpc>
                  <a:spcPct val="130000"/>
                </a:lnSpc>
                <a:defRPr/>
              </a:pPr>
              <a:endParaRPr lang="zh-CN" altLang="en-US" sz="1115" kern="0" dirty="0">
                <a:solidFill>
                  <a:sysClr val="window" lastClr="FFFFFF"/>
                </a:solidFill>
                <a:cs typeface="+mn-ea"/>
                <a:sym typeface="+mn-lt"/>
              </a:endParaRPr>
            </a:p>
          </p:txBody>
        </p:sp>
        <p:sp>
          <p:nvSpPr>
            <p:cNvPr id="14" name="矩形 4"/>
            <p:cNvSpPr/>
            <p:nvPr/>
          </p:nvSpPr>
          <p:spPr>
            <a:xfrm>
              <a:off x="3503470" y="1380941"/>
              <a:ext cx="2071356" cy="1942015"/>
            </a:xfrm>
            <a:custGeom>
              <a:avLst/>
              <a:gdLst/>
              <a:ahLst/>
              <a:cxnLst/>
              <a:rect l="l" t="t" r="r" b="b"/>
              <a:pathLst>
                <a:path w="2372187" h="2304256">
                  <a:moveTo>
                    <a:pt x="0" y="0"/>
                  </a:moveTo>
                  <a:lnTo>
                    <a:pt x="2372187" y="0"/>
                  </a:lnTo>
                  <a:cubicBezTo>
                    <a:pt x="2219574" y="282921"/>
                    <a:pt x="2124178" y="694319"/>
                    <a:pt x="2124178" y="1152128"/>
                  </a:cubicBezTo>
                  <a:cubicBezTo>
                    <a:pt x="2124178" y="1609938"/>
                    <a:pt x="2219574" y="2021335"/>
                    <a:pt x="2372187" y="2304256"/>
                  </a:cubicBezTo>
                  <a:lnTo>
                    <a:pt x="0" y="2304256"/>
                  </a:lnTo>
                  <a:lnTo>
                    <a:pt x="0" y="2302068"/>
                  </a:lnTo>
                  <a:cubicBezTo>
                    <a:pt x="151946" y="2019224"/>
                    <a:pt x="246853" y="1608763"/>
                    <a:pt x="246853" y="1152128"/>
                  </a:cubicBezTo>
                  <a:cubicBezTo>
                    <a:pt x="246853" y="695493"/>
                    <a:pt x="151946" y="285033"/>
                    <a:pt x="0" y="2188"/>
                  </a:cubicBezTo>
                  <a:close/>
                </a:path>
              </a:pathLst>
            </a:custGeom>
            <a:solidFill>
              <a:schemeClr val="bg1">
                <a:lumMod val="75000"/>
              </a:schemeClr>
            </a:solidFill>
            <a:ln w="25400" cap="flat" cmpd="sng" algn="ctr">
              <a:noFill/>
              <a:prstDash val="solid"/>
            </a:ln>
            <a:effectLst>
              <a:outerShdw blurRad="149987" dist="250190" dir="8460000" algn="ctr">
                <a:srgbClr val="000000">
                  <a:alpha val="28000"/>
                </a:srgbClr>
              </a:outerShdw>
            </a:effectLst>
          </p:spPr>
          <p:txBody>
            <a:bodyPr rtlCol="0" anchor="ctr"/>
            <a:lstStyle/>
            <a:p>
              <a:pPr algn="ctr">
                <a:lnSpc>
                  <a:spcPct val="130000"/>
                </a:lnSpc>
                <a:defRPr/>
              </a:pPr>
              <a:endParaRPr lang="zh-CN" altLang="en-US" sz="1115" kern="0" dirty="0">
                <a:solidFill>
                  <a:sysClr val="window" lastClr="FFFFFF"/>
                </a:solidFill>
                <a:cs typeface="+mn-ea"/>
                <a:sym typeface="+mn-lt"/>
              </a:endParaRPr>
            </a:p>
          </p:txBody>
        </p:sp>
        <p:sp>
          <p:nvSpPr>
            <p:cNvPr id="15" name="梯形 5"/>
            <p:cNvSpPr/>
            <p:nvPr/>
          </p:nvSpPr>
          <p:spPr>
            <a:xfrm flipV="1">
              <a:off x="3822565" y="1220663"/>
              <a:ext cx="1456015" cy="446940"/>
            </a:xfrm>
            <a:custGeom>
              <a:avLst/>
              <a:gdLst/>
              <a:ahLst/>
              <a:cxnLst/>
              <a:rect l="l" t="t" r="r" b="b"/>
              <a:pathLst>
                <a:path w="2088232" h="936104">
                  <a:moveTo>
                    <a:pt x="0" y="936104"/>
                  </a:moveTo>
                  <a:lnTo>
                    <a:pt x="2088232" y="936104"/>
                  </a:lnTo>
                  <a:lnTo>
                    <a:pt x="1806069" y="121639"/>
                  </a:lnTo>
                  <a:cubicBezTo>
                    <a:pt x="1592213" y="43072"/>
                    <a:pt x="1353842" y="0"/>
                    <a:pt x="1102692" y="0"/>
                  </a:cubicBezTo>
                  <a:cubicBezTo>
                    <a:pt x="796970" y="0"/>
                    <a:pt x="510183" y="63824"/>
                    <a:pt x="263143" y="176543"/>
                  </a:cubicBezTo>
                  <a:close/>
                </a:path>
              </a:pathLst>
            </a:custGeom>
            <a:solidFill>
              <a:srgbClr val="C00000"/>
            </a:solidFill>
            <a:ln w="25400" cap="flat" cmpd="sng" algn="ctr">
              <a:noFill/>
              <a:prstDash val="solid"/>
            </a:ln>
            <a:effectLst>
              <a:outerShdw blurRad="149987" dist="250190" dir="8460000" algn="ctr">
                <a:srgbClr val="000000">
                  <a:alpha val="28000"/>
                </a:srgbClr>
              </a:outerShdw>
            </a:effectLst>
          </p:spPr>
          <p:txBody>
            <a:bodyPr rtlCol="0" anchor="ctr"/>
            <a:lstStyle/>
            <a:p>
              <a:pPr algn="ctr">
                <a:lnSpc>
                  <a:spcPct val="130000"/>
                </a:lnSpc>
                <a:defRPr/>
              </a:pPr>
              <a:endParaRPr lang="zh-CN" altLang="en-US" sz="1115" kern="0" dirty="0">
                <a:solidFill>
                  <a:sysClr val="window" lastClr="FFFFFF"/>
                </a:solidFill>
                <a:cs typeface="+mn-ea"/>
                <a:sym typeface="+mn-lt"/>
              </a:endParaRPr>
            </a:p>
          </p:txBody>
        </p:sp>
        <p:sp>
          <p:nvSpPr>
            <p:cNvPr id="16" name="矩形 4"/>
            <p:cNvSpPr/>
            <p:nvPr/>
          </p:nvSpPr>
          <p:spPr>
            <a:xfrm>
              <a:off x="5804821" y="1380941"/>
              <a:ext cx="2071356" cy="1942015"/>
            </a:xfrm>
            <a:custGeom>
              <a:avLst/>
              <a:gdLst/>
              <a:ahLst/>
              <a:cxnLst/>
              <a:rect l="l" t="t" r="r" b="b"/>
              <a:pathLst>
                <a:path w="2372187" h="2304256">
                  <a:moveTo>
                    <a:pt x="0" y="0"/>
                  </a:moveTo>
                  <a:lnTo>
                    <a:pt x="2372187" y="0"/>
                  </a:lnTo>
                  <a:cubicBezTo>
                    <a:pt x="2219574" y="282921"/>
                    <a:pt x="2124178" y="694319"/>
                    <a:pt x="2124178" y="1152128"/>
                  </a:cubicBezTo>
                  <a:cubicBezTo>
                    <a:pt x="2124178" y="1609938"/>
                    <a:pt x="2219574" y="2021335"/>
                    <a:pt x="2372187" y="2304256"/>
                  </a:cubicBezTo>
                  <a:lnTo>
                    <a:pt x="0" y="2304256"/>
                  </a:lnTo>
                  <a:lnTo>
                    <a:pt x="0" y="2302068"/>
                  </a:lnTo>
                  <a:cubicBezTo>
                    <a:pt x="151946" y="2019224"/>
                    <a:pt x="246853" y="1608763"/>
                    <a:pt x="246853" y="1152128"/>
                  </a:cubicBezTo>
                  <a:cubicBezTo>
                    <a:pt x="246853" y="695493"/>
                    <a:pt x="151946" y="285033"/>
                    <a:pt x="0" y="2188"/>
                  </a:cubicBezTo>
                  <a:close/>
                </a:path>
              </a:pathLst>
            </a:custGeom>
            <a:solidFill>
              <a:schemeClr val="bg1">
                <a:lumMod val="75000"/>
              </a:schemeClr>
            </a:solidFill>
            <a:ln w="25400" cap="flat" cmpd="sng" algn="ctr">
              <a:noFill/>
              <a:prstDash val="solid"/>
            </a:ln>
            <a:effectLst>
              <a:outerShdw blurRad="149987" dist="250190" dir="8460000" algn="ctr">
                <a:srgbClr val="000000">
                  <a:alpha val="28000"/>
                </a:srgbClr>
              </a:outerShdw>
            </a:effectLst>
          </p:spPr>
          <p:txBody>
            <a:bodyPr rtlCol="0" anchor="ctr"/>
            <a:lstStyle/>
            <a:p>
              <a:pPr algn="ctr">
                <a:lnSpc>
                  <a:spcPct val="130000"/>
                </a:lnSpc>
                <a:defRPr/>
              </a:pPr>
              <a:endParaRPr lang="zh-CN" altLang="en-US" sz="1115" kern="0" dirty="0">
                <a:solidFill>
                  <a:sysClr val="window" lastClr="FFFFFF"/>
                </a:solidFill>
                <a:cs typeface="+mn-ea"/>
                <a:sym typeface="+mn-lt"/>
              </a:endParaRPr>
            </a:p>
          </p:txBody>
        </p:sp>
        <p:sp>
          <p:nvSpPr>
            <p:cNvPr id="17" name="梯形 5"/>
            <p:cNvSpPr/>
            <p:nvPr/>
          </p:nvSpPr>
          <p:spPr>
            <a:xfrm flipV="1">
              <a:off x="6123915" y="1220663"/>
              <a:ext cx="1456015" cy="446940"/>
            </a:xfrm>
            <a:custGeom>
              <a:avLst/>
              <a:gdLst/>
              <a:ahLst/>
              <a:cxnLst/>
              <a:rect l="l" t="t" r="r" b="b"/>
              <a:pathLst>
                <a:path w="2088232" h="936104">
                  <a:moveTo>
                    <a:pt x="0" y="936104"/>
                  </a:moveTo>
                  <a:lnTo>
                    <a:pt x="2088232" y="936104"/>
                  </a:lnTo>
                  <a:lnTo>
                    <a:pt x="1806069" y="121639"/>
                  </a:lnTo>
                  <a:cubicBezTo>
                    <a:pt x="1592213" y="43072"/>
                    <a:pt x="1353842" y="0"/>
                    <a:pt x="1102692" y="0"/>
                  </a:cubicBezTo>
                  <a:cubicBezTo>
                    <a:pt x="796970" y="0"/>
                    <a:pt x="510183" y="63824"/>
                    <a:pt x="263143" y="176543"/>
                  </a:cubicBezTo>
                  <a:close/>
                </a:path>
              </a:pathLst>
            </a:custGeom>
            <a:solidFill>
              <a:srgbClr val="C00000"/>
            </a:solidFill>
            <a:ln w="25400" cap="flat" cmpd="sng" algn="ctr">
              <a:noFill/>
              <a:prstDash val="solid"/>
            </a:ln>
            <a:effectLst>
              <a:outerShdw blurRad="149987" dist="250190" dir="8460000" algn="ctr">
                <a:srgbClr val="000000">
                  <a:alpha val="28000"/>
                </a:srgbClr>
              </a:outerShdw>
            </a:effectLst>
          </p:spPr>
          <p:txBody>
            <a:bodyPr rtlCol="0" anchor="ctr"/>
            <a:lstStyle/>
            <a:p>
              <a:pPr algn="ctr">
                <a:lnSpc>
                  <a:spcPct val="130000"/>
                </a:lnSpc>
                <a:defRPr/>
              </a:pPr>
              <a:endParaRPr lang="zh-CN" altLang="en-US" sz="1115" kern="0" dirty="0">
                <a:solidFill>
                  <a:sysClr val="window" lastClr="FFFFFF"/>
                </a:solidFill>
                <a:cs typeface="+mn-ea"/>
                <a:sym typeface="+mn-lt"/>
              </a:endParaRPr>
            </a:p>
          </p:txBody>
        </p:sp>
      </p:grpSp>
      <p:sp>
        <p:nvSpPr>
          <p:cNvPr id="3" name="文本框 2"/>
          <p:cNvSpPr txBox="1"/>
          <p:nvPr/>
        </p:nvSpPr>
        <p:spPr>
          <a:xfrm>
            <a:off x="695325" y="205214"/>
            <a:ext cx="9349741" cy="800219"/>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4</a:t>
            </a:r>
            <a:r>
              <a:rPr kumimoji="1" lang="zh-CN" altLang="en-US" sz="2000" dirty="0">
                <a:latin typeface="+mn-lt"/>
                <a:ea typeface="+mn-ea"/>
                <a:cs typeface="+mn-ea"/>
                <a:sym typeface="+mn-lt"/>
              </a:rPr>
              <a:t>、持续完善培训应用机制，提升培训转化效率</a:t>
            </a:r>
            <a:endParaRPr kumimoji="1" lang="zh-CN" altLang="en-US" sz="2000" dirty="0">
              <a:latin typeface="+mn-lt"/>
              <a:ea typeface="+mn-ea"/>
              <a:cs typeface="+mn-ea"/>
              <a:sym typeface="+mn-lt"/>
            </a:endParaRPr>
          </a:p>
          <a:p>
            <a:endParaRPr lang="en-US" altLang="zh-CN" sz="2600" dirty="0">
              <a:latin typeface="+mn-lt"/>
              <a:ea typeface="+mn-ea"/>
              <a:cs typeface="+mn-ea"/>
              <a:sym typeface="+mn-lt"/>
            </a:endParaRPr>
          </a:p>
        </p:txBody>
      </p:sp>
      <p:sp>
        <p:nvSpPr>
          <p:cNvPr id="21" name="文本框 20"/>
          <p:cNvSpPr txBox="1"/>
          <p:nvPr/>
        </p:nvSpPr>
        <p:spPr>
          <a:xfrm>
            <a:off x="1443036" y="2874397"/>
            <a:ext cx="2232301" cy="2120324"/>
          </a:xfrm>
          <a:prstGeom prst="rect">
            <a:avLst/>
          </a:prstGeom>
          <a:noFill/>
        </p:spPr>
        <p:txBody>
          <a:bodyPr wrap="square">
            <a:spAutoFit/>
          </a:bodyPr>
          <a:lstStyle/>
          <a:p>
            <a:pPr>
              <a:lnSpc>
                <a:spcPct val="150000"/>
              </a:lnSpc>
            </a:pPr>
            <a:r>
              <a:rPr lang="zh-CN" altLang="en-US" sz="1800" b="0" dirty="0">
                <a:latin typeface="+mn-lt"/>
                <a:ea typeface="+mn-ea"/>
                <a:cs typeface="+mn-ea"/>
                <a:sym typeface="+mn-lt"/>
              </a:rPr>
              <a:t>加强培训项目的全流程管理，关注学习在业务场景中的应用，推动能力提升和行为改变</a:t>
            </a:r>
            <a:endParaRPr lang="zh-CN" altLang="en-US" sz="2800" b="0" dirty="0">
              <a:latin typeface="+mn-lt"/>
              <a:ea typeface="+mn-ea"/>
              <a:cs typeface="+mn-ea"/>
              <a:sym typeface="+mn-lt"/>
            </a:endParaRPr>
          </a:p>
        </p:txBody>
      </p:sp>
      <p:sp>
        <p:nvSpPr>
          <p:cNvPr id="22" name="文本框 21"/>
          <p:cNvSpPr txBox="1"/>
          <p:nvPr/>
        </p:nvSpPr>
        <p:spPr>
          <a:xfrm>
            <a:off x="5024420" y="2874397"/>
            <a:ext cx="2232301" cy="1704826"/>
          </a:xfrm>
          <a:prstGeom prst="rect">
            <a:avLst/>
          </a:prstGeom>
          <a:noFill/>
        </p:spPr>
        <p:txBody>
          <a:bodyPr wrap="square">
            <a:spAutoFit/>
          </a:bodyPr>
          <a:lstStyle/>
          <a:p>
            <a:pPr>
              <a:lnSpc>
                <a:spcPct val="150000"/>
              </a:lnSpc>
            </a:pPr>
            <a:r>
              <a:rPr lang="zh-CN" altLang="en-US" sz="1800" b="0" dirty="0">
                <a:latin typeface="+mn-lt"/>
                <a:ea typeface="+mn-ea"/>
                <a:cs typeface="+mn-ea"/>
                <a:sym typeface="+mn-lt"/>
              </a:rPr>
              <a:t>关注学习者的深层需求，以及与业务的契合，助力改善业务绩效</a:t>
            </a:r>
            <a:endParaRPr lang="zh-CN" altLang="en-US" sz="2800" b="0" dirty="0">
              <a:latin typeface="+mn-lt"/>
              <a:ea typeface="+mn-ea"/>
              <a:cs typeface="+mn-ea"/>
              <a:sym typeface="+mn-lt"/>
            </a:endParaRPr>
          </a:p>
        </p:txBody>
      </p:sp>
      <p:sp>
        <p:nvSpPr>
          <p:cNvPr id="23" name="文本框 22"/>
          <p:cNvSpPr txBox="1"/>
          <p:nvPr/>
        </p:nvSpPr>
        <p:spPr>
          <a:xfrm>
            <a:off x="8478898" y="2870429"/>
            <a:ext cx="2380011" cy="2120324"/>
          </a:xfrm>
          <a:prstGeom prst="rect">
            <a:avLst/>
          </a:prstGeom>
          <a:noFill/>
        </p:spPr>
        <p:txBody>
          <a:bodyPr wrap="square">
            <a:spAutoFit/>
          </a:bodyPr>
          <a:lstStyle/>
          <a:p>
            <a:pPr>
              <a:lnSpc>
                <a:spcPct val="150000"/>
              </a:lnSpc>
            </a:pPr>
            <a:r>
              <a:rPr lang="zh-CN" altLang="en-US" sz="1800" b="0" dirty="0">
                <a:latin typeface="+mn-lt"/>
                <a:ea typeface="+mn-ea"/>
                <a:cs typeface="+mn-ea"/>
                <a:sym typeface="+mn-lt"/>
              </a:rPr>
              <a:t>用以致学，建立培训与效果考核机制，关注培训学习的效率，提升学习意愿和组织学习氛围</a:t>
            </a:r>
            <a:endParaRPr lang="zh-CN" altLang="en-US" sz="2800" b="0" dirty="0">
              <a:latin typeface="+mn-lt"/>
              <a:ea typeface="+mn-ea"/>
              <a:cs typeface="+mn-ea"/>
              <a:sym typeface="+mn-lt"/>
            </a:endParaRPr>
          </a:p>
        </p:txBody>
      </p:sp>
      <p:sp>
        <p:nvSpPr>
          <p:cNvPr id="6" name="矩形 45"/>
          <p:cNvSpPr>
            <a:spLocks noChangeArrowheads="1"/>
          </p:cNvSpPr>
          <p:nvPr/>
        </p:nvSpPr>
        <p:spPr bwMode="auto">
          <a:xfrm>
            <a:off x="1867301" y="1988872"/>
            <a:ext cx="1349855" cy="537382"/>
          </a:xfrm>
          <a:prstGeom prst="rect">
            <a:avLst/>
          </a:prstGeom>
          <a:solidFill>
            <a:srgbClr val="C00000"/>
          </a:solidFill>
          <a:ln w="3175" algn="ctr">
            <a:solidFill>
              <a:srgbClr val="C00000"/>
            </a:solidFill>
            <a:round/>
          </a:ln>
        </p:spPr>
        <p:txBody>
          <a:bodyPr wrap="none" lIns="45720" rIns="45720" anchor="ctr"/>
          <a:lstStyle/>
          <a:p>
            <a:pPr algn="ctr"/>
            <a:r>
              <a:rPr lang="zh-CN" altLang="en-US" sz="2000" b="1" dirty="0">
                <a:solidFill>
                  <a:schemeClr val="bg1"/>
                </a:solidFill>
                <a:latin typeface="+mn-lt"/>
                <a:ea typeface="+mn-ea"/>
                <a:cs typeface="+mn-ea"/>
                <a:sym typeface="+mn-lt"/>
              </a:rPr>
              <a:t>学以致用</a:t>
            </a:r>
            <a:endParaRPr lang="zh-CN" altLang="en-US" sz="2000" b="1" dirty="0">
              <a:solidFill>
                <a:schemeClr val="bg1"/>
              </a:solidFill>
              <a:latin typeface="+mn-lt"/>
              <a:ea typeface="+mn-ea"/>
              <a:cs typeface="+mn-ea"/>
              <a:sym typeface="+mn-lt"/>
            </a:endParaRPr>
          </a:p>
        </p:txBody>
      </p:sp>
      <p:sp>
        <p:nvSpPr>
          <p:cNvPr id="7" name="矩形 45"/>
          <p:cNvSpPr>
            <a:spLocks noChangeArrowheads="1"/>
          </p:cNvSpPr>
          <p:nvPr/>
        </p:nvSpPr>
        <p:spPr bwMode="auto">
          <a:xfrm>
            <a:off x="5426119" y="1988872"/>
            <a:ext cx="1339762" cy="522587"/>
          </a:xfrm>
          <a:prstGeom prst="rect">
            <a:avLst/>
          </a:prstGeom>
          <a:solidFill>
            <a:srgbClr val="C00000"/>
          </a:solidFill>
          <a:ln w="3175" algn="ctr">
            <a:solidFill>
              <a:srgbClr val="C00000"/>
            </a:solidFill>
            <a:round/>
          </a:ln>
        </p:spPr>
        <p:txBody>
          <a:bodyPr wrap="none" lIns="45720" rIns="45720" anchor="ctr"/>
          <a:lstStyle/>
          <a:p>
            <a:pPr algn="ctr"/>
            <a:r>
              <a:rPr lang="zh-CN" altLang="en-US" sz="2000" b="1" dirty="0">
                <a:solidFill>
                  <a:schemeClr val="bg1"/>
                </a:solidFill>
                <a:latin typeface="+mn-lt"/>
                <a:ea typeface="+mn-ea"/>
                <a:cs typeface="+mn-ea"/>
                <a:sym typeface="+mn-lt"/>
              </a:rPr>
              <a:t>学以致绩</a:t>
            </a:r>
            <a:endParaRPr lang="zh-CN" altLang="en-US" sz="2000" b="1" dirty="0">
              <a:solidFill>
                <a:schemeClr val="bg1"/>
              </a:solidFill>
              <a:latin typeface="+mn-lt"/>
              <a:ea typeface="+mn-ea"/>
              <a:cs typeface="+mn-ea"/>
              <a:sym typeface="+mn-lt"/>
            </a:endParaRPr>
          </a:p>
        </p:txBody>
      </p:sp>
      <p:sp>
        <p:nvSpPr>
          <p:cNvPr id="8" name="矩形 45"/>
          <p:cNvSpPr>
            <a:spLocks noChangeArrowheads="1"/>
          </p:cNvSpPr>
          <p:nvPr/>
        </p:nvSpPr>
        <p:spPr bwMode="auto">
          <a:xfrm>
            <a:off x="9045672" y="1974077"/>
            <a:ext cx="1257569" cy="522587"/>
          </a:xfrm>
          <a:prstGeom prst="rect">
            <a:avLst/>
          </a:prstGeom>
          <a:solidFill>
            <a:srgbClr val="C00000"/>
          </a:solidFill>
          <a:ln w="3175" algn="ctr">
            <a:solidFill>
              <a:srgbClr val="C00000"/>
            </a:solidFill>
            <a:round/>
          </a:ln>
        </p:spPr>
        <p:txBody>
          <a:bodyPr wrap="none" lIns="45720" rIns="45720" anchor="ctr"/>
          <a:lstStyle/>
          <a:p>
            <a:pPr algn="ctr"/>
            <a:r>
              <a:rPr lang="zh-CN" altLang="en-US" sz="2000" b="1" dirty="0">
                <a:solidFill>
                  <a:schemeClr val="bg1"/>
                </a:solidFill>
                <a:latin typeface="+mn-lt"/>
                <a:ea typeface="+mn-ea"/>
                <a:cs typeface="+mn-ea"/>
                <a:sym typeface="+mn-lt"/>
              </a:rPr>
              <a:t>用以致学</a:t>
            </a:r>
            <a:endParaRPr lang="zh-CN" altLang="en-US" sz="2000" b="1" dirty="0">
              <a:solidFill>
                <a:schemeClr val="bg1"/>
              </a:solidFill>
              <a:latin typeface="+mn-lt"/>
              <a:ea typeface="+mn-ea"/>
              <a:cs typeface="+mn-ea"/>
              <a:sym typeface="+mn-lt"/>
            </a:endParaRPr>
          </a:p>
        </p:txBody>
      </p:sp>
      <p:sp>
        <p:nvSpPr>
          <p:cNvPr id="27" name="矩形 45"/>
          <p:cNvSpPr>
            <a:spLocks noChangeArrowheads="1"/>
          </p:cNvSpPr>
          <p:nvPr/>
        </p:nvSpPr>
        <p:spPr bwMode="auto">
          <a:xfrm>
            <a:off x="1888759" y="1978073"/>
            <a:ext cx="1349855" cy="537382"/>
          </a:xfrm>
          <a:prstGeom prst="rect">
            <a:avLst/>
          </a:prstGeom>
          <a:solidFill>
            <a:srgbClr val="C00000"/>
          </a:solidFill>
          <a:ln w="3175" algn="ctr">
            <a:solidFill>
              <a:srgbClr val="C00000"/>
            </a:solidFill>
            <a:round/>
          </a:ln>
        </p:spPr>
        <p:txBody>
          <a:bodyPr wrap="none" lIns="45720" rIns="45720" anchor="ctr"/>
          <a:lstStyle/>
          <a:p>
            <a:pPr algn="ctr"/>
            <a:r>
              <a:rPr lang="zh-CN" altLang="en-US" sz="2000" b="1" dirty="0">
                <a:solidFill>
                  <a:schemeClr val="bg1"/>
                </a:solidFill>
                <a:latin typeface="+mn-lt"/>
                <a:ea typeface="+mn-ea"/>
                <a:cs typeface="+mn-ea"/>
                <a:sym typeface="+mn-lt"/>
              </a:rPr>
              <a:t>学以致用</a:t>
            </a:r>
            <a:endParaRPr lang="zh-CN" altLang="en-US" sz="2000" b="1" dirty="0">
              <a:solidFill>
                <a:schemeClr val="bg1"/>
              </a:solidFill>
              <a:latin typeface="+mn-lt"/>
              <a:ea typeface="+mn-ea"/>
              <a:cs typeface="+mn-ea"/>
              <a:sym typeface="+mn-lt"/>
            </a:endParaRPr>
          </a:p>
        </p:txBody>
      </p:sp>
      <p:sp>
        <p:nvSpPr>
          <p:cNvPr id="28" name="矩形 45"/>
          <p:cNvSpPr>
            <a:spLocks noChangeArrowheads="1"/>
          </p:cNvSpPr>
          <p:nvPr/>
        </p:nvSpPr>
        <p:spPr bwMode="auto">
          <a:xfrm>
            <a:off x="5447577" y="1978073"/>
            <a:ext cx="1339762" cy="522587"/>
          </a:xfrm>
          <a:prstGeom prst="rect">
            <a:avLst/>
          </a:prstGeom>
          <a:solidFill>
            <a:srgbClr val="C00000"/>
          </a:solidFill>
          <a:ln w="3175" algn="ctr">
            <a:solidFill>
              <a:srgbClr val="C00000"/>
            </a:solidFill>
            <a:round/>
          </a:ln>
        </p:spPr>
        <p:txBody>
          <a:bodyPr wrap="none" lIns="45720" rIns="45720" anchor="ctr"/>
          <a:lstStyle/>
          <a:p>
            <a:pPr algn="ctr"/>
            <a:r>
              <a:rPr lang="zh-CN" altLang="en-US" sz="2000" b="1" dirty="0">
                <a:solidFill>
                  <a:schemeClr val="bg1"/>
                </a:solidFill>
                <a:latin typeface="+mn-lt"/>
                <a:ea typeface="+mn-ea"/>
                <a:cs typeface="+mn-ea"/>
                <a:sym typeface="+mn-lt"/>
              </a:rPr>
              <a:t>学以致绩</a:t>
            </a:r>
            <a:endParaRPr lang="zh-CN" altLang="en-US" sz="2000" b="1" dirty="0">
              <a:solidFill>
                <a:schemeClr val="bg1"/>
              </a:solidFill>
              <a:latin typeface="+mn-lt"/>
              <a:ea typeface="+mn-ea"/>
              <a:cs typeface="+mn-ea"/>
              <a:sym typeface="+mn-lt"/>
            </a:endParaRPr>
          </a:p>
        </p:txBody>
      </p:sp>
      <p:sp>
        <p:nvSpPr>
          <p:cNvPr id="29" name="矩形 45"/>
          <p:cNvSpPr>
            <a:spLocks noChangeArrowheads="1"/>
          </p:cNvSpPr>
          <p:nvPr/>
        </p:nvSpPr>
        <p:spPr bwMode="auto">
          <a:xfrm>
            <a:off x="9067130" y="1963278"/>
            <a:ext cx="1257569" cy="522587"/>
          </a:xfrm>
          <a:prstGeom prst="rect">
            <a:avLst/>
          </a:prstGeom>
          <a:solidFill>
            <a:srgbClr val="C00000"/>
          </a:solidFill>
          <a:ln w="3175" algn="ctr">
            <a:solidFill>
              <a:srgbClr val="C00000"/>
            </a:solidFill>
            <a:round/>
          </a:ln>
        </p:spPr>
        <p:txBody>
          <a:bodyPr wrap="none" lIns="45720" rIns="45720" anchor="ctr"/>
          <a:lstStyle/>
          <a:p>
            <a:pPr algn="ctr"/>
            <a:r>
              <a:rPr lang="zh-CN" altLang="en-US" sz="2000" b="1" dirty="0">
                <a:solidFill>
                  <a:schemeClr val="bg1"/>
                </a:solidFill>
                <a:latin typeface="+mn-lt"/>
                <a:ea typeface="+mn-ea"/>
                <a:cs typeface="+mn-ea"/>
                <a:sym typeface="+mn-lt"/>
              </a:rPr>
              <a:t>用以致学</a:t>
            </a:r>
            <a:endParaRPr lang="zh-CN" altLang="en-US" sz="2000" b="1" dirty="0">
              <a:solidFill>
                <a:schemeClr val="bg1"/>
              </a:solidFill>
              <a:latin typeface="+mn-lt"/>
              <a:ea typeface="+mn-ea"/>
              <a:cs typeface="+mn-ea"/>
              <a:sym typeface="+mn-lt"/>
            </a:endParaRPr>
          </a:p>
        </p:txBody>
      </p:sp>
      <p:sp>
        <p:nvSpPr>
          <p:cNvPr id="30" name="灯片编号占位符 1"/>
          <p:cNvSpPr txBox="1"/>
          <p:nvPr/>
        </p:nvSpPr>
        <p:spPr>
          <a:xfrm>
            <a:off x="9428318" y="6547125"/>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2400122" y="1431620"/>
            <a:ext cx="7391755" cy="4859478"/>
            <a:chOff x="2050196" y="1269860"/>
            <a:chExt cx="4816133" cy="3203849"/>
          </a:xfrm>
        </p:grpSpPr>
        <p:grpSp>
          <p:nvGrpSpPr>
            <p:cNvPr id="19" name="组合 18"/>
            <p:cNvGrpSpPr/>
            <p:nvPr/>
          </p:nvGrpSpPr>
          <p:grpSpPr>
            <a:xfrm>
              <a:off x="4479245" y="1269860"/>
              <a:ext cx="1855575" cy="3203848"/>
              <a:chOff x="6038450" y="1700808"/>
              <a:chExt cx="2663006" cy="4597964"/>
            </a:xfrm>
            <a:solidFill>
              <a:srgbClr val="AC0000"/>
            </a:solidFill>
          </p:grpSpPr>
          <p:sp>
            <p:nvSpPr>
              <p:cNvPr id="42" name="Rectangle 7"/>
              <p:cNvSpPr>
                <a:spLocks noChangeArrowheads="1"/>
              </p:cNvSpPr>
              <p:nvPr/>
            </p:nvSpPr>
            <p:spPr bwMode="auto">
              <a:xfrm>
                <a:off x="8102100" y="1700808"/>
                <a:ext cx="599356" cy="565589"/>
              </a:xfrm>
              <a:prstGeom prst="rect">
                <a:avLst/>
              </a:prstGeom>
              <a:grpFill/>
              <a:ln>
                <a:noFill/>
              </a:ln>
              <a:effectLst>
                <a:outerShdw blurRad="149987" dist="250190" dir="8460000" algn="ctr">
                  <a:srgbClr val="000000">
                    <a:alpha val="28000"/>
                  </a:srgbClr>
                </a:outerShdw>
              </a:effectLst>
            </p:spPr>
            <p:txBody>
              <a:bodyPr vert="horz" wrap="square" lIns="80524" tIns="40261" rIns="80524" bIns="40261" numCol="1" anchor="t" anchorCtr="0" compatLnSpc="1"/>
              <a:lstStyle/>
              <a:p>
                <a:pPr>
                  <a:lnSpc>
                    <a:spcPct val="130000"/>
                  </a:lnSpc>
                </a:pPr>
                <a:endParaRPr lang="zh-CN" altLang="en-US" sz="1585" dirty="0">
                  <a:cs typeface="+mn-ea"/>
                  <a:sym typeface="+mn-lt"/>
                </a:endParaRPr>
              </a:p>
            </p:txBody>
          </p:sp>
          <p:sp>
            <p:nvSpPr>
              <p:cNvPr id="43" name="Freeform 10"/>
              <p:cNvSpPr/>
              <p:nvPr/>
            </p:nvSpPr>
            <p:spPr bwMode="auto">
              <a:xfrm>
                <a:off x="6038450" y="1700808"/>
                <a:ext cx="1896764" cy="4597964"/>
              </a:xfrm>
              <a:custGeom>
                <a:avLst/>
                <a:gdLst>
                  <a:gd name="T0" fmla="*/ 268 w 849"/>
                  <a:gd name="T1" fmla="*/ 2168 h 2168"/>
                  <a:gd name="T2" fmla="*/ 268 w 849"/>
                  <a:gd name="T3" fmla="*/ 428 h 2168"/>
                  <a:gd name="T4" fmla="*/ 429 w 849"/>
                  <a:gd name="T5" fmla="*/ 267 h 2168"/>
                  <a:gd name="T6" fmla="*/ 849 w 849"/>
                  <a:gd name="T7" fmla="*/ 267 h 2168"/>
                  <a:gd name="T8" fmla="*/ 849 w 849"/>
                  <a:gd name="T9" fmla="*/ 0 h 2168"/>
                  <a:gd name="T10" fmla="*/ 294 w 849"/>
                  <a:gd name="T11" fmla="*/ 0 h 2168"/>
                  <a:gd name="T12" fmla="*/ 0 w 849"/>
                  <a:gd name="T13" fmla="*/ 294 h 2168"/>
                  <a:gd name="T14" fmla="*/ 0 w 849"/>
                  <a:gd name="T15" fmla="*/ 2168 h 2168"/>
                  <a:gd name="T16" fmla="*/ 268 w 849"/>
                  <a:gd name="T17" fmla="*/ 2168 h 2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49" h="2168">
                    <a:moveTo>
                      <a:pt x="268" y="2168"/>
                    </a:moveTo>
                    <a:cubicBezTo>
                      <a:pt x="268" y="428"/>
                      <a:pt x="268" y="428"/>
                      <a:pt x="268" y="428"/>
                    </a:cubicBezTo>
                    <a:cubicBezTo>
                      <a:pt x="268" y="339"/>
                      <a:pt x="339" y="267"/>
                      <a:pt x="429" y="267"/>
                    </a:cubicBezTo>
                    <a:cubicBezTo>
                      <a:pt x="849" y="267"/>
                      <a:pt x="849" y="267"/>
                      <a:pt x="849" y="267"/>
                    </a:cubicBezTo>
                    <a:cubicBezTo>
                      <a:pt x="849" y="0"/>
                      <a:pt x="849" y="0"/>
                      <a:pt x="849" y="0"/>
                    </a:cubicBezTo>
                    <a:cubicBezTo>
                      <a:pt x="294" y="0"/>
                      <a:pt x="294" y="0"/>
                      <a:pt x="294" y="0"/>
                    </a:cubicBezTo>
                    <a:cubicBezTo>
                      <a:pt x="131" y="0"/>
                      <a:pt x="0" y="131"/>
                      <a:pt x="0" y="294"/>
                    </a:cubicBezTo>
                    <a:cubicBezTo>
                      <a:pt x="0" y="2168"/>
                      <a:pt x="0" y="2168"/>
                      <a:pt x="0" y="2168"/>
                    </a:cubicBezTo>
                    <a:cubicBezTo>
                      <a:pt x="117" y="2168"/>
                      <a:pt x="150" y="2168"/>
                      <a:pt x="268" y="2168"/>
                    </a:cubicBezTo>
                    <a:close/>
                  </a:path>
                </a:pathLst>
              </a:custGeom>
              <a:grpFill/>
              <a:ln>
                <a:noFill/>
              </a:ln>
              <a:effectLst>
                <a:outerShdw blurRad="149987" dist="250190" dir="8460000" algn="ctr">
                  <a:srgbClr val="000000">
                    <a:alpha val="28000"/>
                  </a:srgbClr>
                </a:outerShdw>
              </a:effectLst>
            </p:spPr>
            <p:txBody>
              <a:bodyPr vert="horz" wrap="square" lIns="80524" tIns="40261" rIns="80524" bIns="40261" numCol="1" anchor="t" anchorCtr="0" compatLnSpc="1"/>
              <a:lstStyle/>
              <a:p>
                <a:pPr>
                  <a:lnSpc>
                    <a:spcPct val="130000"/>
                  </a:lnSpc>
                </a:pPr>
                <a:endParaRPr lang="zh-CN" altLang="en-US" sz="1585" dirty="0">
                  <a:cs typeface="+mn-ea"/>
                  <a:sym typeface="+mn-lt"/>
                </a:endParaRPr>
              </a:p>
            </p:txBody>
          </p:sp>
        </p:grpSp>
        <p:grpSp>
          <p:nvGrpSpPr>
            <p:cNvPr id="24" name="组合 23"/>
            <p:cNvGrpSpPr/>
            <p:nvPr/>
          </p:nvGrpSpPr>
          <p:grpSpPr>
            <a:xfrm>
              <a:off x="2581016" y="2019088"/>
              <a:ext cx="1855576" cy="2454621"/>
              <a:chOff x="3773819" y="2782581"/>
              <a:chExt cx="2663007" cy="3522720"/>
            </a:xfrm>
            <a:solidFill>
              <a:srgbClr val="AC0000"/>
            </a:solidFill>
          </p:grpSpPr>
          <p:sp>
            <p:nvSpPr>
              <p:cNvPr id="40" name="Rectangle 13"/>
              <p:cNvSpPr>
                <a:spLocks noChangeArrowheads="1"/>
              </p:cNvSpPr>
              <p:nvPr/>
            </p:nvSpPr>
            <p:spPr bwMode="auto">
              <a:xfrm>
                <a:off x="3773819" y="2782581"/>
                <a:ext cx="599356" cy="565589"/>
              </a:xfrm>
              <a:prstGeom prst="rect">
                <a:avLst/>
              </a:prstGeom>
              <a:grpFill/>
              <a:ln>
                <a:noFill/>
              </a:ln>
              <a:effectLst>
                <a:outerShdw blurRad="149987" dist="250190" dir="8460000" algn="ctr">
                  <a:srgbClr val="000000">
                    <a:alpha val="28000"/>
                  </a:srgbClr>
                </a:outerShdw>
              </a:effectLst>
            </p:spPr>
            <p:txBody>
              <a:bodyPr vert="horz" wrap="square" lIns="80524" tIns="40261" rIns="80524" bIns="40261" numCol="1" anchor="t" anchorCtr="0" compatLnSpc="1"/>
              <a:lstStyle/>
              <a:p>
                <a:pPr>
                  <a:lnSpc>
                    <a:spcPct val="130000"/>
                  </a:lnSpc>
                </a:pPr>
                <a:endParaRPr lang="zh-CN" altLang="en-US" sz="1585" dirty="0">
                  <a:cs typeface="+mn-ea"/>
                  <a:sym typeface="+mn-lt"/>
                </a:endParaRPr>
              </a:p>
            </p:txBody>
          </p:sp>
          <p:sp>
            <p:nvSpPr>
              <p:cNvPr id="41" name="Freeform 16"/>
              <p:cNvSpPr/>
              <p:nvPr/>
            </p:nvSpPr>
            <p:spPr bwMode="auto">
              <a:xfrm>
                <a:off x="4540062" y="2789111"/>
                <a:ext cx="1896764" cy="3516190"/>
              </a:xfrm>
              <a:custGeom>
                <a:avLst/>
                <a:gdLst>
                  <a:gd name="T0" fmla="*/ 845 w 849"/>
                  <a:gd name="T1" fmla="*/ 247 h 1658"/>
                  <a:gd name="T2" fmla="*/ 752 w 849"/>
                  <a:gd name="T3" fmla="*/ 76 h 1658"/>
                  <a:gd name="T4" fmla="*/ 752 w 849"/>
                  <a:gd name="T5" fmla="*/ 76 h 1658"/>
                  <a:gd name="T6" fmla="*/ 752 w 849"/>
                  <a:gd name="T7" fmla="*/ 76 h 1658"/>
                  <a:gd name="T8" fmla="*/ 671 w 849"/>
                  <a:gd name="T9" fmla="*/ 24 h 1658"/>
                  <a:gd name="T10" fmla="*/ 555 w 849"/>
                  <a:gd name="T11" fmla="*/ 0 h 1658"/>
                  <a:gd name="T12" fmla="*/ 0 w 849"/>
                  <a:gd name="T13" fmla="*/ 0 h 1658"/>
                  <a:gd name="T14" fmla="*/ 0 w 849"/>
                  <a:gd name="T15" fmla="*/ 267 h 1658"/>
                  <a:gd name="T16" fmla="*/ 501 w 849"/>
                  <a:gd name="T17" fmla="*/ 267 h 1658"/>
                  <a:gd name="T18" fmla="*/ 567 w 849"/>
                  <a:gd name="T19" fmla="*/ 303 h 1658"/>
                  <a:gd name="T20" fmla="*/ 581 w 849"/>
                  <a:gd name="T21" fmla="*/ 348 h 1658"/>
                  <a:gd name="T22" fmla="*/ 581 w 849"/>
                  <a:gd name="T23" fmla="*/ 720 h 1658"/>
                  <a:gd name="T24" fmla="*/ 581 w 849"/>
                  <a:gd name="T25" fmla="*/ 1658 h 1658"/>
                  <a:gd name="T26" fmla="*/ 752 w 849"/>
                  <a:gd name="T27" fmla="*/ 1658 h 1658"/>
                  <a:gd name="T28" fmla="*/ 849 w 849"/>
                  <a:gd name="T29" fmla="*/ 1658 h 1658"/>
                  <a:gd name="T30" fmla="*/ 849 w 849"/>
                  <a:gd name="T31" fmla="*/ 1080 h 1658"/>
                  <a:gd name="T32" fmla="*/ 849 w 849"/>
                  <a:gd name="T33" fmla="*/ 296 h 1658"/>
                  <a:gd name="T34" fmla="*/ 849 w 849"/>
                  <a:gd name="T35" fmla="*/ 294 h 1658"/>
                  <a:gd name="T36" fmla="*/ 845 w 849"/>
                  <a:gd name="T37" fmla="*/ 247 h 1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49" h="1658">
                    <a:moveTo>
                      <a:pt x="845" y="247"/>
                    </a:moveTo>
                    <a:cubicBezTo>
                      <a:pt x="834" y="179"/>
                      <a:pt x="800" y="119"/>
                      <a:pt x="752" y="76"/>
                    </a:cubicBezTo>
                    <a:cubicBezTo>
                      <a:pt x="752" y="76"/>
                      <a:pt x="752" y="76"/>
                      <a:pt x="752" y="76"/>
                    </a:cubicBezTo>
                    <a:cubicBezTo>
                      <a:pt x="752" y="76"/>
                      <a:pt x="752" y="76"/>
                      <a:pt x="752" y="76"/>
                    </a:cubicBezTo>
                    <a:cubicBezTo>
                      <a:pt x="728" y="54"/>
                      <a:pt x="701" y="37"/>
                      <a:pt x="671" y="24"/>
                    </a:cubicBezTo>
                    <a:cubicBezTo>
                      <a:pt x="635" y="8"/>
                      <a:pt x="596" y="0"/>
                      <a:pt x="555" y="0"/>
                    </a:cubicBezTo>
                    <a:cubicBezTo>
                      <a:pt x="0" y="0"/>
                      <a:pt x="0" y="0"/>
                      <a:pt x="0" y="0"/>
                    </a:cubicBezTo>
                    <a:cubicBezTo>
                      <a:pt x="0" y="267"/>
                      <a:pt x="0" y="267"/>
                      <a:pt x="0" y="267"/>
                    </a:cubicBezTo>
                    <a:cubicBezTo>
                      <a:pt x="501" y="267"/>
                      <a:pt x="501" y="267"/>
                      <a:pt x="501" y="267"/>
                    </a:cubicBezTo>
                    <a:cubicBezTo>
                      <a:pt x="528" y="267"/>
                      <a:pt x="553" y="281"/>
                      <a:pt x="567" y="303"/>
                    </a:cubicBezTo>
                    <a:cubicBezTo>
                      <a:pt x="576" y="316"/>
                      <a:pt x="581" y="331"/>
                      <a:pt x="581" y="348"/>
                    </a:cubicBezTo>
                    <a:cubicBezTo>
                      <a:pt x="581" y="720"/>
                      <a:pt x="581" y="720"/>
                      <a:pt x="581" y="720"/>
                    </a:cubicBezTo>
                    <a:cubicBezTo>
                      <a:pt x="581" y="1658"/>
                      <a:pt x="581" y="1658"/>
                      <a:pt x="581" y="1658"/>
                    </a:cubicBezTo>
                    <a:cubicBezTo>
                      <a:pt x="752" y="1658"/>
                      <a:pt x="752" y="1658"/>
                      <a:pt x="752" y="1658"/>
                    </a:cubicBezTo>
                    <a:cubicBezTo>
                      <a:pt x="849" y="1658"/>
                      <a:pt x="849" y="1658"/>
                      <a:pt x="849" y="1658"/>
                    </a:cubicBezTo>
                    <a:cubicBezTo>
                      <a:pt x="849" y="1080"/>
                      <a:pt x="849" y="1080"/>
                      <a:pt x="849" y="1080"/>
                    </a:cubicBezTo>
                    <a:cubicBezTo>
                      <a:pt x="849" y="296"/>
                      <a:pt x="849" y="296"/>
                      <a:pt x="849" y="296"/>
                    </a:cubicBezTo>
                    <a:cubicBezTo>
                      <a:pt x="849" y="294"/>
                      <a:pt x="849" y="294"/>
                      <a:pt x="849" y="294"/>
                    </a:cubicBezTo>
                    <a:cubicBezTo>
                      <a:pt x="849" y="278"/>
                      <a:pt x="848" y="262"/>
                      <a:pt x="845" y="247"/>
                    </a:cubicBezTo>
                    <a:close/>
                  </a:path>
                </a:pathLst>
              </a:custGeom>
              <a:grpFill/>
              <a:ln>
                <a:noFill/>
              </a:ln>
              <a:effectLst>
                <a:outerShdw blurRad="149987" dist="250190" dir="8460000" algn="ctr">
                  <a:srgbClr val="000000">
                    <a:alpha val="28000"/>
                  </a:srgbClr>
                </a:outerShdw>
              </a:effectLst>
            </p:spPr>
            <p:txBody>
              <a:bodyPr vert="horz" wrap="square" lIns="80524" tIns="40261" rIns="80524" bIns="40261" numCol="1" anchor="t" anchorCtr="0" compatLnSpc="1"/>
              <a:lstStyle/>
              <a:p>
                <a:pPr>
                  <a:lnSpc>
                    <a:spcPct val="130000"/>
                  </a:lnSpc>
                </a:pPr>
                <a:endParaRPr lang="zh-CN" altLang="en-US" sz="1585" dirty="0">
                  <a:cs typeface="+mn-ea"/>
                  <a:sym typeface="+mn-lt"/>
                </a:endParaRPr>
              </a:p>
            </p:txBody>
          </p:sp>
        </p:grpSp>
        <p:grpSp>
          <p:nvGrpSpPr>
            <p:cNvPr id="26" name="组合 25"/>
            <p:cNvGrpSpPr/>
            <p:nvPr/>
          </p:nvGrpSpPr>
          <p:grpSpPr>
            <a:xfrm>
              <a:off x="4946985" y="2251915"/>
              <a:ext cx="1919344" cy="2221794"/>
              <a:chOff x="7026330" y="3131928"/>
              <a:chExt cx="2754523" cy="3188580"/>
            </a:xfrm>
            <a:solidFill>
              <a:srgbClr val="AC0000"/>
            </a:solidFill>
          </p:grpSpPr>
          <p:sp>
            <p:nvSpPr>
              <p:cNvPr id="38" name="Freeform 25"/>
              <p:cNvSpPr/>
              <p:nvPr/>
            </p:nvSpPr>
            <p:spPr bwMode="auto">
              <a:xfrm>
                <a:off x="7026330" y="3141626"/>
                <a:ext cx="1697577" cy="3178882"/>
              </a:xfrm>
              <a:custGeom>
                <a:avLst/>
                <a:gdLst>
                  <a:gd name="T0" fmla="*/ 760 w 760"/>
                  <a:gd name="T1" fmla="*/ 397 h 1499"/>
                  <a:gd name="T2" fmla="*/ 760 w 760"/>
                  <a:gd name="T3" fmla="*/ 0 h 1499"/>
                  <a:gd name="T4" fmla="*/ 295 w 760"/>
                  <a:gd name="T5" fmla="*/ 0 h 1499"/>
                  <a:gd name="T6" fmla="*/ 224 w 760"/>
                  <a:gd name="T7" fmla="*/ 9 h 1499"/>
                  <a:gd name="T8" fmla="*/ 179 w 760"/>
                  <a:gd name="T9" fmla="*/ 24 h 1499"/>
                  <a:gd name="T10" fmla="*/ 108 w 760"/>
                  <a:gd name="T11" fmla="*/ 67 h 1499"/>
                  <a:gd name="T12" fmla="*/ 85 w 760"/>
                  <a:gd name="T13" fmla="*/ 88 h 1499"/>
                  <a:gd name="T14" fmla="*/ 0 w 760"/>
                  <a:gd name="T15" fmla="*/ 295 h 1499"/>
                  <a:gd name="T16" fmla="*/ 0 w 760"/>
                  <a:gd name="T17" fmla="*/ 1499 h 1499"/>
                  <a:gd name="T18" fmla="*/ 397 w 760"/>
                  <a:gd name="T19" fmla="*/ 1499 h 1499"/>
                  <a:gd name="T20" fmla="*/ 397 w 760"/>
                  <a:gd name="T21" fmla="*/ 478 h 1499"/>
                  <a:gd name="T22" fmla="*/ 478 w 760"/>
                  <a:gd name="T23" fmla="*/ 397 h 1499"/>
                  <a:gd name="T24" fmla="*/ 760 w 760"/>
                  <a:gd name="T25" fmla="*/ 397 h 1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0" h="1499">
                    <a:moveTo>
                      <a:pt x="760" y="397"/>
                    </a:moveTo>
                    <a:cubicBezTo>
                      <a:pt x="760" y="0"/>
                      <a:pt x="760" y="0"/>
                      <a:pt x="760" y="0"/>
                    </a:cubicBezTo>
                    <a:cubicBezTo>
                      <a:pt x="295" y="0"/>
                      <a:pt x="295" y="0"/>
                      <a:pt x="295" y="0"/>
                    </a:cubicBezTo>
                    <a:cubicBezTo>
                      <a:pt x="271" y="0"/>
                      <a:pt x="247" y="3"/>
                      <a:pt x="224" y="9"/>
                    </a:cubicBezTo>
                    <a:cubicBezTo>
                      <a:pt x="209" y="13"/>
                      <a:pt x="193" y="18"/>
                      <a:pt x="179" y="24"/>
                    </a:cubicBezTo>
                    <a:cubicBezTo>
                      <a:pt x="153" y="35"/>
                      <a:pt x="129" y="50"/>
                      <a:pt x="108" y="67"/>
                    </a:cubicBezTo>
                    <a:cubicBezTo>
                      <a:pt x="100" y="74"/>
                      <a:pt x="92" y="80"/>
                      <a:pt x="85" y="88"/>
                    </a:cubicBezTo>
                    <a:cubicBezTo>
                      <a:pt x="33" y="141"/>
                      <a:pt x="0" y="214"/>
                      <a:pt x="0" y="295"/>
                    </a:cubicBezTo>
                    <a:cubicBezTo>
                      <a:pt x="0" y="1499"/>
                      <a:pt x="0" y="1499"/>
                      <a:pt x="0" y="1499"/>
                    </a:cubicBezTo>
                    <a:cubicBezTo>
                      <a:pt x="397" y="1499"/>
                      <a:pt x="397" y="1499"/>
                      <a:pt x="397" y="1499"/>
                    </a:cubicBezTo>
                    <a:cubicBezTo>
                      <a:pt x="397" y="478"/>
                      <a:pt x="397" y="478"/>
                      <a:pt x="397" y="478"/>
                    </a:cubicBezTo>
                    <a:cubicBezTo>
                      <a:pt x="397" y="433"/>
                      <a:pt x="433" y="397"/>
                      <a:pt x="478" y="397"/>
                    </a:cubicBezTo>
                    <a:lnTo>
                      <a:pt x="760" y="397"/>
                    </a:lnTo>
                    <a:close/>
                  </a:path>
                </a:pathLst>
              </a:custGeom>
              <a:grpFill/>
              <a:ln>
                <a:noFill/>
              </a:ln>
              <a:effectLst>
                <a:outerShdw blurRad="149987" dist="250190" dir="8460000" algn="ctr">
                  <a:srgbClr val="000000">
                    <a:alpha val="28000"/>
                  </a:srgbClr>
                </a:outerShdw>
              </a:effectLst>
            </p:spPr>
            <p:txBody>
              <a:bodyPr vert="horz" wrap="square" lIns="80524" tIns="40261" rIns="80524" bIns="40261" numCol="1" anchor="t" anchorCtr="0" compatLnSpc="1"/>
              <a:lstStyle/>
              <a:p>
                <a:pPr>
                  <a:lnSpc>
                    <a:spcPct val="130000"/>
                  </a:lnSpc>
                </a:pPr>
                <a:endParaRPr lang="zh-CN" altLang="en-US" sz="1585" dirty="0">
                  <a:cs typeface="+mn-ea"/>
                  <a:sym typeface="+mn-lt"/>
                </a:endParaRPr>
              </a:p>
            </p:txBody>
          </p:sp>
          <p:sp>
            <p:nvSpPr>
              <p:cNvPr id="39" name="Rectangle 28"/>
              <p:cNvSpPr>
                <a:spLocks noChangeArrowheads="1"/>
              </p:cNvSpPr>
              <p:nvPr/>
            </p:nvSpPr>
            <p:spPr bwMode="auto">
              <a:xfrm>
                <a:off x="8890792" y="3131928"/>
                <a:ext cx="890061" cy="841569"/>
              </a:xfrm>
              <a:prstGeom prst="rect">
                <a:avLst/>
              </a:prstGeom>
              <a:grpFill/>
              <a:ln>
                <a:noFill/>
              </a:ln>
              <a:effectLst>
                <a:outerShdw blurRad="149987" dist="250190" dir="8460000" algn="ctr">
                  <a:srgbClr val="000000">
                    <a:alpha val="28000"/>
                  </a:srgbClr>
                </a:outerShdw>
              </a:effectLst>
            </p:spPr>
            <p:txBody>
              <a:bodyPr vert="horz" wrap="square" lIns="80524" tIns="40261" rIns="80524" bIns="40261" numCol="1" anchor="t" anchorCtr="0" compatLnSpc="1"/>
              <a:lstStyle/>
              <a:p>
                <a:pPr>
                  <a:lnSpc>
                    <a:spcPct val="130000"/>
                  </a:lnSpc>
                </a:pPr>
                <a:endParaRPr lang="zh-CN" altLang="en-US" sz="1585" dirty="0">
                  <a:cs typeface="+mn-ea"/>
                  <a:sym typeface="+mn-lt"/>
                </a:endParaRPr>
              </a:p>
            </p:txBody>
          </p:sp>
        </p:grpSp>
        <p:sp>
          <p:nvSpPr>
            <p:cNvPr id="27" name="矩形 26"/>
            <p:cNvSpPr/>
            <p:nvPr/>
          </p:nvSpPr>
          <p:spPr>
            <a:xfrm>
              <a:off x="6383308" y="2365163"/>
              <a:ext cx="366734" cy="344451"/>
            </a:xfrm>
            <a:prstGeom prst="rect">
              <a:avLst/>
            </a:prstGeom>
            <a:noFill/>
          </p:spPr>
          <p:txBody>
            <a:bodyPr wrap="square" rtlCol="0">
              <a:spAutoFit/>
            </a:bodyPr>
            <a:lstStyle/>
            <a:p>
              <a:pPr>
                <a:lnSpc>
                  <a:spcPct val="130000"/>
                </a:lnSpc>
              </a:pPr>
              <a:r>
                <a:rPr lang="en-US" altLang="zh-CN" sz="2400" dirty="0">
                  <a:solidFill>
                    <a:schemeClr val="bg1"/>
                  </a:solidFill>
                  <a:cs typeface="+mn-ea"/>
                  <a:sym typeface="+mn-lt"/>
                </a:rPr>
                <a:t>02</a:t>
              </a:r>
              <a:endParaRPr lang="zh-CN" altLang="en-US" sz="2400" dirty="0">
                <a:solidFill>
                  <a:schemeClr val="bg1"/>
                </a:solidFill>
                <a:cs typeface="+mn-ea"/>
                <a:sym typeface="+mn-lt"/>
              </a:endParaRPr>
            </a:p>
          </p:txBody>
        </p:sp>
        <p:sp>
          <p:nvSpPr>
            <p:cNvPr id="28" name="矩形 27"/>
            <p:cNvSpPr/>
            <p:nvPr/>
          </p:nvSpPr>
          <p:spPr>
            <a:xfrm>
              <a:off x="5955187" y="1278873"/>
              <a:ext cx="465813" cy="371255"/>
            </a:xfrm>
            <a:prstGeom prst="rect">
              <a:avLst/>
            </a:prstGeom>
            <a:noFill/>
          </p:spPr>
          <p:txBody>
            <a:bodyPr wrap="square" rtlCol="0">
              <a:spAutoFit/>
            </a:bodyPr>
            <a:lstStyle/>
            <a:p>
              <a:pPr>
                <a:lnSpc>
                  <a:spcPct val="130000"/>
                </a:lnSpc>
              </a:pPr>
              <a:r>
                <a:rPr lang="en-US" altLang="zh-CN" sz="2400" dirty="0">
                  <a:solidFill>
                    <a:schemeClr val="bg1"/>
                  </a:solidFill>
                  <a:cs typeface="+mn-ea"/>
                  <a:sym typeface="+mn-lt"/>
                </a:rPr>
                <a:t>04</a:t>
              </a:r>
              <a:endParaRPr lang="zh-CN" altLang="en-US" sz="2400" dirty="0">
                <a:solidFill>
                  <a:schemeClr val="bg1"/>
                </a:solidFill>
                <a:cs typeface="+mn-ea"/>
                <a:sym typeface="+mn-lt"/>
              </a:endParaRPr>
            </a:p>
          </p:txBody>
        </p:sp>
        <p:grpSp>
          <p:nvGrpSpPr>
            <p:cNvPr id="31" name="组合 30"/>
            <p:cNvGrpSpPr/>
            <p:nvPr/>
          </p:nvGrpSpPr>
          <p:grpSpPr>
            <a:xfrm>
              <a:off x="2050196" y="2944232"/>
              <a:ext cx="1914795" cy="1529477"/>
              <a:chOff x="3084027" y="4126421"/>
              <a:chExt cx="2747994" cy="2195010"/>
            </a:xfrm>
            <a:solidFill>
              <a:srgbClr val="AC0000"/>
            </a:solidFill>
          </p:grpSpPr>
          <p:sp>
            <p:nvSpPr>
              <p:cNvPr id="36" name="Rectangle 19"/>
              <p:cNvSpPr>
                <a:spLocks noChangeArrowheads="1"/>
              </p:cNvSpPr>
              <p:nvPr/>
            </p:nvSpPr>
            <p:spPr bwMode="auto">
              <a:xfrm>
                <a:off x="3084027" y="4126421"/>
                <a:ext cx="878094" cy="844976"/>
              </a:xfrm>
              <a:prstGeom prst="rect">
                <a:avLst/>
              </a:prstGeom>
              <a:grpFill/>
              <a:ln>
                <a:noFill/>
              </a:ln>
              <a:effectLst>
                <a:outerShdw blurRad="149987" dist="250190" dir="8460000" algn="ctr">
                  <a:srgbClr val="000000">
                    <a:alpha val="28000"/>
                  </a:srgbClr>
                </a:outerShdw>
              </a:effectLst>
            </p:spPr>
            <p:txBody>
              <a:bodyPr vert="horz" wrap="square" lIns="80524" tIns="40261" rIns="80524" bIns="40261" numCol="1" anchor="t" anchorCtr="0" compatLnSpc="1"/>
              <a:lstStyle/>
              <a:p>
                <a:pPr>
                  <a:lnSpc>
                    <a:spcPct val="130000"/>
                  </a:lnSpc>
                </a:pPr>
                <a:endParaRPr lang="zh-CN" altLang="en-US" sz="2820" dirty="0">
                  <a:cs typeface="+mn-ea"/>
                  <a:sym typeface="+mn-lt"/>
                </a:endParaRPr>
              </a:p>
            </p:txBody>
          </p:sp>
          <p:sp>
            <p:nvSpPr>
              <p:cNvPr id="37" name="Freeform 21"/>
              <p:cNvSpPr/>
              <p:nvPr/>
            </p:nvSpPr>
            <p:spPr bwMode="auto">
              <a:xfrm>
                <a:off x="4066566" y="4126421"/>
                <a:ext cx="1765455" cy="2195010"/>
              </a:xfrm>
              <a:custGeom>
                <a:avLst/>
                <a:gdLst>
                  <a:gd name="T0" fmla="*/ 282 w 760"/>
                  <a:gd name="T1" fmla="*/ 398 h 1027"/>
                  <a:gd name="T2" fmla="*/ 363 w 760"/>
                  <a:gd name="T3" fmla="*/ 478 h 1027"/>
                  <a:gd name="T4" fmla="*/ 363 w 760"/>
                  <a:gd name="T5" fmla="*/ 1027 h 1027"/>
                  <a:gd name="T6" fmla="*/ 760 w 760"/>
                  <a:gd name="T7" fmla="*/ 1027 h 1027"/>
                  <a:gd name="T8" fmla="*/ 760 w 760"/>
                  <a:gd name="T9" fmla="*/ 375 h 1027"/>
                  <a:gd name="T10" fmla="*/ 717 w 760"/>
                  <a:gd name="T11" fmla="*/ 200 h 1027"/>
                  <a:gd name="T12" fmla="*/ 634 w 760"/>
                  <a:gd name="T13" fmla="*/ 94 h 1027"/>
                  <a:gd name="T14" fmla="*/ 627 w 760"/>
                  <a:gd name="T15" fmla="*/ 89 h 1027"/>
                  <a:gd name="T16" fmla="*/ 385 w 760"/>
                  <a:gd name="T17" fmla="*/ 0 h 1027"/>
                  <a:gd name="T18" fmla="*/ 0 w 760"/>
                  <a:gd name="T19" fmla="*/ 0 h 1027"/>
                  <a:gd name="T20" fmla="*/ 0 w 760"/>
                  <a:gd name="T21" fmla="*/ 398 h 1027"/>
                  <a:gd name="T22" fmla="*/ 282 w 760"/>
                  <a:gd name="T23" fmla="*/ 398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60" h="1027">
                    <a:moveTo>
                      <a:pt x="282" y="398"/>
                    </a:moveTo>
                    <a:cubicBezTo>
                      <a:pt x="327" y="398"/>
                      <a:pt x="363" y="434"/>
                      <a:pt x="363" y="478"/>
                    </a:cubicBezTo>
                    <a:cubicBezTo>
                      <a:pt x="363" y="1027"/>
                      <a:pt x="363" y="1027"/>
                      <a:pt x="363" y="1027"/>
                    </a:cubicBezTo>
                    <a:cubicBezTo>
                      <a:pt x="760" y="1027"/>
                      <a:pt x="760" y="1027"/>
                      <a:pt x="760" y="1027"/>
                    </a:cubicBezTo>
                    <a:cubicBezTo>
                      <a:pt x="760" y="375"/>
                      <a:pt x="760" y="375"/>
                      <a:pt x="760" y="375"/>
                    </a:cubicBezTo>
                    <a:cubicBezTo>
                      <a:pt x="760" y="312"/>
                      <a:pt x="744" y="253"/>
                      <a:pt x="717" y="200"/>
                    </a:cubicBezTo>
                    <a:cubicBezTo>
                      <a:pt x="696" y="160"/>
                      <a:pt x="667" y="124"/>
                      <a:pt x="634" y="94"/>
                    </a:cubicBezTo>
                    <a:cubicBezTo>
                      <a:pt x="632" y="92"/>
                      <a:pt x="629" y="90"/>
                      <a:pt x="627" y="89"/>
                    </a:cubicBezTo>
                    <a:cubicBezTo>
                      <a:pt x="562" y="33"/>
                      <a:pt x="477" y="0"/>
                      <a:pt x="385" y="0"/>
                    </a:cubicBezTo>
                    <a:cubicBezTo>
                      <a:pt x="0" y="0"/>
                      <a:pt x="0" y="0"/>
                      <a:pt x="0" y="0"/>
                    </a:cubicBezTo>
                    <a:cubicBezTo>
                      <a:pt x="0" y="398"/>
                      <a:pt x="0" y="398"/>
                      <a:pt x="0" y="398"/>
                    </a:cubicBezTo>
                    <a:lnTo>
                      <a:pt x="282" y="398"/>
                    </a:lnTo>
                    <a:close/>
                  </a:path>
                </a:pathLst>
              </a:custGeom>
              <a:grpFill/>
              <a:ln>
                <a:noFill/>
              </a:ln>
              <a:effectLst>
                <a:outerShdw blurRad="149987" dist="250190" dir="8460000" algn="ctr">
                  <a:srgbClr val="000000">
                    <a:alpha val="28000"/>
                  </a:srgbClr>
                </a:outerShdw>
              </a:effectLst>
            </p:spPr>
            <p:txBody>
              <a:bodyPr vert="horz" wrap="square" lIns="80524" tIns="40261" rIns="80524" bIns="40261" numCol="1" anchor="t" anchorCtr="0" compatLnSpc="1"/>
              <a:lstStyle/>
              <a:p>
                <a:pPr>
                  <a:lnSpc>
                    <a:spcPct val="130000"/>
                  </a:lnSpc>
                </a:pPr>
                <a:endParaRPr lang="zh-CN" altLang="en-US" sz="1585" dirty="0">
                  <a:cs typeface="+mn-ea"/>
                  <a:sym typeface="+mn-lt"/>
                </a:endParaRPr>
              </a:p>
            </p:txBody>
          </p:sp>
        </p:grpSp>
        <p:sp>
          <p:nvSpPr>
            <p:cNvPr id="32" name="矩形 31"/>
            <p:cNvSpPr/>
            <p:nvPr/>
          </p:nvSpPr>
          <p:spPr>
            <a:xfrm>
              <a:off x="2618206" y="2038392"/>
              <a:ext cx="465813" cy="371255"/>
            </a:xfrm>
            <a:prstGeom prst="rect">
              <a:avLst/>
            </a:prstGeom>
            <a:noFill/>
          </p:spPr>
          <p:txBody>
            <a:bodyPr wrap="square" rtlCol="0">
              <a:spAutoFit/>
            </a:bodyPr>
            <a:lstStyle/>
            <a:p>
              <a:pPr>
                <a:lnSpc>
                  <a:spcPct val="130000"/>
                </a:lnSpc>
              </a:pPr>
              <a:r>
                <a:rPr lang="en-US" altLang="zh-CN" sz="2400" dirty="0">
                  <a:solidFill>
                    <a:schemeClr val="bg1"/>
                  </a:solidFill>
                  <a:cs typeface="+mn-ea"/>
                  <a:sym typeface="+mn-lt"/>
                </a:rPr>
                <a:t>03</a:t>
              </a:r>
              <a:endParaRPr lang="zh-CN" altLang="en-US" sz="2400" dirty="0">
                <a:solidFill>
                  <a:schemeClr val="bg1"/>
                </a:solidFill>
                <a:cs typeface="+mn-ea"/>
                <a:sym typeface="+mn-lt"/>
              </a:endParaRPr>
            </a:p>
          </p:txBody>
        </p:sp>
        <p:sp>
          <p:nvSpPr>
            <p:cNvPr id="34" name="矩形 33"/>
            <p:cNvSpPr/>
            <p:nvPr/>
          </p:nvSpPr>
          <p:spPr>
            <a:xfrm>
              <a:off x="2191265" y="3039097"/>
              <a:ext cx="366734" cy="344451"/>
            </a:xfrm>
            <a:prstGeom prst="rect">
              <a:avLst/>
            </a:prstGeom>
            <a:noFill/>
          </p:spPr>
          <p:txBody>
            <a:bodyPr wrap="square" rtlCol="0">
              <a:spAutoFit/>
            </a:bodyPr>
            <a:lstStyle/>
            <a:p>
              <a:pPr>
                <a:lnSpc>
                  <a:spcPct val="130000"/>
                </a:lnSpc>
              </a:pPr>
              <a:r>
                <a:rPr lang="en-US" altLang="zh-CN" sz="2400" b="1" dirty="0">
                  <a:solidFill>
                    <a:schemeClr val="bg1"/>
                  </a:solidFill>
                  <a:cs typeface="+mn-ea"/>
                  <a:sym typeface="+mn-lt"/>
                </a:rPr>
                <a:t>01</a:t>
              </a:r>
              <a:endParaRPr lang="zh-CN" altLang="en-US" sz="2400" b="1" dirty="0">
                <a:solidFill>
                  <a:schemeClr val="bg1"/>
                </a:solidFill>
                <a:cs typeface="+mn-ea"/>
                <a:sym typeface="+mn-lt"/>
              </a:endParaRPr>
            </a:p>
          </p:txBody>
        </p:sp>
      </p:grpSp>
      <p:sp>
        <p:nvSpPr>
          <p:cNvPr id="13" name="文本框 12"/>
          <p:cNvSpPr txBox="1"/>
          <p:nvPr/>
        </p:nvSpPr>
        <p:spPr>
          <a:xfrm>
            <a:off x="611229" y="5142366"/>
            <a:ext cx="4112620"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lang="zh-CN" altLang="en-US" sz="2000" dirty="0">
                <a:latin typeface="+mn-lt"/>
                <a:ea typeface="+mn-ea"/>
                <a:cs typeface="+mn-ea"/>
                <a:sym typeface="+mn-lt"/>
              </a:rPr>
              <a:t>统分结合，统筹配置资源</a:t>
            </a:r>
            <a:endParaRPr lang="en-US" altLang="zh-CN" sz="2000" dirty="0">
              <a:latin typeface="+mn-lt"/>
              <a:ea typeface="+mn-ea"/>
              <a:cs typeface="+mn-ea"/>
              <a:sym typeface="+mn-lt"/>
            </a:endParaRPr>
          </a:p>
        </p:txBody>
      </p:sp>
      <p:sp>
        <p:nvSpPr>
          <p:cNvPr id="14" name="文本框 13"/>
          <p:cNvSpPr txBox="1"/>
          <p:nvPr/>
        </p:nvSpPr>
        <p:spPr>
          <a:xfrm>
            <a:off x="8283563" y="4111591"/>
            <a:ext cx="5122526"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lang="zh-CN" altLang="en-US" sz="2000" dirty="0">
                <a:latin typeface="+mn-lt"/>
                <a:ea typeface="+mn-ea"/>
                <a:cs typeface="+mn-ea"/>
                <a:sym typeface="+mn-lt"/>
              </a:rPr>
              <a:t>内外结合，推进内生市场</a:t>
            </a:r>
            <a:endParaRPr lang="en-US" altLang="zh-CN" sz="2000" dirty="0">
              <a:latin typeface="+mn-lt"/>
              <a:ea typeface="+mn-ea"/>
              <a:cs typeface="+mn-ea"/>
              <a:sym typeface="+mn-lt"/>
            </a:endParaRPr>
          </a:p>
        </p:txBody>
      </p:sp>
      <p:sp>
        <p:nvSpPr>
          <p:cNvPr id="16" name="文本框 15"/>
          <p:cNvSpPr txBox="1"/>
          <p:nvPr/>
        </p:nvSpPr>
        <p:spPr>
          <a:xfrm>
            <a:off x="695325" y="220603"/>
            <a:ext cx="7982338"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5</a:t>
            </a:r>
            <a:r>
              <a:rPr kumimoji="1" lang="zh-CN" altLang="en-US" sz="2000" dirty="0">
                <a:latin typeface="+mn-lt"/>
                <a:ea typeface="+mn-ea"/>
                <a:cs typeface="+mn-ea"/>
                <a:sym typeface="+mn-lt"/>
              </a:rPr>
              <a:t>、强化配套机制，有效保证规划落地实施</a:t>
            </a:r>
            <a:endParaRPr kumimoji="1" lang="zh-CN" altLang="en-US" sz="2000" dirty="0">
              <a:latin typeface="+mn-lt"/>
              <a:ea typeface="+mn-ea"/>
              <a:cs typeface="+mn-ea"/>
              <a:sym typeface="+mn-lt"/>
            </a:endParaRPr>
          </a:p>
        </p:txBody>
      </p:sp>
      <p:sp>
        <p:nvSpPr>
          <p:cNvPr id="15" name="文本框 14"/>
          <p:cNvSpPr txBox="1"/>
          <p:nvPr/>
        </p:nvSpPr>
        <p:spPr>
          <a:xfrm>
            <a:off x="1089636" y="3284538"/>
            <a:ext cx="7115543"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lang="zh-CN" altLang="en-US" sz="2000" dirty="0">
                <a:latin typeface="+mn-lt"/>
                <a:ea typeface="+mn-ea"/>
                <a:cs typeface="+mn-ea"/>
                <a:sym typeface="+mn-lt"/>
              </a:rPr>
              <a:t>条线联动，协同运营管理</a:t>
            </a:r>
            <a:endParaRPr lang="en-US" altLang="zh-CN" sz="2000" dirty="0">
              <a:solidFill>
                <a:srgbClr val="FF0000"/>
              </a:solidFill>
              <a:latin typeface="+mn-lt"/>
              <a:ea typeface="+mn-ea"/>
              <a:cs typeface="+mn-ea"/>
              <a:sym typeface="+mn-lt"/>
            </a:endParaRPr>
          </a:p>
        </p:txBody>
      </p:sp>
      <p:sp>
        <p:nvSpPr>
          <p:cNvPr id="23" name="文本框 22"/>
          <p:cNvSpPr txBox="1"/>
          <p:nvPr/>
        </p:nvSpPr>
        <p:spPr>
          <a:xfrm>
            <a:off x="7490715" y="2197191"/>
            <a:ext cx="5122526"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lang="zh-CN" altLang="en-US" sz="2000" dirty="0">
                <a:latin typeface="+mn-lt"/>
                <a:ea typeface="+mn-ea"/>
                <a:cs typeface="+mn-ea"/>
                <a:sym typeface="+mn-lt"/>
              </a:rPr>
              <a:t>机构联动，强化管理协作</a:t>
            </a:r>
            <a:endParaRPr lang="en-US" altLang="zh-CN" sz="2000" dirty="0">
              <a:latin typeface="+mn-lt"/>
              <a:ea typeface="+mn-ea"/>
              <a:cs typeface="+mn-ea"/>
              <a:sym typeface="+mn-lt"/>
            </a:endParaRPr>
          </a:p>
        </p:txBody>
      </p:sp>
      <p:sp>
        <p:nvSpPr>
          <p:cNvPr id="44" name="灯片编号占位符 1"/>
          <p:cNvSpPr txBox="1"/>
          <p:nvPr/>
        </p:nvSpPr>
        <p:spPr>
          <a:xfrm>
            <a:off x="9428318" y="6547125"/>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4608031" y="2084650"/>
            <a:ext cx="2887038" cy="2887038"/>
          </a:xfrm>
          <a:prstGeom prst="ellipse">
            <a:avLst/>
          </a:prstGeom>
          <a:solidFill>
            <a:srgbClr val="C00000"/>
          </a:solidFill>
        </p:spPr>
        <p:txBody>
          <a:bodyPr wrap="non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3" name="文本框 2"/>
          <p:cNvSpPr txBox="1"/>
          <p:nvPr/>
        </p:nvSpPr>
        <p:spPr>
          <a:xfrm>
            <a:off x="695325" y="203444"/>
            <a:ext cx="9528924" cy="400110"/>
          </a:xfrm>
          <a:prstGeom prst="rect">
            <a:avLst/>
          </a:prstGeom>
          <a:noFill/>
        </p:spPr>
        <p:txBody>
          <a:bodyPr wrap="square" rtlCol="0">
            <a:spAutoFit/>
          </a:bodyPr>
          <a:lstStyle>
            <a:defPPr>
              <a:defRPr lang="zh-CN"/>
            </a:defPPr>
            <a:lvl1pPr>
              <a:defRPr sz="2800">
                <a:latin typeface="微软雅黑" charset="-122"/>
                <a:ea typeface="微软雅黑" charset="-122"/>
              </a:defRPr>
            </a:lvl1pPr>
          </a:lstStyle>
          <a:p>
            <a:r>
              <a:rPr kumimoji="1" lang="en-US" altLang="zh-CN" sz="2000" dirty="0">
                <a:latin typeface="+mn-lt"/>
                <a:ea typeface="+mn-ea"/>
                <a:cs typeface="+mn-ea"/>
                <a:sym typeface="+mn-lt"/>
              </a:rPr>
              <a:t>6</a:t>
            </a:r>
            <a:r>
              <a:rPr kumimoji="1" lang="zh-CN" altLang="en-US" sz="2000" dirty="0">
                <a:latin typeface="+mn-lt"/>
                <a:ea typeface="+mn-ea"/>
                <a:cs typeface="+mn-ea"/>
                <a:sym typeface="+mn-lt"/>
              </a:rPr>
              <a:t>、费用管控：构建激励和约束机制，让资金发挥最大效用</a:t>
            </a:r>
            <a:endParaRPr kumimoji="1" lang="en-US" altLang="zh-CN" sz="2000" dirty="0">
              <a:latin typeface="+mn-lt"/>
              <a:ea typeface="+mn-ea"/>
              <a:cs typeface="+mn-ea"/>
              <a:sym typeface="+mn-lt"/>
            </a:endParaRPr>
          </a:p>
        </p:txBody>
      </p:sp>
      <p:sp>
        <p:nvSpPr>
          <p:cNvPr id="4" name="文本框 3"/>
          <p:cNvSpPr txBox="1"/>
          <p:nvPr/>
        </p:nvSpPr>
        <p:spPr>
          <a:xfrm>
            <a:off x="6051550" y="5311071"/>
            <a:ext cx="4103942" cy="646331"/>
          </a:xfrm>
          <a:prstGeom prst="rect">
            <a:avLst/>
          </a:prstGeom>
          <a:noFill/>
        </p:spPr>
        <p:txBody>
          <a:bodyPr wrap="square">
            <a:spAutoFit/>
          </a:bodyPr>
          <a:lstStyle/>
          <a:p>
            <a:r>
              <a:rPr lang="zh-CN" altLang="zh-CN" sz="1800" dirty="0">
                <a:latin typeface="+mn-lt"/>
                <a:ea typeface="+mn-ea"/>
                <a:cs typeface="+mn-ea"/>
                <a:sym typeface="+mn-lt"/>
              </a:rPr>
              <a:t>统筹各方面，提升条线、分行、总行领导等多方对培训的投入和支持度</a:t>
            </a:r>
            <a:endParaRPr lang="zh-CN" altLang="en-US" sz="1800" dirty="0">
              <a:latin typeface="+mn-lt"/>
              <a:ea typeface="+mn-ea"/>
              <a:cs typeface="+mn-ea"/>
              <a:sym typeface="+mn-lt"/>
            </a:endParaRPr>
          </a:p>
        </p:txBody>
      </p:sp>
      <p:sp>
        <p:nvSpPr>
          <p:cNvPr id="9" name="文本框 8"/>
          <p:cNvSpPr txBox="1"/>
          <p:nvPr/>
        </p:nvSpPr>
        <p:spPr>
          <a:xfrm>
            <a:off x="576379" y="3246428"/>
            <a:ext cx="3956799" cy="646331"/>
          </a:xfrm>
          <a:prstGeom prst="rect">
            <a:avLst/>
          </a:prstGeom>
          <a:noFill/>
        </p:spPr>
        <p:txBody>
          <a:bodyPr wrap="square">
            <a:spAutoFit/>
          </a:bodyPr>
          <a:lstStyle/>
          <a:p>
            <a:r>
              <a:rPr lang="zh-CN" altLang="zh-CN" sz="1800" dirty="0">
                <a:latin typeface="+mn-lt"/>
                <a:ea typeface="+mn-ea"/>
                <a:cs typeface="+mn-ea"/>
                <a:sym typeface="+mn-lt"/>
              </a:rPr>
              <a:t>确保费用使用合规性基础上，着重提升费用资源使用的灵活性与激励性</a:t>
            </a:r>
            <a:endParaRPr lang="zh-CN" altLang="en-US" sz="1800" dirty="0">
              <a:latin typeface="+mn-lt"/>
              <a:ea typeface="+mn-ea"/>
              <a:cs typeface="+mn-ea"/>
              <a:sym typeface="+mn-lt"/>
            </a:endParaRPr>
          </a:p>
        </p:txBody>
      </p:sp>
      <p:sp>
        <p:nvSpPr>
          <p:cNvPr id="11" name="文本框 10"/>
          <p:cNvSpPr txBox="1"/>
          <p:nvPr/>
        </p:nvSpPr>
        <p:spPr>
          <a:xfrm>
            <a:off x="7558470" y="2232993"/>
            <a:ext cx="4203568" cy="646331"/>
          </a:xfrm>
          <a:prstGeom prst="rect">
            <a:avLst/>
          </a:prstGeom>
          <a:noFill/>
        </p:spPr>
        <p:txBody>
          <a:bodyPr wrap="square">
            <a:spAutoFit/>
          </a:bodyPr>
          <a:lstStyle/>
          <a:p>
            <a:r>
              <a:rPr lang="zh-CN" altLang="zh-CN" sz="1800" b="1" dirty="0">
                <a:effectLst/>
                <a:latin typeface="+mn-lt"/>
                <a:ea typeface="+mn-ea"/>
                <a:cs typeface="+mn-ea"/>
                <a:sym typeface="+mn-lt"/>
              </a:rPr>
              <a:t>完善费用管理流程制度，加强总行对分行的统筹，减少具体缴费环节和程序</a:t>
            </a:r>
            <a:endParaRPr lang="zh-CN" altLang="en-US" sz="1800" b="1" dirty="0">
              <a:latin typeface="+mn-lt"/>
              <a:ea typeface="+mn-ea"/>
              <a:cs typeface="+mn-ea"/>
              <a:sym typeface="+mn-lt"/>
            </a:endParaRPr>
          </a:p>
        </p:txBody>
      </p:sp>
      <p:sp>
        <p:nvSpPr>
          <p:cNvPr id="2" name="椭圆 1"/>
          <p:cNvSpPr/>
          <p:nvPr/>
        </p:nvSpPr>
        <p:spPr>
          <a:xfrm>
            <a:off x="4291165" y="2879324"/>
            <a:ext cx="304504" cy="304504"/>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871468" y="2418179"/>
            <a:ext cx="2202780" cy="2202780"/>
          </a:xfrm>
          <a:prstGeom prst="rect">
            <a:avLst/>
          </a:prstGeom>
          <a:effectLst>
            <a:outerShdw blurRad="50800" dist="38100" algn="l" rotWithShape="0">
              <a:prstClr val="black">
                <a:alpha val="40000"/>
              </a:prstClr>
            </a:outerShdw>
          </a:effectLst>
        </p:spPr>
      </p:pic>
      <p:sp>
        <p:nvSpPr>
          <p:cNvPr id="17" name="椭圆 16"/>
          <p:cNvSpPr/>
          <p:nvPr/>
        </p:nvSpPr>
        <p:spPr>
          <a:xfrm>
            <a:off x="4354566" y="1860889"/>
            <a:ext cx="3393968" cy="3393968"/>
          </a:xfrm>
          <a:prstGeom prst="ellipse">
            <a:avLst/>
          </a:prstGeom>
          <a:noFill/>
          <a:ln>
            <a:solidFill>
              <a:schemeClr val="bg1">
                <a:lumMod val="50000"/>
              </a:schemeClr>
            </a:solidFill>
          </a:ln>
        </p:spPr>
        <p:txBody>
          <a:bodyPr wrap="square" rtlCol="0" anchor="ctr">
            <a:spAutoFit/>
          </a:bodyPr>
          <a:lstStyle/>
          <a:p>
            <a:pPr algn="ctr"/>
            <a:endParaRPr kumimoji="1" lang="zh-CN" altLang="en-US" dirty="0">
              <a:solidFill>
                <a:schemeClr val="bg1"/>
              </a:solidFill>
              <a:latin typeface="宋体" pitchFamily="2" charset="-122"/>
              <a:ea typeface="宋体" pitchFamily="2" charset="-122"/>
            </a:endParaRPr>
          </a:p>
        </p:txBody>
      </p:sp>
      <p:sp>
        <p:nvSpPr>
          <p:cNvPr id="15" name="椭圆 14"/>
          <p:cNvSpPr/>
          <p:nvPr/>
        </p:nvSpPr>
        <p:spPr>
          <a:xfrm>
            <a:off x="7253966" y="2280126"/>
            <a:ext cx="304504" cy="304504"/>
          </a:xfrm>
          <a:prstGeom prst="ellipse">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5790059" y="5086053"/>
            <a:ext cx="304504" cy="304504"/>
          </a:xfrm>
          <a:prstGeom prst="ellipse">
            <a:avLst/>
          </a:prstGeom>
          <a:solidFill>
            <a:schemeClr val="bg1">
              <a:lumMod val="6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灯片编号占位符 1"/>
          <p:cNvSpPr txBox="1"/>
          <p:nvPr/>
        </p:nvSpPr>
        <p:spPr>
          <a:xfrm>
            <a:off x="9428318" y="6547125"/>
            <a:ext cx="2540000" cy="170496"/>
          </a:xfrm>
          <a:prstGeom prst="rect">
            <a:avLst/>
          </a:prstGeom>
        </p:spPr>
        <p:txBody>
          <a:bodyPr/>
          <a:lstStyle>
            <a:defPPr>
              <a:defRPr lang="en-US"/>
            </a:defPPr>
            <a:lvl1pPr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1pPr>
            <a:lvl2pPr marL="4572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2pPr>
            <a:lvl3pPr marL="9144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3pPr>
            <a:lvl4pPr marL="13716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4pPr>
            <a:lvl5pPr marL="1828800" algn="l" rtl="0" fontAlgn="base">
              <a:spcBef>
                <a:spcPct val="0"/>
              </a:spcBef>
              <a:spcAft>
                <a:spcPct val="0"/>
              </a:spcAft>
              <a:defRPr sz="1300" b="1" kern="1200">
                <a:solidFill>
                  <a:srgbClr val="000000"/>
                </a:solidFill>
                <a:latin typeface="Arial" panose="020B0604020202090204" pitchFamily="34" charset="0"/>
                <a:ea typeface="宋体" pitchFamily="2" charset="-122"/>
                <a:cs typeface="+mn-cs"/>
              </a:defRPr>
            </a:lvl5pPr>
            <a:lvl6pPr marL="2286000" algn="l" defTabSz="914400" rtl="0" eaLnBrk="1" latinLnBrk="0" hangingPunct="1">
              <a:defRPr sz="1300" b="1" kern="1200">
                <a:solidFill>
                  <a:srgbClr val="000000"/>
                </a:solidFill>
                <a:latin typeface="Arial" panose="020B0604020202090204" pitchFamily="34" charset="0"/>
                <a:ea typeface="宋体" pitchFamily="2" charset="-122"/>
                <a:cs typeface="+mn-cs"/>
              </a:defRPr>
            </a:lvl6pPr>
            <a:lvl7pPr marL="2743200" algn="l" defTabSz="914400" rtl="0" eaLnBrk="1" latinLnBrk="0" hangingPunct="1">
              <a:defRPr sz="1300" b="1" kern="1200">
                <a:solidFill>
                  <a:srgbClr val="000000"/>
                </a:solidFill>
                <a:latin typeface="Arial" panose="020B0604020202090204" pitchFamily="34" charset="0"/>
                <a:ea typeface="宋体" pitchFamily="2" charset="-122"/>
                <a:cs typeface="+mn-cs"/>
              </a:defRPr>
            </a:lvl7pPr>
            <a:lvl8pPr marL="3200400" algn="l" defTabSz="914400" rtl="0" eaLnBrk="1" latinLnBrk="0" hangingPunct="1">
              <a:defRPr sz="1300" b="1" kern="1200">
                <a:solidFill>
                  <a:srgbClr val="000000"/>
                </a:solidFill>
                <a:latin typeface="Arial" panose="020B0604020202090204" pitchFamily="34" charset="0"/>
                <a:ea typeface="宋体" pitchFamily="2" charset="-122"/>
                <a:cs typeface="+mn-cs"/>
              </a:defRPr>
            </a:lvl8pPr>
            <a:lvl9pPr marL="3657600" algn="l" defTabSz="914400" rtl="0" eaLnBrk="1" latinLnBrk="0" hangingPunct="1">
              <a:defRPr sz="1300" b="1" kern="1200">
                <a:solidFill>
                  <a:srgbClr val="000000"/>
                </a:solidFill>
                <a:latin typeface="Arial" panose="020B0604020202090204" pitchFamily="34" charset="0"/>
                <a:ea typeface="宋体" pitchFamily="2" charset="-122"/>
                <a:cs typeface="+mn-cs"/>
              </a:defRPr>
            </a:lvl9pPr>
          </a:lstStyle>
          <a:p>
            <a:pPr algn="r">
              <a:defRPr/>
            </a:pPr>
            <a:fld id="{52DF7D90-B49A-4800-BC0D-FE9A7C3546DE}" type="slidenum">
              <a:rPr lang="zh-CN" altLang="en-US" smtClean="0">
                <a:latin typeface="+mn-lt"/>
                <a:ea typeface="+mn-ea"/>
                <a:cs typeface="+mn-ea"/>
                <a:sym typeface="+mn-lt"/>
              </a:rPr>
            </a:fld>
            <a:endParaRPr lang="en-US" altLang="zh-CN" dirty="0">
              <a:latin typeface="+mn-lt"/>
              <a:ea typeface="+mn-ea"/>
              <a:cs typeface="+mn-ea"/>
              <a:sym typeface="+mn-lt"/>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stretch>
            <a:fillRect/>
          </a:stretch>
        </p:blipFill>
        <p:spPr>
          <a:xfrm>
            <a:off x="808870" y="3053004"/>
            <a:ext cx="643007" cy="751991"/>
          </a:xfrm>
          <a:prstGeom prst="rect">
            <a:avLst/>
          </a:prstGeom>
        </p:spPr>
      </p:pic>
      <p:sp>
        <p:nvSpPr>
          <p:cNvPr id="5" name="矩形 4"/>
          <p:cNvSpPr/>
          <p:nvPr/>
        </p:nvSpPr>
        <p:spPr>
          <a:xfrm>
            <a:off x="2373745" y="2904527"/>
            <a:ext cx="9818255" cy="9562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McK Confidential"/>
          <p:cNvSpPr txBox="1">
            <a:spLocks noChangeArrowheads="1"/>
          </p:cNvSpPr>
          <p:nvPr>
            <p:custDataLst>
              <p:tags r:id="rId2"/>
            </p:custDataLst>
          </p:nvPr>
        </p:nvSpPr>
        <p:spPr bwMode="auto">
          <a:xfrm>
            <a:off x="2373744" y="2541180"/>
            <a:ext cx="34359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1200">
                <a:solidFill>
                  <a:srgbClr val="000000"/>
                </a:solidFill>
                <a:latin typeface="Arial" panose="020B0604020202090204" pitchFamily="34" charset="0"/>
                <a:ea typeface="-윤고딕130" charset="0"/>
              </a:defRPr>
            </a:lvl1pPr>
            <a:lvl2pPr marL="742950" indent="-285750" eaLnBrk="0" hangingPunct="0">
              <a:defRPr sz="1200">
                <a:solidFill>
                  <a:srgbClr val="000000"/>
                </a:solidFill>
                <a:latin typeface="Arial" panose="020B0604020202090204" pitchFamily="34" charset="0"/>
                <a:ea typeface="-윤고딕130" charset="0"/>
              </a:defRPr>
            </a:lvl2pPr>
            <a:lvl3pPr marL="1143000" indent="-228600" eaLnBrk="0" hangingPunct="0">
              <a:defRPr sz="1200">
                <a:solidFill>
                  <a:srgbClr val="000000"/>
                </a:solidFill>
                <a:latin typeface="Arial" panose="020B0604020202090204" pitchFamily="34" charset="0"/>
                <a:ea typeface="-윤고딕130" charset="0"/>
              </a:defRPr>
            </a:lvl3pPr>
            <a:lvl4pPr marL="1600200" indent="-228600" eaLnBrk="0" hangingPunct="0">
              <a:defRPr sz="1200">
                <a:solidFill>
                  <a:srgbClr val="000000"/>
                </a:solidFill>
                <a:latin typeface="Arial" panose="020B0604020202090204" pitchFamily="34" charset="0"/>
                <a:ea typeface="-윤고딕130" charset="0"/>
              </a:defRPr>
            </a:lvl4pPr>
            <a:lvl5pPr marL="2057400" indent="-228600" eaLnBrk="0" hangingPunct="0">
              <a:defRPr sz="1200">
                <a:solidFill>
                  <a:srgbClr val="000000"/>
                </a:solidFill>
                <a:latin typeface="Arial" panose="020B0604020202090204" pitchFamily="34" charset="0"/>
                <a:ea typeface="-윤고딕130" charset="0"/>
              </a:defRPr>
            </a:lvl5pPr>
            <a:lvl6pPr marL="25146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6pPr>
            <a:lvl7pPr marL="29718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7pPr>
            <a:lvl8pPr marL="34290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8pPr>
            <a:lvl9pPr marL="3886200" indent="-228600" eaLnBrk="0" fontAlgn="base" hangingPunct="0">
              <a:spcBef>
                <a:spcPct val="0"/>
              </a:spcBef>
              <a:spcAft>
                <a:spcPct val="0"/>
              </a:spcAft>
              <a:defRPr sz="1200">
                <a:solidFill>
                  <a:srgbClr val="000000"/>
                </a:solidFill>
                <a:latin typeface="Arial" panose="020B0604020202090204" pitchFamily="34" charset="0"/>
                <a:ea typeface="-윤고딕130" charset="0"/>
              </a:defRPr>
            </a:lvl9pPr>
          </a:lstStyle>
          <a:p>
            <a:pPr eaLnBrk="1" hangingPunct="1"/>
            <a:r>
              <a:rPr kumimoji="1" lang="en-US" altLang="ko-KR" sz="2000" dirty="0">
                <a:solidFill>
                  <a:srgbClr val="C00000"/>
                </a:solidFill>
                <a:latin typeface="华文中宋" panose="02010600040101010101" pitchFamily="2" charset="-122"/>
                <a:ea typeface="华文中宋" panose="02010600040101010101" pitchFamily="2" charset="-122"/>
                <a:cs typeface="+mn-ea"/>
                <a:sym typeface="+mn-lt"/>
              </a:rPr>
              <a:t>CONFIDENTIAL</a:t>
            </a:r>
            <a:r>
              <a:rPr kumimoji="1" lang="en-US" altLang="zh-CN" sz="2000" dirty="0">
                <a:solidFill>
                  <a:srgbClr val="C00000"/>
                </a:solidFill>
                <a:latin typeface="华文中宋" panose="02010600040101010101" pitchFamily="2" charset="-122"/>
                <a:ea typeface="华文中宋" panose="02010600040101010101" pitchFamily="2" charset="-122"/>
                <a:cs typeface="+mn-ea"/>
                <a:sym typeface="+mn-lt"/>
              </a:rPr>
              <a:t>·</a:t>
            </a:r>
            <a:r>
              <a:rPr kumimoji="1" lang="zh-CN" altLang="en-US" sz="2000" dirty="0">
                <a:solidFill>
                  <a:srgbClr val="C00000"/>
                </a:solidFill>
                <a:latin typeface="华文中宋" panose="02010600040101010101" pitchFamily="2" charset="-122"/>
                <a:ea typeface="华文中宋" panose="02010600040101010101" pitchFamily="2" charset="-122"/>
                <a:cs typeface="+mn-ea"/>
                <a:sym typeface="+mn-lt"/>
              </a:rPr>
              <a:t>机密</a:t>
            </a:r>
            <a:endParaRPr kumimoji="1" lang="en-US" altLang="ko-KR" sz="2000" dirty="0">
              <a:solidFill>
                <a:srgbClr val="C00000"/>
              </a:solidFill>
              <a:latin typeface="华文中宋" panose="02010600040101010101" pitchFamily="2" charset="-122"/>
              <a:ea typeface="华文中宋" panose="02010600040101010101" pitchFamily="2" charset="-122"/>
              <a:cs typeface="+mn-ea"/>
              <a:sym typeface="+mn-lt"/>
            </a:endParaRPr>
          </a:p>
        </p:txBody>
      </p:sp>
      <p:sp>
        <p:nvSpPr>
          <p:cNvPr id="7" name="Rectangle 2"/>
          <p:cNvSpPr txBox="1">
            <a:spLocks noChangeArrowheads="1"/>
          </p:cNvSpPr>
          <p:nvPr/>
        </p:nvSpPr>
        <p:spPr bwMode="auto">
          <a:xfrm>
            <a:off x="5139963" y="3151830"/>
            <a:ext cx="4031873" cy="400110"/>
          </a:xfrm>
          <a:prstGeom prst="rect">
            <a:avLst/>
          </a:prstGeom>
        </p:spPr>
        <p:txBody>
          <a:bodyPr wrap="none">
            <a:spAutoFit/>
          </a:bodyPr>
          <a:lstStyle>
            <a:defPPr>
              <a:defRPr lang="en-US"/>
            </a:defPPr>
            <a:lvl1pPr>
              <a:defRPr sz="2955" kern="0">
                <a:latin typeface="STZhongsong" panose="02010600040101010101" pitchFamily="2" charset="-122"/>
                <a:ea typeface="STZhongsong" panose="02010600040101010101" pitchFamily="2" charset="-122"/>
              </a:defRPr>
            </a:lvl1pPr>
          </a:lstStyle>
          <a:p>
            <a:r>
              <a:rPr kumimoji="1" lang="zh-CN" altLang="en-US" sz="2000" kern="1200" dirty="0">
                <a:solidFill>
                  <a:schemeClr val="bg1"/>
                </a:solidFill>
                <a:latin typeface="华文中宋" panose="02010600040101010101" pitchFamily="2" charset="-122"/>
                <a:ea typeface="华文中宋" panose="02010600040101010101" pitchFamily="2" charset="-122"/>
                <a:cs typeface="+mn-ea"/>
                <a:sym typeface="+mn-lt"/>
              </a:rPr>
              <a:t>中国银行教育培训“十四五”规划</a:t>
            </a:r>
            <a:endParaRPr kumimoji="1" lang="ko-KR" altLang="en-US" sz="2000" kern="1200" dirty="0">
              <a:solidFill>
                <a:schemeClr val="bg1"/>
              </a:solidFill>
              <a:latin typeface="华文中宋" panose="02010600040101010101" pitchFamily="2" charset="-122"/>
              <a:ea typeface="+mn-ea"/>
              <a:cs typeface="+mn-ea"/>
              <a:sym typeface="+mn-lt"/>
            </a:endParaRPr>
          </a:p>
        </p:txBody>
      </p:sp>
    </p:spTree>
  </p:cSld>
  <p:clrMapOvr>
    <a:masterClrMapping/>
  </p:clrMapOvr>
</p:sld>
</file>

<file path=ppt/tags/tag1.xml><?xml version="1.0" encoding="utf-8"?>
<p:tagLst xmlns:p="http://schemas.openxmlformats.org/presentationml/2006/main">
  <p:tag name="RESIZE" val="Yes"/>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15615_2*l_h_i*1_1_1"/>
  <p:tag name="KSO_WM_TEMPLATE_CATEGORY" val="diagram"/>
  <p:tag name="KSO_WM_TEMPLATE_INDEX" val="20215615"/>
  <p:tag name="KSO_WM_UNIT_LAYERLEVEL" val="1_1_1"/>
  <p:tag name="KSO_WM_TAG_VERSION" val="1.0"/>
  <p:tag name="KSO_WM_BEAUTIFY_FLAG" val="#wm#"/>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15615_2*l_h_i*1_1_3"/>
  <p:tag name="KSO_WM_TEMPLATE_CATEGORY" val="diagram"/>
  <p:tag name="KSO_WM_TEMPLATE_INDEX" val="20215615"/>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215615_2*l_h_i*1_1_4"/>
  <p:tag name="KSO_WM_TEMPLATE_CATEGORY" val="diagram"/>
  <p:tag name="KSO_WM_TEMPLATE_INDEX" val="20215615"/>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15615_2*l_h_f*1_1_1"/>
  <p:tag name="KSO_WM_TEMPLATE_CATEGORY" val="diagram"/>
  <p:tag name="KSO_WM_TEMPLATE_INDEX" val="20215615"/>
  <p:tag name="KSO_WM_UNIT_LAYERLEVEL" val="1_1_1"/>
  <p:tag name="KSO_WM_TAG_VERSION" val="1.0"/>
  <p:tag name="KSO_WM_BEAUTIFY_FLAG" val="#wm#"/>
  <p:tag name="KSO_WM_UNIT_PRESET_TEXT" val="单击此处输入你的正文，文字是您思想的提炼"/>
  <p:tag name="KSO_WM_UNIT_TEXT_FILL_FORE_SCHEMECOLOR_INDEX_BRIGHTNESS" val="0.25"/>
  <p:tag name="KSO_WM_UNIT_TEXT_FILL_FORE_SCHEMECOLOR_INDEX" val="13"/>
  <p:tag name="KSO_WM_UNIT_TEXT_FILL_TYPE" val="1"/>
  <p:tag name="KSO_WM_UNIT_USESOURCEFORMAT_APPLY" val="1"/>
</p:tagLst>
</file>

<file path=ppt/tags/tag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5615_2*l_h_a*1_1_1"/>
  <p:tag name="KSO_WM_TEMPLATE_CATEGORY" val="diagram"/>
  <p:tag name="KSO_WM_TEMPLATE_INDEX" val="20215615"/>
  <p:tag name="KSO_WM_UNIT_LAYERLEVEL" val="1_1_1"/>
  <p:tag name="KSO_WM_TAG_VERSION" val="1.0"/>
  <p:tag name="KSO_WM_BEAUTIFY_FLAG" val="#wm#"/>
  <p:tag name="KSO_WM_UNIT_PRESET_TEXT" val="添加标题"/>
  <p:tag name="KSO_WM_UNIT_TEXT_FILL_FORE_SCHEMECOLOR_INDEX_BRIGHTNESS" val="0.25"/>
  <p:tag name="KSO_WM_UNIT_TEXT_FILL_FORE_SCHEMECOLOR_INDEX" val="13"/>
  <p:tag name="KSO_WM_UNIT_TEXT_FILL_TYPE" val="1"/>
  <p:tag name="KSO_WM_UNIT_USESOURCEFORMAT_APPLY"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2"/>
  <p:tag name="KSO_WM_UNIT_ID" val="diagram20215615_2*l_h_i*1_1_2"/>
  <p:tag name="KSO_WM_TEMPLATE_CATEGORY" val="diagram"/>
  <p:tag name="KSO_WM_TEMPLATE_INDEX" val="20215615"/>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 name="KSO_WM_UNIT_USESOURCEFORMAT_APPLY"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15615_2*l_h_i*1_2_1"/>
  <p:tag name="KSO_WM_TEMPLATE_CATEGORY" val="diagram"/>
  <p:tag name="KSO_WM_TEMPLATE_INDEX" val="20215615"/>
  <p:tag name="KSO_WM_UNIT_LAYERLEVEL" val="1_1_1"/>
  <p:tag name="KSO_WM_TAG_VERSION" val="1.0"/>
  <p:tag name="KSO_WM_BEAUTIFY_FLAG" val="#wm#"/>
  <p:tag name="KSO_WM_UNIT_LINE_FORE_SCHEMECOLOR_INDEX_BRIGHTNESS" val="0"/>
  <p:tag name="KSO_WM_UNIT_LINE_FORE_SCHEMECOLOR_INDEX" val="7"/>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15615_2*l_h_i*1_2_3"/>
  <p:tag name="KSO_WM_TEMPLATE_CATEGORY" val="diagram"/>
  <p:tag name="KSO_WM_TEMPLATE_INDEX" val="20215615"/>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
  <p:tag name="KSO_WM_UNIT_LINE_FORE_SCHEMECOLOR_INDEX" val="7"/>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20215615_2*l_h_i*1_2_4"/>
  <p:tag name="KSO_WM_TEMPLATE_CATEGORY" val="diagram"/>
  <p:tag name="KSO_WM_TEMPLATE_INDEX" val="20215615"/>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1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15615_2*l_h_f*1_2_1"/>
  <p:tag name="KSO_WM_TEMPLATE_CATEGORY" val="diagram"/>
  <p:tag name="KSO_WM_TEMPLATE_INDEX" val="20215615"/>
  <p:tag name="KSO_WM_UNIT_LAYERLEVEL" val="1_1_1"/>
  <p:tag name="KSO_WM_TAG_VERSION" val="1.0"/>
  <p:tag name="KSO_WM_BEAUTIFY_FLAG" val="#wm#"/>
  <p:tag name="KSO_WM_UNIT_PRESET_TEXT" val="单击此处输入你的正文，文字是您思想的提炼"/>
  <p:tag name="KSO_WM_UNIT_TEXT_FILL_FORE_SCHEMECOLOR_INDEX_BRIGHTNESS" val="0.25"/>
  <p:tag name="KSO_WM_UNIT_TEXT_FILL_FORE_SCHEMECOLOR_INDEX" val="13"/>
  <p:tag name="KSO_WM_UNIT_TEXT_FILL_TYPE" val="1"/>
  <p:tag name="KSO_WM_UNIT_USESOURCEFORMAT_APPLY" val="1"/>
</p:tagLst>
</file>

<file path=ppt/tags/tag1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15615_2*l_h_a*1_2_1"/>
  <p:tag name="KSO_WM_TEMPLATE_CATEGORY" val="diagram"/>
  <p:tag name="KSO_WM_TEMPLATE_INDEX" val="20215615"/>
  <p:tag name="KSO_WM_UNIT_LAYERLEVEL" val="1_1_1"/>
  <p:tag name="KSO_WM_TAG_VERSION" val="1.0"/>
  <p:tag name="KSO_WM_BEAUTIFY_FLAG" val="#wm#"/>
  <p:tag name="KSO_WM_UNIT_PRESET_TEXT" val="添加标题"/>
  <p:tag name="KSO_WM_UNIT_TEXT_FILL_FORE_SCHEMECOLOR_INDEX_BRIGHTNESS" val="0.25"/>
  <p:tag name="KSO_WM_UNIT_TEXT_FILL_FORE_SCHEMECOLOR_INDEX" val="13"/>
  <p:tag name="KSO_WM_UNIT_TEXT_FILL_TYPE" val="1"/>
  <p:tag name="KSO_WM_UNIT_USESOURCEFORMAT_APPLY"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2"/>
  <p:tag name="KSO_WM_UNIT_ID" val="diagram20215615_2*l_h_i*1_2_2"/>
  <p:tag name="KSO_WM_TEMPLATE_CATEGORY" val="diagram"/>
  <p:tag name="KSO_WM_TEMPLATE_INDEX" val="20215615"/>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 name="KSO_WM_UNIT_USESOURCEFORMAT_APPLY"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15615_2*l_h_i*1_3_1"/>
  <p:tag name="KSO_WM_TEMPLATE_CATEGORY" val="diagram"/>
  <p:tag name="KSO_WM_TEMPLATE_INDEX" val="20215615"/>
  <p:tag name="KSO_WM_UNIT_LAYERLEVEL" val="1_1_1"/>
  <p:tag name="KSO_WM_TAG_VERSION" val="1.0"/>
  <p:tag name="KSO_WM_BEAUTIFY_FLAG" val="#wm#"/>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15615_2*l_h_i*1_3_3"/>
  <p:tag name="KSO_WM_TEMPLATE_CATEGORY" val="diagram"/>
  <p:tag name="KSO_WM_TEMPLATE_INDEX" val="20215615"/>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USESOURCEFORMAT_APPLY"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4"/>
  <p:tag name="KSO_WM_UNIT_ID" val="diagram20215615_2*l_h_i*1_3_4"/>
  <p:tag name="KSO_WM_TEMPLATE_CATEGORY" val="diagram"/>
  <p:tag name="KSO_WM_TEMPLATE_INDEX" val="20215615"/>
  <p:tag name="KSO_WM_UNIT_LAYERLEVEL" val="1_1_1"/>
  <p:tag name="KSO_WM_TAG_VERSION" val="1.0"/>
  <p:tag name="KSO_WM_BEAUTIFY_FLAG" val="#wm#"/>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2"/>
  <p:tag name="KSO_WM_UNIT_TEXT_FILL_TYPE" val="1"/>
  <p:tag name="KSO_WM_UNIT_USESOURCEFORMAT_APPLY" val="1"/>
</p:tagLst>
</file>

<file path=ppt/tags/tag1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15615_2*l_h_f*1_3_1"/>
  <p:tag name="KSO_WM_TEMPLATE_CATEGORY" val="diagram"/>
  <p:tag name="KSO_WM_TEMPLATE_INDEX" val="20215615"/>
  <p:tag name="KSO_WM_UNIT_LAYERLEVEL" val="1_1_1"/>
  <p:tag name="KSO_WM_TAG_VERSION" val="1.0"/>
  <p:tag name="KSO_WM_BEAUTIFY_FLAG" val="#wm#"/>
  <p:tag name="KSO_WM_UNIT_PRESET_TEXT" val="单击此处输入你的正文，文字是您思想的提炼"/>
  <p:tag name="KSO_WM_UNIT_TEXT_FILL_FORE_SCHEMECOLOR_INDEX_BRIGHTNESS" val="0.25"/>
  <p:tag name="KSO_WM_UNIT_TEXT_FILL_FORE_SCHEMECOLOR_INDEX" val="13"/>
  <p:tag name="KSO_WM_UNIT_TEXT_FILL_TYPE" val="1"/>
  <p:tag name="KSO_WM_UNIT_USESOURCEFORMAT_APPLY" val="1"/>
</p:tagLst>
</file>

<file path=ppt/tags/tag1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15615_2*l_h_a*1_3_1"/>
  <p:tag name="KSO_WM_TEMPLATE_CATEGORY" val="diagram"/>
  <p:tag name="KSO_WM_TEMPLATE_INDEX" val="20215615"/>
  <p:tag name="KSO_WM_UNIT_LAYERLEVEL" val="1_1_1"/>
  <p:tag name="KSO_WM_TAG_VERSION" val="1.0"/>
  <p:tag name="KSO_WM_BEAUTIFY_FLAG" val="#wm#"/>
  <p:tag name="KSO_WM_UNIT_PRESET_TEXT" val="添加标题"/>
  <p:tag name="KSO_WM_UNIT_TEXT_FILL_FORE_SCHEMECOLOR_INDEX_BRIGHTNESS" val="0.25"/>
  <p:tag name="KSO_WM_UNIT_TEXT_FILL_FORE_SCHEMECOLOR_INDEX" val="13"/>
  <p:tag name="KSO_WM_UNIT_TEXT_FILL_TYPE" val="1"/>
  <p:tag name="KSO_WM_UNIT_USESOURCEFORMAT_APPLY"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2"/>
  <p:tag name="KSO_WM_UNIT_ID" val="diagram20215615_2*l_h_i*1_3_2"/>
  <p:tag name="KSO_WM_TEMPLATE_CATEGORY" val="diagram"/>
  <p:tag name="KSO_WM_TEMPLATE_INDEX" val="20215615"/>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 name="KSO_WM_UNIT_USESOURCEFORMAT_APPLY" val="1"/>
</p:tagLst>
</file>

<file path=ppt/tags/tag20.xml><?xml version="1.0" encoding="utf-8"?>
<p:tagLst xmlns:p="http://schemas.openxmlformats.org/presentationml/2006/main">
  <p:tag name="RESIZE" val="Yes"/>
</p:tagLst>
</file>

<file path=ppt/theme/theme1.xml><?xml version="1.0" encoding="utf-8"?>
<a:theme xmlns:a="http://schemas.openxmlformats.org/drawingml/2006/main" name="PPT template_internal">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dnwohj5g">
      <a:majorFont>
        <a:latin typeface=""/>
        <a:ea typeface="华文中宋"/>
        <a:cs typeface=""/>
      </a:majorFont>
      <a:minorFont>
        <a:latin typeface=""/>
        <a:ea typeface="华文中宋"/>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a:defRPr kumimoji="1" dirty="0" smtClean="0">
            <a:solidFill>
              <a:schemeClr val="bg1"/>
            </a:solidFill>
            <a:latin typeface="宋体" pitchFamily="2" charset="-122"/>
            <a:ea typeface="宋体" pitchFamily="2" charset="-122"/>
          </a:defRPr>
        </a:defPPr>
      </a:lstStyle>
    </a:spDef>
    <a:lnDef>
      <a:spPr bwMode="auto">
        <a:solidFill>
          <a:schemeClr val="bg1"/>
        </a:solidFill>
        <a:ln w="9525" cap="flat" cmpd="sng" algn="ctr">
          <a:solidFill>
            <a:schemeClr val="tx1"/>
          </a:solidFill>
          <a:prstDash val="solid"/>
          <a:round/>
          <a:headEnd type="none" w="med" len="med"/>
          <a:tailEnd type="none" w="med" len="med"/>
        </a:ln>
      </a:spPr>
      <a:bodyPr/>
      <a:lstStyle/>
    </a:lnDef>
    <a:txDef>
      <a:spPr>
        <a:noFill/>
      </a:spPr>
      <a:bodyPr wrap="none" rtlCol="0">
        <a:spAutoFit/>
      </a:bodyPr>
      <a:lstStyle>
        <a:defPPr>
          <a:defRPr kumimoji="1" smtClean="0">
            <a:latin typeface="宋体" pitchFamily="2" charset="-122"/>
            <a:ea typeface="宋体" pitchFamily="2" charset="-122"/>
          </a:defRPr>
        </a:defPPr>
      </a:lstStyle>
    </a:txDef>
  </a:objectDefaults>
  <a:extraClrSchemeLst>
    <a:extraClrScheme>
      <a:clrScheme name="PPT template_interna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PT template_interna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PT template_interna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PT template_interna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PT template_interna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PT template_interna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PT template_internal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PT template_interna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PT template_interna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PT template_interna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PT template_interna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PT template_interna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PPT template_internal 13">
        <a:dk1>
          <a:srgbClr val="333333"/>
        </a:dk1>
        <a:lt1>
          <a:srgbClr val="FFFFFF"/>
        </a:lt1>
        <a:dk2>
          <a:srgbClr val="000000"/>
        </a:dk2>
        <a:lt2>
          <a:srgbClr val="808080"/>
        </a:lt2>
        <a:accent1>
          <a:srgbClr val="103991"/>
        </a:accent1>
        <a:accent2>
          <a:srgbClr val="333399"/>
        </a:accent2>
        <a:accent3>
          <a:srgbClr val="FFFFFF"/>
        </a:accent3>
        <a:accent4>
          <a:srgbClr val="2A2A2A"/>
        </a:accent4>
        <a:accent5>
          <a:srgbClr val="AAAEC7"/>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PT template_internal 14">
        <a:dk1>
          <a:srgbClr val="333333"/>
        </a:dk1>
        <a:lt1>
          <a:srgbClr val="FFFFFF"/>
        </a:lt1>
        <a:dk2>
          <a:srgbClr val="000000"/>
        </a:dk2>
        <a:lt2>
          <a:srgbClr val="808080"/>
        </a:lt2>
        <a:accent1>
          <a:srgbClr val="F7EDD4"/>
        </a:accent1>
        <a:accent2>
          <a:srgbClr val="103991"/>
        </a:accent2>
        <a:accent3>
          <a:srgbClr val="FFFFFF"/>
        </a:accent3>
        <a:accent4>
          <a:srgbClr val="2A2A2A"/>
        </a:accent4>
        <a:accent5>
          <a:srgbClr val="FAF4E6"/>
        </a:accent5>
        <a:accent6>
          <a:srgbClr val="0D3383"/>
        </a:accent6>
        <a:hlink>
          <a:srgbClr val="0083CD"/>
        </a:hlink>
        <a:folHlink>
          <a:srgbClr val="009871"/>
        </a:folHlink>
      </a:clrScheme>
      <a:clrMap bg1="lt1" tx1="dk1" bg2="lt2" tx2="dk2" accent1="accent1" accent2="accent2" accent3="accent3" accent4="accent4" accent5="accent5" accent6="accent6" hlink="hlink" folHlink="folHlink"/>
    </a:extraClrScheme>
    <a:extraClrScheme>
      <a:clrScheme name="PPT template_internal 15">
        <a:dk1>
          <a:srgbClr val="000000"/>
        </a:dk1>
        <a:lt1>
          <a:srgbClr val="FFFFFF"/>
        </a:lt1>
        <a:dk2>
          <a:srgbClr val="000000"/>
        </a:dk2>
        <a:lt2>
          <a:srgbClr val="000000"/>
        </a:lt2>
        <a:accent1>
          <a:srgbClr val="FFFFFF"/>
        </a:accent1>
        <a:accent2>
          <a:srgbClr val="5F5F5F"/>
        </a:accent2>
        <a:accent3>
          <a:srgbClr val="FFFFFF"/>
        </a:accent3>
        <a:accent4>
          <a:srgbClr val="000000"/>
        </a:accent4>
        <a:accent5>
          <a:srgbClr val="FFFFFF"/>
        </a:accent5>
        <a:accent6>
          <a:srgbClr val="555555"/>
        </a:accent6>
        <a:hlink>
          <a:srgbClr val="0083CD"/>
        </a:hlink>
        <a:folHlink>
          <a:srgbClr val="009871"/>
        </a:folHlink>
      </a:clrScheme>
      <a:clrMap bg1="lt1" tx1="dk1" bg2="lt2" tx2="dk2" accent1="accent1" accent2="accent2" accent3="accent3" accent4="accent4" accent5="accent5" accent6="accent6" hlink="hlink" folHlink="folHlink"/>
    </a:extraClrScheme>
    <a:extraClrScheme>
      <a:clrScheme name="PPT template_internal 16">
        <a:dk1>
          <a:srgbClr val="000000"/>
        </a:dk1>
        <a:lt1>
          <a:srgbClr val="FFFFFF"/>
        </a:lt1>
        <a:dk2>
          <a:srgbClr val="000000"/>
        </a:dk2>
        <a:lt2>
          <a:srgbClr val="000000"/>
        </a:lt2>
        <a:accent1>
          <a:srgbClr val="FFFFFF"/>
        </a:accent1>
        <a:accent2>
          <a:srgbClr val="5F5F5F"/>
        </a:accent2>
        <a:accent3>
          <a:srgbClr val="FFFFFF"/>
        </a:accent3>
        <a:accent4>
          <a:srgbClr val="000000"/>
        </a:accent4>
        <a:accent5>
          <a:srgbClr val="FFFFFF"/>
        </a:accent5>
        <a:accent6>
          <a:srgbClr val="555555"/>
        </a:accent6>
        <a:hlink>
          <a:srgbClr val="B2B2B2"/>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20711</Words>
  <Application>WPS 演示</Application>
  <PresentationFormat>宽屏</PresentationFormat>
  <Paragraphs>2417</Paragraphs>
  <Slides>71</Slides>
  <Notes>14</Notes>
  <HiddenSlides>0</HiddenSlides>
  <MMClips>0</MMClips>
  <ScaleCrop>false</ScaleCrop>
  <HeadingPairs>
    <vt:vector size="6" baseType="variant">
      <vt:variant>
        <vt:lpstr>已用的字体</vt:lpstr>
      </vt:variant>
      <vt:variant>
        <vt:i4>39</vt:i4>
      </vt:variant>
      <vt:variant>
        <vt:lpstr>主题</vt:lpstr>
      </vt:variant>
      <vt:variant>
        <vt:i4>2</vt:i4>
      </vt:variant>
      <vt:variant>
        <vt:lpstr>幻灯片标题</vt:lpstr>
      </vt:variant>
      <vt:variant>
        <vt:i4>71</vt:i4>
      </vt:variant>
    </vt:vector>
  </HeadingPairs>
  <TitlesOfParts>
    <vt:vector size="112" baseType="lpstr">
      <vt:lpstr>Arial</vt:lpstr>
      <vt:lpstr>宋体</vt:lpstr>
      <vt:lpstr>Wingdings</vt:lpstr>
      <vt:lpstr>汉仪书宋二KW</vt:lpstr>
      <vt:lpstr>윤고딕130</vt:lpstr>
      <vt:lpstr>苹方-简</vt:lpstr>
      <vt:lpstr>STZhongsong</vt:lpstr>
      <vt:lpstr>윤고딕130</vt:lpstr>
      <vt:lpstr>Apple SD Gothic Neo</vt:lpstr>
      <vt:lpstr>宋体</vt:lpstr>
      <vt:lpstr>华文中宋</vt:lpstr>
      <vt:lpstr>-윤고딕130</vt:lpstr>
      <vt:lpstr>-윤고딕130</vt:lpstr>
      <vt:lpstr>微软雅黑</vt:lpstr>
      <vt:lpstr>汉仪旗黑</vt:lpstr>
      <vt:lpstr>宋体</vt:lpstr>
      <vt:lpstr>Arial Unicode MS</vt:lpstr>
      <vt:lpstr>Arial</vt:lpstr>
      <vt:lpstr>宋体</vt:lpstr>
      <vt:lpstr>DengXian</vt:lpstr>
      <vt:lpstr>KaiTi</vt:lpstr>
      <vt:lpstr>Times New Roman</vt:lpstr>
      <vt:lpstr>仿宋</vt:lpstr>
      <vt:lpstr>方正仿宋_GBK</vt:lpstr>
      <vt:lpstr>Montserrat Black</vt:lpstr>
      <vt:lpstr>Thonburi</vt:lpstr>
      <vt:lpstr>Calibri</vt:lpstr>
      <vt:lpstr>Calibri</vt:lpstr>
      <vt:lpstr>Helvetica Neue</vt:lpstr>
      <vt:lpstr>等线 Light</vt:lpstr>
      <vt:lpstr>汉仪中等线KW</vt:lpstr>
      <vt:lpstr>汉仪楷体KW</vt:lpstr>
      <vt:lpstr>等线</vt:lpstr>
      <vt:lpstr>Malgun Gothic</vt:lpstr>
      <vt:lpstr>DengXian</vt:lpstr>
      <vt:lpstr>KaiTi</vt:lpstr>
      <vt:lpstr>Montserrat Black</vt:lpstr>
      <vt:lpstr>Wingdings</vt:lpstr>
      <vt:lpstr>微软雅黑</vt:lpstr>
      <vt:lpstr>PPT template_internal</vt:lpstr>
      <vt:lpstr>自定义设计方案</vt:lpstr>
      <vt:lpstr>PowerPoint 演示文稿</vt:lpstr>
      <vt:lpstr>目录</vt:lpstr>
      <vt:lpstr>本报告调研分析部分采用SWOT分析法，对内外部研究和相关调研进行系统的分析，从中发现问题，找到关键解决办法。</vt:lpstr>
      <vt:lpstr>PowerPoint 演示文稿</vt:lpstr>
      <vt:lpstr>PowerPoint 演示文稿</vt:lpstr>
      <vt:lpstr>在科技日新月异的今天，学习技术借助移动互联和新兴科技的发展在诸多企业中获得令人惊叹的应用，中银大学在关注学习新技术的应用中，要如何贴近业务，让技术进步带来更多的业务绩效改善。</vt:lpstr>
      <vt:lpstr>基于建设“全球一流现代银行集团”的发展愿景，我行“十四五规划”的核心内容为教育培训的发展规划提供了清晰的方向指引，培训工作高质量发展推动战略落地、业务发展、能力提升的需求也更加迫切。</vt:lpstr>
      <vt:lpstr>PowerPoint 演示文稿</vt:lpstr>
      <vt:lpstr>基于对各条线的调研访谈及资料分析统计发现，整合为8个职能领域，共提炼34项专业力（含4项各条线公共专业力），其中13项重要稀缺能力需重点关注（含3项各条线公共专业力）。</vt:lpstr>
      <vt:lpstr>中银员工队伍总体目前本科以上学历占比超过3/4，国际化业务和人员占比逐年提升，国际化员工年轻化和高学历特点明显。这是业务发展的特点和优势，同时对培训工作更好的适配这一特点提出更高的要求。</vt:lpstr>
      <vt:lpstr>PowerPoint 演示文稿</vt:lpstr>
      <vt:lpstr>优势1:按照“1+9+N”的组织架构， 建立了中银大学完善的治理体系和管理制度，逐步激发了内部活力。</vt:lpstr>
      <vt:lpstr>PowerPoint 演示文稿</vt:lpstr>
      <vt:lpstr>PowerPoint 演示文稿</vt:lpstr>
      <vt:lpstr>优势4:打造了“一带一路”研修班 、“惠政学堂”、“全球金融论坛”等项目，探索了对外合作办学模式，以培训力量为业务拓展开辟新场景。</vt:lpstr>
      <vt:lpstr>发现1：在企业大学的主要角色中，由于诸多客观和现实原因，中银培训队伍现阶段实际工作角色仍然是培训事务专家。需要实现由培训事务专家向员工发展顾问、业务合作伙伴、战略落地的推动者角色转型。</vt:lpstr>
      <vt:lpstr>发现2：由于专业学院建设工作缺乏有效机制，业务牵头部门对建设专业学院的共识不深、投入不足，九大专业学院发展不同程度遇到阻力，需要在落地中加大对业务部门的支持和影响。通过调研访谈发现，具体表现在以下四个方面：</vt:lpstr>
      <vt:lpstr>发现3：在企业大学成熟度维度中，中银大学诸多方面达到国内优秀水平，但总体培训成熟度不高，在业务密联、组织有效性、内容契合等维度与标杆水平差距明显。</vt:lpstr>
      <vt:lpstr>发现3：续 </vt:lpstr>
      <vt:lpstr>发现4：员工学习发展的结果没有和能力评估、职位调整、人才盘点、继任计划、职业发展等进行有效关联，通过访谈发现，在与各模块衔接中的存在的部分问题表现如下：</vt:lpstr>
      <vt:lpstr>发现5：通过对访谈的整体分析，对标“麦肯锡组织能力九因素模型”，全行教育培训系统在“核心能力建设”、“责权”和“体制制度建设”、“协调与控制”等方面存在较为突出的问题。四个方面具体情形描述如下：</vt:lpstr>
      <vt:lpstr>PowerPoint 演示文稿</vt:lpstr>
      <vt:lpstr>从外部形势看，中银既面临机遇也面临挑战，总体上机遇大于挑战； 从内部要求看，中银既具有优势也存在不足，总体上改革调整压力较大。 综上，宜采用总体渗透型兼局部扩张型发展战略。</vt:lpstr>
      <vt:lpstr>PowerPoint 演示文稿</vt:lpstr>
      <vt:lpstr>结合总体渗透型兼局部扩张型发展战略，大力投入数字化学习，革新领导力学院，强化党校引领作用，重检九大学院工作方向和执行效果。</vt:lpstr>
      <vt:lpstr>目录</vt:lpstr>
      <vt:lpstr>“十四五”发展路径</vt:lpstr>
      <vt:lpstr>PowerPoint 演示文稿</vt:lpstr>
      <vt:lpstr>中银教育培训“十四五”规划报告内容框架</vt:lpstr>
      <vt:lpstr>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BI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Icy</dc:creator>
  <cp:lastModifiedBy>杨玉强</cp:lastModifiedBy>
  <cp:revision>4724</cp:revision>
  <cp:lastPrinted>2025-10-21T08:46:52Z</cp:lastPrinted>
  <dcterms:created xsi:type="dcterms:W3CDTF">2025-10-21T08:46:52Z</dcterms:created>
  <dcterms:modified xsi:type="dcterms:W3CDTF">2025-10-21T08:46:52Z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2052-12.1.23141.23141</vt:lpwstr>
  </property>
  <property fmtid="{D5CDD505-2E9C-101B-9397-08002B2CF9AE}" pid="3" name="ICV">
    <vt:lpwstr>88867F24D348DA767B48F76819D3BE86_43</vt:lpwstr>
  </property>
</Properties>
</file>