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</p:sldMasterIdLst>
  <p:notesMasterIdLst>
    <p:notesMasterId r:id="rId14"/>
  </p:notesMasterIdLst>
  <p:handoutMasterIdLst>
    <p:handoutMasterId r:id="rId15"/>
  </p:handoutMasterIdLst>
  <p:sldIdLst>
    <p:sldId id="7272" r:id="rId6"/>
    <p:sldId id="7392" r:id="rId7"/>
    <p:sldId id="7321" r:id="rId8"/>
    <p:sldId id="7322" r:id="rId9"/>
    <p:sldId id="7326" r:id="rId10"/>
    <p:sldId id="7325" r:id="rId11"/>
    <p:sldId id="7323" r:id="rId12"/>
    <p:sldId id="7324" r:id="rId13"/>
  </p:sldIdLst>
  <p:sldSz cx="12192000" cy="6858000"/>
  <p:notesSz cx="6858000" cy="9947275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8" userDrawn="1">
          <p15:clr>
            <a:srgbClr val="A4A3A4"/>
          </p15:clr>
        </p15:guide>
        <p15:guide id="2" pos="3833" userDrawn="1">
          <p15:clr>
            <a:srgbClr val="A4A3A4"/>
          </p15:clr>
        </p15:guide>
        <p15:guide id="3" orient="horz" pos="1143" userDrawn="1">
          <p15:clr>
            <a:srgbClr val="A4A3A4"/>
          </p15:clr>
        </p15:guide>
        <p15:guide id="4" pos="298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orient="horz" pos="41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angfei He" initials="" lastIdx="3" clrIdx="0"/>
  <p:cmAuthor id="1" name="admin" initials="a" lastIdx="1" clrIdx="1"/>
  <p:cmAuthor id="2" name="Wang, Catherine X (SH/MC)" initials="WCX(" lastIdx="1" clrIdx="1"/>
  <p:cmAuthor id="3" name="Microsoft Office User" initials="" lastIdx="1" clrIdx="3"/>
  <p:cmAuthor id="4" name="谢坤颖" initials="谢" lastIdx="1" clrIdx="3"/>
  <p:cmAuthor id="5" name="10165" initials="1" lastIdx="1" clrIdx="4"/>
  <p:cmAuthor id="6" name="未知用户25" initials="未" lastIdx="1" clrIdx="6"/>
  <p:cmAuthor id="7" name="未知用户19" initials="未" lastIdx="1" clrIdx="0"/>
  <p:cmAuthor id="8" name="未知用户28" initials="未" lastIdx="1" clrIdx="0"/>
  <p:cmAuthor id="9" name="未知用户27" initials="未" lastIdx="1" clrIdx="1"/>
  <p:cmAuthor id="10" name="Veronica XU" initials="V" lastIdx="1" clrIdx="0"/>
  <p:cmAuthor id="11" name="未知用户12" initials="未" lastIdx="1" clrIdx="6"/>
  <p:cmAuthor id="12" name="未知用户14" initials="未" lastIdx="1" clrIdx="0"/>
  <p:cmAuthor id="13" name="未知用户13" initials="未" lastIdx="1" clrIdx="0"/>
  <p:cmAuthor id="14" name="未知用户10" initials="未" lastIdx="1" clrIdx="1"/>
  <p:cmAuthor id="15" name="WPWL - LQH" initials="W-L" lastIdx="1" clrIdx="7"/>
  <p:cmAuthor id="16" name="WPWL" initials="W" lastIdx="1" clrIdx="15"/>
  <p:cmAuthor id="17" name="Administrator" initials="A" lastIdx="1" clrIdx="16"/>
  <p:cmAuthor id="214622202" name="丁丁噹" initials="丁" lastIdx="2" clrIdx="21"/>
  <p:cmAuthor id="18" name="Miya" initials="M" lastIdx="1" clrIdx="17"/>
  <p:cmAuthor id="19" name="李诗语" initials="李诗语" lastIdx="1" clrIdx="18"/>
  <p:cmAuthor id="20" name="86188" initials="8" lastIdx="1" clrIdx="19"/>
  <p:cmAuthor id="1483810881" name="WPS_1679281038" initials="W" lastIdx="1" clrIdx="2"/>
  <p:cmAuthor id="744117811" name="黄艳" initials="黄" lastIdx="4" clrIdx="2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31F5"/>
    <a:srgbClr val="002B9D"/>
    <a:srgbClr val="4BC9F7"/>
    <a:srgbClr val="4579E3"/>
    <a:srgbClr val="0C3D7F"/>
    <a:srgbClr val="A0B2C5"/>
    <a:srgbClr val="2A53B4"/>
    <a:srgbClr val="00226E"/>
    <a:srgbClr val="082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45" autoAdjust="0"/>
    <p:restoredTop sz="93604" autoAdjust="0"/>
  </p:normalViewPr>
  <p:slideViewPr>
    <p:cSldViewPr snapToGrid="0" showGuides="1">
      <p:cViewPr varScale="1">
        <p:scale>
          <a:sx n="86" d="100"/>
          <a:sy n="86" d="100"/>
        </p:scale>
        <p:origin x="30" y="39"/>
      </p:cViewPr>
      <p:guideLst>
        <p:guide orient="horz" pos="2488"/>
        <p:guide pos="3833"/>
        <p:guide orient="horz" pos="1143"/>
        <p:guide pos="298"/>
        <p:guide pos="7378"/>
        <p:guide orient="horz" pos="410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8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kjonekong/Documents/&#20848;&#21345;&#21019;&#26032;&#21672;&#35810;/&#27896;&#24030;&#32769;&#31382;/&#27979;&#35780;/&#27979;&#35780;&#20998;&#26512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/Users/kjonekong/Documents/&#20848;&#21345;&#21019;&#26032;&#21672;&#35810;/&#27896;&#24030;&#32769;&#31382;/&#33021;&#21147;&#30693;&#35782;&#20307;&#31995;/&#27979;&#35780;&#20998;&#26512;-&#22686;&#34917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Users/kjonekong/Documents/&#20848;&#21345;&#21019;&#26032;&#21672;&#35810;/&#27896;&#24030;&#32769;&#31382;/&#27979;&#35780;/&#27979;&#35780;&#20998;&#26512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/Users/kjonekong/Documents/&#20848;&#21345;&#21019;&#26032;&#21672;&#35810;/&#27896;&#24030;&#32769;&#31382;/&#27979;&#35780;/&#27979;&#35780;&#20998;&#26512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/Users/kjonekong/Documents/&#20848;&#21345;&#21019;&#26032;&#21672;&#35810;/&#27896;&#24030;&#32769;&#31382;/&#27979;&#35780;/&#27979;&#35780;&#20998;&#2651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7"/>
              <c:layout>
                <c:manualLayout>
                  <c:x val="0"/>
                  <c:y val="-0.0079327604117480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9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7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8"/>
              <c:layout>
                <c:manualLayout>
                  <c:x val="0"/>
                  <c:y val="-0.0094437623949381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9"/>
              <c:layout>
                <c:manualLayout>
                  <c:x val="-0.00184306059759844"/>
                  <c:y val="0.0110492020020776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0"/>
              <c:layout>
                <c:manualLayout>
                  <c:x val="-0.0232895839151075"/>
                  <c:y val="-0.025214845594484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1"/>
              <c:layout>
                <c:manualLayout>
                  <c:x val="0"/>
                  <c:y val="0.0062328831806591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5"/>
              <c:layout>
                <c:manualLayout>
                  <c:x val="-0.0347884261582204"/>
                  <c:y val="0.025021204410517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6"/>
              <c:layout>
                <c:manualLayout>
                  <c:x val="-0.0360149411830295"/>
                  <c:y val="0.031912637828668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7"/>
              <c:layout>
                <c:manualLayout>
                  <c:x val="-0.0232337335939682"/>
                  <c:y val="-0.025120407970535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9"/>
              <c:layout>
                <c:manualLayout>
                  <c:x val="-0.0241831890533371"/>
                  <c:y val="0.023609405987345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[测评分析.xlsx]散点图!$B$2:$B$33</c:f>
              <c:numCache>
                <c:formatCode>0.0_ </c:formatCode>
                <c:ptCount val="32"/>
                <c:pt idx="0">
                  <c:v>3.50643128690107</c:v>
                </c:pt>
                <c:pt idx="1">
                  <c:v>5.48738466060957</c:v>
                </c:pt>
                <c:pt idx="2">
                  <c:v>3.11815575458019</c:v>
                </c:pt>
                <c:pt idx="3">
                  <c:v>5.40650046629673</c:v>
                </c:pt>
                <c:pt idx="4">
                  <c:v>3.16538261378996</c:v>
                </c:pt>
                <c:pt idx="5">
                  <c:v>3.63768238613731</c:v>
                </c:pt>
                <c:pt idx="6">
                  <c:v>3.61155786889165</c:v>
                </c:pt>
                <c:pt idx="7">
                  <c:v>4.21003410988492</c:v>
                </c:pt>
                <c:pt idx="8">
                  <c:v>5.72834281714281</c:v>
                </c:pt>
                <c:pt idx="9">
                  <c:v>5.56954129486205</c:v>
                </c:pt>
                <c:pt idx="10">
                  <c:v>6.02874690445871</c:v>
                </c:pt>
                <c:pt idx="11">
                  <c:v>5.72345431066033</c:v>
                </c:pt>
                <c:pt idx="12">
                  <c:v>4.39957189798014</c:v>
                </c:pt>
                <c:pt idx="13">
                  <c:v>6.08699584589651</c:v>
                </c:pt>
                <c:pt idx="14">
                  <c:v>5.62791336070094</c:v>
                </c:pt>
                <c:pt idx="15">
                  <c:v>6.13684092625189</c:v>
                </c:pt>
                <c:pt idx="16">
                  <c:v>3.75439861486601</c:v>
                </c:pt>
                <c:pt idx="17">
                  <c:v>7.14357004189809</c:v>
                </c:pt>
                <c:pt idx="18">
                  <c:v>6.51154428748142</c:v>
                </c:pt>
                <c:pt idx="19">
                  <c:v>6.37261075336651</c:v>
                </c:pt>
                <c:pt idx="20">
                  <c:v>8.66164708847429</c:v>
                </c:pt>
                <c:pt idx="21">
                  <c:v>4.47012344489575</c:v>
                </c:pt>
                <c:pt idx="22">
                  <c:v>3.45778517878036</c:v>
                </c:pt>
                <c:pt idx="23">
                  <c:v>5.60990725343754</c:v>
                </c:pt>
                <c:pt idx="24">
                  <c:v>3.58152769049181</c:v>
                </c:pt>
                <c:pt idx="25">
                  <c:v>5.08685470957101</c:v>
                </c:pt>
                <c:pt idx="26">
                  <c:v>4.98720784658656</c:v>
                </c:pt>
                <c:pt idx="27">
                  <c:v>4.91832129933397</c:v>
                </c:pt>
                <c:pt idx="28">
                  <c:v>4.07280014604878</c:v>
                </c:pt>
                <c:pt idx="29">
                  <c:v>4.49411342354884</c:v>
                </c:pt>
                <c:pt idx="30">
                  <c:v>4.67281368405359</c:v>
                </c:pt>
                <c:pt idx="31">
                  <c:v>3.56953756558487</c:v>
                </c:pt>
              </c:numCache>
            </c:numRef>
          </c:xVal>
          <c:yVal>
            <c:numRef>
              <c:f>[测评分析.xlsx]散点图!$C$2:$C$33</c:f>
              <c:numCache>
                <c:formatCode>0.0_ </c:formatCode>
                <c:ptCount val="32"/>
                <c:pt idx="0">
                  <c:v>4.6302741007167</c:v>
                </c:pt>
                <c:pt idx="1">
                  <c:v>3.41581885897455</c:v>
                </c:pt>
                <c:pt idx="2">
                  <c:v>6.93374327058634</c:v>
                </c:pt>
                <c:pt idx="3">
                  <c:v>7.61892066274163</c:v>
                </c:pt>
                <c:pt idx="4">
                  <c:v>4.51871971429791</c:v>
                </c:pt>
                <c:pt idx="5">
                  <c:v>3.58238963906788</c:v>
                </c:pt>
                <c:pt idx="6">
                  <c:v>4.40330545795956</c:v>
                </c:pt>
                <c:pt idx="7">
                  <c:v>6.27074663326017</c:v>
                </c:pt>
                <c:pt idx="8">
                  <c:v>5.33877616909806</c:v>
                </c:pt>
                <c:pt idx="9">
                  <c:v>4.66365825890693</c:v>
                </c:pt>
                <c:pt idx="10">
                  <c:v>3.93891561793052</c:v>
                </c:pt>
                <c:pt idx="11">
                  <c:v>6.46342122560972</c:v>
                </c:pt>
                <c:pt idx="12">
                  <c:v>6.75813392558067</c:v>
                </c:pt>
                <c:pt idx="13">
                  <c:v>3.36469788452006</c:v>
                </c:pt>
                <c:pt idx="14">
                  <c:v>4.22328213123176</c:v>
                </c:pt>
                <c:pt idx="15">
                  <c:v>3.09191750946274</c:v>
                </c:pt>
                <c:pt idx="16">
                  <c:v>5.27250492477792</c:v>
                </c:pt>
                <c:pt idx="17">
                  <c:v>5.08687916162062</c:v>
                </c:pt>
                <c:pt idx="18">
                  <c:v>4.25169412164551</c:v>
                </c:pt>
                <c:pt idx="19">
                  <c:v>4.15458290507771</c:v>
                </c:pt>
                <c:pt idx="20">
                  <c:v>5.69484619787003</c:v>
                </c:pt>
                <c:pt idx="21">
                  <c:v>6.14626386277961</c:v>
                </c:pt>
                <c:pt idx="22">
                  <c:v>6.53089732713529</c:v>
                </c:pt>
                <c:pt idx="23">
                  <c:v>3.76020090373862</c:v>
                </c:pt>
                <c:pt idx="24">
                  <c:v>6.00973806566405</c:v>
                </c:pt>
                <c:pt idx="25">
                  <c:v>4.24988766493561</c:v>
                </c:pt>
                <c:pt idx="26">
                  <c:v>3.84955269794374</c:v>
                </c:pt>
                <c:pt idx="27">
                  <c:v>4.32911768573499</c:v>
                </c:pt>
                <c:pt idx="28">
                  <c:v>3.97358624104012</c:v>
                </c:pt>
                <c:pt idx="29">
                  <c:v>4.29707340725254</c:v>
                </c:pt>
                <c:pt idx="30">
                  <c:v>4.99075343368887</c:v>
                </c:pt>
                <c:pt idx="31">
                  <c:v>4.26851422520979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散点图!$A$2:$A$33</c15:f>
                <c15:dlblRangeCache>
                  <c:ptCount val="32"/>
                  <c:pt idx="0">
                    <c:v>RP1 影响性</c:v>
                  </c:pt>
                  <c:pt idx="1">
                    <c:v>RP2 控制性</c:v>
                  </c:pt>
                  <c:pt idx="2">
                    <c:v>RP3 坦率性</c:v>
                  </c:pt>
                  <c:pt idx="3">
                    <c:v>RP4 独立性</c:v>
                  </c:pt>
                  <c:pt idx="4">
                    <c:v>RP5 外向性</c:v>
                  </c:pt>
                  <c:pt idx="5">
                    <c:v>RP6 合群性</c:v>
                  </c:pt>
                  <c:pt idx="6">
                    <c:v>RP7 自信性</c:v>
                  </c:pt>
                  <c:pt idx="7">
                    <c:v>RP8 谦虚性</c:v>
                  </c:pt>
                  <c:pt idx="8">
                    <c:v>RP9 民主性</c:v>
                  </c:pt>
                  <c:pt idx="9">
                    <c:v>RP10 关怀性</c:v>
                  </c:pt>
                  <c:pt idx="10">
                    <c:v>TS1 逻辑性</c:v>
                  </c:pt>
                  <c:pt idx="11">
                    <c:v>TS2 批判性</c:v>
                  </c:pt>
                  <c:pt idx="12">
                    <c:v>TS3 分析性</c:v>
                  </c:pt>
                  <c:pt idx="13">
                    <c:v>TS4 传统性（-）</c:v>
                  </c:pt>
                  <c:pt idx="14">
                    <c:v>TS5 抽象性</c:v>
                  </c:pt>
                  <c:pt idx="15">
                    <c:v>TS6 创新性</c:v>
                  </c:pt>
                  <c:pt idx="16">
                    <c:v>TS7 追求多样性</c:v>
                  </c:pt>
                  <c:pt idx="17">
                    <c:v>TS8 适应性</c:v>
                  </c:pt>
                  <c:pt idx="18">
                    <c:v>TS9 前瞻性</c:v>
                  </c:pt>
                  <c:pt idx="19">
                    <c:v>TS10 细节敏感</c:v>
                  </c:pt>
                  <c:pt idx="20">
                    <c:v>TS11 责任性</c:v>
                  </c:pt>
                  <c:pt idx="21">
                    <c:v>TS12 遵从性</c:v>
                  </c:pt>
                  <c:pt idx="22">
                    <c:v>FE1 轻松性</c:v>
                  </c:pt>
                  <c:pt idx="23">
                    <c:v>FE2 忧虑性（-）</c:v>
                  </c:pt>
                  <c:pt idx="24">
                    <c:v>FE3 坚韧性</c:v>
                  </c:pt>
                  <c:pt idx="25">
                    <c:v>FE4 乐观性</c:v>
                  </c:pt>
                  <c:pt idx="26">
                    <c:v>FE5 信任性</c:v>
                  </c:pt>
                  <c:pt idx="27">
                    <c:v>FE6 自控性</c:v>
                  </c:pt>
                  <c:pt idx="28">
                    <c:v>FE7 精力性</c:v>
                  </c:pt>
                  <c:pt idx="29">
                    <c:v>FE8 竞争性</c:v>
                  </c:pt>
                  <c:pt idx="30">
                    <c:v>FE9 成就性</c:v>
                  </c:pt>
                  <c:pt idx="31">
                    <c:v>FE10 果断性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2345156"/>
        <c:axId val="49179715"/>
      </c:scatterChart>
      <c:valAx>
        <c:axId val="602345156"/>
        <c:scaling>
          <c:orientation val="minMax"/>
          <c:max val="9"/>
          <c:min val="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79715"/>
        <c:crosses val="autoZero"/>
        <c:crossBetween val="midCat"/>
      </c:valAx>
      <c:valAx>
        <c:axId val="49179715"/>
        <c:scaling>
          <c:orientation val="minMax"/>
          <c:max val="8"/>
          <c:min val="2.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34515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a88dfc0-3b2a-4c82-82b5-bc35f89a8cd2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7"/>
              <c:layout>
                <c:manualLayout>
                  <c:x val="0"/>
                  <c:y val="-0.0079327604117480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9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7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8"/>
              <c:layout>
                <c:manualLayout>
                  <c:x val="0"/>
                  <c:y val="-0.0094437623949381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9"/>
              <c:layout>
                <c:manualLayout>
                  <c:x val="-0.00184306059759844"/>
                  <c:y val="0.0110492020020776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0"/>
              <c:layout>
                <c:manualLayout>
                  <c:x val="-0.0232895839151075"/>
                  <c:y val="-0.025214845594484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1"/>
              <c:layout>
                <c:manualLayout>
                  <c:x val="0"/>
                  <c:y val="0.0062328831806591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7"/>
              <c:layout>
                <c:manualLayout>
                  <c:x val="-0.0232337335939682"/>
                  <c:y val="-0.025120407970535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9"/>
              <c:layout>
                <c:manualLayout>
                  <c:x val="-0.0241831890533371"/>
                  <c:y val="0.023609405987345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'[测评分析-增补.xlsx]散点图'!$B$3:$B$34</c:f>
              <c:numCache>
                <c:formatCode>0.0_ </c:formatCode>
                <c:ptCount val="32"/>
                <c:pt idx="0">
                  <c:v>3.409922063047</c:v>
                </c:pt>
                <c:pt idx="1">
                  <c:v>5.32593315239165</c:v>
                </c:pt>
                <c:pt idx="2">
                  <c:v>3.38487270254462</c:v>
                </c:pt>
                <c:pt idx="3">
                  <c:v>5.60683265115032</c:v>
                </c:pt>
                <c:pt idx="4">
                  <c:v>3.22657906173029</c:v>
                </c:pt>
                <c:pt idx="5">
                  <c:v>3.37480087498036</c:v>
                </c:pt>
                <c:pt idx="6">
                  <c:v>3.43852179717498</c:v>
                </c:pt>
                <c:pt idx="7">
                  <c:v>4.17717293811787</c:v>
                </c:pt>
                <c:pt idx="8">
                  <c:v>5.35378374131644</c:v>
                </c:pt>
                <c:pt idx="9">
                  <c:v>5.38151650499488</c:v>
                </c:pt>
                <c:pt idx="10">
                  <c:v>5.90817935538483</c:v>
                </c:pt>
                <c:pt idx="11">
                  <c:v>5.70097294155075</c:v>
                </c:pt>
                <c:pt idx="12">
                  <c:v>4.49861668395156</c:v>
                </c:pt>
                <c:pt idx="13">
                  <c:v>6.26889483320762</c:v>
                </c:pt>
                <c:pt idx="14">
                  <c:v>5.40920077553858</c:v>
                </c:pt>
                <c:pt idx="15">
                  <c:v>6.00015087357478</c:v>
                </c:pt>
                <c:pt idx="16">
                  <c:v>3.95004591546911</c:v>
                </c:pt>
                <c:pt idx="17">
                  <c:v>7.31229411687483</c:v>
                </c:pt>
                <c:pt idx="18">
                  <c:v>6.62695594279972</c:v>
                </c:pt>
                <c:pt idx="19">
                  <c:v>6.50792396136112</c:v>
                </c:pt>
                <c:pt idx="20">
                  <c:v>8.82715431243363</c:v>
                </c:pt>
                <c:pt idx="21">
                  <c:v>4.48474145642704</c:v>
                </c:pt>
                <c:pt idx="22">
                  <c:v>3.39524106372222</c:v>
                </c:pt>
                <c:pt idx="23">
                  <c:v>5.32259592181273</c:v>
                </c:pt>
                <c:pt idx="24">
                  <c:v>3.47823499906902</c:v>
                </c:pt>
                <c:pt idx="25">
                  <c:v>4.77508680995427</c:v>
                </c:pt>
                <c:pt idx="26">
                  <c:v>4.65423361122079</c:v>
                </c:pt>
                <c:pt idx="27">
                  <c:v>4.85269836999138</c:v>
                </c:pt>
                <c:pt idx="28">
                  <c:v>4.60018015691529</c:v>
                </c:pt>
                <c:pt idx="29">
                  <c:v>4.66444154020063</c:v>
                </c:pt>
                <c:pt idx="30">
                  <c:v>5.05467868611183</c:v>
                </c:pt>
                <c:pt idx="31">
                  <c:v>3.42071309600175</c:v>
                </c:pt>
              </c:numCache>
            </c:numRef>
          </c:xVal>
          <c:yVal>
            <c:numRef>
              <c:f>'[测评分析-增补.xlsx]散点图'!$C$3:$C$34</c:f>
              <c:numCache>
                <c:formatCode>0.0_ </c:formatCode>
                <c:ptCount val="32"/>
                <c:pt idx="0">
                  <c:v>4.64611060885583</c:v>
                </c:pt>
                <c:pt idx="1">
                  <c:v>3.52060699821824</c:v>
                </c:pt>
                <c:pt idx="2">
                  <c:v>5.88717107491164</c:v>
                </c:pt>
                <c:pt idx="3">
                  <c:v>7.15629924995699</c:v>
                </c:pt>
                <c:pt idx="4">
                  <c:v>4.60184262661046</c:v>
                </c:pt>
                <c:pt idx="5">
                  <c:v>3.61658429789183</c:v>
                </c:pt>
                <c:pt idx="6">
                  <c:v>4.50875781329913</c:v>
                </c:pt>
                <c:pt idx="7">
                  <c:v>6.54915931486283</c:v>
                </c:pt>
                <c:pt idx="8">
                  <c:v>4.80634027229039</c:v>
                </c:pt>
                <c:pt idx="9">
                  <c:v>4.72912210055116</c:v>
                </c:pt>
                <c:pt idx="10">
                  <c:v>3.81282156973672</c:v>
                </c:pt>
                <c:pt idx="11">
                  <c:v>6.58798159891588</c:v>
                </c:pt>
                <c:pt idx="12">
                  <c:v>7.02500976541571</c:v>
                </c:pt>
                <c:pt idx="13">
                  <c:v>3.43478502031035</c:v>
                </c:pt>
                <c:pt idx="14">
                  <c:v>4.29782566231724</c:v>
                </c:pt>
                <c:pt idx="15">
                  <c:v>3.20292637119742</c:v>
                </c:pt>
                <c:pt idx="16">
                  <c:v>5.0250441581862</c:v>
                </c:pt>
                <c:pt idx="17">
                  <c:v>5.02702983175996</c:v>
                </c:pt>
                <c:pt idx="18">
                  <c:v>4.40592709271794</c:v>
                </c:pt>
                <c:pt idx="19">
                  <c:v>4.2974037228743</c:v>
                </c:pt>
                <c:pt idx="20">
                  <c:v>5.87000484050421</c:v>
                </c:pt>
                <c:pt idx="21">
                  <c:v>6.43215862604511</c:v>
                </c:pt>
                <c:pt idx="22">
                  <c:v>6.82024508992375</c:v>
                </c:pt>
                <c:pt idx="23">
                  <c:v>3.59761974555634</c:v>
                </c:pt>
                <c:pt idx="24">
                  <c:v>6.05564778993177</c:v>
                </c:pt>
                <c:pt idx="25">
                  <c:v>4.14284701453164</c:v>
                </c:pt>
                <c:pt idx="26">
                  <c:v>3.80939700840756</c:v>
                </c:pt>
                <c:pt idx="27">
                  <c:v>4.53056630512236</c:v>
                </c:pt>
                <c:pt idx="28">
                  <c:v>3.51040067639604</c:v>
                </c:pt>
                <c:pt idx="29">
                  <c:v>4.43957456217317</c:v>
                </c:pt>
                <c:pt idx="30">
                  <c:v>4.37367039556592</c:v>
                </c:pt>
                <c:pt idx="31">
                  <c:v>4.33656469629341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散点图!$A$3:$A$34</c15:f>
                <c15:dlblRangeCache>
                  <c:ptCount val="32"/>
                  <c:pt idx="0">
                    <c:v>RP1 影响性</c:v>
                  </c:pt>
                  <c:pt idx="1">
                    <c:v>RP2 控制性</c:v>
                  </c:pt>
                  <c:pt idx="2">
                    <c:v>RP3 坦率性</c:v>
                  </c:pt>
                  <c:pt idx="3">
                    <c:v>RP4 独立性</c:v>
                  </c:pt>
                  <c:pt idx="4">
                    <c:v>RP5 外向性</c:v>
                  </c:pt>
                  <c:pt idx="5">
                    <c:v>RP6 合群性</c:v>
                  </c:pt>
                  <c:pt idx="6">
                    <c:v>RP7 自信性</c:v>
                  </c:pt>
                  <c:pt idx="7">
                    <c:v>RP8 谦虚性</c:v>
                  </c:pt>
                  <c:pt idx="8">
                    <c:v>RP9 民主性</c:v>
                  </c:pt>
                  <c:pt idx="9">
                    <c:v>RP10 关怀性</c:v>
                  </c:pt>
                  <c:pt idx="10">
                    <c:v>TS1 逻辑性</c:v>
                  </c:pt>
                  <c:pt idx="11">
                    <c:v>TS2 批判性</c:v>
                  </c:pt>
                  <c:pt idx="12">
                    <c:v>TS3 分析性</c:v>
                  </c:pt>
                  <c:pt idx="13">
                    <c:v>TS4 传统性（-）</c:v>
                  </c:pt>
                  <c:pt idx="14">
                    <c:v>TS5 抽象性</c:v>
                  </c:pt>
                  <c:pt idx="15">
                    <c:v>TS6 创新性</c:v>
                  </c:pt>
                  <c:pt idx="16">
                    <c:v>TS7 追求多样性</c:v>
                  </c:pt>
                  <c:pt idx="17">
                    <c:v>TS8 适应性</c:v>
                  </c:pt>
                  <c:pt idx="18">
                    <c:v>TS9 前瞻性</c:v>
                  </c:pt>
                  <c:pt idx="19">
                    <c:v>TS10 细节敏感</c:v>
                  </c:pt>
                  <c:pt idx="20">
                    <c:v>TS11 责任性</c:v>
                  </c:pt>
                  <c:pt idx="21">
                    <c:v>TS12 遵从性</c:v>
                  </c:pt>
                  <c:pt idx="22">
                    <c:v>FE1 轻松性</c:v>
                  </c:pt>
                  <c:pt idx="23">
                    <c:v>FE2 忧虑性（-）</c:v>
                  </c:pt>
                  <c:pt idx="24">
                    <c:v>FE3 坚韧性</c:v>
                  </c:pt>
                  <c:pt idx="25">
                    <c:v>FE4 乐观性</c:v>
                  </c:pt>
                  <c:pt idx="26">
                    <c:v>FE5 信任性</c:v>
                  </c:pt>
                  <c:pt idx="27">
                    <c:v>FE6 自控性</c:v>
                  </c:pt>
                  <c:pt idx="28">
                    <c:v>FE7 精力性</c:v>
                  </c:pt>
                  <c:pt idx="29">
                    <c:v>FE8 竞争性</c:v>
                  </c:pt>
                  <c:pt idx="30">
                    <c:v>FE9 成就性</c:v>
                  </c:pt>
                  <c:pt idx="31">
                    <c:v>FE10 果断性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2345156"/>
        <c:axId val="49179715"/>
      </c:scatterChart>
      <c:valAx>
        <c:axId val="602345156"/>
        <c:scaling>
          <c:orientation val="minMax"/>
          <c:max val="9"/>
          <c:min val="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79715"/>
        <c:crosses val="autoZero"/>
        <c:crossBetween val="midCat"/>
      </c:valAx>
      <c:valAx>
        <c:axId val="49179715"/>
        <c:scaling>
          <c:orientation val="minMax"/>
          <c:max val="8"/>
          <c:min val="2.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34515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b3fecc9-02f2-4018-93c8-adaa249106e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7"/>
              <c:layout>
                <c:manualLayout>
                  <c:x val="0"/>
                  <c:y val="-0.0079327604117480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9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2"/>
              <c:layout>
                <c:manualLayout>
                  <c:x val="-0.0260355689357195"/>
                  <c:y val="0.027724256047955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3"/>
              <c:layout>
                <c:manualLayout>
                  <c:x val="-0.0225790265930758"/>
                  <c:y val="0.02868764718475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5"/>
              <c:layout>
                <c:manualLayout>
                  <c:x val="-0.00167252048837598"/>
                  <c:y val="0.0064226075786769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7"/>
              <c:layout>
                <c:manualLayout>
                  <c:x val="-0.026648826448124"/>
                  <c:y val="-0.023442517662170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8"/>
              <c:layout>
                <c:manualLayout>
                  <c:x val="0"/>
                  <c:y val="0.0075761476885557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9"/>
              <c:layout>
                <c:manualLayout>
                  <c:x val="-0.00184306059759844"/>
                  <c:y val="0.0110492020020776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0"/>
              <c:layout>
                <c:manualLayout>
                  <c:x val="-0.0232895839151075"/>
                  <c:y val="-0.025214845594484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1"/>
              <c:layout>
                <c:manualLayout>
                  <c:x val="-0.000947761610079723"/>
                  <c:y val="0.0192921852573023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3"/>
              <c:layout>
                <c:manualLayout>
                  <c:x val="0.000557506829458661"/>
                  <c:y val="-0.01059730250481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5"/>
              <c:layout>
                <c:manualLayout>
                  <c:x val="-0.0429837765512628"/>
                  <c:y val="0.026332691072575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7"/>
              <c:layout>
                <c:manualLayout>
                  <c:x val="-0.0232337335939682"/>
                  <c:y val="-0.025120407970535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8"/>
              <c:layout>
                <c:manualLayout>
                  <c:x val="-0.0619390087528572"/>
                  <c:y val="0.025797473774352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9"/>
              <c:layout>
                <c:manualLayout>
                  <c:x val="-0.00366693772925838"/>
                  <c:y val="0.001237322921620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'[测评分析.xlsx]散点图 (交付)'!$B$2:$B$33</c:f>
              <c:numCache>
                <c:formatCode>0.0_ </c:formatCode>
                <c:ptCount val="32"/>
                <c:pt idx="0">
                  <c:v>3.03734155093463</c:v>
                </c:pt>
                <c:pt idx="1">
                  <c:v>5.35766468526925</c:v>
                </c:pt>
                <c:pt idx="2">
                  <c:v>2.72554345541878</c:v>
                </c:pt>
                <c:pt idx="3">
                  <c:v>5.57857602589275</c:v>
                </c:pt>
                <c:pt idx="4">
                  <c:v>2.18940338703593</c:v>
                </c:pt>
                <c:pt idx="5">
                  <c:v>2.9352581207828</c:v>
                </c:pt>
                <c:pt idx="6">
                  <c:v>3.10341496237706</c:v>
                </c:pt>
                <c:pt idx="7">
                  <c:v>4.15337523250539</c:v>
                </c:pt>
                <c:pt idx="8">
                  <c:v>4.86807840771172</c:v>
                </c:pt>
                <c:pt idx="9">
                  <c:v>5.1442187634979</c:v>
                </c:pt>
                <c:pt idx="10">
                  <c:v>7.71761284591624</c:v>
                </c:pt>
                <c:pt idx="11">
                  <c:v>6.68137717494179</c:v>
                </c:pt>
                <c:pt idx="12">
                  <c:v>5.15542462853766</c:v>
                </c:pt>
                <c:pt idx="13">
                  <c:v>5.59606234490039</c:v>
                </c:pt>
                <c:pt idx="14">
                  <c:v>4.86314144254733</c:v>
                </c:pt>
                <c:pt idx="15">
                  <c:v>6.27649507078308</c:v>
                </c:pt>
                <c:pt idx="16">
                  <c:v>3.21402829265078</c:v>
                </c:pt>
                <c:pt idx="17">
                  <c:v>6.86910001661493</c:v>
                </c:pt>
                <c:pt idx="18">
                  <c:v>6.93676166166121</c:v>
                </c:pt>
                <c:pt idx="19">
                  <c:v>6.81081745530905</c:v>
                </c:pt>
                <c:pt idx="20">
                  <c:v>9.58308480143703</c:v>
                </c:pt>
                <c:pt idx="21">
                  <c:v>4.62755891301287</c:v>
                </c:pt>
                <c:pt idx="22">
                  <c:v>3.23576790895285</c:v>
                </c:pt>
                <c:pt idx="23">
                  <c:v>6.17245692277767</c:v>
                </c:pt>
                <c:pt idx="24">
                  <c:v>3.91193234155642</c:v>
                </c:pt>
                <c:pt idx="25">
                  <c:v>4.35446689997718</c:v>
                </c:pt>
                <c:pt idx="26">
                  <c:v>3.86627331609044</c:v>
                </c:pt>
                <c:pt idx="27">
                  <c:v>4.0192402850947</c:v>
                </c:pt>
                <c:pt idx="28">
                  <c:v>5.35462309290802</c:v>
                </c:pt>
                <c:pt idx="29">
                  <c:v>5.41188652842422</c:v>
                </c:pt>
                <c:pt idx="30">
                  <c:v>5.03527120313922</c:v>
                </c:pt>
                <c:pt idx="31">
                  <c:v>3.73659513129495</c:v>
                </c:pt>
              </c:numCache>
            </c:numRef>
          </c:xVal>
          <c:yVal>
            <c:numRef>
              <c:f>'[测评分析.xlsx]散点图 (交付)'!$C$2:$C$33</c:f>
              <c:numCache>
                <c:formatCode>0.0_ </c:formatCode>
                <c:ptCount val="32"/>
                <c:pt idx="0">
                  <c:v>5.63325371161965</c:v>
                </c:pt>
                <c:pt idx="1">
                  <c:v>4.56982711936533</c:v>
                </c:pt>
                <c:pt idx="2">
                  <c:v>8.37247054664523</c:v>
                </c:pt>
                <c:pt idx="3">
                  <c:v>6.95334707440765</c:v>
                </c:pt>
                <c:pt idx="4">
                  <c:v>9.39888085367957</c:v>
                </c:pt>
                <c:pt idx="5">
                  <c:v>4.01922451534939</c:v>
                </c:pt>
                <c:pt idx="6">
                  <c:v>6.31647467619615</c:v>
                </c:pt>
                <c:pt idx="7">
                  <c:v>5.05277619012215</c:v>
                </c:pt>
                <c:pt idx="8">
                  <c:v>5.89186807009786</c:v>
                </c:pt>
                <c:pt idx="9">
                  <c:v>6.24472121490441</c:v>
                </c:pt>
                <c:pt idx="10">
                  <c:v>5.24796182015871</c:v>
                </c:pt>
                <c:pt idx="11">
                  <c:v>5.87021750355296</c:v>
                </c:pt>
                <c:pt idx="12">
                  <c:v>6.92342310193201</c:v>
                </c:pt>
                <c:pt idx="13">
                  <c:v>3.39414068880655</c:v>
                </c:pt>
                <c:pt idx="14">
                  <c:v>4.15332471894572</c:v>
                </c:pt>
                <c:pt idx="15">
                  <c:v>3.1967453473844</c:v>
                </c:pt>
                <c:pt idx="16">
                  <c:v>5.09768764065481</c:v>
                </c:pt>
                <c:pt idx="17">
                  <c:v>4.79869327920122</c:v>
                </c:pt>
                <c:pt idx="18">
                  <c:v>4.68455985054366</c:v>
                </c:pt>
                <c:pt idx="19">
                  <c:v>6.50810255511995</c:v>
                </c:pt>
                <c:pt idx="20">
                  <c:v>10</c:v>
                </c:pt>
                <c:pt idx="21">
                  <c:v>9.94617811275268</c:v>
                </c:pt>
                <c:pt idx="22">
                  <c:v>7.17007219580578</c:v>
                </c:pt>
                <c:pt idx="23">
                  <c:v>3.39463116674503</c:v>
                </c:pt>
                <c:pt idx="24">
                  <c:v>6.34223110890319</c:v>
                </c:pt>
                <c:pt idx="25">
                  <c:v>10</c:v>
                </c:pt>
                <c:pt idx="26">
                  <c:v>5.48141618970492</c:v>
                </c:pt>
                <c:pt idx="27">
                  <c:v>7.51065983295908</c:v>
                </c:pt>
                <c:pt idx="28">
                  <c:v>3.37897117309692</c:v>
                </c:pt>
                <c:pt idx="29">
                  <c:v>3.69516328611362</c:v>
                </c:pt>
                <c:pt idx="30">
                  <c:v>5.61309985304794</c:v>
                </c:pt>
                <c:pt idx="31">
                  <c:v>3.54497664118817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散点图!$A$2:$A$33</c15:f>
                <c15:dlblRangeCache>
                  <c:ptCount val="32"/>
                  <c:pt idx="0">
                    <c:v>RP1 影响性</c:v>
                  </c:pt>
                  <c:pt idx="1">
                    <c:v>RP2 控制性</c:v>
                  </c:pt>
                  <c:pt idx="2">
                    <c:v>RP3 坦率性</c:v>
                  </c:pt>
                  <c:pt idx="3">
                    <c:v>RP4 独立性</c:v>
                  </c:pt>
                  <c:pt idx="4">
                    <c:v>RP5 外向性</c:v>
                  </c:pt>
                  <c:pt idx="5">
                    <c:v>RP6 合群性</c:v>
                  </c:pt>
                  <c:pt idx="6">
                    <c:v>RP7 自信性</c:v>
                  </c:pt>
                  <c:pt idx="7">
                    <c:v>RP8 谦虚性</c:v>
                  </c:pt>
                  <c:pt idx="8">
                    <c:v>RP9 民主性</c:v>
                  </c:pt>
                  <c:pt idx="9">
                    <c:v>RP10 关怀性</c:v>
                  </c:pt>
                  <c:pt idx="10">
                    <c:v>TS1 逻辑性</c:v>
                  </c:pt>
                  <c:pt idx="11">
                    <c:v>TS2 批判性</c:v>
                  </c:pt>
                  <c:pt idx="12">
                    <c:v>TS3 分析性</c:v>
                  </c:pt>
                  <c:pt idx="13">
                    <c:v>TS4 传统性（-）</c:v>
                  </c:pt>
                  <c:pt idx="14">
                    <c:v>TS5 抽象性</c:v>
                  </c:pt>
                  <c:pt idx="15">
                    <c:v>TS6 创新性</c:v>
                  </c:pt>
                  <c:pt idx="16">
                    <c:v>TS7 追求多样性</c:v>
                  </c:pt>
                  <c:pt idx="17">
                    <c:v>TS8 适应性</c:v>
                  </c:pt>
                  <c:pt idx="18">
                    <c:v>TS9 前瞻性</c:v>
                  </c:pt>
                  <c:pt idx="19">
                    <c:v>TS10 细节敏感</c:v>
                  </c:pt>
                  <c:pt idx="20">
                    <c:v>TS11 责任性</c:v>
                  </c:pt>
                  <c:pt idx="21">
                    <c:v>TS12 遵从性</c:v>
                  </c:pt>
                  <c:pt idx="22">
                    <c:v>FE1 轻松性</c:v>
                  </c:pt>
                  <c:pt idx="23">
                    <c:v>FE2 忧虑性（-）</c:v>
                  </c:pt>
                  <c:pt idx="24">
                    <c:v>FE3 坚韧性</c:v>
                  </c:pt>
                  <c:pt idx="25">
                    <c:v>FE4 乐观性</c:v>
                  </c:pt>
                  <c:pt idx="26">
                    <c:v>FE5 信任性</c:v>
                  </c:pt>
                  <c:pt idx="27">
                    <c:v>FE6 自控性</c:v>
                  </c:pt>
                  <c:pt idx="28">
                    <c:v>FE7 精力性</c:v>
                  </c:pt>
                  <c:pt idx="29">
                    <c:v>FE8 竞争性</c:v>
                  </c:pt>
                  <c:pt idx="30">
                    <c:v>FE9 成就性</c:v>
                  </c:pt>
                  <c:pt idx="31">
                    <c:v>FE10 果断性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2345156"/>
        <c:axId val="49179715"/>
      </c:scatterChart>
      <c:valAx>
        <c:axId val="602345156"/>
        <c:scaling>
          <c:orientation val="minMax"/>
          <c:max val="10"/>
          <c:min val="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79715"/>
        <c:crosses val="autoZero"/>
        <c:crossBetween val="midCat"/>
      </c:valAx>
      <c:valAx>
        <c:axId val="49179715"/>
        <c:scaling>
          <c:orientation val="minMax"/>
          <c:max val="10"/>
          <c:min val="2.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34515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02f7d-0942-4429-b4a9-4e40d59733ea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>
                <c:manualLayout>
                  <c:x val="-0.0321123933768189"/>
                  <c:y val="-0.025922765094943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"/>
              <c:layout>
                <c:manualLayout>
                  <c:x val="-0.00791659697831298"/>
                  <c:y val="-0.0263494772775763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>
                <c:manualLayout>
                  <c:x val="-0.00133801639070079"/>
                  <c:y val="0.0113078728397696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7"/>
              <c:layout>
                <c:manualLayout>
                  <c:x val="0"/>
                  <c:y val="-0.0079327604117480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9"/>
              <c:layout>
                <c:manualLayout>
                  <c:x val="-0.00228577800078051"/>
                  <c:y val="-0.0057606144655429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2"/>
              <c:layout>
                <c:manualLayout>
                  <c:x val="0"/>
                  <c:y val="0.0163217409857051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5"/>
              <c:layout>
                <c:manualLayout>
                  <c:x val="-0.0371299548419468"/>
                  <c:y val="0.026136121186259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7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8"/>
              <c:layout>
                <c:manualLayout>
                  <c:x val="0"/>
                  <c:y val="-0.0094437623949381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9"/>
              <c:layout>
                <c:manualLayout>
                  <c:x val="-0.00256781947589469"/>
                  <c:y val="0.00091478766454821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0"/>
              <c:layout>
                <c:manualLayout>
                  <c:x val="-0.0232895839151075"/>
                  <c:y val="-0.025214845594484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1"/>
              <c:layout>
                <c:manualLayout>
                  <c:x val="0"/>
                  <c:y val="0.0062328831806591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3"/>
              <c:layout>
                <c:manualLayout>
                  <c:x val="-0.0174499637620561"/>
                  <c:y val="-0.031896735651802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4"/>
              <c:layout>
                <c:manualLayout>
                  <c:x val="-0.00267603278140157"/>
                  <c:y val="0.00373373159803712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5"/>
              <c:layout>
                <c:manualLayout>
                  <c:x val="-0.024976305959748"/>
                  <c:y val="-0.023255813953488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6"/>
              <c:layout>
                <c:manualLayout>
                  <c:x val="-0.00908736132017617"/>
                  <c:y val="0.02464262854704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7"/>
              <c:layout>
                <c:manualLayout>
                  <c:x val="-0.00656427939315426"/>
                  <c:y val="0.0024025278092810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9"/>
              <c:layout>
                <c:manualLayout>
                  <c:x val="-0.0241831890533371"/>
                  <c:y val="0.023609405987345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1"/>
              <c:layout>
                <c:manualLayout>
                  <c:x val="-0.0118191447845236"/>
                  <c:y val="-0.021335609131640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'[测评分析.xlsx]散点图 (业务)  '!$B$2:$B$33</c:f>
              <c:numCache>
                <c:formatCode>0.0_ </c:formatCode>
                <c:ptCount val="32"/>
                <c:pt idx="0">
                  <c:v>2.92065160825466</c:v>
                </c:pt>
                <c:pt idx="1">
                  <c:v>5.19619314341564</c:v>
                </c:pt>
                <c:pt idx="2">
                  <c:v>3.4558927378737</c:v>
                </c:pt>
                <c:pt idx="3">
                  <c:v>5.62674555632353</c:v>
                </c:pt>
                <c:pt idx="4">
                  <c:v>3.23506177665661</c:v>
                </c:pt>
                <c:pt idx="5">
                  <c:v>4.29324141087826</c:v>
                </c:pt>
                <c:pt idx="6">
                  <c:v>3.89698465795656</c:v>
                </c:pt>
                <c:pt idx="7">
                  <c:v>4.28492716325146</c:v>
                </c:pt>
                <c:pt idx="8">
                  <c:v>6.36818241916618</c:v>
                </c:pt>
                <c:pt idx="9">
                  <c:v>5.69050845106601</c:v>
                </c:pt>
                <c:pt idx="10">
                  <c:v>5.96252051519415</c:v>
                </c:pt>
                <c:pt idx="11">
                  <c:v>5.69373943010732</c:v>
                </c:pt>
                <c:pt idx="12">
                  <c:v>3.65192198075875</c:v>
                </c:pt>
                <c:pt idx="13">
                  <c:v>6.70927295039796</c:v>
                </c:pt>
                <c:pt idx="14">
                  <c:v>5.95585588050665</c:v>
                </c:pt>
                <c:pt idx="15">
                  <c:v>5.13518397342003</c:v>
                </c:pt>
                <c:pt idx="16">
                  <c:v>3.61029140318524</c:v>
                </c:pt>
                <c:pt idx="17">
                  <c:v>7.0244816881225</c:v>
                </c:pt>
                <c:pt idx="18">
                  <c:v>6.15755495232051</c:v>
                </c:pt>
                <c:pt idx="19">
                  <c:v>6.0311158003022</c:v>
                </c:pt>
                <c:pt idx="20">
                  <c:v>8.75343699812968</c:v>
                </c:pt>
                <c:pt idx="21">
                  <c:v>4.38685225097479</c:v>
                </c:pt>
                <c:pt idx="22">
                  <c:v>3.44258195808734</c:v>
                </c:pt>
                <c:pt idx="23">
                  <c:v>5.54691368471281</c:v>
                </c:pt>
                <c:pt idx="24">
                  <c:v>3.64535427238903</c:v>
                </c:pt>
                <c:pt idx="25">
                  <c:v>5.6156001613401</c:v>
                </c:pt>
                <c:pt idx="26">
                  <c:v>5.75692010086143</c:v>
                </c:pt>
                <c:pt idx="27">
                  <c:v>5.55436531879009</c:v>
                </c:pt>
                <c:pt idx="28">
                  <c:v>4.05940739402269</c:v>
                </c:pt>
                <c:pt idx="29">
                  <c:v>3.77019603357218</c:v>
                </c:pt>
                <c:pt idx="30">
                  <c:v>3.61679455602896</c:v>
                </c:pt>
                <c:pt idx="31">
                  <c:v>3.62529731880288</c:v>
                </c:pt>
              </c:numCache>
            </c:numRef>
          </c:xVal>
          <c:yVal>
            <c:numRef>
              <c:f>'[测评分析.xlsx]散点图 (业务)  '!$C$2:$C$33</c:f>
              <c:numCache>
                <c:formatCode>0.0_ </c:formatCode>
                <c:ptCount val="32"/>
                <c:pt idx="0">
                  <c:v>5.84971581235141</c:v>
                </c:pt>
                <c:pt idx="1">
                  <c:v>3.24883950461075</c:v>
                </c:pt>
                <c:pt idx="2">
                  <c:v>7.16315712844346</c:v>
                </c:pt>
                <c:pt idx="3">
                  <c:v>7.65460427158764</c:v>
                </c:pt>
                <c:pt idx="4">
                  <c:v>4.32589930645772</c:v>
                </c:pt>
                <c:pt idx="5">
                  <c:v>3.15184671850397</c:v>
                </c:pt>
                <c:pt idx="6">
                  <c:v>3.91543982617176</c:v>
                </c:pt>
                <c:pt idx="7">
                  <c:v>6.06251507697635</c:v>
                </c:pt>
                <c:pt idx="8">
                  <c:v>4.86580010408499</c:v>
                </c:pt>
                <c:pt idx="9">
                  <c:v>4.21076972779322</c:v>
                </c:pt>
                <c:pt idx="10">
                  <c:v>5.27740992975866</c:v>
                </c:pt>
                <c:pt idx="11">
                  <c:v>6.56844044970547</c:v>
                </c:pt>
                <c:pt idx="12">
                  <c:v>7.13359520276854</c:v>
                </c:pt>
                <c:pt idx="13">
                  <c:v>3.8640422753768</c:v>
                </c:pt>
                <c:pt idx="14">
                  <c:v>4.57471077487313</c:v>
                </c:pt>
                <c:pt idx="15">
                  <c:v>3.2163522756268</c:v>
                </c:pt>
                <c:pt idx="16">
                  <c:v>5.30451043176793</c:v>
                </c:pt>
                <c:pt idx="17">
                  <c:v>4.50692212979709</c:v>
                </c:pt>
                <c:pt idx="18">
                  <c:v>4.08622894654421</c:v>
                </c:pt>
                <c:pt idx="19">
                  <c:v>3.59214110094504</c:v>
                </c:pt>
                <c:pt idx="20">
                  <c:v>9.0894440961875</c:v>
                </c:pt>
                <c:pt idx="21">
                  <c:v>5.85509923854261</c:v>
                </c:pt>
                <c:pt idx="22">
                  <c:v>8.12783021299364</c:v>
                </c:pt>
                <c:pt idx="23">
                  <c:v>4.51800913626655</c:v>
                </c:pt>
                <c:pt idx="24">
                  <c:v>5.71811000367951</c:v>
                </c:pt>
                <c:pt idx="25">
                  <c:v>3.53879132220464</c:v>
                </c:pt>
                <c:pt idx="26">
                  <c:v>3.53821842407685</c:v>
                </c:pt>
                <c:pt idx="27">
                  <c:v>4.03134891165944</c:v>
                </c:pt>
                <c:pt idx="28">
                  <c:v>4.11994347939227</c:v>
                </c:pt>
                <c:pt idx="29">
                  <c:v>5.03183319641973</c:v>
                </c:pt>
                <c:pt idx="30">
                  <c:v>6.41976284578946</c:v>
                </c:pt>
                <c:pt idx="31">
                  <c:v>5.82692681183212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散点图!$A$2:$A$33</c15:f>
                <c15:dlblRangeCache>
                  <c:ptCount val="32"/>
                  <c:pt idx="0">
                    <c:v>RP1 影响性</c:v>
                  </c:pt>
                  <c:pt idx="1">
                    <c:v>RP2 控制性</c:v>
                  </c:pt>
                  <c:pt idx="2">
                    <c:v>RP3 坦率性</c:v>
                  </c:pt>
                  <c:pt idx="3">
                    <c:v>RP4 独立性</c:v>
                  </c:pt>
                  <c:pt idx="4">
                    <c:v>RP5 外向性</c:v>
                  </c:pt>
                  <c:pt idx="5">
                    <c:v>RP6 合群性</c:v>
                  </c:pt>
                  <c:pt idx="6">
                    <c:v>RP7 自信性</c:v>
                  </c:pt>
                  <c:pt idx="7">
                    <c:v>RP8 谦虚性</c:v>
                  </c:pt>
                  <c:pt idx="8">
                    <c:v>RP9 民主性</c:v>
                  </c:pt>
                  <c:pt idx="9">
                    <c:v>RP10 关怀性</c:v>
                  </c:pt>
                  <c:pt idx="10">
                    <c:v>TS1 逻辑性</c:v>
                  </c:pt>
                  <c:pt idx="11">
                    <c:v>TS2 批判性</c:v>
                  </c:pt>
                  <c:pt idx="12">
                    <c:v>TS3 分析性</c:v>
                  </c:pt>
                  <c:pt idx="13">
                    <c:v>TS4 传统性（-）</c:v>
                  </c:pt>
                  <c:pt idx="14">
                    <c:v>TS5 抽象性</c:v>
                  </c:pt>
                  <c:pt idx="15">
                    <c:v>TS6 创新性</c:v>
                  </c:pt>
                  <c:pt idx="16">
                    <c:v>TS7 追求多样性</c:v>
                  </c:pt>
                  <c:pt idx="17">
                    <c:v>TS8 适应性</c:v>
                  </c:pt>
                  <c:pt idx="18">
                    <c:v>TS9 前瞻性</c:v>
                  </c:pt>
                  <c:pt idx="19">
                    <c:v>TS10 细节敏感</c:v>
                  </c:pt>
                  <c:pt idx="20">
                    <c:v>TS11 责任性</c:v>
                  </c:pt>
                  <c:pt idx="21">
                    <c:v>TS12 遵从性</c:v>
                  </c:pt>
                  <c:pt idx="22">
                    <c:v>FE1 轻松性</c:v>
                  </c:pt>
                  <c:pt idx="23">
                    <c:v>FE2 忧虑性（-）</c:v>
                  </c:pt>
                  <c:pt idx="24">
                    <c:v>FE3 坚韧性</c:v>
                  </c:pt>
                  <c:pt idx="25">
                    <c:v>FE4 乐观性</c:v>
                  </c:pt>
                  <c:pt idx="26">
                    <c:v>FE5 信任性</c:v>
                  </c:pt>
                  <c:pt idx="27">
                    <c:v>FE6 自控性</c:v>
                  </c:pt>
                  <c:pt idx="28">
                    <c:v>FE7 精力性</c:v>
                  </c:pt>
                  <c:pt idx="29">
                    <c:v>FE8 竞争性</c:v>
                  </c:pt>
                  <c:pt idx="30">
                    <c:v>FE9 成就性</c:v>
                  </c:pt>
                  <c:pt idx="31">
                    <c:v>FE10 果断性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2345156"/>
        <c:axId val="49179715"/>
      </c:scatterChart>
      <c:valAx>
        <c:axId val="602345156"/>
        <c:scaling>
          <c:orientation val="minMax"/>
          <c:max val="9"/>
          <c:min val="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79715"/>
        <c:crosses val="autoZero"/>
        <c:crossBetween val="midCat"/>
      </c:valAx>
      <c:valAx>
        <c:axId val="49179715"/>
        <c:scaling>
          <c:orientation val="minMax"/>
          <c:max val="10"/>
          <c:min val="2.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34515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02f7d-0942-4429-b4a9-4e40d59733ea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7"/>
              <c:layout>
                <c:manualLayout>
                  <c:x val="0"/>
                  <c:y val="-0.0079327604117480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9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2"/>
              <c:layout>
                <c:manualLayout>
                  <c:x val="-0.0382449685008641"/>
                  <c:y val="-0.023628782208916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3"/>
              <c:layout>
                <c:manualLayout>
                  <c:x val="-0.0309973797179015"/>
                  <c:y val="0.028226237570832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4"/>
              <c:layout>
                <c:manualLayout>
                  <c:x val="-0.0325583988403858"/>
                  <c:y val="0.025339463273815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5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6"/>
              <c:layout>
                <c:manualLayout>
                  <c:x val="-0.0419802642582372"/>
                  <c:y val="-0.0307922591681813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7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8"/>
              <c:layout>
                <c:manualLayout>
                  <c:x val="0"/>
                  <c:y val="-0.0094437623949381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19"/>
              <c:layout>
                <c:manualLayout>
                  <c:x val="-0.00184306059759844"/>
                  <c:y val="0.0110492020020776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0"/>
              <c:layout>
                <c:manualLayout>
                  <c:x val="-0.0232895839151075"/>
                  <c:y val="-0.0252148455944848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1"/>
              <c:layout>
                <c:manualLayout>
                  <c:x val="0"/>
                  <c:y val="0.0062328831806591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4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5"/>
              <c:layout>
                <c:manualLayout>
                  <c:x val="-0.00618832580699114"/>
                  <c:y val="-0.025232545707259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6"/>
              <c:layout>
                <c:manualLayout>
                  <c:x val="-0.000780509561242125"/>
                  <c:y val="0.00598738372714637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7"/>
              <c:layout>
                <c:manualLayout>
                  <c:x val="-0.0573531515568383"/>
                  <c:y val="-0.0236235620387489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28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9"/>
              <c:layout>
                <c:manualLayout>
                  <c:x val="-0.0241831890533371"/>
                  <c:y val="0.0236094059873454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0"/>
              <c:layout>
                <c:manualLayout>
                  <c:x val="-0.0279310921558789"/>
                  <c:y val="-0.0222388538436865"/>
                </c:manualLayout>
              </c:layout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3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'[测评分析.xlsx]散点图 (项目) '!$B$2:$B$33</c:f>
              <c:numCache>
                <c:formatCode>0.0_ </c:formatCode>
                <c:ptCount val="32"/>
                <c:pt idx="0">
                  <c:v>4.47364484421267</c:v>
                </c:pt>
                <c:pt idx="1">
                  <c:v>5.99149372948496</c:v>
                </c:pt>
                <c:pt idx="2">
                  <c:v>3.07653478950708</c:v>
                </c:pt>
                <c:pt idx="3">
                  <c:v>4.95125264809483</c:v>
                </c:pt>
                <c:pt idx="4">
                  <c:v>4.02734145196069</c:v>
                </c:pt>
                <c:pt idx="5">
                  <c:v>3.49724504825346</c:v>
                </c:pt>
                <c:pt idx="6">
                  <c:v>3.75272347517991</c:v>
                </c:pt>
                <c:pt idx="7">
                  <c:v>3.95762189146237</c:v>
                </c:pt>
                <c:pt idx="8">
                  <c:v>5.76595630968671</c:v>
                </c:pt>
                <c:pt idx="9">
                  <c:v>5.83933462539254</c:v>
                </c:pt>
                <c:pt idx="10">
                  <c:v>4.55158908504606</c:v>
                </c:pt>
                <c:pt idx="11">
                  <c:v>4.80373629280418</c:v>
                </c:pt>
                <c:pt idx="12">
                  <c:v>4.60498334670727</c:v>
                </c:pt>
                <c:pt idx="13">
                  <c:v>5.86024747488417</c:v>
                </c:pt>
                <c:pt idx="14">
                  <c:v>5.97104489624721</c:v>
                </c:pt>
                <c:pt idx="15">
                  <c:v>7.28503143536166</c:v>
                </c:pt>
                <c:pt idx="16">
                  <c:v>4.48004963781367</c:v>
                </c:pt>
                <c:pt idx="17">
                  <c:v>7.57115366489271</c:v>
                </c:pt>
                <c:pt idx="18">
                  <c:v>6.5130857723385</c:v>
                </c:pt>
                <c:pt idx="19">
                  <c:v>6.37346899107809</c:v>
                </c:pt>
                <c:pt idx="20">
                  <c:v>7.62219377738319</c:v>
                </c:pt>
                <c:pt idx="21">
                  <c:v>4.41975094039129</c:v>
                </c:pt>
                <c:pt idx="22">
                  <c:v>3.43606932366683</c:v>
                </c:pt>
                <c:pt idx="23">
                  <c:v>5.12834931531491</c:v>
                </c:pt>
                <c:pt idx="24">
                  <c:v>3.16906029127363</c:v>
                </c:pt>
                <c:pt idx="25">
                  <c:v>5.13942693831885</c:v>
                </c:pt>
                <c:pt idx="26">
                  <c:v>5.11851233587214</c:v>
                </c:pt>
                <c:pt idx="27">
                  <c:v>4.99963143141538</c:v>
                </c:pt>
                <c:pt idx="28">
                  <c:v>2.69543278213019</c:v>
                </c:pt>
                <c:pt idx="29">
                  <c:v>4.50709124864345</c:v>
                </c:pt>
                <c:pt idx="30">
                  <c:v>5.66809504385678</c:v>
                </c:pt>
                <c:pt idx="31">
                  <c:v>3.33078888859451</c:v>
                </c:pt>
              </c:numCache>
            </c:numRef>
          </c:xVal>
          <c:yVal>
            <c:numRef>
              <c:f>'[测评分析.xlsx]散点图 (项目) '!$C$2:$C$33</c:f>
              <c:numCache>
                <c:formatCode>0.0_ </c:formatCode>
                <c:ptCount val="32"/>
                <c:pt idx="0">
                  <c:v>3.7368023525107</c:v>
                </c:pt>
                <c:pt idx="1">
                  <c:v>3.07145129679362</c:v>
                </c:pt>
                <c:pt idx="2">
                  <c:v>6.19624505032402</c:v>
                </c:pt>
                <c:pt idx="3">
                  <c:v>9.56868151570179</c:v>
                </c:pt>
                <c:pt idx="4">
                  <c:v>3.98706164324337</c:v>
                </c:pt>
                <c:pt idx="5">
                  <c:v>4.5499610290198</c:v>
                </c:pt>
                <c:pt idx="6">
                  <c:v>4.31877807094356</c:v>
                </c:pt>
                <c:pt idx="7">
                  <c:v>10</c:v>
                </c:pt>
                <c:pt idx="8">
                  <c:v>7.63999964564751</c:v>
                </c:pt>
                <c:pt idx="9">
                  <c:v>4.56795556014765</c:v>
                </c:pt>
                <c:pt idx="10">
                  <c:v>3.42900995622141</c:v>
                </c:pt>
                <c:pt idx="11">
                  <c:v>10</c:v>
                </c:pt>
                <c:pt idx="12">
                  <c:v>9.18715258942342</c:v>
                </c:pt>
                <c:pt idx="13">
                  <c:v>2.97104304062489</c:v>
                </c:pt>
                <c:pt idx="14">
                  <c:v>4.15367693444655</c:v>
                </c:pt>
                <c:pt idx="15">
                  <c:v>3.24510984477204</c:v>
                </c:pt>
                <c:pt idx="16">
                  <c:v>6.24789071499353</c:v>
                </c:pt>
                <c:pt idx="17">
                  <c:v>8.11291699755409</c:v>
                </c:pt>
                <c:pt idx="18">
                  <c:v>4.28128296933804</c:v>
                </c:pt>
                <c:pt idx="19">
                  <c:v>4.10779939463177</c:v>
                </c:pt>
                <c:pt idx="20">
                  <c:v>3.78979784894033</c:v>
                </c:pt>
                <c:pt idx="21">
                  <c:v>5.10239336401478</c:v>
                </c:pt>
                <c:pt idx="22">
                  <c:v>5.02502544280106</c:v>
                </c:pt>
                <c:pt idx="23">
                  <c:v>3.49783026247944</c:v>
                </c:pt>
                <c:pt idx="24">
                  <c:v>6.54883678693089</c:v>
                </c:pt>
                <c:pt idx="25">
                  <c:v>4.26116397476865</c:v>
                </c:pt>
                <c:pt idx="26">
                  <c:v>4.03122433706848</c:v>
                </c:pt>
                <c:pt idx="27">
                  <c:v>3.99795456271101</c:v>
                </c:pt>
                <c:pt idx="28">
                  <c:v>9.83173112459277</c:v>
                </c:pt>
                <c:pt idx="29">
                  <c:v>4.94758709299576</c:v>
                </c:pt>
                <c:pt idx="30">
                  <c:v>4.73602694552637</c:v>
                </c:pt>
                <c:pt idx="31">
                  <c:v>3.85054151759007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散点图!$A$2:$A$33</c15:f>
                <c15:dlblRangeCache>
                  <c:ptCount val="32"/>
                  <c:pt idx="0">
                    <c:v>RP1 影响性</c:v>
                  </c:pt>
                  <c:pt idx="1">
                    <c:v>RP2 控制性</c:v>
                  </c:pt>
                  <c:pt idx="2">
                    <c:v>RP3 坦率性</c:v>
                  </c:pt>
                  <c:pt idx="3">
                    <c:v>RP4 独立性</c:v>
                  </c:pt>
                  <c:pt idx="4">
                    <c:v>RP5 外向性</c:v>
                  </c:pt>
                  <c:pt idx="5">
                    <c:v>RP6 合群性</c:v>
                  </c:pt>
                  <c:pt idx="6">
                    <c:v>RP7 自信性</c:v>
                  </c:pt>
                  <c:pt idx="7">
                    <c:v>RP8 谦虚性</c:v>
                  </c:pt>
                  <c:pt idx="8">
                    <c:v>RP9 民主性</c:v>
                  </c:pt>
                  <c:pt idx="9">
                    <c:v>RP10 关怀性</c:v>
                  </c:pt>
                  <c:pt idx="10">
                    <c:v>TS1 逻辑性</c:v>
                  </c:pt>
                  <c:pt idx="11">
                    <c:v>TS2 批判性</c:v>
                  </c:pt>
                  <c:pt idx="12">
                    <c:v>TS3 分析性</c:v>
                  </c:pt>
                  <c:pt idx="13">
                    <c:v>TS4 传统性（-）</c:v>
                  </c:pt>
                  <c:pt idx="14">
                    <c:v>TS5 抽象性</c:v>
                  </c:pt>
                  <c:pt idx="15">
                    <c:v>TS6 创新性</c:v>
                  </c:pt>
                  <c:pt idx="16">
                    <c:v>TS7 追求多样性</c:v>
                  </c:pt>
                  <c:pt idx="17">
                    <c:v>TS8 适应性</c:v>
                  </c:pt>
                  <c:pt idx="18">
                    <c:v>TS9 前瞻性</c:v>
                  </c:pt>
                  <c:pt idx="19">
                    <c:v>TS10 细节敏感</c:v>
                  </c:pt>
                  <c:pt idx="20">
                    <c:v>TS11 责任性</c:v>
                  </c:pt>
                  <c:pt idx="21">
                    <c:v>TS12 遵从性</c:v>
                  </c:pt>
                  <c:pt idx="22">
                    <c:v>FE1 轻松性</c:v>
                  </c:pt>
                  <c:pt idx="23">
                    <c:v>FE2 忧虑性（-）</c:v>
                  </c:pt>
                  <c:pt idx="24">
                    <c:v>FE3 坚韧性</c:v>
                  </c:pt>
                  <c:pt idx="25">
                    <c:v>FE4 乐观性</c:v>
                  </c:pt>
                  <c:pt idx="26">
                    <c:v>FE5 信任性</c:v>
                  </c:pt>
                  <c:pt idx="27">
                    <c:v>FE6 自控性</c:v>
                  </c:pt>
                  <c:pt idx="28">
                    <c:v>FE7 精力性</c:v>
                  </c:pt>
                  <c:pt idx="29">
                    <c:v>FE8 竞争性</c:v>
                  </c:pt>
                  <c:pt idx="30">
                    <c:v>FE9 成就性</c:v>
                  </c:pt>
                  <c:pt idx="31">
                    <c:v>FE10 果断性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2345156"/>
        <c:axId val="49179715"/>
      </c:scatterChart>
      <c:valAx>
        <c:axId val="602345156"/>
        <c:scaling>
          <c:orientation val="minMax"/>
          <c:max val="8"/>
          <c:min val="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79715"/>
        <c:crosses val="autoZero"/>
        <c:crossBetween val="midCat"/>
      </c:valAx>
      <c:valAx>
        <c:axId val="49179715"/>
        <c:scaling>
          <c:orientation val="minMax"/>
          <c:max val="10"/>
          <c:min val="2.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234515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02f7d-0942-4429-b4a9-4e40d59733ea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542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542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78182"/>
            <a:ext cx="2971800" cy="5429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0278182"/>
            <a:ext cx="2971800" cy="5429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938D-2768-4142-AB45-4B4BDC0E2B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D44FE-052B-4CE6-BD65-BC3EA55A54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390" y="261257"/>
            <a:ext cx="782274" cy="65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4489" y="651424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7D1FDA-8AD7-41A1-A0AC-B73BFC6DE2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703170" y="651424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723911" y="651424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327145-FF81-4AC9-98EB-2A48FA1E94C3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159565" y="206834"/>
            <a:ext cx="10032436" cy="672077"/>
            <a:chOff x="1619673" y="195485"/>
            <a:chExt cx="7524327" cy="648073"/>
          </a:xfrm>
        </p:grpSpPr>
        <p:sp>
          <p:nvSpPr>
            <p:cNvPr id="13" name="流程图: 手动输入 12"/>
            <p:cNvSpPr/>
            <p:nvPr/>
          </p:nvSpPr>
          <p:spPr>
            <a:xfrm rot="5400000" flipH="1" flipV="1">
              <a:off x="2249489" y="-434331"/>
              <a:ext cx="648071" cy="1907704"/>
            </a:xfrm>
            <a:prstGeom prst="flowChartManualInpu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73524" y="195486"/>
              <a:ext cx="6570476" cy="6480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5" name="流程图: 手动输入 14"/>
          <p:cNvSpPr/>
          <p:nvPr userDrawn="1"/>
        </p:nvSpPr>
        <p:spPr>
          <a:xfrm rot="5400000">
            <a:off x="935765" y="-728931"/>
            <a:ext cx="672075" cy="2543605"/>
          </a:xfrm>
          <a:prstGeom prst="flowChartManualInpu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" y="452670"/>
            <a:ext cx="2044139" cy="206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650822A-F5E9-4727-AC90-4B706FAD72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EC2518E-5B71-4206-90D4-E8E5221EC0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1FDA-8AD7-41A1-A0AC-B73BFC6DE2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7145-FF81-4AC9-98EB-2A48FA1E94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24715"/>
            <a:ext cx="12192001" cy="609600"/>
            <a:chOff x="0" y="116216"/>
            <a:chExt cx="12192001" cy="672077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59565" y="116216"/>
              <a:ext cx="10032436" cy="672077"/>
              <a:chOff x="1619673" y="195485"/>
              <a:chExt cx="7524327" cy="648073"/>
            </a:xfrm>
          </p:grpSpPr>
          <p:sp>
            <p:nvSpPr>
              <p:cNvPr id="4" name="流程图: 手动输入 3"/>
              <p:cNvSpPr/>
              <p:nvPr/>
            </p:nvSpPr>
            <p:spPr>
              <a:xfrm rot="5400000" flipH="1" flipV="1">
                <a:off x="2249489" y="-434331"/>
                <a:ext cx="648071" cy="1907704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2573524" y="195486"/>
                <a:ext cx="6570476" cy="6480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6" name="流程图: 手动输入 5"/>
            <p:cNvSpPr/>
            <p:nvPr userDrawn="1"/>
          </p:nvSpPr>
          <p:spPr>
            <a:xfrm rot="5400000">
              <a:off x="935765" y="-819549"/>
              <a:ext cx="672075" cy="2543605"/>
            </a:xfrm>
            <a:prstGeom prst="flowChartManualInput">
              <a:avLst/>
            </a:prstGeom>
            <a:solidFill>
              <a:srgbClr val="002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Sketch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24" y="362052"/>
              <a:ext cx="2044139" cy="206257"/>
            </a:xfrm>
            <a:prstGeom prst="rect">
              <a:avLst/>
            </a:prstGeom>
          </p:spPr>
        </p:pic>
      </p:grpSp>
    </p:spTree>
  </p:cSld>
  <p:clrMapOvr>
    <a:masterClrMapping/>
  </p:clrMapOvr>
  <p:transition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608822" y="792920"/>
            <a:ext cx="10973087" cy="796950"/>
          </a:xfrm>
          <a:prstGeom prst="rect">
            <a:avLst/>
          </a:prstGeom>
        </p:spPr>
        <p:txBody>
          <a:bodyPr vert="horz" lIns="98746" tIns="49373" rIns="98746" bIns="49373" rtlCol="0" anchor="ctr">
            <a:normAutofit/>
          </a:bodyPr>
          <a:lstStyle>
            <a:lvl1pPr>
              <a:defRPr sz="22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  <p:sp>
        <p:nvSpPr>
          <p:cNvPr id="15" name="流程图: 手动输入 14"/>
          <p:cNvSpPr/>
          <p:nvPr userDrawn="1"/>
        </p:nvSpPr>
        <p:spPr>
          <a:xfrm rot="5400000">
            <a:off x="935765" y="-728931"/>
            <a:ext cx="672075" cy="2543605"/>
          </a:xfrm>
          <a:prstGeom prst="flowChartManualInpu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" y="452670"/>
            <a:ext cx="2044139" cy="2062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159565" y="206834"/>
            <a:ext cx="10032436" cy="672077"/>
            <a:chOff x="1619673" y="195485"/>
            <a:chExt cx="7524327" cy="648073"/>
          </a:xfrm>
        </p:grpSpPr>
        <p:sp>
          <p:nvSpPr>
            <p:cNvPr id="13" name="流程图: 手动输入 12"/>
            <p:cNvSpPr/>
            <p:nvPr/>
          </p:nvSpPr>
          <p:spPr>
            <a:xfrm rot="5400000" flipH="1" flipV="1">
              <a:off x="2249489" y="-434331"/>
              <a:ext cx="648071" cy="1907704"/>
            </a:xfrm>
            <a:prstGeom prst="flowChartManualInpu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73524" y="195486"/>
              <a:ext cx="6570476" cy="6480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5" name="流程图: 手动输入 14"/>
          <p:cNvSpPr/>
          <p:nvPr userDrawn="1"/>
        </p:nvSpPr>
        <p:spPr>
          <a:xfrm rot="5400000">
            <a:off x="935765" y="-728931"/>
            <a:ext cx="672075" cy="2543605"/>
          </a:xfrm>
          <a:prstGeom prst="flowChartManualInpu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" y="452670"/>
            <a:ext cx="2044139" cy="2062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297F-0701-4E99-B36E-9B7FF65FF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1FB9E-37F9-49A1-B0CF-DE5139F0C9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85DD7-A4D2-4930-A215-62F13613C3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F8E45-F0CE-46E7-8CC4-53A7A50875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2E997-2BBC-491C-8AEA-07358A62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CDE00-D039-499C-B174-949E92627C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图表 2"/>
          <p:cNvGraphicFramePr/>
          <p:nvPr/>
        </p:nvGraphicFramePr>
        <p:xfrm>
          <a:off x="401320" y="868680"/>
          <a:ext cx="11389995" cy="598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矩形 25"/>
          <p:cNvSpPr/>
          <p:nvPr/>
        </p:nvSpPr>
        <p:spPr bwMode="auto">
          <a:xfrm>
            <a:off x="446405" y="1073785"/>
            <a:ext cx="5499100" cy="551942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950585" y="1073150"/>
            <a:ext cx="5844540" cy="5520055"/>
          </a:xfrm>
          <a:prstGeom prst="rect">
            <a:avLst/>
          </a:prstGeom>
          <a:gradFill>
            <a:gsLst>
              <a:gs pos="100000">
                <a:srgbClr val="FFC000">
                  <a:alpha val="30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24000">
                <a:schemeClr val="bg1">
                  <a:alpha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 bwMode="auto">
          <a:xfrm>
            <a:off x="313548" y="926284"/>
            <a:ext cx="698938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一致性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 bwMode="auto">
          <a:xfrm>
            <a:off x="8315325" y="6127115"/>
            <a:ext cx="214566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第四象限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优势分化区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专家驱动区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 bwMode="auto">
          <a:xfrm>
            <a:off x="8315960" y="1275715"/>
            <a:ext cx="214503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第一象限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核心优势区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团队基石区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 bwMode="auto">
          <a:xfrm>
            <a:off x="2236470" y="6127115"/>
            <a:ext cx="191833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第三象限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【</a:t>
            </a: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混沌不明区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 / </a:t>
            </a: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非核心区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】</a:t>
            </a:r>
            <a:endParaRPr kumimoji="1" lang="en-US" altLang="zh-CN" sz="1400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 bwMode="auto">
          <a:xfrm>
            <a:off x="2075815" y="1275715"/>
            <a:ext cx="224028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第二项目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普遍短板区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团队盲点区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726371" y="4162724"/>
            <a:ext cx="110845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接连接符 47"/>
          <p:cNvCxnSpPr/>
          <p:nvPr/>
        </p:nvCxnSpPr>
        <p:spPr bwMode="auto">
          <a:xfrm>
            <a:off x="5945488" y="1073009"/>
            <a:ext cx="0" cy="56762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/>
          <p:cNvSpPr txBox="1"/>
          <p:nvPr/>
        </p:nvSpPr>
        <p:spPr bwMode="auto">
          <a:xfrm>
            <a:off x="10760710" y="6424295"/>
            <a:ext cx="1030605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平均值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61590" y="313690"/>
            <a:ext cx="62744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调研发现四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：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短板和分化特质较多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（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增补前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）</a:t>
            </a:r>
            <a:endParaRPr kumimoji="1" lang="en-US" altLang="zh-CN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601710" y="2081530"/>
            <a:ext cx="1572260" cy="115760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655050" y="2066290"/>
            <a:ext cx="1571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责任性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独立感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批判性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适应性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05" y="2107565"/>
            <a:ext cx="1572260" cy="147637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1505" y="2066290"/>
            <a:ext cx="1755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坦率性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分析感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坚韧性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追求</a:t>
            </a:r>
            <a:r>
              <a:rPr lang="zh-CN" altLang="en-US">
                <a:solidFill>
                  <a:schemeClr val="tx1"/>
                </a:solidFill>
              </a:rPr>
              <a:t>多样性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成就性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02345" y="4373880"/>
            <a:ext cx="1572260" cy="164655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02345" y="4373880"/>
            <a:ext cx="15716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前瞻性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抽象感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细节</a:t>
            </a:r>
            <a:r>
              <a:rPr lang="zh-CN" altLang="en-US">
                <a:solidFill>
                  <a:schemeClr val="tx1"/>
                </a:solidFill>
              </a:rPr>
              <a:t>敏感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逻辑性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创新性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控制性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2561590" y="313690"/>
            <a:ext cx="4948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调研发现四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：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优劣势均衡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，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分化特质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较多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495300" y="926465"/>
          <a:ext cx="11315700" cy="5969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矩形 25"/>
          <p:cNvSpPr/>
          <p:nvPr/>
        </p:nvSpPr>
        <p:spPr bwMode="auto">
          <a:xfrm>
            <a:off x="446405" y="1073785"/>
            <a:ext cx="5499100" cy="551942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950585" y="1073150"/>
            <a:ext cx="5844540" cy="5520055"/>
          </a:xfrm>
          <a:prstGeom prst="rect">
            <a:avLst/>
          </a:prstGeom>
          <a:gradFill>
            <a:gsLst>
              <a:gs pos="100000">
                <a:srgbClr val="FFC000">
                  <a:alpha val="30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24000">
                <a:schemeClr val="bg1">
                  <a:alpha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 bwMode="auto">
          <a:xfrm>
            <a:off x="313548" y="926284"/>
            <a:ext cx="698938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一致性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 bwMode="auto">
          <a:xfrm>
            <a:off x="8315325" y="6127115"/>
            <a:ext cx="214566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第四象限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优势分化区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专家驱动区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 bwMode="auto">
          <a:xfrm>
            <a:off x="8315960" y="1275715"/>
            <a:ext cx="214503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第一象限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核心优势区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团队基石区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 bwMode="auto">
          <a:xfrm>
            <a:off x="2236470" y="6127115"/>
            <a:ext cx="191833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第三象限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【</a:t>
            </a: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混沌不明区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 / </a:t>
            </a: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非核心区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】</a:t>
            </a:r>
            <a:endParaRPr kumimoji="1" lang="en-US" altLang="zh-CN" sz="1400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 bwMode="auto">
          <a:xfrm>
            <a:off x="2075815" y="1275715"/>
            <a:ext cx="224028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第二项目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普遍短板区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团队盲点区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726371" y="4162724"/>
            <a:ext cx="110845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接连接符 47"/>
          <p:cNvCxnSpPr/>
          <p:nvPr/>
        </p:nvCxnSpPr>
        <p:spPr bwMode="auto">
          <a:xfrm>
            <a:off x="5945488" y="1073009"/>
            <a:ext cx="0" cy="56762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/>
          <p:cNvSpPr txBox="1"/>
          <p:nvPr/>
        </p:nvSpPr>
        <p:spPr bwMode="auto">
          <a:xfrm>
            <a:off x="10760710" y="6424295"/>
            <a:ext cx="1030605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平均值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601710" y="2081530"/>
            <a:ext cx="1572260" cy="115760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655050" y="2066290"/>
            <a:ext cx="1571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责任性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独立感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批判性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适应性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05" y="2107565"/>
            <a:ext cx="1572260" cy="1198880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1505" y="2066290"/>
            <a:ext cx="17557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分析性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轻松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坚韧性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坦率性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23730" y="4347845"/>
            <a:ext cx="1572260" cy="164655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523730" y="4347845"/>
            <a:ext cx="15716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前瞻性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抽象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细节</a:t>
            </a:r>
            <a:r>
              <a:rPr lang="zh-CN" altLang="en-US">
                <a:solidFill>
                  <a:schemeClr val="tx1"/>
                </a:solidFill>
              </a:rPr>
              <a:t>敏感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逻辑性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创新性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控制性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28270" y="904875"/>
            <a:ext cx="11920855" cy="5835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641205" y="981710"/>
            <a:ext cx="2259330" cy="410781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92640" y="1681480"/>
            <a:ext cx="2193290" cy="304609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10000"/>
                    <a:lumOff val="90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普遍技术出身</a:t>
            </a:r>
            <a:r>
              <a:rPr lang="zh-CN" altLang="en-US" sz="1200">
                <a:latin typeface="+mn-ea"/>
                <a:cs typeface="+mn-ea"/>
              </a:rPr>
              <a:t>：起点均为技术岗位，如软件开发（后端居多）、测试或运维。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关键角色转变</a:t>
            </a:r>
            <a:r>
              <a:rPr lang="zh-CN" altLang="en-US" sz="1200">
                <a:latin typeface="+mn-ea"/>
                <a:cs typeface="+mn-ea"/>
              </a:rPr>
              <a:t>：从一个专注于单一技术领域的“执行者”，转变为一个需要承担端到端责任、协调多方资源的“负责人”或“协调者”。本质是从</a:t>
            </a:r>
            <a:r>
              <a:rPr lang="zh-CN" altLang="en-US" sz="1200">
                <a:latin typeface="+mn-ea"/>
                <a:cs typeface="+mn-ea"/>
              </a:rPr>
              <a:t>“对事负责”扩展到“对项目成败的全过程负责”。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甲乙方的差异</a:t>
            </a:r>
            <a:r>
              <a:rPr lang="zh-CN" altLang="en-US" sz="1200">
                <a:latin typeface="+mn-ea"/>
                <a:cs typeface="+mn-ea"/>
              </a:rPr>
              <a:t>：多位有乙方经历，从乙方到甲方的转变是一个挑战。重心从关注短期项目的交付效率和成本，转变为更关注系统的长期价值、业务的稳定性和与公司战略的结合。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42475" y="1109980"/>
            <a:ext cx="2323465" cy="3860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成长起点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与角色转变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1650" y="982345"/>
            <a:ext cx="3996055" cy="1863090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1650" y="2911475"/>
            <a:ext cx="3996055" cy="2178685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49975" y="1068705"/>
            <a:ext cx="34277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千里码防伪项目</a:t>
            </a:r>
            <a:r>
              <a:rPr lang="zh-CN" altLang="en-US" sz="1200">
                <a:latin typeface="+mn-ea"/>
                <a:cs typeface="+mn-ea"/>
              </a:rPr>
              <a:t>：涉及高风险的技术决策和无缝切换的苛刻要求，锻炼风险预判和系统化思维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FF"/>
                </a:solidFill>
                <a:latin typeface="+mn-ea"/>
                <a:cs typeface="+mn-ea"/>
              </a:rPr>
              <a:t>M</a:t>
            </a: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系统（生产包装执行系统）</a:t>
            </a:r>
            <a:r>
              <a:rPr lang="zh-CN" altLang="en-US" sz="1200">
                <a:latin typeface="+mn-ea"/>
                <a:cs typeface="+mn-ea"/>
              </a:rPr>
              <a:t>从一期到四期，从依赖供应商到完全自主开发，提升技术广度、项目管理和供应商管理能力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+mn-ea"/>
                <a:cs typeface="+mn-ea"/>
              </a:rPr>
              <a:t>智慧营销与交易中台项目：面向</a:t>
            </a:r>
            <a:r>
              <a:rPr lang="en-US" altLang="zh-CN" sz="1200">
                <a:latin typeface="+mn-ea"/>
                <a:cs typeface="+mn-ea"/>
              </a:rPr>
              <a:t>C</a:t>
            </a:r>
            <a:r>
              <a:rPr lang="zh-CN" altLang="en-US" sz="1200">
                <a:latin typeface="+mn-ea"/>
                <a:cs typeface="+mn-ea"/>
              </a:rPr>
              <a:t>端用户，迭代速度快、用户体验要求高，快速响应业务变化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从</a:t>
            </a:r>
            <a:r>
              <a:rPr lang="en-US" altLang="zh-CN" sz="1200">
                <a:solidFill>
                  <a:srgbClr val="0000FF"/>
                </a:solidFill>
                <a:latin typeface="+mn-ea"/>
                <a:cs typeface="+mn-ea"/>
              </a:rPr>
              <a:t>0</a:t>
            </a: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到</a:t>
            </a:r>
            <a:r>
              <a:rPr lang="en-US" altLang="zh-CN" sz="1200">
                <a:solidFill>
                  <a:srgbClr val="0000FF"/>
                </a:solidFill>
                <a:latin typeface="+mn-ea"/>
                <a:cs typeface="+mn-ea"/>
              </a:rPr>
              <a:t>1</a:t>
            </a: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的自研项目</a:t>
            </a:r>
            <a:r>
              <a:rPr lang="zh-CN" altLang="en-US" sz="1200">
                <a:latin typeface="+mn-ea"/>
                <a:cs typeface="+mn-ea"/>
              </a:rPr>
              <a:t>：如弱电巡检系统，负责人承担从需求、设计到管理的全链路职责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9975" y="2966720"/>
            <a:ext cx="3427730" cy="2122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延展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技术广度</a:t>
            </a:r>
            <a:r>
              <a:rPr lang="zh-CN" altLang="en-US" sz="1200">
                <a:latin typeface="+mn-ea"/>
                <a:cs typeface="+mn-ea"/>
              </a:rPr>
              <a:t>：在项目中，他们被迫走出自己熟悉的单一技术栈，去学习和掌握前端、部署、数据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库、设备交互等全栈知识</a:t>
            </a:r>
            <a:endParaRPr lang="zh-CN" altLang="en-US" sz="1200">
              <a:solidFill>
                <a:srgbClr val="FF0000"/>
              </a:solidFill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“翻译官”角色</a:t>
            </a:r>
            <a:r>
              <a:rPr lang="zh-CN" altLang="en-US" sz="1200">
                <a:latin typeface="+mn-ea"/>
                <a:cs typeface="+mn-ea"/>
              </a:rPr>
              <a:t>：将业务部门模糊、非结构化的业务语言“翻译”成可执行的“技术语言”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供应商管理的博弈</a:t>
            </a:r>
            <a:r>
              <a:rPr lang="zh-CN" altLang="en-US" sz="1200">
                <a:latin typeface="+mn-ea"/>
                <a:cs typeface="+mn-ea"/>
              </a:rPr>
              <a:t>：应对其人员流动、质量不可控、核心技术保留等问题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必须建立严格的标准和流程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系统性思维的形成</a:t>
            </a:r>
            <a:r>
              <a:rPr lang="zh-CN" altLang="en-US" sz="1200">
                <a:latin typeface="+mn-ea"/>
                <a:cs typeface="+mn-ea"/>
              </a:rPr>
              <a:t>：由单个功能实现，到从系统整体、全链路的角度思考问题，预判引入新技术或变更带来的复杂性和风险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0870" y="1326515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关键的里程碑项目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77535" y="3335020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核心挑战与学习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6700" y="981710"/>
            <a:ext cx="5250815" cy="132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66700" y="2364105"/>
            <a:ext cx="5250815" cy="132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75590" y="3759200"/>
            <a:ext cx="5250815" cy="132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5590" y="1301115"/>
            <a:ext cx="525145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</a:rPr>
              <a:t>技术广度（全栈知识）</a:t>
            </a:r>
            <a:r>
              <a:rPr lang="zh-CN" altLang="en-US" sz="1200">
                <a:latin typeface="+mn-ea"/>
              </a:rPr>
              <a:t>：覆盖前后端、测试、运维、部署、数据库等多个领域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</a:rPr>
              <a:t>技术深度</a:t>
            </a:r>
            <a:r>
              <a:rPr lang="zh-CN" altLang="en-US" sz="1200">
                <a:latin typeface="+mn-ea"/>
              </a:rPr>
              <a:t>：在至少一个核心领域（通常是后端架构）必须有足够的深度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</a:rPr>
              <a:t>系统化的</a:t>
            </a:r>
            <a:r>
              <a:rPr lang="zh-CN" altLang="en-US" sz="1200">
                <a:solidFill>
                  <a:srgbClr val="FF0000"/>
                </a:solidFill>
                <a:latin typeface="+mn-ea"/>
              </a:rPr>
              <a:t>问题排查</a:t>
            </a:r>
            <a:r>
              <a:rPr lang="zh-CN" altLang="en-US" sz="1200">
                <a:solidFill>
                  <a:srgbClr val="0000FF"/>
                </a:solidFill>
                <a:latin typeface="+mn-ea"/>
              </a:rPr>
              <a:t>能力</a:t>
            </a:r>
            <a:r>
              <a:rPr lang="zh-CN" altLang="en-US" sz="1200">
                <a:latin typeface="+mn-ea"/>
              </a:rPr>
              <a:t>：能够基于对系统架构的理解，形成一套系统化的问题排查方法论，快速定位并解决从代码到环境的各类问题</a:t>
            </a:r>
            <a:endParaRPr lang="zh-CN" altLang="en-US" sz="120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5590" y="2626360"/>
            <a:ext cx="524256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“翻译”能力</a:t>
            </a:r>
            <a:r>
              <a:rPr lang="zh-CN" altLang="en-US" sz="1200">
                <a:latin typeface="+mn-ea"/>
                <a:cs typeface="+mn-ea"/>
              </a:rPr>
              <a:t>：能够准确地将业务需求“翻译”成技术任务，这是日常工作中耗时最长、也最重要的环节。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冲突管理与协调</a:t>
            </a:r>
            <a:r>
              <a:rPr lang="zh-CN" altLang="en-US" sz="1200">
                <a:latin typeface="+mn-ea"/>
                <a:cs typeface="+mn-ea"/>
              </a:rPr>
              <a:t>：有效处理与业务部门、供应商、内部团队之间的分歧和冲突，协调多方资源，推动共识。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向上管理与汇报</a:t>
            </a:r>
            <a:r>
              <a:rPr lang="zh-CN" altLang="en-US" sz="1200">
                <a:latin typeface="+mn-ea"/>
                <a:cs typeface="+mn-ea"/>
              </a:rPr>
              <a:t>：能够清晰地向领导汇报项目进展、风险和所需支持。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4174490"/>
            <a:ext cx="5241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过程管理</a:t>
            </a:r>
            <a:r>
              <a:rPr lang="zh-CN" altLang="en-US" sz="1200">
                <a:latin typeface="+mn-ea"/>
              </a:rPr>
              <a:t>：精通项目进度、质量和风险管理。能够制定合理的计划，并通过有效的机制进行跟踪</a:t>
            </a:r>
            <a:endParaRPr lang="zh-CN" altLang="en-US" sz="1200">
              <a:latin typeface="+mn-ea"/>
            </a:endParaRPr>
          </a:p>
          <a:p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团队管理与赋能</a:t>
            </a:r>
            <a:r>
              <a:rPr lang="zh-CN" altLang="en-US" sz="1200">
                <a:latin typeface="+mn-ea"/>
              </a:rPr>
              <a:t>：识别团队成员的能力特点，合理分配任务，并通过培训、指导和授权，帮助团队成员成长</a:t>
            </a:r>
            <a:endParaRPr lang="zh-CN" altLang="en-US" sz="1200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3855" y="1017905"/>
            <a:ext cx="4808855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技术能力</a:t>
            </a:r>
            <a:r>
              <a:rPr lang="zh-CN" altLang="en-US" sz="1400" b="1">
                <a:latin typeface="+mn-ea"/>
                <a:sym typeface="+mn-ea"/>
              </a:rPr>
              <a:t>是不可动摇的基石</a:t>
            </a: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0205" y="2392045"/>
            <a:ext cx="5003165" cy="243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沟通与协调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能力是日常工作的核心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3700" y="3790950"/>
            <a:ext cx="5002530" cy="281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项目与团队管理</a:t>
            </a:r>
            <a:r>
              <a:rPr lang="zh-CN" altLang="en-US" sz="1400" b="1">
                <a:latin typeface="+mn-ea"/>
                <a:sym typeface="+mn-ea"/>
              </a:rPr>
              <a:t>能力是价值的保障</a:t>
            </a: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0035" y="5154295"/>
            <a:ext cx="5251450" cy="1509395"/>
          </a:xfrm>
          <a:prstGeom prst="rect">
            <a:avLst/>
          </a:prstGeom>
          <a:solidFill>
            <a:srgbClr val="92D050">
              <a:alpha val="30000"/>
            </a:srgbClr>
          </a:solidFill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11785" y="5474335"/>
            <a:ext cx="520636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</a:rPr>
              <a:t>方案洞见能力</a:t>
            </a:r>
            <a:r>
              <a:rPr lang="zh-CN" altLang="en-US" sz="1200">
                <a:latin typeface="+mn-ea"/>
              </a:rPr>
              <a:t>：预见到方案中潜在的风险，尤其是在引入新技术或进行重大变更时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</a:rPr>
              <a:t>系统化思维</a:t>
            </a:r>
            <a:r>
              <a:rPr lang="zh-CN" altLang="en-US" sz="1200">
                <a:latin typeface="+mn-ea"/>
              </a:rPr>
              <a:t>：决策时能够超越单个功能点，从整个系统的角度分析问题，评估变更对全局的影响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</a:rPr>
              <a:t>引导与影响能力</a:t>
            </a:r>
            <a:r>
              <a:rPr lang="zh-CN" altLang="en-US" sz="1200">
                <a:latin typeface="+mn-ea"/>
              </a:rPr>
              <a:t>：不仅被动接受需求，还要能够基于自己的专业判断，引导业务方采纳更合理、更具前瞻性的解决方案</a:t>
            </a:r>
            <a:endParaRPr lang="zh-CN" altLang="en-US" sz="120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4335" y="5160010"/>
            <a:ext cx="5001895" cy="308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sym typeface="+mn-ea"/>
              </a:rPr>
              <a:t>高阶认知与思维能力是</a:t>
            </a: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卓越的关键</a:t>
            </a:r>
            <a:endParaRPr lang="zh-CN" altLang="en-US" sz="1400" b="1">
              <a:solidFill>
                <a:srgbClr val="FF0000"/>
              </a:solidFill>
              <a:latin typeface="+mn-ea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581650" y="5149850"/>
            <a:ext cx="6318885" cy="1509395"/>
          </a:xfrm>
          <a:prstGeom prst="rect">
            <a:avLst/>
          </a:prstGeom>
          <a:solidFill>
            <a:srgbClr val="92D050">
              <a:alpha val="30000"/>
            </a:srgbClr>
          </a:solidFill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81650" y="5420360"/>
            <a:ext cx="626681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数据分析与应用能力</a:t>
            </a:r>
            <a:r>
              <a:rPr lang="zh-CN" altLang="en-US" sz="1200">
                <a:latin typeface="+mn-ea"/>
                <a:cs typeface="+mn-ea"/>
              </a:rPr>
              <a:t>：最重要的未来能力，系统已经积累了海量的业务数据，从业务数据的</a:t>
            </a:r>
            <a:r>
              <a:rPr lang="zh-CN" altLang="en-US" sz="1200">
                <a:latin typeface="+mn-ea"/>
                <a:cs typeface="+mn-ea"/>
              </a:rPr>
              <a:t>“金矿</a:t>
            </a:r>
            <a:r>
              <a:rPr lang="zh-CN" altLang="en-US" sz="1200">
                <a:latin typeface="+mn-ea"/>
                <a:cs typeface="+mn-ea"/>
              </a:rPr>
              <a:t>”中挖掘价值，从而直接为业务创造价值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FF"/>
                </a:solidFill>
                <a:latin typeface="+mn-ea"/>
                <a:cs typeface="+mn-ea"/>
              </a:rPr>
              <a:t>AI</a:t>
            </a: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技术的探索与应用能力</a:t>
            </a:r>
            <a:r>
              <a:rPr lang="zh-CN" altLang="en-US" sz="1200">
                <a:latin typeface="+mn-ea"/>
                <a:cs typeface="+mn-ea"/>
              </a:rPr>
              <a:t>：提升开发效率：应用</a:t>
            </a:r>
            <a:r>
              <a:rPr lang="en-US" altLang="zh-CN" sz="1200">
                <a:latin typeface="+mn-ea"/>
                <a:cs typeface="+mn-ea"/>
              </a:rPr>
              <a:t>AI</a:t>
            </a:r>
            <a:r>
              <a:rPr lang="zh-CN" altLang="en-US" sz="1200">
                <a:latin typeface="+mn-ea"/>
                <a:cs typeface="+mn-ea"/>
              </a:rPr>
              <a:t>辅助编程工具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业务场景创新</a:t>
            </a:r>
            <a:r>
              <a:rPr lang="zh-CN" altLang="en-US" sz="1200">
                <a:latin typeface="+mn-ea"/>
                <a:cs typeface="+mn-ea"/>
              </a:rPr>
              <a:t>：探索利用</a:t>
            </a:r>
            <a:r>
              <a:rPr lang="en-US" altLang="zh-CN" sz="1200">
                <a:latin typeface="+mn-ea"/>
                <a:cs typeface="+mn-ea"/>
              </a:rPr>
              <a:t>AI</a:t>
            </a:r>
            <a:r>
              <a:rPr lang="zh-CN" altLang="en-US" sz="1200">
                <a:latin typeface="+mn-ea"/>
                <a:cs typeface="+mn-ea"/>
              </a:rPr>
              <a:t>进行视觉检测、智能问答等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FF"/>
                </a:solidFill>
                <a:latin typeface="+mn-ea"/>
                <a:cs typeface="+mn-ea"/>
              </a:rPr>
              <a:t>数字孪生与仿真</a:t>
            </a:r>
            <a:r>
              <a:rPr lang="zh-CN" altLang="en-US" sz="1200">
                <a:latin typeface="+mn-ea"/>
                <a:cs typeface="+mn-ea"/>
              </a:rPr>
              <a:t>：搭建</a:t>
            </a:r>
            <a:r>
              <a:rPr lang="zh-CN" altLang="en-US" sz="1200">
                <a:latin typeface="+mn-ea"/>
                <a:cs typeface="+mn-ea"/>
              </a:rPr>
              <a:t>“数字孪生</a:t>
            </a:r>
            <a:r>
              <a:rPr lang="zh-CN" altLang="en-US" sz="1200">
                <a:latin typeface="+mn-ea"/>
                <a:cs typeface="+mn-ea"/>
              </a:rPr>
              <a:t>”车间，用于新产品上线的仿真验证、员工培训等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更深入的业务理解</a:t>
            </a:r>
            <a:r>
              <a:rPr lang="zh-CN" altLang="en-US" sz="1200">
                <a:latin typeface="+mn-ea"/>
                <a:cs typeface="+mn-ea"/>
              </a:rPr>
              <a:t>：需要持续加深对核心业务（如生产、供应链、销售）的理解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01080" y="5163185"/>
            <a:ext cx="532892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未来能力展望 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(1-2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年需要发展的新能力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)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61590" y="313690"/>
            <a:ext cx="4948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人才画像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：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交付管理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团队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685655" y="102298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1</a:t>
            </a:r>
            <a:endParaRPr lang="en-US" altLang="zh-CN" sz="1400"/>
          </a:p>
        </p:txBody>
      </p:sp>
      <p:sp>
        <p:nvSpPr>
          <p:cNvPr id="30" name="椭圆 29"/>
          <p:cNvSpPr/>
          <p:nvPr/>
        </p:nvSpPr>
        <p:spPr>
          <a:xfrm>
            <a:off x="5593715" y="100711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2</a:t>
            </a:r>
            <a:endParaRPr lang="en-US" altLang="zh-CN" sz="1400"/>
          </a:p>
        </p:txBody>
      </p:sp>
      <p:sp>
        <p:nvSpPr>
          <p:cNvPr id="31" name="椭圆 30"/>
          <p:cNvSpPr/>
          <p:nvPr/>
        </p:nvSpPr>
        <p:spPr>
          <a:xfrm>
            <a:off x="5593715" y="293497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3</a:t>
            </a:r>
            <a:endParaRPr lang="en-US" altLang="zh-CN" sz="1400"/>
          </a:p>
        </p:txBody>
      </p:sp>
      <p:sp>
        <p:nvSpPr>
          <p:cNvPr id="32" name="椭圆 31"/>
          <p:cNvSpPr/>
          <p:nvPr/>
        </p:nvSpPr>
        <p:spPr>
          <a:xfrm>
            <a:off x="293370" y="100330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4</a:t>
            </a:r>
            <a:endParaRPr lang="en-US" altLang="zh-CN" sz="1400"/>
          </a:p>
        </p:txBody>
      </p:sp>
      <p:sp>
        <p:nvSpPr>
          <p:cNvPr id="33" name="椭圆 32"/>
          <p:cNvSpPr/>
          <p:nvPr/>
        </p:nvSpPr>
        <p:spPr>
          <a:xfrm>
            <a:off x="293370" y="239204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5</a:t>
            </a:r>
            <a:endParaRPr lang="en-US" altLang="zh-CN" sz="1400"/>
          </a:p>
        </p:txBody>
      </p:sp>
      <p:sp>
        <p:nvSpPr>
          <p:cNvPr id="34" name="椭圆 33"/>
          <p:cNvSpPr/>
          <p:nvPr/>
        </p:nvSpPr>
        <p:spPr>
          <a:xfrm>
            <a:off x="280035" y="378079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6</a:t>
            </a:r>
            <a:endParaRPr lang="en-US" altLang="zh-CN" sz="1400"/>
          </a:p>
        </p:txBody>
      </p:sp>
      <p:sp>
        <p:nvSpPr>
          <p:cNvPr id="35" name="椭圆 34"/>
          <p:cNvSpPr/>
          <p:nvPr/>
        </p:nvSpPr>
        <p:spPr>
          <a:xfrm>
            <a:off x="306705" y="519493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7</a:t>
            </a:r>
            <a:endParaRPr lang="en-US" altLang="zh-CN" sz="1400"/>
          </a:p>
        </p:txBody>
      </p:sp>
      <p:sp>
        <p:nvSpPr>
          <p:cNvPr id="36" name="椭圆 35"/>
          <p:cNvSpPr/>
          <p:nvPr/>
        </p:nvSpPr>
        <p:spPr>
          <a:xfrm>
            <a:off x="5604510" y="517969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8</a:t>
            </a:r>
            <a:endParaRPr lang="en-US" altLang="zh-CN" sz="1400"/>
          </a:p>
        </p:txBody>
      </p:sp>
      <p:sp>
        <p:nvSpPr>
          <p:cNvPr id="37" name="文本框 36"/>
          <p:cNvSpPr txBox="1"/>
          <p:nvPr/>
        </p:nvSpPr>
        <p:spPr>
          <a:xfrm>
            <a:off x="6342380" y="2680335"/>
            <a:ext cx="2193290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经验和挑战式</a:t>
            </a:r>
            <a:r>
              <a:rPr lang="zh-CN" altLang="en-US" b="1">
                <a:solidFill>
                  <a:schemeClr val="tx1"/>
                </a:solidFill>
              </a:rPr>
              <a:t>学习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38955" y="3554095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关键技能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33315" y="6527800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发展空间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2561590" y="193675"/>
            <a:ext cx="92290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交付管理人员不仅是一群责任心强、逻辑严谨的技术专家，且表现出良好的组织管理特质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，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但人际敏锐度较为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欠缺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401320" y="925830"/>
          <a:ext cx="11389995" cy="5932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446405" y="927100"/>
            <a:ext cx="5659120" cy="566610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104890" y="925830"/>
            <a:ext cx="5690235" cy="5667375"/>
          </a:xfrm>
          <a:prstGeom prst="rect">
            <a:avLst/>
          </a:prstGeom>
          <a:gradFill>
            <a:gsLst>
              <a:gs pos="100000">
                <a:srgbClr val="FFC000">
                  <a:alpha val="30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24000">
                <a:schemeClr val="bg1">
                  <a:alpha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313548" y="926284"/>
            <a:ext cx="698938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一致性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8315325" y="6209030"/>
            <a:ext cx="214566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第四象限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优势分化区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专家驱动区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】5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8315960" y="1275715"/>
            <a:ext cx="214503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第一象限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核心优势区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团队基石区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】2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2236470" y="6127115"/>
            <a:ext cx="191833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第三象限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【</a:t>
            </a: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混沌不明区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 / </a:t>
            </a: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非核心区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2075815" y="1597660"/>
            <a:ext cx="224028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第二象限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普遍短板区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团队盲点区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】12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726371" y="4162724"/>
            <a:ext cx="110845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6105508" y="1073009"/>
            <a:ext cx="0" cy="56762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auto">
          <a:xfrm>
            <a:off x="10760710" y="6424295"/>
            <a:ext cx="1030605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平均值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26770" y="1254760"/>
            <a:ext cx="1075690" cy="47180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413125" y="955675"/>
            <a:ext cx="82613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199130" y="2559050"/>
            <a:ext cx="82613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075815" y="3559810"/>
            <a:ext cx="103060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 rot="20040000">
            <a:off x="4631690" y="3348355"/>
            <a:ext cx="1877060" cy="5638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988175" y="3430905"/>
            <a:ext cx="132778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987540" y="4495165"/>
            <a:ext cx="1029970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451340" y="2054860"/>
            <a:ext cx="1572260" cy="115760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504680" y="2081530"/>
            <a:ext cx="15716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责任性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细节敏感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批判性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316095" y="2028190"/>
            <a:ext cx="1572260" cy="1183640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424680" y="1793240"/>
            <a:ext cx="15716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外向性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乐观性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自控性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自信性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关怀性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451340" y="4172585"/>
            <a:ext cx="1572260" cy="171640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504680" y="4366260"/>
            <a:ext cx="15716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适应性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逻辑性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前瞻性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忧虑性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创新性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2411095"/>
            <a:ext cx="2288540" cy="858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715" y="1562100"/>
            <a:ext cx="2258695" cy="11036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2665730"/>
            <a:ext cx="2288540" cy="834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28270" y="904875"/>
            <a:ext cx="11920855" cy="6060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641205" y="981710"/>
            <a:ext cx="2259330" cy="4311650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92640" y="1681480"/>
            <a:ext cx="2193290" cy="349186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10000"/>
                    <a:lumOff val="90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0000"/>
                </a:solidFill>
                <a:latin typeface="+mn-ea"/>
                <a:cs typeface="+mn-ea"/>
              </a:rPr>
              <a:t>多样的职业起点</a:t>
            </a:r>
            <a:r>
              <a:rPr lang="en-US" altLang="zh-CN" sz="1300">
                <a:solidFill>
                  <a:srgbClr val="1331F5"/>
                </a:solidFill>
                <a:latin typeface="+mn-ea"/>
                <a:cs typeface="+mn-ea"/>
              </a:rPr>
              <a:t>:</a:t>
            </a:r>
            <a:r>
              <a:rPr lang="en-US" altLang="zh-CN" sz="1300">
                <a:latin typeface="+mn-ea"/>
                <a:cs typeface="+mn-ea"/>
              </a:rPr>
              <a:t> </a:t>
            </a:r>
            <a:r>
              <a:rPr lang="zh-CN" altLang="en-US" sz="1300">
                <a:latin typeface="+mn-ea"/>
                <a:cs typeface="+mn-ea"/>
                <a:sym typeface="+mn-ea"/>
              </a:rPr>
              <a:t>背景多样</a:t>
            </a:r>
            <a:r>
              <a:rPr lang="en-US" altLang="zh-CN" sz="1300">
                <a:latin typeface="+mn-ea"/>
                <a:cs typeface="+mn-ea"/>
                <a:sym typeface="+mn-ea"/>
              </a:rPr>
              <a:t>—</a:t>
            </a:r>
            <a:r>
              <a:rPr lang="zh-CN" altLang="en-US" sz="1300">
                <a:latin typeface="+mn-ea"/>
                <a:cs typeface="+mn-ea"/>
                <a:sym typeface="+mn-ea"/>
              </a:rPr>
              <a:t>运维开发</a:t>
            </a:r>
            <a:r>
              <a:rPr lang="en-US" altLang="zh-CN" sz="1300">
                <a:latin typeface="+mn-ea"/>
                <a:cs typeface="+mn-ea"/>
                <a:sym typeface="+mn-ea"/>
              </a:rPr>
              <a:t>、</a:t>
            </a:r>
            <a:r>
              <a:rPr lang="zh-CN" altLang="en-US" sz="1300">
                <a:latin typeface="+mn-ea"/>
                <a:cs typeface="+mn-ea"/>
                <a:sym typeface="+mn-ea"/>
              </a:rPr>
              <a:t>外部实施</a:t>
            </a:r>
            <a:r>
              <a:rPr lang="en-US" altLang="zh-CN" sz="1300">
                <a:latin typeface="+mn-ea"/>
                <a:cs typeface="+mn-ea"/>
                <a:sym typeface="+mn-ea"/>
              </a:rPr>
              <a:t>、</a:t>
            </a:r>
            <a:r>
              <a:rPr lang="zh-CN" altLang="en-US" sz="1300">
                <a:latin typeface="+mn-ea"/>
                <a:cs typeface="+mn-ea"/>
                <a:sym typeface="+mn-ea"/>
              </a:rPr>
              <a:t>外部开发等</a:t>
            </a:r>
            <a:endParaRPr lang="zh-CN" altLang="en-US" sz="13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0000"/>
                </a:solidFill>
                <a:latin typeface="+mn-ea"/>
                <a:cs typeface="+mn-ea"/>
              </a:rPr>
              <a:t>关键角色转变</a:t>
            </a:r>
            <a:r>
              <a:rPr lang="en-US" altLang="zh-CN" sz="1300">
                <a:latin typeface="+mn-ea"/>
                <a:cs typeface="+mn-ea"/>
              </a:rPr>
              <a:t>: </a:t>
            </a:r>
            <a:r>
              <a:rPr lang="zh-CN" altLang="en-US" sz="1300">
                <a:latin typeface="+mn-ea"/>
                <a:cs typeface="+mn-ea"/>
              </a:rPr>
              <a:t>从被动响应到主动引导、从点状支持到体系化服务</a:t>
            </a:r>
            <a:r>
              <a:rPr lang="en-US" altLang="zh-CN" sz="1300">
                <a:latin typeface="+mn-ea"/>
                <a:cs typeface="+mn-ea"/>
              </a:rPr>
              <a:t>，</a:t>
            </a:r>
            <a:r>
              <a:rPr lang="zh-CN" altLang="en-US" sz="1300">
                <a:latin typeface="+mn-ea"/>
                <a:cs typeface="+mn-ea"/>
              </a:rPr>
              <a:t>从问题</a:t>
            </a:r>
            <a:r>
              <a:rPr lang="zh-CN" altLang="en-US" sz="1300">
                <a:latin typeface="+mn-ea"/>
                <a:cs typeface="+mn-ea"/>
              </a:rPr>
              <a:t>解决者，成长为一个能够理解并参与塑造业务流程的业务伙伴</a:t>
            </a:r>
            <a:endParaRPr lang="zh-CN" altLang="en-US" sz="13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1331F5"/>
                </a:solidFill>
                <a:latin typeface="+mn-ea"/>
                <a:cs typeface="+mn-ea"/>
              </a:rPr>
              <a:t>从被动到主动的思维跃迁</a:t>
            </a:r>
            <a:r>
              <a:rPr lang="en-US" altLang="zh-CN" sz="1300">
                <a:latin typeface="+mn-ea"/>
                <a:cs typeface="+mn-ea"/>
              </a:rPr>
              <a:t>: </a:t>
            </a:r>
            <a:r>
              <a:rPr lang="zh-CN" altLang="en-US" sz="1300">
                <a:latin typeface="+mn-ea"/>
                <a:cs typeface="+mn-ea"/>
              </a:rPr>
              <a:t>初级阶段，是响应业务提出的需求</a:t>
            </a:r>
            <a:r>
              <a:rPr lang="en-US" altLang="zh-CN" sz="1300">
                <a:latin typeface="+mn-ea"/>
                <a:cs typeface="+mn-ea"/>
              </a:rPr>
              <a:t>，</a:t>
            </a:r>
            <a:r>
              <a:rPr lang="zh-CN" altLang="en-US" sz="1300">
                <a:latin typeface="+mn-ea"/>
                <a:cs typeface="+mn-ea"/>
              </a:rPr>
              <a:t>成长的核心在于</a:t>
            </a:r>
            <a:r>
              <a:rPr lang="zh-CN" altLang="en-US" sz="1300">
                <a:solidFill>
                  <a:srgbClr val="FF0000"/>
                </a:solidFill>
                <a:latin typeface="+mn-ea"/>
                <a:cs typeface="+mn-ea"/>
              </a:rPr>
              <a:t>学会主动思考和引导</a:t>
            </a:r>
            <a:r>
              <a:rPr lang="en-US" altLang="zh-CN" sz="1300">
                <a:solidFill>
                  <a:srgbClr val="FF0000"/>
                </a:solidFill>
                <a:latin typeface="+mn-ea"/>
                <a:cs typeface="+mn-ea"/>
              </a:rPr>
              <a:t>，</a:t>
            </a:r>
            <a:r>
              <a:rPr lang="zh-CN" altLang="en-US" sz="1300">
                <a:solidFill>
                  <a:srgbClr val="FF0000"/>
                </a:solidFill>
                <a:latin typeface="+mn-ea"/>
                <a:cs typeface="+mn-ea"/>
              </a:rPr>
              <a:t>学会不仅要问做什么，更要问为什么</a:t>
            </a:r>
            <a:r>
              <a:rPr lang="zh-CN" altLang="en-US" sz="1300">
                <a:latin typeface="+mn-ea"/>
                <a:cs typeface="+mn-ea"/>
              </a:rPr>
              <a:t>，能够基于自己的专业知识，为业务方提供更优的解决方案，主动发现他们自己都未意识到的痛点</a:t>
            </a:r>
            <a:endParaRPr lang="zh-CN" altLang="en-US" sz="1300"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42475" y="1109980"/>
            <a:ext cx="2323465" cy="3860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成长起点与角色转变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1650" y="982345"/>
            <a:ext cx="3996055" cy="2216150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1650" y="3246755"/>
            <a:ext cx="3996055" cy="2046605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00445" y="1014095"/>
            <a:ext cx="3479800" cy="2122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1st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完整的项目经历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实现了从执行者到管理者的初步转变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大型、跨领域的复杂项目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涉及多个业务领域、需要与多个项目组紧密协同的大型项目，极大地扩展了他们的全局视野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从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0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到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1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的探索性项目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如担任应用架构师对公司所有</a:t>
            </a:r>
            <a:r>
              <a:rPr lang="zh-CN" altLang="en-US" sz="1200">
                <a:latin typeface="+mn-ea"/>
                <a:cs typeface="+mn-ea"/>
              </a:rPr>
              <a:t>多系统进行顶层规划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解决业务数据孤岛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锻炼在不确定性中定义问题、设计方案和推动变革的能力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财务共享项目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深度参与财务共享项目是一个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质的提升</a:t>
            </a:r>
            <a:r>
              <a:rPr lang="en-US" altLang="zh-CN" sz="1200">
                <a:latin typeface="+mn-ea"/>
                <a:cs typeface="+mn-ea"/>
              </a:rPr>
              <a:t>”，</a:t>
            </a:r>
            <a:r>
              <a:rPr lang="zh-CN" altLang="en-US" sz="1200">
                <a:latin typeface="+mn-ea"/>
                <a:cs typeface="+mn-ea"/>
              </a:rPr>
              <a:t>有机会端到端地了解财务的全流程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09970" y="3279775"/>
            <a:ext cx="348043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业务知识的壁垒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不懂业务是最大的障碍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听不懂业务术语而感到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忐忑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和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懵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。他们通过请教同事、自学课程、深入现场等方式弥补知识短板，只有真正理解业务，才能获得业务方的信任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“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翻译官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”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能力的初步锻炼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作为</a:t>
            </a:r>
            <a:r>
              <a:rPr lang="en-US" altLang="zh-CN" sz="1200">
                <a:latin typeface="+mn-ea"/>
                <a:cs typeface="+mn-ea"/>
              </a:rPr>
              <a:t>IT</a:t>
            </a:r>
            <a:r>
              <a:rPr lang="zh-CN" altLang="en-US" sz="1200">
                <a:latin typeface="+mn-ea"/>
                <a:cs typeface="+mn-ea"/>
              </a:rPr>
              <a:t>与业务之间的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桥梁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角色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将业务模糊感性的需求翻译成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</a:rPr>
              <a:t>IT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团队可以理解和执行的结构化语言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</a:rPr>
              <a:t>，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反之亦然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应对复杂人际关系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大量处理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人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的问题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学会在复杂的跨部门协作中，通过建立信任、有效沟通来解决问题，而不是仅仅依赖技术逻辑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0870" y="1415415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关键的里程碑项目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90870" y="3716020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核心挑战与学习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6700" y="981710"/>
            <a:ext cx="5250815" cy="1198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5590" y="1301115"/>
            <a:ext cx="525145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</a:rPr>
              <a:t>业务洞察力</a:t>
            </a:r>
            <a:r>
              <a:rPr lang="en-US" altLang="zh-CN" sz="1200">
                <a:latin typeface="+mn-ea"/>
              </a:rPr>
              <a:t>: </a:t>
            </a:r>
            <a:r>
              <a:rPr lang="zh-CN" altLang="en-US" sz="1200">
                <a:latin typeface="+mn-ea"/>
              </a:rPr>
              <a:t>被提及次数最多、最重要的能力</a:t>
            </a:r>
            <a:r>
              <a:rPr lang="en-US" altLang="zh-CN" sz="1200">
                <a:latin typeface="+mn-ea"/>
              </a:rPr>
              <a:t>，</a:t>
            </a:r>
            <a:r>
              <a:rPr lang="zh-CN" altLang="en-US" sz="1200">
                <a:latin typeface="+mn-ea"/>
              </a:rPr>
              <a:t>真正懂业务，深入理解业务的运作模式、痛点和战略方向</a:t>
            </a:r>
            <a:r>
              <a:rPr lang="en-US" altLang="zh-CN" sz="1200">
                <a:latin typeface="+mn-ea"/>
              </a:rPr>
              <a:t>，</a:t>
            </a:r>
            <a:r>
              <a:rPr lang="zh-CN" altLang="en-US" sz="1200">
                <a:latin typeface="+mn-ea"/>
              </a:rPr>
              <a:t>才能提出有价值的解决方案，并获得信任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</a:rPr>
              <a:t>需求引领能力</a:t>
            </a:r>
            <a:r>
              <a:rPr lang="en-US" altLang="zh-CN" sz="1200">
                <a:latin typeface="+mn-ea"/>
              </a:rPr>
              <a:t>: </a:t>
            </a:r>
            <a:r>
              <a:rPr lang="zh-CN" altLang="en-US" sz="1200">
                <a:latin typeface="+mn-ea"/>
              </a:rPr>
              <a:t>不仅是</a:t>
            </a:r>
            <a:r>
              <a:rPr lang="en-US" altLang="zh-CN" sz="1200">
                <a:latin typeface="+mn-ea"/>
              </a:rPr>
              <a:t>“</a:t>
            </a:r>
            <a:r>
              <a:rPr lang="zh-CN" altLang="en-US" sz="1200">
                <a:latin typeface="+mn-ea"/>
              </a:rPr>
              <a:t>需求传话筒</a:t>
            </a:r>
            <a:r>
              <a:rPr lang="en-US" altLang="zh-CN" sz="1200">
                <a:latin typeface="+mn-ea"/>
              </a:rPr>
              <a:t>”</a:t>
            </a:r>
            <a:r>
              <a:rPr lang="zh-CN" altLang="en-US" sz="1200">
                <a:latin typeface="+mn-ea"/>
              </a:rPr>
              <a:t>，要能基于对业务和技术的双重理解，引导和塑造需求</a:t>
            </a:r>
            <a:r>
              <a:rPr lang="en-US" altLang="zh-CN" sz="1200">
                <a:latin typeface="+mn-ea"/>
              </a:rPr>
              <a:t>，</a:t>
            </a:r>
            <a:r>
              <a:rPr lang="zh-CN" altLang="en-US" sz="1200">
                <a:latin typeface="+mn-ea"/>
              </a:rPr>
              <a:t>判断需求合理性，提出更具前瞻性和系统性的优化</a:t>
            </a:r>
            <a:r>
              <a:rPr lang="zh-CN" altLang="en-US" sz="1200">
                <a:latin typeface="+mn-ea"/>
              </a:rPr>
              <a:t>建议</a:t>
            </a:r>
            <a:endParaRPr lang="zh-CN" altLang="en-US" sz="1200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63675" y="1017905"/>
            <a:ext cx="280670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业务理解与引领</a:t>
            </a:r>
            <a:r>
              <a:rPr lang="zh-CN" altLang="en-US" sz="1400" b="1">
                <a:latin typeface="+mn-ea"/>
                <a:sym typeface="+mn-ea"/>
              </a:rPr>
              <a:t>是核心</a:t>
            </a: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1785" y="5340985"/>
            <a:ext cx="11574145" cy="1509395"/>
          </a:xfrm>
          <a:prstGeom prst="rect">
            <a:avLst/>
          </a:prstGeom>
          <a:solidFill>
            <a:srgbClr val="92D050">
              <a:alpha val="30000"/>
            </a:srgbClr>
          </a:solidFill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11785" y="5611495"/>
            <a:ext cx="1141857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数据分析与价值挖掘</a:t>
            </a:r>
            <a:r>
              <a:rPr lang="zh-CN" altLang="en-US" sz="1200">
                <a:latin typeface="+mn-ea"/>
                <a:cs typeface="+mn-ea"/>
              </a:rPr>
              <a:t>：最重要的未来能力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如何利用数据去洞察业务、驱动决策、量化价值，成为了业务顾问从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支撑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走向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latin typeface="+mn-ea"/>
                <a:cs typeface="+mn-ea"/>
              </a:rPr>
              <a:t>赋能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的关键。他们希望能学习数据分析工具和方法，更好地服务于业务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AI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技术的理解与应用</a:t>
            </a:r>
            <a:r>
              <a:rPr lang="zh-CN" altLang="en-US" sz="1200">
                <a:latin typeface="+mn-ea"/>
                <a:cs typeface="+mn-ea"/>
              </a:rPr>
              <a:t>：</a:t>
            </a:r>
            <a:r>
              <a:rPr lang="en-US" altLang="zh-CN" sz="1200">
                <a:latin typeface="+mn-ea"/>
                <a:cs typeface="+mn-ea"/>
              </a:rPr>
              <a:t>AI</a:t>
            </a:r>
            <a:r>
              <a:rPr lang="zh-CN" altLang="en-US" sz="1200">
                <a:latin typeface="+mn-ea"/>
                <a:cs typeface="+mn-ea"/>
              </a:rPr>
              <a:t>是未来的大趋势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业务管理人员需要主动去了解</a:t>
            </a:r>
            <a:r>
              <a:rPr lang="en-US" altLang="zh-CN" sz="1200">
                <a:latin typeface="+mn-ea"/>
                <a:cs typeface="+mn-ea"/>
              </a:rPr>
              <a:t>AI</a:t>
            </a:r>
            <a:r>
              <a:rPr lang="zh-CN" altLang="en-US" sz="1200">
                <a:latin typeface="+mn-ea"/>
                <a:cs typeface="+mn-ea"/>
              </a:rPr>
              <a:t>能做什么，并思考如何将其与自己负责的业务场景相结合，找到智能化的应用点（如智能问答、视觉识别、流程自动化），从而提升业务效率和价值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业务引领与创新能力</a:t>
            </a:r>
            <a:r>
              <a:rPr lang="zh-CN" altLang="en-US" sz="1200">
                <a:latin typeface="+mn-ea"/>
                <a:cs typeface="+mn-ea"/>
              </a:rPr>
              <a:t>：从响应转变为引领者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更强的前瞻性，主动去研究行业最佳实践，并将新的理念和模式引入到业务中，推动业务的变革和创新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提升影响力与汇报能力</a:t>
            </a:r>
            <a:r>
              <a:rPr lang="zh-CN" altLang="en-US" sz="1200">
                <a:latin typeface="+mn-ea"/>
                <a:cs typeface="+mn-ea"/>
              </a:rPr>
              <a:t>：提升表达和呈现能力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学会更好地</a:t>
            </a:r>
            <a:r>
              <a:rPr lang="zh-CN" altLang="en-US" sz="1200">
                <a:latin typeface="+mn-ea"/>
                <a:cs typeface="+mn-ea"/>
              </a:rPr>
              <a:t>呈现工作成果，将</a:t>
            </a:r>
            <a:r>
              <a:rPr lang="en-US" altLang="zh-CN" sz="1200">
                <a:latin typeface="+mn-ea"/>
                <a:cs typeface="+mn-ea"/>
              </a:rPr>
              <a:t>IT</a:t>
            </a:r>
            <a:r>
              <a:rPr lang="zh-CN" altLang="en-US" sz="1200">
                <a:latin typeface="+mn-ea"/>
                <a:cs typeface="+mn-ea"/>
              </a:rPr>
              <a:t>的价值清晰地传递给业务和管理层，从而获得更多的认可和支持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04260" y="5341620"/>
            <a:ext cx="532892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未来能力展望 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(1-2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年需要发展的新能力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)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61590" y="313690"/>
            <a:ext cx="40913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人才画像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：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业务管理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团队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685655" y="102298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1</a:t>
            </a:r>
            <a:endParaRPr lang="en-US" altLang="zh-CN" sz="1400"/>
          </a:p>
        </p:txBody>
      </p:sp>
      <p:sp>
        <p:nvSpPr>
          <p:cNvPr id="30" name="椭圆 29"/>
          <p:cNvSpPr/>
          <p:nvPr/>
        </p:nvSpPr>
        <p:spPr>
          <a:xfrm>
            <a:off x="5593715" y="100711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2</a:t>
            </a:r>
            <a:endParaRPr lang="en-US" altLang="zh-CN" sz="1400"/>
          </a:p>
        </p:txBody>
      </p:sp>
      <p:sp>
        <p:nvSpPr>
          <p:cNvPr id="31" name="椭圆 30"/>
          <p:cNvSpPr/>
          <p:nvPr/>
        </p:nvSpPr>
        <p:spPr>
          <a:xfrm>
            <a:off x="5614670" y="343154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3</a:t>
            </a:r>
            <a:endParaRPr lang="en-US" altLang="zh-CN" sz="1400"/>
          </a:p>
        </p:txBody>
      </p:sp>
      <p:sp>
        <p:nvSpPr>
          <p:cNvPr id="32" name="椭圆 31"/>
          <p:cNvSpPr/>
          <p:nvPr/>
        </p:nvSpPr>
        <p:spPr>
          <a:xfrm>
            <a:off x="293370" y="100330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6</a:t>
            </a:r>
            <a:endParaRPr lang="en-US" altLang="zh-CN" sz="1400"/>
          </a:p>
        </p:txBody>
      </p:sp>
      <p:sp>
        <p:nvSpPr>
          <p:cNvPr id="36" name="椭圆 35"/>
          <p:cNvSpPr/>
          <p:nvPr/>
        </p:nvSpPr>
        <p:spPr>
          <a:xfrm>
            <a:off x="334645" y="537083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7</a:t>
            </a:r>
            <a:endParaRPr lang="en-US" altLang="zh-CN" sz="1400"/>
          </a:p>
        </p:txBody>
      </p:sp>
      <p:sp>
        <p:nvSpPr>
          <p:cNvPr id="38" name="矩形 37"/>
          <p:cNvSpPr/>
          <p:nvPr/>
        </p:nvSpPr>
        <p:spPr>
          <a:xfrm>
            <a:off x="267335" y="2235200"/>
            <a:ext cx="5250815" cy="1509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11785" y="2562860"/>
            <a:ext cx="52241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沟通的</a:t>
            </a:r>
            <a:r>
              <a:rPr lang="en-US" altLang="zh-CN" sz="1200">
                <a:solidFill>
                  <a:srgbClr val="1331F5"/>
                </a:solidFill>
                <a:latin typeface="+mn-ea"/>
                <a:sym typeface="+mn-ea"/>
              </a:rPr>
              <a:t>“</a:t>
            </a: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翻译</a:t>
            </a:r>
            <a:r>
              <a:rPr lang="en-US" altLang="zh-CN" sz="1200">
                <a:solidFill>
                  <a:srgbClr val="1331F5"/>
                </a:solidFill>
                <a:latin typeface="+mn-ea"/>
                <a:sym typeface="+mn-ea"/>
              </a:rPr>
              <a:t>”</a:t>
            </a: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能力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能熟练地在</a:t>
            </a:r>
            <a:r>
              <a:rPr lang="en-US" altLang="zh-CN" sz="1200">
                <a:latin typeface="+mn-ea"/>
                <a:sym typeface="+mn-ea"/>
              </a:rPr>
              <a:t>“</a:t>
            </a:r>
            <a:r>
              <a:rPr lang="zh-CN" altLang="en-US" sz="1200">
                <a:latin typeface="+mn-ea"/>
                <a:sym typeface="+mn-ea"/>
              </a:rPr>
              <a:t>业务语言</a:t>
            </a:r>
            <a:r>
              <a:rPr lang="en-US" altLang="zh-CN" sz="1200">
                <a:latin typeface="+mn-ea"/>
                <a:sym typeface="+mn-ea"/>
              </a:rPr>
              <a:t>”</a:t>
            </a:r>
            <a:r>
              <a:rPr lang="zh-CN" altLang="en-US" sz="1200">
                <a:latin typeface="+mn-ea"/>
                <a:sym typeface="+mn-ea"/>
              </a:rPr>
              <a:t>和</a:t>
            </a:r>
            <a:r>
              <a:rPr lang="en-US" altLang="zh-CN" sz="1200">
                <a:latin typeface="+mn-ea"/>
                <a:sym typeface="+mn-ea"/>
              </a:rPr>
              <a:t>“</a:t>
            </a:r>
            <a:r>
              <a:rPr lang="zh-CN" altLang="en-US" sz="1200">
                <a:latin typeface="+mn-ea"/>
                <a:sym typeface="+mn-ea"/>
              </a:rPr>
              <a:t>技术语言</a:t>
            </a:r>
            <a:r>
              <a:rPr lang="en-US" altLang="zh-CN" sz="1200">
                <a:latin typeface="+mn-ea"/>
                <a:sym typeface="+mn-ea"/>
              </a:rPr>
              <a:t>”</a:t>
            </a:r>
            <a:r>
              <a:rPr lang="zh-CN" altLang="en-US" sz="1200">
                <a:latin typeface="+mn-ea"/>
                <a:sym typeface="+mn-ea"/>
              </a:rPr>
              <a:t>之间进行切换，扮演好桥梁和翻译官的角色</a:t>
            </a:r>
            <a:endParaRPr lang="zh-CN" altLang="en-US" sz="1200">
              <a:latin typeface="+mn-ea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同理心与建立信任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能够站在业务方的角度思考问题，理解他们的难处，通过真诚的沟通建立信任关系，这是所有协作的基础</a:t>
            </a:r>
            <a:endParaRPr lang="zh-CN" altLang="en-US" sz="1200">
              <a:latin typeface="+mn-ea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冲突管理与推动力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面对分歧和阻力时，能够有效地进行沟通和协调，化解矛盾，并以柔和而坚定的方式推动事情前进</a:t>
            </a:r>
            <a:endParaRPr lang="zh-CN" altLang="en-US" sz="1200">
              <a:latin typeface="+mn-ea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520825" y="2279650"/>
            <a:ext cx="280670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沟通协调与人际能力</a:t>
            </a:r>
            <a:r>
              <a:rPr lang="zh-CN" altLang="en-US" sz="1400" b="1">
                <a:latin typeface="+mn-ea"/>
                <a:sym typeface="+mn-ea"/>
              </a:rPr>
              <a:t>是关键</a:t>
            </a:r>
            <a:endParaRPr lang="zh-CN" altLang="en-US" sz="1400" b="1">
              <a:latin typeface="+mn-ea"/>
              <a:sym typeface="+mn-ea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55905" y="3806190"/>
            <a:ext cx="5250815" cy="1509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4955" y="4068445"/>
            <a:ext cx="52273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全局观</a:t>
            </a:r>
            <a:r>
              <a:rPr lang="zh-CN" altLang="en-US" sz="1200">
                <a:latin typeface="+mn-ea"/>
                <a:sym typeface="+mn-ea"/>
              </a:rPr>
              <a:t>：不局限于自己负责的模块或系统，能站在整个业务流程、甚至公司战略的高度来看待问题，理解各项工作之间的关联</a:t>
            </a:r>
            <a:endParaRPr lang="zh-CN" altLang="en-US" sz="1200">
              <a:latin typeface="+mn-ea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结构化与逻辑思维</a:t>
            </a:r>
            <a:r>
              <a:rPr lang="zh-CN" altLang="en-US" sz="1200">
                <a:latin typeface="+mn-ea"/>
                <a:sym typeface="+mn-ea"/>
              </a:rPr>
              <a:t>：能够将复杂、模糊的问题进行解构，用结构化的方式进行分析，并形成清晰、有逻辑的解决方案</a:t>
            </a:r>
            <a:endParaRPr lang="zh-CN" altLang="en-US" sz="1200">
              <a:latin typeface="+mn-ea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方案设计与呈现能力</a:t>
            </a:r>
            <a:r>
              <a:rPr lang="zh-CN" altLang="en-US" sz="1200">
                <a:latin typeface="+mn-ea"/>
                <a:sym typeface="+mn-ea"/>
              </a:rPr>
              <a:t>：不仅要能想，还要能写、能讲</a:t>
            </a:r>
            <a:r>
              <a:rPr lang="en-US" altLang="zh-CN" sz="1200">
                <a:latin typeface="+mn-ea"/>
                <a:sym typeface="+mn-ea"/>
              </a:rPr>
              <a:t>，</a:t>
            </a:r>
            <a:r>
              <a:rPr lang="zh-CN" altLang="en-US" sz="1200">
                <a:latin typeface="+mn-ea"/>
                <a:sym typeface="+mn-ea"/>
              </a:rPr>
              <a:t>能够将自己的思考和方案，通过</a:t>
            </a:r>
            <a:r>
              <a:rPr lang="en-US" altLang="zh-CN" sz="1200">
                <a:latin typeface="+mn-ea"/>
                <a:sym typeface="+mn-ea"/>
              </a:rPr>
              <a:t>PPT</a:t>
            </a:r>
            <a:r>
              <a:rPr lang="zh-CN" altLang="en-US" sz="1200">
                <a:latin typeface="+mn-ea"/>
                <a:sym typeface="+mn-ea"/>
              </a:rPr>
              <a:t>、流程图等方式清晰地呈现出来</a:t>
            </a:r>
            <a:endParaRPr lang="zh-CN" altLang="en-US" sz="1200">
              <a:latin typeface="+mn-ea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84630" y="3827145"/>
            <a:ext cx="2986405" cy="307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系统性思维与解决问题能力</a:t>
            </a:r>
            <a:r>
              <a:rPr lang="zh-CN" altLang="en-US" sz="1400" b="1">
                <a:latin typeface="+mn-ea"/>
                <a:sym typeface="+mn-ea"/>
              </a:rPr>
              <a:t>是基础</a:t>
            </a: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1785" y="226631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5</a:t>
            </a:r>
            <a:endParaRPr lang="en-US" altLang="zh-CN" sz="1400"/>
          </a:p>
        </p:txBody>
      </p:sp>
      <p:sp>
        <p:nvSpPr>
          <p:cNvPr id="45" name="椭圆 44"/>
          <p:cNvSpPr/>
          <p:nvPr/>
        </p:nvSpPr>
        <p:spPr>
          <a:xfrm>
            <a:off x="294005" y="384302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4</a:t>
            </a:r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6342380" y="3009265"/>
            <a:ext cx="2193290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经验和挑战式</a:t>
            </a:r>
            <a:r>
              <a:rPr lang="zh-CN" altLang="en-US" b="1">
                <a:solidFill>
                  <a:schemeClr val="tx1"/>
                </a:solidFill>
              </a:rPr>
              <a:t>学习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38955" y="3554095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关键技能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33315" y="6527800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发展空间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2561590" y="220345"/>
            <a:ext cx="9229090" cy="6546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业务管理人员有良好的组织和管理能力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，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但人际和行动力相对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不足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401320" y="905510"/>
          <a:ext cx="11389995" cy="5952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446405" y="1073785"/>
            <a:ext cx="5633085" cy="551942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079490" y="1073150"/>
            <a:ext cx="5844540" cy="5520055"/>
          </a:xfrm>
          <a:prstGeom prst="rect">
            <a:avLst/>
          </a:prstGeom>
          <a:gradFill>
            <a:gsLst>
              <a:gs pos="100000">
                <a:srgbClr val="FFC000">
                  <a:alpha val="30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24000">
                <a:schemeClr val="bg1">
                  <a:alpha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313548" y="926284"/>
            <a:ext cx="698938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一致性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8315325" y="6209030"/>
            <a:ext cx="2145665" cy="215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优势分化区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专家驱动区</a:t>
            </a:r>
            <a:endParaRPr kumimoji="1" lang="zh-CN" altLang="en-US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8315960" y="1275715"/>
            <a:ext cx="2145030" cy="215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核心优势区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团队基石区</a:t>
            </a:r>
            <a:endParaRPr kumimoji="1" lang="zh-CN" altLang="en-US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2236470" y="6127115"/>
            <a:ext cx="1918335" cy="215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混沌不明区</a:t>
            </a:r>
            <a:r>
              <a:rPr kumimoji="1" lang="en-US" altLang="zh-CN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 / </a:t>
            </a:r>
            <a:r>
              <a:rPr kumimoji="1" lang="zh-CN" altLang="en-US" sz="1400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非核心区</a:t>
            </a:r>
            <a:endParaRPr kumimoji="1" lang="zh-CN" altLang="en-US" sz="1400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2075815" y="1275715"/>
            <a:ext cx="2240280" cy="215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普遍短板区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团队盲点区</a:t>
            </a:r>
            <a:endParaRPr kumimoji="1" lang="zh-CN" altLang="en-US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726371" y="4316394"/>
            <a:ext cx="110845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/>
          <p:nvPr/>
        </p:nvCxnSpPr>
        <p:spPr bwMode="auto">
          <a:xfrm>
            <a:off x="6094078" y="1073009"/>
            <a:ext cx="0" cy="56762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文本框 13"/>
          <p:cNvSpPr txBox="1"/>
          <p:nvPr/>
        </p:nvSpPr>
        <p:spPr bwMode="auto">
          <a:xfrm>
            <a:off x="10760710" y="6424295"/>
            <a:ext cx="1030605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平均值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19" name="椭圆 18"/>
          <p:cNvSpPr/>
          <p:nvPr/>
        </p:nvSpPr>
        <p:spPr>
          <a:xfrm rot="21240000">
            <a:off x="1962785" y="3841750"/>
            <a:ext cx="2239645" cy="29083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489190" y="4591685"/>
            <a:ext cx="82613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442325" y="4876165"/>
            <a:ext cx="93027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172200" y="5338445"/>
            <a:ext cx="697865" cy="82740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533890" y="3924935"/>
            <a:ext cx="1323340" cy="183324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568180" y="4162425"/>
            <a:ext cx="15716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适应性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民主性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自控性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信任性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乐观性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54805" y="1599565"/>
            <a:ext cx="1323340" cy="199199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11320" y="1783715"/>
            <a:ext cx="15716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果断性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影响性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坦率性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分析性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成就性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坚韧性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0186670" y="2926715"/>
            <a:ext cx="1447165" cy="1113790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280650" y="3003550"/>
            <a:ext cx="11925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则热性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批判性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独立性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885" y="1891665"/>
            <a:ext cx="2303145" cy="10687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05" y="3049905"/>
            <a:ext cx="2257425" cy="828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505" y="1891665"/>
            <a:ext cx="2273300" cy="1098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28270" y="904875"/>
            <a:ext cx="11920855" cy="5835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641205" y="981710"/>
            <a:ext cx="2259330" cy="4634865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92640" y="1681480"/>
            <a:ext cx="2193290" cy="269176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10000"/>
                    <a:lumOff val="90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1331F5"/>
                </a:solidFill>
                <a:latin typeface="+mn-ea"/>
                <a:cs typeface="+mn-ea"/>
              </a:rPr>
              <a:t>多样的职业起点</a:t>
            </a:r>
            <a:r>
              <a:rPr lang="en-US" altLang="zh-CN" sz="1300">
                <a:latin typeface="+mn-ea"/>
                <a:cs typeface="+mn-ea"/>
              </a:rPr>
              <a:t>: </a:t>
            </a:r>
            <a:r>
              <a:rPr lang="zh-CN" altLang="en-US" sz="1300">
                <a:latin typeface="+mn-ea"/>
                <a:cs typeface="+mn-ea"/>
              </a:rPr>
              <a:t>同</a:t>
            </a:r>
            <a:r>
              <a:rPr lang="zh-CN" altLang="en-US" sz="1300">
                <a:latin typeface="+mn-ea"/>
                <a:cs typeface="+mn-ea"/>
                <a:sym typeface="+mn-ea"/>
              </a:rPr>
              <a:t>业务管理</a:t>
            </a:r>
            <a:endParaRPr lang="en-US" altLang="zh-CN" sz="13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0000FF"/>
                </a:solidFill>
                <a:latin typeface="+mn-ea"/>
                <a:cs typeface="+mn-ea"/>
              </a:rPr>
              <a:t>关键</a:t>
            </a:r>
            <a:r>
              <a:rPr lang="zh-CN" altLang="en-US" sz="1300">
                <a:solidFill>
                  <a:srgbClr val="1331F5"/>
                </a:solidFill>
                <a:latin typeface="+mn-ea"/>
                <a:cs typeface="+mn-ea"/>
              </a:rPr>
              <a:t>角色转变</a:t>
            </a:r>
            <a:r>
              <a:rPr lang="en-US" altLang="zh-CN" sz="1300">
                <a:solidFill>
                  <a:schemeClr val="tx1"/>
                </a:solidFill>
                <a:latin typeface="+mn-ea"/>
                <a:cs typeface="+mn-ea"/>
              </a:rPr>
              <a:t>: </a:t>
            </a:r>
            <a:r>
              <a:rPr lang="zh-CN" altLang="en-US" sz="1300">
                <a:latin typeface="+mn-ea"/>
                <a:cs typeface="+mn-ea"/>
              </a:rPr>
              <a:t>从具体执行（运维、开发、实施），转变为需承担端到端责任、协调多方资源的项目主导者</a:t>
            </a:r>
            <a:endParaRPr lang="zh-CN" altLang="en-US" sz="13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0000FF"/>
                </a:solidFill>
                <a:latin typeface="+mn-ea"/>
                <a:cs typeface="+mn-ea"/>
              </a:rPr>
              <a:t>从“被动”到“主动”的思维跃迁</a:t>
            </a:r>
            <a:r>
              <a:rPr lang="en-US" altLang="zh-CN" sz="1300">
                <a:latin typeface="+mn-ea"/>
                <a:cs typeface="+mn-ea"/>
              </a:rPr>
              <a:t>: </a:t>
            </a:r>
            <a:r>
              <a:rPr lang="zh-CN" altLang="en-US" sz="1300">
                <a:latin typeface="+mn-ea"/>
                <a:cs typeface="+mn-ea"/>
              </a:rPr>
              <a:t>初次担任项目经理时，存在依赖性，主动思考和推动的意识不足。真正的成长来自于被迫独立负责一个项目后，思维上从</a:t>
            </a:r>
            <a:r>
              <a:rPr lang="en-US" altLang="zh-CN" sz="1300">
                <a:latin typeface="+mn-ea"/>
                <a:cs typeface="+mn-ea"/>
              </a:rPr>
              <a:t>“</a:t>
            </a:r>
            <a:r>
              <a:rPr lang="zh-CN" altLang="en-US" sz="1300">
                <a:latin typeface="+mn-ea"/>
                <a:cs typeface="+mn-ea"/>
              </a:rPr>
              <a:t>执行者</a:t>
            </a:r>
            <a:r>
              <a:rPr lang="en-US" altLang="zh-CN" sz="1300">
                <a:latin typeface="+mn-ea"/>
                <a:cs typeface="+mn-ea"/>
              </a:rPr>
              <a:t>”</a:t>
            </a:r>
            <a:r>
              <a:rPr lang="zh-CN" altLang="en-US" sz="1300">
                <a:latin typeface="+mn-ea"/>
                <a:cs typeface="+mn-ea"/>
              </a:rPr>
              <a:t>向</a:t>
            </a:r>
            <a:r>
              <a:rPr lang="en-US" altLang="zh-CN" sz="1300">
                <a:latin typeface="+mn-ea"/>
                <a:cs typeface="+mn-ea"/>
              </a:rPr>
              <a:t>“</a:t>
            </a:r>
            <a:r>
              <a:rPr lang="zh-CN" altLang="en-US" sz="1300">
                <a:latin typeface="+mn-ea"/>
                <a:cs typeface="+mn-ea"/>
              </a:rPr>
              <a:t>负责人</a:t>
            </a:r>
            <a:r>
              <a:rPr lang="en-US" altLang="zh-CN" sz="1300">
                <a:latin typeface="+mn-ea"/>
                <a:cs typeface="+mn-ea"/>
              </a:rPr>
              <a:t>”</a:t>
            </a:r>
            <a:r>
              <a:rPr lang="zh-CN" altLang="en-US" sz="1300">
                <a:latin typeface="+mn-ea"/>
                <a:cs typeface="+mn-ea"/>
              </a:rPr>
              <a:t>的跃迁</a:t>
            </a:r>
            <a:endParaRPr lang="zh-CN" altLang="en-US" sz="1300"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42475" y="1109980"/>
            <a:ext cx="2323465" cy="3860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成长起点与角色转变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1650" y="982345"/>
            <a:ext cx="3996055" cy="2072005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1650" y="3138170"/>
            <a:ext cx="3996055" cy="2478405"/>
          </a:xfrm>
          <a:prstGeom prst="rect">
            <a:avLst/>
          </a:prstGeom>
          <a:solidFill>
            <a:srgbClr val="FFC000">
              <a:alpha val="15000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7905" y="1056640"/>
            <a:ext cx="347980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供应链咨询与仓储项目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完整经历了从项目筹备、供应商交流、内部立项、招投标到团队管理、质量进度把控的全过程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物流系统替换项目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技术和协调难度极大，涉及老旧系统梳理、动态数据迁移和多系统协同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SM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（采购）项目二期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处理</a:t>
            </a:r>
            <a:r>
              <a:rPr lang="en-US" altLang="zh-CN" sz="1200">
                <a:latin typeface="+mn-ea"/>
                <a:cs typeface="+mn-ea"/>
              </a:rPr>
              <a:t>SaaS</a:t>
            </a:r>
            <a:r>
              <a:rPr lang="zh-CN" altLang="en-US" sz="1200">
                <a:latin typeface="+mn-ea"/>
                <a:cs typeface="+mn-ea"/>
              </a:rPr>
              <a:t>与私有化部署的路线冲突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锻炼了项目经理的原则性、决策能力、风险识别能力和与供应商的博弈能力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智能包装中心项目群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项目群，极高的沟通协调、风险管理和全局观要求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09970" y="3250565"/>
            <a:ext cx="348043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从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0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到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1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的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迷茫与探索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在资深</a:t>
            </a:r>
            <a:r>
              <a:rPr lang="en-US" altLang="zh-CN" sz="1200">
                <a:latin typeface="+mn-ea"/>
                <a:cs typeface="+mn-ea"/>
              </a:rPr>
              <a:t>PM</a:t>
            </a:r>
            <a:r>
              <a:rPr lang="zh-CN" altLang="en-US" sz="1200">
                <a:latin typeface="+mn-ea"/>
                <a:cs typeface="+mn-ea"/>
              </a:rPr>
              <a:t>的带领和指导下，通过实践</a:t>
            </a:r>
            <a:r>
              <a:rPr lang="en-US" altLang="zh-CN" sz="1200">
                <a:latin typeface="+mn-ea"/>
                <a:cs typeface="+mn-ea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熬</a:t>
            </a:r>
            <a:r>
              <a:rPr lang="en-US" altLang="zh-CN" sz="1200">
                <a:latin typeface="+mn-ea"/>
                <a:cs typeface="+mn-ea"/>
              </a:rPr>
              <a:t>”</a:t>
            </a:r>
            <a:r>
              <a:rPr lang="zh-CN" altLang="en-US" sz="1200">
                <a:latin typeface="+mn-ea"/>
                <a:cs typeface="+mn-ea"/>
              </a:rPr>
              <a:t>过来的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多方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协同的复杂性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涉及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跨部门跨系统</a:t>
            </a:r>
            <a:r>
              <a:rPr lang="zh-CN" altLang="en-US" sz="1200">
                <a:latin typeface="+mn-ea"/>
                <a:cs typeface="+mn-ea"/>
              </a:rPr>
              <a:t>的复杂协调，关键是建立信任、找到关键人、统一目标，出现冲突时</a:t>
            </a:r>
            <a:r>
              <a:rPr lang="zh-CN" altLang="en-US" sz="1200">
                <a:latin typeface="+mn-ea"/>
                <a:cs typeface="+mn-ea"/>
              </a:rPr>
              <a:t>能站在整体最优的角度去说服和</a:t>
            </a:r>
            <a:r>
              <a:rPr lang="zh-CN" altLang="en-US" sz="1200">
                <a:latin typeface="+mn-ea"/>
                <a:cs typeface="+mn-ea"/>
              </a:rPr>
              <a:t>影响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需求的不确定性与风险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需求变更</a:t>
            </a:r>
            <a:r>
              <a:rPr lang="zh-CN" altLang="en-US" sz="1200">
                <a:latin typeface="+mn-ea"/>
                <a:cs typeface="+mn-ea"/>
              </a:rPr>
              <a:t>是最大的风险点之一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要深入挖掘需求的真实背景，不仅是满足表面要求，</a:t>
            </a:r>
            <a:r>
              <a:rPr lang="zh-CN" altLang="en-US" sz="1200">
                <a:latin typeface="+mn-ea"/>
                <a:cs typeface="+mn-ea"/>
              </a:rPr>
              <a:t>期待建立更规范的变更管理流程来控制风险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供应商管理的博弈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管理和约束供应商，初期锁定核心人员和资源，合作过程中有效沟通和博弈，确保项目利益最大化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0870" y="1415415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关键的里程碑项目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90870" y="3908425"/>
            <a:ext cx="472440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 algn="ctr" defTabSz="2667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核心挑战与学习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6700" y="981710"/>
            <a:ext cx="5250815" cy="1509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5590" y="1301115"/>
            <a:ext cx="525145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</a:rPr>
              <a:t>翻译能力</a:t>
            </a:r>
            <a:r>
              <a:rPr lang="en-US" altLang="zh-CN" sz="1200">
                <a:latin typeface="+mn-ea"/>
              </a:rPr>
              <a:t>:</a:t>
            </a:r>
            <a:r>
              <a:rPr lang="zh-CN" altLang="en-US" sz="1200">
                <a:latin typeface="+mn-ea"/>
              </a:rPr>
              <a:t>深入理解业务，将业务需求</a:t>
            </a:r>
            <a:r>
              <a:rPr lang="en-US" altLang="zh-CN" sz="1200">
                <a:latin typeface="+mn-ea"/>
              </a:rPr>
              <a:t>“</a:t>
            </a:r>
            <a:r>
              <a:rPr lang="zh-CN" altLang="en-US" sz="1200">
                <a:latin typeface="+mn-ea"/>
              </a:rPr>
              <a:t>翻译</a:t>
            </a:r>
            <a:r>
              <a:rPr lang="en-US" altLang="zh-CN" sz="1200">
                <a:latin typeface="+mn-ea"/>
              </a:rPr>
              <a:t>”</a:t>
            </a:r>
            <a:r>
              <a:rPr lang="zh-CN" altLang="en-US" sz="1200">
                <a:latin typeface="+mn-ea"/>
              </a:rPr>
              <a:t>成</a:t>
            </a:r>
            <a:r>
              <a:rPr lang="en-US" altLang="zh-CN" sz="1200">
                <a:latin typeface="+mn-ea"/>
              </a:rPr>
              <a:t>IT</a:t>
            </a:r>
            <a:r>
              <a:rPr lang="zh-CN" altLang="en-US" sz="1200">
                <a:latin typeface="+mn-ea"/>
              </a:rPr>
              <a:t>语言；同时也要能将技术方案</a:t>
            </a:r>
            <a:r>
              <a:rPr lang="en-US" altLang="zh-CN" sz="1200">
                <a:latin typeface="+mn-ea"/>
              </a:rPr>
              <a:t>“</a:t>
            </a:r>
            <a:r>
              <a:rPr lang="zh-CN" altLang="en-US" sz="1200">
                <a:latin typeface="+mn-ea"/>
              </a:rPr>
              <a:t>翻译</a:t>
            </a:r>
            <a:r>
              <a:rPr lang="en-US" altLang="zh-CN" sz="1200">
                <a:latin typeface="+mn-ea"/>
              </a:rPr>
              <a:t>”</a:t>
            </a:r>
            <a:r>
              <a:rPr lang="zh-CN" altLang="en-US" sz="1200">
                <a:latin typeface="+mn-ea"/>
              </a:rPr>
              <a:t>成业务听得懂的语言，扮演好桥梁角色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</a:rPr>
              <a:t>建立信任与同理心</a:t>
            </a:r>
            <a:r>
              <a:rPr lang="en-US" altLang="zh-CN" sz="1200">
                <a:latin typeface="+mn-ea"/>
              </a:rPr>
              <a:t>: </a:t>
            </a:r>
            <a:r>
              <a:rPr lang="zh-CN" altLang="en-US" sz="1200">
                <a:latin typeface="+mn-ea"/>
              </a:rPr>
              <a:t>成功的沟通前提是建立信任</a:t>
            </a:r>
            <a:r>
              <a:rPr lang="en-US" altLang="zh-CN" sz="1200">
                <a:latin typeface="+mn-ea"/>
              </a:rPr>
              <a:t>，</a:t>
            </a:r>
            <a:r>
              <a:rPr lang="zh-CN" altLang="en-US" sz="1200">
                <a:latin typeface="+mn-ea"/>
              </a:rPr>
              <a:t>能站在业务方的角度思考问题，产生共鸣，才能挖掘出真实的痛点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</a:rPr>
              <a:t>冲突管理</a:t>
            </a:r>
            <a:r>
              <a:rPr lang="en-US" altLang="zh-CN" sz="1200">
                <a:latin typeface="+mn-ea"/>
              </a:rPr>
              <a:t>: </a:t>
            </a:r>
            <a:r>
              <a:rPr lang="zh-CN" altLang="en-US" sz="1200">
                <a:latin typeface="+mn-ea"/>
              </a:rPr>
              <a:t>项目过程中充满了分歧，需要具备化解冲突、推动共识的能力，建立清晰的规则</a:t>
            </a:r>
            <a:endParaRPr lang="zh-CN" altLang="en-US" sz="1200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63675" y="1017905"/>
            <a:ext cx="280670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沟通协调是第一核心</a:t>
            </a:r>
            <a:endParaRPr lang="zh-CN" altLang="en-US" sz="1400" b="1">
              <a:solidFill>
                <a:srgbClr val="FF0000"/>
              </a:solidFill>
              <a:latin typeface="+mn-ea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1785" y="5654675"/>
            <a:ext cx="11574145" cy="1086485"/>
          </a:xfrm>
          <a:prstGeom prst="rect">
            <a:avLst/>
          </a:prstGeom>
          <a:solidFill>
            <a:srgbClr val="92D050">
              <a:alpha val="30000"/>
            </a:srgbClr>
          </a:solidFill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11785" y="5925185"/>
            <a:ext cx="1141857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战略思维与全局视野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不局限于单个项目的成功交付，站在更高层面，思考项目如何与公司的战略相结合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提升全局规划能力，理解并参与到更宏观的数字化蓝图设计中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数据分析与价值挖掘</a:t>
            </a:r>
            <a:r>
              <a:rPr lang="en-US" altLang="zh-CN" sz="1200">
                <a:latin typeface="+mn-ea"/>
                <a:cs typeface="+mn-ea"/>
              </a:rPr>
              <a:t>: </a:t>
            </a:r>
            <a:r>
              <a:rPr lang="zh-CN" altLang="en-US" sz="1200">
                <a:latin typeface="+mn-ea"/>
                <a:cs typeface="+mn-ea"/>
              </a:rPr>
              <a:t>随着数据不断积累，未来方向是数据分析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学会利用数据来洞察业务问题、评估项目成效，并为业务决策提供数据支持，从而更好地量化</a:t>
            </a:r>
            <a:r>
              <a:rPr lang="en-US" altLang="zh-CN" sz="1200">
                <a:latin typeface="+mn-ea"/>
                <a:cs typeface="+mn-ea"/>
              </a:rPr>
              <a:t>IT</a:t>
            </a:r>
            <a:r>
              <a:rPr lang="zh-CN" altLang="en-US" sz="1200">
                <a:latin typeface="+mn-ea"/>
                <a:cs typeface="+mn-ea"/>
              </a:rPr>
              <a:t>的价值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新技术（尤其是</a:t>
            </a:r>
            <a:r>
              <a:rPr lang="en-US" altLang="zh-CN" sz="1200">
                <a:solidFill>
                  <a:srgbClr val="1331F5"/>
                </a:solidFill>
                <a:latin typeface="+mn-ea"/>
                <a:cs typeface="+mn-ea"/>
              </a:rPr>
              <a:t>AI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）的理解与应用</a:t>
            </a:r>
            <a:r>
              <a:rPr lang="zh-CN" altLang="en-US" sz="1200">
                <a:latin typeface="+mn-ea"/>
                <a:cs typeface="+mn-ea"/>
              </a:rPr>
              <a:t>：主动了解</a:t>
            </a:r>
            <a:r>
              <a:rPr lang="en-US" altLang="zh-CN" sz="1200">
                <a:latin typeface="+mn-ea"/>
                <a:cs typeface="+mn-ea"/>
              </a:rPr>
              <a:t>AI</a:t>
            </a:r>
            <a:r>
              <a:rPr lang="zh-CN" altLang="en-US" sz="1200">
                <a:latin typeface="+mn-ea"/>
                <a:cs typeface="+mn-ea"/>
              </a:rPr>
              <a:t>等新技术能做什么、不能做什么，思考如何将其与业务场景结合，找到合适的应用点</a:t>
            </a:r>
            <a:endParaRPr lang="zh-CN" altLang="en-US" sz="1200">
              <a:latin typeface="+mn-ea"/>
              <a:cs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</a:rPr>
              <a:t>业务引领</a:t>
            </a:r>
            <a:r>
              <a:rPr lang="zh-CN" altLang="en-US" sz="1200">
                <a:solidFill>
                  <a:srgbClr val="1331F5"/>
                </a:solidFill>
                <a:latin typeface="+mn-ea"/>
                <a:cs typeface="+mn-ea"/>
              </a:rPr>
              <a:t>能力</a:t>
            </a:r>
            <a:r>
              <a:rPr lang="zh-CN" altLang="en-US" sz="1200">
                <a:latin typeface="+mn-ea"/>
                <a:cs typeface="+mn-ea"/>
              </a:rPr>
              <a:t>：从被动响应需求，向主动引领和创造需求转变</a:t>
            </a:r>
            <a:r>
              <a:rPr lang="en-US" altLang="zh-CN" sz="1200">
                <a:latin typeface="+mn-ea"/>
                <a:cs typeface="+mn-ea"/>
              </a:rPr>
              <a:t>，</a:t>
            </a:r>
            <a:r>
              <a:rPr lang="zh-CN" altLang="en-US" sz="1200">
                <a:latin typeface="+mn-ea"/>
                <a:cs typeface="+mn-ea"/>
              </a:rPr>
              <a:t>能基于对行业趋势和业务痛点的洞察，主动向业务部门提出创新的、有价值的数字化建议</a:t>
            </a:r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04260" y="5655310"/>
            <a:ext cx="532892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未来能力展望 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(1-2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年需要发展的新能力</a:t>
            </a:r>
            <a:r>
              <a:rPr lang="en-US" altLang="zh-CN" sz="1400" b="1">
                <a:latin typeface="+mn-ea"/>
                <a:cs typeface="+mn-ea"/>
                <a:sym typeface="+mn-ea"/>
              </a:rPr>
              <a:t>)</a:t>
            </a: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61590" y="313690"/>
            <a:ext cx="4948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人才画像</a:t>
            </a:r>
            <a:r>
              <a:rPr kumimoji="1" lang="en-US" altLang="zh-CN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：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项目管理</a:t>
            </a:r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团队</a:t>
            </a:r>
            <a:endParaRPr kumimoji="1" lang="zh-CN" altLang="en-US" sz="2000" b="1" dirty="0">
              <a:latin typeface="STZhongsong" panose="02010600040101010101" pitchFamily="2" charset="-122"/>
              <a:ea typeface="STZhongsong" panose="02010600040101010101" pitchFamily="2" charset="-122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685655" y="102298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1</a:t>
            </a:r>
            <a:endParaRPr lang="en-US" altLang="zh-CN" sz="1400"/>
          </a:p>
        </p:txBody>
      </p:sp>
      <p:sp>
        <p:nvSpPr>
          <p:cNvPr id="30" name="椭圆 29"/>
          <p:cNvSpPr/>
          <p:nvPr/>
        </p:nvSpPr>
        <p:spPr>
          <a:xfrm>
            <a:off x="5593715" y="100711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2</a:t>
            </a:r>
            <a:endParaRPr lang="en-US" altLang="zh-CN" sz="1400"/>
          </a:p>
        </p:txBody>
      </p:sp>
      <p:sp>
        <p:nvSpPr>
          <p:cNvPr id="31" name="椭圆 30"/>
          <p:cNvSpPr/>
          <p:nvPr/>
        </p:nvSpPr>
        <p:spPr>
          <a:xfrm>
            <a:off x="5614670" y="329438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3</a:t>
            </a:r>
            <a:endParaRPr lang="en-US" altLang="zh-CN" sz="1400"/>
          </a:p>
        </p:txBody>
      </p:sp>
      <p:sp>
        <p:nvSpPr>
          <p:cNvPr id="32" name="椭圆 31"/>
          <p:cNvSpPr/>
          <p:nvPr/>
        </p:nvSpPr>
        <p:spPr>
          <a:xfrm>
            <a:off x="293370" y="100330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6</a:t>
            </a:r>
            <a:endParaRPr lang="en-US" altLang="zh-CN" sz="1400"/>
          </a:p>
        </p:txBody>
      </p:sp>
      <p:sp>
        <p:nvSpPr>
          <p:cNvPr id="36" name="椭圆 35"/>
          <p:cNvSpPr/>
          <p:nvPr/>
        </p:nvSpPr>
        <p:spPr>
          <a:xfrm>
            <a:off x="334645" y="568452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7</a:t>
            </a:r>
            <a:endParaRPr lang="en-US" altLang="zh-CN" sz="1400"/>
          </a:p>
        </p:txBody>
      </p:sp>
      <p:sp>
        <p:nvSpPr>
          <p:cNvPr id="38" name="矩形 37"/>
          <p:cNvSpPr/>
          <p:nvPr/>
        </p:nvSpPr>
        <p:spPr>
          <a:xfrm>
            <a:off x="263525" y="4099560"/>
            <a:ext cx="5250815" cy="1509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95910" y="4427220"/>
            <a:ext cx="52241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业务理解力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必须懂业务，甚至比一些业务人员更懂流程的全局。只有这样，才能评估需求的合理性，提出有价值的解决方案，并获得业务方的尊重和信任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方案整合能力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能够整合技术、业务等多方信息，形成一个完整、可行的解决方案。这需要有全局视野，而不仅仅是单点的技术思维</a:t>
            </a:r>
            <a:endParaRPr lang="zh-CN" altLang="en-US" sz="1200">
              <a:latin typeface="+mn-ea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latin typeface="+mn-ea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504950" y="4144010"/>
            <a:ext cx="280670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业务洞察与方案能力</a:t>
            </a:r>
            <a:r>
              <a:rPr lang="zh-CN" altLang="en-US" sz="1400" b="1">
                <a:latin typeface="+mn-ea"/>
                <a:sym typeface="+mn-ea"/>
              </a:rPr>
              <a:t>是基础</a:t>
            </a:r>
            <a:endParaRPr lang="zh-CN" altLang="en-US" sz="1400" b="1">
              <a:latin typeface="+mn-ea"/>
              <a:sym typeface="+mn-ea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66700" y="2548890"/>
            <a:ext cx="5250815" cy="1509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85750" y="2811145"/>
            <a:ext cx="52273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结构化知识体系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系统学习</a:t>
            </a:r>
            <a:r>
              <a:rPr lang="en-US" altLang="zh-CN" sz="1200">
                <a:latin typeface="+mn-ea"/>
                <a:sym typeface="+mn-ea"/>
              </a:rPr>
              <a:t>PMP</a:t>
            </a:r>
            <a:r>
              <a:rPr lang="zh-CN" altLang="en-US" sz="1200">
                <a:latin typeface="+mn-ea"/>
                <a:sym typeface="+mn-ea"/>
              </a:rPr>
              <a:t>等项目管理知识框架非常重要，它提供了一套完整的</a:t>
            </a:r>
            <a:r>
              <a:rPr lang="en-US" altLang="zh-CN" sz="1200">
                <a:latin typeface="+mn-ea"/>
                <a:sym typeface="+mn-ea"/>
              </a:rPr>
              <a:t>“</a:t>
            </a:r>
            <a:r>
              <a:rPr lang="zh-CN" altLang="en-US" sz="1200">
                <a:latin typeface="+mn-ea"/>
                <a:sym typeface="+mn-ea"/>
              </a:rPr>
              <a:t>字典</a:t>
            </a:r>
            <a:r>
              <a:rPr lang="en-US" altLang="zh-CN" sz="1200">
                <a:latin typeface="+mn-ea"/>
                <a:sym typeface="+mn-ea"/>
              </a:rPr>
              <a:t>”</a:t>
            </a:r>
            <a:r>
              <a:rPr lang="zh-CN" altLang="en-US" sz="1200">
                <a:latin typeface="+mn-ea"/>
                <a:sym typeface="+mn-ea"/>
              </a:rPr>
              <a:t>和</a:t>
            </a:r>
            <a:r>
              <a:rPr lang="en-US" altLang="zh-CN" sz="1200">
                <a:latin typeface="+mn-ea"/>
                <a:sym typeface="+mn-ea"/>
              </a:rPr>
              <a:t>“</a:t>
            </a:r>
            <a:r>
              <a:rPr lang="zh-CN" altLang="en-US" sz="1200">
                <a:latin typeface="+mn-ea"/>
                <a:sym typeface="+mn-ea"/>
              </a:rPr>
              <a:t>方法论</a:t>
            </a:r>
            <a:r>
              <a:rPr lang="en-US" altLang="zh-CN" sz="1200">
                <a:latin typeface="+mn-ea"/>
                <a:sym typeface="+mn-ea"/>
              </a:rPr>
              <a:t>”</a:t>
            </a:r>
            <a:r>
              <a:rPr lang="zh-CN" altLang="en-US" sz="1200">
                <a:latin typeface="+mn-ea"/>
                <a:sym typeface="+mn-ea"/>
              </a:rPr>
              <a:t>，让项目管理有章可循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过程掌控力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精通项目管理的全过程，包括范围、时间、质量、风险等核心要素的管理。尤其要具备强大的计划能力和风险识别能力</a:t>
            </a:r>
            <a:endParaRPr lang="zh-CN" altLang="en-US" sz="1200">
              <a:latin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1331F5"/>
                </a:solidFill>
                <a:latin typeface="+mn-ea"/>
                <a:sym typeface="+mn-ea"/>
              </a:rPr>
              <a:t>坚韧性与责任心</a:t>
            </a:r>
            <a:r>
              <a:rPr lang="en-US" altLang="zh-CN" sz="1200">
                <a:latin typeface="+mn-ea"/>
                <a:sym typeface="+mn-ea"/>
              </a:rPr>
              <a:t>: </a:t>
            </a:r>
            <a:r>
              <a:rPr lang="zh-CN" altLang="en-US" sz="1200">
                <a:latin typeface="+mn-ea"/>
                <a:sym typeface="+mn-ea"/>
              </a:rPr>
              <a:t>项目过程充满挑战，必须具备面对压力不退缩的坚韧品质，以及对项目最终成功负责的强烈责任心</a:t>
            </a:r>
            <a:endParaRPr lang="zh-CN" altLang="en-US" sz="1200">
              <a:latin typeface="+mn-ea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95425" y="2569845"/>
            <a:ext cx="280670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  <a:latin typeface="+mn-ea"/>
                <a:sym typeface="+mn-ea"/>
              </a:rPr>
              <a:t>项目管理</a:t>
            </a:r>
            <a:r>
              <a:rPr lang="zh-CN" altLang="en-US" sz="1400" b="1">
                <a:latin typeface="+mn-ea"/>
                <a:sym typeface="+mn-ea"/>
              </a:rPr>
              <a:t>专业能力是</a:t>
            </a:r>
            <a:r>
              <a:rPr lang="zh-CN" altLang="en-US" sz="1400" b="1">
                <a:latin typeface="+mn-ea"/>
                <a:sym typeface="+mn-ea"/>
              </a:rPr>
              <a:t>关键</a:t>
            </a:r>
            <a:endParaRPr lang="zh-CN" altLang="en-US" sz="1400" b="1">
              <a:latin typeface="+mn-ea"/>
              <a:sym typeface="+mn-ea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95910" y="4130675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4</a:t>
            </a:r>
            <a:endParaRPr lang="en-US" altLang="zh-CN" sz="1400"/>
          </a:p>
        </p:txBody>
      </p:sp>
      <p:sp>
        <p:nvSpPr>
          <p:cNvPr id="45" name="椭圆 44"/>
          <p:cNvSpPr/>
          <p:nvPr/>
        </p:nvSpPr>
        <p:spPr>
          <a:xfrm>
            <a:off x="304800" y="2585720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5</a:t>
            </a:r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6342380" y="3009265"/>
            <a:ext cx="2193290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经验和挑战式</a:t>
            </a:r>
            <a:r>
              <a:rPr lang="zh-CN" altLang="en-US" b="1">
                <a:solidFill>
                  <a:schemeClr val="tx1"/>
                </a:solidFill>
              </a:rPr>
              <a:t>学习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2290" y="3832860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关键技能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33315" y="6527800"/>
            <a:ext cx="1167765" cy="368300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发展空间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2561590" y="207010"/>
            <a:ext cx="9229090" cy="6261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kumimoji="1" lang="zh-CN" altLang="en-US" sz="2000" b="1" dirty="0">
                <a:latin typeface="STZhongsong" panose="02010600040101010101" pitchFamily="2" charset="-122"/>
                <a:ea typeface="STZhongsong" panose="02010600040101010101" pitchFamily="2" charset="-122"/>
                <a:sym typeface="+mn-ea"/>
              </a:rPr>
              <a:t>项目管理人员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有着良好的组织管理和创新能力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。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人际敏锐是三大岗位共性的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短板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401320" y="919480"/>
          <a:ext cx="11389995" cy="5939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446405" y="918845"/>
            <a:ext cx="5482590" cy="567436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62015" y="918845"/>
            <a:ext cx="5844540" cy="5667375"/>
          </a:xfrm>
          <a:prstGeom prst="rect">
            <a:avLst/>
          </a:prstGeom>
          <a:gradFill>
            <a:gsLst>
              <a:gs pos="100000">
                <a:srgbClr val="FFC000">
                  <a:alpha val="30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24000">
                <a:schemeClr val="bg1">
                  <a:alpha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313548" y="926284"/>
            <a:ext cx="698938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一致性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8315325" y="6209030"/>
            <a:ext cx="214566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第四象限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优势分化区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专家驱动区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】13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8315960" y="1275715"/>
            <a:ext cx="214503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第一象限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核心优势区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团队基石区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】4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2236470" y="6127115"/>
            <a:ext cx="191833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第三象限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【</a:t>
            </a: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混沌不明区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 / </a:t>
            </a:r>
            <a:r>
              <a:rPr kumimoji="1" lang="zh-CN" altLang="en-US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非核心区</a:t>
            </a:r>
            <a:r>
              <a:rPr kumimoji="1" lang="en-US" altLang="zh-CN" sz="1400" b="1" dirty="0">
                <a:solidFill>
                  <a:srgbClr val="00B050"/>
                </a:solidFill>
                <a:latin typeface="+mj-ea"/>
                <a:ea typeface="+mj-ea"/>
                <a:cs typeface="Times New Roman" panose="02020503050405090304" pitchFamily="18" charset="0"/>
              </a:rPr>
              <a:t>】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2075815" y="1275715"/>
            <a:ext cx="2240280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B050"/>
                </a:solidFill>
                <a:sym typeface="+mn-ea"/>
              </a:rPr>
              <a:t>第二象限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【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普遍短板区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 / </a:t>
            </a:r>
            <a:r>
              <a:rPr lang="zh-CN" altLang="en-US" sz="1400" b="1">
                <a:solidFill>
                  <a:srgbClr val="00B050"/>
                </a:solidFill>
                <a:sym typeface="+mn-ea"/>
              </a:rPr>
              <a:t>团队盲点区</a:t>
            </a:r>
            <a:r>
              <a:rPr lang="en-US" altLang="zh-CN" sz="1400" b="1">
                <a:solidFill>
                  <a:srgbClr val="00B050"/>
                </a:solidFill>
                <a:sym typeface="+mn-ea"/>
              </a:rPr>
              <a:t>】3</a:t>
            </a:r>
            <a:endParaRPr kumimoji="1" lang="en-US" altLang="zh-CN" sz="1400" b="1" dirty="0">
              <a:solidFill>
                <a:srgbClr val="00B05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726371" y="4162724"/>
            <a:ext cx="110845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5945488" y="1073009"/>
            <a:ext cx="0" cy="56762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5906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auto">
          <a:xfrm>
            <a:off x="10760710" y="6424295"/>
            <a:ext cx="1030605" cy="168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rtlCol="0">
            <a:spAutoFit/>
          </a:bodyPr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得分</a:t>
            </a:r>
            <a:r>
              <a:rPr kumimoji="1" lang="zh-CN" altLang="en-US" sz="1100" dirty="0">
                <a:latin typeface="+mn-ea"/>
                <a:cs typeface="Times New Roman" panose="02020503050405090304" pitchFamily="18" charset="0"/>
              </a:rPr>
              <a:t>平均值</a:t>
            </a:r>
            <a:endParaRPr kumimoji="1" lang="zh-CN" altLang="en-US" sz="1100" dirty="0"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874520" y="926465"/>
            <a:ext cx="103060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054215" y="4578350"/>
            <a:ext cx="82613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50915" y="4977130"/>
            <a:ext cx="1130300" cy="73977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0660380" y="5318125"/>
            <a:ext cx="826135" cy="39878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561590" y="2068195"/>
            <a:ext cx="1754505" cy="1348740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474200" y="4085590"/>
            <a:ext cx="1447165" cy="1538605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568180" y="4162425"/>
            <a:ext cx="11925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成就性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乐观性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信任性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自控性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责任性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85885" y="1871345"/>
            <a:ext cx="1447165" cy="1384300"/>
          </a:xfrm>
          <a:prstGeom prst="rect">
            <a:avLst/>
          </a:prstGeom>
          <a:gradFill>
            <a:gsLst>
              <a:gs pos="5000">
                <a:srgbClr val="97C5E8">
                  <a:alpha val="5000"/>
                </a:srgbClr>
              </a:gs>
              <a:gs pos="100000">
                <a:srgbClr val="969BDD"/>
              </a:gs>
            </a:gsLst>
            <a:lin ang="5400000" scaled="1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079865" y="1948180"/>
            <a:ext cx="11925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适应性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民主性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批判性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独立性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561590" y="2005330"/>
            <a:ext cx="17545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精力性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分析性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坚韧性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坦率性</a:t>
            </a:r>
            <a:endParaRPr lang="zh-CN" alt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/>
              <a:t>追求</a:t>
            </a:r>
            <a:r>
              <a:rPr lang="zh-CN" altLang="en-US"/>
              <a:t>多样性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505" y="1948180"/>
            <a:ext cx="1849120" cy="209169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2068195"/>
            <a:ext cx="1856740" cy="707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7773477297a24375be61f65202e06461ebd63d"/>
  <p:tag name="KSO_WM_NEWLAYOUT_GROUP_ID" val="layout_10003"/>
  <p:tag name="KSO_WM_NEWLAYOUT_ID" val="slide_4e5d78b2efef294f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.xml><?xml version="1.0" encoding="utf-8"?>
<p:tagLst xmlns:p="http://schemas.openxmlformats.org/presentationml/2006/main">
  <p:tag name="ISPRING_PRESENTATION_TITLE" val="PowerPoint 演示文稿"/>
  <p:tag name="COMMONDATA" val="eyJoZGlkIjoiYzc3ZDFiNTQyNTUyMGFhMWMyY2MxZWIyMjJkMTNhMGIifQ=="/>
  <p:tag name="RESOURCE_RECORD_KEY" val="{&quot;10&quot;:[21559329,50029721],&quot;70&quot;:[3314661,3325727,3330464]}"/>
  <p:tag name="resource_record_key" val="{&quot;10&quot;:[21559329,50029721],&quot;70&quot;:[3314661,3325727,3330464,3327378]}"/>
</p:tagLst>
</file>

<file path=ppt/theme/theme1.xml><?xml version="1.0" encoding="utf-8"?>
<a:theme xmlns:a="http://schemas.openxmlformats.org/drawingml/2006/main" name="Office Theme">
  <a:themeElements>
    <a:clrScheme name="自定义 44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C3D7F"/>
      </a:accent1>
      <a:accent2>
        <a:srgbClr val="082D5F"/>
      </a:accent2>
      <a:accent3>
        <a:srgbClr val="051E3F"/>
      </a:accent3>
      <a:accent4>
        <a:srgbClr val="093156"/>
      </a:accent4>
      <a:accent5>
        <a:srgbClr val="0E4A81"/>
      </a:accent5>
      <a:accent6>
        <a:srgbClr val="1363AC"/>
      </a:accent6>
      <a:hlink>
        <a:srgbClr val="0C3D7F"/>
      </a:hlink>
      <a:folHlink>
        <a:srgbClr val="BFBFBF"/>
      </a:folHlink>
    </a:clrScheme>
    <a:fontScheme name="自定义 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5016</Words>
  <Application>WPS 演示</Application>
  <PresentationFormat>宽屏</PresentationFormat>
  <Paragraphs>364</Paragraphs>
  <Slides>8</Slides>
  <Notes>11</Notes>
  <HiddenSlides>0</HiddenSlides>
  <MMClips>1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汉仪旗黑</vt:lpstr>
      <vt:lpstr>Times New Roman</vt:lpstr>
      <vt:lpstr>华文中宋</vt:lpstr>
      <vt:lpstr>Calibri</vt:lpstr>
      <vt:lpstr>Helvetica Neue</vt:lpstr>
      <vt:lpstr>STZhongsong</vt:lpstr>
      <vt:lpstr>+中文正文</vt:lpstr>
      <vt:lpstr>苹方-简</vt:lpstr>
      <vt:lpstr>宋体</vt:lpstr>
      <vt:lpstr>Arial Unicode MS</vt:lpstr>
      <vt:lpstr>汉仪书宋二KW</vt:lpstr>
      <vt:lpstr>HarmonyOS Sans SC</vt:lpstr>
      <vt:lpstr>楷体</vt:lpstr>
      <vt:lpstr>汉仪楷体KW</vt:lpstr>
      <vt:lpstr>Arial</vt:lpstr>
      <vt:lpstr>优设标题黑</vt:lpstr>
      <vt:lpstr>MiSans Normal</vt:lpstr>
      <vt:lpstr>方正仿宋_GB18030</vt:lpstr>
      <vt:lpstr>华文楷体</vt:lpstr>
      <vt:lpstr>MiSans</vt:lpstr>
      <vt:lpstr>微软雅黑</vt:lpstr>
      <vt:lpstr>宋体</vt:lpstr>
      <vt:lpstr>微软雅黑</vt:lpstr>
      <vt:lpstr>Thonburi</vt:lpstr>
      <vt:lpstr>汉仪中黑KW</vt:lpstr>
      <vt:lpstr>方正仿宋_GBK</vt:lpstr>
      <vt:lpstr>Calibri Light</vt:lpstr>
      <vt:lpstr>等线 Light</vt:lpstr>
      <vt:lpstr>汉仪中等线KW</vt:lpstr>
      <vt:lpstr>等线</vt:lpstr>
      <vt:lpstr>HarmonyOS Sans SC</vt:lpstr>
      <vt:lpstr>MiSans</vt:lpstr>
      <vt:lpstr>MiSans Normal</vt:lpstr>
      <vt:lpstr>优设标题黑</vt:lpstr>
      <vt:lpstr>方正仿宋_GB18030</vt:lpstr>
      <vt:lpstr>Office Theme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WIN7</dc:creator>
  <cp:lastModifiedBy>杨玉强</cp:lastModifiedBy>
  <cp:revision>1585</cp:revision>
  <cp:lastPrinted>2026-03-28T11:20:06Z</cp:lastPrinted>
  <dcterms:created xsi:type="dcterms:W3CDTF">2026-03-28T11:20:06Z</dcterms:created>
  <dcterms:modified xsi:type="dcterms:W3CDTF">2026-03-28T11:20:06Z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65675218CC71CD962DB9C769A9C11705_43</vt:lpwstr>
  </property>
</Properties>
</file>